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d2f93c0-efb7-01c9-de7a-a493054d46c8}">
          <p14:sldIdLst>
            <p14:sldId id="256"/>
            <p14:sldId id="257"/>
            <p14:sldId id="258"/>
            <p14:sldId id="259"/>
            <p14:sldId id="260"/>
            <p14:sldId id="261"/>
            <p14:sldId id="262"/>
            <p14:sldId id="263"/>
            <p14:sldId id="264"/>
            <p14:sldId id="265"/>
            <p14:sldId id="266"/>
            <p14:sldId id="267"/>
            <p14:sldId id="268"/>
            <p14:sldId id="269"/>
          </p14:sldIdLst>
        </p14:section>
        <p14:section name="Backup" id="{b6e0c5b1-f3b3-3742-9606-a457fb794f3d}">
          <p14:sldIdLst>
            <p14:sldId id="270"/>
            <p14:sldId id="271"/>
            <p14:sldId id="272"/>
            <p14:sldId id="273"/>
            <p14:sldId id="274"/>
            <p14:sldId id="275"/>
          </p14:sldIdLst>
        </p14:section>
        <p14:section name="Closing" id="{fda49309-42cb-a86e-e604-ca532d3cc67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Name and affiliation only; the next slide says what the talk is. Do not read the subtitle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Say what the talk is: one graph problem from ESA’s space optimisation challenge and, more importantly, how we decide that a number in a results table means something. Then the promise at the bottom of the slide. Do not read the seven parts; the Roman numerals reappear above every slide title, so the audience can always tell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slide the talk rests on. Read the ordering left to right. Vertex 0 points to 1 and 2, which are not adjacent, so the fill edge {1,2} appears: that is the first red arc. Nine appear in all. The threshold t = 6 discards the first six vertices; the last four are the torso, and the largest out-degree among them is 2. I checked that this reproduces ESA’s stated answer before putting it on a slide. Close with: strip the cover story and this is elimination ordering, which everyone here has met as treewidth, sparse Cholesky or variable elimination.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score is an area, not a count. The 500 cap is what makes the landscape cliff-edged: it is checked at every elimination step, including the part you throw away, and one breach scores the whole vector as width 501. That is ESA’s published rule; our harness is stricter and discards the whole submission. It matters in four slides, when a search starts from a random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bound is the most reusable piece of the work, and the argument fits on one line: put the eliminated set into every bag. A gap is two unknowns added together: how far the best answer is from the optimum, plus how far the bound is from it. Where the gap is small both are small, so the sparse instance is solved to within 0.63%. On large-graph a 500-clique forces treewidth to at least 499, and feasible answers inside the cap force it to at most 500: treewidth known to within one on a 2,426-vertex graph. That 4.54% is real 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Short slide, important caveat. Seven synthetic instances were generated to match the three official ones in size, so anything that changes between families is about structure. It also means the effective sample size for every claim in this talk is three, not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Read it by column. Spacekangaroos, ESA’s overall winner, takes small-graph but finds nothing legal on the three dense instances within the budget. fcmaes owns the dense rows by hundreds of thousands. The table names a winner on every row, and that is exactly the problem: a table always does. The rest of the talk asks which of these ten winners mean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six zeros are the argument: on six instances a random ordering is not a weak start, it is no start at all. Then the comparison: an earlier benchmark started Hill Climbing from min-degree and Team HRI from random, as HRI’s paper specifies, and it looked like a 275,000 HV rout. Give both the same construction and the gap is 1,234 HV. If you keep one thing about benchmarking from this talk: check the starting conditions before believing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Slow down; this is the pivot. Because the climber stops on the clock, two sessions are two independent samples, and I had both. Per instance, the change between sessions is no bigger than the scatter of the seeds inside a session: synth-4 moved 7,881, but its own seeds spread 13,214. On the ten-instance total it is different: reshuffling seeds between sessions moves the total as far as we observed only 4.6% of the time, so sessions matter for aggregates. And the noise spans four orders of magnitude across methods and instances, which is why no single threshold can judge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seconds. Here is what the seeds say. Best of three is a biased statistic: it rewards whichever method is noisier. On small-graph Spacekangaroos wins on one lucky seed; its other two seeds trail every seed of Team HRI. On synth-5 the median names a different winner. On medium-graph HRI wins, but its own seeds span 80,000 HV. A row counts as resolved only if every seed of the winner beats every seed of every rival; with three seeds that is an exact rank test at p = 0.05. Five rows pass and five do not. synth-3 passes because every Hill Climbing seed beats its own starting point, by 24 to 71 HV: real, and useless. My first draft judged every row against one threshold taken from Hill Climbing’s noise, and it got four of these ten rows wrong; the count of five was a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This is the controlled design: three components, one replaced at a time, everything else fixed. The bars are the gain over the control; the rings are the same arm measured against the control’s other session; the band is how far the control moves when you simply run it again. The move pool and VNS change sign when the control is re-drawn, and an effect that changes sign when you re-draw the control was never there. Simulated annealing halves. The construction lever is nearly sixteen times the band, and all of it lives on the three dense instances: plus 343,623 there, minus 2,360 on the other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cut this slide first if short of time. Thirteen new operators, from k-opt to structure-aware moves, each alone. None clears the band, and against both sessions of the control none wins a single instance. The accept rate says why: the best anywhere is 0.23%. The score comes mostly from evaluated candidates donating their staircases to a shared front, not from accepted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 obvious objection to a one-budget study is that search just needs more time. Ten times the budget buys Hill Climbing 33,043 HV, about one and a half times the control’s own re-draw, while construction leads by 270,000 to 390,000 at every budget. The construction line moves because each budget draws different constructions; an earlier reading of these numbers mistook that movement for search closing the gap, and I have withdrawn it. One more way to see it: min-degree alone, eight constructions in under a minute, would place seventh to ninth on all three of ESA’s leaderboards.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requests, then the closing sentence. Deliver the last line without hedging;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errors were mine or in code I vendored, and none was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fairness. If asked how we know the scoring is ESA’s: harness/esa_crosscheck.py runs ESA’s published evaluation file beside ours; every check is identical, and the three competition graphs are byte-identical to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number on the verdict slide can be read off this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first two paragraphs are a derivation,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search operators. Sources: harness/delta_check.log for exactness, harness/speed.log for the speed-up (the author’s run: 1.70× sparse, 1.88× medium, 1.89× dense; an independent re-run on another machine gave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Lead is measured against the construction’s mean over the three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discussion; the six figures are the ones most likely to be challenged. This is the last slide. The backup slides sit just before it and are hidden in the slide show, so the talk goes straight from the requests to here; to open one during questions, type its number and press Enter: 15 the errors I caught, 16 the protocol, 17 every seed, 18 why the sparse family is one-dimensional, 19 the operator findings, 20 the budget sweep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Torso decompositions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566928"/>
            <a:ext cx="914400" cy="914400"/>
          </a:xfrm>
          <a:prstGeom prst="rect">
            <a:avLst/>
          </a:prstGeom>
        </p:spPr>
      </p:pic>
      <p:sp>
        <p:nvSpPr>
          <p:cNvPr id="3"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COMPUTER SCIENCE</a:t>
            </a:r>
            <a:endParaRPr lang="en-US" sz="1200" dirty="0"/>
          </a:p>
        </p:txBody>
      </p:sp>
      <p:sp>
        <p:nvSpPr>
          <p:cNvPr id="4" name="Text 1"/>
          <p:cNvSpPr txBox="1"/>
          <p:nvPr/>
        </p:nvSpPr>
        <p:spPr>
          <a:xfrm>
            <a:off x="640080" y="2194560"/>
            <a:ext cx="6766560" cy="1783080"/>
          </a:xfrm>
          <a:prstGeom prst="rect">
            <a:avLst/>
          </a:prstGeom>
          <a:noFill/>
          <a:ln/>
        </p:spPr>
        <p:txBody>
          <a:bodyPr wrap="square" lIns="0" tIns="0" rIns="0" bIns="0" rtlCol="0" anchor="t"/>
          <a:lstStyle/>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What a benchmark table</a:t>
            </a:r>
            <a:endParaRPr lang="en-US" sz="4400" dirty="0"/>
          </a:p>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does and does not prove</a:t>
            </a:r>
            <a:endParaRPr lang="en-US" sz="4400" dirty="0"/>
          </a:p>
        </p:txBody>
      </p:sp>
      <p:sp>
        <p:nvSpPr>
          <p:cNvPr id="5" name="Text 2"/>
          <p:cNvSpPr txBox="1"/>
          <p:nvPr/>
        </p:nvSpPr>
        <p:spPr>
          <a:xfrm>
            <a:off x="640080" y="40416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A controlled study of ESA’s SpOC-3 Torso Decompositions</a:t>
            </a:r>
            <a:endParaRPr lang="en-US" sz="1800" dirty="0"/>
          </a:p>
        </p:txBody>
      </p:sp>
      <p:sp>
        <p:nvSpPr>
          <p:cNvPr id="6" name="Text 3"/>
          <p:cNvSpPr txBox="1"/>
          <p:nvPr/>
        </p:nvSpPr>
        <p:spPr>
          <a:xfrm>
            <a:off x="640080" y="48920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7" name="Text 4"/>
          <p:cNvSpPr txBox="1"/>
          <p:nvPr/>
        </p:nvSpPr>
        <p:spPr>
          <a:xfrm>
            <a:off x="640080" y="52486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University of Prishtina</a:t>
            </a:r>
            <a:endParaRPr lang="en-US" sz="1400" dirty="0"/>
          </a:p>
        </p:txBody>
      </p:sp>
      <p:sp>
        <p:nvSpPr>
          <p:cNvPr id="8"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10 instances · 3 leaderboard entries re-run · 17 move operators · 3 budgets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ROADMAP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From a results table to a claim, in seven steps</a:t>
            </a:r>
            <a:endParaRPr lang="en-US" sz="2700" dirty="0"/>
          </a:p>
        </p:txBody>
      </p:sp>
      <p:sp>
        <p:nvSpPr>
          <p:cNvPr id="4" name="Text 2"/>
          <p:cNvSpPr txBox="1"/>
          <p:nvPr/>
        </p:nvSpPr>
        <p:spPr>
          <a:xfrm>
            <a:off x="640080" y="1828800"/>
            <a:ext cx="4343400" cy="1463040"/>
          </a:xfrm>
          <a:prstGeom prst="rect">
            <a:avLst/>
          </a:prstGeom>
          <a:noFill/>
          <a:ln/>
        </p:spPr>
        <p:txBody>
          <a:bodyPr wrap="square" lIns="0" tIns="0" rIns="0" bIns="0" rtlCol="0" anchor="t"/>
          <a:lstStyle/>
          <a:p>
            <a:pPr indent="0" marL="0">
              <a:lnSpc>
                <a:spcPct val="100000"/>
              </a:lnSpc>
              <a:buNone/>
            </a:pPr>
            <a:r>
              <a:rPr lang="en-US" sz="2600" i="1" dirty="0">
                <a:solidFill>
                  <a:srgbClr val="FFFFFF"/>
                </a:solidFill>
                <a:latin typeface="Century Schoolbook" pitchFamily="34" charset="0"/>
                <a:ea typeface="Century Schoolbook" pitchFamily="34" charset="-122"/>
                <a:cs typeface="Century Schoolbook" pitchFamily="34" charset="-120"/>
              </a:rPr>
              <a:t>Which numbers in a results table can carry a claim?</a:t>
            </a:r>
            <a:endParaRPr lang="en-US" sz="2600" dirty="0"/>
          </a:p>
        </p:txBody>
      </p:sp>
      <p:sp>
        <p:nvSpPr>
          <p:cNvPr id="5" name="Text 3"/>
          <p:cNvSpPr txBox="1"/>
          <p:nvPr/>
        </p:nvSpPr>
        <p:spPr>
          <a:xfrm>
            <a:off x="640080" y="3429000"/>
            <a:ext cx="4343400" cy="960120"/>
          </a:xfrm>
          <a:prstGeom prst="rect">
            <a:avLst/>
          </a:prstGeom>
          <a:noFill/>
          <a:ln/>
        </p:spPr>
        <p:txBody>
          <a:bodyPr wrap="square" lIns="0" tIns="0" rIns="0" bIns="0" rtlCol="0" anchor="t"/>
          <a:lstStyle/>
          <a:p>
            <a:pPr indent="0" marL="0">
              <a:buNone/>
            </a:pPr>
            <a:r>
              <a:rPr lang="en-US" sz="1350" dirty="0">
                <a:solidFill>
                  <a:srgbClr val="9AA6B6"/>
                </a:solidFill>
                <a:latin typeface="Calibri" pitchFamily="34" charset="0"/>
                <a:ea typeface="Calibri" pitchFamily="34" charset="-122"/>
                <a:cs typeface="Calibri" pitchFamily="34" charset="-120"/>
              </a:rPr>
              <a:t>Asked of one table: ESA’s SpOC-3 Torso Decompositions, ten instances, three leaderboard entries re-run beside a hill climber and a no-search construction.</a:t>
            </a:r>
            <a:endParaRPr lang="en-US" sz="1350" dirty="0"/>
          </a:p>
        </p:txBody>
      </p:sp>
      <p:sp>
        <p:nvSpPr>
          <p:cNvPr id="6" name="Shape 4"/>
          <p:cNvSpPr/>
          <p:nvPr/>
        </p:nvSpPr>
        <p:spPr>
          <a:xfrm>
            <a:off x="640080" y="4709160"/>
            <a:ext cx="4343400" cy="1097280"/>
          </a:xfrm>
          <a:prstGeom prst="rect">
            <a:avLst/>
          </a:prstGeom>
          <a:solidFill>
            <a:srgbClr val="131B28"/>
          </a:solidFill>
          <a:ln/>
        </p:spPr>
      </p:sp>
      <p:sp>
        <p:nvSpPr>
          <p:cNvPr id="7" name="Shape 5"/>
          <p:cNvSpPr/>
          <p:nvPr/>
        </p:nvSpPr>
        <p:spPr>
          <a:xfrm>
            <a:off x="640080" y="4709160"/>
            <a:ext cx="54864" cy="1097280"/>
          </a:xfrm>
          <a:prstGeom prst="rect">
            <a:avLst/>
          </a:prstGeom>
          <a:solidFill>
            <a:srgbClr val="3DDC97"/>
          </a:solidFill>
          <a:ln/>
        </p:spPr>
      </p:sp>
      <p:sp>
        <p:nvSpPr>
          <p:cNvPr id="8" name="Text 6"/>
          <p:cNvSpPr txBox="1"/>
          <p:nvPr/>
        </p:nvSpPr>
        <p:spPr>
          <a:xfrm>
            <a:off x="896112" y="4773168"/>
            <a:ext cx="3931920" cy="969264"/>
          </a:xfrm>
          <a:prstGeom prst="rect">
            <a:avLst/>
          </a:prstGeom>
          <a:noFill/>
          <a:ln/>
        </p:spPr>
        <p:txBody>
          <a:bodyPr wrap="square" lIns="0" tIns="0" rIns="0" bIns="0" rtlCol="0" anchor="ctr"/>
          <a:lstStyle/>
          <a:p>
            <a:pPr indent="0" marL="0">
              <a:buNone/>
            </a:pPr>
            <a:r>
              <a:rPr lang="en-US" sz="1400" dirty="0">
                <a:solidFill>
                  <a:srgbClr val="E8ECF2"/>
                </a:solidFill>
                <a:latin typeface="Calibri" pitchFamily="34" charset="0"/>
                <a:ea typeface="Calibri" pitchFamily="34" charset="-122"/>
                <a:cs typeface="Calibri" pitchFamily="34" charset="-120"/>
              </a:rPr>
              <a:t>By the end: which of this table’s numbers carry a claim, and three requests to make of any table.</a:t>
            </a:r>
            <a:endParaRPr lang="en-US" sz="1400" dirty="0"/>
          </a:p>
        </p:txBody>
      </p:sp>
      <p:sp>
        <p:nvSpPr>
          <p:cNvPr id="9" name="Shape 7"/>
          <p:cNvSpPr/>
          <p:nvPr/>
        </p:nvSpPr>
        <p:spPr>
          <a:xfrm>
            <a:off x="5733288" y="1984248"/>
            <a:ext cx="0" cy="3648456"/>
          </a:xfrm>
          <a:prstGeom prst="line">
            <a:avLst/>
          </a:prstGeom>
          <a:noFill/>
          <a:ln w="12700">
            <a:solidFill>
              <a:srgbClr val="2A3546"/>
            </a:solidFill>
            <a:prstDash val="solid"/>
          </a:ln>
        </p:spPr>
      </p:sp>
      <p:sp>
        <p:nvSpPr>
          <p:cNvPr id="10" name="Shape 8"/>
          <p:cNvSpPr/>
          <p:nvPr/>
        </p:nvSpPr>
        <p:spPr>
          <a:xfrm>
            <a:off x="5664708" y="1915668"/>
            <a:ext cx="137160" cy="137160"/>
          </a:xfrm>
          <a:prstGeom prst="ellipse">
            <a:avLst/>
          </a:prstGeom>
          <a:solidFill>
            <a:srgbClr val="0B0F17"/>
          </a:solidFill>
          <a:ln w="19050">
            <a:solidFill>
              <a:srgbClr val="3DDC97"/>
            </a:solidFill>
            <a:prstDash val="solid"/>
          </a:ln>
        </p:spPr>
      </p:sp>
      <p:sp>
        <p:nvSpPr>
          <p:cNvPr id="11" name="Text 9"/>
          <p:cNvSpPr txBox="1"/>
          <p:nvPr/>
        </p:nvSpPr>
        <p:spPr>
          <a:xfrm>
            <a:off x="5952744" y="180136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a:t>
            </a:r>
            <a:endParaRPr lang="en-US" sz="1700" dirty="0"/>
          </a:p>
        </p:txBody>
      </p:sp>
      <p:sp>
        <p:nvSpPr>
          <p:cNvPr id="12" name="Text 10"/>
          <p:cNvSpPr txBox="1"/>
          <p:nvPr/>
        </p:nvSpPr>
        <p:spPr>
          <a:xfrm>
            <a:off x="6583680" y="182880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object</a:t>
            </a:r>
            <a:endParaRPr lang="en-US" sz="1500" dirty="0"/>
          </a:p>
        </p:txBody>
      </p:sp>
      <p:sp>
        <p:nvSpPr>
          <p:cNvPr id="13" name="Text 11"/>
          <p:cNvSpPr txBox="1"/>
          <p:nvPr/>
        </p:nvSpPr>
        <p:spPr>
          <a:xfrm>
            <a:off x="6583680" y="210312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what a torso is, and how ESA scores a submission</a:t>
            </a:r>
            <a:endParaRPr lang="en-US" sz="1200" dirty="0"/>
          </a:p>
        </p:txBody>
      </p:sp>
      <p:sp>
        <p:nvSpPr>
          <p:cNvPr id="14" name="Shape 12"/>
          <p:cNvSpPr/>
          <p:nvPr/>
        </p:nvSpPr>
        <p:spPr>
          <a:xfrm>
            <a:off x="5664708" y="2523744"/>
            <a:ext cx="137160" cy="137160"/>
          </a:xfrm>
          <a:prstGeom prst="ellipse">
            <a:avLst/>
          </a:prstGeom>
          <a:solidFill>
            <a:srgbClr val="0B0F17"/>
          </a:solidFill>
          <a:ln w="19050">
            <a:solidFill>
              <a:srgbClr val="3DDC97"/>
            </a:solidFill>
            <a:prstDash val="solid"/>
          </a:ln>
        </p:spPr>
      </p:sp>
      <p:sp>
        <p:nvSpPr>
          <p:cNvPr id="15" name="Text 13"/>
          <p:cNvSpPr txBox="1"/>
          <p:nvPr/>
        </p:nvSpPr>
        <p:spPr>
          <a:xfrm>
            <a:off x="5952744" y="240944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a:t>
            </a:r>
            <a:endParaRPr lang="en-US" sz="1700" dirty="0"/>
          </a:p>
        </p:txBody>
      </p:sp>
      <p:sp>
        <p:nvSpPr>
          <p:cNvPr id="16" name="Text 14"/>
          <p:cNvSpPr txBox="1"/>
          <p:nvPr/>
        </p:nvSpPr>
        <p:spPr>
          <a:xfrm>
            <a:off x="6583680" y="243687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How good could an answer be?</a:t>
            </a:r>
            <a:endParaRPr lang="en-US" sz="1500" dirty="0"/>
          </a:p>
        </p:txBody>
      </p:sp>
      <p:sp>
        <p:nvSpPr>
          <p:cNvPr id="17" name="Text 15"/>
          <p:cNvSpPr txBox="1"/>
          <p:nvPr/>
        </p:nvSpPr>
        <p:spPr>
          <a:xfrm>
            <a:off x="6583680" y="271119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a provable ceiling, and three structures behind ten instances</a:t>
            </a:r>
            <a:endParaRPr lang="en-US" sz="1200" dirty="0"/>
          </a:p>
        </p:txBody>
      </p:sp>
      <p:sp>
        <p:nvSpPr>
          <p:cNvPr id="18" name="Shape 16"/>
          <p:cNvSpPr/>
          <p:nvPr/>
        </p:nvSpPr>
        <p:spPr>
          <a:xfrm>
            <a:off x="5664708" y="3131820"/>
            <a:ext cx="137160" cy="137160"/>
          </a:xfrm>
          <a:prstGeom prst="ellipse">
            <a:avLst/>
          </a:prstGeom>
          <a:solidFill>
            <a:srgbClr val="0B0F17"/>
          </a:solidFill>
          <a:ln w="19050">
            <a:solidFill>
              <a:srgbClr val="3DDC97"/>
            </a:solidFill>
            <a:prstDash val="solid"/>
          </a:ln>
        </p:spPr>
      </p:sp>
      <p:sp>
        <p:nvSpPr>
          <p:cNvPr id="19" name="Text 17"/>
          <p:cNvSpPr txBox="1"/>
          <p:nvPr/>
        </p:nvSpPr>
        <p:spPr>
          <a:xfrm>
            <a:off x="5952744" y="3017520"/>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III</a:t>
            </a:r>
            <a:endParaRPr lang="en-US" sz="1700" dirty="0"/>
          </a:p>
        </p:txBody>
      </p:sp>
      <p:sp>
        <p:nvSpPr>
          <p:cNvPr id="20" name="Text 18"/>
          <p:cNvSpPr txBox="1"/>
          <p:nvPr/>
        </p:nvSpPr>
        <p:spPr>
          <a:xfrm>
            <a:off x="6583680" y="3044952"/>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table</a:t>
            </a:r>
            <a:endParaRPr lang="en-US" sz="1500" dirty="0"/>
          </a:p>
        </p:txBody>
      </p:sp>
      <p:sp>
        <p:nvSpPr>
          <p:cNvPr id="21" name="Text 19"/>
          <p:cNvSpPr txBox="1"/>
          <p:nvPr/>
        </p:nvSpPr>
        <p:spPr>
          <a:xfrm>
            <a:off x="6583680" y="3319272"/>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a winner on every row, decided by the starting point</a:t>
            </a:r>
            <a:endParaRPr lang="en-US" sz="1200" dirty="0"/>
          </a:p>
        </p:txBody>
      </p:sp>
      <p:sp>
        <p:nvSpPr>
          <p:cNvPr id="22" name="Shape 20"/>
          <p:cNvSpPr/>
          <p:nvPr/>
        </p:nvSpPr>
        <p:spPr>
          <a:xfrm>
            <a:off x="5664708" y="3739896"/>
            <a:ext cx="137160" cy="137160"/>
          </a:xfrm>
          <a:prstGeom prst="ellipse">
            <a:avLst/>
          </a:prstGeom>
          <a:solidFill>
            <a:srgbClr val="0B0F17"/>
          </a:solidFill>
          <a:ln w="19050">
            <a:solidFill>
              <a:srgbClr val="3DDC97"/>
            </a:solidFill>
            <a:prstDash val="solid"/>
          </a:ln>
        </p:spPr>
      </p:sp>
      <p:sp>
        <p:nvSpPr>
          <p:cNvPr id="23" name="Text 21"/>
          <p:cNvSpPr txBox="1"/>
          <p:nvPr/>
        </p:nvSpPr>
        <p:spPr>
          <a:xfrm>
            <a:off x="5952744" y="3625596"/>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IV</a:t>
            </a:r>
            <a:endParaRPr lang="en-US" sz="1700" dirty="0"/>
          </a:p>
        </p:txBody>
      </p:sp>
      <p:sp>
        <p:nvSpPr>
          <p:cNvPr id="24" name="Text 22"/>
          <p:cNvSpPr txBox="1"/>
          <p:nvPr/>
        </p:nvSpPr>
        <p:spPr>
          <a:xfrm>
            <a:off x="6583680" y="3653028"/>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measurement</a:t>
            </a:r>
            <a:endParaRPr lang="en-US" sz="1500" dirty="0"/>
          </a:p>
        </p:txBody>
      </p:sp>
      <p:sp>
        <p:nvSpPr>
          <p:cNvPr id="25" name="Text 23"/>
          <p:cNvSpPr txBox="1"/>
          <p:nvPr/>
        </p:nvSpPr>
        <p:spPr>
          <a:xfrm>
            <a:off x="6583680" y="3927348"/>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the control run twice, and every seed read</a:t>
            </a:r>
            <a:endParaRPr lang="en-US" sz="1200" dirty="0"/>
          </a:p>
        </p:txBody>
      </p:sp>
      <p:sp>
        <p:nvSpPr>
          <p:cNvPr id="26" name="Shape 24"/>
          <p:cNvSpPr/>
          <p:nvPr/>
        </p:nvSpPr>
        <p:spPr>
          <a:xfrm>
            <a:off x="5664708" y="4347972"/>
            <a:ext cx="137160" cy="137160"/>
          </a:xfrm>
          <a:prstGeom prst="ellipse">
            <a:avLst/>
          </a:prstGeom>
          <a:solidFill>
            <a:srgbClr val="0B0F17"/>
          </a:solidFill>
          <a:ln w="19050">
            <a:solidFill>
              <a:srgbClr val="3DDC97"/>
            </a:solidFill>
            <a:prstDash val="solid"/>
          </a:ln>
        </p:spPr>
      </p:sp>
      <p:sp>
        <p:nvSpPr>
          <p:cNvPr id="27" name="Text 25"/>
          <p:cNvSpPr txBox="1"/>
          <p:nvPr/>
        </p:nvSpPr>
        <p:spPr>
          <a:xfrm>
            <a:off x="5952744" y="4233672"/>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a:t>
            </a:r>
            <a:endParaRPr lang="en-US" sz="1700" dirty="0"/>
          </a:p>
        </p:txBody>
      </p:sp>
      <p:sp>
        <p:nvSpPr>
          <p:cNvPr id="28" name="Text 26"/>
          <p:cNvSpPr txBox="1"/>
          <p:nvPr/>
        </p:nvSpPr>
        <p:spPr>
          <a:xfrm>
            <a:off x="6583680" y="4261104"/>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What does the work</a:t>
            </a:r>
            <a:endParaRPr lang="en-US" sz="1500" dirty="0"/>
          </a:p>
        </p:txBody>
      </p:sp>
      <p:sp>
        <p:nvSpPr>
          <p:cNvPr id="29" name="Text 27"/>
          <p:cNvSpPr txBox="1"/>
          <p:nvPr/>
        </p:nvSpPr>
        <p:spPr>
          <a:xfrm>
            <a:off x="6583680" y="4535424"/>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one component at a time, then seventeen operators</a:t>
            </a:r>
            <a:endParaRPr lang="en-US" sz="1200" dirty="0"/>
          </a:p>
        </p:txBody>
      </p:sp>
      <p:sp>
        <p:nvSpPr>
          <p:cNvPr id="30" name="Shape 28"/>
          <p:cNvSpPr/>
          <p:nvPr/>
        </p:nvSpPr>
        <p:spPr>
          <a:xfrm>
            <a:off x="5664708" y="4956048"/>
            <a:ext cx="137160" cy="137160"/>
          </a:xfrm>
          <a:prstGeom prst="ellipse">
            <a:avLst/>
          </a:prstGeom>
          <a:solidFill>
            <a:srgbClr val="0B0F17"/>
          </a:solidFill>
          <a:ln w="19050">
            <a:solidFill>
              <a:srgbClr val="3DDC97"/>
            </a:solidFill>
            <a:prstDash val="solid"/>
          </a:ln>
        </p:spPr>
      </p:sp>
      <p:sp>
        <p:nvSpPr>
          <p:cNvPr id="31" name="Text 29"/>
          <p:cNvSpPr txBox="1"/>
          <p:nvPr/>
        </p:nvSpPr>
        <p:spPr>
          <a:xfrm>
            <a:off x="5952744" y="484174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a:t>
            </a:r>
            <a:endParaRPr lang="en-US" sz="1700" dirty="0"/>
          </a:p>
        </p:txBody>
      </p:sp>
      <p:sp>
        <p:nvSpPr>
          <p:cNvPr id="32" name="Text 30"/>
          <p:cNvSpPr txBox="1"/>
          <p:nvPr/>
        </p:nvSpPr>
        <p:spPr>
          <a:xfrm>
            <a:off x="6583680" y="486918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More time?</a:t>
            </a:r>
            <a:endParaRPr lang="en-US" sz="1500" dirty="0"/>
          </a:p>
        </p:txBody>
      </p:sp>
      <p:sp>
        <p:nvSpPr>
          <p:cNvPr id="33" name="Text 31"/>
          <p:cNvSpPr txBox="1"/>
          <p:nvPr/>
        </p:nvSpPr>
        <p:spPr>
          <a:xfrm>
            <a:off x="6583680" y="514350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ten times the budget, against the construction’s lead</a:t>
            </a:r>
            <a:endParaRPr lang="en-US" sz="1200" dirty="0"/>
          </a:p>
        </p:txBody>
      </p:sp>
      <p:sp>
        <p:nvSpPr>
          <p:cNvPr id="34" name="Shape 32"/>
          <p:cNvSpPr/>
          <p:nvPr/>
        </p:nvSpPr>
        <p:spPr>
          <a:xfrm>
            <a:off x="5664708" y="5564124"/>
            <a:ext cx="137160" cy="137160"/>
          </a:xfrm>
          <a:prstGeom prst="ellipse">
            <a:avLst/>
          </a:prstGeom>
          <a:solidFill>
            <a:srgbClr val="0B0F17"/>
          </a:solidFill>
          <a:ln w="19050">
            <a:solidFill>
              <a:srgbClr val="3DDC97"/>
            </a:solidFill>
            <a:prstDash val="solid"/>
          </a:ln>
        </p:spPr>
      </p:sp>
      <p:sp>
        <p:nvSpPr>
          <p:cNvPr id="35" name="Text 33"/>
          <p:cNvSpPr txBox="1"/>
          <p:nvPr/>
        </p:nvSpPr>
        <p:spPr>
          <a:xfrm>
            <a:off x="5952744" y="544982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VII</a:t>
            </a:r>
            <a:endParaRPr lang="en-US" sz="1700" dirty="0"/>
          </a:p>
        </p:txBody>
      </p:sp>
      <p:sp>
        <p:nvSpPr>
          <p:cNvPr id="36" name="Text 34"/>
          <p:cNvSpPr txBox="1"/>
          <p:nvPr/>
        </p:nvSpPr>
        <p:spPr>
          <a:xfrm>
            <a:off x="6583680" y="547725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What to ask of a table</a:t>
            </a:r>
            <a:endParaRPr lang="en-US" sz="1500" dirty="0"/>
          </a:p>
        </p:txBody>
      </p:sp>
      <p:sp>
        <p:nvSpPr>
          <p:cNvPr id="37" name="Text 35"/>
          <p:cNvSpPr txBox="1"/>
          <p:nvPr/>
        </p:nvSpPr>
        <p:spPr>
          <a:xfrm>
            <a:off x="6583680" y="575157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three requests for any results table</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megastructure blueprint, posed as a graph problem</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Vertices are building blocks, edges are pairwise interactions. Find an ordering that says what can be assembled concurrently, and that encodes a recursive blueprint for the rest.</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AS SCORED BY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Input</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 connected graph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with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Submit</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up to 20 vectors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Eliminate</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2</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in turn: each vertex joins its later neighbours into a clique</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the last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 its width is the largest out-degree inside it</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Underneath: elimination orderings, the object behind treewidth, sparse Cholesky factorisation and variable elimination.</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7D8AA0"/>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eliminated head: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elimination order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out-degree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never scored, but capped at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width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ESA’s own ten-vertex example, x = [0, 1, 2, 4, 5, 3, 6, 8, 9, 7, 6]: nine edges (above) and nine fill edges (below, red). Torso of four, width 2 — ESA’s stated answer, reproduced.</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objectives, one score: the area a staircase covers</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Each vector is one point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the torso’s width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and the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vertices given up. Both are minimised.</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A submission is a staircase of at most 20 points. Its score is the area the staircase dominates, up to the corner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its hypervolume.</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reports that area negated, so its leaderboards are negative numbers; this talk quotes the area itself.</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THE CLIFF</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Every elimination step, the discarded head included, must keep its out-degree ≤ 500. One breach and the vector is scored as width 501, however good its torso.</a:t>
            </a:r>
            <a:endParaRPr lang="en-US" sz="1400" dirty="0"/>
          </a:p>
        </p:txBody>
      </p:sp>
      <p:sp>
        <p:nvSpPr>
          <p:cNvPr id="10" name="Shape 8"/>
          <p:cNvSpPr/>
          <p:nvPr/>
        </p:nvSpPr>
        <p:spPr>
          <a:xfrm>
            <a:off x="6640830" y="2011680"/>
            <a:ext cx="4560570" cy="3703320"/>
          </a:xfrm>
          <a:custGeom>
            <a:avLst/>
            <a:gdLst/>
            <a:ahLst/>
            <a:cxnLst/>
            <a:rect l="l" t="t" r="r" b="b"/>
            <a:pathLst>
              <a:path w="4560570" h="3703320">
                <a:moveTo>
                  <a:pt x="0" y="0"/>
                </a:moveTo>
                <a:lnTo>
                  <a:pt x="4560570" y="0"/>
                </a:lnTo>
                <a:lnTo>
                  <a:pt x="4560570" y="3703320"/>
                </a:lnTo>
                <a:lnTo>
                  <a:pt x="1728216" y="3703320"/>
                </a:lnTo>
                <a:lnTo>
                  <a:pt x="1728216" y="3221888"/>
                </a:lnTo>
                <a:lnTo>
                  <a:pt x="1056132" y="3221888"/>
                </a:lnTo>
                <a:lnTo>
                  <a:pt x="1056132" y="2666390"/>
                </a:lnTo>
                <a:lnTo>
                  <a:pt x="576072" y="2666390"/>
                </a:lnTo>
                <a:lnTo>
                  <a:pt x="576072" y="1999793"/>
                </a:lnTo>
                <a:lnTo>
                  <a:pt x="240030" y="1999793"/>
                </a:lnTo>
                <a:lnTo>
                  <a:pt x="240030" y="1110996"/>
                </a:lnTo>
                <a:lnTo>
                  <a:pt x="0" y="1110996"/>
                </a:lnTo>
                <a:close/>
              </a:path>
            </a:pathLst>
          </a:custGeom>
          <a:solidFill>
            <a:srgbClr val="3DDC97">
              <a:alpha val="22000"/>
            </a:srgbClr>
          </a:solidFill>
          <a:ln/>
        </p:spPr>
      </p:sp>
      <p:sp>
        <p:nvSpPr>
          <p:cNvPr id="11" name="Shape 9"/>
          <p:cNvSpPr/>
          <p:nvPr/>
        </p:nvSpPr>
        <p:spPr>
          <a:xfrm>
            <a:off x="6400800" y="5715000"/>
            <a:ext cx="4937760" cy="0"/>
          </a:xfrm>
          <a:prstGeom prst="line">
            <a:avLst/>
          </a:prstGeom>
          <a:noFill/>
          <a:ln w="12700">
            <a:solidFill>
              <a:srgbClr val="9AA6B6"/>
            </a:solidFill>
            <a:prstDash val="solid"/>
            <a:tailEnd type="triangle"/>
          </a:ln>
        </p:spPr>
      </p:sp>
      <p:sp>
        <p:nvSpPr>
          <p:cNvPr id="12" name="Shape 10"/>
          <p:cNvSpPr/>
          <p:nvPr/>
        </p:nvSpPr>
        <p:spPr>
          <a:xfrm>
            <a:off x="6400800" y="1874520"/>
            <a:ext cx="0" cy="3840480"/>
          </a:xfrm>
          <a:prstGeom prst="line">
            <a:avLst/>
          </a:prstGeom>
          <a:noFill/>
          <a:ln w="12700">
            <a:solidFill>
              <a:srgbClr val="9AA6B6"/>
            </a:solidFill>
            <a:prstDash val="solid"/>
            <a:headEnd type="triangle"/>
          </a:ln>
        </p:spPr>
      </p:sp>
      <p:sp>
        <p:nvSpPr>
          <p:cNvPr id="13" name="Shape 11"/>
          <p:cNvSpPr/>
          <p:nvPr/>
        </p:nvSpPr>
        <p:spPr>
          <a:xfrm>
            <a:off x="6640830" y="2011680"/>
            <a:ext cx="0" cy="1110996"/>
          </a:xfrm>
          <a:prstGeom prst="line">
            <a:avLst/>
          </a:prstGeom>
          <a:noFill/>
          <a:ln w="22225">
            <a:solidFill>
              <a:srgbClr val="3DDC97"/>
            </a:solidFill>
            <a:prstDash val="solid"/>
          </a:ln>
        </p:spPr>
      </p:sp>
      <p:sp>
        <p:nvSpPr>
          <p:cNvPr id="14" name="Shape 12"/>
          <p:cNvSpPr/>
          <p:nvPr/>
        </p:nvSpPr>
        <p:spPr>
          <a:xfrm>
            <a:off x="6640830" y="3122676"/>
            <a:ext cx="240030" cy="0"/>
          </a:xfrm>
          <a:prstGeom prst="line">
            <a:avLst/>
          </a:prstGeom>
          <a:noFill/>
          <a:ln w="22225">
            <a:solidFill>
              <a:srgbClr val="3DDC97"/>
            </a:solidFill>
            <a:prstDash val="solid"/>
          </a:ln>
        </p:spPr>
      </p:sp>
      <p:sp>
        <p:nvSpPr>
          <p:cNvPr id="15" name="Shape 13"/>
          <p:cNvSpPr/>
          <p:nvPr/>
        </p:nvSpPr>
        <p:spPr>
          <a:xfrm>
            <a:off x="6880860" y="3122676"/>
            <a:ext cx="0" cy="888797"/>
          </a:xfrm>
          <a:prstGeom prst="line">
            <a:avLst/>
          </a:prstGeom>
          <a:noFill/>
          <a:ln w="22225">
            <a:solidFill>
              <a:srgbClr val="3DDC97"/>
            </a:solidFill>
            <a:prstDash val="solid"/>
          </a:ln>
        </p:spPr>
      </p:sp>
      <p:sp>
        <p:nvSpPr>
          <p:cNvPr id="16" name="Shape 14"/>
          <p:cNvSpPr/>
          <p:nvPr/>
        </p:nvSpPr>
        <p:spPr>
          <a:xfrm>
            <a:off x="6880860" y="4011473"/>
            <a:ext cx="336042" cy="0"/>
          </a:xfrm>
          <a:prstGeom prst="line">
            <a:avLst/>
          </a:prstGeom>
          <a:noFill/>
          <a:ln w="22225">
            <a:solidFill>
              <a:srgbClr val="3DDC97"/>
            </a:solidFill>
            <a:prstDash val="solid"/>
          </a:ln>
        </p:spPr>
      </p:sp>
      <p:sp>
        <p:nvSpPr>
          <p:cNvPr id="17" name="Shape 15"/>
          <p:cNvSpPr/>
          <p:nvPr/>
        </p:nvSpPr>
        <p:spPr>
          <a:xfrm>
            <a:off x="7216902" y="4011473"/>
            <a:ext cx="0" cy="666598"/>
          </a:xfrm>
          <a:prstGeom prst="line">
            <a:avLst/>
          </a:prstGeom>
          <a:noFill/>
          <a:ln w="22225">
            <a:solidFill>
              <a:srgbClr val="3DDC97"/>
            </a:solidFill>
            <a:prstDash val="solid"/>
          </a:ln>
        </p:spPr>
      </p:sp>
      <p:sp>
        <p:nvSpPr>
          <p:cNvPr id="18" name="Shape 16"/>
          <p:cNvSpPr/>
          <p:nvPr/>
        </p:nvSpPr>
        <p:spPr>
          <a:xfrm>
            <a:off x="7216902" y="4678070"/>
            <a:ext cx="480060" cy="0"/>
          </a:xfrm>
          <a:prstGeom prst="line">
            <a:avLst/>
          </a:prstGeom>
          <a:noFill/>
          <a:ln w="22225">
            <a:solidFill>
              <a:srgbClr val="3DDC97"/>
            </a:solidFill>
            <a:prstDash val="solid"/>
          </a:ln>
        </p:spPr>
      </p:sp>
      <p:sp>
        <p:nvSpPr>
          <p:cNvPr id="19" name="Shape 17"/>
          <p:cNvSpPr/>
          <p:nvPr/>
        </p:nvSpPr>
        <p:spPr>
          <a:xfrm>
            <a:off x="7696962" y="4678070"/>
            <a:ext cx="0" cy="555498"/>
          </a:xfrm>
          <a:prstGeom prst="line">
            <a:avLst/>
          </a:prstGeom>
          <a:noFill/>
          <a:ln w="22225">
            <a:solidFill>
              <a:srgbClr val="3DDC97"/>
            </a:solidFill>
            <a:prstDash val="solid"/>
          </a:ln>
        </p:spPr>
      </p:sp>
      <p:sp>
        <p:nvSpPr>
          <p:cNvPr id="20" name="Shape 18"/>
          <p:cNvSpPr/>
          <p:nvPr/>
        </p:nvSpPr>
        <p:spPr>
          <a:xfrm>
            <a:off x="7696962" y="5233568"/>
            <a:ext cx="672084" cy="0"/>
          </a:xfrm>
          <a:prstGeom prst="line">
            <a:avLst/>
          </a:prstGeom>
          <a:noFill/>
          <a:ln w="22225">
            <a:solidFill>
              <a:srgbClr val="3DDC97"/>
            </a:solidFill>
            <a:prstDash val="solid"/>
          </a:ln>
        </p:spPr>
      </p:sp>
      <p:sp>
        <p:nvSpPr>
          <p:cNvPr id="21" name="Shape 19"/>
          <p:cNvSpPr/>
          <p:nvPr/>
        </p:nvSpPr>
        <p:spPr>
          <a:xfrm>
            <a:off x="8369046" y="5233568"/>
            <a:ext cx="0" cy="481432"/>
          </a:xfrm>
          <a:prstGeom prst="line">
            <a:avLst/>
          </a:prstGeom>
          <a:noFill/>
          <a:ln w="22225">
            <a:solidFill>
              <a:srgbClr val="3DDC97"/>
            </a:solidFill>
            <a:prstDash val="solid"/>
          </a:ln>
        </p:spPr>
      </p:sp>
      <p:sp>
        <p:nvSpPr>
          <p:cNvPr id="22" name="Shape 20"/>
          <p:cNvSpPr/>
          <p:nvPr/>
        </p:nvSpPr>
        <p:spPr>
          <a:xfrm>
            <a:off x="8369046" y="5715000"/>
            <a:ext cx="2832354" cy="0"/>
          </a:xfrm>
          <a:prstGeom prst="line">
            <a:avLst/>
          </a:prstGeom>
          <a:noFill/>
          <a:ln w="22225">
            <a:solidFill>
              <a:srgbClr val="3DDC97"/>
            </a:solidFill>
            <a:prstDash val="solid"/>
          </a:ln>
        </p:spPr>
      </p:sp>
      <p:sp>
        <p:nvSpPr>
          <p:cNvPr id="23" name="Shape 21"/>
          <p:cNvSpPr/>
          <p:nvPr/>
        </p:nvSpPr>
        <p:spPr>
          <a:xfrm>
            <a:off x="6572250" y="3054096"/>
            <a:ext cx="137160" cy="137160"/>
          </a:xfrm>
          <a:prstGeom prst="ellipse">
            <a:avLst/>
          </a:prstGeom>
          <a:solidFill>
            <a:srgbClr val="3DDC97"/>
          </a:solidFill>
          <a:ln/>
        </p:spPr>
      </p:sp>
      <p:sp>
        <p:nvSpPr>
          <p:cNvPr id="24" name="Shape 22"/>
          <p:cNvSpPr/>
          <p:nvPr/>
        </p:nvSpPr>
        <p:spPr>
          <a:xfrm>
            <a:off x="6812280" y="3942893"/>
            <a:ext cx="137160" cy="137160"/>
          </a:xfrm>
          <a:prstGeom prst="ellipse">
            <a:avLst/>
          </a:prstGeom>
          <a:solidFill>
            <a:srgbClr val="3DDC97"/>
          </a:solidFill>
          <a:ln/>
        </p:spPr>
      </p:sp>
      <p:sp>
        <p:nvSpPr>
          <p:cNvPr id="25" name="Shape 23"/>
          <p:cNvSpPr/>
          <p:nvPr/>
        </p:nvSpPr>
        <p:spPr>
          <a:xfrm>
            <a:off x="7148322" y="4609490"/>
            <a:ext cx="137160" cy="137160"/>
          </a:xfrm>
          <a:prstGeom prst="ellipse">
            <a:avLst/>
          </a:prstGeom>
          <a:solidFill>
            <a:srgbClr val="3DDC97"/>
          </a:solidFill>
          <a:ln/>
        </p:spPr>
      </p:sp>
      <p:sp>
        <p:nvSpPr>
          <p:cNvPr id="26" name="Shape 24"/>
          <p:cNvSpPr/>
          <p:nvPr/>
        </p:nvSpPr>
        <p:spPr>
          <a:xfrm>
            <a:off x="7628382" y="5164988"/>
            <a:ext cx="137160" cy="137160"/>
          </a:xfrm>
          <a:prstGeom prst="ellipse">
            <a:avLst/>
          </a:prstGeom>
          <a:solidFill>
            <a:srgbClr val="3DDC97"/>
          </a:solidFill>
          <a:ln/>
        </p:spPr>
      </p:sp>
      <p:sp>
        <p:nvSpPr>
          <p:cNvPr id="27" name="Shape 25"/>
          <p:cNvSpPr/>
          <p:nvPr/>
        </p:nvSpPr>
        <p:spPr>
          <a:xfrm>
            <a:off x="8300466" y="5646420"/>
            <a:ext cx="137160" cy="137160"/>
          </a:xfrm>
          <a:prstGeom prst="ellipse">
            <a:avLst/>
          </a:prstGeom>
          <a:solidFill>
            <a:srgbClr val="3DDC97"/>
          </a:solidFill>
          <a:ln/>
        </p:spPr>
      </p:sp>
      <p:sp>
        <p:nvSpPr>
          <p:cNvPr id="28" name="Shape 26"/>
          <p:cNvSpPr/>
          <p:nvPr/>
        </p:nvSpPr>
        <p:spPr>
          <a:xfrm>
            <a:off x="11146536" y="1956816"/>
            <a:ext cx="109728" cy="109728"/>
          </a:xfrm>
          <a:prstGeom prst="ellipse">
            <a:avLst/>
          </a:prstGeom>
          <a:solidFill>
            <a:srgbClr val="E8ECF2"/>
          </a:solidFill>
          <a:ln/>
        </p:spPr>
      </p:sp>
      <p:sp>
        <p:nvSpPr>
          <p:cNvPr id="29" name="Text 27"/>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0" name="Text 28"/>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dominated area</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the score</a:t>
            </a:r>
            <a:endParaRPr lang="en-US" sz="1500" dirty="0"/>
          </a:p>
        </p:txBody>
      </p:sp>
      <p:sp>
        <p:nvSpPr>
          <p:cNvPr id="31" name="Text 29"/>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torso width  w →</a:t>
            </a:r>
            <a:endParaRPr lang="en-US" sz="1200" dirty="0"/>
          </a:p>
        </p:txBody>
      </p:sp>
      <p:sp>
        <p:nvSpPr>
          <p:cNvPr id="32" name="Text 30"/>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vertices given up  t</a:t>
            </a:r>
            <a:endParaRPr lang="en-US" sz="1200" dirty="0"/>
          </a:p>
        </p:txBody>
      </p:sp>
      <p:sp>
        <p:nvSpPr>
          <p:cNvPr id="33" name="Text 31"/>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illustrative</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provable ceiling on every score</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LEMMA</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Eliminate any set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vertices first. Adding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to every bag of a tree decomposition of the torso gives a tree decomposition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so</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A cheap lower bound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turns this into a wall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The best 20 points against that wall, found by dynamic programming, bound every possible submission.</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ceiling</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best known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sparse</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within 0.63% of the ceiling: effectively solved</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medium</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mostly a loose bound: tw ≥ 63 removes only 2,091 of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dense</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 planted 500-clique pins tw to 499–500, so 4.54% is real headroom</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Best known = top of ESA’s leaderboard for each official instance (read 13 Oct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instances, but only three structures</a:t>
            </a:r>
            <a:endParaRPr lang="en-US" sz="2700" dirty="0"/>
          </a:p>
        </p:txBody>
      </p:sp>
      <p:sp>
        <p:nvSpPr>
          <p:cNvPr id="4" name="Shape 2"/>
          <p:cNvSpPr/>
          <p:nvPr/>
        </p:nvSpPr>
        <p:spPr>
          <a:xfrm>
            <a:off x="960120" y="2377440"/>
            <a:ext cx="0" cy="384048"/>
          </a:xfrm>
          <a:prstGeom prst="line">
            <a:avLst/>
          </a:prstGeom>
          <a:noFill/>
          <a:ln w="12700">
            <a:solidFill>
              <a:srgbClr val="7D8AA0"/>
            </a:solidFill>
            <a:prstDash val="solid"/>
          </a:ln>
        </p:spPr>
      </p:sp>
      <p:sp>
        <p:nvSpPr>
          <p:cNvPr id="5" name="Shape 3"/>
          <p:cNvSpPr/>
          <p:nvPr/>
        </p:nvSpPr>
        <p:spPr>
          <a:xfrm>
            <a:off x="1271016" y="2377440"/>
            <a:ext cx="310896" cy="0"/>
          </a:xfrm>
          <a:prstGeom prst="line">
            <a:avLst/>
          </a:prstGeom>
          <a:noFill/>
          <a:ln w="12700">
            <a:solidFill>
              <a:srgbClr val="7D8AA0"/>
            </a:solidFill>
            <a:prstDash val="solid"/>
          </a:ln>
        </p:spPr>
      </p:sp>
      <p:sp>
        <p:nvSpPr>
          <p:cNvPr id="6" name="Shape 4"/>
          <p:cNvSpPr/>
          <p:nvPr/>
        </p:nvSpPr>
        <p:spPr>
          <a:xfrm>
            <a:off x="1271016" y="2377440"/>
            <a:ext cx="0" cy="384048"/>
          </a:xfrm>
          <a:prstGeom prst="line">
            <a:avLst/>
          </a:prstGeom>
          <a:noFill/>
          <a:ln w="12700">
            <a:solidFill>
              <a:srgbClr val="7D8AA0"/>
            </a:solidFill>
            <a:prstDash val="solid"/>
          </a:ln>
        </p:spPr>
      </p:sp>
      <p:sp>
        <p:nvSpPr>
          <p:cNvPr id="7" name="Shape 5"/>
          <p:cNvSpPr/>
          <p:nvPr/>
        </p:nvSpPr>
        <p:spPr>
          <a:xfrm>
            <a:off x="1581912" y="2377440"/>
            <a:ext cx="310896" cy="0"/>
          </a:xfrm>
          <a:prstGeom prst="line">
            <a:avLst/>
          </a:prstGeom>
          <a:noFill/>
          <a:ln w="12700">
            <a:solidFill>
              <a:srgbClr val="7D8AA0"/>
            </a:solidFill>
            <a:prstDash val="solid"/>
          </a:ln>
        </p:spPr>
      </p:sp>
      <p:sp>
        <p:nvSpPr>
          <p:cNvPr id="8" name="Shape 6"/>
          <p:cNvSpPr/>
          <p:nvPr/>
        </p:nvSpPr>
        <p:spPr>
          <a:xfrm>
            <a:off x="1581912" y="2377440"/>
            <a:ext cx="0" cy="384048"/>
          </a:xfrm>
          <a:prstGeom prst="line">
            <a:avLst/>
          </a:prstGeom>
          <a:noFill/>
          <a:ln w="12700">
            <a:solidFill>
              <a:srgbClr val="7D8AA0"/>
            </a:solidFill>
            <a:prstDash val="solid"/>
          </a:ln>
        </p:spPr>
      </p:sp>
      <p:sp>
        <p:nvSpPr>
          <p:cNvPr id="9" name="Shape 7"/>
          <p:cNvSpPr/>
          <p:nvPr/>
        </p:nvSpPr>
        <p:spPr>
          <a:xfrm>
            <a:off x="1892808" y="2377440"/>
            <a:ext cx="310896" cy="0"/>
          </a:xfrm>
          <a:prstGeom prst="line">
            <a:avLst/>
          </a:prstGeom>
          <a:noFill/>
          <a:ln w="12700">
            <a:solidFill>
              <a:srgbClr val="7D8AA0"/>
            </a:solidFill>
            <a:prstDash val="solid"/>
          </a:ln>
        </p:spPr>
      </p:sp>
      <p:sp>
        <p:nvSpPr>
          <p:cNvPr id="10" name="Shape 8"/>
          <p:cNvSpPr/>
          <p:nvPr/>
        </p:nvSpPr>
        <p:spPr>
          <a:xfrm>
            <a:off x="1892808" y="2377440"/>
            <a:ext cx="0" cy="384048"/>
          </a:xfrm>
          <a:prstGeom prst="line">
            <a:avLst/>
          </a:prstGeom>
          <a:noFill/>
          <a:ln w="12700">
            <a:solidFill>
              <a:srgbClr val="7D8AA0"/>
            </a:solidFill>
            <a:prstDash val="solid"/>
          </a:ln>
        </p:spPr>
      </p:sp>
      <p:sp>
        <p:nvSpPr>
          <p:cNvPr id="11" name="Shape 9"/>
          <p:cNvSpPr/>
          <p:nvPr/>
        </p:nvSpPr>
        <p:spPr>
          <a:xfrm>
            <a:off x="2203704" y="2377440"/>
            <a:ext cx="310896" cy="0"/>
          </a:xfrm>
          <a:prstGeom prst="line">
            <a:avLst/>
          </a:prstGeom>
          <a:noFill/>
          <a:ln w="12700">
            <a:solidFill>
              <a:srgbClr val="7D8AA0"/>
            </a:solidFill>
            <a:prstDash val="solid"/>
          </a:ln>
        </p:spPr>
      </p:sp>
      <p:sp>
        <p:nvSpPr>
          <p:cNvPr id="12" name="Shape 10"/>
          <p:cNvSpPr/>
          <p:nvPr/>
        </p:nvSpPr>
        <p:spPr>
          <a:xfrm>
            <a:off x="2203704" y="2377440"/>
            <a:ext cx="0" cy="384048"/>
          </a:xfrm>
          <a:prstGeom prst="line">
            <a:avLst/>
          </a:prstGeom>
          <a:noFill/>
          <a:ln w="12700">
            <a:solidFill>
              <a:srgbClr val="7D8AA0"/>
            </a:solidFill>
            <a:prstDash val="solid"/>
          </a:ln>
        </p:spPr>
      </p:sp>
      <p:sp>
        <p:nvSpPr>
          <p:cNvPr id="13" name="Shape 11"/>
          <p:cNvSpPr/>
          <p:nvPr/>
        </p:nvSpPr>
        <p:spPr>
          <a:xfrm>
            <a:off x="2514600" y="2377440"/>
            <a:ext cx="310896" cy="0"/>
          </a:xfrm>
          <a:prstGeom prst="line">
            <a:avLst/>
          </a:prstGeom>
          <a:noFill/>
          <a:ln w="12700">
            <a:solidFill>
              <a:srgbClr val="7D8AA0"/>
            </a:solidFill>
            <a:prstDash val="solid"/>
          </a:ln>
        </p:spPr>
      </p:sp>
      <p:sp>
        <p:nvSpPr>
          <p:cNvPr id="14" name="Shape 12"/>
          <p:cNvSpPr/>
          <p:nvPr/>
        </p:nvSpPr>
        <p:spPr>
          <a:xfrm>
            <a:off x="2514600" y="2377440"/>
            <a:ext cx="0" cy="384048"/>
          </a:xfrm>
          <a:prstGeom prst="line">
            <a:avLst/>
          </a:prstGeom>
          <a:noFill/>
          <a:ln w="12700">
            <a:solidFill>
              <a:srgbClr val="7D8AA0"/>
            </a:solidFill>
            <a:prstDash val="solid"/>
          </a:ln>
        </p:spPr>
      </p:sp>
      <p:sp>
        <p:nvSpPr>
          <p:cNvPr id="15" name="Shape 13"/>
          <p:cNvSpPr/>
          <p:nvPr/>
        </p:nvSpPr>
        <p:spPr>
          <a:xfrm>
            <a:off x="2825496" y="2377440"/>
            <a:ext cx="310896" cy="0"/>
          </a:xfrm>
          <a:prstGeom prst="line">
            <a:avLst/>
          </a:prstGeom>
          <a:noFill/>
          <a:ln w="12700">
            <a:solidFill>
              <a:srgbClr val="7D8AA0"/>
            </a:solidFill>
            <a:prstDash val="solid"/>
          </a:ln>
        </p:spPr>
      </p:sp>
      <p:sp>
        <p:nvSpPr>
          <p:cNvPr id="16" name="Shape 14"/>
          <p:cNvSpPr/>
          <p:nvPr/>
        </p:nvSpPr>
        <p:spPr>
          <a:xfrm>
            <a:off x="2825496" y="2377440"/>
            <a:ext cx="0" cy="384048"/>
          </a:xfrm>
          <a:prstGeom prst="line">
            <a:avLst/>
          </a:prstGeom>
          <a:noFill/>
          <a:ln w="12700">
            <a:solidFill>
              <a:srgbClr val="7D8AA0"/>
            </a:solidFill>
            <a:prstDash val="solid"/>
          </a:ln>
        </p:spPr>
      </p:sp>
      <p:sp>
        <p:nvSpPr>
          <p:cNvPr id="17" name="Shape 15"/>
          <p:cNvSpPr/>
          <p:nvPr/>
        </p:nvSpPr>
        <p:spPr>
          <a:xfrm>
            <a:off x="3136392" y="2377440"/>
            <a:ext cx="310896" cy="0"/>
          </a:xfrm>
          <a:prstGeom prst="line">
            <a:avLst/>
          </a:prstGeom>
          <a:noFill/>
          <a:ln w="12700">
            <a:solidFill>
              <a:srgbClr val="7D8AA0"/>
            </a:solidFill>
            <a:prstDash val="solid"/>
          </a:ln>
        </p:spPr>
      </p:sp>
      <p:sp>
        <p:nvSpPr>
          <p:cNvPr id="18" name="Shape 16"/>
          <p:cNvSpPr/>
          <p:nvPr/>
        </p:nvSpPr>
        <p:spPr>
          <a:xfrm>
            <a:off x="3136392" y="2377440"/>
            <a:ext cx="0" cy="384048"/>
          </a:xfrm>
          <a:prstGeom prst="line">
            <a:avLst/>
          </a:prstGeom>
          <a:noFill/>
          <a:ln w="12700">
            <a:solidFill>
              <a:srgbClr val="7D8AA0"/>
            </a:solidFill>
            <a:prstDash val="solid"/>
          </a:ln>
        </p:spPr>
      </p:sp>
      <p:sp>
        <p:nvSpPr>
          <p:cNvPr id="19" name="Shape 17"/>
          <p:cNvSpPr/>
          <p:nvPr/>
        </p:nvSpPr>
        <p:spPr>
          <a:xfrm>
            <a:off x="960120" y="2761488"/>
            <a:ext cx="310896" cy="0"/>
          </a:xfrm>
          <a:prstGeom prst="line">
            <a:avLst/>
          </a:prstGeom>
          <a:noFill/>
          <a:ln w="12700">
            <a:solidFill>
              <a:srgbClr val="7D8AA0"/>
            </a:solidFill>
            <a:prstDash val="solid"/>
          </a:ln>
        </p:spPr>
      </p:sp>
      <p:sp>
        <p:nvSpPr>
          <p:cNvPr id="20" name="Shape 18"/>
          <p:cNvSpPr/>
          <p:nvPr/>
        </p:nvSpPr>
        <p:spPr>
          <a:xfrm>
            <a:off x="960120" y="2761488"/>
            <a:ext cx="0" cy="384048"/>
          </a:xfrm>
          <a:prstGeom prst="line">
            <a:avLst/>
          </a:prstGeom>
          <a:noFill/>
          <a:ln w="12700">
            <a:solidFill>
              <a:srgbClr val="7D8AA0"/>
            </a:solidFill>
            <a:prstDash val="solid"/>
          </a:ln>
        </p:spPr>
      </p:sp>
      <p:sp>
        <p:nvSpPr>
          <p:cNvPr id="21" name="Shape 19"/>
          <p:cNvSpPr/>
          <p:nvPr/>
        </p:nvSpPr>
        <p:spPr>
          <a:xfrm>
            <a:off x="1271016" y="2761488"/>
            <a:ext cx="310896" cy="0"/>
          </a:xfrm>
          <a:prstGeom prst="line">
            <a:avLst/>
          </a:prstGeom>
          <a:noFill/>
          <a:ln w="12700">
            <a:solidFill>
              <a:srgbClr val="7D8AA0"/>
            </a:solidFill>
            <a:prstDash val="solid"/>
          </a:ln>
        </p:spPr>
      </p:sp>
      <p:sp>
        <p:nvSpPr>
          <p:cNvPr id="22" name="Shape 20"/>
          <p:cNvSpPr/>
          <p:nvPr/>
        </p:nvSpPr>
        <p:spPr>
          <a:xfrm>
            <a:off x="1271016" y="2761488"/>
            <a:ext cx="0" cy="384048"/>
          </a:xfrm>
          <a:prstGeom prst="line">
            <a:avLst/>
          </a:prstGeom>
          <a:noFill/>
          <a:ln w="12700">
            <a:solidFill>
              <a:srgbClr val="7D8AA0"/>
            </a:solidFill>
            <a:prstDash val="solid"/>
          </a:ln>
        </p:spPr>
      </p:sp>
      <p:sp>
        <p:nvSpPr>
          <p:cNvPr id="23" name="Shape 21"/>
          <p:cNvSpPr/>
          <p:nvPr/>
        </p:nvSpPr>
        <p:spPr>
          <a:xfrm>
            <a:off x="1581912" y="2761488"/>
            <a:ext cx="310896" cy="0"/>
          </a:xfrm>
          <a:prstGeom prst="line">
            <a:avLst/>
          </a:prstGeom>
          <a:noFill/>
          <a:ln w="12700">
            <a:solidFill>
              <a:srgbClr val="7D8AA0"/>
            </a:solidFill>
            <a:prstDash val="solid"/>
          </a:ln>
        </p:spPr>
      </p:sp>
      <p:sp>
        <p:nvSpPr>
          <p:cNvPr id="24" name="Shape 22"/>
          <p:cNvSpPr/>
          <p:nvPr/>
        </p:nvSpPr>
        <p:spPr>
          <a:xfrm>
            <a:off x="1581912" y="2761488"/>
            <a:ext cx="0" cy="384048"/>
          </a:xfrm>
          <a:prstGeom prst="line">
            <a:avLst/>
          </a:prstGeom>
          <a:noFill/>
          <a:ln w="12700">
            <a:solidFill>
              <a:srgbClr val="7D8AA0"/>
            </a:solidFill>
            <a:prstDash val="solid"/>
          </a:ln>
        </p:spPr>
      </p:sp>
      <p:sp>
        <p:nvSpPr>
          <p:cNvPr id="25" name="Shape 23"/>
          <p:cNvSpPr/>
          <p:nvPr/>
        </p:nvSpPr>
        <p:spPr>
          <a:xfrm>
            <a:off x="1892808" y="2761488"/>
            <a:ext cx="310896" cy="0"/>
          </a:xfrm>
          <a:prstGeom prst="line">
            <a:avLst/>
          </a:prstGeom>
          <a:noFill/>
          <a:ln w="12700">
            <a:solidFill>
              <a:srgbClr val="7D8AA0"/>
            </a:solidFill>
            <a:prstDash val="solid"/>
          </a:ln>
        </p:spPr>
      </p:sp>
      <p:sp>
        <p:nvSpPr>
          <p:cNvPr id="26" name="Shape 24"/>
          <p:cNvSpPr/>
          <p:nvPr/>
        </p:nvSpPr>
        <p:spPr>
          <a:xfrm>
            <a:off x="1892808" y="2761488"/>
            <a:ext cx="0" cy="384048"/>
          </a:xfrm>
          <a:prstGeom prst="line">
            <a:avLst/>
          </a:prstGeom>
          <a:noFill/>
          <a:ln w="12700">
            <a:solidFill>
              <a:srgbClr val="7D8AA0"/>
            </a:solidFill>
            <a:prstDash val="solid"/>
          </a:ln>
        </p:spPr>
      </p:sp>
      <p:sp>
        <p:nvSpPr>
          <p:cNvPr id="27" name="Shape 25"/>
          <p:cNvSpPr/>
          <p:nvPr/>
        </p:nvSpPr>
        <p:spPr>
          <a:xfrm>
            <a:off x="2203704" y="2761488"/>
            <a:ext cx="310896" cy="0"/>
          </a:xfrm>
          <a:prstGeom prst="line">
            <a:avLst/>
          </a:prstGeom>
          <a:noFill/>
          <a:ln w="12700">
            <a:solidFill>
              <a:srgbClr val="7D8AA0"/>
            </a:solidFill>
            <a:prstDash val="solid"/>
          </a:ln>
        </p:spPr>
      </p:sp>
      <p:sp>
        <p:nvSpPr>
          <p:cNvPr id="28" name="Shape 26"/>
          <p:cNvSpPr/>
          <p:nvPr/>
        </p:nvSpPr>
        <p:spPr>
          <a:xfrm>
            <a:off x="2203704" y="2761488"/>
            <a:ext cx="0" cy="384048"/>
          </a:xfrm>
          <a:prstGeom prst="line">
            <a:avLst/>
          </a:prstGeom>
          <a:noFill/>
          <a:ln w="12700">
            <a:solidFill>
              <a:srgbClr val="7D8AA0"/>
            </a:solidFill>
            <a:prstDash val="solid"/>
          </a:ln>
        </p:spPr>
      </p:sp>
      <p:sp>
        <p:nvSpPr>
          <p:cNvPr id="29" name="Shape 27"/>
          <p:cNvSpPr/>
          <p:nvPr/>
        </p:nvSpPr>
        <p:spPr>
          <a:xfrm>
            <a:off x="2514600" y="2761488"/>
            <a:ext cx="310896" cy="0"/>
          </a:xfrm>
          <a:prstGeom prst="line">
            <a:avLst/>
          </a:prstGeom>
          <a:noFill/>
          <a:ln w="12700">
            <a:solidFill>
              <a:srgbClr val="7D8AA0"/>
            </a:solidFill>
            <a:prstDash val="solid"/>
          </a:ln>
        </p:spPr>
      </p:sp>
      <p:sp>
        <p:nvSpPr>
          <p:cNvPr id="30" name="Shape 28"/>
          <p:cNvSpPr/>
          <p:nvPr/>
        </p:nvSpPr>
        <p:spPr>
          <a:xfrm>
            <a:off x="2514600" y="2761488"/>
            <a:ext cx="0" cy="384048"/>
          </a:xfrm>
          <a:prstGeom prst="line">
            <a:avLst/>
          </a:prstGeom>
          <a:noFill/>
          <a:ln w="12700">
            <a:solidFill>
              <a:srgbClr val="7D8AA0"/>
            </a:solidFill>
            <a:prstDash val="solid"/>
          </a:ln>
        </p:spPr>
      </p:sp>
      <p:sp>
        <p:nvSpPr>
          <p:cNvPr id="31" name="Shape 29"/>
          <p:cNvSpPr/>
          <p:nvPr/>
        </p:nvSpPr>
        <p:spPr>
          <a:xfrm>
            <a:off x="2825496" y="2761488"/>
            <a:ext cx="310896" cy="0"/>
          </a:xfrm>
          <a:prstGeom prst="line">
            <a:avLst/>
          </a:prstGeom>
          <a:noFill/>
          <a:ln w="12700">
            <a:solidFill>
              <a:srgbClr val="7D8AA0"/>
            </a:solidFill>
            <a:prstDash val="solid"/>
          </a:ln>
        </p:spPr>
      </p:sp>
      <p:sp>
        <p:nvSpPr>
          <p:cNvPr id="32" name="Shape 30"/>
          <p:cNvSpPr/>
          <p:nvPr/>
        </p:nvSpPr>
        <p:spPr>
          <a:xfrm>
            <a:off x="3136392" y="2761488"/>
            <a:ext cx="310896" cy="0"/>
          </a:xfrm>
          <a:prstGeom prst="line">
            <a:avLst/>
          </a:prstGeom>
          <a:noFill/>
          <a:ln w="12700">
            <a:solidFill>
              <a:srgbClr val="7D8AA0"/>
            </a:solidFill>
            <a:prstDash val="solid"/>
          </a:ln>
        </p:spPr>
      </p:sp>
      <p:sp>
        <p:nvSpPr>
          <p:cNvPr id="33" name="Shape 31"/>
          <p:cNvSpPr/>
          <p:nvPr/>
        </p:nvSpPr>
        <p:spPr>
          <a:xfrm>
            <a:off x="3136392" y="2761488"/>
            <a:ext cx="0" cy="384048"/>
          </a:xfrm>
          <a:prstGeom prst="line">
            <a:avLst/>
          </a:prstGeom>
          <a:noFill/>
          <a:ln w="12700">
            <a:solidFill>
              <a:srgbClr val="7D8AA0"/>
            </a:solidFill>
            <a:prstDash val="solid"/>
          </a:ln>
        </p:spPr>
      </p:sp>
      <p:sp>
        <p:nvSpPr>
          <p:cNvPr id="34" name="Shape 32"/>
          <p:cNvSpPr/>
          <p:nvPr/>
        </p:nvSpPr>
        <p:spPr>
          <a:xfrm>
            <a:off x="3447288" y="2761488"/>
            <a:ext cx="0" cy="384048"/>
          </a:xfrm>
          <a:prstGeom prst="line">
            <a:avLst/>
          </a:prstGeom>
          <a:noFill/>
          <a:ln w="12700">
            <a:solidFill>
              <a:srgbClr val="7D8AA0"/>
            </a:solidFill>
            <a:prstDash val="solid"/>
          </a:ln>
        </p:spPr>
      </p:sp>
      <p:sp>
        <p:nvSpPr>
          <p:cNvPr id="35" name="Shape 33"/>
          <p:cNvSpPr/>
          <p:nvPr/>
        </p:nvSpPr>
        <p:spPr>
          <a:xfrm>
            <a:off x="960120" y="3145536"/>
            <a:ext cx="310896" cy="0"/>
          </a:xfrm>
          <a:prstGeom prst="line">
            <a:avLst/>
          </a:prstGeom>
          <a:noFill/>
          <a:ln w="12700">
            <a:solidFill>
              <a:srgbClr val="7D8AA0"/>
            </a:solidFill>
            <a:prstDash val="solid"/>
          </a:ln>
        </p:spPr>
      </p:sp>
      <p:sp>
        <p:nvSpPr>
          <p:cNvPr id="36" name="Shape 34"/>
          <p:cNvSpPr/>
          <p:nvPr/>
        </p:nvSpPr>
        <p:spPr>
          <a:xfrm>
            <a:off x="1271016" y="3145536"/>
            <a:ext cx="310896" cy="0"/>
          </a:xfrm>
          <a:prstGeom prst="line">
            <a:avLst/>
          </a:prstGeom>
          <a:noFill/>
          <a:ln w="12700">
            <a:solidFill>
              <a:srgbClr val="7D8AA0"/>
            </a:solidFill>
            <a:prstDash val="solid"/>
          </a:ln>
        </p:spPr>
      </p:sp>
      <p:sp>
        <p:nvSpPr>
          <p:cNvPr id="37" name="Shape 35"/>
          <p:cNvSpPr/>
          <p:nvPr/>
        </p:nvSpPr>
        <p:spPr>
          <a:xfrm>
            <a:off x="1581912" y="3145536"/>
            <a:ext cx="310896" cy="0"/>
          </a:xfrm>
          <a:prstGeom prst="line">
            <a:avLst/>
          </a:prstGeom>
          <a:noFill/>
          <a:ln w="12700">
            <a:solidFill>
              <a:srgbClr val="7D8AA0"/>
            </a:solidFill>
            <a:prstDash val="solid"/>
          </a:ln>
        </p:spPr>
      </p:sp>
      <p:sp>
        <p:nvSpPr>
          <p:cNvPr id="38" name="Shape 36"/>
          <p:cNvSpPr/>
          <p:nvPr/>
        </p:nvSpPr>
        <p:spPr>
          <a:xfrm>
            <a:off x="1892808" y="3145536"/>
            <a:ext cx="310896" cy="0"/>
          </a:xfrm>
          <a:prstGeom prst="line">
            <a:avLst/>
          </a:prstGeom>
          <a:noFill/>
          <a:ln w="12700">
            <a:solidFill>
              <a:srgbClr val="7D8AA0"/>
            </a:solidFill>
            <a:prstDash val="solid"/>
          </a:ln>
        </p:spPr>
      </p:sp>
      <p:sp>
        <p:nvSpPr>
          <p:cNvPr id="39" name="Shape 37"/>
          <p:cNvSpPr/>
          <p:nvPr/>
        </p:nvSpPr>
        <p:spPr>
          <a:xfrm>
            <a:off x="2203704" y="3145536"/>
            <a:ext cx="310896" cy="0"/>
          </a:xfrm>
          <a:prstGeom prst="line">
            <a:avLst/>
          </a:prstGeom>
          <a:noFill/>
          <a:ln w="12700">
            <a:solidFill>
              <a:srgbClr val="7D8AA0"/>
            </a:solidFill>
            <a:prstDash val="solid"/>
          </a:ln>
        </p:spPr>
      </p:sp>
      <p:sp>
        <p:nvSpPr>
          <p:cNvPr id="40" name="Shape 38"/>
          <p:cNvSpPr/>
          <p:nvPr/>
        </p:nvSpPr>
        <p:spPr>
          <a:xfrm>
            <a:off x="2514600" y="3145536"/>
            <a:ext cx="310896" cy="0"/>
          </a:xfrm>
          <a:prstGeom prst="line">
            <a:avLst/>
          </a:prstGeom>
          <a:noFill/>
          <a:ln w="12700">
            <a:solidFill>
              <a:srgbClr val="7D8AA0"/>
            </a:solidFill>
            <a:prstDash val="solid"/>
          </a:ln>
        </p:spPr>
      </p:sp>
      <p:sp>
        <p:nvSpPr>
          <p:cNvPr id="41" name="Shape 39"/>
          <p:cNvSpPr/>
          <p:nvPr/>
        </p:nvSpPr>
        <p:spPr>
          <a:xfrm>
            <a:off x="2825496" y="3145536"/>
            <a:ext cx="310896" cy="0"/>
          </a:xfrm>
          <a:prstGeom prst="line">
            <a:avLst/>
          </a:prstGeom>
          <a:noFill/>
          <a:ln w="12700">
            <a:solidFill>
              <a:srgbClr val="7D8AA0"/>
            </a:solidFill>
            <a:prstDash val="solid"/>
          </a:ln>
        </p:spPr>
      </p:sp>
      <p:sp>
        <p:nvSpPr>
          <p:cNvPr id="42" name="Shape 40"/>
          <p:cNvSpPr/>
          <p:nvPr/>
        </p:nvSpPr>
        <p:spPr>
          <a:xfrm>
            <a:off x="1271016" y="2084832"/>
            <a:ext cx="0" cy="292608"/>
          </a:xfrm>
          <a:prstGeom prst="line">
            <a:avLst/>
          </a:prstGeom>
          <a:noFill/>
          <a:ln w="12700">
            <a:solidFill>
              <a:srgbClr val="7D8AA0"/>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7D8AA0"/>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7D8AA0"/>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7D8AA0"/>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7D8AA0"/>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7D8AA0"/>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7D8AA0"/>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7D8AA0"/>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7D8AA0"/>
            </a:solidFill>
            <a:prstDash val="solid"/>
          </a:ln>
        </p:spPr>
      </p:sp>
      <p:sp>
        <p:nvSpPr>
          <p:cNvPr id="86" name="Shape 84"/>
          <p:cNvSpPr/>
          <p:nvPr/>
        </p:nvSpPr>
        <p:spPr>
          <a:xfrm flipV="1">
            <a:off x="5922934" y="3054752"/>
            <a:ext cx="865333" cy="499600"/>
          </a:xfrm>
          <a:prstGeom prst="line">
            <a:avLst/>
          </a:prstGeom>
          <a:noFill/>
          <a:ln w="11430">
            <a:solidFill>
              <a:srgbClr val="7D8AA0"/>
            </a:solidFill>
            <a:prstDash val="solid"/>
          </a:ln>
        </p:spPr>
      </p:sp>
      <p:sp>
        <p:nvSpPr>
          <p:cNvPr id="87" name="Shape 85"/>
          <p:cNvSpPr/>
          <p:nvPr/>
        </p:nvSpPr>
        <p:spPr>
          <a:xfrm>
            <a:off x="5922934" y="2023488"/>
            <a:ext cx="269933" cy="1530864"/>
          </a:xfrm>
          <a:prstGeom prst="line">
            <a:avLst/>
          </a:prstGeom>
          <a:noFill/>
          <a:ln w="11430">
            <a:solidFill>
              <a:srgbClr val="7D8AA0"/>
            </a:solidFill>
            <a:prstDash val="solid"/>
          </a:ln>
        </p:spPr>
      </p:sp>
      <p:sp>
        <p:nvSpPr>
          <p:cNvPr id="88" name="Shape 86"/>
          <p:cNvSpPr/>
          <p:nvPr/>
        </p:nvSpPr>
        <p:spPr>
          <a:xfrm flipV="1">
            <a:off x="5922934" y="3462030"/>
            <a:ext cx="523586" cy="92322"/>
          </a:xfrm>
          <a:prstGeom prst="line">
            <a:avLst/>
          </a:prstGeom>
          <a:noFill/>
          <a:ln w="11430">
            <a:solidFill>
              <a:srgbClr val="7D8AA0"/>
            </a:solidFill>
            <a:prstDash val="solid"/>
          </a:ln>
        </p:spPr>
      </p:sp>
      <p:sp>
        <p:nvSpPr>
          <p:cNvPr id="89" name="Shape 87"/>
          <p:cNvSpPr/>
          <p:nvPr/>
        </p:nvSpPr>
        <p:spPr>
          <a:xfrm flipV="1">
            <a:off x="5669280" y="2023488"/>
            <a:ext cx="523586" cy="1438542"/>
          </a:xfrm>
          <a:prstGeom prst="line">
            <a:avLst/>
          </a:prstGeom>
          <a:noFill/>
          <a:ln w="11430">
            <a:solidFill>
              <a:srgbClr val="7D8AA0"/>
            </a:solidFill>
            <a:prstDash val="solid"/>
          </a:ln>
        </p:spPr>
      </p:sp>
      <p:sp>
        <p:nvSpPr>
          <p:cNvPr id="90" name="Shape 88"/>
          <p:cNvSpPr/>
          <p:nvPr/>
        </p:nvSpPr>
        <p:spPr>
          <a:xfrm flipV="1">
            <a:off x="5462500" y="2115810"/>
            <a:ext cx="984020" cy="173509"/>
          </a:xfrm>
          <a:prstGeom prst="line">
            <a:avLst/>
          </a:prstGeom>
          <a:noFill/>
          <a:ln w="11430">
            <a:solidFill>
              <a:srgbClr val="7D8AA0"/>
            </a:solidFill>
            <a:prstDash val="solid"/>
          </a:ln>
        </p:spPr>
      </p:sp>
      <p:sp>
        <p:nvSpPr>
          <p:cNvPr id="91" name="Shape 89"/>
          <p:cNvSpPr/>
          <p:nvPr/>
        </p:nvSpPr>
        <p:spPr>
          <a:xfrm flipV="1">
            <a:off x="5280660" y="2523088"/>
            <a:ext cx="1507607" cy="265832"/>
          </a:xfrm>
          <a:prstGeom prst="line">
            <a:avLst/>
          </a:prstGeom>
          <a:noFill/>
          <a:ln w="11430">
            <a:solidFill>
              <a:srgbClr val="7D8AA0"/>
            </a:solidFill>
            <a:prstDash val="solid"/>
          </a:ln>
        </p:spPr>
      </p:sp>
      <p:sp>
        <p:nvSpPr>
          <p:cNvPr id="92" name="Shape 90"/>
          <p:cNvSpPr/>
          <p:nvPr/>
        </p:nvSpPr>
        <p:spPr>
          <a:xfrm>
            <a:off x="5327533" y="3054752"/>
            <a:ext cx="595400" cy="499600"/>
          </a:xfrm>
          <a:prstGeom prst="line">
            <a:avLst/>
          </a:prstGeom>
          <a:noFill/>
          <a:ln w="11430">
            <a:solidFill>
              <a:srgbClr val="7D8AA0"/>
            </a:solidFill>
            <a:prstDash val="solid"/>
          </a:ln>
        </p:spPr>
      </p:sp>
      <p:sp>
        <p:nvSpPr>
          <p:cNvPr id="93" name="Shape 91"/>
          <p:cNvSpPr/>
          <p:nvPr/>
        </p:nvSpPr>
        <p:spPr>
          <a:xfrm>
            <a:off x="5327533" y="2523088"/>
            <a:ext cx="0" cy="531663"/>
          </a:xfrm>
          <a:prstGeom prst="line">
            <a:avLst/>
          </a:prstGeom>
          <a:noFill/>
          <a:ln w="11430">
            <a:solidFill>
              <a:srgbClr val="7D8AA0"/>
            </a:solidFill>
            <a:prstDash val="solid"/>
          </a:ln>
        </p:spPr>
      </p:sp>
      <p:sp>
        <p:nvSpPr>
          <p:cNvPr id="94" name="Shape 92"/>
          <p:cNvSpPr/>
          <p:nvPr/>
        </p:nvSpPr>
        <p:spPr>
          <a:xfrm>
            <a:off x="6192866" y="2023488"/>
            <a:ext cx="0" cy="1530864"/>
          </a:xfrm>
          <a:prstGeom prst="line">
            <a:avLst/>
          </a:prstGeom>
          <a:noFill/>
          <a:ln w="11430">
            <a:solidFill>
              <a:srgbClr val="7D8AA0"/>
            </a:solidFill>
            <a:prstDash val="solid"/>
          </a:ln>
        </p:spPr>
      </p:sp>
      <p:sp>
        <p:nvSpPr>
          <p:cNvPr id="95" name="Shape 93"/>
          <p:cNvSpPr/>
          <p:nvPr/>
        </p:nvSpPr>
        <p:spPr>
          <a:xfrm>
            <a:off x="6192866" y="2023488"/>
            <a:ext cx="460434" cy="1265032"/>
          </a:xfrm>
          <a:prstGeom prst="line">
            <a:avLst/>
          </a:prstGeom>
          <a:noFill/>
          <a:ln w="11430">
            <a:solidFill>
              <a:srgbClr val="7D8AA0"/>
            </a:solidFill>
            <a:prstDash val="solid"/>
          </a:ln>
        </p:spPr>
      </p:sp>
      <p:sp>
        <p:nvSpPr>
          <p:cNvPr id="96" name="Shape 94"/>
          <p:cNvSpPr/>
          <p:nvPr/>
        </p:nvSpPr>
        <p:spPr>
          <a:xfrm flipV="1">
            <a:off x="5922934" y="2788920"/>
            <a:ext cx="912206" cy="765432"/>
          </a:xfrm>
          <a:prstGeom prst="line">
            <a:avLst/>
          </a:prstGeom>
          <a:noFill/>
          <a:ln w="11430">
            <a:solidFill>
              <a:srgbClr val="7D8AA0"/>
            </a:solidFill>
            <a:prstDash val="solid"/>
          </a:ln>
        </p:spPr>
      </p:sp>
      <p:sp>
        <p:nvSpPr>
          <p:cNvPr id="97" name="Shape 95"/>
          <p:cNvSpPr/>
          <p:nvPr/>
        </p:nvSpPr>
        <p:spPr>
          <a:xfrm>
            <a:off x="5280660" y="2788920"/>
            <a:ext cx="181840" cy="499600"/>
          </a:xfrm>
          <a:prstGeom prst="line">
            <a:avLst/>
          </a:prstGeom>
          <a:noFill/>
          <a:ln w="11430">
            <a:solidFill>
              <a:srgbClr val="7D8AA0"/>
            </a:solidFill>
            <a:prstDash val="solid"/>
          </a:ln>
        </p:spPr>
      </p:sp>
      <p:sp>
        <p:nvSpPr>
          <p:cNvPr id="98" name="Shape 96"/>
          <p:cNvSpPr/>
          <p:nvPr/>
        </p:nvSpPr>
        <p:spPr>
          <a:xfrm flipV="1">
            <a:off x="5327533" y="2289320"/>
            <a:ext cx="134966" cy="233769"/>
          </a:xfrm>
          <a:prstGeom prst="line">
            <a:avLst/>
          </a:prstGeom>
          <a:noFill/>
          <a:ln w="11430">
            <a:solidFill>
              <a:srgbClr val="7D8AA0"/>
            </a:solidFill>
            <a:prstDash val="solid"/>
          </a:ln>
        </p:spPr>
      </p:sp>
      <p:sp>
        <p:nvSpPr>
          <p:cNvPr id="99" name="Shape 97"/>
          <p:cNvSpPr/>
          <p:nvPr/>
        </p:nvSpPr>
        <p:spPr>
          <a:xfrm flipV="1">
            <a:off x="5669280" y="2023488"/>
            <a:ext cx="253654" cy="1438542"/>
          </a:xfrm>
          <a:prstGeom prst="line">
            <a:avLst/>
          </a:prstGeom>
          <a:noFill/>
          <a:ln w="11430">
            <a:solidFill>
              <a:srgbClr val="7D8AA0"/>
            </a:solidFill>
            <a:prstDash val="solid"/>
          </a:ln>
        </p:spPr>
      </p:sp>
      <p:sp>
        <p:nvSpPr>
          <p:cNvPr id="100" name="Shape 98"/>
          <p:cNvSpPr/>
          <p:nvPr/>
        </p:nvSpPr>
        <p:spPr>
          <a:xfrm>
            <a:off x="6446520" y="2115810"/>
            <a:ext cx="388620" cy="673110"/>
          </a:xfrm>
          <a:prstGeom prst="line">
            <a:avLst/>
          </a:prstGeom>
          <a:noFill/>
          <a:ln w="11430">
            <a:solidFill>
              <a:srgbClr val="7D8AA0"/>
            </a:solidFill>
            <a:prstDash val="solid"/>
          </a:ln>
        </p:spPr>
      </p:sp>
      <p:sp>
        <p:nvSpPr>
          <p:cNvPr id="101" name="Shape 99"/>
          <p:cNvSpPr/>
          <p:nvPr/>
        </p:nvSpPr>
        <p:spPr>
          <a:xfrm flipV="1">
            <a:off x="5462500" y="3054752"/>
            <a:ext cx="1325767" cy="233769"/>
          </a:xfrm>
          <a:prstGeom prst="line">
            <a:avLst/>
          </a:prstGeom>
          <a:noFill/>
          <a:ln w="11430">
            <a:solidFill>
              <a:srgbClr val="7D8AA0"/>
            </a:solidFill>
            <a:prstDash val="solid"/>
          </a:ln>
        </p:spPr>
      </p:sp>
      <p:sp>
        <p:nvSpPr>
          <p:cNvPr id="102" name="Shape 100"/>
          <p:cNvSpPr/>
          <p:nvPr/>
        </p:nvSpPr>
        <p:spPr>
          <a:xfrm>
            <a:off x="6446520" y="2115810"/>
            <a:ext cx="341747" cy="938941"/>
          </a:xfrm>
          <a:prstGeom prst="line">
            <a:avLst/>
          </a:prstGeom>
          <a:noFill/>
          <a:ln w="11430">
            <a:solidFill>
              <a:srgbClr val="7D8AA0"/>
            </a:solidFill>
            <a:prstDash val="solid"/>
          </a:ln>
        </p:spPr>
      </p:sp>
      <p:sp>
        <p:nvSpPr>
          <p:cNvPr id="103" name="Shape 101"/>
          <p:cNvSpPr/>
          <p:nvPr/>
        </p:nvSpPr>
        <p:spPr>
          <a:xfrm flipV="1">
            <a:off x="5462500" y="2023488"/>
            <a:ext cx="730367" cy="265832"/>
          </a:xfrm>
          <a:prstGeom prst="line">
            <a:avLst/>
          </a:prstGeom>
          <a:noFill/>
          <a:ln w="11430">
            <a:solidFill>
              <a:srgbClr val="7D8AA0"/>
            </a:solidFill>
            <a:prstDash val="solid"/>
          </a:ln>
        </p:spPr>
      </p:sp>
      <p:sp>
        <p:nvSpPr>
          <p:cNvPr id="104" name="Shape 102"/>
          <p:cNvSpPr/>
          <p:nvPr/>
        </p:nvSpPr>
        <p:spPr>
          <a:xfrm flipV="1">
            <a:off x="5669280" y="2115810"/>
            <a:ext cx="777240" cy="1346219"/>
          </a:xfrm>
          <a:prstGeom prst="line">
            <a:avLst/>
          </a:prstGeom>
          <a:noFill/>
          <a:ln w="11430">
            <a:solidFill>
              <a:srgbClr val="7D8AA0"/>
            </a:solidFill>
            <a:prstDash val="solid"/>
          </a:ln>
        </p:spPr>
      </p:sp>
      <p:sp>
        <p:nvSpPr>
          <p:cNvPr id="105" name="Shape 103"/>
          <p:cNvSpPr/>
          <p:nvPr/>
        </p:nvSpPr>
        <p:spPr>
          <a:xfrm>
            <a:off x="5922934" y="2023488"/>
            <a:ext cx="269933" cy="0"/>
          </a:xfrm>
          <a:prstGeom prst="line">
            <a:avLst/>
          </a:prstGeom>
          <a:noFill/>
          <a:ln w="11430">
            <a:solidFill>
              <a:srgbClr val="7D8AA0"/>
            </a:solidFill>
            <a:prstDash val="solid"/>
          </a:ln>
        </p:spPr>
      </p:sp>
      <p:sp>
        <p:nvSpPr>
          <p:cNvPr id="106" name="Shape 104"/>
          <p:cNvSpPr/>
          <p:nvPr/>
        </p:nvSpPr>
        <p:spPr>
          <a:xfrm flipV="1">
            <a:off x="5327533" y="2115810"/>
            <a:ext cx="341747" cy="407278"/>
          </a:xfrm>
          <a:prstGeom prst="line">
            <a:avLst/>
          </a:prstGeom>
          <a:noFill/>
          <a:ln w="11430">
            <a:solidFill>
              <a:srgbClr val="7D8AA0"/>
            </a:solidFill>
            <a:prstDash val="solid"/>
          </a:ln>
        </p:spPr>
      </p:sp>
      <p:sp>
        <p:nvSpPr>
          <p:cNvPr id="107" name="Shape 105"/>
          <p:cNvSpPr/>
          <p:nvPr/>
        </p:nvSpPr>
        <p:spPr>
          <a:xfrm flipV="1">
            <a:off x="5922934" y="2115810"/>
            <a:ext cx="523586" cy="1438542"/>
          </a:xfrm>
          <a:prstGeom prst="line">
            <a:avLst/>
          </a:prstGeom>
          <a:noFill/>
          <a:ln w="11430">
            <a:solidFill>
              <a:srgbClr val="7D8AA0"/>
            </a:solidFill>
            <a:prstDash val="solid"/>
          </a:ln>
        </p:spPr>
      </p:sp>
      <p:sp>
        <p:nvSpPr>
          <p:cNvPr id="108" name="Shape 106"/>
          <p:cNvSpPr/>
          <p:nvPr/>
        </p:nvSpPr>
        <p:spPr>
          <a:xfrm>
            <a:off x="5922934" y="2023488"/>
            <a:ext cx="269933" cy="0"/>
          </a:xfrm>
          <a:prstGeom prst="line">
            <a:avLst/>
          </a:prstGeom>
          <a:noFill/>
          <a:ln w="11430">
            <a:solidFill>
              <a:srgbClr val="7D8AA0"/>
            </a:solidFill>
            <a:prstDash val="solid"/>
          </a:ln>
        </p:spPr>
      </p:sp>
      <p:sp>
        <p:nvSpPr>
          <p:cNvPr id="109" name="Shape 107"/>
          <p:cNvSpPr/>
          <p:nvPr/>
        </p:nvSpPr>
        <p:spPr>
          <a:xfrm flipV="1">
            <a:off x="5327533" y="2289320"/>
            <a:ext cx="134966" cy="765432"/>
          </a:xfrm>
          <a:prstGeom prst="line">
            <a:avLst/>
          </a:prstGeom>
          <a:noFill/>
          <a:ln w="11430">
            <a:solidFill>
              <a:srgbClr val="7D8AA0"/>
            </a:solidFill>
            <a:prstDash val="solid"/>
          </a:ln>
        </p:spPr>
      </p:sp>
      <p:sp>
        <p:nvSpPr>
          <p:cNvPr id="110" name="Shape 108"/>
          <p:cNvSpPr/>
          <p:nvPr/>
        </p:nvSpPr>
        <p:spPr>
          <a:xfrm>
            <a:off x="5922934" y="2023488"/>
            <a:ext cx="0" cy="1530864"/>
          </a:xfrm>
          <a:prstGeom prst="line">
            <a:avLst/>
          </a:prstGeom>
          <a:noFill/>
          <a:ln w="11430">
            <a:solidFill>
              <a:srgbClr val="7D8AA0"/>
            </a:solidFill>
            <a:prstDash val="solid"/>
          </a:ln>
        </p:spPr>
      </p:sp>
      <p:sp>
        <p:nvSpPr>
          <p:cNvPr id="111" name="Shape 109"/>
          <p:cNvSpPr/>
          <p:nvPr/>
        </p:nvSpPr>
        <p:spPr>
          <a:xfrm>
            <a:off x="5280660" y="2788920"/>
            <a:ext cx="1165860" cy="673110"/>
          </a:xfrm>
          <a:prstGeom prst="line">
            <a:avLst/>
          </a:prstGeom>
          <a:noFill/>
          <a:ln w="11430">
            <a:solidFill>
              <a:srgbClr val="7D8AA0"/>
            </a:solidFill>
            <a:prstDash val="solid"/>
          </a:ln>
        </p:spPr>
      </p:sp>
      <p:sp>
        <p:nvSpPr>
          <p:cNvPr id="112" name="Shape 110"/>
          <p:cNvSpPr/>
          <p:nvPr/>
        </p:nvSpPr>
        <p:spPr>
          <a:xfrm>
            <a:off x="5669280" y="3462030"/>
            <a:ext cx="777240" cy="0"/>
          </a:xfrm>
          <a:prstGeom prst="line">
            <a:avLst/>
          </a:prstGeom>
          <a:noFill/>
          <a:ln w="11430">
            <a:solidFill>
              <a:srgbClr val="7D8AA0"/>
            </a:solidFill>
            <a:prstDash val="solid"/>
          </a:ln>
        </p:spPr>
      </p:sp>
      <p:sp>
        <p:nvSpPr>
          <p:cNvPr id="113" name="Shape 111"/>
          <p:cNvSpPr/>
          <p:nvPr/>
        </p:nvSpPr>
        <p:spPr>
          <a:xfrm flipV="1">
            <a:off x="5280660" y="2115810"/>
            <a:ext cx="1165860" cy="673110"/>
          </a:xfrm>
          <a:prstGeom prst="line">
            <a:avLst/>
          </a:prstGeom>
          <a:noFill/>
          <a:ln w="11430">
            <a:solidFill>
              <a:srgbClr val="7D8AA0"/>
            </a:solidFill>
            <a:prstDash val="solid"/>
          </a:ln>
        </p:spPr>
      </p:sp>
      <p:sp>
        <p:nvSpPr>
          <p:cNvPr id="114" name="Shape 112"/>
          <p:cNvSpPr/>
          <p:nvPr/>
        </p:nvSpPr>
        <p:spPr>
          <a:xfrm>
            <a:off x="5462500" y="3288520"/>
            <a:ext cx="984020" cy="173509"/>
          </a:xfrm>
          <a:prstGeom prst="line">
            <a:avLst/>
          </a:prstGeom>
          <a:noFill/>
          <a:ln w="11430">
            <a:solidFill>
              <a:srgbClr val="7D8AA0"/>
            </a:solidFill>
            <a:prstDash val="solid"/>
          </a:ln>
        </p:spPr>
      </p:sp>
      <p:sp>
        <p:nvSpPr>
          <p:cNvPr id="115" name="Shape 113"/>
          <p:cNvSpPr/>
          <p:nvPr/>
        </p:nvSpPr>
        <p:spPr>
          <a:xfrm>
            <a:off x="6653300" y="2289320"/>
            <a:ext cx="181840" cy="499600"/>
          </a:xfrm>
          <a:prstGeom prst="line">
            <a:avLst/>
          </a:prstGeom>
          <a:noFill/>
          <a:ln w="11430">
            <a:solidFill>
              <a:srgbClr val="7D8AA0"/>
            </a:solidFill>
            <a:prstDash val="solid"/>
          </a:ln>
        </p:spPr>
      </p:sp>
      <p:sp>
        <p:nvSpPr>
          <p:cNvPr id="116" name="Shape 114"/>
          <p:cNvSpPr/>
          <p:nvPr/>
        </p:nvSpPr>
        <p:spPr>
          <a:xfrm>
            <a:off x="5669280" y="2115810"/>
            <a:ext cx="777240" cy="1346219"/>
          </a:xfrm>
          <a:prstGeom prst="line">
            <a:avLst/>
          </a:prstGeom>
          <a:noFill/>
          <a:ln w="11430">
            <a:solidFill>
              <a:srgbClr val="7D8AA0"/>
            </a:solidFill>
            <a:prstDash val="solid"/>
          </a:ln>
        </p:spPr>
      </p:sp>
      <p:sp>
        <p:nvSpPr>
          <p:cNvPr id="117" name="Shape 115"/>
          <p:cNvSpPr/>
          <p:nvPr/>
        </p:nvSpPr>
        <p:spPr>
          <a:xfrm flipV="1">
            <a:off x="5669280" y="2023488"/>
            <a:ext cx="523586" cy="1438542"/>
          </a:xfrm>
          <a:prstGeom prst="line">
            <a:avLst/>
          </a:prstGeom>
          <a:noFill/>
          <a:ln w="11430">
            <a:solidFill>
              <a:srgbClr val="7D8AA0"/>
            </a:solidFill>
            <a:prstDash val="solid"/>
          </a:ln>
        </p:spPr>
      </p:sp>
      <p:sp>
        <p:nvSpPr>
          <p:cNvPr id="118" name="Shape 116"/>
          <p:cNvSpPr/>
          <p:nvPr/>
        </p:nvSpPr>
        <p:spPr>
          <a:xfrm flipV="1">
            <a:off x="5669280" y="3054752"/>
            <a:ext cx="1118987" cy="407278"/>
          </a:xfrm>
          <a:prstGeom prst="line">
            <a:avLst/>
          </a:prstGeom>
          <a:noFill/>
          <a:ln w="11430">
            <a:solidFill>
              <a:srgbClr val="7D8AA0"/>
            </a:solidFill>
            <a:prstDash val="solid"/>
          </a:ln>
        </p:spPr>
      </p:sp>
      <p:sp>
        <p:nvSpPr>
          <p:cNvPr id="119" name="Shape 117"/>
          <p:cNvSpPr/>
          <p:nvPr/>
        </p:nvSpPr>
        <p:spPr>
          <a:xfrm flipV="1">
            <a:off x="5327533" y="2115810"/>
            <a:ext cx="1118987" cy="938941"/>
          </a:xfrm>
          <a:prstGeom prst="line">
            <a:avLst/>
          </a:prstGeom>
          <a:noFill/>
          <a:ln w="11430">
            <a:solidFill>
              <a:srgbClr val="7D8AA0"/>
            </a:solidFill>
            <a:prstDash val="solid"/>
          </a:ln>
        </p:spPr>
      </p:sp>
      <p:sp>
        <p:nvSpPr>
          <p:cNvPr id="120" name="Shape 118"/>
          <p:cNvSpPr/>
          <p:nvPr/>
        </p:nvSpPr>
        <p:spPr>
          <a:xfrm>
            <a:off x="5327533" y="2523088"/>
            <a:ext cx="1507607" cy="265832"/>
          </a:xfrm>
          <a:prstGeom prst="line">
            <a:avLst/>
          </a:prstGeom>
          <a:noFill/>
          <a:ln w="11430">
            <a:solidFill>
              <a:srgbClr val="7D8AA0"/>
            </a:solidFill>
            <a:prstDash val="solid"/>
          </a:ln>
        </p:spPr>
      </p:sp>
      <p:sp>
        <p:nvSpPr>
          <p:cNvPr id="121" name="Shape 119"/>
          <p:cNvSpPr/>
          <p:nvPr/>
        </p:nvSpPr>
        <p:spPr>
          <a:xfrm flipV="1">
            <a:off x="5922934" y="3054752"/>
            <a:ext cx="865333" cy="499600"/>
          </a:xfrm>
          <a:prstGeom prst="line">
            <a:avLst/>
          </a:prstGeom>
          <a:noFill/>
          <a:ln w="11430">
            <a:solidFill>
              <a:srgbClr val="7D8AA0"/>
            </a:solidFill>
            <a:prstDash val="solid"/>
          </a:ln>
        </p:spPr>
      </p:sp>
      <p:sp>
        <p:nvSpPr>
          <p:cNvPr id="122" name="Shape 120"/>
          <p:cNvSpPr/>
          <p:nvPr/>
        </p:nvSpPr>
        <p:spPr>
          <a:xfrm flipV="1">
            <a:off x="5327533" y="2523088"/>
            <a:ext cx="1460733" cy="531663"/>
          </a:xfrm>
          <a:prstGeom prst="line">
            <a:avLst/>
          </a:prstGeom>
          <a:noFill/>
          <a:ln w="11430">
            <a:solidFill>
              <a:srgbClr val="7D8AA0"/>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7D8AA0"/>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7D8AA0"/>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7D8AA0"/>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7D8AA0"/>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7D8AA0"/>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Sparse</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edges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a grid with 207 pendant vertices; synth-1, 2, 3 match it: 10 × 115 grids, 100 edges dropped</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Rewired medium</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edges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5 are degree-preserving rewirings of it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Clique-pinned dense</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edges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with cliques of 500, 400 and 300; synth-6, 7 rewire it and keep them</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Within a family n is identical, the edge counts agree to within two and only the structure differs, so a ranking that changes between families is about structure. Ten rows are three independent samples, not ten.</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table names a winner on every row</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this study</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no search</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SPARSE</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REWIRED MEDIUM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CLIQUE-PINNED DENSE</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best of 3 seeds, 1,200 s each. Bold: row winner. — no legal point found in any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Three ESA leaderboard entries, re-run under one protocol: fcmaes and Team HRI re-implemented, Spacekangaroos with its own GPU code.</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per run, three seeds; one CPU core each, Spacekangaroos on one T4 GPU; every answer re-scored by one evaluator, checked against ESA’s own code.</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Leaderboard entries take 8 of 10 rows. Spacekangaroos finds no legal point on the three dense instances.</a:t>
            </a:r>
            <a:endParaRPr lang="en-US" sz="1350" dirty="0"/>
          </a:p>
        </p:txBody>
      </p:sp>
      <p:sp>
        <p:nvSpPr>
          <p:cNvPr id="7" name="Text 4"/>
          <p:cNvSpPr txBox="1"/>
          <p:nvPr/>
        </p:nvSpPr>
        <p:spPr>
          <a:xfrm>
            <a:off x="8686800" y="5248656"/>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Which of these winners would survive a second look?</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Starting points decide this table, not searches</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LEGAL POINTS ON ONE ORDERING’S STAIRCASE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random ordering</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min-degree construction</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On six instances a random ordering breaks the cap, and so did every neighbour the search tried: nothing to stand on, nothing to climb. From a random start on medium-graph, Team HRI’s search ran 193 iterations in 25 s and accepted none.</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WHAT IT DID TO A COMPARISON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different starts</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apart</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same start</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apart</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Almost the whole apparent gap was the starting heuristic, not the search.</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Then I ran the control twice</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stops on wall-clock, so two full sessions are two independent samples, not a repeat.</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Per instance: the session change is just seed scatter</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log scale</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change between sessions</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larger seed spread of the two sessions</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Ten-instance total: sessions do differ</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observed: 21,519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only 4.6% of 100,000 reshuffles move the total this far</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|change in the ten-instance total| when each instance’s six seeds are reshuffled between the two sessions</a:t>
            </a:r>
            <a:endParaRPr lang="en-US" sz="1050" dirty="0"/>
          </a:p>
        </p:txBody>
      </p:sp>
      <p:sp>
        <p:nvSpPr>
          <p:cNvPr id="80" name="Text 78"/>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Noise is per method and per instance: three-seed spreads run from 9 HV to 281,976 HV. No single threshold can judge every row.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Half the winners do not survive a look at the seeds</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best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seed gap</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Seed gap = the winner’s worst seed minus the runner-up’s best. Resolved = a positive gap and the same winner by median: every seed of the winner beats every seed of every rival (exact rank test, p = 0.05 at three seeds). * synth-3: 71 HV over its own starting point.</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EVERY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best of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hypervolume ×1,000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medians</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Best of three crowns Spacekangaroos on one seed; its other two trail all three of Team HRI’s. The median crowns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FIRST DRAFT</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One threshold, borrowed from Hill Climbing’s noise, judged every row and got four wrong: synth-3, synth-4, medium-graph and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One component at a time: only construction matters</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A local search has three parts: where it starts, what it tries, what it keeps. Each arm replaces exactly one of them, against the same Hill Climbing control.</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MOVE POOL</a:t>
            </a:r>
            <a:endParaRPr lang="en-US" sz="100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bottleneck-aware moves</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a:t>
            </a:r>
            <a:endParaRPr lang="en-US" sz="100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VNS shake ladder</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a:t>
            </a:r>
            <a:endParaRPr lang="en-US" sz="100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simulated annealing</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CONSTRUCTION</a:t>
            </a:r>
            <a:endParaRPr lang="en-US" sz="100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randomised</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gain over the control</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same arm against the control’s other session</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WHERE THE EFFECT LIVES</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three dense instances</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other seven</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A ten-instance total made on three dense graphs is a result about dense graphs.</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Seventeen move operators, nothing to climb</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Thirteen new operators in five families, each run alone against the four-operator control, plus all seventeen competing for one budget.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7D8AA0"/>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7D8AA0"/>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7D8AA0"/>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7D8AA0"/>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7D8AA0"/>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all 17, competing</a:t>
            </a:r>
            <a:endParaRPr lang="en-US" sz="1050" dirty="0"/>
          </a:p>
        </p:txBody>
      </p:sp>
      <p:sp>
        <p:nvSpPr>
          <p:cNvPr id="31" name="Shape 29"/>
          <p:cNvSpPr/>
          <p:nvPr/>
        </p:nvSpPr>
        <p:spPr>
          <a:xfrm>
            <a:off x="4045337" y="3842766"/>
            <a:ext cx="1634702" cy="0"/>
          </a:xfrm>
          <a:prstGeom prst="line">
            <a:avLst/>
          </a:prstGeom>
          <a:noFill/>
          <a:ln w="9525">
            <a:solidFill>
              <a:srgbClr val="7D8AA0"/>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7D8AA0"/>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7D8AA0"/>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7D8AA0"/>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7D8AA0"/>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7D8AA0"/>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7D8AA0"/>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7D8AA0"/>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7D8AA0"/>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control session 2</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session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the highest accept rate measured anywhere (swap_any on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None of the fourteen arms clears the control’s own re-draw, and seed by seed, against both sessions of the control, none wins a single instance. Around a min-degree ordering the landscape is flat.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MORE TIME?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times the budget buys a tenth of the gap</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ten-instance hypervolume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7D8AA0"/>
            </a:solidFill>
            <a:prstDash val="dash"/>
          </a:ln>
        </p:spPr>
      </p:sp>
      <p:sp>
        <p:nvSpPr>
          <p:cNvPr id="34" name="Shape 32"/>
          <p:cNvSpPr/>
          <p:nvPr/>
        </p:nvSpPr>
        <p:spPr>
          <a:xfrm flipV="1">
            <a:off x="4226246" y="5150137"/>
            <a:ext cx="2677474" cy="94416"/>
          </a:xfrm>
          <a:prstGeom prst="line">
            <a:avLst/>
          </a:prstGeom>
          <a:noFill/>
          <a:ln w="15875">
            <a:solidFill>
              <a:srgbClr val="7D8AA0"/>
            </a:solidFill>
            <a:prstDash val="dash"/>
          </a:ln>
        </p:spPr>
      </p:sp>
      <p:sp>
        <p:nvSpPr>
          <p:cNvPr id="35" name="Shape 33"/>
          <p:cNvSpPr/>
          <p:nvPr/>
        </p:nvSpPr>
        <p:spPr>
          <a:xfrm>
            <a:off x="1728216" y="5161914"/>
            <a:ext cx="109728" cy="109728"/>
          </a:xfrm>
          <a:prstGeom prst="ellipse">
            <a:avLst/>
          </a:prstGeom>
          <a:solidFill>
            <a:srgbClr val="7D8AA0"/>
          </a:solidFill>
          <a:ln/>
        </p:spPr>
      </p:sp>
      <p:sp>
        <p:nvSpPr>
          <p:cNvPr id="36" name="Shape 34"/>
          <p:cNvSpPr/>
          <p:nvPr/>
        </p:nvSpPr>
        <p:spPr>
          <a:xfrm>
            <a:off x="4171382" y="5189690"/>
            <a:ext cx="109728" cy="109728"/>
          </a:xfrm>
          <a:prstGeom prst="ellipse">
            <a:avLst/>
          </a:prstGeom>
          <a:solidFill>
            <a:srgbClr val="7D8AA0"/>
          </a:solidFill>
          <a:ln/>
        </p:spPr>
      </p:sp>
      <p:sp>
        <p:nvSpPr>
          <p:cNvPr id="37" name="Shape 35"/>
          <p:cNvSpPr/>
          <p:nvPr/>
        </p:nvSpPr>
        <p:spPr>
          <a:xfrm>
            <a:off x="6848856" y="5095273"/>
            <a:ext cx="109728" cy="109728"/>
          </a:xfrm>
          <a:prstGeom prst="ellipse">
            <a:avLst/>
          </a:prstGeom>
          <a:solidFill>
            <a:srgbClr val="7D8AA0"/>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construction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bottleneck move pool</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all 17 operators</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lead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at every budget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over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the control’s re-draw</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a new draw of constructions at each budget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CONSTRUCTION, NO SEARCH</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Eight greedy min-degree orderings, under a minute per instance, would place on ESA’s leaderboards:</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7th</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 tied</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WHAT TO ASK OF A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What I would ask of any benchmark table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Run the control twice, and publish the difference.</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Two sessions, not two seeds. Ours moved the ten-instance total by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Judge each row on its own seeds.</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Report the median beside the best, and mark which rows are resolved. A borrowed threshold misjudged four of ten here.</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Name what the effect is a result about.</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 ten-instance total made on three dense graphs is a result about dense graphs.</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On these ten instances, at this budget, the construction dominates and the search components do not. Half the table is unresolved. Both are findings.</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Four ways I fooled myself, and how each was caught</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probe that leaked the answer</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chose its target widths with a min-degree probe whatever start it was asked for, so --start random was quietly handed a min-degree solution: 1,607,522 HV on medium-graph for a run that accepted zero moves.</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asking why a run with no accepted moves had a score at all.</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verification that</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was itself wrong</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Re-running the runs to confirm them gave mismatches on 29 of 30 rows. The climb stops on elapsed time, so a run can be re-sampled, never reproduced.</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The check was wrong, not the harness, and the accident produced two independent controls.</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32-bit overflow in someone else’s kernel</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The vendored CUDA evaluator indexed a B×N×N array with an int offset, which wraps past 2³¹ at n = 2,426, thread 365 of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because every n = 2,426 run died early with an illegal memory access; one type change fixed it.</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threshold borrowed from one method</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One 7,881 HV floor, taken from Hill Climbing’s worst instance, judged every method’s rows, while Team HRI’s own seeds on medium-graph span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reading the seeds instead of the best of three: four of ten verdicts changed.</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None was caught by a test suite. Each was caught by a number that was the wrong shape for its story.</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Protocol, and what it does not control</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Budget</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wall-clock per run, three seeds, ten instances. Four runs fell outside 1,150–1,400 s after machine stalls; none of them supplies a best-of-3 value.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Hardware</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and Hill Climbing on one pinned CPU core each. Spacekangaroos on its own CUDA code on a Kaggle T4, batch 1,024 (512 at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Implementations</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ported from the fast-cma-es approach; Team HRI re-implemented from its paper, as no code was published; Spacekangaroos run as published, plus a 32-bit overflow fix.</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Starts</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Both permutation-space solvers start from the same min-degree construction, computed fresh inside every run.</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Scoring</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Every answer re-scored by esa_eval.py. ESA’s own evaluation code, run beside it, agrees on all ten instances: 220 orderings, 2,000 hypervolumes, the min-degree ×8 column. ESA scores an over-cap vector as width 501; this harness discards the submission.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Not controlled</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Best of three favours noisy methods, hence the seed-level verdicts. Three seeds per cell. The dense family is three variants of one graph.</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Every seed behind the table</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every run. Bold: the best-of-3 value shown in the table. — no legal point. Source: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 sparse instances the problem is one-dimensional</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A point at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covers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of the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square. On small-graph the construction’s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point, width 20, carries 99.99% of its whole score; on medium-graph, width 277, it carries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On large-graph no single point can exceed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of the square, yet the best known reaches 93.3%: only on the dense family does the staircase earn its keep.</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And the problem is hard twice over: choose which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vertices to give up (about 10⁴⁰³ subsets at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then minimise the width of what is left, which is treewidth itself, NP-hard (Arnborg, Corneil and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of n = 1,357 · 99.99% of its score</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of n = 2,426 · best known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one point at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findings about the problem, not the search</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Plain k-opt does not transfer</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In the travelling-salesman setting 2-opt is cheap because exchanging two edges updates the objective in constant time. Here eliminating a vertex merges its surviving neighbours into a clique, so one change cascades: a move over a span of L positions costs O(L), however few edges it exchanges.</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A delta evaluator, from one structural fact</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The torso over a set does not depend on the order within the set, so the degree at a position depends only on the vertex there and the set below it. A move inside a window cannot change anything outside it.</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exact</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identical step degrees on 600 chained candidates from all 17 operators, all ten instances</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1.81×</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more candidates in the same wall-clock, geometric mean over ten instances (1.7× sparse to 1.9× dense)</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Why accepted moves barely matter: every evaluated candidate donates its whole staircase to a shared front. On synth-7 the four original operators accepted nothing at all, and their scores still differ by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budget sweep, in full</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arm</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gain over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share of its lead</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construction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all 17 operators</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bottleneck move pool</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Four arms × three budgets × ten instances × three seeds, all on one machine so that the budget is the only thing that varies. Ten-instance hypervolume, best of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The construction arm draws different constructions at each budget, so its total moves by 89,534 HV, and with one draw per budget that movement cannot be read as a trend. An earlier reading counted that movement as search closing the gap (“31% closed”, a crossover “near thirty times the budget, about ten hours”) and is withdrawn: 89,534 of the 122,577 HV it called closing was the construction’s draw.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274320"/>
            <a:ext cx="713232" cy="713232"/>
          </a:xfrm>
          <a:prstGeom prst="rect">
            <a:avLst/>
          </a:prstGeom>
        </p:spPr>
      </p:pic>
      <p:sp>
        <p:nvSpPr>
          <p:cNvPr id="3"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Thank you</a:t>
            </a:r>
            <a:endParaRPr lang="en-US" sz="4400" dirty="0"/>
          </a:p>
        </p:txBody>
      </p:sp>
      <p:sp>
        <p:nvSpPr>
          <p:cNvPr id="4"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Questions</a:t>
            </a:r>
            <a:endParaRPr lang="en-US" sz="2800" dirty="0"/>
          </a:p>
        </p:txBody>
      </p:sp>
      <p:sp>
        <p:nvSpPr>
          <p:cNvPr id="5"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FIGURES FOR THE DISCUSSION</a:t>
            </a:r>
            <a:endParaRPr lang="en-US" sz="1050" dirty="0"/>
          </a:p>
        </p:txBody>
      </p:sp>
      <p:sp>
        <p:nvSpPr>
          <p:cNvPr id="6"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of 10</a:t>
            </a:r>
            <a:endParaRPr lang="en-US" sz="1900" dirty="0"/>
          </a:p>
        </p:txBody>
      </p:sp>
      <p:sp>
        <p:nvSpPr>
          <p:cNvPr id="7"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rows the seeds resolve</a:t>
            </a:r>
            <a:endParaRPr lang="en-US" sz="1050" dirty="0"/>
          </a:p>
        </p:txBody>
      </p:sp>
      <p:sp>
        <p:nvSpPr>
          <p:cNvPr id="8"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9"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construction against the control’s re-draw; search arms 0.4–2.0×</a:t>
            </a:r>
            <a:endParaRPr lang="en-US" sz="1050" dirty="0"/>
          </a:p>
        </p:txBody>
      </p:sp>
      <p:sp>
        <p:nvSpPr>
          <p:cNvPr id="10"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1"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session shift of the ten-instance total (p ≈ 0.05)</a:t>
            </a:r>
            <a:endParaRPr lang="en-US" sz="1050" dirty="0"/>
          </a:p>
        </p:txBody>
      </p:sp>
      <p:sp>
        <p:nvSpPr>
          <p:cNvPr id="12"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3"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highest accept rate measured anywhere</a:t>
            </a:r>
            <a:endParaRPr lang="en-US" sz="1050" dirty="0"/>
          </a:p>
        </p:txBody>
      </p:sp>
      <p:sp>
        <p:nvSpPr>
          <p:cNvPr id="14"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5"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what 10× the budget buys search, against a lead ≥ 269,607</a:t>
            </a:r>
            <a:endParaRPr lang="en-US" sz="1050" dirty="0"/>
          </a:p>
        </p:txBody>
      </p:sp>
      <p:sp>
        <p:nvSpPr>
          <p:cNvPr id="16"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7"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best known small-graph score below a provable ceiling</a:t>
            </a:r>
            <a:endParaRPr lang="en-US" sz="1050" dirty="0"/>
          </a:p>
        </p:txBody>
      </p:sp>
      <p:sp>
        <p:nvSpPr>
          <p:cNvPr id="18"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University of Prishtina</a:t>
            </a:r>
            <a:endParaRPr lang="en-US" sz="1300" dirty="0"/>
          </a:p>
        </p:txBody>
      </p:sp>
      <p:sp>
        <p:nvSpPr>
          <p:cNvPr id="19"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Code, raw CSVs and every figure in this talk regenerate from the study’s harness.</a:t>
            </a:r>
            <a:endParaRPr lang="en-US" sz="1050" dirty="0"/>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a benchmark table does and does not prove</dc:title>
  <dc:subject>AlbShkenca 2026</dc:subject>
  <dc:creator>Adrian Ymeri</dc:creator>
  <cp:lastModifiedBy>Adrian Ymeri</cp:lastModifiedBy>
  <cp:revision>1</cp:revision>
  <dcterms:created xsi:type="dcterms:W3CDTF">2026-10-14T07:25:00Z</dcterms:created>
  <dcterms:modified xsi:type="dcterms:W3CDTF">2026-10-14T07:25:00Z</dcterms:modified>
</cp:coreProperties>
</file>