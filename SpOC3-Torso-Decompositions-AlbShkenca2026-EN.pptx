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 The object" id="{b6a04f09-8317-fb0b-cbf7-dae8711af1d6}">
          <p14:sldIdLst>
            <p14:sldId id="256"/>
            <p14:sldId id="257"/>
            <p14:sldId id="258"/>
            <p14:sldId id="259"/>
            <p14:sldId id="260"/>
          </p14:sldIdLst>
        </p14:section>
        <p14:section name="II. Hardness and ceiling" id="{c7306e51-7359-aba5-a70e-08ff948b1275}">
          <p14:sldIdLst>
            <p14:sldId id="261"/>
            <p14:sldId id="262"/>
            <p14:sldId id="263"/>
            <p14:sldId id="264"/>
          </p14:sldIdLst>
        </p14:section>
        <p14:section name="III. The table" id="{25a29e9c-0fe9-621e-3558-fe260af24bb8}">
          <p14:sldIdLst>
            <p14:sldId id="265"/>
            <p14:sldId id="266"/>
          </p14:sldIdLst>
        </p14:section>
        <p14:section name="IV. What broke it" id="{c09f73c2-b64d-3aa7-3b5c-a69e30b220d1}">
          <p14:sldIdLst>
            <p14:sldId id="267"/>
            <p14:sldId id="268"/>
            <p14:sldId id="269"/>
            <p14:sldId id="270"/>
            <p14:sldId id="271"/>
            <p14:sldId id="272"/>
            <p14:sldId id="273"/>
          </p14:sldIdLst>
        </p14:section>
        <p14:section name="V. What to take away" id="{9178faad-b2bf-6454-ad81-2be23780e199}">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6B7A75"/>
                </a:solidFill>
                <a:latin typeface="+mn-lt"/>
              </a:defRPr>
            </a:pPr>
            <a:r>
              <a:rPr sz="1100" b="0" i="0" u="none" strike="noStrike">
                <a:solidFill>
                  <a:srgbClr val="6B7A75"/>
                </a:solidFill>
                <a:latin typeface="+mn-lt"/>
              </a:rPr>
              <a:t>advantage over the four-operator baseline at the same budget, HV</a:t>
            </a:r>
          </a:p>
        </c:rich>
      </c:tx>
      <c:layout/>
      <c:overlay val="0"/>
    </c:title>
    <c:autoTitleDeleted val="0"/>
    <c:plotArea>
      <c:layout/>
      <c:lineChart>
        <c:varyColors val="0"/>
        <c:ser>
          <c:idx val="0"/>
          <c:order val="0"/>
          <c:tx>
            <c:strRef>
              <c:f>Sheet1!$B$1</c:f>
              <c:strCache>
                <c:ptCount val="1"/>
                <c:pt idx="0">
                  <c:v>GRASP construction</c:v>
                </c:pt>
              </c:strCache>
            </c:strRef>
          </c:tx>
          <c:spPr>
            <a:solidFill>
              <a:srgbClr val="3E8E72"/>
            </a:solidFill>
            <a:ln w="31750" cap="flat">
              <a:solidFill>
                <a:srgbClr val="3E8E7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3E8E72"/>
              </a:solidFill>
              <a:ln w="9525" cap="flat">
                <a:solidFill>
                  <a:srgbClr val="3E8E72"/>
                </a:solidFill>
                <a:prstDash val="solid"/>
                <a:round/>
              </a:ln>
              <a:effectLst/>
            </c:spPr>
          </c:marker>
          <c:cat>
            <c:multiLvlStrRef>
              <c:f>Sheet1!$A$2:$A$4</c:f>
              <c:multiLvlStrCache>
                <c:ptCount val="3"/>
                <c:lvl>
                  <c:pt idx="0">
                    <c:v>1,200 s</c:v>
                  </c:pt>
                  <c:pt idx="1">
                    <c:v>3,600 s</c:v>
                  </c:pt>
                  <c:pt idx="2">
                    <c:v>12,000 s</c:v>
                  </c:pt>
                </c:lvl>
              </c:multiLvlStrCache>
            </c:multiLvlStrRef>
          </c:cat>
          <c:val>
            <c:numRef>
              <c:f>Sheet1!$B$2:$B$4</c:f>
              <c:numCache>
                <c:formatCode>General</c:formatCode>
                <c:ptCount val="3"/>
                <c:pt idx="0">
                  <c:v>392184</c:v>
                </c:pt>
                <c:pt idx="1">
                  <c:v>357383</c:v>
                </c:pt>
                <c:pt idx="2">
                  <c:v>269607</c:v>
                </c:pt>
              </c:numCache>
            </c:numRef>
          </c:val>
          <c:smooth val="0"/>
        </c:ser>
        <c:ser>
          <c:idx val="1"/>
          <c:order val="1"/>
          <c:tx>
            <c:strRef>
              <c:f>Sheet1!$C$1</c:f>
              <c:strCache>
                <c:ptCount val="1"/>
                <c:pt idx="0">
                  <c:v>all 17 operators</c:v>
                </c:pt>
              </c:strCache>
            </c:strRef>
          </c:tx>
          <c:spPr>
            <a:solidFill>
              <a:srgbClr val="C0603C"/>
            </a:solidFill>
            <a:ln w="31750" cap="flat">
              <a:solidFill>
                <a:srgbClr val="C0603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C0603C"/>
              </a:solidFill>
              <a:ln w="9525" cap="flat">
                <a:solidFill>
                  <a:srgbClr val="C0603C"/>
                </a:solidFill>
                <a:prstDash val="solid"/>
                <a:round/>
              </a:ln>
              <a:effectLst/>
            </c:spPr>
          </c:marker>
          <c:cat>
            <c:multiLvlStrRef>
              <c:f>Sheet1!$A$2:$A$4</c:f>
              <c:multiLvlStrCache>
                <c:ptCount val="3"/>
                <c:lvl>
                  <c:pt idx="0">
                    <c:v>1,200 s</c:v>
                  </c:pt>
                  <c:pt idx="1">
                    <c:v>3,600 s</c:v>
                  </c:pt>
                  <c:pt idx="2">
                    <c:v>12,000 s</c:v>
                  </c:pt>
                </c:lvl>
              </c:multiLvlStrCache>
            </c:multiLvlStrRef>
          </c:cat>
          <c:val>
            <c:numRef>
              <c:f>Sheet1!$C$2:$C$4</c:f>
              <c:numCache>
                <c:formatCode>General</c:formatCode>
                <c:ptCount val="3"/>
                <c:pt idx="0">
                  <c:v>1883</c:v>
                </c:pt>
                <c:pt idx="1">
                  <c:v>-11119</c:v>
                </c:pt>
                <c:pt idx="2">
                  <c:v>-25602</c:v>
                </c:pt>
              </c:numCache>
            </c:numRef>
          </c:val>
          <c:smooth val="0"/>
        </c:ser>
        <c:ser>
          <c:idx val="2"/>
          <c:order val="2"/>
          <c:tx>
            <c:strRef>
              <c:f>Sheet1!$D$1</c:f>
              <c:strCache>
                <c:ptCount val="1"/>
                <c:pt idx="0">
                  <c:v>bottleneck move pool</c:v>
                </c:pt>
              </c:strCache>
            </c:strRef>
          </c:tx>
          <c:spPr>
            <a:solidFill>
              <a:srgbClr val="6B7A75"/>
            </a:solidFill>
            <a:ln w="31750" cap="flat">
              <a:solidFill>
                <a:srgbClr val="6B7A7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6B7A75"/>
              </a:solidFill>
              <a:ln w="9525" cap="flat">
                <a:solidFill>
                  <a:srgbClr val="6B7A75"/>
                </a:solidFill>
                <a:prstDash val="solid"/>
                <a:round/>
              </a:ln>
              <a:effectLst/>
            </c:spPr>
          </c:marker>
          <c:cat>
            <c:multiLvlStrRef>
              <c:f>Sheet1!$A$2:$A$4</c:f>
              <c:multiLvlStrCache>
                <c:ptCount val="3"/>
                <c:lvl>
                  <c:pt idx="0">
                    <c:v>1,200 s</c:v>
                  </c:pt>
                  <c:pt idx="1">
                    <c:v>3,600 s</c:v>
                  </c:pt>
                  <c:pt idx="2">
                    <c:v>12,000 s</c:v>
                  </c:pt>
                </c:lvl>
              </c:multiLvlStrCache>
            </c:multiLvlStrRef>
          </c:cat>
          <c:val>
            <c:numRef>
              <c:f>Sheet1!$D$2:$D$4</c:f>
              <c:numCache>
                <c:formatCode>General</c:formatCode>
                <c:ptCount val="3"/>
                <c:pt idx="0">
                  <c:v>3138</c:v>
                </c:pt>
                <c:pt idx="1">
                  <c:v>-15799</c:v>
                </c:pt>
                <c:pt idx="2">
                  <c:v>-20891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1211C"/>
                </a:solidFill>
                <a:latin typeface="+mn-lt"/>
              </a:defRPr>
            </a:pPr>
            <a:endParaRPr lang="en-US"/>
          </a:p>
        </c:txPr>
        <c:crossAx val="2094734552"/>
        <c:crosses val="autoZero"/>
        <c:auto val="1"/>
        <c:lblAlgn val="ctr"/>
        <c:noMultiLvlLbl val="1"/>
      </c:catAx>
      <c:valAx>
        <c:axId val="2094734552"/>
        <c:scaling>
          <c:orientation val="minMax"/>
          <c:max val="420000"/>
          <c:min val="-60000"/>
        </c:scaling>
        <c:delete val="0"/>
        <c:axPos val="l"/>
        <c:majorGridlines>
          <c:spPr>
            <a:ln w="9525" cap="flat">
              <a:solidFill>
                <a:srgbClr val="E4EA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A7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1211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minutes total. Say the talk is about one problem and, more importantly, about how we decide a number means something. Do not read the subtitle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seconds. Point at the five parts, then read the claim in the dark box once, slowly. Telling them the conclusion first makes the rest of the talk a test they can run rather than a story they must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The ESA cover story is charming but the audience needs the formal object. Land on the last line: this is the structure under treewidth, sparse Cholesky and variable elimination, so everyone here has met it in some disguise.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the whole talk rests on. Walk the three steps slowly. Say explicitly that I verified this example reproduces ESA's stated answer of size 4 and width 2 before putting it on a slide. If the room understands this slide, everything after it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the score is an area, not a count, and that the 500 cap is a feasibility cliff rather than a soft penalty. One bad prefix voids a whole vector, which is why random restarts are useless here. That matters on slide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derivation is mine and it is provable, not empirical. At t = 0 the width is at least tw(G), so a single point covers at most (n - tw) times n. On small-graph that ceiling already exceeds the achieved score, so one point could be the whole answer. On large-graph it cannot. That is why the staircase only earns its keep on dense instances.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nested NP-hardness is the key structural point. 10^405 against 10^80 atoms usually gets a reaction, so pause there. Then note the asymmetry: evaluation is cheap, search is not, and that shapes every method in the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bound is the most reusable contribution here. Emphasise the pinning argument: a 500-clique forces tw at least 499, and the existence of feasible solutions inside the cap forces tw at most 500. Treewidth known to within one on a 2,426-vertex graph is worth saying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slide, important caveat. Ten rows are not ten independent problems. Within a family n and the edge count are identical, so anything that changes between families is about structure. Say that it also means the effective sample size for any claim is three, not 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favourite slide. The six zeros in the left column are the whole argument: on six instances a random ordering is not a weak start, it is no start at all. Then the HRI numbers: a 275,000 HV rout becomes a 1,200 HV tie when both get the same construction. If the room remembers one thing about benchmarking, make it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matrix by column, not by row. Say the shading is per row, so colour compares methods within an instance and never across instances. Mention the nine-cores-to-one handicap and that it runs against this study, which pre-empts the obvious objection.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This is the pivot. The fourteen-times figure is the one people remember. Make the scope point explicitly: 21,519 is a sum over ten instances, 7,881 is a single instance, and swapping them is a real error I had to correct in my own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picture do the work for a few seconds before speaking. Five dots left of the dashed line, five right. Then say the second point: every surviving row is a dense instance or a rewiring of medium-graph, which is exactly where the bound said headroom remained. The two independent arguments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controlled design is the methodological contribution: three components, one replaced at a time, everything else fixed. End on the sign-flipping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Pre-empt the obvious objection about eight constructions. The min-degree determinism finding is a nice detail: random tie-breaking rebuilds the identical ordering on six of ten instances, so eight starts are one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time is short, this is the first slide to cut, but the paradox is the most surprising fact in the study. Point at medium-graph in the matrix: the best-scoring operator there accepted nothing whatsoever.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k-opt point answers a reviewer question directly. For the delta evaluator, state the structural fact first, then the consequence, then the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the question in the first line, then give the three readings. Do not skip the caveat: the decline from 392k to 270k is not resolvable at three seeds, and saying so is the whole ethic of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earns trust. All three errors were mine or in code I vendored, and none was caught by a test. Each was caught by a number that was the wrong shape for its story. If running long, cut the third row and keep the first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asks, then the closing sentence. Deliver the last line without hedging; it is the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the whole discussion. The six figures are the ones most likely to be challenged, so having them on screen saves hunting. If asked for the one number without a committed CSV, it is the 1.81x delta-evaluation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F3A33"/>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B7A75"/>
                </a:solidFill>
              </a:rPr>
              <a:t>Torso Decompositions · AlbShkenca 2026</a:t>
            </a:r>
            <a:endParaRPr lang="en-US" sz="900" dirty="0"/>
          </a:p>
        </p:txBody>
      </p:sp>
      <p:sp>
        <p:nvSpPr>
          <p:cNvPr id="25" name="Slide Number Placeholder 0"/>
          <p:cNvSpPr>
            <a:spLocks noGrp="1"/>
          </p:cNvSpPr>
          <p:nvPr>
            <p:ph type="sldNum" sz="quarter" idx="4294967295"/>
          </p:nvPr>
        </p:nvSpPr>
        <p:spPr>
          <a:xfrm>
            <a:off x="11167567" y="6437376"/>
            <a:ext cx="45720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6B7A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67567" y="6437376"/>
            <a:ext cx="45720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6B7A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8076895" y="5455920"/>
            <a:ext cx="533400" cy="914"/>
          </a:xfrm>
          <a:prstGeom prst="line">
            <a:avLst/>
          </a:prstGeom>
          <a:noFill/>
          <a:ln w="20320">
            <a:solidFill>
              <a:srgbClr val="2A5247"/>
            </a:solidFill>
            <a:prstDash val="solid"/>
          </a:ln>
        </p:spPr>
      </p:sp>
      <p:sp>
        <p:nvSpPr>
          <p:cNvPr id="3" name="Shape 1"/>
          <p:cNvSpPr/>
          <p:nvPr/>
        </p:nvSpPr>
        <p:spPr>
          <a:xfrm flipV="1">
            <a:off x="8610295" y="5059680"/>
            <a:ext cx="914" cy="396240"/>
          </a:xfrm>
          <a:prstGeom prst="line">
            <a:avLst/>
          </a:prstGeom>
          <a:noFill/>
          <a:ln w="20320">
            <a:solidFill>
              <a:srgbClr val="2A5247"/>
            </a:solidFill>
            <a:prstDash val="solid"/>
          </a:ln>
        </p:spPr>
      </p:sp>
      <p:sp>
        <p:nvSpPr>
          <p:cNvPr id="4" name="Shape 2"/>
          <p:cNvSpPr/>
          <p:nvPr/>
        </p:nvSpPr>
        <p:spPr>
          <a:xfrm>
            <a:off x="8610295" y="5059680"/>
            <a:ext cx="533400" cy="914"/>
          </a:xfrm>
          <a:prstGeom prst="line">
            <a:avLst/>
          </a:prstGeom>
          <a:noFill/>
          <a:ln w="20320">
            <a:solidFill>
              <a:srgbClr val="2A5247"/>
            </a:solidFill>
            <a:prstDash val="solid"/>
          </a:ln>
        </p:spPr>
      </p:sp>
      <p:sp>
        <p:nvSpPr>
          <p:cNvPr id="5" name="Shape 3"/>
          <p:cNvSpPr/>
          <p:nvPr/>
        </p:nvSpPr>
        <p:spPr>
          <a:xfrm flipV="1">
            <a:off x="9143695" y="4663440"/>
            <a:ext cx="914" cy="396240"/>
          </a:xfrm>
          <a:prstGeom prst="line">
            <a:avLst/>
          </a:prstGeom>
          <a:noFill/>
          <a:ln w="20320">
            <a:solidFill>
              <a:srgbClr val="2A5247"/>
            </a:solidFill>
            <a:prstDash val="solid"/>
          </a:ln>
        </p:spPr>
      </p:sp>
      <p:sp>
        <p:nvSpPr>
          <p:cNvPr id="6" name="Shape 4"/>
          <p:cNvSpPr/>
          <p:nvPr/>
        </p:nvSpPr>
        <p:spPr>
          <a:xfrm>
            <a:off x="9143695" y="4663440"/>
            <a:ext cx="533400" cy="914"/>
          </a:xfrm>
          <a:prstGeom prst="line">
            <a:avLst/>
          </a:prstGeom>
          <a:noFill/>
          <a:ln w="20320">
            <a:solidFill>
              <a:srgbClr val="2A5247"/>
            </a:solidFill>
            <a:prstDash val="solid"/>
          </a:ln>
        </p:spPr>
      </p:sp>
      <p:sp>
        <p:nvSpPr>
          <p:cNvPr id="7" name="Shape 5"/>
          <p:cNvSpPr/>
          <p:nvPr/>
        </p:nvSpPr>
        <p:spPr>
          <a:xfrm flipV="1">
            <a:off x="9677095" y="4267200"/>
            <a:ext cx="914" cy="396240"/>
          </a:xfrm>
          <a:prstGeom prst="line">
            <a:avLst/>
          </a:prstGeom>
          <a:noFill/>
          <a:ln w="20320">
            <a:solidFill>
              <a:srgbClr val="2A5247"/>
            </a:solidFill>
            <a:prstDash val="solid"/>
          </a:ln>
        </p:spPr>
      </p:sp>
      <p:sp>
        <p:nvSpPr>
          <p:cNvPr id="8" name="Shape 6"/>
          <p:cNvSpPr/>
          <p:nvPr/>
        </p:nvSpPr>
        <p:spPr>
          <a:xfrm>
            <a:off x="9677095" y="4267200"/>
            <a:ext cx="533400" cy="914"/>
          </a:xfrm>
          <a:prstGeom prst="line">
            <a:avLst/>
          </a:prstGeom>
          <a:noFill/>
          <a:ln w="20320">
            <a:solidFill>
              <a:srgbClr val="2A5247"/>
            </a:solidFill>
            <a:prstDash val="solid"/>
          </a:ln>
        </p:spPr>
      </p:sp>
      <p:sp>
        <p:nvSpPr>
          <p:cNvPr id="9" name="Shape 7"/>
          <p:cNvSpPr/>
          <p:nvPr/>
        </p:nvSpPr>
        <p:spPr>
          <a:xfrm flipV="1">
            <a:off x="10210495" y="3870960"/>
            <a:ext cx="914" cy="396240"/>
          </a:xfrm>
          <a:prstGeom prst="line">
            <a:avLst/>
          </a:prstGeom>
          <a:noFill/>
          <a:ln w="20320">
            <a:solidFill>
              <a:srgbClr val="2A5247"/>
            </a:solidFill>
            <a:prstDash val="solid"/>
          </a:ln>
        </p:spPr>
      </p:sp>
      <p:sp>
        <p:nvSpPr>
          <p:cNvPr id="10" name="Shape 8"/>
          <p:cNvSpPr/>
          <p:nvPr/>
        </p:nvSpPr>
        <p:spPr>
          <a:xfrm>
            <a:off x="10210495" y="3870960"/>
            <a:ext cx="533400" cy="914"/>
          </a:xfrm>
          <a:prstGeom prst="line">
            <a:avLst/>
          </a:prstGeom>
          <a:noFill/>
          <a:ln w="20320">
            <a:solidFill>
              <a:srgbClr val="2A5247"/>
            </a:solidFill>
            <a:prstDash val="solid"/>
          </a:ln>
        </p:spPr>
      </p:sp>
      <p:sp>
        <p:nvSpPr>
          <p:cNvPr id="11" name="Shape 9"/>
          <p:cNvSpPr/>
          <p:nvPr/>
        </p:nvSpPr>
        <p:spPr>
          <a:xfrm flipV="1">
            <a:off x="10743895" y="3474720"/>
            <a:ext cx="914" cy="396240"/>
          </a:xfrm>
          <a:prstGeom prst="line">
            <a:avLst/>
          </a:prstGeom>
          <a:noFill/>
          <a:ln w="20320">
            <a:solidFill>
              <a:srgbClr val="2A5247"/>
            </a:solidFill>
            <a:prstDash val="solid"/>
          </a:ln>
        </p:spPr>
      </p:sp>
      <p:sp>
        <p:nvSpPr>
          <p:cNvPr id="12" name="Shape 10"/>
          <p:cNvSpPr/>
          <p:nvPr/>
        </p:nvSpPr>
        <p:spPr>
          <a:xfrm>
            <a:off x="10743895" y="3474720"/>
            <a:ext cx="533400" cy="914"/>
          </a:xfrm>
          <a:prstGeom prst="line">
            <a:avLst/>
          </a:prstGeom>
          <a:noFill/>
          <a:ln w="20320">
            <a:solidFill>
              <a:srgbClr val="2A5247"/>
            </a:solidFill>
            <a:prstDash val="solid"/>
          </a:ln>
        </p:spPr>
      </p:sp>
      <p:sp>
        <p:nvSpPr>
          <p:cNvPr id="13" name="Text 11"/>
          <p:cNvSpPr txBox="1"/>
          <p:nvPr/>
        </p:nvSpPr>
        <p:spPr>
          <a:xfrm>
            <a:off x="566928" y="1051560"/>
            <a:ext cx="7315200" cy="274320"/>
          </a:xfrm>
          <a:prstGeom prst="rect">
            <a:avLst/>
          </a:prstGeom>
          <a:noFill/>
          <a:ln/>
        </p:spPr>
        <p:txBody>
          <a:bodyPr wrap="square" lIns="0" tIns="0" rIns="0" bIns="0" rtlCol="0" anchor="ctr"/>
          <a:lstStyle/>
          <a:p>
            <a:pPr indent="0" marL="0">
              <a:buNone/>
            </a:pPr>
            <a:r>
              <a:rPr lang="en-US" sz="1200" spc="200" kern="0" dirty="0">
                <a:solidFill>
                  <a:srgbClr val="8FB8A6"/>
                </a:solidFill>
              </a:rPr>
              <a:t>AlbShkenca 2026 · Computer Science</a:t>
            </a:r>
            <a:endParaRPr lang="en-US" sz="1200" dirty="0"/>
          </a:p>
        </p:txBody>
      </p:sp>
      <p:sp>
        <p:nvSpPr>
          <p:cNvPr id="14" name="Text 12"/>
          <p:cNvSpPr txBox="1"/>
          <p:nvPr/>
        </p:nvSpPr>
        <p:spPr>
          <a:xfrm>
            <a:off x="566928" y="1600200"/>
            <a:ext cx="8595360" cy="192024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What a benchmark table</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does and does not prove</a:t>
            </a:r>
            <a:endParaRPr lang="en-US" sz="4000" dirty="0"/>
          </a:p>
        </p:txBody>
      </p:sp>
      <p:sp>
        <p:nvSpPr>
          <p:cNvPr id="15" name="Text 13"/>
          <p:cNvSpPr txBox="1"/>
          <p:nvPr/>
        </p:nvSpPr>
        <p:spPr>
          <a:xfrm>
            <a:off x="566928" y="3703320"/>
            <a:ext cx="7680960" cy="914400"/>
          </a:xfrm>
          <a:prstGeom prst="rect">
            <a:avLst/>
          </a:prstGeom>
          <a:noFill/>
          <a:ln/>
        </p:spPr>
        <p:txBody>
          <a:bodyPr wrap="square" lIns="0" tIns="0" rIns="0" bIns="0" rtlCol="0" anchor="ctr"/>
          <a:lstStyle/>
          <a:p>
            <a:pPr indent="0" marL="0">
              <a:lnSpc>
                <a:spcPts val="2200"/>
              </a:lnSpc>
              <a:buNone/>
            </a:pPr>
            <a:r>
              <a:rPr lang="en-US" sz="1500" i="1" dirty="0">
                <a:solidFill>
                  <a:srgbClr val="B9CFC4"/>
                </a:solidFill>
              </a:rPr>
              <a:t>A controlled study of one bi-objective graph problem,</a:t>
            </a:r>
            <a:endParaRPr lang="en-US" sz="1500" dirty="0"/>
          </a:p>
          <a:p>
            <a:pPr indent="0" marL="0">
              <a:lnSpc>
                <a:spcPts val="2200"/>
              </a:lnSpc>
              <a:buNone/>
            </a:pPr>
            <a:r>
              <a:rPr lang="en-US" sz="1500" i="1" dirty="0">
                <a:solidFill>
                  <a:srgbClr val="B9CFC4"/>
                </a:solidFill>
              </a:rPr>
              <a:t>and of the machinery used to claim results about it</a:t>
            </a:r>
            <a:endParaRPr lang="en-US" sz="1500" dirty="0"/>
          </a:p>
        </p:txBody>
      </p:sp>
      <p:sp>
        <p:nvSpPr>
          <p:cNvPr id="16" name="Shape 14"/>
          <p:cNvSpPr/>
          <p:nvPr/>
        </p:nvSpPr>
        <p:spPr>
          <a:xfrm>
            <a:off x="566928" y="4892040"/>
            <a:ext cx="1463040" cy="914"/>
          </a:xfrm>
          <a:prstGeom prst="line">
            <a:avLst/>
          </a:prstGeom>
          <a:noFill/>
          <a:ln w="27940">
            <a:solidFill>
              <a:srgbClr val="3E8E72"/>
            </a:solidFill>
            <a:prstDash val="solid"/>
          </a:ln>
        </p:spPr>
      </p:sp>
      <p:sp>
        <p:nvSpPr>
          <p:cNvPr id="17" name="Text 15"/>
          <p:cNvSpPr txBox="1"/>
          <p:nvPr/>
        </p:nvSpPr>
        <p:spPr>
          <a:xfrm>
            <a:off x="566928" y="5074920"/>
            <a:ext cx="7315200" cy="274320"/>
          </a:xfrm>
          <a:prstGeom prst="rect">
            <a:avLst/>
          </a:prstGeom>
          <a:noFill/>
          <a:ln/>
        </p:spPr>
        <p:txBody>
          <a:bodyPr wrap="square" lIns="0" tIns="0" rIns="0" bIns="0" rtlCol="0" anchor="ctr"/>
          <a:lstStyle/>
          <a:p>
            <a:pPr indent="0" marL="0">
              <a:buNone/>
            </a:pPr>
            <a:r>
              <a:rPr lang="en-US" sz="1350" dirty="0">
                <a:solidFill>
                  <a:srgbClr val="FFFFFF"/>
                </a:solidFill>
              </a:rPr>
              <a:t>Adrian Ymeri · University of Prishtina</a:t>
            </a:r>
            <a:endParaRPr lang="en-US" sz="1350" dirty="0"/>
          </a:p>
        </p:txBody>
      </p:sp>
      <p:sp>
        <p:nvSpPr>
          <p:cNvPr id="18" name="Text 16"/>
          <p:cNvSpPr txBox="1"/>
          <p:nvPr/>
        </p:nvSpPr>
        <p:spPr>
          <a:xfrm>
            <a:off x="566928" y="6144768"/>
            <a:ext cx="11057839" cy="274320"/>
          </a:xfrm>
          <a:prstGeom prst="rect">
            <a:avLst/>
          </a:prstGeom>
          <a:noFill/>
          <a:ln/>
        </p:spPr>
        <p:txBody>
          <a:bodyPr wrap="square" lIns="0" tIns="0" rIns="0" bIns="0" rtlCol="0" anchor="ctr"/>
          <a:lstStyle/>
          <a:p>
            <a:pPr indent="0" marL="0">
              <a:buNone/>
            </a:pPr>
            <a:r>
              <a:rPr lang="en-US" sz="1000" dirty="0">
                <a:solidFill>
                  <a:srgbClr val="B9CFC4"/>
                </a:solidFill>
              </a:rPr>
              <a:t>ESA SpOC-3 Torso Decompositions · 10 instances · 7 methods · 17 operators · 3 budgets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420624"/>
            <a:ext cx="11057839" cy="658368"/>
          </a:xfrm>
          <a:prstGeom prst="rect">
            <a:avLst/>
          </a:prstGeom>
          <a:noFill/>
          <a:ln/>
        </p:spPr>
        <p:txBody>
          <a:bodyPr wrap="square" lIns="0" tIns="0" rIns="0" bIns="0" rtlCol="0" anchor="ctr"/>
          <a:lstStyle/>
          <a:p>
            <a:pPr indent="0" marL="0">
              <a:buNone/>
            </a:pPr>
            <a:r>
              <a:rPr lang="en-US" sz="2600" b="1" dirty="0">
                <a:solidFill>
                  <a:srgbClr val="11211C"/>
                </a:solidFill>
                <a:latin typeface="Cambria" pitchFamily="34" charset="0"/>
                <a:ea typeface="Cambria" pitchFamily="34" charset="-122"/>
                <a:cs typeface="Cambria" pitchFamily="34" charset="-120"/>
              </a:rPr>
              <a:t>Where this goes</a:t>
            </a:r>
            <a:endParaRPr lang="en-US" sz="2600" dirty="0"/>
          </a:p>
        </p:txBody>
      </p:sp>
      <p:sp>
        <p:nvSpPr>
          <p:cNvPr id="3" name="Shape 1"/>
          <p:cNvSpPr/>
          <p:nvPr/>
        </p:nvSpPr>
        <p:spPr>
          <a:xfrm>
            <a:off x="841248" y="1335024"/>
            <a:ext cx="914" cy="3236976"/>
          </a:xfrm>
          <a:prstGeom prst="line">
            <a:avLst/>
          </a:prstGeom>
          <a:noFill/>
          <a:ln w="17780">
            <a:solidFill>
              <a:srgbClr val="B9CFC4"/>
            </a:solidFill>
            <a:prstDash val="solid"/>
          </a:ln>
        </p:spPr>
      </p:sp>
      <p:sp>
        <p:nvSpPr>
          <p:cNvPr id="4" name="Shape 2"/>
          <p:cNvSpPr/>
          <p:nvPr/>
        </p:nvSpPr>
        <p:spPr>
          <a:xfrm>
            <a:off x="621792" y="1325880"/>
            <a:ext cx="438912" cy="438912"/>
          </a:xfrm>
          <a:prstGeom prst="ellipse">
            <a:avLst/>
          </a:prstGeom>
          <a:solidFill>
            <a:srgbClr val="FFFFFF"/>
          </a:solidFill>
          <a:ln w="16510">
            <a:solidFill>
              <a:srgbClr val="3E8E72"/>
            </a:solidFill>
            <a:prstDash val="solid"/>
          </a:ln>
        </p:spPr>
      </p:sp>
      <p:sp>
        <p:nvSpPr>
          <p:cNvPr id="5" name="Text 3"/>
          <p:cNvSpPr txBox="1"/>
          <p:nvPr/>
        </p:nvSpPr>
        <p:spPr>
          <a:xfrm>
            <a:off x="621792" y="1325880"/>
            <a:ext cx="438912" cy="438912"/>
          </a:xfrm>
          <a:prstGeom prst="rect">
            <a:avLst/>
          </a:prstGeom>
          <a:noFill/>
          <a:ln/>
        </p:spPr>
        <p:txBody>
          <a:bodyPr wrap="square" lIns="0" tIns="0" rIns="0" bIns="0" rtlCol="0" anchor="ctr"/>
          <a:lstStyle/>
          <a:p>
            <a:pPr algn="ctr" indent="0" marL="0">
              <a:buNone/>
            </a:pPr>
            <a:r>
              <a:rPr lang="en-US" sz="1150" b="1" dirty="0">
                <a:solidFill>
                  <a:srgbClr val="2A5247"/>
                </a:solidFill>
                <a:latin typeface="Cambria" pitchFamily="34" charset="0"/>
                <a:ea typeface="Cambria" pitchFamily="34" charset="-122"/>
                <a:cs typeface="Cambria" pitchFamily="34" charset="-120"/>
              </a:rPr>
              <a:t>I</a:t>
            </a:r>
            <a:endParaRPr lang="en-US" sz="1150" dirty="0"/>
          </a:p>
        </p:txBody>
      </p:sp>
      <p:sp>
        <p:nvSpPr>
          <p:cNvPr id="6" name="Text 4"/>
          <p:cNvSpPr txBox="1"/>
          <p:nvPr/>
        </p:nvSpPr>
        <p:spPr>
          <a:xfrm>
            <a:off x="1280160" y="1316736"/>
            <a:ext cx="4846320" cy="274320"/>
          </a:xfrm>
          <a:prstGeom prst="rect">
            <a:avLst/>
          </a:prstGeom>
          <a:noFill/>
          <a:ln/>
        </p:spPr>
        <p:txBody>
          <a:bodyPr wrap="square" lIns="0" tIns="0" rIns="0" bIns="0" rtlCol="0" anchor="ctr"/>
          <a:lstStyle/>
          <a:p>
            <a:pPr indent="0" marL="0">
              <a:buNone/>
            </a:pPr>
            <a:r>
              <a:rPr lang="en-US" sz="1450" b="1" dirty="0">
                <a:solidFill>
                  <a:srgbClr val="11211C"/>
                </a:solidFill>
              </a:rPr>
              <a:t>The object</a:t>
            </a:r>
            <a:endParaRPr lang="en-US" sz="1450" dirty="0"/>
          </a:p>
        </p:txBody>
      </p:sp>
      <p:sp>
        <p:nvSpPr>
          <p:cNvPr id="7" name="Text 5"/>
          <p:cNvSpPr txBox="1"/>
          <p:nvPr/>
        </p:nvSpPr>
        <p:spPr>
          <a:xfrm>
            <a:off x="1280160" y="1591056"/>
            <a:ext cx="6309360" cy="274320"/>
          </a:xfrm>
          <a:prstGeom prst="rect">
            <a:avLst/>
          </a:prstGeom>
          <a:noFill/>
          <a:ln/>
        </p:spPr>
        <p:txBody>
          <a:bodyPr wrap="square" lIns="0" tIns="0" rIns="0" bIns="0" rtlCol="0" anchor="ctr"/>
          <a:lstStyle/>
          <a:p>
            <a:pPr indent="0" marL="0">
              <a:buNone/>
            </a:pPr>
            <a:r>
              <a:rPr lang="en-US" sz="1150" dirty="0">
                <a:solidFill>
                  <a:srgbClr val="6B7A75"/>
                </a:solidFill>
              </a:rPr>
              <a:t>What ESA asked for, and the one mechanic the whole problem rests on</a:t>
            </a:r>
            <a:endParaRPr lang="en-US" sz="1150" dirty="0"/>
          </a:p>
        </p:txBody>
      </p:sp>
      <p:sp>
        <p:nvSpPr>
          <p:cNvPr id="8" name="Text 6"/>
          <p:cNvSpPr txBox="1"/>
          <p:nvPr/>
        </p:nvSpPr>
        <p:spPr>
          <a:xfrm>
            <a:off x="7114032" y="1353312"/>
            <a:ext cx="640080" cy="237744"/>
          </a:xfrm>
          <a:prstGeom prst="rect">
            <a:avLst/>
          </a:prstGeom>
          <a:noFill/>
          <a:ln/>
        </p:spPr>
        <p:txBody>
          <a:bodyPr wrap="square" lIns="0" tIns="0" rIns="0" bIns="0" rtlCol="0" anchor="ctr"/>
          <a:lstStyle/>
          <a:p>
            <a:pPr algn="r" indent="0" marL="0">
              <a:buNone/>
            </a:pPr>
            <a:r>
              <a:rPr lang="en-US" sz="1050" dirty="0">
                <a:solidFill>
                  <a:srgbClr val="6B7A75"/>
                </a:solidFill>
              </a:rPr>
              <a:t>3 min</a:t>
            </a:r>
            <a:endParaRPr lang="en-US" sz="1050" dirty="0"/>
          </a:p>
        </p:txBody>
      </p:sp>
      <p:sp>
        <p:nvSpPr>
          <p:cNvPr id="9" name="Shape 7"/>
          <p:cNvSpPr/>
          <p:nvPr/>
        </p:nvSpPr>
        <p:spPr>
          <a:xfrm>
            <a:off x="621792" y="1984248"/>
            <a:ext cx="438912" cy="438912"/>
          </a:xfrm>
          <a:prstGeom prst="ellipse">
            <a:avLst/>
          </a:prstGeom>
          <a:solidFill>
            <a:srgbClr val="FFFFFF"/>
          </a:solidFill>
          <a:ln w="16510">
            <a:solidFill>
              <a:srgbClr val="3E8E72"/>
            </a:solidFill>
            <a:prstDash val="solid"/>
          </a:ln>
        </p:spPr>
      </p:sp>
      <p:sp>
        <p:nvSpPr>
          <p:cNvPr id="10" name="Text 8"/>
          <p:cNvSpPr txBox="1"/>
          <p:nvPr/>
        </p:nvSpPr>
        <p:spPr>
          <a:xfrm>
            <a:off x="621792" y="1984248"/>
            <a:ext cx="438912" cy="438912"/>
          </a:xfrm>
          <a:prstGeom prst="rect">
            <a:avLst/>
          </a:prstGeom>
          <a:noFill/>
          <a:ln/>
        </p:spPr>
        <p:txBody>
          <a:bodyPr wrap="square" lIns="0" tIns="0" rIns="0" bIns="0" rtlCol="0" anchor="ctr"/>
          <a:lstStyle/>
          <a:p>
            <a:pPr algn="ctr" indent="0" marL="0">
              <a:buNone/>
            </a:pPr>
            <a:r>
              <a:rPr lang="en-US" sz="1150" b="1" dirty="0">
                <a:solidFill>
                  <a:srgbClr val="2A5247"/>
                </a:solidFill>
                <a:latin typeface="Cambria" pitchFamily="34" charset="0"/>
                <a:ea typeface="Cambria" pitchFamily="34" charset="-122"/>
                <a:cs typeface="Cambria" pitchFamily="34" charset="-120"/>
              </a:rPr>
              <a:t>II</a:t>
            </a:r>
            <a:endParaRPr lang="en-US" sz="1150" dirty="0"/>
          </a:p>
        </p:txBody>
      </p:sp>
      <p:sp>
        <p:nvSpPr>
          <p:cNvPr id="11" name="Text 9"/>
          <p:cNvSpPr txBox="1"/>
          <p:nvPr/>
        </p:nvSpPr>
        <p:spPr>
          <a:xfrm>
            <a:off x="1280160" y="1975104"/>
            <a:ext cx="4846320" cy="274320"/>
          </a:xfrm>
          <a:prstGeom prst="rect">
            <a:avLst/>
          </a:prstGeom>
          <a:noFill/>
          <a:ln/>
        </p:spPr>
        <p:txBody>
          <a:bodyPr wrap="square" lIns="0" tIns="0" rIns="0" bIns="0" rtlCol="0" anchor="ctr"/>
          <a:lstStyle/>
          <a:p>
            <a:pPr indent="0" marL="0">
              <a:buNone/>
            </a:pPr>
            <a:r>
              <a:rPr lang="en-US" sz="1450" b="1" dirty="0">
                <a:solidFill>
                  <a:srgbClr val="11211C"/>
                </a:solidFill>
              </a:rPr>
              <a:t>Why it is hard, and how good any answer could be</a:t>
            </a:r>
            <a:endParaRPr lang="en-US" sz="1450" dirty="0"/>
          </a:p>
        </p:txBody>
      </p:sp>
      <p:sp>
        <p:nvSpPr>
          <p:cNvPr id="12" name="Text 10"/>
          <p:cNvSpPr txBox="1"/>
          <p:nvPr/>
        </p:nvSpPr>
        <p:spPr>
          <a:xfrm>
            <a:off x="1280160" y="2249424"/>
            <a:ext cx="6309360" cy="274320"/>
          </a:xfrm>
          <a:prstGeom prst="rect">
            <a:avLst/>
          </a:prstGeom>
          <a:noFill/>
          <a:ln/>
        </p:spPr>
        <p:txBody>
          <a:bodyPr wrap="square" lIns="0" tIns="0" rIns="0" bIns="0" rtlCol="0" anchor="ctr"/>
          <a:lstStyle/>
          <a:p>
            <a:pPr indent="0" marL="0">
              <a:buNone/>
            </a:pPr>
            <a:r>
              <a:rPr lang="en-US" sz="1150" dirty="0">
                <a:solidFill>
                  <a:srgbClr val="6B7A75"/>
                </a:solidFill>
              </a:rPr>
              <a:t>Two nested NP-hard problems, and a provable ceiling on the score</a:t>
            </a:r>
            <a:endParaRPr lang="en-US" sz="1150" dirty="0"/>
          </a:p>
        </p:txBody>
      </p:sp>
      <p:sp>
        <p:nvSpPr>
          <p:cNvPr id="13" name="Text 11"/>
          <p:cNvSpPr txBox="1"/>
          <p:nvPr/>
        </p:nvSpPr>
        <p:spPr>
          <a:xfrm>
            <a:off x="7114032" y="2011680"/>
            <a:ext cx="640080" cy="237744"/>
          </a:xfrm>
          <a:prstGeom prst="rect">
            <a:avLst/>
          </a:prstGeom>
          <a:noFill/>
          <a:ln/>
        </p:spPr>
        <p:txBody>
          <a:bodyPr wrap="square" lIns="0" tIns="0" rIns="0" bIns="0" rtlCol="0" anchor="ctr"/>
          <a:lstStyle/>
          <a:p>
            <a:pPr algn="r" indent="0" marL="0">
              <a:buNone/>
            </a:pPr>
            <a:r>
              <a:rPr lang="en-US" sz="1050" dirty="0">
                <a:solidFill>
                  <a:srgbClr val="6B7A75"/>
                </a:solidFill>
              </a:rPr>
              <a:t>3 min</a:t>
            </a:r>
            <a:endParaRPr lang="en-US" sz="1050" dirty="0"/>
          </a:p>
        </p:txBody>
      </p:sp>
      <p:sp>
        <p:nvSpPr>
          <p:cNvPr id="14" name="Shape 12"/>
          <p:cNvSpPr/>
          <p:nvPr/>
        </p:nvSpPr>
        <p:spPr>
          <a:xfrm>
            <a:off x="621792" y="2642616"/>
            <a:ext cx="438912" cy="438912"/>
          </a:xfrm>
          <a:prstGeom prst="ellipse">
            <a:avLst/>
          </a:prstGeom>
          <a:solidFill>
            <a:srgbClr val="FFFFFF"/>
          </a:solidFill>
          <a:ln w="16510">
            <a:solidFill>
              <a:srgbClr val="3E8E72"/>
            </a:solidFill>
            <a:prstDash val="solid"/>
          </a:ln>
        </p:spPr>
      </p:sp>
      <p:sp>
        <p:nvSpPr>
          <p:cNvPr id="15" name="Text 13"/>
          <p:cNvSpPr txBox="1"/>
          <p:nvPr/>
        </p:nvSpPr>
        <p:spPr>
          <a:xfrm>
            <a:off x="621792" y="2642616"/>
            <a:ext cx="438912" cy="438912"/>
          </a:xfrm>
          <a:prstGeom prst="rect">
            <a:avLst/>
          </a:prstGeom>
          <a:noFill/>
          <a:ln/>
        </p:spPr>
        <p:txBody>
          <a:bodyPr wrap="square" lIns="0" tIns="0" rIns="0" bIns="0" rtlCol="0" anchor="ctr"/>
          <a:lstStyle/>
          <a:p>
            <a:pPr algn="ctr" indent="0" marL="0">
              <a:buNone/>
            </a:pPr>
            <a:r>
              <a:rPr lang="en-US" sz="1150" b="1" dirty="0">
                <a:solidFill>
                  <a:srgbClr val="2A5247"/>
                </a:solidFill>
                <a:latin typeface="Cambria" pitchFamily="34" charset="0"/>
                <a:ea typeface="Cambria" pitchFamily="34" charset="-122"/>
                <a:cs typeface="Cambria" pitchFamily="34" charset="-120"/>
              </a:rPr>
              <a:t>III</a:t>
            </a:r>
            <a:endParaRPr lang="en-US" sz="1150" dirty="0"/>
          </a:p>
        </p:txBody>
      </p:sp>
      <p:sp>
        <p:nvSpPr>
          <p:cNvPr id="16" name="Text 14"/>
          <p:cNvSpPr txBox="1"/>
          <p:nvPr/>
        </p:nvSpPr>
        <p:spPr>
          <a:xfrm>
            <a:off x="1280160" y="2633472"/>
            <a:ext cx="4846320" cy="274320"/>
          </a:xfrm>
          <a:prstGeom prst="rect">
            <a:avLst/>
          </a:prstGeom>
          <a:noFill/>
          <a:ln/>
        </p:spPr>
        <p:txBody>
          <a:bodyPr wrap="square" lIns="0" tIns="0" rIns="0" bIns="0" rtlCol="0" anchor="ctr"/>
          <a:lstStyle/>
          <a:p>
            <a:pPr indent="0" marL="0">
              <a:buNone/>
            </a:pPr>
            <a:r>
              <a:rPr lang="en-US" sz="1450" b="1" dirty="0">
                <a:solidFill>
                  <a:srgbClr val="11211C"/>
                </a:solidFill>
              </a:rPr>
              <a:t>The table I would have published</a:t>
            </a:r>
            <a:endParaRPr lang="en-US" sz="1450" dirty="0"/>
          </a:p>
        </p:txBody>
      </p:sp>
      <p:sp>
        <p:nvSpPr>
          <p:cNvPr id="17" name="Text 15"/>
          <p:cNvSpPr txBox="1"/>
          <p:nvPr/>
        </p:nvSpPr>
        <p:spPr>
          <a:xfrm>
            <a:off x="1280160" y="2907792"/>
            <a:ext cx="6309360" cy="274320"/>
          </a:xfrm>
          <a:prstGeom prst="rect">
            <a:avLst/>
          </a:prstGeom>
          <a:noFill/>
          <a:ln/>
        </p:spPr>
        <p:txBody>
          <a:bodyPr wrap="square" lIns="0" tIns="0" rIns="0" bIns="0" rtlCol="0" anchor="ctr"/>
          <a:lstStyle/>
          <a:p>
            <a:pPr indent="0" marL="0">
              <a:buNone/>
            </a:pPr>
            <a:r>
              <a:rPr lang="en-US" sz="1150" dirty="0">
                <a:solidFill>
                  <a:srgbClr val="6B7A75"/>
                </a:solidFill>
              </a:rPr>
              <a:t>Ten instances, seven methods, and the confounds that decide it</a:t>
            </a:r>
            <a:endParaRPr lang="en-US" sz="1150" dirty="0"/>
          </a:p>
        </p:txBody>
      </p:sp>
      <p:sp>
        <p:nvSpPr>
          <p:cNvPr id="18" name="Text 16"/>
          <p:cNvSpPr txBox="1"/>
          <p:nvPr/>
        </p:nvSpPr>
        <p:spPr>
          <a:xfrm>
            <a:off x="7114032" y="2670048"/>
            <a:ext cx="640080" cy="237744"/>
          </a:xfrm>
          <a:prstGeom prst="rect">
            <a:avLst/>
          </a:prstGeom>
          <a:noFill/>
          <a:ln/>
        </p:spPr>
        <p:txBody>
          <a:bodyPr wrap="square" lIns="0" tIns="0" rIns="0" bIns="0" rtlCol="0" anchor="ctr"/>
          <a:lstStyle/>
          <a:p>
            <a:pPr algn="r" indent="0" marL="0">
              <a:buNone/>
            </a:pPr>
            <a:r>
              <a:rPr lang="en-US" sz="1050" dirty="0">
                <a:solidFill>
                  <a:srgbClr val="6B7A75"/>
                </a:solidFill>
              </a:rPr>
              <a:t>3 min</a:t>
            </a:r>
            <a:endParaRPr lang="en-US" sz="1050" dirty="0"/>
          </a:p>
        </p:txBody>
      </p:sp>
      <p:sp>
        <p:nvSpPr>
          <p:cNvPr id="19" name="Shape 17"/>
          <p:cNvSpPr/>
          <p:nvPr/>
        </p:nvSpPr>
        <p:spPr>
          <a:xfrm>
            <a:off x="621792" y="3300984"/>
            <a:ext cx="438912" cy="438912"/>
          </a:xfrm>
          <a:prstGeom prst="ellipse">
            <a:avLst/>
          </a:prstGeom>
          <a:solidFill>
            <a:srgbClr val="FFFFFF"/>
          </a:solidFill>
          <a:ln w="16510">
            <a:solidFill>
              <a:srgbClr val="3E8E72"/>
            </a:solidFill>
            <a:prstDash val="solid"/>
          </a:ln>
        </p:spPr>
      </p:sp>
      <p:sp>
        <p:nvSpPr>
          <p:cNvPr id="20" name="Text 18"/>
          <p:cNvSpPr txBox="1"/>
          <p:nvPr/>
        </p:nvSpPr>
        <p:spPr>
          <a:xfrm>
            <a:off x="621792" y="3300984"/>
            <a:ext cx="438912" cy="438912"/>
          </a:xfrm>
          <a:prstGeom prst="rect">
            <a:avLst/>
          </a:prstGeom>
          <a:noFill/>
          <a:ln/>
        </p:spPr>
        <p:txBody>
          <a:bodyPr wrap="square" lIns="0" tIns="0" rIns="0" bIns="0" rtlCol="0" anchor="ctr"/>
          <a:lstStyle/>
          <a:p>
            <a:pPr algn="ctr" indent="0" marL="0">
              <a:buNone/>
            </a:pPr>
            <a:r>
              <a:rPr lang="en-US" sz="1150" b="1" dirty="0">
                <a:solidFill>
                  <a:srgbClr val="2A5247"/>
                </a:solidFill>
                <a:latin typeface="Cambria" pitchFamily="34" charset="0"/>
                <a:ea typeface="Cambria" pitchFamily="34" charset="-122"/>
                <a:cs typeface="Cambria" pitchFamily="34" charset="-120"/>
              </a:rPr>
              <a:t>IV</a:t>
            </a:r>
            <a:endParaRPr lang="en-US" sz="1150" dirty="0"/>
          </a:p>
        </p:txBody>
      </p:sp>
      <p:sp>
        <p:nvSpPr>
          <p:cNvPr id="21" name="Text 19"/>
          <p:cNvSpPr txBox="1"/>
          <p:nvPr/>
        </p:nvSpPr>
        <p:spPr>
          <a:xfrm>
            <a:off x="1280160" y="3291840"/>
            <a:ext cx="4846320" cy="274320"/>
          </a:xfrm>
          <a:prstGeom prst="rect">
            <a:avLst/>
          </a:prstGeom>
          <a:noFill/>
          <a:ln/>
        </p:spPr>
        <p:txBody>
          <a:bodyPr wrap="square" lIns="0" tIns="0" rIns="0" bIns="0" rtlCol="0" anchor="ctr"/>
          <a:lstStyle/>
          <a:p>
            <a:pPr indent="0" marL="0">
              <a:buNone/>
            </a:pPr>
            <a:r>
              <a:rPr lang="en-US" sz="1450" b="1" dirty="0">
                <a:solidFill>
                  <a:srgbClr val="11211C"/>
                </a:solidFill>
              </a:rPr>
              <a:t>The measurement that broke it</a:t>
            </a:r>
            <a:endParaRPr lang="en-US" sz="1450" dirty="0"/>
          </a:p>
        </p:txBody>
      </p:sp>
      <p:sp>
        <p:nvSpPr>
          <p:cNvPr id="22" name="Text 20"/>
          <p:cNvSpPr txBox="1"/>
          <p:nvPr/>
        </p:nvSpPr>
        <p:spPr>
          <a:xfrm>
            <a:off x="1280160" y="3566160"/>
            <a:ext cx="6309360" cy="274320"/>
          </a:xfrm>
          <a:prstGeom prst="rect">
            <a:avLst/>
          </a:prstGeom>
          <a:noFill/>
          <a:ln/>
        </p:spPr>
        <p:txBody>
          <a:bodyPr wrap="square" lIns="0" tIns="0" rIns="0" bIns="0" rtlCol="0" anchor="ctr"/>
          <a:lstStyle/>
          <a:p>
            <a:pPr indent="0" marL="0">
              <a:buNone/>
            </a:pPr>
            <a:r>
              <a:rPr lang="en-US" sz="1150" dirty="0">
                <a:solidFill>
                  <a:srgbClr val="6B7A75"/>
                </a:solidFill>
              </a:rPr>
              <a:t>Running the control twice, and what survived</a:t>
            </a:r>
            <a:endParaRPr lang="en-US" sz="1150" dirty="0"/>
          </a:p>
        </p:txBody>
      </p:sp>
      <p:sp>
        <p:nvSpPr>
          <p:cNvPr id="23" name="Text 21"/>
          <p:cNvSpPr txBox="1"/>
          <p:nvPr/>
        </p:nvSpPr>
        <p:spPr>
          <a:xfrm>
            <a:off x="7114032" y="3328416"/>
            <a:ext cx="640080" cy="237744"/>
          </a:xfrm>
          <a:prstGeom prst="rect">
            <a:avLst/>
          </a:prstGeom>
          <a:noFill/>
          <a:ln/>
        </p:spPr>
        <p:txBody>
          <a:bodyPr wrap="square" lIns="0" tIns="0" rIns="0" bIns="0" rtlCol="0" anchor="ctr"/>
          <a:lstStyle/>
          <a:p>
            <a:pPr algn="r" indent="0" marL="0">
              <a:buNone/>
            </a:pPr>
            <a:r>
              <a:rPr lang="en-US" sz="1050" dirty="0">
                <a:solidFill>
                  <a:srgbClr val="6B7A75"/>
                </a:solidFill>
              </a:rPr>
              <a:t>4 min</a:t>
            </a:r>
            <a:endParaRPr lang="en-US" sz="1050" dirty="0"/>
          </a:p>
        </p:txBody>
      </p:sp>
      <p:sp>
        <p:nvSpPr>
          <p:cNvPr id="24" name="Shape 22"/>
          <p:cNvSpPr/>
          <p:nvPr/>
        </p:nvSpPr>
        <p:spPr>
          <a:xfrm>
            <a:off x="621792" y="3959352"/>
            <a:ext cx="438912" cy="438912"/>
          </a:xfrm>
          <a:prstGeom prst="ellipse">
            <a:avLst/>
          </a:prstGeom>
          <a:solidFill>
            <a:srgbClr val="FFFFFF"/>
          </a:solidFill>
          <a:ln w="16510">
            <a:solidFill>
              <a:srgbClr val="3E8E72"/>
            </a:solidFill>
            <a:prstDash val="solid"/>
          </a:ln>
        </p:spPr>
      </p:sp>
      <p:sp>
        <p:nvSpPr>
          <p:cNvPr id="25" name="Text 23"/>
          <p:cNvSpPr txBox="1"/>
          <p:nvPr/>
        </p:nvSpPr>
        <p:spPr>
          <a:xfrm>
            <a:off x="621792" y="3959352"/>
            <a:ext cx="438912" cy="438912"/>
          </a:xfrm>
          <a:prstGeom prst="rect">
            <a:avLst/>
          </a:prstGeom>
          <a:noFill/>
          <a:ln/>
        </p:spPr>
        <p:txBody>
          <a:bodyPr wrap="square" lIns="0" tIns="0" rIns="0" bIns="0" rtlCol="0" anchor="ctr"/>
          <a:lstStyle/>
          <a:p>
            <a:pPr algn="ctr" indent="0" marL="0">
              <a:buNone/>
            </a:pPr>
            <a:r>
              <a:rPr lang="en-US" sz="1150" b="1" dirty="0">
                <a:solidFill>
                  <a:srgbClr val="2A5247"/>
                </a:solidFill>
                <a:latin typeface="Cambria" pitchFamily="34" charset="0"/>
                <a:ea typeface="Cambria" pitchFamily="34" charset="-122"/>
                <a:cs typeface="Cambria" pitchFamily="34" charset="-120"/>
              </a:rPr>
              <a:t>V</a:t>
            </a:r>
            <a:endParaRPr lang="en-US" sz="1150" dirty="0"/>
          </a:p>
        </p:txBody>
      </p:sp>
      <p:sp>
        <p:nvSpPr>
          <p:cNvPr id="26" name="Text 24"/>
          <p:cNvSpPr txBox="1"/>
          <p:nvPr/>
        </p:nvSpPr>
        <p:spPr>
          <a:xfrm>
            <a:off x="1280160" y="3950208"/>
            <a:ext cx="4846320" cy="274320"/>
          </a:xfrm>
          <a:prstGeom prst="rect">
            <a:avLst/>
          </a:prstGeom>
          <a:noFill/>
          <a:ln/>
        </p:spPr>
        <p:txBody>
          <a:bodyPr wrap="square" lIns="0" tIns="0" rIns="0" bIns="0" rtlCol="0" anchor="ctr"/>
          <a:lstStyle/>
          <a:p>
            <a:pPr indent="0" marL="0">
              <a:buNone/>
            </a:pPr>
            <a:r>
              <a:rPr lang="en-US" sz="1450" b="1" dirty="0">
                <a:solidFill>
                  <a:srgbClr val="11211C"/>
                </a:solidFill>
              </a:rPr>
              <a:t>What I would ask of any benchmark table</a:t>
            </a:r>
            <a:endParaRPr lang="en-US" sz="1450" dirty="0"/>
          </a:p>
        </p:txBody>
      </p:sp>
      <p:sp>
        <p:nvSpPr>
          <p:cNvPr id="27" name="Text 25"/>
          <p:cNvSpPr txBox="1"/>
          <p:nvPr/>
        </p:nvSpPr>
        <p:spPr>
          <a:xfrm>
            <a:off x="1280160" y="4224528"/>
            <a:ext cx="6309360" cy="274320"/>
          </a:xfrm>
          <a:prstGeom prst="rect">
            <a:avLst/>
          </a:prstGeom>
          <a:noFill/>
          <a:ln/>
        </p:spPr>
        <p:txBody>
          <a:bodyPr wrap="square" lIns="0" tIns="0" rIns="0" bIns="0" rtlCol="0" anchor="ctr"/>
          <a:lstStyle/>
          <a:p>
            <a:pPr indent="0" marL="0">
              <a:buNone/>
            </a:pPr>
            <a:r>
              <a:rPr lang="en-US" sz="1150" dirty="0">
                <a:solidFill>
                  <a:srgbClr val="6B7A75"/>
                </a:solidFill>
              </a:rPr>
              <a:t>Three requests, and the errors I caught in my own work</a:t>
            </a:r>
            <a:endParaRPr lang="en-US" sz="1150" dirty="0"/>
          </a:p>
        </p:txBody>
      </p:sp>
      <p:sp>
        <p:nvSpPr>
          <p:cNvPr id="28" name="Text 26"/>
          <p:cNvSpPr txBox="1"/>
          <p:nvPr/>
        </p:nvSpPr>
        <p:spPr>
          <a:xfrm>
            <a:off x="7114032" y="3986784"/>
            <a:ext cx="640080" cy="237744"/>
          </a:xfrm>
          <a:prstGeom prst="rect">
            <a:avLst/>
          </a:prstGeom>
          <a:noFill/>
          <a:ln/>
        </p:spPr>
        <p:txBody>
          <a:bodyPr wrap="square" lIns="0" tIns="0" rIns="0" bIns="0" rtlCol="0" anchor="ctr"/>
          <a:lstStyle/>
          <a:p>
            <a:pPr algn="r" indent="0" marL="0">
              <a:buNone/>
            </a:pPr>
            <a:r>
              <a:rPr lang="en-US" sz="1050" dirty="0">
                <a:solidFill>
                  <a:srgbClr val="6B7A75"/>
                </a:solidFill>
              </a:rPr>
              <a:t>2 min</a:t>
            </a:r>
            <a:endParaRPr lang="en-US" sz="1050" dirty="0"/>
          </a:p>
        </p:txBody>
      </p:sp>
      <p:sp>
        <p:nvSpPr>
          <p:cNvPr id="29" name="Shape 27"/>
          <p:cNvSpPr/>
          <p:nvPr/>
        </p:nvSpPr>
        <p:spPr>
          <a:xfrm>
            <a:off x="8138160" y="1298448"/>
            <a:ext cx="3493008" cy="3291840"/>
          </a:xfrm>
          <a:prstGeom prst="roundRect">
            <a:avLst>
              <a:gd name="adj" fmla="val 1111"/>
            </a:avLst>
          </a:prstGeom>
          <a:solidFill>
            <a:srgbClr val="1F3A33"/>
          </a:solidFill>
          <a:ln w="6350">
            <a:solidFill>
              <a:srgbClr val="1F3A33"/>
            </a:solidFill>
            <a:prstDash val="solid"/>
          </a:ln>
        </p:spPr>
      </p:sp>
      <p:sp>
        <p:nvSpPr>
          <p:cNvPr id="30" name="Text 28"/>
          <p:cNvSpPr txBox="1"/>
          <p:nvPr/>
        </p:nvSpPr>
        <p:spPr>
          <a:xfrm>
            <a:off x="8375904" y="1517904"/>
            <a:ext cx="365760" cy="310896"/>
          </a:xfrm>
          <a:prstGeom prst="rect">
            <a:avLst/>
          </a:prstGeom>
          <a:noFill/>
          <a:ln/>
        </p:spPr>
        <p:txBody>
          <a:bodyPr wrap="square" lIns="0" tIns="0" rIns="0" bIns="0" rtlCol="0" anchor="ctr"/>
          <a:lstStyle/>
          <a:p>
            <a:pPr indent="0" marL="0">
              <a:buNone/>
            </a:pPr>
            <a:r>
              <a:rPr lang="en-US" sz="1500" dirty="0">
                <a:solidFill>
                  <a:srgbClr val="8FB8A6"/>
                </a:solidFill>
              </a:rPr>
              <a:t>①</a:t>
            </a:r>
            <a:endParaRPr lang="en-US" sz="1500" dirty="0"/>
          </a:p>
        </p:txBody>
      </p:sp>
      <p:sp>
        <p:nvSpPr>
          <p:cNvPr id="31" name="Text 29"/>
          <p:cNvSpPr txBox="1"/>
          <p:nvPr/>
        </p:nvSpPr>
        <p:spPr>
          <a:xfrm>
            <a:off x="8375904" y="1901952"/>
            <a:ext cx="3017520" cy="2468880"/>
          </a:xfrm>
          <a:prstGeom prst="rect">
            <a:avLst/>
          </a:prstGeom>
          <a:noFill/>
          <a:ln/>
        </p:spPr>
        <p:txBody>
          <a:bodyPr wrap="square" lIns="0" tIns="0" rIns="0" bIns="0" rtlCol="0" anchor="ctr"/>
          <a:lstStyle/>
          <a:p>
            <a:pPr indent="0" marL="0">
              <a:lnSpc>
                <a:spcPts val="2000"/>
              </a:lnSpc>
              <a:buNone/>
            </a:pPr>
            <a:r>
              <a:rPr lang="en-US" sz="1300" dirty="0">
                <a:solidFill>
                  <a:srgbClr val="FFFFFF"/>
                </a:solidFill>
              </a:rPr>
              <a:t>One claim, stated now so you can test it against everything that follows: on these ten instances the construction dominates, the three search components do not, and half the comparison table is a tie.</a:t>
            </a:r>
            <a:endParaRPr lang="en-US" sz="1300" dirty="0"/>
          </a:p>
        </p:txBody>
      </p:sp>
      <p:sp>
        <p:nvSpPr>
          <p:cNvPr id="25" name="Slide Number Placeholder 0"/>
          <p:cNvSpPr>
            <a:spLocks noGrp="1"/>
          </p:cNvSpPr>
          <p:nvPr>
            <p:ph type="sldNum" sz="quarter" idx="4294967295"/>
          </p:nvPr>
        </p:nvSpPr>
        <p:spPr>
          <a:xfrm>
            <a:off x="11167567" y="6437376"/>
            <a:ext cx="45720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6B7A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420624"/>
            <a:ext cx="11057839" cy="658368"/>
          </a:xfrm>
          <a:prstGeom prst="rect">
            <a:avLst/>
          </a:prstGeom>
          <a:noFill/>
          <a:ln/>
        </p:spPr>
        <p:txBody>
          <a:bodyPr wrap="square" lIns="0" tIns="0" rIns="0" bIns="0" rtlCol="0" anchor="ctr"/>
          <a:lstStyle/>
          <a:p>
            <a:pPr indent="0" marL="0">
              <a:buNone/>
            </a:pPr>
            <a:r>
              <a:rPr lang="en-US" sz="2600" b="1" dirty="0">
                <a:solidFill>
                  <a:srgbClr val="11211C"/>
                </a:solidFill>
                <a:latin typeface="Cambria" pitchFamily="34" charset="0"/>
                <a:ea typeface="Cambria" pitchFamily="34" charset="-122"/>
                <a:cs typeface="Cambria" pitchFamily="34" charset="-120"/>
              </a:rPr>
              <a:t>ESA wanted a blueprint for assembling a megastructure</a:t>
            </a:r>
            <a:endParaRPr lang="en-US" sz="2600" dirty="0"/>
          </a:p>
        </p:txBody>
      </p:sp>
      <p:sp>
        <p:nvSpPr>
          <p:cNvPr id="3" name="Text 1"/>
          <p:cNvSpPr txBox="1"/>
          <p:nvPr/>
        </p:nvSpPr>
        <p:spPr>
          <a:xfrm>
            <a:off x="566928" y="1298448"/>
            <a:ext cx="6492240" cy="1554480"/>
          </a:xfrm>
          <a:prstGeom prst="rect">
            <a:avLst/>
          </a:prstGeom>
          <a:noFill/>
          <a:ln/>
        </p:spPr>
        <p:txBody>
          <a:bodyPr wrap="square" lIns="0" tIns="0" rIns="0" bIns="0" rtlCol="0" anchor="ctr"/>
          <a:lstStyle/>
          <a:p>
            <a:pPr indent="0" marL="0">
              <a:lnSpc>
                <a:spcPts val="2100"/>
              </a:lnSpc>
              <a:buNone/>
            </a:pPr>
            <a:r>
              <a:rPr lang="en-US" sz="1400" dirty="0">
                <a:solidFill>
                  <a:srgbClr val="11211C"/>
                </a:solidFill>
              </a:rPr>
              <a:t>The Advanced Concepts Team posed it as graph theory. You are given an undirected connected graph: vertices are building blocks, edges are pairwise interactions. Find an ordering that says what can be assembled concurrently, and that encodes a recursive blueprint for the rest.</a:t>
            </a:r>
            <a:endParaRPr lang="en-US" sz="1400" dirty="0"/>
          </a:p>
        </p:txBody>
      </p:sp>
      <p:sp>
        <p:nvSpPr>
          <p:cNvPr id="4" name="Shape 2"/>
          <p:cNvSpPr/>
          <p:nvPr/>
        </p:nvSpPr>
        <p:spPr>
          <a:xfrm>
            <a:off x="566928" y="2980944"/>
            <a:ext cx="6492240" cy="1481328"/>
          </a:xfrm>
          <a:prstGeom prst="roundRect">
            <a:avLst>
              <a:gd name="adj" fmla="val 2469"/>
            </a:avLst>
          </a:prstGeom>
          <a:solidFill>
            <a:srgbClr val="EFF3F1"/>
          </a:solidFill>
          <a:ln w="6350">
            <a:solidFill>
              <a:srgbClr val="EFF3F1"/>
            </a:solidFill>
            <a:prstDash val="solid"/>
          </a:ln>
        </p:spPr>
      </p:sp>
      <p:sp>
        <p:nvSpPr>
          <p:cNvPr id="5" name="Text 3"/>
          <p:cNvSpPr txBox="1"/>
          <p:nvPr/>
        </p:nvSpPr>
        <p:spPr>
          <a:xfrm>
            <a:off x="804672" y="3127248"/>
            <a:ext cx="6035040" cy="237744"/>
          </a:xfrm>
          <a:prstGeom prst="rect">
            <a:avLst/>
          </a:prstGeom>
          <a:noFill/>
          <a:ln/>
        </p:spPr>
        <p:txBody>
          <a:bodyPr wrap="square" lIns="0" tIns="0" rIns="0" bIns="0" rtlCol="0" anchor="ctr"/>
          <a:lstStyle/>
          <a:p>
            <a:pPr indent="0" marL="0">
              <a:buNone/>
            </a:pPr>
            <a:r>
              <a:rPr lang="en-US" sz="1100" b="1" spc="100" kern="0" dirty="0">
                <a:solidFill>
                  <a:srgbClr val="2A5247"/>
                </a:solidFill>
              </a:rPr>
              <a:t>Why a computer scientist should care</a:t>
            </a:r>
            <a:endParaRPr lang="en-US" sz="1100" dirty="0"/>
          </a:p>
        </p:txBody>
      </p:sp>
      <p:sp>
        <p:nvSpPr>
          <p:cNvPr id="6" name="Text 4"/>
          <p:cNvSpPr txBox="1"/>
          <p:nvPr/>
        </p:nvSpPr>
        <p:spPr>
          <a:xfrm>
            <a:off x="804672" y="3419856"/>
            <a:ext cx="6035040" cy="914400"/>
          </a:xfrm>
          <a:prstGeom prst="rect">
            <a:avLst/>
          </a:prstGeom>
          <a:noFill/>
          <a:ln/>
        </p:spPr>
        <p:txBody>
          <a:bodyPr wrap="square" lIns="0" tIns="0" rIns="0" bIns="0" rtlCol="0" anchor="ctr"/>
          <a:lstStyle/>
          <a:p>
            <a:pPr indent="0" marL="0">
              <a:lnSpc>
                <a:spcPts val="1800"/>
              </a:lnSpc>
              <a:buNone/>
            </a:pPr>
            <a:r>
              <a:rPr lang="en-US" sz="1250" dirty="0">
                <a:solidFill>
                  <a:srgbClr val="11211C"/>
                </a:solidFill>
              </a:rPr>
              <a:t>Strip the cover story and this is elimination ordering with fill-in: the object underneath treewidth, sparse Cholesky, and variable elimination in probabilistic inference.</a:t>
            </a:r>
            <a:endParaRPr lang="en-US" sz="1250" dirty="0"/>
          </a:p>
        </p:txBody>
      </p:sp>
      <p:sp>
        <p:nvSpPr>
          <p:cNvPr id="7" name="Shape 5"/>
          <p:cNvSpPr/>
          <p:nvPr/>
        </p:nvSpPr>
        <p:spPr>
          <a:xfrm>
            <a:off x="7452360" y="1298448"/>
            <a:ext cx="4169664" cy="3163824"/>
          </a:xfrm>
          <a:prstGeom prst="roundRect">
            <a:avLst>
              <a:gd name="adj" fmla="val 1156"/>
            </a:avLst>
          </a:prstGeom>
          <a:solidFill>
            <a:srgbClr val="1F3A33"/>
          </a:solidFill>
          <a:ln w="6350">
            <a:solidFill>
              <a:srgbClr val="1F3A33"/>
            </a:solidFill>
            <a:prstDash val="solid"/>
          </a:ln>
        </p:spPr>
      </p:sp>
      <p:sp>
        <p:nvSpPr>
          <p:cNvPr id="8" name="Text 6"/>
          <p:cNvSpPr txBox="1"/>
          <p:nvPr/>
        </p:nvSpPr>
        <p:spPr>
          <a:xfrm>
            <a:off x="7699248" y="1499616"/>
            <a:ext cx="3657600" cy="274320"/>
          </a:xfrm>
          <a:prstGeom prst="rect">
            <a:avLst/>
          </a:prstGeom>
          <a:noFill/>
          <a:ln/>
        </p:spPr>
        <p:txBody>
          <a:bodyPr wrap="square" lIns="0" tIns="0" rIns="0" bIns="0" rtlCol="0" anchor="ctr"/>
          <a:lstStyle/>
          <a:p>
            <a:pPr indent="0" marL="0">
              <a:buNone/>
            </a:pPr>
            <a:r>
              <a:rPr lang="en-US" sz="1100" b="1" spc="100" kern="0" dirty="0">
                <a:solidFill>
                  <a:srgbClr val="8FB8A6"/>
                </a:solidFill>
              </a:rPr>
              <a:t>What you submit</a:t>
            </a:r>
            <a:endParaRPr lang="en-US" sz="1100" dirty="0"/>
          </a:p>
        </p:txBody>
      </p:sp>
      <p:sp>
        <p:nvSpPr>
          <p:cNvPr id="9" name="Text 7"/>
          <p:cNvSpPr txBox="1"/>
          <p:nvPr/>
        </p:nvSpPr>
        <p:spPr>
          <a:xfrm>
            <a:off x="7699248" y="1901952"/>
            <a:ext cx="274320" cy="274320"/>
          </a:xfrm>
          <a:prstGeom prst="rect">
            <a:avLst/>
          </a:prstGeom>
          <a:noFill/>
          <a:ln/>
        </p:spPr>
        <p:txBody>
          <a:bodyPr wrap="square" lIns="0" tIns="0" rIns="0" bIns="0" rtlCol="0" anchor="ctr"/>
          <a:lstStyle/>
          <a:p>
            <a:pPr indent="0" marL="0">
              <a:buNone/>
            </a:pPr>
            <a:r>
              <a:rPr lang="en-US" sz="1500" dirty="0">
                <a:solidFill>
                  <a:srgbClr val="3E8E72"/>
                </a:solidFill>
              </a:rPr>
              <a:t>·</a:t>
            </a:r>
            <a:endParaRPr lang="en-US" sz="1500" dirty="0"/>
          </a:p>
        </p:txBody>
      </p:sp>
      <p:sp>
        <p:nvSpPr>
          <p:cNvPr id="10" name="Text 8"/>
          <p:cNvSpPr txBox="1"/>
          <p:nvPr/>
        </p:nvSpPr>
        <p:spPr>
          <a:xfrm>
            <a:off x="7991856" y="1856232"/>
            <a:ext cx="3438144" cy="566928"/>
          </a:xfrm>
          <a:prstGeom prst="rect">
            <a:avLst/>
          </a:prstGeom>
          <a:noFill/>
          <a:ln/>
        </p:spPr>
        <p:txBody>
          <a:bodyPr wrap="square" lIns="0" tIns="0" rIns="0" bIns="0" rtlCol="0" anchor="ctr"/>
          <a:lstStyle/>
          <a:p>
            <a:pPr indent="0" marL="0">
              <a:lnSpc>
                <a:spcPts val="1800"/>
              </a:lnSpc>
              <a:buNone/>
            </a:pPr>
            <a:r>
              <a:rPr lang="en-US" sz="1250" dirty="0">
                <a:solidFill>
                  <a:srgbClr val="FFFFFF"/>
                </a:solidFill>
              </a:rPr>
              <a:t>A permutation of all n vertices, p₁ … pₙ</a:t>
            </a:r>
            <a:endParaRPr lang="en-US" sz="1250" dirty="0"/>
          </a:p>
        </p:txBody>
      </p:sp>
      <p:sp>
        <p:nvSpPr>
          <p:cNvPr id="11" name="Text 9"/>
          <p:cNvSpPr txBox="1"/>
          <p:nvPr/>
        </p:nvSpPr>
        <p:spPr>
          <a:xfrm>
            <a:off x="7699248" y="2542032"/>
            <a:ext cx="274320" cy="274320"/>
          </a:xfrm>
          <a:prstGeom prst="rect">
            <a:avLst/>
          </a:prstGeom>
          <a:noFill/>
          <a:ln/>
        </p:spPr>
        <p:txBody>
          <a:bodyPr wrap="square" lIns="0" tIns="0" rIns="0" bIns="0" rtlCol="0" anchor="ctr"/>
          <a:lstStyle/>
          <a:p>
            <a:pPr indent="0" marL="0">
              <a:buNone/>
            </a:pPr>
            <a:r>
              <a:rPr lang="en-US" sz="1500" dirty="0">
                <a:solidFill>
                  <a:srgbClr val="3E8E72"/>
                </a:solidFill>
              </a:rPr>
              <a:t>·</a:t>
            </a:r>
            <a:endParaRPr lang="en-US" sz="1500" dirty="0"/>
          </a:p>
        </p:txBody>
      </p:sp>
      <p:sp>
        <p:nvSpPr>
          <p:cNvPr id="12" name="Text 10"/>
          <p:cNvSpPr txBox="1"/>
          <p:nvPr/>
        </p:nvSpPr>
        <p:spPr>
          <a:xfrm>
            <a:off x="7991856" y="2496312"/>
            <a:ext cx="3438144" cy="566928"/>
          </a:xfrm>
          <a:prstGeom prst="rect">
            <a:avLst/>
          </a:prstGeom>
          <a:noFill/>
          <a:ln/>
        </p:spPr>
        <p:txBody>
          <a:bodyPr wrap="square" lIns="0" tIns="0" rIns="0" bIns="0" rtlCol="0" anchor="ctr"/>
          <a:lstStyle/>
          <a:p>
            <a:pPr indent="0" marL="0">
              <a:lnSpc>
                <a:spcPts val="1800"/>
              </a:lnSpc>
              <a:buNone/>
            </a:pPr>
            <a:r>
              <a:rPr lang="en-US" sz="1250" dirty="0">
                <a:solidFill>
                  <a:srgbClr val="FFFFFF"/>
                </a:solidFill>
              </a:rPr>
              <a:t>plus one threshold t ∈ {0 … n−1}</a:t>
            </a:r>
            <a:endParaRPr lang="en-US" sz="1250" dirty="0"/>
          </a:p>
        </p:txBody>
      </p:sp>
      <p:sp>
        <p:nvSpPr>
          <p:cNvPr id="13" name="Text 11"/>
          <p:cNvSpPr txBox="1"/>
          <p:nvPr/>
        </p:nvSpPr>
        <p:spPr>
          <a:xfrm>
            <a:off x="7699248" y="3182112"/>
            <a:ext cx="274320" cy="274320"/>
          </a:xfrm>
          <a:prstGeom prst="rect">
            <a:avLst/>
          </a:prstGeom>
          <a:noFill/>
          <a:ln/>
        </p:spPr>
        <p:txBody>
          <a:bodyPr wrap="square" lIns="0" tIns="0" rIns="0" bIns="0" rtlCol="0" anchor="ctr"/>
          <a:lstStyle/>
          <a:p>
            <a:pPr indent="0" marL="0">
              <a:buNone/>
            </a:pPr>
            <a:r>
              <a:rPr lang="en-US" sz="1500" dirty="0">
                <a:solidFill>
                  <a:srgbClr val="3E8E72"/>
                </a:solidFill>
              </a:rPr>
              <a:t>·</a:t>
            </a:r>
            <a:endParaRPr lang="en-US" sz="1500" dirty="0"/>
          </a:p>
        </p:txBody>
      </p:sp>
      <p:sp>
        <p:nvSpPr>
          <p:cNvPr id="14" name="Text 12"/>
          <p:cNvSpPr txBox="1"/>
          <p:nvPr/>
        </p:nvSpPr>
        <p:spPr>
          <a:xfrm>
            <a:off x="7991856" y="3136392"/>
            <a:ext cx="3438144" cy="566928"/>
          </a:xfrm>
          <a:prstGeom prst="rect">
            <a:avLst/>
          </a:prstGeom>
          <a:noFill/>
          <a:ln/>
        </p:spPr>
        <p:txBody>
          <a:bodyPr wrap="square" lIns="0" tIns="0" rIns="0" bIns="0" rtlCol="0" anchor="ctr"/>
          <a:lstStyle/>
          <a:p>
            <a:pPr indent="0" marL="0">
              <a:lnSpc>
                <a:spcPts val="1800"/>
              </a:lnSpc>
              <a:buNone/>
            </a:pPr>
            <a:r>
              <a:rPr lang="en-US" sz="1250" dirty="0">
                <a:solidFill>
                  <a:srgbClr val="FFFFFF"/>
                </a:solidFill>
              </a:rPr>
              <a:t>up to 20 such vectors per instance</a:t>
            </a:r>
            <a:endParaRPr lang="en-US" sz="1250" dirty="0"/>
          </a:p>
        </p:txBody>
      </p:sp>
      <p:sp>
        <p:nvSpPr>
          <p:cNvPr id="15" name="Text 13"/>
          <p:cNvSpPr txBox="1"/>
          <p:nvPr/>
        </p:nvSpPr>
        <p:spPr>
          <a:xfrm>
            <a:off x="7699248" y="3895344"/>
            <a:ext cx="3749040" cy="310896"/>
          </a:xfrm>
          <a:prstGeom prst="rect">
            <a:avLst/>
          </a:prstGeom>
          <a:noFill/>
          <a:ln/>
        </p:spPr>
        <p:txBody>
          <a:bodyPr wrap="square" lIns="0" tIns="0" rIns="0" bIns="0" rtlCol="0" anchor="ctr"/>
          <a:lstStyle/>
          <a:p>
            <a:pPr indent="0" marL="0">
              <a:buNone/>
            </a:pPr>
            <a:r>
              <a:rPr lang="en-US" sz="1350" dirty="0">
                <a:solidFill>
                  <a:srgbClr val="8FB8A6"/>
                </a:solidFill>
                <a:latin typeface="Courier New" pitchFamily="34" charset="0"/>
                <a:ea typeface="Courier New" pitchFamily="34" charset="-122"/>
                <a:cs typeface="Courier New" pitchFamily="34" charset="-120"/>
              </a:rPr>
              <a:t>x = [ p₁, p₂, …, pₙ, t ]</a:t>
            </a:r>
            <a:endParaRPr lang="en-US" sz="1350" dirty="0"/>
          </a:p>
        </p:txBody>
      </p:sp>
      <p:sp>
        <p:nvSpPr>
          <p:cNvPr id="16" name="Text 14"/>
          <p:cNvSpPr txBox="1"/>
          <p:nvPr/>
        </p:nvSpPr>
        <p:spPr>
          <a:xfrm>
            <a:off x="566928" y="4718304"/>
            <a:ext cx="6492240" cy="237744"/>
          </a:xfrm>
          <a:prstGeom prst="rect">
            <a:avLst/>
          </a:prstGeom>
          <a:noFill/>
          <a:ln/>
        </p:spPr>
        <p:txBody>
          <a:bodyPr wrap="square" lIns="0" tIns="0" rIns="0" bIns="0" rtlCol="0" anchor="ctr"/>
          <a:lstStyle/>
          <a:p>
            <a:pPr indent="0" marL="0">
              <a:buNone/>
            </a:pPr>
            <a:r>
              <a:rPr lang="en-US" sz="1000" i="1" dirty="0">
                <a:solidFill>
                  <a:srgbClr val="6B7A75"/>
                </a:solidFill>
              </a:rPr>
              <a:t>Source: optimise.esa.int, SpOC 3, GECCO 2024</a:t>
            </a:r>
            <a:endParaRPr lang="en-US" sz="1000" dirty="0"/>
          </a:p>
        </p:txBody>
      </p:sp>
      <p:sp>
        <p:nvSpPr>
          <p:cNvPr id="25" name="Slide Number Placeholder 0"/>
          <p:cNvSpPr>
            <a:spLocks noGrp="1"/>
          </p:cNvSpPr>
          <p:nvPr>
            <p:ph type="sldNum" sz="quarter" idx="4294967295"/>
          </p:nvPr>
        </p:nvSpPr>
        <p:spPr>
          <a:xfrm>
            <a:off x="11167567" y="6437376"/>
            <a:ext cx="45720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6B7A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420624"/>
            <a:ext cx="11057839" cy="658368"/>
          </a:xfrm>
          <a:prstGeom prst="rect">
            <a:avLst/>
          </a:prstGeom>
          <a:noFill/>
          <a:ln/>
        </p:spPr>
        <p:txBody>
          <a:bodyPr wrap="square" lIns="0" tIns="0" rIns="0" bIns="0" rtlCol="0" anchor="ctr"/>
          <a:lstStyle/>
          <a:p>
            <a:pPr indent="0" marL="0">
              <a:buNone/>
            </a:pPr>
            <a:r>
              <a:rPr lang="en-US" sz="2600" b="1" dirty="0">
                <a:solidFill>
                  <a:srgbClr val="11211C"/>
                </a:solidFill>
                <a:latin typeface="Cambria" pitchFamily="34" charset="0"/>
                <a:ea typeface="Cambria" pitchFamily="34" charset="-122"/>
                <a:cs typeface="Cambria" pitchFamily="34" charset="-120"/>
              </a:rPr>
              <a:t>The whole mechanic, on ESA's own ten-vertex example</a:t>
            </a:r>
            <a:endParaRPr lang="en-US" sz="2600" dirty="0"/>
          </a:p>
        </p:txBody>
      </p:sp>
      <p:sp>
        <p:nvSpPr>
          <p:cNvPr id="3" name="Shape 1"/>
          <p:cNvSpPr/>
          <p:nvPr/>
        </p:nvSpPr>
        <p:spPr>
          <a:xfrm flipV="1">
            <a:off x="978408" y="2057400"/>
            <a:ext cx="1005840" cy="731520"/>
          </a:xfrm>
          <a:prstGeom prst="line">
            <a:avLst/>
          </a:prstGeom>
          <a:noFill/>
          <a:ln w="16510">
            <a:solidFill>
              <a:srgbClr val="6B7A75"/>
            </a:solidFill>
            <a:prstDash val="solid"/>
          </a:ln>
        </p:spPr>
      </p:sp>
      <p:sp>
        <p:nvSpPr>
          <p:cNvPr id="4" name="Shape 2"/>
          <p:cNvSpPr/>
          <p:nvPr/>
        </p:nvSpPr>
        <p:spPr>
          <a:xfrm>
            <a:off x="978408" y="2788920"/>
            <a:ext cx="1005840" cy="731520"/>
          </a:xfrm>
          <a:prstGeom prst="line">
            <a:avLst/>
          </a:prstGeom>
          <a:noFill/>
          <a:ln w="16510">
            <a:solidFill>
              <a:srgbClr val="6B7A75"/>
            </a:solidFill>
            <a:prstDash val="solid"/>
          </a:ln>
        </p:spPr>
      </p:sp>
      <p:sp>
        <p:nvSpPr>
          <p:cNvPr id="5" name="Shape 3"/>
          <p:cNvSpPr/>
          <p:nvPr/>
        </p:nvSpPr>
        <p:spPr>
          <a:xfrm>
            <a:off x="1984248" y="2057400"/>
            <a:ext cx="1097280" cy="914"/>
          </a:xfrm>
          <a:prstGeom prst="line">
            <a:avLst/>
          </a:prstGeom>
          <a:noFill/>
          <a:ln w="16510">
            <a:solidFill>
              <a:srgbClr val="6B7A75"/>
            </a:solidFill>
            <a:prstDash val="solid"/>
          </a:ln>
        </p:spPr>
      </p:sp>
      <p:sp>
        <p:nvSpPr>
          <p:cNvPr id="6" name="Shape 4"/>
          <p:cNvSpPr/>
          <p:nvPr/>
        </p:nvSpPr>
        <p:spPr>
          <a:xfrm>
            <a:off x="1984248" y="3520440"/>
            <a:ext cx="1097280" cy="914"/>
          </a:xfrm>
          <a:prstGeom prst="line">
            <a:avLst/>
          </a:prstGeom>
          <a:noFill/>
          <a:ln w="16510">
            <a:solidFill>
              <a:srgbClr val="6B7A75"/>
            </a:solidFill>
            <a:prstDash val="solid"/>
          </a:ln>
        </p:spPr>
      </p:sp>
      <p:sp>
        <p:nvSpPr>
          <p:cNvPr id="7" name="Shape 5"/>
          <p:cNvSpPr/>
          <p:nvPr/>
        </p:nvSpPr>
        <p:spPr>
          <a:xfrm flipH="1" flipV="1">
            <a:off x="3081528" y="3520440"/>
            <a:ext cx="1097280" cy="301752"/>
          </a:xfrm>
          <a:prstGeom prst="line">
            <a:avLst/>
          </a:prstGeom>
          <a:noFill/>
          <a:ln w="16510">
            <a:solidFill>
              <a:srgbClr val="6B7A75"/>
            </a:solidFill>
            <a:prstDash val="solid"/>
          </a:ln>
        </p:spPr>
      </p:sp>
      <p:sp>
        <p:nvSpPr>
          <p:cNvPr id="8" name="Shape 6"/>
          <p:cNvSpPr/>
          <p:nvPr/>
        </p:nvSpPr>
        <p:spPr>
          <a:xfrm>
            <a:off x="4178808" y="3822192"/>
            <a:ext cx="1005840" cy="246888"/>
          </a:xfrm>
          <a:prstGeom prst="line">
            <a:avLst/>
          </a:prstGeom>
          <a:noFill/>
          <a:ln w="16510">
            <a:solidFill>
              <a:srgbClr val="6B7A75"/>
            </a:solidFill>
            <a:prstDash val="solid"/>
          </a:ln>
        </p:spPr>
      </p:sp>
      <p:sp>
        <p:nvSpPr>
          <p:cNvPr id="9" name="Shape 7"/>
          <p:cNvSpPr/>
          <p:nvPr/>
        </p:nvSpPr>
        <p:spPr>
          <a:xfrm flipV="1">
            <a:off x="4178808" y="1499616"/>
            <a:ext cx="1005840" cy="256032"/>
          </a:xfrm>
          <a:prstGeom prst="line">
            <a:avLst/>
          </a:prstGeom>
          <a:noFill/>
          <a:ln w="16510">
            <a:solidFill>
              <a:srgbClr val="6B7A75"/>
            </a:solidFill>
            <a:prstDash val="solid"/>
          </a:ln>
        </p:spPr>
      </p:sp>
      <p:sp>
        <p:nvSpPr>
          <p:cNvPr id="10" name="Shape 8"/>
          <p:cNvSpPr/>
          <p:nvPr/>
        </p:nvSpPr>
        <p:spPr>
          <a:xfrm flipH="1">
            <a:off x="3081528" y="1755648"/>
            <a:ext cx="1097280" cy="301752"/>
          </a:xfrm>
          <a:prstGeom prst="line">
            <a:avLst/>
          </a:prstGeom>
          <a:noFill/>
          <a:ln w="16510">
            <a:solidFill>
              <a:srgbClr val="6B7A75"/>
            </a:solidFill>
            <a:prstDash val="solid"/>
          </a:ln>
        </p:spPr>
      </p:sp>
      <p:sp>
        <p:nvSpPr>
          <p:cNvPr id="11" name="Shape 9"/>
          <p:cNvSpPr/>
          <p:nvPr/>
        </p:nvSpPr>
        <p:spPr>
          <a:xfrm>
            <a:off x="4178808" y="1755648"/>
            <a:ext cx="1005840" cy="640080"/>
          </a:xfrm>
          <a:prstGeom prst="line">
            <a:avLst/>
          </a:prstGeom>
          <a:noFill/>
          <a:ln w="16510">
            <a:solidFill>
              <a:srgbClr val="6B7A75"/>
            </a:solidFill>
            <a:prstDash val="solid"/>
          </a:ln>
        </p:spPr>
      </p:sp>
      <p:sp>
        <p:nvSpPr>
          <p:cNvPr id="12" name="Shape 10"/>
          <p:cNvSpPr/>
          <p:nvPr/>
        </p:nvSpPr>
        <p:spPr>
          <a:xfrm>
            <a:off x="1984248" y="2057400"/>
            <a:ext cx="914" cy="1463040"/>
          </a:xfrm>
          <a:prstGeom prst="line">
            <a:avLst/>
          </a:prstGeom>
          <a:noFill/>
          <a:ln w="25400">
            <a:solidFill>
              <a:srgbClr val="C0603C"/>
            </a:solidFill>
            <a:prstDash val="dash"/>
          </a:ln>
        </p:spPr>
      </p:sp>
      <p:sp>
        <p:nvSpPr>
          <p:cNvPr id="13" name="Shape 11"/>
          <p:cNvSpPr/>
          <p:nvPr/>
        </p:nvSpPr>
        <p:spPr>
          <a:xfrm>
            <a:off x="822960" y="2633472"/>
            <a:ext cx="310896" cy="310896"/>
          </a:xfrm>
          <a:prstGeom prst="ellipse">
            <a:avLst/>
          </a:prstGeom>
          <a:solidFill>
            <a:srgbClr val="C0603C"/>
          </a:solidFill>
          <a:ln w="15240">
            <a:solidFill>
              <a:srgbClr val="C0603C"/>
            </a:solidFill>
            <a:prstDash val="solid"/>
          </a:ln>
        </p:spPr>
      </p:sp>
      <p:sp>
        <p:nvSpPr>
          <p:cNvPr id="14" name="Text 12"/>
          <p:cNvSpPr txBox="1"/>
          <p:nvPr/>
        </p:nvSpPr>
        <p:spPr>
          <a:xfrm>
            <a:off x="822960" y="2633472"/>
            <a:ext cx="310896" cy="310896"/>
          </a:xfrm>
          <a:prstGeom prst="rect">
            <a:avLst/>
          </a:prstGeom>
          <a:noFill/>
          <a:ln/>
        </p:spPr>
        <p:txBody>
          <a:bodyPr wrap="square" lIns="0" tIns="0" rIns="0" bIns="0" rtlCol="0" anchor="ctr"/>
          <a:lstStyle/>
          <a:p>
            <a:pPr algn="ctr" indent="0" marL="0">
              <a:buNone/>
            </a:pPr>
            <a:r>
              <a:rPr lang="en-US" sz="1050" b="1" dirty="0">
                <a:solidFill>
                  <a:srgbClr val="FFFFFF"/>
                </a:solidFill>
              </a:rPr>
              <a:t>0</a:t>
            </a:r>
            <a:endParaRPr lang="en-US" sz="1050" dirty="0"/>
          </a:p>
        </p:txBody>
      </p:sp>
      <p:sp>
        <p:nvSpPr>
          <p:cNvPr id="15" name="Shape 13"/>
          <p:cNvSpPr/>
          <p:nvPr/>
        </p:nvSpPr>
        <p:spPr>
          <a:xfrm>
            <a:off x="1828800" y="1901952"/>
            <a:ext cx="310896" cy="310896"/>
          </a:xfrm>
          <a:prstGeom prst="ellipse">
            <a:avLst/>
          </a:prstGeom>
          <a:solidFill>
            <a:srgbClr val="FFFFFF"/>
          </a:solidFill>
          <a:ln w="15240">
            <a:solidFill>
              <a:srgbClr val="11211C"/>
            </a:solidFill>
            <a:prstDash val="solid"/>
          </a:ln>
        </p:spPr>
      </p:sp>
      <p:sp>
        <p:nvSpPr>
          <p:cNvPr id="16" name="Text 14"/>
          <p:cNvSpPr txBox="1"/>
          <p:nvPr/>
        </p:nvSpPr>
        <p:spPr>
          <a:xfrm>
            <a:off x="1828800" y="1901952"/>
            <a:ext cx="310896" cy="310896"/>
          </a:xfrm>
          <a:prstGeom prst="rect">
            <a:avLst/>
          </a:prstGeom>
          <a:noFill/>
          <a:ln/>
        </p:spPr>
        <p:txBody>
          <a:bodyPr wrap="square" lIns="0" tIns="0" rIns="0" bIns="0" rtlCol="0" anchor="ctr"/>
          <a:lstStyle/>
          <a:p>
            <a:pPr algn="ctr" indent="0" marL="0">
              <a:buNone/>
            </a:pPr>
            <a:r>
              <a:rPr lang="en-US" sz="1050" b="1" dirty="0">
                <a:solidFill>
                  <a:srgbClr val="11211C"/>
                </a:solidFill>
              </a:rPr>
              <a:t>1</a:t>
            </a:r>
            <a:endParaRPr lang="en-US" sz="1050" dirty="0"/>
          </a:p>
        </p:txBody>
      </p:sp>
      <p:sp>
        <p:nvSpPr>
          <p:cNvPr id="17" name="Shape 15"/>
          <p:cNvSpPr/>
          <p:nvPr/>
        </p:nvSpPr>
        <p:spPr>
          <a:xfrm>
            <a:off x="1828800" y="3364992"/>
            <a:ext cx="310896" cy="310896"/>
          </a:xfrm>
          <a:prstGeom prst="ellipse">
            <a:avLst/>
          </a:prstGeom>
          <a:solidFill>
            <a:srgbClr val="FFFFFF"/>
          </a:solidFill>
          <a:ln w="15240">
            <a:solidFill>
              <a:srgbClr val="11211C"/>
            </a:solidFill>
            <a:prstDash val="solid"/>
          </a:ln>
        </p:spPr>
      </p:sp>
      <p:sp>
        <p:nvSpPr>
          <p:cNvPr id="18" name="Text 16"/>
          <p:cNvSpPr txBox="1"/>
          <p:nvPr/>
        </p:nvSpPr>
        <p:spPr>
          <a:xfrm>
            <a:off x="1828800" y="3364992"/>
            <a:ext cx="310896" cy="310896"/>
          </a:xfrm>
          <a:prstGeom prst="rect">
            <a:avLst/>
          </a:prstGeom>
          <a:noFill/>
          <a:ln/>
        </p:spPr>
        <p:txBody>
          <a:bodyPr wrap="square" lIns="0" tIns="0" rIns="0" bIns="0" rtlCol="0" anchor="ctr"/>
          <a:lstStyle/>
          <a:p>
            <a:pPr algn="ctr" indent="0" marL="0">
              <a:buNone/>
            </a:pPr>
            <a:r>
              <a:rPr lang="en-US" sz="1050" b="1" dirty="0">
                <a:solidFill>
                  <a:srgbClr val="11211C"/>
                </a:solidFill>
              </a:rPr>
              <a:t>2</a:t>
            </a:r>
            <a:endParaRPr lang="en-US" sz="1050" dirty="0"/>
          </a:p>
        </p:txBody>
      </p:sp>
      <p:sp>
        <p:nvSpPr>
          <p:cNvPr id="19" name="Shape 17"/>
          <p:cNvSpPr/>
          <p:nvPr/>
        </p:nvSpPr>
        <p:spPr>
          <a:xfrm>
            <a:off x="4023360" y="3666744"/>
            <a:ext cx="310896" cy="310896"/>
          </a:xfrm>
          <a:prstGeom prst="ellipse">
            <a:avLst/>
          </a:prstGeom>
          <a:solidFill>
            <a:srgbClr val="FFFFFF"/>
          </a:solidFill>
          <a:ln w="15240">
            <a:solidFill>
              <a:srgbClr val="11211C"/>
            </a:solidFill>
            <a:prstDash val="solid"/>
          </a:ln>
        </p:spPr>
      </p:sp>
      <p:sp>
        <p:nvSpPr>
          <p:cNvPr id="20" name="Text 18"/>
          <p:cNvSpPr txBox="1"/>
          <p:nvPr/>
        </p:nvSpPr>
        <p:spPr>
          <a:xfrm>
            <a:off x="4023360" y="3666744"/>
            <a:ext cx="310896" cy="310896"/>
          </a:xfrm>
          <a:prstGeom prst="rect">
            <a:avLst/>
          </a:prstGeom>
          <a:noFill/>
          <a:ln/>
        </p:spPr>
        <p:txBody>
          <a:bodyPr wrap="square" lIns="0" tIns="0" rIns="0" bIns="0" rtlCol="0" anchor="ctr"/>
          <a:lstStyle/>
          <a:p>
            <a:pPr algn="ctr" indent="0" marL="0">
              <a:buNone/>
            </a:pPr>
            <a:r>
              <a:rPr lang="en-US" sz="1050" b="1" dirty="0">
                <a:solidFill>
                  <a:srgbClr val="11211C"/>
                </a:solidFill>
              </a:rPr>
              <a:t>3</a:t>
            </a:r>
            <a:endParaRPr lang="en-US" sz="1050" dirty="0"/>
          </a:p>
        </p:txBody>
      </p:sp>
      <p:sp>
        <p:nvSpPr>
          <p:cNvPr id="21" name="Shape 19"/>
          <p:cNvSpPr/>
          <p:nvPr/>
        </p:nvSpPr>
        <p:spPr>
          <a:xfrm>
            <a:off x="4023360" y="1600200"/>
            <a:ext cx="310896" cy="310896"/>
          </a:xfrm>
          <a:prstGeom prst="ellipse">
            <a:avLst/>
          </a:prstGeom>
          <a:solidFill>
            <a:srgbClr val="FFFFFF"/>
          </a:solidFill>
          <a:ln w="15240">
            <a:solidFill>
              <a:srgbClr val="11211C"/>
            </a:solidFill>
            <a:prstDash val="solid"/>
          </a:ln>
        </p:spPr>
      </p:sp>
      <p:sp>
        <p:nvSpPr>
          <p:cNvPr id="22" name="Text 20"/>
          <p:cNvSpPr txBox="1"/>
          <p:nvPr/>
        </p:nvSpPr>
        <p:spPr>
          <a:xfrm>
            <a:off x="4023360" y="1600200"/>
            <a:ext cx="310896" cy="310896"/>
          </a:xfrm>
          <a:prstGeom prst="rect">
            <a:avLst/>
          </a:prstGeom>
          <a:noFill/>
          <a:ln/>
        </p:spPr>
        <p:txBody>
          <a:bodyPr wrap="square" lIns="0" tIns="0" rIns="0" bIns="0" rtlCol="0" anchor="ctr"/>
          <a:lstStyle/>
          <a:p>
            <a:pPr algn="ctr" indent="0" marL="0">
              <a:buNone/>
            </a:pPr>
            <a:r>
              <a:rPr lang="en-US" sz="1050" b="1" dirty="0">
                <a:solidFill>
                  <a:srgbClr val="11211C"/>
                </a:solidFill>
              </a:rPr>
              <a:t>4</a:t>
            </a:r>
            <a:endParaRPr lang="en-US" sz="1050" dirty="0"/>
          </a:p>
        </p:txBody>
      </p:sp>
      <p:sp>
        <p:nvSpPr>
          <p:cNvPr id="23" name="Shape 21"/>
          <p:cNvSpPr/>
          <p:nvPr/>
        </p:nvSpPr>
        <p:spPr>
          <a:xfrm>
            <a:off x="5029200" y="1344168"/>
            <a:ext cx="310896" cy="310896"/>
          </a:xfrm>
          <a:prstGeom prst="ellipse">
            <a:avLst/>
          </a:prstGeom>
          <a:solidFill>
            <a:srgbClr val="FFFFFF"/>
          </a:solidFill>
          <a:ln w="15240">
            <a:solidFill>
              <a:srgbClr val="11211C"/>
            </a:solidFill>
            <a:prstDash val="solid"/>
          </a:ln>
        </p:spPr>
      </p:sp>
      <p:sp>
        <p:nvSpPr>
          <p:cNvPr id="24" name="Text 22"/>
          <p:cNvSpPr txBox="1"/>
          <p:nvPr/>
        </p:nvSpPr>
        <p:spPr>
          <a:xfrm>
            <a:off x="5029200" y="1344168"/>
            <a:ext cx="310896" cy="310896"/>
          </a:xfrm>
          <a:prstGeom prst="rect">
            <a:avLst/>
          </a:prstGeom>
          <a:noFill/>
          <a:ln/>
        </p:spPr>
        <p:txBody>
          <a:bodyPr wrap="square" lIns="0" tIns="0" rIns="0" bIns="0" rtlCol="0" anchor="ctr"/>
          <a:lstStyle/>
          <a:p>
            <a:pPr algn="ctr" indent="0" marL="0">
              <a:buNone/>
            </a:pPr>
            <a:r>
              <a:rPr lang="en-US" sz="1050" b="1" dirty="0">
                <a:solidFill>
                  <a:srgbClr val="11211C"/>
                </a:solidFill>
              </a:rPr>
              <a:t>5</a:t>
            </a:r>
            <a:endParaRPr lang="en-US" sz="1050" dirty="0"/>
          </a:p>
        </p:txBody>
      </p:sp>
      <p:sp>
        <p:nvSpPr>
          <p:cNvPr id="25" name="Shape 23"/>
          <p:cNvSpPr/>
          <p:nvPr/>
        </p:nvSpPr>
        <p:spPr>
          <a:xfrm>
            <a:off x="2926080" y="1901952"/>
            <a:ext cx="310896" cy="310896"/>
          </a:xfrm>
          <a:prstGeom prst="ellipse">
            <a:avLst/>
          </a:prstGeom>
          <a:solidFill>
            <a:srgbClr val="FFFFFF"/>
          </a:solidFill>
          <a:ln w="15240">
            <a:solidFill>
              <a:srgbClr val="11211C"/>
            </a:solidFill>
            <a:prstDash val="solid"/>
          </a:ln>
        </p:spPr>
      </p:sp>
      <p:sp>
        <p:nvSpPr>
          <p:cNvPr id="26" name="Text 24"/>
          <p:cNvSpPr txBox="1"/>
          <p:nvPr/>
        </p:nvSpPr>
        <p:spPr>
          <a:xfrm>
            <a:off x="2926080" y="1901952"/>
            <a:ext cx="310896" cy="310896"/>
          </a:xfrm>
          <a:prstGeom prst="rect">
            <a:avLst/>
          </a:prstGeom>
          <a:noFill/>
          <a:ln/>
        </p:spPr>
        <p:txBody>
          <a:bodyPr wrap="square" lIns="0" tIns="0" rIns="0" bIns="0" rtlCol="0" anchor="ctr"/>
          <a:lstStyle/>
          <a:p>
            <a:pPr algn="ctr" indent="0" marL="0">
              <a:buNone/>
            </a:pPr>
            <a:r>
              <a:rPr lang="en-US" sz="1050" b="1" dirty="0">
                <a:solidFill>
                  <a:srgbClr val="11211C"/>
                </a:solidFill>
              </a:rPr>
              <a:t>6</a:t>
            </a:r>
            <a:endParaRPr lang="en-US" sz="1050" dirty="0"/>
          </a:p>
        </p:txBody>
      </p:sp>
      <p:sp>
        <p:nvSpPr>
          <p:cNvPr id="27" name="Shape 25"/>
          <p:cNvSpPr/>
          <p:nvPr/>
        </p:nvSpPr>
        <p:spPr>
          <a:xfrm>
            <a:off x="5029200" y="2240280"/>
            <a:ext cx="310896" cy="310896"/>
          </a:xfrm>
          <a:prstGeom prst="ellipse">
            <a:avLst/>
          </a:prstGeom>
          <a:solidFill>
            <a:srgbClr val="FFFFFF"/>
          </a:solidFill>
          <a:ln w="15240">
            <a:solidFill>
              <a:srgbClr val="11211C"/>
            </a:solidFill>
            <a:prstDash val="solid"/>
          </a:ln>
        </p:spPr>
      </p:sp>
      <p:sp>
        <p:nvSpPr>
          <p:cNvPr id="28" name="Text 26"/>
          <p:cNvSpPr txBox="1"/>
          <p:nvPr/>
        </p:nvSpPr>
        <p:spPr>
          <a:xfrm>
            <a:off x="5029200" y="2240280"/>
            <a:ext cx="310896" cy="310896"/>
          </a:xfrm>
          <a:prstGeom prst="rect">
            <a:avLst/>
          </a:prstGeom>
          <a:noFill/>
          <a:ln/>
        </p:spPr>
        <p:txBody>
          <a:bodyPr wrap="square" lIns="0" tIns="0" rIns="0" bIns="0" rtlCol="0" anchor="ctr"/>
          <a:lstStyle/>
          <a:p>
            <a:pPr algn="ctr" indent="0" marL="0">
              <a:buNone/>
            </a:pPr>
            <a:r>
              <a:rPr lang="en-US" sz="1050" b="1" dirty="0">
                <a:solidFill>
                  <a:srgbClr val="11211C"/>
                </a:solidFill>
              </a:rPr>
              <a:t>7</a:t>
            </a:r>
            <a:endParaRPr lang="en-US" sz="1050" dirty="0"/>
          </a:p>
        </p:txBody>
      </p:sp>
      <p:sp>
        <p:nvSpPr>
          <p:cNvPr id="29" name="Shape 27"/>
          <p:cNvSpPr/>
          <p:nvPr/>
        </p:nvSpPr>
        <p:spPr>
          <a:xfrm>
            <a:off x="2926080" y="3364992"/>
            <a:ext cx="310896" cy="310896"/>
          </a:xfrm>
          <a:prstGeom prst="ellipse">
            <a:avLst/>
          </a:prstGeom>
          <a:solidFill>
            <a:srgbClr val="FFFFFF"/>
          </a:solidFill>
          <a:ln w="15240">
            <a:solidFill>
              <a:srgbClr val="11211C"/>
            </a:solidFill>
            <a:prstDash val="solid"/>
          </a:ln>
        </p:spPr>
      </p:sp>
      <p:sp>
        <p:nvSpPr>
          <p:cNvPr id="30" name="Text 28"/>
          <p:cNvSpPr txBox="1"/>
          <p:nvPr/>
        </p:nvSpPr>
        <p:spPr>
          <a:xfrm>
            <a:off x="2926080" y="3364992"/>
            <a:ext cx="310896" cy="310896"/>
          </a:xfrm>
          <a:prstGeom prst="rect">
            <a:avLst/>
          </a:prstGeom>
          <a:noFill/>
          <a:ln/>
        </p:spPr>
        <p:txBody>
          <a:bodyPr wrap="square" lIns="0" tIns="0" rIns="0" bIns="0" rtlCol="0" anchor="ctr"/>
          <a:lstStyle/>
          <a:p>
            <a:pPr algn="ctr" indent="0" marL="0">
              <a:buNone/>
            </a:pPr>
            <a:r>
              <a:rPr lang="en-US" sz="1050" b="1" dirty="0">
                <a:solidFill>
                  <a:srgbClr val="11211C"/>
                </a:solidFill>
              </a:rPr>
              <a:t>8</a:t>
            </a:r>
            <a:endParaRPr lang="en-US" sz="1050" dirty="0"/>
          </a:p>
        </p:txBody>
      </p:sp>
      <p:sp>
        <p:nvSpPr>
          <p:cNvPr id="31" name="Shape 29"/>
          <p:cNvSpPr/>
          <p:nvPr/>
        </p:nvSpPr>
        <p:spPr>
          <a:xfrm>
            <a:off x="5029200" y="3913632"/>
            <a:ext cx="310896" cy="310896"/>
          </a:xfrm>
          <a:prstGeom prst="ellipse">
            <a:avLst/>
          </a:prstGeom>
          <a:solidFill>
            <a:srgbClr val="FFFFFF"/>
          </a:solidFill>
          <a:ln w="15240">
            <a:solidFill>
              <a:srgbClr val="11211C"/>
            </a:solidFill>
            <a:prstDash val="solid"/>
          </a:ln>
        </p:spPr>
      </p:sp>
      <p:sp>
        <p:nvSpPr>
          <p:cNvPr id="32" name="Text 30"/>
          <p:cNvSpPr txBox="1"/>
          <p:nvPr/>
        </p:nvSpPr>
        <p:spPr>
          <a:xfrm>
            <a:off x="5029200" y="3913632"/>
            <a:ext cx="310896" cy="310896"/>
          </a:xfrm>
          <a:prstGeom prst="rect">
            <a:avLst/>
          </a:prstGeom>
          <a:noFill/>
          <a:ln/>
        </p:spPr>
        <p:txBody>
          <a:bodyPr wrap="square" lIns="0" tIns="0" rIns="0" bIns="0" rtlCol="0" anchor="ctr"/>
          <a:lstStyle/>
          <a:p>
            <a:pPr algn="ctr" indent="0" marL="0">
              <a:buNone/>
            </a:pPr>
            <a:r>
              <a:rPr lang="en-US" sz="1050" b="1" dirty="0">
                <a:solidFill>
                  <a:srgbClr val="11211C"/>
                </a:solidFill>
              </a:rPr>
              <a:t>9</a:t>
            </a:r>
            <a:endParaRPr lang="en-US" sz="1050" dirty="0"/>
          </a:p>
        </p:txBody>
      </p:sp>
      <p:sp>
        <p:nvSpPr>
          <p:cNvPr id="33" name="Text 31"/>
          <p:cNvSpPr txBox="1"/>
          <p:nvPr/>
        </p:nvSpPr>
        <p:spPr>
          <a:xfrm>
            <a:off x="566928" y="4553712"/>
            <a:ext cx="5394960" cy="237744"/>
          </a:xfrm>
          <a:prstGeom prst="rect">
            <a:avLst/>
          </a:prstGeom>
          <a:noFill/>
          <a:ln/>
        </p:spPr>
        <p:txBody>
          <a:bodyPr wrap="square" lIns="0" tIns="0" rIns="0" bIns="0" rtlCol="0" anchor="ctr"/>
          <a:lstStyle/>
          <a:p>
            <a:pPr indent="0" marL="0">
              <a:buNone/>
            </a:pPr>
            <a:r>
              <a:rPr lang="en-US" sz="1150" b="1" dirty="0">
                <a:solidFill>
                  <a:srgbClr val="C0603C"/>
                </a:solidFill>
              </a:rPr>
              <a:t>2 · Eliminating a vertex joins its out-neighbours</a:t>
            </a:r>
            <a:endParaRPr lang="en-US" sz="1150" dirty="0"/>
          </a:p>
        </p:txBody>
      </p:sp>
      <p:sp>
        <p:nvSpPr>
          <p:cNvPr id="34" name="Text 32"/>
          <p:cNvSpPr txBox="1"/>
          <p:nvPr/>
        </p:nvSpPr>
        <p:spPr>
          <a:xfrm>
            <a:off x="566928" y="4828032"/>
            <a:ext cx="5394960" cy="768096"/>
          </a:xfrm>
          <a:prstGeom prst="rect">
            <a:avLst/>
          </a:prstGeom>
          <a:noFill/>
          <a:ln/>
        </p:spPr>
        <p:txBody>
          <a:bodyPr wrap="square" lIns="0" tIns="0" rIns="0" bIns="0" rtlCol="0" anchor="ctr"/>
          <a:lstStyle/>
          <a:p>
            <a:pPr indent="0" marL="0">
              <a:lnSpc>
                <a:spcPts val="1700"/>
              </a:lnSpc>
              <a:buNone/>
            </a:pPr>
            <a:r>
              <a:rPr lang="en-US" sz="1150" dirty="0">
                <a:solidFill>
                  <a:srgbClr val="11211C"/>
                </a:solidFill>
              </a:rPr>
              <a:t>Scan left to right. Vertex 0 points to 1 and 2, which are not adjacent, so the edge {1,2} is inserted. Nine such fill edges appear in this example.</a:t>
            </a:r>
            <a:endParaRPr lang="en-US" sz="1150" dirty="0"/>
          </a:p>
        </p:txBody>
      </p:sp>
      <p:sp>
        <p:nvSpPr>
          <p:cNvPr id="35" name="Text 33"/>
          <p:cNvSpPr txBox="1"/>
          <p:nvPr/>
        </p:nvSpPr>
        <p:spPr>
          <a:xfrm>
            <a:off x="6355080" y="1371600"/>
            <a:ext cx="5285232" cy="237744"/>
          </a:xfrm>
          <a:prstGeom prst="rect">
            <a:avLst/>
          </a:prstGeom>
          <a:noFill/>
          <a:ln/>
        </p:spPr>
        <p:txBody>
          <a:bodyPr wrap="square" lIns="0" tIns="0" rIns="0" bIns="0" rtlCol="0" anchor="ctr"/>
          <a:lstStyle/>
          <a:p>
            <a:pPr indent="0" marL="0">
              <a:buNone/>
            </a:pPr>
            <a:r>
              <a:rPr lang="en-US" sz="1150" b="1" dirty="0">
                <a:solidFill>
                  <a:srgbClr val="2A5247"/>
                </a:solidFill>
              </a:rPr>
              <a:t>1 · The ordering orients every edge</a:t>
            </a:r>
            <a:endParaRPr lang="en-US" sz="1150" dirty="0"/>
          </a:p>
        </p:txBody>
      </p:sp>
      <p:sp>
        <p:nvSpPr>
          <p:cNvPr id="36" name="Text 34"/>
          <p:cNvSpPr txBox="1"/>
          <p:nvPr/>
        </p:nvSpPr>
        <p:spPr>
          <a:xfrm>
            <a:off x="6355080" y="1645920"/>
            <a:ext cx="5285232" cy="274320"/>
          </a:xfrm>
          <a:prstGeom prst="rect">
            <a:avLst/>
          </a:prstGeom>
          <a:noFill/>
          <a:ln/>
        </p:spPr>
        <p:txBody>
          <a:bodyPr wrap="square" lIns="0" tIns="0" rIns="0" bIns="0" rtlCol="0" anchor="ctr"/>
          <a:lstStyle/>
          <a:p>
            <a:pPr indent="0" marL="0">
              <a:buNone/>
            </a:pPr>
            <a:r>
              <a:rPr lang="en-US" sz="1150" dirty="0">
                <a:solidFill>
                  <a:srgbClr val="11211C"/>
                </a:solidFill>
              </a:rPr>
              <a:t>{u,v} points u → v when u comes first in the permutation.</a:t>
            </a:r>
            <a:endParaRPr lang="en-US" sz="1150" dirty="0"/>
          </a:p>
        </p:txBody>
      </p:sp>
      <p:sp>
        <p:nvSpPr>
          <p:cNvPr id="37" name="Text 35"/>
          <p:cNvSpPr txBox="1"/>
          <p:nvPr/>
        </p:nvSpPr>
        <p:spPr>
          <a:xfrm>
            <a:off x="6355080" y="2103120"/>
            <a:ext cx="5285232" cy="219456"/>
          </a:xfrm>
          <a:prstGeom prst="rect">
            <a:avLst/>
          </a:prstGeom>
          <a:noFill/>
          <a:ln/>
        </p:spPr>
        <p:txBody>
          <a:bodyPr wrap="square" lIns="0" tIns="0" rIns="0" bIns="0" rtlCol="0" anchor="ctr"/>
          <a:lstStyle/>
          <a:p>
            <a:pPr indent="0" marL="0">
              <a:buNone/>
            </a:pPr>
            <a:r>
              <a:rPr lang="en-US" sz="1000" dirty="0">
                <a:solidFill>
                  <a:srgbClr val="6B7A75"/>
                </a:solidFill>
              </a:rPr>
              <a:t>permutation →</a:t>
            </a:r>
            <a:endParaRPr lang="en-US" sz="1000" dirty="0"/>
          </a:p>
        </p:txBody>
      </p:sp>
      <p:sp>
        <p:nvSpPr>
          <p:cNvPr id="38" name="Shape 36"/>
          <p:cNvSpPr/>
          <p:nvPr/>
        </p:nvSpPr>
        <p:spPr>
          <a:xfrm>
            <a:off x="9526219" y="2359152"/>
            <a:ext cx="2114093" cy="512064"/>
          </a:xfrm>
          <a:prstGeom prst="rect">
            <a:avLst/>
          </a:prstGeom>
          <a:solidFill>
            <a:srgbClr val="EFF3F1"/>
          </a:solidFill>
          <a:ln w="16510">
            <a:solidFill>
              <a:srgbClr val="3E8E72"/>
            </a:solidFill>
            <a:prstDash val="solid"/>
          </a:ln>
        </p:spPr>
      </p:sp>
      <p:sp>
        <p:nvSpPr>
          <p:cNvPr id="39" name="Text 37"/>
          <p:cNvSpPr txBox="1"/>
          <p:nvPr/>
        </p:nvSpPr>
        <p:spPr>
          <a:xfrm>
            <a:off x="6355080" y="2359152"/>
            <a:ext cx="528523" cy="512064"/>
          </a:xfrm>
          <a:prstGeom prst="rect">
            <a:avLst/>
          </a:prstGeom>
          <a:noFill/>
          <a:ln/>
        </p:spPr>
        <p:txBody>
          <a:bodyPr wrap="square" lIns="0" tIns="0" rIns="0" bIns="0" rtlCol="0" anchor="ctr"/>
          <a:lstStyle/>
          <a:p>
            <a:pPr algn="ctr" indent="0" marL="0">
              <a:buNone/>
            </a:pPr>
            <a:r>
              <a:rPr lang="en-US" sz="1300" dirty="0">
                <a:solidFill>
                  <a:srgbClr val="11211C"/>
                </a:solidFill>
              </a:rPr>
              <a:t>0</a:t>
            </a:r>
            <a:endParaRPr lang="en-US" sz="1300" dirty="0"/>
          </a:p>
        </p:txBody>
      </p:sp>
      <p:sp>
        <p:nvSpPr>
          <p:cNvPr id="40" name="Text 38"/>
          <p:cNvSpPr txBox="1"/>
          <p:nvPr/>
        </p:nvSpPr>
        <p:spPr>
          <a:xfrm>
            <a:off x="6883603" y="2359152"/>
            <a:ext cx="528523" cy="512064"/>
          </a:xfrm>
          <a:prstGeom prst="rect">
            <a:avLst/>
          </a:prstGeom>
          <a:noFill/>
          <a:ln/>
        </p:spPr>
        <p:txBody>
          <a:bodyPr wrap="square" lIns="0" tIns="0" rIns="0" bIns="0" rtlCol="0" anchor="ctr"/>
          <a:lstStyle/>
          <a:p>
            <a:pPr algn="ctr" indent="0" marL="0">
              <a:buNone/>
            </a:pPr>
            <a:r>
              <a:rPr lang="en-US" sz="1300" dirty="0">
                <a:solidFill>
                  <a:srgbClr val="11211C"/>
                </a:solidFill>
              </a:rPr>
              <a:t>1</a:t>
            </a:r>
            <a:endParaRPr lang="en-US" sz="1300" dirty="0"/>
          </a:p>
        </p:txBody>
      </p:sp>
      <p:sp>
        <p:nvSpPr>
          <p:cNvPr id="41" name="Text 39"/>
          <p:cNvSpPr txBox="1"/>
          <p:nvPr/>
        </p:nvSpPr>
        <p:spPr>
          <a:xfrm>
            <a:off x="7412126" y="2359152"/>
            <a:ext cx="528523" cy="512064"/>
          </a:xfrm>
          <a:prstGeom prst="rect">
            <a:avLst/>
          </a:prstGeom>
          <a:noFill/>
          <a:ln/>
        </p:spPr>
        <p:txBody>
          <a:bodyPr wrap="square" lIns="0" tIns="0" rIns="0" bIns="0" rtlCol="0" anchor="ctr"/>
          <a:lstStyle/>
          <a:p>
            <a:pPr algn="ctr" indent="0" marL="0">
              <a:buNone/>
            </a:pPr>
            <a:r>
              <a:rPr lang="en-US" sz="1300" dirty="0">
                <a:solidFill>
                  <a:srgbClr val="11211C"/>
                </a:solidFill>
              </a:rPr>
              <a:t>2</a:t>
            </a:r>
            <a:endParaRPr lang="en-US" sz="1300" dirty="0"/>
          </a:p>
        </p:txBody>
      </p:sp>
      <p:sp>
        <p:nvSpPr>
          <p:cNvPr id="42" name="Text 40"/>
          <p:cNvSpPr txBox="1"/>
          <p:nvPr/>
        </p:nvSpPr>
        <p:spPr>
          <a:xfrm>
            <a:off x="7940650" y="2359152"/>
            <a:ext cx="528523" cy="512064"/>
          </a:xfrm>
          <a:prstGeom prst="rect">
            <a:avLst/>
          </a:prstGeom>
          <a:noFill/>
          <a:ln/>
        </p:spPr>
        <p:txBody>
          <a:bodyPr wrap="square" lIns="0" tIns="0" rIns="0" bIns="0" rtlCol="0" anchor="ctr"/>
          <a:lstStyle/>
          <a:p>
            <a:pPr algn="ctr" indent="0" marL="0">
              <a:buNone/>
            </a:pPr>
            <a:r>
              <a:rPr lang="en-US" sz="1300" dirty="0">
                <a:solidFill>
                  <a:srgbClr val="11211C"/>
                </a:solidFill>
              </a:rPr>
              <a:t>4</a:t>
            </a:r>
            <a:endParaRPr lang="en-US" sz="1300" dirty="0"/>
          </a:p>
        </p:txBody>
      </p:sp>
      <p:sp>
        <p:nvSpPr>
          <p:cNvPr id="43" name="Text 41"/>
          <p:cNvSpPr txBox="1"/>
          <p:nvPr/>
        </p:nvSpPr>
        <p:spPr>
          <a:xfrm>
            <a:off x="8469173" y="2359152"/>
            <a:ext cx="528523" cy="512064"/>
          </a:xfrm>
          <a:prstGeom prst="rect">
            <a:avLst/>
          </a:prstGeom>
          <a:noFill/>
          <a:ln/>
        </p:spPr>
        <p:txBody>
          <a:bodyPr wrap="square" lIns="0" tIns="0" rIns="0" bIns="0" rtlCol="0" anchor="ctr"/>
          <a:lstStyle/>
          <a:p>
            <a:pPr algn="ctr" indent="0" marL="0">
              <a:buNone/>
            </a:pPr>
            <a:r>
              <a:rPr lang="en-US" sz="1300" dirty="0">
                <a:solidFill>
                  <a:srgbClr val="11211C"/>
                </a:solidFill>
              </a:rPr>
              <a:t>5</a:t>
            </a:r>
            <a:endParaRPr lang="en-US" sz="1300" dirty="0"/>
          </a:p>
        </p:txBody>
      </p:sp>
      <p:sp>
        <p:nvSpPr>
          <p:cNvPr id="44" name="Text 42"/>
          <p:cNvSpPr txBox="1"/>
          <p:nvPr/>
        </p:nvSpPr>
        <p:spPr>
          <a:xfrm>
            <a:off x="8997696" y="2359152"/>
            <a:ext cx="528523" cy="512064"/>
          </a:xfrm>
          <a:prstGeom prst="rect">
            <a:avLst/>
          </a:prstGeom>
          <a:noFill/>
          <a:ln/>
        </p:spPr>
        <p:txBody>
          <a:bodyPr wrap="square" lIns="0" tIns="0" rIns="0" bIns="0" rtlCol="0" anchor="ctr"/>
          <a:lstStyle/>
          <a:p>
            <a:pPr algn="ctr" indent="0" marL="0">
              <a:buNone/>
            </a:pPr>
            <a:r>
              <a:rPr lang="en-US" sz="1300" dirty="0">
                <a:solidFill>
                  <a:srgbClr val="11211C"/>
                </a:solidFill>
              </a:rPr>
              <a:t>3</a:t>
            </a:r>
            <a:endParaRPr lang="en-US" sz="1300" dirty="0"/>
          </a:p>
        </p:txBody>
      </p:sp>
      <p:sp>
        <p:nvSpPr>
          <p:cNvPr id="45" name="Text 43"/>
          <p:cNvSpPr txBox="1"/>
          <p:nvPr/>
        </p:nvSpPr>
        <p:spPr>
          <a:xfrm>
            <a:off x="9526219" y="2359152"/>
            <a:ext cx="528523" cy="512064"/>
          </a:xfrm>
          <a:prstGeom prst="rect">
            <a:avLst/>
          </a:prstGeom>
          <a:noFill/>
          <a:ln/>
        </p:spPr>
        <p:txBody>
          <a:bodyPr wrap="square" lIns="0" tIns="0" rIns="0" bIns="0" rtlCol="0" anchor="ctr"/>
          <a:lstStyle/>
          <a:p>
            <a:pPr algn="ctr" indent="0" marL="0">
              <a:buNone/>
            </a:pPr>
            <a:r>
              <a:rPr lang="en-US" sz="1300" b="1" dirty="0">
                <a:solidFill>
                  <a:srgbClr val="2A5247"/>
                </a:solidFill>
              </a:rPr>
              <a:t>6</a:t>
            </a:r>
            <a:endParaRPr lang="en-US" sz="1300" dirty="0"/>
          </a:p>
        </p:txBody>
      </p:sp>
      <p:sp>
        <p:nvSpPr>
          <p:cNvPr id="46" name="Text 44"/>
          <p:cNvSpPr txBox="1"/>
          <p:nvPr/>
        </p:nvSpPr>
        <p:spPr>
          <a:xfrm>
            <a:off x="10054742" y="2359152"/>
            <a:ext cx="528523" cy="512064"/>
          </a:xfrm>
          <a:prstGeom prst="rect">
            <a:avLst/>
          </a:prstGeom>
          <a:noFill/>
          <a:ln/>
        </p:spPr>
        <p:txBody>
          <a:bodyPr wrap="square" lIns="0" tIns="0" rIns="0" bIns="0" rtlCol="0" anchor="ctr"/>
          <a:lstStyle/>
          <a:p>
            <a:pPr algn="ctr" indent="0" marL="0">
              <a:buNone/>
            </a:pPr>
            <a:r>
              <a:rPr lang="en-US" sz="1300" b="1" dirty="0">
                <a:solidFill>
                  <a:srgbClr val="2A5247"/>
                </a:solidFill>
              </a:rPr>
              <a:t>8</a:t>
            </a:r>
            <a:endParaRPr lang="en-US" sz="1300" dirty="0"/>
          </a:p>
        </p:txBody>
      </p:sp>
      <p:sp>
        <p:nvSpPr>
          <p:cNvPr id="47" name="Text 45"/>
          <p:cNvSpPr txBox="1"/>
          <p:nvPr/>
        </p:nvSpPr>
        <p:spPr>
          <a:xfrm>
            <a:off x="10583266" y="2359152"/>
            <a:ext cx="528523" cy="512064"/>
          </a:xfrm>
          <a:prstGeom prst="rect">
            <a:avLst/>
          </a:prstGeom>
          <a:noFill/>
          <a:ln/>
        </p:spPr>
        <p:txBody>
          <a:bodyPr wrap="square" lIns="0" tIns="0" rIns="0" bIns="0" rtlCol="0" anchor="ctr"/>
          <a:lstStyle/>
          <a:p>
            <a:pPr algn="ctr" indent="0" marL="0">
              <a:buNone/>
            </a:pPr>
            <a:r>
              <a:rPr lang="en-US" sz="1300" b="1" dirty="0">
                <a:solidFill>
                  <a:srgbClr val="2A5247"/>
                </a:solidFill>
              </a:rPr>
              <a:t>9</a:t>
            </a:r>
            <a:endParaRPr lang="en-US" sz="1300" dirty="0"/>
          </a:p>
        </p:txBody>
      </p:sp>
      <p:sp>
        <p:nvSpPr>
          <p:cNvPr id="48" name="Text 46"/>
          <p:cNvSpPr txBox="1"/>
          <p:nvPr/>
        </p:nvSpPr>
        <p:spPr>
          <a:xfrm>
            <a:off x="11111789" y="2359152"/>
            <a:ext cx="528523" cy="512064"/>
          </a:xfrm>
          <a:prstGeom prst="rect">
            <a:avLst/>
          </a:prstGeom>
          <a:noFill/>
          <a:ln/>
        </p:spPr>
        <p:txBody>
          <a:bodyPr wrap="square" lIns="0" tIns="0" rIns="0" bIns="0" rtlCol="0" anchor="ctr"/>
          <a:lstStyle/>
          <a:p>
            <a:pPr algn="ctr" indent="0" marL="0">
              <a:buNone/>
            </a:pPr>
            <a:r>
              <a:rPr lang="en-US" sz="1300" b="1" dirty="0">
                <a:solidFill>
                  <a:srgbClr val="2A5247"/>
                </a:solidFill>
              </a:rPr>
              <a:t>7</a:t>
            </a:r>
            <a:endParaRPr lang="en-US" sz="1300" dirty="0"/>
          </a:p>
        </p:txBody>
      </p:sp>
      <p:sp>
        <p:nvSpPr>
          <p:cNvPr id="49" name="Shape 47"/>
          <p:cNvSpPr/>
          <p:nvPr/>
        </p:nvSpPr>
        <p:spPr>
          <a:xfrm>
            <a:off x="6883603" y="2359152"/>
            <a:ext cx="914" cy="512064"/>
          </a:xfrm>
          <a:prstGeom prst="line">
            <a:avLst/>
          </a:prstGeom>
          <a:noFill/>
          <a:ln w="7620">
            <a:solidFill>
              <a:srgbClr val="D9E0DC"/>
            </a:solidFill>
            <a:prstDash val="solid"/>
          </a:ln>
        </p:spPr>
      </p:sp>
      <p:sp>
        <p:nvSpPr>
          <p:cNvPr id="50" name="Shape 48"/>
          <p:cNvSpPr/>
          <p:nvPr/>
        </p:nvSpPr>
        <p:spPr>
          <a:xfrm>
            <a:off x="7412126" y="2359152"/>
            <a:ext cx="914" cy="512064"/>
          </a:xfrm>
          <a:prstGeom prst="line">
            <a:avLst/>
          </a:prstGeom>
          <a:noFill/>
          <a:ln w="7620">
            <a:solidFill>
              <a:srgbClr val="D9E0DC"/>
            </a:solidFill>
            <a:prstDash val="solid"/>
          </a:ln>
        </p:spPr>
      </p:sp>
      <p:sp>
        <p:nvSpPr>
          <p:cNvPr id="51" name="Shape 49"/>
          <p:cNvSpPr/>
          <p:nvPr/>
        </p:nvSpPr>
        <p:spPr>
          <a:xfrm>
            <a:off x="7940650" y="2359152"/>
            <a:ext cx="914" cy="512064"/>
          </a:xfrm>
          <a:prstGeom prst="line">
            <a:avLst/>
          </a:prstGeom>
          <a:noFill/>
          <a:ln w="7620">
            <a:solidFill>
              <a:srgbClr val="D9E0DC"/>
            </a:solidFill>
            <a:prstDash val="solid"/>
          </a:ln>
        </p:spPr>
      </p:sp>
      <p:sp>
        <p:nvSpPr>
          <p:cNvPr id="52" name="Shape 50"/>
          <p:cNvSpPr/>
          <p:nvPr/>
        </p:nvSpPr>
        <p:spPr>
          <a:xfrm>
            <a:off x="8469173" y="2359152"/>
            <a:ext cx="914" cy="512064"/>
          </a:xfrm>
          <a:prstGeom prst="line">
            <a:avLst/>
          </a:prstGeom>
          <a:noFill/>
          <a:ln w="7620">
            <a:solidFill>
              <a:srgbClr val="D9E0DC"/>
            </a:solidFill>
            <a:prstDash val="solid"/>
          </a:ln>
        </p:spPr>
      </p:sp>
      <p:sp>
        <p:nvSpPr>
          <p:cNvPr id="53" name="Shape 51"/>
          <p:cNvSpPr/>
          <p:nvPr/>
        </p:nvSpPr>
        <p:spPr>
          <a:xfrm>
            <a:off x="8997696" y="2359152"/>
            <a:ext cx="914" cy="512064"/>
          </a:xfrm>
          <a:prstGeom prst="line">
            <a:avLst/>
          </a:prstGeom>
          <a:noFill/>
          <a:ln w="7620">
            <a:solidFill>
              <a:srgbClr val="D9E0DC"/>
            </a:solidFill>
            <a:prstDash val="solid"/>
          </a:ln>
        </p:spPr>
      </p:sp>
      <p:sp>
        <p:nvSpPr>
          <p:cNvPr id="54" name="Shape 52"/>
          <p:cNvSpPr/>
          <p:nvPr/>
        </p:nvSpPr>
        <p:spPr>
          <a:xfrm>
            <a:off x="9526219" y="2359152"/>
            <a:ext cx="914" cy="512064"/>
          </a:xfrm>
          <a:prstGeom prst="line">
            <a:avLst/>
          </a:prstGeom>
          <a:noFill/>
          <a:ln w="7620">
            <a:solidFill>
              <a:srgbClr val="D9E0DC"/>
            </a:solidFill>
            <a:prstDash val="solid"/>
          </a:ln>
        </p:spPr>
      </p:sp>
      <p:sp>
        <p:nvSpPr>
          <p:cNvPr id="55" name="Shape 53"/>
          <p:cNvSpPr/>
          <p:nvPr/>
        </p:nvSpPr>
        <p:spPr>
          <a:xfrm>
            <a:off x="10054742" y="2359152"/>
            <a:ext cx="914" cy="512064"/>
          </a:xfrm>
          <a:prstGeom prst="line">
            <a:avLst/>
          </a:prstGeom>
          <a:noFill/>
          <a:ln w="7620">
            <a:solidFill>
              <a:srgbClr val="D9E0DC"/>
            </a:solidFill>
            <a:prstDash val="solid"/>
          </a:ln>
        </p:spPr>
      </p:sp>
      <p:sp>
        <p:nvSpPr>
          <p:cNvPr id="56" name="Shape 54"/>
          <p:cNvSpPr/>
          <p:nvPr/>
        </p:nvSpPr>
        <p:spPr>
          <a:xfrm>
            <a:off x="10583266" y="2359152"/>
            <a:ext cx="914" cy="512064"/>
          </a:xfrm>
          <a:prstGeom prst="line">
            <a:avLst/>
          </a:prstGeom>
          <a:noFill/>
          <a:ln w="7620">
            <a:solidFill>
              <a:srgbClr val="D9E0DC"/>
            </a:solidFill>
            <a:prstDash val="solid"/>
          </a:ln>
        </p:spPr>
      </p:sp>
      <p:sp>
        <p:nvSpPr>
          <p:cNvPr id="57" name="Shape 55"/>
          <p:cNvSpPr/>
          <p:nvPr/>
        </p:nvSpPr>
        <p:spPr>
          <a:xfrm>
            <a:off x="11111789" y="2359152"/>
            <a:ext cx="914" cy="512064"/>
          </a:xfrm>
          <a:prstGeom prst="line">
            <a:avLst/>
          </a:prstGeom>
          <a:noFill/>
          <a:ln w="7620">
            <a:solidFill>
              <a:srgbClr val="D9E0DC"/>
            </a:solidFill>
            <a:prstDash val="solid"/>
          </a:ln>
        </p:spPr>
      </p:sp>
      <p:sp>
        <p:nvSpPr>
          <p:cNvPr id="58" name="Shape 56"/>
          <p:cNvSpPr/>
          <p:nvPr/>
        </p:nvSpPr>
        <p:spPr>
          <a:xfrm>
            <a:off x="6355080" y="2871216"/>
            <a:ext cx="5285232" cy="914"/>
          </a:xfrm>
          <a:prstGeom prst="line">
            <a:avLst/>
          </a:prstGeom>
          <a:noFill/>
          <a:ln w="11430">
            <a:solidFill>
              <a:srgbClr val="11211C"/>
            </a:solidFill>
            <a:prstDash val="solid"/>
          </a:ln>
        </p:spPr>
      </p:sp>
      <p:sp>
        <p:nvSpPr>
          <p:cNvPr id="59" name="Text 57"/>
          <p:cNvSpPr txBox="1"/>
          <p:nvPr/>
        </p:nvSpPr>
        <p:spPr>
          <a:xfrm>
            <a:off x="9069019" y="2907792"/>
            <a:ext cx="914400" cy="219456"/>
          </a:xfrm>
          <a:prstGeom prst="rect">
            <a:avLst/>
          </a:prstGeom>
          <a:noFill/>
          <a:ln/>
        </p:spPr>
        <p:txBody>
          <a:bodyPr wrap="square" lIns="0" tIns="0" rIns="0" bIns="0" rtlCol="0" anchor="ctr"/>
          <a:lstStyle/>
          <a:p>
            <a:pPr algn="ctr" indent="0" marL="0">
              <a:buNone/>
            </a:pPr>
            <a:r>
              <a:rPr lang="en-US" sz="1000" b="1" dirty="0">
                <a:solidFill>
                  <a:srgbClr val="C0603C"/>
                </a:solidFill>
              </a:rPr>
              <a:t>t = 6</a:t>
            </a:r>
            <a:endParaRPr lang="en-US" sz="1000" dirty="0"/>
          </a:p>
        </p:txBody>
      </p:sp>
      <p:sp>
        <p:nvSpPr>
          <p:cNvPr id="60" name="Text 58"/>
          <p:cNvSpPr txBox="1"/>
          <p:nvPr/>
        </p:nvSpPr>
        <p:spPr>
          <a:xfrm>
            <a:off x="9526219" y="3145536"/>
            <a:ext cx="2114093" cy="219456"/>
          </a:xfrm>
          <a:prstGeom prst="rect">
            <a:avLst/>
          </a:prstGeom>
          <a:noFill/>
          <a:ln/>
        </p:spPr>
        <p:txBody>
          <a:bodyPr wrap="square" lIns="0" tIns="0" rIns="0" bIns="0" rtlCol="0" anchor="ctr"/>
          <a:lstStyle/>
          <a:p>
            <a:pPr algn="ctr" indent="0" marL="0">
              <a:buNone/>
            </a:pPr>
            <a:r>
              <a:rPr lang="en-US" sz="1000" dirty="0">
                <a:solidFill>
                  <a:srgbClr val="2A5247"/>
                </a:solidFill>
              </a:rPr>
              <a:t>torso (n − t = 4)</a:t>
            </a:r>
            <a:endParaRPr lang="en-US" sz="1000" dirty="0"/>
          </a:p>
        </p:txBody>
      </p:sp>
      <p:sp>
        <p:nvSpPr>
          <p:cNvPr id="61" name="Text 59"/>
          <p:cNvSpPr txBox="1"/>
          <p:nvPr/>
        </p:nvSpPr>
        <p:spPr>
          <a:xfrm>
            <a:off x="6355080" y="3584448"/>
            <a:ext cx="5285232" cy="237744"/>
          </a:xfrm>
          <a:prstGeom prst="rect">
            <a:avLst/>
          </a:prstGeom>
          <a:noFill/>
          <a:ln/>
        </p:spPr>
        <p:txBody>
          <a:bodyPr wrap="square" lIns="0" tIns="0" rIns="0" bIns="0" rtlCol="0" anchor="ctr"/>
          <a:lstStyle/>
          <a:p>
            <a:pPr indent="0" marL="0">
              <a:buNone/>
            </a:pPr>
            <a:r>
              <a:rPr lang="en-US" sz="1150" b="1" dirty="0">
                <a:solidFill>
                  <a:srgbClr val="2A5247"/>
                </a:solidFill>
              </a:rPr>
              <a:t>3 · The last n − t vertices are the torso</a:t>
            </a:r>
            <a:endParaRPr lang="en-US" sz="1150" dirty="0"/>
          </a:p>
        </p:txBody>
      </p:sp>
      <p:sp>
        <p:nvSpPr>
          <p:cNvPr id="62" name="Text 60"/>
          <p:cNvSpPr txBox="1"/>
          <p:nvPr/>
        </p:nvSpPr>
        <p:spPr>
          <a:xfrm>
            <a:off x="6355080" y="3858768"/>
            <a:ext cx="5285232" cy="274320"/>
          </a:xfrm>
          <a:prstGeom prst="rect">
            <a:avLst/>
          </a:prstGeom>
          <a:noFill/>
          <a:ln/>
        </p:spPr>
        <p:txBody>
          <a:bodyPr wrap="square" lIns="0" tIns="0" rIns="0" bIns="0" rtlCol="0" anchor="ctr"/>
          <a:lstStyle/>
          <a:p>
            <a:pPr indent="0" marL="0">
              <a:buNone/>
            </a:pPr>
            <a:r>
              <a:rPr lang="en-US" sz="1150" dirty="0">
                <a:solidFill>
                  <a:srgbClr val="11211C"/>
                </a:solidFill>
              </a:rPr>
              <a:t>Its width is the largest out-degree inside it, fill edges included.</a:t>
            </a:r>
            <a:endParaRPr lang="en-US" sz="1150" dirty="0"/>
          </a:p>
        </p:txBody>
      </p:sp>
      <p:sp>
        <p:nvSpPr>
          <p:cNvPr id="63" name="Shape 61"/>
          <p:cNvSpPr/>
          <p:nvPr/>
        </p:nvSpPr>
        <p:spPr>
          <a:xfrm>
            <a:off x="6355080" y="4315968"/>
            <a:ext cx="5285232" cy="1051560"/>
          </a:xfrm>
          <a:prstGeom prst="roundRect">
            <a:avLst>
              <a:gd name="adj" fmla="val 3478"/>
            </a:avLst>
          </a:prstGeom>
          <a:solidFill>
            <a:srgbClr val="1F3A33"/>
          </a:solidFill>
          <a:ln w="6350">
            <a:solidFill>
              <a:srgbClr val="1F3A33"/>
            </a:solidFill>
            <a:prstDash val="solid"/>
          </a:ln>
        </p:spPr>
      </p:sp>
      <p:sp>
        <p:nvSpPr>
          <p:cNvPr id="64" name="Text 62"/>
          <p:cNvSpPr txBox="1"/>
          <p:nvPr/>
        </p:nvSpPr>
        <p:spPr>
          <a:xfrm>
            <a:off x="6611112" y="4480560"/>
            <a:ext cx="4773168"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t = 6  →  torso size 4,  width 2</a:t>
            </a:r>
            <a:endParaRPr lang="en-US" sz="1700" dirty="0"/>
          </a:p>
        </p:txBody>
      </p:sp>
      <p:sp>
        <p:nvSpPr>
          <p:cNvPr id="65" name="Text 63"/>
          <p:cNvSpPr txBox="1"/>
          <p:nvPr/>
        </p:nvSpPr>
        <p:spPr>
          <a:xfrm>
            <a:off x="6611112" y="4882896"/>
            <a:ext cx="4773168" cy="274320"/>
          </a:xfrm>
          <a:prstGeom prst="rect">
            <a:avLst/>
          </a:prstGeom>
          <a:noFill/>
          <a:ln/>
        </p:spPr>
        <p:txBody>
          <a:bodyPr wrap="square" lIns="0" tIns="0" rIns="0" bIns="0" rtlCol="0" anchor="ctr"/>
          <a:lstStyle/>
          <a:p>
            <a:pPr indent="0" marL="0">
              <a:buNone/>
            </a:pPr>
            <a:r>
              <a:rPr lang="en-US" sz="1050" i="1" dirty="0">
                <a:solidFill>
                  <a:srgbClr val="8FB8A6"/>
                </a:solidFill>
              </a:rPr>
              <a:t>Verified against ESA's stated answer for this vector.</a:t>
            </a:r>
            <a:endParaRPr lang="en-US" sz="1050" dirty="0"/>
          </a:p>
        </p:txBody>
      </p:sp>
      <p:sp>
        <p:nvSpPr>
          <p:cNvPr id="25" name="Slide Number Placeholder 0"/>
          <p:cNvSpPr>
            <a:spLocks noGrp="1"/>
          </p:cNvSpPr>
          <p:nvPr>
            <p:ph type="sldNum" sz="quarter" idx="4294967295"/>
          </p:nvPr>
        </p:nvSpPr>
        <p:spPr>
          <a:xfrm>
            <a:off x="11167567" y="6437376"/>
            <a:ext cx="45720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6B7A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420624"/>
            <a:ext cx="11057839" cy="658368"/>
          </a:xfrm>
          <a:prstGeom prst="rect">
            <a:avLst/>
          </a:prstGeom>
          <a:noFill/>
          <a:ln/>
        </p:spPr>
        <p:txBody>
          <a:bodyPr wrap="square" lIns="0" tIns="0" rIns="0" bIns="0" rtlCol="0" anchor="ctr"/>
          <a:lstStyle/>
          <a:p>
            <a:pPr indent="0" marL="0">
              <a:buNone/>
            </a:pPr>
            <a:r>
              <a:rPr lang="en-US" sz="2600" b="1" dirty="0">
                <a:solidFill>
                  <a:srgbClr val="11211C"/>
                </a:solidFill>
                <a:latin typeface="Cambria" pitchFamily="34" charset="0"/>
                <a:ea typeface="Cambria" pitchFamily="34" charset="-122"/>
                <a:cs typeface="Cambria" pitchFamily="34" charset="-120"/>
              </a:rPr>
              <a:t>Two objectives, and a score that is an area</a:t>
            </a:r>
            <a:endParaRPr lang="en-US" sz="2600" dirty="0"/>
          </a:p>
        </p:txBody>
      </p:sp>
      <p:sp>
        <p:nvSpPr>
          <p:cNvPr id="3" name="Shape 1"/>
          <p:cNvSpPr/>
          <p:nvPr/>
        </p:nvSpPr>
        <p:spPr>
          <a:xfrm>
            <a:off x="566928" y="1371600"/>
            <a:ext cx="274320" cy="274320"/>
          </a:xfrm>
          <a:prstGeom prst="ellipse">
            <a:avLst/>
          </a:prstGeom>
          <a:solidFill>
            <a:srgbClr val="3E8E72"/>
          </a:solidFill>
          <a:ln w="12700">
            <a:solidFill>
              <a:srgbClr val="3E8E72"/>
            </a:solidFill>
            <a:prstDash val="solid"/>
          </a:ln>
        </p:spPr>
      </p:sp>
      <p:sp>
        <p:nvSpPr>
          <p:cNvPr id="4" name="Text 2"/>
          <p:cNvSpPr txBox="1"/>
          <p:nvPr/>
        </p:nvSpPr>
        <p:spPr>
          <a:xfrm>
            <a:off x="566928" y="137160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5" name="Text 3"/>
          <p:cNvSpPr txBox="1"/>
          <p:nvPr/>
        </p:nvSpPr>
        <p:spPr>
          <a:xfrm>
            <a:off x="969264" y="1371600"/>
            <a:ext cx="2651760" cy="274320"/>
          </a:xfrm>
          <a:prstGeom prst="rect">
            <a:avLst/>
          </a:prstGeom>
          <a:noFill/>
          <a:ln/>
        </p:spPr>
        <p:txBody>
          <a:bodyPr wrap="square" lIns="0" tIns="0" rIns="0" bIns="0" rtlCol="0" anchor="ctr"/>
          <a:lstStyle/>
          <a:p>
            <a:pPr indent="0" marL="0">
              <a:buNone/>
            </a:pPr>
            <a:r>
              <a:rPr lang="en-US" sz="1400" b="1" dirty="0">
                <a:solidFill>
                  <a:srgbClr val="11211C"/>
                </a:solidFill>
              </a:rPr>
              <a:t>Maximise torso size</a:t>
            </a:r>
            <a:endParaRPr lang="en-US" sz="1400" dirty="0"/>
          </a:p>
        </p:txBody>
      </p:sp>
      <p:sp>
        <p:nvSpPr>
          <p:cNvPr id="6" name="Text 4"/>
          <p:cNvSpPr txBox="1"/>
          <p:nvPr/>
        </p:nvSpPr>
        <p:spPr>
          <a:xfrm>
            <a:off x="969264" y="1682496"/>
            <a:ext cx="2651760" cy="457200"/>
          </a:xfrm>
          <a:prstGeom prst="rect">
            <a:avLst/>
          </a:prstGeom>
          <a:noFill/>
          <a:ln/>
        </p:spPr>
        <p:txBody>
          <a:bodyPr wrap="square" lIns="0" tIns="0" rIns="0" bIns="0" rtlCol="0" anchor="ctr"/>
          <a:lstStyle/>
          <a:p>
            <a:pPr indent="0" marL="0">
              <a:lnSpc>
                <a:spcPts val="1600"/>
              </a:lnSpc>
              <a:buNone/>
            </a:pPr>
            <a:r>
              <a:rPr lang="en-US" sz="1200" dirty="0">
                <a:solidFill>
                  <a:srgbClr val="6B7A75"/>
                </a:solidFill>
              </a:rPr>
              <a:t>equivalently, minimise t</a:t>
            </a:r>
            <a:endParaRPr lang="en-US" sz="1200" dirty="0"/>
          </a:p>
        </p:txBody>
      </p:sp>
      <p:sp>
        <p:nvSpPr>
          <p:cNvPr id="7" name="Shape 5"/>
          <p:cNvSpPr/>
          <p:nvPr/>
        </p:nvSpPr>
        <p:spPr>
          <a:xfrm>
            <a:off x="3785616" y="1371600"/>
            <a:ext cx="274320" cy="274320"/>
          </a:xfrm>
          <a:prstGeom prst="ellipse">
            <a:avLst/>
          </a:prstGeom>
          <a:solidFill>
            <a:srgbClr val="3E8E72"/>
          </a:solidFill>
          <a:ln w="12700">
            <a:solidFill>
              <a:srgbClr val="3E8E72"/>
            </a:solidFill>
            <a:prstDash val="solid"/>
          </a:ln>
        </p:spPr>
      </p:sp>
      <p:sp>
        <p:nvSpPr>
          <p:cNvPr id="8" name="Text 6"/>
          <p:cNvSpPr txBox="1"/>
          <p:nvPr/>
        </p:nvSpPr>
        <p:spPr>
          <a:xfrm>
            <a:off x="3785616" y="137160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9" name="Text 7"/>
          <p:cNvSpPr txBox="1"/>
          <p:nvPr/>
        </p:nvSpPr>
        <p:spPr>
          <a:xfrm>
            <a:off x="4187952" y="1371600"/>
            <a:ext cx="2651760" cy="274320"/>
          </a:xfrm>
          <a:prstGeom prst="rect">
            <a:avLst/>
          </a:prstGeom>
          <a:noFill/>
          <a:ln/>
        </p:spPr>
        <p:txBody>
          <a:bodyPr wrap="square" lIns="0" tIns="0" rIns="0" bIns="0" rtlCol="0" anchor="ctr"/>
          <a:lstStyle/>
          <a:p>
            <a:pPr indent="0" marL="0">
              <a:buNone/>
            </a:pPr>
            <a:r>
              <a:rPr lang="en-US" sz="1400" b="1" dirty="0">
                <a:solidFill>
                  <a:srgbClr val="11211C"/>
                </a:solidFill>
              </a:rPr>
              <a:t>Minimise torso width</a:t>
            </a:r>
            <a:endParaRPr lang="en-US" sz="1400" dirty="0"/>
          </a:p>
        </p:txBody>
      </p:sp>
      <p:sp>
        <p:nvSpPr>
          <p:cNvPr id="10" name="Text 8"/>
          <p:cNvSpPr txBox="1"/>
          <p:nvPr/>
        </p:nvSpPr>
        <p:spPr>
          <a:xfrm>
            <a:off x="4187952" y="1682496"/>
            <a:ext cx="2651760" cy="457200"/>
          </a:xfrm>
          <a:prstGeom prst="rect">
            <a:avLst/>
          </a:prstGeom>
          <a:noFill/>
          <a:ln/>
        </p:spPr>
        <p:txBody>
          <a:bodyPr wrap="square" lIns="0" tIns="0" rIns="0" bIns="0" rtlCol="0" anchor="ctr"/>
          <a:lstStyle/>
          <a:p>
            <a:pPr indent="0" marL="0">
              <a:lnSpc>
                <a:spcPts val="1600"/>
              </a:lnSpc>
              <a:buNone/>
            </a:pPr>
            <a:r>
              <a:rPr lang="en-US" sz="1200" dirty="0">
                <a:solidFill>
                  <a:srgbClr val="6B7A75"/>
                </a:solidFill>
              </a:rPr>
              <a:t>the largest out-degree inside the torso</a:t>
            </a:r>
            <a:endParaRPr lang="en-US" sz="1200" dirty="0"/>
          </a:p>
        </p:txBody>
      </p:sp>
      <p:sp>
        <p:nvSpPr>
          <p:cNvPr id="11" name="Text 9"/>
          <p:cNvSpPr txBox="1"/>
          <p:nvPr/>
        </p:nvSpPr>
        <p:spPr>
          <a:xfrm>
            <a:off x="566928" y="2395728"/>
            <a:ext cx="6400800" cy="1371600"/>
          </a:xfrm>
          <a:prstGeom prst="rect">
            <a:avLst/>
          </a:prstGeom>
          <a:noFill/>
          <a:ln/>
        </p:spPr>
        <p:txBody>
          <a:bodyPr wrap="square" lIns="0" tIns="0" rIns="0" bIns="0" rtlCol="0" anchor="ctr"/>
          <a:lstStyle/>
          <a:p>
            <a:pPr indent="0" marL="0">
              <a:lnSpc>
                <a:spcPts val="2000"/>
              </a:lnSpc>
              <a:buNone/>
            </a:pPr>
            <a:r>
              <a:rPr lang="en-US" sz="1350" dirty="0">
                <a:solidFill>
                  <a:srgbClr val="11211C"/>
                </a:solidFill>
              </a:rPr>
              <a:t>Each vector gives one point (width, t). Both are minimised, so a submission is a Pareto staircase of up to 20 points, scored by hypervolume against the corner (n, n) and reported negative because the platform minimises.</a:t>
            </a:r>
            <a:endParaRPr lang="en-US" sz="1350" dirty="0"/>
          </a:p>
        </p:txBody>
      </p:sp>
      <p:sp>
        <p:nvSpPr>
          <p:cNvPr id="12" name="Shape 10"/>
          <p:cNvSpPr/>
          <p:nvPr/>
        </p:nvSpPr>
        <p:spPr>
          <a:xfrm>
            <a:off x="566928" y="3931920"/>
            <a:ext cx="6400800" cy="1463040"/>
          </a:xfrm>
          <a:prstGeom prst="roundRect">
            <a:avLst>
              <a:gd name="adj" fmla="val 2500"/>
            </a:avLst>
          </a:prstGeom>
          <a:solidFill>
            <a:srgbClr val="FBF0EA"/>
          </a:solidFill>
          <a:ln w="6350">
            <a:solidFill>
              <a:srgbClr val="FBF0EA"/>
            </a:solidFill>
            <a:prstDash val="solid"/>
          </a:ln>
        </p:spPr>
      </p:sp>
      <p:sp>
        <p:nvSpPr>
          <p:cNvPr id="13" name="Text 11"/>
          <p:cNvSpPr txBox="1"/>
          <p:nvPr/>
        </p:nvSpPr>
        <p:spPr>
          <a:xfrm>
            <a:off x="804672" y="4096512"/>
            <a:ext cx="5943600" cy="237744"/>
          </a:xfrm>
          <a:prstGeom prst="rect">
            <a:avLst/>
          </a:prstGeom>
          <a:noFill/>
          <a:ln/>
        </p:spPr>
        <p:txBody>
          <a:bodyPr wrap="square" lIns="0" tIns="0" rIns="0" bIns="0" rtlCol="0" anchor="ctr"/>
          <a:lstStyle/>
          <a:p>
            <a:pPr indent="0" marL="0">
              <a:buNone/>
            </a:pPr>
            <a:r>
              <a:rPr lang="en-US" sz="1100" b="1" spc="100" kern="0" dirty="0">
                <a:solidFill>
                  <a:srgbClr val="C0603C"/>
                </a:solidFill>
              </a:rPr>
              <a:t>The constraint that makes the landscape cliff-edged</a:t>
            </a:r>
            <a:endParaRPr lang="en-US" sz="1100" dirty="0"/>
          </a:p>
        </p:txBody>
      </p:sp>
      <p:sp>
        <p:nvSpPr>
          <p:cNvPr id="14" name="Text 12"/>
          <p:cNvSpPr txBox="1"/>
          <p:nvPr/>
        </p:nvSpPr>
        <p:spPr>
          <a:xfrm>
            <a:off x="804672" y="4389120"/>
            <a:ext cx="5943600" cy="877824"/>
          </a:xfrm>
          <a:prstGeom prst="rect">
            <a:avLst/>
          </a:prstGeom>
          <a:noFill/>
          <a:ln/>
        </p:spPr>
        <p:txBody>
          <a:bodyPr wrap="square" lIns="0" tIns="0" rIns="0" bIns="0" rtlCol="0" anchor="ctr"/>
          <a:lstStyle/>
          <a:p>
            <a:pPr indent="0" marL="0">
              <a:lnSpc>
                <a:spcPts val="1800"/>
              </a:lnSpc>
              <a:buNone/>
            </a:pPr>
            <a:r>
              <a:rPr lang="en-US" sz="1250" dirty="0">
                <a:solidFill>
                  <a:srgbClr val="11211C"/>
                </a:solidFill>
              </a:rPr>
              <a:t>The width of the whole permutation must stay ≤ 500. Anything above is scored as 501, so a single bad prefix voids the entire vector.</a:t>
            </a:r>
            <a:endParaRPr lang="en-US" sz="1250" dirty="0"/>
          </a:p>
        </p:txBody>
      </p:sp>
      <p:sp>
        <p:nvSpPr>
          <p:cNvPr id="15" name="Shape 13"/>
          <p:cNvSpPr/>
          <p:nvPr/>
        </p:nvSpPr>
        <p:spPr>
          <a:xfrm>
            <a:off x="7680960" y="1572768"/>
            <a:ext cx="914" cy="3200400"/>
          </a:xfrm>
          <a:prstGeom prst="line">
            <a:avLst/>
          </a:prstGeom>
          <a:noFill/>
          <a:ln w="12700">
            <a:solidFill>
              <a:srgbClr val="11211C"/>
            </a:solidFill>
            <a:prstDash val="solid"/>
          </a:ln>
        </p:spPr>
      </p:sp>
      <p:sp>
        <p:nvSpPr>
          <p:cNvPr id="16" name="Shape 14"/>
          <p:cNvSpPr/>
          <p:nvPr/>
        </p:nvSpPr>
        <p:spPr>
          <a:xfrm>
            <a:off x="7680960" y="4773168"/>
            <a:ext cx="3657600" cy="914"/>
          </a:xfrm>
          <a:prstGeom prst="line">
            <a:avLst/>
          </a:prstGeom>
          <a:noFill/>
          <a:ln w="12700">
            <a:solidFill>
              <a:srgbClr val="11211C"/>
            </a:solidFill>
            <a:prstDash val="solid"/>
          </a:ln>
        </p:spPr>
      </p:sp>
      <p:sp>
        <p:nvSpPr>
          <p:cNvPr id="17" name="Text 15"/>
          <p:cNvSpPr txBox="1"/>
          <p:nvPr/>
        </p:nvSpPr>
        <p:spPr>
          <a:xfrm>
            <a:off x="7296912" y="1517904"/>
            <a:ext cx="310896" cy="219456"/>
          </a:xfrm>
          <a:prstGeom prst="rect">
            <a:avLst/>
          </a:prstGeom>
          <a:noFill/>
          <a:ln/>
        </p:spPr>
        <p:txBody>
          <a:bodyPr wrap="square" lIns="0" tIns="0" rIns="0" bIns="0" rtlCol="0" anchor="ctr"/>
          <a:lstStyle/>
          <a:p>
            <a:pPr algn="r" indent="0" marL="0">
              <a:buNone/>
            </a:pPr>
            <a:r>
              <a:rPr lang="en-US" sz="1100" i="1" dirty="0">
                <a:solidFill>
                  <a:srgbClr val="11211C"/>
                </a:solidFill>
              </a:rPr>
              <a:t>t</a:t>
            </a:r>
            <a:endParaRPr lang="en-US" sz="1100" dirty="0"/>
          </a:p>
        </p:txBody>
      </p:sp>
      <p:sp>
        <p:nvSpPr>
          <p:cNvPr id="18" name="Text 16"/>
          <p:cNvSpPr txBox="1"/>
          <p:nvPr/>
        </p:nvSpPr>
        <p:spPr>
          <a:xfrm>
            <a:off x="10515600" y="4864608"/>
            <a:ext cx="822960" cy="219456"/>
          </a:xfrm>
          <a:prstGeom prst="rect">
            <a:avLst/>
          </a:prstGeom>
          <a:noFill/>
          <a:ln/>
        </p:spPr>
        <p:txBody>
          <a:bodyPr wrap="square" lIns="0" tIns="0" rIns="0" bIns="0" rtlCol="0" anchor="ctr"/>
          <a:lstStyle/>
          <a:p>
            <a:pPr algn="r" indent="0" marL="0">
              <a:buNone/>
            </a:pPr>
            <a:r>
              <a:rPr lang="en-US" sz="1100" i="1" dirty="0">
                <a:solidFill>
                  <a:srgbClr val="11211C"/>
                </a:solidFill>
              </a:rPr>
              <a:t>width</a:t>
            </a:r>
            <a:endParaRPr lang="en-US" sz="1100" dirty="0"/>
          </a:p>
        </p:txBody>
      </p:sp>
      <p:sp>
        <p:nvSpPr>
          <p:cNvPr id="19" name="Shape 17"/>
          <p:cNvSpPr/>
          <p:nvPr/>
        </p:nvSpPr>
        <p:spPr>
          <a:xfrm>
            <a:off x="8003195" y="1739189"/>
            <a:ext cx="128016" cy="128016"/>
          </a:xfrm>
          <a:prstGeom prst="ellipse">
            <a:avLst/>
          </a:prstGeom>
          <a:solidFill>
            <a:srgbClr val="2A5247"/>
          </a:solidFill>
          <a:ln w="6350">
            <a:solidFill>
              <a:srgbClr val="2A5247"/>
            </a:solidFill>
            <a:prstDash val="solid"/>
          </a:ln>
        </p:spPr>
      </p:sp>
      <p:sp>
        <p:nvSpPr>
          <p:cNvPr id="20" name="Shape 18"/>
          <p:cNvSpPr/>
          <p:nvPr/>
        </p:nvSpPr>
        <p:spPr>
          <a:xfrm>
            <a:off x="8067203" y="1803197"/>
            <a:ext cx="257495" cy="914"/>
          </a:xfrm>
          <a:prstGeom prst="line">
            <a:avLst/>
          </a:prstGeom>
          <a:noFill/>
          <a:ln w="22860">
            <a:solidFill>
              <a:srgbClr val="3E8E72"/>
            </a:solidFill>
            <a:prstDash val="solid"/>
          </a:ln>
        </p:spPr>
      </p:sp>
      <p:sp>
        <p:nvSpPr>
          <p:cNvPr id="21" name="Shape 19"/>
          <p:cNvSpPr/>
          <p:nvPr/>
        </p:nvSpPr>
        <p:spPr>
          <a:xfrm>
            <a:off x="8324698" y="1803197"/>
            <a:ext cx="914" cy="576072"/>
          </a:xfrm>
          <a:prstGeom prst="line">
            <a:avLst/>
          </a:prstGeom>
          <a:noFill/>
          <a:ln w="22860">
            <a:solidFill>
              <a:srgbClr val="3E8E72"/>
            </a:solidFill>
            <a:prstDash val="solid"/>
          </a:ln>
        </p:spPr>
      </p:sp>
      <p:sp>
        <p:nvSpPr>
          <p:cNvPr id="22" name="Shape 20"/>
          <p:cNvSpPr/>
          <p:nvPr/>
        </p:nvSpPr>
        <p:spPr>
          <a:xfrm>
            <a:off x="8260690" y="2315261"/>
            <a:ext cx="128016" cy="128016"/>
          </a:xfrm>
          <a:prstGeom prst="ellipse">
            <a:avLst/>
          </a:prstGeom>
          <a:solidFill>
            <a:srgbClr val="2A5247"/>
          </a:solidFill>
          <a:ln w="6350">
            <a:solidFill>
              <a:srgbClr val="2A5247"/>
            </a:solidFill>
            <a:prstDash val="solid"/>
          </a:ln>
        </p:spPr>
      </p:sp>
      <p:sp>
        <p:nvSpPr>
          <p:cNvPr id="23" name="Shape 21"/>
          <p:cNvSpPr/>
          <p:nvPr/>
        </p:nvSpPr>
        <p:spPr>
          <a:xfrm>
            <a:off x="8324698" y="2379269"/>
            <a:ext cx="418429" cy="914"/>
          </a:xfrm>
          <a:prstGeom prst="line">
            <a:avLst/>
          </a:prstGeom>
          <a:noFill/>
          <a:ln w="22860">
            <a:solidFill>
              <a:srgbClr val="3E8E72"/>
            </a:solidFill>
            <a:prstDash val="solid"/>
          </a:ln>
        </p:spPr>
      </p:sp>
      <p:sp>
        <p:nvSpPr>
          <p:cNvPr id="24" name="Shape 22"/>
          <p:cNvSpPr/>
          <p:nvPr/>
        </p:nvSpPr>
        <p:spPr>
          <a:xfrm>
            <a:off x="8743127" y="2379269"/>
            <a:ext cx="914" cy="489661"/>
          </a:xfrm>
          <a:prstGeom prst="line">
            <a:avLst/>
          </a:prstGeom>
          <a:noFill/>
          <a:ln w="22860">
            <a:solidFill>
              <a:srgbClr val="3E8E72"/>
            </a:solidFill>
            <a:prstDash val="solid"/>
          </a:ln>
        </p:spPr>
      </p:sp>
      <p:sp>
        <p:nvSpPr>
          <p:cNvPr id="25" name="Shape 23"/>
          <p:cNvSpPr/>
          <p:nvPr/>
        </p:nvSpPr>
        <p:spPr>
          <a:xfrm>
            <a:off x="8679119" y="2804922"/>
            <a:ext cx="128016" cy="128016"/>
          </a:xfrm>
          <a:prstGeom prst="ellipse">
            <a:avLst/>
          </a:prstGeom>
          <a:solidFill>
            <a:srgbClr val="2A5247"/>
          </a:solidFill>
          <a:ln w="6350">
            <a:solidFill>
              <a:srgbClr val="2A5247"/>
            </a:solidFill>
            <a:prstDash val="solid"/>
          </a:ln>
        </p:spPr>
      </p:sp>
      <p:sp>
        <p:nvSpPr>
          <p:cNvPr id="26" name="Shape 24"/>
          <p:cNvSpPr/>
          <p:nvPr/>
        </p:nvSpPr>
        <p:spPr>
          <a:xfrm>
            <a:off x="8743127" y="2868930"/>
            <a:ext cx="547177" cy="914"/>
          </a:xfrm>
          <a:prstGeom prst="line">
            <a:avLst/>
          </a:prstGeom>
          <a:noFill/>
          <a:ln w="22860">
            <a:solidFill>
              <a:srgbClr val="3E8E72"/>
            </a:solidFill>
            <a:prstDash val="solid"/>
          </a:ln>
        </p:spPr>
      </p:sp>
      <p:sp>
        <p:nvSpPr>
          <p:cNvPr id="27" name="Shape 25"/>
          <p:cNvSpPr/>
          <p:nvPr/>
        </p:nvSpPr>
        <p:spPr>
          <a:xfrm>
            <a:off x="9290304" y="2868930"/>
            <a:ext cx="914" cy="489661"/>
          </a:xfrm>
          <a:prstGeom prst="line">
            <a:avLst/>
          </a:prstGeom>
          <a:noFill/>
          <a:ln w="22860">
            <a:solidFill>
              <a:srgbClr val="3E8E72"/>
            </a:solidFill>
            <a:prstDash val="solid"/>
          </a:ln>
        </p:spPr>
      </p:sp>
      <p:sp>
        <p:nvSpPr>
          <p:cNvPr id="28" name="Shape 26"/>
          <p:cNvSpPr/>
          <p:nvPr/>
        </p:nvSpPr>
        <p:spPr>
          <a:xfrm>
            <a:off x="9226296" y="3294583"/>
            <a:ext cx="128016" cy="128016"/>
          </a:xfrm>
          <a:prstGeom prst="ellipse">
            <a:avLst/>
          </a:prstGeom>
          <a:solidFill>
            <a:srgbClr val="2A5247"/>
          </a:solidFill>
          <a:ln w="6350">
            <a:solidFill>
              <a:srgbClr val="2A5247"/>
            </a:solidFill>
            <a:prstDash val="solid"/>
          </a:ln>
        </p:spPr>
      </p:sp>
      <p:sp>
        <p:nvSpPr>
          <p:cNvPr id="29" name="Shape 27"/>
          <p:cNvSpPr/>
          <p:nvPr/>
        </p:nvSpPr>
        <p:spPr>
          <a:xfrm>
            <a:off x="9290304" y="3358591"/>
            <a:ext cx="708111" cy="914"/>
          </a:xfrm>
          <a:prstGeom prst="line">
            <a:avLst/>
          </a:prstGeom>
          <a:noFill/>
          <a:ln w="22860">
            <a:solidFill>
              <a:srgbClr val="3E8E72"/>
            </a:solidFill>
            <a:prstDash val="solid"/>
          </a:ln>
        </p:spPr>
      </p:sp>
      <p:sp>
        <p:nvSpPr>
          <p:cNvPr id="30" name="Shape 28"/>
          <p:cNvSpPr/>
          <p:nvPr/>
        </p:nvSpPr>
        <p:spPr>
          <a:xfrm>
            <a:off x="9998415" y="3358591"/>
            <a:ext cx="914" cy="460858"/>
          </a:xfrm>
          <a:prstGeom prst="line">
            <a:avLst/>
          </a:prstGeom>
          <a:noFill/>
          <a:ln w="22860">
            <a:solidFill>
              <a:srgbClr val="3E8E72"/>
            </a:solidFill>
            <a:prstDash val="solid"/>
          </a:ln>
        </p:spPr>
      </p:sp>
      <p:sp>
        <p:nvSpPr>
          <p:cNvPr id="31" name="Shape 29"/>
          <p:cNvSpPr/>
          <p:nvPr/>
        </p:nvSpPr>
        <p:spPr>
          <a:xfrm>
            <a:off x="9934407" y="3755441"/>
            <a:ext cx="128016" cy="128016"/>
          </a:xfrm>
          <a:prstGeom prst="ellipse">
            <a:avLst/>
          </a:prstGeom>
          <a:solidFill>
            <a:srgbClr val="2A5247"/>
          </a:solidFill>
          <a:ln w="6350">
            <a:solidFill>
              <a:srgbClr val="2A5247"/>
            </a:solidFill>
            <a:prstDash val="solid"/>
          </a:ln>
        </p:spPr>
      </p:sp>
      <p:sp>
        <p:nvSpPr>
          <p:cNvPr id="32" name="Shape 30"/>
          <p:cNvSpPr/>
          <p:nvPr/>
        </p:nvSpPr>
        <p:spPr>
          <a:xfrm>
            <a:off x="9998415" y="3819449"/>
            <a:ext cx="643738" cy="914"/>
          </a:xfrm>
          <a:prstGeom prst="line">
            <a:avLst/>
          </a:prstGeom>
          <a:noFill/>
          <a:ln w="22860">
            <a:solidFill>
              <a:srgbClr val="3E8E72"/>
            </a:solidFill>
            <a:prstDash val="solid"/>
          </a:ln>
        </p:spPr>
      </p:sp>
      <p:sp>
        <p:nvSpPr>
          <p:cNvPr id="33" name="Shape 31"/>
          <p:cNvSpPr/>
          <p:nvPr/>
        </p:nvSpPr>
        <p:spPr>
          <a:xfrm>
            <a:off x="10642153" y="3819449"/>
            <a:ext cx="914" cy="345643"/>
          </a:xfrm>
          <a:prstGeom prst="line">
            <a:avLst/>
          </a:prstGeom>
          <a:noFill/>
          <a:ln w="22860">
            <a:solidFill>
              <a:srgbClr val="3E8E72"/>
            </a:solidFill>
            <a:prstDash val="solid"/>
          </a:ln>
        </p:spPr>
      </p:sp>
      <p:sp>
        <p:nvSpPr>
          <p:cNvPr id="34" name="Shape 32"/>
          <p:cNvSpPr/>
          <p:nvPr/>
        </p:nvSpPr>
        <p:spPr>
          <a:xfrm>
            <a:off x="10578145" y="4101084"/>
            <a:ext cx="128016" cy="128016"/>
          </a:xfrm>
          <a:prstGeom prst="ellipse">
            <a:avLst/>
          </a:prstGeom>
          <a:solidFill>
            <a:srgbClr val="2A5247"/>
          </a:solidFill>
          <a:ln w="6350">
            <a:solidFill>
              <a:srgbClr val="2A5247"/>
            </a:solidFill>
            <a:prstDash val="solid"/>
          </a:ln>
        </p:spPr>
      </p:sp>
      <p:sp>
        <p:nvSpPr>
          <p:cNvPr id="35" name="Shape 33"/>
          <p:cNvSpPr/>
          <p:nvPr/>
        </p:nvSpPr>
        <p:spPr>
          <a:xfrm>
            <a:off x="11100816" y="4555998"/>
            <a:ext cx="146304" cy="146304"/>
          </a:xfrm>
          <a:prstGeom prst="ellipse">
            <a:avLst/>
          </a:prstGeom>
          <a:solidFill>
            <a:srgbClr val="C0603C"/>
          </a:solidFill>
          <a:ln w="6350">
            <a:solidFill>
              <a:srgbClr val="C0603C"/>
            </a:solidFill>
            <a:prstDash val="solid"/>
          </a:ln>
        </p:spPr>
      </p:sp>
      <p:sp>
        <p:nvSpPr>
          <p:cNvPr id="36" name="Text 34"/>
          <p:cNvSpPr txBox="1"/>
          <p:nvPr/>
        </p:nvSpPr>
        <p:spPr>
          <a:xfrm>
            <a:off x="10314432" y="4677156"/>
            <a:ext cx="822960" cy="219456"/>
          </a:xfrm>
          <a:prstGeom prst="rect">
            <a:avLst/>
          </a:prstGeom>
          <a:noFill/>
          <a:ln/>
        </p:spPr>
        <p:txBody>
          <a:bodyPr wrap="square" lIns="0" tIns="0" rIns="0" bIns="0" rtlCol="0" anchor="ctr"/>
          <a:lstStyle/>
          <a:p>
            <a:pPr indent="0" marL="0">
              <a:buNone/>
            </a:pPr>
            <a:r>
              <a:rPr lang="en-US" sz="1000" dirty="0">
                <a:solidFill>
                  <a:srgbClr val="C0603C"/>
                </a:solidFill>
              </a:rPr>
              <a:t>(n, n)</a:t>
            </a:r>
            <a:endParaRPr lang="en-US" sz="1000" dirty="0"/>
          </a:p>
        </p:txBody>
      </p:sp>
      <p:sp>
        <p:nvSpPr>
          <p:cNvPr id="37" name="Text 35"/>
          <p:cNvSpPr txBox="1"/>
          <p:nvPr/>
        </p:nvSpPr>
        <p:spPr>
          <a:xfrm>
            <a:off x="8138160" y="2029968"/>
            <a:ext cx="1737360" cy="237744"/>
          </a:xfrm>
          <a:prstGeom prst="rect">
            <a:avLst/>
          </a:prstGeom>
          <a:noFill/>
          <a:ln/>
        </p:spPr>
        <p:txBody>
          <a:bodyPr wrap="square" lIns="0" tIns="0" rIns="0" bIns="0" rtlCol="0" anchor="ctr"/>
          <a:lstStyle/>
          <a:p>
            <a:pPr indent="0" marL="0">
              <a:buNone/>
            </a:pPr>
            <a:r>
              <a:rPr lang="en-US" sz="1100" i="1" dirty="0">
                <a:solidFill>
                  <a:srgbClr val="6B7A75"/>
                </a:solidFill>
              </a:rPr>
              <a:t>hypervolume</a:t>
            </a:r>
            <a:endParaRPr lang="en-US" sz="1100" dirty="0"/>
          </a:p>
        </p:txBody>
      </p:sp>
      <p:sp>
        <p:nvSpPr>
          <p:cNvPr id="25" name="Slide Number Placeholder 0"/>
          <p:cNvSpPr>
            <a:spLocks noGrp="1"/>
          </p:cNvSpPr>
          <p:nvPr>
            <p:ph type="sldNum" sz="quarter" idx="4294967295"/>
          </p:nvPr>
        </p:nvSpPr>
        <p:spPr>
          <a:xfrm>
            <a:off x="11167567" y="6437376"/>
            <a:ext cx="45720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6B7A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420624"/>
            <a:ext cx="11057839" cy="658368"/>
          </a:xfrm>
          <a:prstGeom prst="rect">
            <a:avLst/>
          </a:prstGeom>
          <a:noFill/>
          <a:ln/>
        </p:spPr>
        <p:txBody>
          <a:bodyPr wrap="square" lIns="0" tIns="0" rIns="0" bIns="0" rtlCol="0" anchor="ctr"/>
          <a:lstStyle/>
          <a:p>
            <a:pPr indent="0" marL="0">
              <a:buNone/>
            </a:pPr>
            <a:r>
              <a:rPr lang="en-US" sz="2600" b="1" dirty="0">
                <a:solidFill>
                  <a:srgbClr val="11211C"/>
                </a:solidFill>
                <a:latin typeface="Cambria" pitchFamily="34" charset="0"/>
                <a:ea typeface="Cambria" pitchFamily="34" charset="-122"/>
                <a:cs typeface="Cambria" pitchFamily="34" charset="-120"/>
              </a:rPr>
              <a:t>On sparse instances the problem is secretly one-dimensional</a:t>
            </a:r>
            <a:endParaRPr lang="en-US" sz="2600" dirty="0"/>
          </a:p>
        </p:txBody>
      </p:sp>
      <p:sp>
        <p:nvSpPr>
          <p:cNvPr id="3" name="Text 1"/>
          <p:cNvSpPr txBox="1"/>
          <p:nvPr/>
        </p:nvSpPr>
        <p:spPr>
          <a:xfrm>
            <a:off x="566928" y="1261872"/>
            <a:ext cx="10936224" cy="822960"/>
          </a:xfrm>
          <a:prstGeom prst="rect">
            <a:avLst/>
          </a:prstGeom>
          <a:noFill/>
          <a:ln/>
        </p:spPr>
        <p:txBody>
          <a:bodyPr wrap="square" lIns="0" tIns="0" rIns="0" bIns="0" rtlCol="0" anchor="ctr"/>
          <a:lstStyle/>
          <a:p>
            <a:pPr indent="0" marL="0">
              <a:lnSpc>
                <a:spcPts val="1900"/>
              </a:lnSpc>
              <a:buNone/>
            </a:pPr>
            <a:r>
              <a:rPr lang="en-US" sz="1300" dirty="0">
                <a:solidFill>
                  <a:srgbClr val="11211C"/>
                </a:solidFill>
              </a:rPr>
              <a:t>A point (w, t) covers the rectangle (n − w)(n − t). At t = 0 the width is at least tw(G), so the biggest rectangle a single point can ever cover is (n − tw)·n. Comparing that to the whole square settles how much the other nineteen points can possibly be worth.</a:t>
            </a:r>
            <a:endParaRPr lang="en-US" sz="1300" dirty="0"/>
          </a:p>
        </p:txBody>
      </p:sp>
      <p:sp>
        <p:nvSpPr>
          <p:cNvPr id="4" name="Text 2"/>
          <p:cNvSpPr txBox="1"/>
          <p:nvPr/>
        </p:nvSpPr>
        <p:spPr>
          <a:xfrm>
            <a:off x="566928" y="2322576"/>
            <a:ext cx="4389120" cy="237744"/>
          </a:xfrm>
          <a:prstGeom prst="rect">
            <a:avLst/>
          </a:prstGeom>
          <a:noFill/>
          <a:ln/>
        </p:spPr>
        <p:txBody>
          <a:bodyPr wrap="square" lIns="0" tIns="0" rIns="0" bIns="0" rtlCol="0" anchor="ctr"/>
          <a:lstStyle/>
          <a:p>
            <a:pPr indent="0" marL="0">
              <a:buNone/>
            </a:pPr>
            <a:r>
              <a:rPr lang="en-US" sz="1250" b="1" dirty="0">
                <a:solidFill>
                  <a:srgbClr val="3E8E72"/>
                </a:solidFill>
                <a:latin typeface="Courier New" pitchFamily="34" charset="0"/>
                <a:ea typeface="Courier New" pitchFamily="34" charset="-122"/>
                <a:cs typeface="Courier New" pitchFamily="34" charset="-120"/>
              </a:rPr>
              <a:t>small-graph</a:t>
            </a:r>
            <a:endParaRPr lang="en-US" sz="1250" dirty="0"/>
          </a:p>
        </p:txBody>
      </p:sp>
      <p:sp>
        <p:nvSpPr>
          <p:cNvPr id="5" name="Text 3"/>
          <p:cNvSpPr txBox="1"/>
          <p:nvPr/>
        </p:nvSpPr>
        <p:spPr>
          <a:xfrm>
            <a:off x="566928" y="2560320"/>
            <a:ext cx="4389120" cy="219456"/>
          </a:xfrm>
          <a:prstGeom prst="rect">
            <a:avLst/>
          </a:prstGeom>
          <a:noFill/>
          <a:ln/>
        </p:spPr>
        <p:txBody>
          <a:bodyPr wrap="square" lIns="0" tIns="0" rIns="0" bIns="0" rtlCol="0" anchor="ctr"/>
          <a:lstStyle/>
          <a:p>
            <a:pPr indent="0" marL="0">
              <a:buNone/>
            </a:pPr>
            <a:r>
              <a:rPr lang="en-US" sz="1050" dirty="0">
                <a:solidFill>
                  <a:srgbClr val="6B7A75"/>
                </a:solidFill>
              </a:rPr>
              <a:t>n = 1,357 · tw ≥ 5</a:t>
            </a:r>
            <a:endParaRPr lang="en-US" sz="1050" dirty="0"/>
          </a:p>
        </p:txBody>
      </p:sp>
      <p:sp>
        <p:nvSpPr>
          <p:cNvPr id="6" name="Shape 4"/>
          <p:cNvSpPr/>
          <p:nvPr/>
        </p:nvSpPr>
        <p:spPr>
          <a:xfrm>
            <a:off x="566928" y="2798064"/>
            <a:ext cx="1920240" cy="1920240"/>
          </a:xfrm>
          <a:prstGeom prst="rect">
            <a:avLst/>
          </a:prstGeom>
          <a:solidFill>
            <a:srgbClr val="FFFFFF"/>
          </a:solidFill>
          <a:ln w="11430">
            <a:solidFill>
              <a:srgbClr val="6B7A75"/>
            </a:solidFill>
            <a:prstDash val="solid"/>
          </a:ln>
        </p:spPr>
      </p:sp>
      <p:sp>
        <p:nvSpPr>
          <p:cNvPr id="7" name="Shape 5"/>
          <p:cNvSpPr/>
          <p:nvPr/>
        </p:nvSpPr>
        <p:spPr>
          <a:xfrm>
            <a:off x="566928" y="2805169"/>
            <a:ext cx="1920240" cy="1913135"/>
          </a:xfrm>
          <a:prstGeom prst="rect">
            <a:avLst/>
          </a:prstGeom>
          <a:solidFill>
            <a:srgbClr val="3E8E72">
              <a:alpha val="38000"/>
            </a:srgbClr>
          </a:solidFill>
          <a:ln w="3175">
            <a:solidFill>
              <a:srgbClr val="3E8E72">
                <a:alpha val="38000"/>
              </a:srgbClr>
            </a:solidFill>
            <a:prstDash val="solid"/>
          </a:ln>
        </p:spPr>
      </p:sp>
      <p:sp>
        <p:nvSpPr>
          <p:cNvPr id="8" name="Shape 6"/>
          <p:cNvSpPr/>
          <p:nvPr/>
        </p:nvSpPr>
        <p:spPr>
          <a:xfrm>
            <a:off x="566928" y="2805169"/>
            <a:ext cx="1920240" cy="914"/>
          </a:xfrm>
          <a:prstGeom prst="line">
            <a:avLst/>
          </a:prstGeom>
          <a:noFill/>
          <a:ln w="20320">
            <a:solidFill>
              <a:srgbClr val="3E8E72"/>
            </a:solidFill>
            <a:prstDash val="solid"/>
          </a:ln>
        </p:spPr>
      </p:sp>
      <p:sp>
        <p:nvSpPr>
          <p:cNvPr id="9" name="Text 7"/>
          <p:cNvSpPr txBox="1"/>
          <p:nvPr/>
        </p:nvSpPr>
        <p:spPr>
          <a:xfrm>
            <a:off x="566928" y="2896609"/>
            <a:ext cx="1920240" cy="365760"/>
          </a:xfrm>
          <a:prstGeom prst="rect">
            <a:avLst/>
          </a:prstGeom>
          <a:noFill/>
          <a:ln/>
        </p:spPr>
        <p:txBody>
          <a:bodyPr wrap="square" lIns="0" tIns="0" rIns="0" bIns="0" rtlCol="0" anchor="ctr"/>
          <a:lstStyle/>
          <a:p>
            <a:pPr algn="ctr" indent="0" marL="0">
              <a:buNone/>
            </a:pPr>
            <a:r>
              <a:rPr lang="en-US" sz="1700" b="1" dirty="0">
                <a:solidFill>
                  <a:srgbClr val="3E8E72"/>
                </a:solidFill>
                <a:latin typeface="Cambria" pitchFamily="34" charset="0"/>
                <a:ea typeface="Cambria" pitchFamily="34" charset="-122"/>
                <a:cs typeface="Cambria" pitchFamily="34" charset="-120"/>
              </a:rPr>
              <a:t>99.63%</a:t>
            </a:r>
            <a:endParaRPr lang="en-US" sz="1700" dirty="0"/>
          </a:p>
        </p:txBody>
      </p:sp>
      <p:sp>
        <p:nvSpPr>
          <p:cNvPr id="10" name="Text 8"/>
          <p:cNvSpPr txBox="1"/>
          <p:nvPr/>
        </p:nvSpPr>
        <p:spPr>
          <a:xfrm>
            <a:off x="566928" y="4791456"/>
            <a:ext cx="1920240" cy="219456"/>
          </a:xfrm>
          <a:prstGeom prst="rect">
            <a:avLst/>
          </a:prstGeom>
          <a:noFill/>
          <a:ln/>
        </p:spPr>
        <p:txBody>
          <a:bodyPr wrap="square" lIns="0" tIns="0" rIns="0" bIns="0" rtlCol="0" anchor="ctr"/>
          <a:lstStyle/>
          <a:p>
            <a:pPr algn="ctr" indent="0" marL="0">
              <a:buNone/>
            </a:pPr>
            <a:r>
              <a:rPr lang="en-US" sz="950" dirty="0">
                <a:solidFill>
                  <a:srgbClr val="6B7A75"/>
                </a:solidFill>
              </a:rPr>
              <a:t>n × n</a:t>
            </a:r>
            <a:endParaRPr lang="en-US" sz="950" dirty="0"/>
          </a:p>
        </p:txBody>
      </p:sp>
      <p:sp>
        <p:nvSpPr>
          <p:cNvPr id="11" name="Text 9"/>
          <p:cNvSpPr txBox="1"/>
          <p:nvPr/>
        </p:nvSpPr>
        <p:spPr>
          <a:xfrm>
            <a:off x="2743200" y="2871216"/>
            <a:ext cx="2212848" cy="1920240"/>
          </a:xfrm>
          <a:prstGeom prst="rect">
            <a:avLst/>
          </a:prstGeom>
          <a:noFill/>
          <a:ln/>
        </p:spPr>
        <p:txBody>
          <a:bodyPr wrap="square" lIns="0" tIns="0" rIns="0" bIns="0" rtlCol="0" anchor="ctr"/>
          <a:lstStyle/>
          <a:p>
            <a:pPr indent="0" marL="0">
              <a:lnSpc>
                <a:spcPts val="1700"/>
              </a:lnSpc>
              <a:buNone/>
            </a:pPr>
            <a:r>
              <a:rPr lang="en-US" sz="1150" dirty="0">
                <a:solidFill>
                  <a:srgbClr val="11211C"/>
                </a:solidFill>
              </a:rPr>
              <a:t>One point could cover 99.63% of n². The whole 20-point front reaches 99.37%, so a single point could account for the entire score.</a:t>
            </a:r>
            <a:endParaRPr lang="en-US" sz="1150" dirty="0"/>
          </a:p>
        </p:txBody>
      </p:sp>
      <p:sp>
        <p:nvSpPr>
          <p:cNvPr id="12" name="Text 10"/>
          <p:cNvSpPr txBox="1"/>
          <p:nvPr/>
        </p:nvSpPr>
        <p:spPr>
          <a:xfrm>
            <a:off x="5184648" y="2322576"/>
            <a:ext cx="4389120" cy="237744"/>
          </a:xfrm>
          <a:prstGeom prst="rect">
            <a:avLst/>
          </a:prstGeom>
          <a:noFill/>
          <a:ln/>
        </p:spPr>
        <p:txBody>
          <a:bodyPr wrap="square" lIns="0" tIns="0" rIns="0" bIns="0" rtlCol="0" anchor="ctr"/>
          <a:lstStyle/>
          <a:p>
            <a:pPr indent="0" marL="0">
              <a:buNone/>
            </a:pPr>
            <a:r>
              <a:rPr lang="en-US" sz="1250" b="1" dirty="0">
                <a:solidFill>
                  <a:srgbClr val="C0603C"/>
                </a:solidFill>
                <a:latin typeface="Courier New" pitchFamily="34" charset="0"/>
                <a:ea typeface="Courier New" pitchFamily="34" charset="-122"/>
                <a:cs typeface="Courier New" pitchFamily="34" charset="-120"/>
              </a:rPr>
              <a:t>large-graph</a:t>
            </a:r>
            <a:endParaRPr lang="en-US" sz="1250" dirty="0"/>
          </a:p>
        </p:txBody>
      </p:sp>
      <p:sp>
        <p:nvSpPr>
          <p:cNvPr id="13" name="Text 11"/>
          <p:cNvSpPr txBox="1"/>
          <p:nvPr/>
        </p:nvSpPr>
        <p:spPr>
          <a:xfrm>
            <a:off x="5184648" y="2560320"/>
            <a:ext cx="4389120" cy="219456"/>
          </a:xfrm>
          <a:prstGeom prst="rect">
            <a:avLst/>
          </a:prstGeom>
          <a:noFill/>
          <a:ln/>
        </p:spPr>
        <p:txBody>
          <a:bodyPr wrap="square" lIns="0" tIns="0" rIns="0" bIns="0" rtlCol="0" anchor="ctr"/>
          <a:lstStyle/>
          <a:p>
            <a:pPr indent="0" marL="0">
              <a:buNone/>
            </a:pPr>
            <a:r>
              <a:rPr lang="en-US" sz="1050" dirty="0">
                <a:solidFill>
                  <a:srgbClr val="6B7A75"/>
                </a:solidFill>
              </a:rPr>
              <a:t>n = 2,426 · tw ≥ 499</a:t>
            </a:r>
            <a:endParaRPr lang="en-US" sz="1050" dirty="0"/>
          </a:p>
        </p:txBody>
      </p:sp>
      <p:sp>
        <p:nvSpPr>
          <p:cNvPr id="14" name="Shape 12"/>
          <p:cNvSpPr/>
          <p:nvPr/>
        </p:nvSpPr>
        <p:spPr>
          <a:xfrm>
            <a:off x="5184648" y="2798064"/>
            <a:ext cx="1920240" cy="1920240"/>
          </a:xfrm>
          <a:prstGeom prst="rect">
            <a:avLst/>
          </a:prstGeom>
          <a:solidFill>
            <a:srgbClr val="FFFFFF"/>
          </a:solidFill>
          <a:ln w="11430">
            <a:solidFill>
              <a:srgbClr val="6B7A75"/>
            </a:solidFill>
            <a:prstDash val="solid"/>
          </a:ln>
        </p:spPr>
      </p:sp>
      <p:sp>
        <p:nvSpPr>
          <p:cNvPr id="15" name="Shape 13"/>
          <p:cNvSpPr/>
          <p:nvPr/>
        </p:nvSpPr>
        <p:spPr>
          <a:xfrm>
            <a:off x="5184648" y="3193633"/>
            <a:ext cx="1920240" cy="1524671"/>
          </a:xfrm>
          <a:prstGeom prst="rect">
            <a:avLst/>
          </a:prstGeom>
          <a:solidFill>
            <a:srgbClr val="C0603C">
              <a:alpha val="38000"/>
            </a:srgbClr>
          </a:solidFill>
          <a:ln w="3175">
            <a:solidFill>
              <a:srgbClr val="C0603C">
                <a:alpha val="38000"/>
              </a:srgbClr>
            </a:solidFill>
            <a:prstDash val="solid"/>
          </a:ln>
        </p:spPr>
      </p:sp>
      <p:sp>
        <p:nvSpPr>
          <p:cNvPr id="16" name="Shape 14"/>
          <p:cNvSpPr/>
          <p:nvPr/>
        </p:nvSpPr>
        <p:spPr>
          <a:xfrm>
            <a:off x="5184648" y="3193633"/>
            <a:ext cx="1920240" cy="914"/>
          </a:xfrm>
          <a:prstGeom prst="line">
            <a:avLst/>
          </a:prstGeom>
          <a:noFill/>
          <a:ln w="20320">
            <a:solidFill>
              <a:srgbClr val="C0603C"/>
            </a:solidFill>
            <a:prstDash val="solid"/>
          </a:ln>
        </p:spPr>
      </p:sp>
      <p:sp>
        <p:nvSpPr>
          <p:cNvPr id="17" name="Text 15"/>
          <p:cNvSpPr txBox="1"/>
          <p:nvPr/>
        </p:nvSpPr>
        <p:spPr>
          <a:xfrm>
            <a:off x="5184648" y="3285073"/>
            <a:ext cx="1920240" cy="365760"/>
          </a:xfrm>
          <a:prstGeom prst="rect">
            <a:avLst/>
          </a:prstGeom>
          <a:noFill/>
          <a:ln/>
        </p:spPr>
        <p:txBody>
          <a:bodyPr wrap="square" lIns="0" tIns="0" rIns="0" bIns="0" rtlCol="0" anchor="ctr"/>
          <a:lstStyle/>
          <a:p>
            <a:pPr algn="ctr" indent="0" marL="0">
              <a:buNone/>
            </a:pPr>
            <a:r>
              <a:rPr lang="en-US" sz="1700" b="1" dirty="0">
                <a:solidFill>
                  <a:srgbClr val="C0603C"/>
                </a:solidFill>
                <a:latin typeface="Cambria" pitchFamily="34" charset="0"/>
                <a:ea typeface="Cambria" pitchFamily="34" charset="-122"/>
                <a:cs typeface="Cambria" pitchFamily="34" charset="-120"/>
              </a:rPr>
              <a:t>79.4%</a:t>
            </a:r>
            <a:endParaRPr lang="en-US" sz="1700" dirty="0"/>
          </a:p>
        </p:txBody>
      </p:sp>
      <p:sp>
        <p:nvSpPr>
          <p:cNvPr id="18" name="Text 16"/>
          <p:cNvSpPr txBox="1"/>
          <p:nvPr/>
        </p:nvSpPr>
        <p:spPr>
          <a:xfrm>
            <a:off x="5184648" y="4791456"/>
            <a:ext cx="1920240" cy="219456"/>
          </a:xfrm>
          <a:prstGeom prst="rect">
            <a:avLst/>
          </a:prstGeom>
          <a:noFill/>
          <a:ln/>
        </p:spPr>
        <p:txBody>
          <a:bodyPr wrap="square" lIns="0" tIns="0" rIns="0" bIns="0" rtlCol="0" anchor="ctr"/>
          <a:lstStyle/>
          <a:p>
            <a:pPr algn="ctr" indent="0" marL="0">
              <a:buNone/>
            </a:pPr>
            <a:r>
              <a:rPr lang="en-US" sz="950" dirty="0">
                <a:solidFill>
                  <a:srgbClr val="6B7A75"/>
                </a:solidFill>
              </a:rPr>
              <a:t>n × n</a:t>
            </a:r>
            <a:endParaRPr lang="en-US" sz="950" dirty="0"/>
          </a:p>
        </p:txBody>
      </p:sp>
      <p:sp>
        <p:nvSpPr>
          <p:cNvPr id="19" name="Text 17"/>
          <p:cNvSpPr txBox="1"/>
          <p:nvPr/>
        </p:nvSpPr>
        <p:spPr>
          <a:xfrm>
            <a:off x="7360920" y="2871216"/>
            <a:ext cx="2212848" cy="1920240"/>
          </a:xfrm>
          <a:prstGeom prst="rect">
            <a:avLst/>
          </a:prstGeom>
          <a:noFill/>
          <a:ln/>
        </p:spPr>
        <p:txBody>
          <a:bodyPr wrap="square" lIns="0" tIns="0" rIns="0" bIns="0" rtlCol="0" anchor="ctr"/>
          <a:lstStyle/>
          <a:p>
            <a:pPr indent="0" marL="0">
              <a:lnSpc>
                <a:spcPts val="1700"/>
              </a:lnSpc>
              <a:buNone/>
            </a:pPr>
            <a:r>
              <a:rPr lang="en-US" sz="1150" dirty="0">
                <a:solidFill>
                  <a:srgbClr val="11211C"/>
                </a:solidFill>
              </a:rPr>
              <a:t>One point can cover at most 79.4%. The achieved score is 93.3%, so here the staircase provably does real work.</a:t>
            </a:r>
            <a:endParaRPr lang="en-US" sz="1150" dirty="0"/>
          </a:p>
        </p:txBody>
      </p:sp>
      <p:sp>
        <p:nvSpPr>
          <p:cNvPr id="20" name="Text 18"/>
          <p:cNvSpPr txBox="1"/>
          <p:nvPr/>
        </p:nvSpPr>
        <p:spPr>
          <a:xfrm>
            <a:off x="566928" y="2084832"/>
            <a:ext cx="9235440" cy="201168"/>
          </a:xfrm>
          <a:prstGeom prst="rect">
            <a:avLst/>
          </a:prstGeom>
          <a:noFill/>
          <a:ln/>
        </p:spPr>
        <p:txBody>
          <a:bodyPr wrap="square" lIns="0" tIns="0" rIns="0" bIns="0" rtlCol="0" anchor="ctr"/>
          <a:lstStyle/>
          <a:p>
            <a:pPr indent="0" marL="0">
              <a:buNone/>
            </a:pPr>
            <a:r>
              <a:rPr lang="en-US" sz="950" i="1" dirty="0">
                <a:solidFill>
                  <a:srgbClr val="6B7A75"/>
                </a:solidFill>
              </a:rPr>
              <a:t>covered by one point at t = 0</a:t>
            </a:r>
            <a:endParaRPr lang="en-US" sz="950" dirty="0"/>
          </a:p>
        </p:txBody>
      </p:sp>
      <p:sp>
        <p:nvSpPr>
          <p:cNvPr id="21" name="Shape 19"/>
          <p:cNvSpPr/>
          <p:nvPr/>
        </p:nvSpPr>
        <p:spPr>
          <a:xfrm>
            <a:off x="566928" y="5138928"/>
            <a:ext cx="10936224" cy="914400"/>
          </a:xfrm>
          <a:prstGeom prst="roundRect">
            <a:avLst>
              <a:gd name="adj" fmla="val 4000"/>
            </a:avLst>
          </a:prstGeom>
          <a:solidFill>
            <a:srgbClr val="1F3A33"/>
          </a:solidFill>
          <a:ln w="6350">
            <a:solidFill>
              <a:srgbClr val="1F3A33"/>
            </a:solidFill>
            <a:prstDash val="solid"/>
          </a:ln>
        </p:spPr>
      </p:sp>
      <p:sp>
        <p:nvSpPr>
          <p:cNvPr id="22" name="Text 20"/>
          <p:cNvSpPr txBox="1"/>
          <p:nvPr/>
        </p:nvSpPr>
        <p:spPr>
          <a:xfrm>
            <a:off x="859536" y="5303520"/>
            <a:ext cx="10332720" cy="621792"/>
          </a:xfrm>
          <a:prstGeom prst="rect">
            <a:avLst/>
          </a:prstGeom>
          <a:noFill/>
          <a:ln/>
        </p:spPr>
        <p:txBody>
          <a:bodyPr wrap="square" lIns="0" tIns="0" rIns="0" bIns="0" rtlCol="0" anchor="ctr"/>
          <a:lstStyle/>
          <a:p>
            <a:pPr indent="0" marL="0">
              <a:lnSpc>
                <a:spcPts val="1800"/>
              </a:lnSpc>
              <a:buNone/>
            </a:pPr>
            <a:r>
              <a:rPr lang="en-US" sz="1250" dirty="0">
                <a:solidFill>
                  <a:srgbClr val="FFFFFF"/>
                </a:solidFill>
              </a:rPr>
              <a:t>On the sparse instances the bi-objective challenge collapses, in practice, to minimising the elimination width of the whole permutation: treewidth minimisation. On the dense ones it does not.</a:t>
            </a:r>
            <a:endParaRPr lang="en-US" sz="1250" dirty="0"/>
          </a:p>
        </p:txBody>
      </p:sp>
      <p:sp>
        <p:nvSpPr>
          <p:cNvPr id="25" name="Slide Number Placeholder 0"/>
          <p:cNvSpPr>
            <a:spLocks noGrp="1"/>
          </p:cNvSpPr>
          <p:nvPr>
            <p:ph type="sldNum" sz="quarter" idx="4294967295"/>
          </p:nvPr>
        </p:nvSpPr>
        <p:spPr>
          <a:xfrm>
            <a:off x="11167567" y="6437376"/>
            <a:ext cx="45720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6B7A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420624"/>
            <a:ext cx="11057839" cy="658368"/>
          </a:xfrm>
          <a:prstGeom prst="rect">
            <a:avLst/>
          </a:prstGeom>
          <a:noFill/>
          <a:ln/>
        </p:spPr>
        <p:txBody>
          <a:bodyPr wrap="square" lIns="0" tIns="0" rIns="0" bIns="0" rtlCol="0" anchor="ctr"/>
          <a:lstStyle/>
          <a:p>
            <a:pPr indent="0" marL="0">
              <a:buNone/>
            </a:pPr>
            <a:r>
              <a:rPr lang="en-US" sz="2600" b="1" dirty="0">
                <a:solidFill>
                  <a:srgbClr val="11211C"/>
                </a:solidFill>
                <a:latin typeface="Cambria" pitchFamily="34" charset="0"/>
                <a:ea typeface="Cambria" pitchFamily="34" charset="-122"/>
                <a:cs typeface="Cambria" pitchFamily="34" charset="-120"/>
              </a:rPr>
              <a:t>Hard twice over, and the second one is nested inside the first</a:t>
            </a:r>
            <a:endParaRPr lang="en-US" sz="2600" dirty="0"/>
          </a:p>
        </p:txBody>
      </p:sp>
      <p:sp>
        <p:nvSpPr>
          <p:cNvPr id="3" name="Shape 1"/>
          <p:cNvSpPr/>
          <p:nvPr/>
        </p:nvSpPr>
        <p:spPr>
          <a:xfrm>
            <a:off x="566928" y="1325880"/>
            <a:ext cx="5321808" cy="1938528"/>
          </a:xfrm>
          <a:prstGeom prst="roundRect">
            <a:avLst>
              <a:gd name="adj" fmla="val 1887"/>
            </a:avLst>
          </a:prstGeom>
          <a:solidFill>
            <a:srgbClr val="EFF3F1"/>
          </a:solidFill>
          <a:ln w="6350">
            <a:solidFill>
              <a:srgbClr val="EFF3F1"/>
            </a:solidFill>
            <a:prstDash val="solid"/>
          </a:ln>
        </p:spPr>
      </p:sp>
      <p:sp>
        <p:nvSpPr>
          <p:cNvPr id="4" name="Text 2"/>
          <p:cNvSpPr txBox="1"/>
          <p:nvPr/>
        </p:nvSpPr>
        <p:spPr>
          <a:xfrm>
            <a:off x="841248" y="1517904"/>
            <a:ext cx="365760" cy="402336"/>
          </a:xfrm>
          <a:prstGeom prst="rect">
            <a:avLst/>
          </a:prstGeom>
          <a:noFill/>
          <a:ln/>
        </p:spPr>
        <p:txBody>
          <a:bodyPr wrap="square" lIns="0" tIns="0" rIns="0" bIns="0" rtlCol="0" anchor="ctr"/>
          <a:lstStyle/>
          <a:p>
            <a:pPr indent="0" marL="0">
              <a:buNone/>
            </a:pPr>
            <a:r>
              <a:rPr lang="en-US" sz="2400" b="1" dirty="0">
                <a:solidFill>
                  <a:srgbClr val="B9CFC4"/>
                </a:solidFill>
                <a:latin typeface="Cambria" pitchFamily="34" charset="0"/>
                <a:ea typeface="Cambria" pitchFamily="34" charset="-122"/>
                <a:cs typeface="Cambria" pitchFamily="34" charset="-120"/>
              </a:rPr>
              <a:t>1</a:t>
            </a:r>
            <a:endParaRPr lang="en-US" sz="2400" dirty="0"/>
          </a:p>
        </p:txBody>
      </p:sp>
      <p:sp>
        <p:nvSpPr>
          <p:cNvPr id="5" name="Text 3"/>
          <p:cNvSpPr txBox="1"/>
          <p:nvPr/>
        </p:nvSpPr>
        <p:spPr>
          <a:xfrm>
            <a:off x="1316736" y="1572768"/>
            <a:ext cx="4352544" cy="292608"/>
          </a:xfrm>
          <a:prstGeom prst="rect">
            <a:avLst/>
          </a:prstGeom>
          <a:noFill/>
          <a:ln/>
        </p:spPr>
        <p:txBody>
          <a:bodyPr wrap="square" lIns="0" tIns="0" rIns="0" bIns="0" rtlCol="0" anchor="ctr"/>
          <a:lstStyle/>
          <a:p>
            <a:pPr indent="0" marL="0">
              <a:buNone/>
            </a:pPr>
            <a:r>
              <a:rPr lang="en-US" sz="1400" b="1" dirty="0">
                <a:solidFill>
                  <a:srgbClr val="11211C"/>
                </a:solidFill>
              </a:rPr>
              <a:t>Choose which t vertices to eliminate</a:t>
            </a:r>
            <a:endParaRPr lang="en-US" sz="1400" dirty="0"/>
          </a:p>
        </p:txBody>
      </p:sp>
      <p:sp>
        <p:nvSpPr>
          <p:cNvPr id="6" name="Text 4"/>
          <p:cNvSpPr txBox="1"/>
          <p:nvPr/>
        </p:nvSpPr>
        <p:spPr>
          <a:xfrm>
            <a:off x="1316736" y="1938528"/>
            <a:ext cx="4352544" cy="1152144"/>
          </a:xfrm>
          <a:prstGeom prst="rect">
            <a:avLst/>
          </a:prstGeom>
          <a:noFill/>
          <a:ln/>
        </p:spPr>
        <p:txBody>
          <a:bodyPr wrap="square" lIns="0" tIns="0" rIns="0" bIns="0" rtlCol="0" anchor="ctr"/>
          <a:lstStyle/>
          <a:p>
            <a:pPr indent="0" marL="0">
              <a:lnSpc>
                <a:spcPts val="1800"/>
              </a:lnSpc>
              <a:buNone/>
            </a:pPr>
            <a:r>
              <a:rPr lang="en-US" sz="1250" dirty="0">
                <a:solidFill>
                  <a:srgbClr val="11211C"/>
                </a:solidFill>
              </a:rPr>
              <a:t>At n = 1,357 and t ≈ 600 that is about 10⁴⁰⁵ subsets. The observable universe holds roughly 10⁸⁰ atoms.</a:t>
            </a:r>
            <a:endParaRPr lang="en-US" sz="1250" dirty="0"/>
          </a:p>
        </p:txBody>
      </p:sp>
      <p:sp>
        <p:nvSpPr>
          <p:cNvPr id="7" name="Shape 5"/>
          <p:cNvSpPr/>
          <p:nvPr/>
        </p:nvSpPr>
        <p:spPr>
          <a:xfrm>
            <a:off x="6163056" y="1325880"/>
            <a:ext cx="5321808" cy="1938528"/>
          </a:xfrm>
          <a:prstGeom prst="roundRect">
            <a:avLst>
              <a:gd name="adj" fmla="val 1887"/>
            </a:avLst>
          </a:prstGeom>
          <a:solidFill>
            <a:srgbClr val="EFF3F1"/>
          </a:solidFill>
          <a:ln w="6350">
            <a:solidFill>
              <a:srgbClr val="EFF3F1"/>
            </a:solidFill>
            <a:prstDash val="solid"/>
          </a:ln>
        </p:spPr>
      </p:sp>
      <p:sp>
        <p:nvSpPr>
          <p:cNvPr id="8" name="Text 6"/>
          <p:cNvSpPr txBox="1"/>
          <p:nvPr/>
        </p:nvSpPr>
        <p:spPr>
          <a:xfrm>
            <a:off x="6437376" y="1517904"/>
            <a:ext cx="365760" cy="402336"/>
          </a:xfrm>
          <a:prstGeom prst="rect">
            <a:avLst/>
          </a:prstGeom>
          <a:noFill/>
          <a:ln/>
        </p:spPr>
        <p:txBody>
          <a:bodyPr wrap="square" lIns="0" tIns="0" rIns="0" bIns="0" rtlCol="0" anchor="ctr"/>
          <a:lstStyle/>
          <a:p>
            <a:pPr indent="0" marL="0">
              <a:buNone/>
            </a:pPr>
            <a:r>
              <a:rPr lang="en-US" sz="2400" b="1" dirty="0">
                <a:solidFill>
                  <a:srgbClr val="B9CFC4"/>
                </a:solidFill>
                <a:latin typeface="Cambria" pitchFamily="34" charset="0"/>
                <a:ea typeface="Cambria" pitchFamily="34" charset="-122"/>
                <a:cs typeface="Cambria" pitchFamily="34" charset="-120"/>
              </a:rPr>
              <a:t>2</a:t>
            </a:r>
            <a:endParaRPr lang="en-US" sz="2400" dirty="0"/>
          </a:p>
        </p:txBody>
      </p:sp>
      <p:sp>
        <p:nvSpPr>
          <p:cNvPr id="9" name="Text 7"/>
          <p:cNvSpPr txBox="1"/>
          <p:nvPr/>
        </p:nvSpPr>
        <p:spPr>
          <a:xfrm>
            <a:off x="6912864" y="1572768"/>
            <a:ext cx="4352544" cy="292608"/>
          </a:xfrm>
          <a:prstGeom prst="rect">
            <a:avLst/>
          </a:prstGeom>
          <a:noFill/>
          <a:ln/>
        </p:spPr>
        <p:txBody>
          <a:bodyPr wrap="square" lIns="0" tIns="0" rIns="0" bIns="0" rtlCol="0" anchor="ctr"/>
          <a:lstStyle/>
          <a:p>
            <a:pPr indent="0" marL="0">
              <a:buNone/>
            </a:pPr>
            <a:r>
              <a:rPr lang="en-US" sz="1400" b="1" dirty="0">
                <a:solidFill>
                  <a:srgbClr val="11211C"/>
                </a:solidFill>
              </a:rPr>
              <a:t>Then minimise width inside what is left</a:t>
            </a:r>
            <a:endParaRPr lang="en-US" sz="1400" dirty="0"/>
          </a:p>
        </p:txBody>
      </p:sp>
      <p:sp>
        <p:nvSpPr>
          <p:cNvPr id="10" name="Text 8"/>
          <p:cNvSpPr txBox="1"/>
          <p:nvPr/>
        </p:nvSpPr>
        <p:spPr>
          <a:xfrm>
            <a:off x="6912864" y="1938528"/>
            <a:ext cx="4352544" cy="1152144"/>
          </a:xfrm>
          <a:prstGeom prst="rect">
            <a:avLst/>
          </a:prstGeom>
          <a:noFill/>
          <a:ln/>
        </p:spPr>
        <p:txBody>
          <a:bodyPr wrap="square" lIns="0" tIns="0" rIns="0" bIns="0" rtlCol="0" anchor="ctr"/>
          <a:lstStyle/>
          <a:p>
            <a:pPr indent="0" marL="0">
              <a:lnSpc>
                <a:spcPts val="1800"/>
              </a:lnSpc>
              <a:buNone/>
            </a:pPr>
            <a:r>
              <a:rPr lang="en-US" sz="1250" dirty="0">
                <a:solidFill>
                  <a:srgbClr val="11211C"/>
                </a:solidFill>
              </a:rPr>
              <a:t>The minimum elimination width of any graph is exactly its treewidth. Computing treewidth is NP-hard (Arnborg, Corneil &amp; Proskurowski, 1987); so is minimum fill-in (Yannakakis, 1981).</a:t>
            </a:r>
            <a:endParaRPr lang="en-US" sz="1250" dirty="0"/>
          </a:p>
        </p:txBody>
      </p:sp>
      <p:sp>
        <p:nvSpPr>
          <p:cNvPr id="11" name="Shape 9"/>
          <p:cNvSpPr/>
          <p:nvPr/>
        </p:nvSpPr>
        <p:spPr>
          <a:xfrm>
            <a:off x="5742432" y="2148840"/>
            <a:ext cx="384048" cy="274320"/>
          </a:xfrm>
          <a:prstGeom prst="rightArrow">
            <a:avLst/>
          </a:prstGeom>
          <a:solidFill>
            <a:srgbClr val="3E8E72"/>
          </a:solidFill>
          <a:ln w="12700">
            <a:solidFill>
              <a:srgbClr val="3E8E72"/>
            </a:solidFill>
            <a:prstDash val="solid"/>
          </a:ln>
        </p:spPr>
      </p:sp>
      <p:sp>
        <p:nvSpPr>
          <p:cNvPr id="12" name="Shape 10"/>
          <p:cNvSpPr/>
          <p:nvPr/>
        </p:nvSpPr>
        <p:spPr>
          <a:xfrm>
            <a:off x="566928" y="3493008"/>
            <a:ext cx="10936224" cy="1005840"/>
          </a:xfrm>
          <a:prstGeom prst="roundRect">
            <a:avLst>
              <a:gd name="adj" fmla="val 3636"/>
            </a:avLst>
          </a:prstGeom>
          <a:solidFill>
            <a:srgbClr val="1F3A33"/>
          </a:solidFill>
          <a:ln w="6350">
            <a:solidFill>
              <a:srgbClr val="1F3A33"/>
            </a:solidFill>
            <a:prstDash val="solid"/>
          </a:ln>
        </p:spPr>
      </p:sp>
      <p:sp>
        <p:nvSpPr>
          <p:cNvPr id="13" name="Text 11"/>
          <p:cNvSpPr txBox="1"/>
          <p:nvPr/>
        </p:nvSpPr>
        <p:spPr>
          <a:xfrm>
            <a:off x="859536" y="3675888"/>
            <a:ext cx="10332720" cy="676656"/>
          </a:xfrm>
          <a:prstGeom prst="rect">
            <a:avLst/>
          </a:prstGeom>
          <a:noFill/>
          <a:ln/>
        </p:spPr>
        <p:txBody>
          <a:bodyPr wrap="square" lIns="0" tIns="0" rIns="0" bIns="0" rtlCol="0" anchor="ctr"/>
          <a:lstStyle/>
          <a:p>
            <a:pPr indent="0" marL="0">
              <a:lnSpc>
                <a:spcPts val="1900"/>
              </a:lnSpc>
              <a:buNone/>
            </a:pPr>
            <a:r>
              <a:rPr lang="en-US" sz="1300" dirty="0">
                <a:solidFill>
                  <a:srgbClr val="FFFFFF"/>
                </a:solidFill>
              </a:rPr>
              <a:t>The optimum at threshold t is min over all t-subsets S of tw(torso(G,S)): an NP-hard quantity, minimised over an exponential family of subsets.</a:t>
            </a:r>
            <a:endParaRPr lang="en-US" sz="1300" dirty="0"/>
          </a:p>
        </p:txBody>
      </p:sp>
      <p:sp>
        <p:nvSpPr>
          <p:cNvPr id="14" name="Text 12"/>
          <p:cNvSpPr txBox="1"/>
          <p:nvPr/>
        </p:nvSpPr>
        <p:spPr>
          <a:xfrm>
            <a:off x="566928" y="4736592"/>
            <a:ext cx="10936224" cy="822960"/>
          </a:xfrm>
          <a:prstGeom prst="rect">
            <a:avLst/>
          </a:prstGeom>
          <a:noFill/>
          <a:ln/>
        </p:spPr>
        <p:txBody>
          <a:bodyPr wrap="square" lIns="0" tIns="0" rIns="0" bIns="0" rtlCol="0" anchor="ctr"/>
          <a:lstStyle/>
          <a:p>
            <a:pPr indent="0" marL="0">
              <a:lnSpc>
                <a:spcPts val="1800"/>
              </a:lnSpc>
              <a:buNone/>
            </a:pPr>
            <a:r>
              <a:rPr lang="en-US" sz="1250" i="1" dirty="0">
                <a:solidFill>
                  <a:srgbClr val="6B7A75"/>
                </a:solidFill>
              </a:rPr>
              <a:t>Scoring, by contrast, is free: 2-D hypervolume is O(k log k) for k ≤ 20 points. The difficulty sits entirely in the search space, not in the evaluation, and that asymmetry shapes every method in the field.</a:t>
            </a:r>
            <a:endParaRPr lang="en-US" sz="1250" dirty="0"/>
          </a:p>
        </p:txBody>
      </p:sp>
      <p:sp>
        <p:nvSpPr>
          <p:cNvPr id="25" name="Slide Number Placeholder 0"/>
          <p:cNvSpPr>
            <a:spLocks noGrp="1"/>
          </p:cNvSpPr>
          <p:nvPr>
            <p:ph type="sldNum" sz="quarter" idx="4294967295"/>
          </p:nvPr>
        </p:nvSpPr>
        <p:spPr>
          <a:xfrm>
            <a:off x="11167567" y="6437376"/>
            <a:ext cx="45720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6B7A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420624"/>
            <a:ext cx="11057839" cy="658368"/>
          </a:xfrm>
          <a:prstGeom prst="rect">
            <a:avLst/>
          </a:prstGeom>
          <a:noFill/>
          <a:ln/>
        </p:spPr>
        <p:txBody>
          <a:bodyPr wrap="square" lIns="0" tIns="0" rIns="0" bIns="0" rtlCol="0" anchor="ctr"/>
          <a:lstStyle/>
          <a:p>
            <a:pPr indent="0" marL="0">
              <a:buNone/>
            </a:pPr>
            <a:r>
              <a:rPr lang="en-US" sz="2600" b="1" dirty="0">
                <a:solidFill>
                  <a:srgbClr val="11211C"/>
                </a:solidFill>
                <a:latin typeface="Cambria" pitchFamily="34" charset="0"/>
                <a:ea typeface="Cambria" pitchFamily="34" charset="-122"/>
                <a:cs typeface="Cambria" pitchFamily="34" charset="-120"/>
              </a:rPr>
              <a:t>How good could any answer possibly be</a:t>
            </a:r>
            <a:endParaRPr lang="en-US" sz="2600" dirty="0"/>
          </a:p>
        </p:txBody>
      </p:sp>
      <p:sp>
        <p:nvSpPr>
          <p:cNvPr id="3" name="Text 1"/>
          <p:cNvSpPr txBox="1"/>
          <p:nvPr/>
        </p:nvSpPr>
        <p:spPr>
          <a:xfrm>
            <a:off x="566928" y="1280160"/>
            <a:ext cx="5943600" cy="1097280"/>
          </a:xfrm>
          <a:prstGeom prst="rect">
            <a:avLst/>
          </a:prstGeom>
          <a:noFill/>
          <a:ln/>
        </p:spPr>
        <p:txBody>
          <a:bodyPr wrap="square" lIns="0" tIns="0" rIns="0" bIns="0" rtlCol="0" anchor="ctr"/>
          <a:lstStyle/>
          <a:p>
            <a:pPr indent="0" marL="0">
              <a:lnSpc>
                <a:spcPts val="1900"/>
              </a:lnSpc>
              <a:buNone/>
            </a:pPr>
            <a:r>
              <a:rPr lang="en-US" sz="1250" dirty="0">
                <a:solidFill>
                  <a:srgbClr val="11211C"/>
                </a:solidFill>
              </a:rPr>
              <a:t>Take any tree decomposition of the torso over S and add S to every bag: the result is a valid tree decomposition of G. So tw(G) ≤ tw(torso(G,S)) + t, and every point any method can ever report obeys  width ≥ tw(G) − t.</a:t>
            </a:r>
            <a:endParaRPr lang="en-US" sz="1250" dirty="0"/>
          </a:p>
        </p:txBody>
      </p:sp>
      <p:sp>
        <p:nvSpPr>
          <p:cNvPr id="4" name="Text 2"/>
          <p:cNvSpPr txBox="1"/>
          <p:nvPr/>
        </p:nvSpPr>
        <p:spPr>
          <a:xfrm>
            <a:off x="566928" y="2487168"/>
            <a:ext cx="5943600" cy="1371600"/>
          </a:xfrm>
          <a:prstGeom prst="rect">
            <a:avLst/>
          </a:prstGeom>
          <a:noFill/>
          <a:ln/>
        </p:spPr>
        <p:txBody>
          <a:bodyPr wrap="square" lIns="0" tIns="0" rIns="0" bIns="0" rtlCol="0" anchor="ctr"/>
          <a:lstStyle/>
          <a:p>
            <a:pPr indent="0" marL="0">
              <a:lnSpc>
                <a:spcPts val="1800"/>
              </a:lnSpc>
              <a:buNone/>
            </a:pPr>
            <a:r>
              <a:rPr lang="en-US" sz="1200" dirty="0">
                <a:solidFill>
                  <a:srgbClr val="6B7A75"/>
                </a:solidFill>
              </a:rPr>
              <a:t>Treewidth is NP-hard, but lower bounds on it are cheap and minor-monotone; contraction degeneracy suffices. Each bound L gives a wall, and the ceiling is the largest hypervolume 20 points can have on the frontier (L − t, t), by dynamic programming. Empirically it behaves as n² − L²/2.</a:t>
            </a:r>
            <a:endParaRPr lang="en-US" sz="1200" dirty="0"/>
          </a:p>
        </p:txBody>
      </p:sp>
      <p:sp>
        <p:nvSpPr>
          <p:cNvPr id="5" name="Shape 3"/>
          <p:cNvSpPr/>
          <p:nvPr/>
        </p:nvSpPr>
        <p:spPr>
          <a:xfrm>
            <a:off x="566928" y="3968496"/>
            <a:ext cx="5943600" cy="1426464"/>
          </a:xfrm>
          <a:prstGeom prst="roundRect">
            <a:avLst>
              <a:gd name="adj" fmla="val 2564"/>
            </a:avLst>
          </a:prstGeom>
          <a:solidFill>
            <a:srgbClr val="FBF0EA"/>
          </a:solidFill>
          <a:ln w="6350">
            <a:solidFill>
              <a:srgbClr val="FBF0EA"/>
            </a:solidFill>
            <a:prstDash val="solid"/>
          </a:ln>
        </p:spPr>
      </p:sp>
      <p:sp>
        <p:nvSpPr>
          <p:cNvPr id="6" name="Text 4"/>
          <p:cNvSpPr txBox="1"/>
          <p:nvPr/>
        </p:nvSpPr>
        <p:spPr>
          <a:xfrm>
            <a:off x="822960" y="4133088"/>
            <a:ext cx="5431536" cy="1115568"/>
          </a:xfrm>
          <a:prstGeom prst="rect">
            <a:avLst/>
          </a:prstGeom>
          <a:noFill/>
          <a:ln/>
        </p:spPr>
        <p:txBody>
          <a:bodyPr wrap="square" lIns="0" tIns="0" rIns="0" bIns="0" rtlCol="0" anchor="ctr"/>
          <a:lstStyle/>
          <a:p>
            <a:pPr indent="0" marL="0">
              <a:lnSpc>
                <a:spcPts val="1800"/>
              </a:lnSpc>
              <a:buNone/>
            </a:pPr>
            <a:r>
              <a:rPr lang="en-US" sz="1200" dirty="0">
                <a:solidFill>
                  <a:srgbClr val="11211C"/>
                </a:solidFill>
              </a:rPr>
              <a:t>large-graph contains a 500-clique, so tw ≥ 499; and feasible solutions exist inside the 500 cap, so tw ≤ 500. Its treewidth is pinned to within one, which makes that 4.54% real headroom rather than slack.</a:t>
            </a:r>
            <a:endParaRPr lang="en-US" sz="1200" dirty="0"/>
          </a:p>
        </p:txBody>
      </p:sp>
      <p:sp>
        <p:nvSpPr>
          <p:cNvPr id="7" name="Shape 5"/>
          <p:cNvSpPr/>
          <p:nvPr/>
        </p:nvSpPr>
        <p:spPr>
          <a:xfrm>
            <a:off x="6766560" y="1773936"/>
            <a:ext cx="5385816" cy="914"/>
          </a:xfrm>
          <a:prstGeom prst="line">
            <a:avLst/>
          </a:prstGeom>
          <a:noFill/>
          <a:ln w="13970">
            <a:solidFill>
              <a:srgbClr val="11211C"/>
            </a:solidFill>
            <a:prstDash val="solid"/>
          </a:ln>
        </p:spPr>
      </p:sp>
      <p:sp>
        <p:nvSpPr>
          <p:cNvPr id="8" name="Text 6"/>
          <p:cNvSpPr txBox="1"/>
          <p:nvPr/>
        </p:nvSpPr>
        <p:spPr>
          <a:xfrm>
            <a:off x="6766560" y="1389888"/>
            <a:ext cx="1463040" cy="420624"/>
          </a:xfrm>
          <a:prstGeom prst="rect">
            <a:avLst/>
          </a:prstGeom>
          <a:noFill/>
          <a:ln/>
        </p:spPr>
        <p:txBody>
          <a:bodyPr wrap="square" lIns="0" tIns="0" rIns="0" bIns="0" rtlCol="0" anchor="ctr"/>
          <a:lstStyle/>
          <a:p>
            <a:pPr algn="l" indent="0" marL="0">
              <a:buNone/>
            </a:pPr>
            <a:r>
              <a:rPr lang="en-US" sz="1000" b="1" dirty="0">
                <a:solidFill>
                  <a:srgbClr val="2A5247"/>
                </a:solidFill>
              </a:rPr>
              <a:t>instance</a:t>
            </a:r>
            <a:endParaRPr lang="en-US" sz="1000" dirty="0"/>
          </a:p>
        </p:txBody>
      </p:sp>
      <p:sp>
        <p:nvSpPr>
          <p:cNvPr id="9" name="Text 7"/>
          <p:cNvSpPr txBox="1"/>
          <p:nvPr/>
        </p:nvSpPr>
        <p:spPr>
          <a:xfrm>
            <a:off x="8229600" y="1389888"/>
            <a:ext cx="493776" cy="420624"/>
          </a:xfrm>
          <a:prstGeom prst="rect">
            <a:avLst/>
          </a:prstGeom>
          <a:noFill/>
          <a:ln/>
        </p:spPr>
        <p:txBody>
          <a:bodyPr wrap="square" lIns="0" tIns="0" rIns="0" bIns="0" rtlCol="0" anchor="ctr"/>
          <a:lstStyle/>
          <a:p>
            <a:pPr algn="r" indent="0" marL="0">
              <a:buNone/>
            </a:pPr>
            <a:r>
              <a:rPr lang="en-US" sz="1000" b="1" dirty="0">
                <a:solidFill>
                  <a:srgbClr val="2A5247"/>
                </a:solidFill>
              </a:rPr>
              <a:t>n</a:t>
            </a:r>
            <a:endParaRPr lang="en-US" sz="1000" dirty="0"/>
          </a:p>
        </p:txBody>
      </p:sp>
      <p:sp>
        <p:nvSpPr>
          <p:cNvPr id="10" name="Text 8"/>
          <p:cNvSpPr txBox="1"/>
          <p:nvPr/>
        </p:nvSpPr>
        <p:spPr>
          <a:xfrm>
            <a:off x="8723376" y="1389888"/>
            <a:ext cx="521208" cy="420624"/>
          </a:xfrm>
          <a:prstGeom prst="rect">
            <a:avLst/>
          </a:prstGeom>
          <a:noFill/>
          <a:ln/>
        </p:spPr>
        <p:txBody>
          <a:bodyPr wrap="square" lIns="0" tIns="0" rIns="0" bIns="0" rtlCol="0" anchor="ctr"/>
          <a:lstStyle/>
          <a:p>
            <a:pPr algn="r" indent="0" marL="0">
              <a:buNone/>
            </a:pPr>
            <a:r>
              <a:rPr lang="en-US" sz="1000" b="1" dirty="0">
                <a:solidFill>
                  <a:srgbClr val="2A5247"/>
                </a:solidFill>
              </a:rPr>
              <a:t>tw ≥</a:t>
            </a:r>
            <a:endParaRPr lang="en-US" sz="1000" dirty="0"/>
          </a:p>
        </p:txBody>
      </p:sp>
      <p:sp>
        <p:nvSpPr>
          <p:cNvPr id="11" name="Text 9"/>
          <p:cNvSpPr txBox="1"/>
          <p:nvPr/>
        </p:nvSpPr>
        <p:spPr>
          <a:xfrm>
            <a:off x="9244584" y="1389888"/>
            <a:ext cx="1188720" cy="420624"/>
          </a:xfrm>
          <a:prstGeom prst="rect">
            <a:avLst/>
          </a:prstGeom>
          <a:noFill/>
          <a:ln/>
        </p:spPr>
        <p:txBody>
          <a:bodyPr wrap="square" lIns="0" tIns="0" rIns="0" bIns="0" rtlCol="0" anchor="ctr"/>
          <a:lstStyle/>
          <a:p>
            <a:pPr algn="r" indent="0" marL="0">
              <a:buNone/>
            </a:pPr>
            <a:r>
              <a:rPr lang="en-US" sz="1000" b="1" dirty="0">
                <a:solidFill>
                  <a:srgbClr val="2A5247"/>
                </a:solidFill>
              </a:rPr>
              <a:t>provable ceiling</a:t>
            </a:r>
            <a:endParaRPr lang="en-US" sz="1000" dirty="0"/>
          </a:p>
        </p:txBody>
      </p:sp>
      <p:sp>
        <p:nvSpPr>
          <p:cNvPr id="12" name="Text 10"/>
          <p:cNvSpPr txBox="1"/>
          <p:nvPr/>
        </p:nvSpPr>
        <p:spPr>
          <a:xfrm>
            <a:off x="10433304" y="1389888"/>
            <a:ext cx="1170432" cy="420624"/>
          </a:xfrm>
          <a:prstGeom prst="rect">
            <a:avLst/>
          </a:prstGeom>
          <a:noFill/>
          <a:ln/>
        </p:spPr>
        <p:txBody>
          <a:bodyPr wrap="square" lIns="0" tIns="0" rIns="0" bIns="0" rtlCol="0" anchor="ctr"/>
          <a:lstStyle/>
          <a:p>
            <a:pPr algn="r" indent="0" marL="0">
              <a:buNone/>
            </a:pPr>
            <a:r>
              <a:rPr lang="en-US" sz="1000" b="1" dirty="0">
                <a:solidFill>
                  <a:srgbClr val="2A5247"/>
                </a:solidFill>
              </a:rPr>
              <a:t>best known</a:t>
            </a:r>
            <a:endParaRPr lang="en-US" sz="1000" dirty="0"/>
          </a:p>
        </p:txBody>
      </p:sp>
      <p:sp>
        <p:nvSpPr>
          <p:cNvPr id="13" name="Text 11"/>
          <p:cNvSpPr txBox="1"/>
          <p:nvPr/>
        </p:nvSpPr>
        <p:spPr>
          <a:xfrm>
            <a:off x="11603736" y="1389888"/>
            <a:ext cx="548640" cy="420624"/>
          </a:xfrm>
          <a:prstGeom prst="rect">
            <a:avLst/>
          </a:prstGeom>
          <a:noFill/>
          <a:ln/>
        </p:spPr>
        <p:txBody>
          <a:bodyPr wrap="square" lIns="0" tIns="0" rIns="0" bIns="0" rtlCol="0" anchor="ctr"/>
          <a:lstStyle/>
          <a:p>
            <a:pPr algn="r" indent="0" marL="0">
              <a:buNone/>
            </a:pPr>
            <a:r>
              <a:rPr lang="en-US" sz="1000" b="1" dirty="0">
                <a:solidFill>
                  <a:srgbClr val="2A5247"/>
                </a:solidFill>
              </a:rPr>
              <a:t>gap</a:t>
            </a:r>
            <a:endParaRPr lang="en-US" sz="1000" dirty="0"/>
          </a:p>
        </p:txBody>
      </p:sp>
      <p:sp>
        <p:nvSpPr>
          <p:cNvPr id="14" name="Shape 12"/>
          <p:cNvSpPr/>
          <p:nvPr/>
        </p:nvSpPr>
        <p:spPr>
          <a:xfrm>
            <a:off x="6766560" y="2194560"/>
            <a:ext cx="5385816" cy="914"/>
          </a:xfrm>
          <a:prstGeom prst="line">
            <a:avLst/>
          </a:prstGeom>
          <a:noFill/>
          <a:ln w="7620">
            <a:solidFill>
              <a:srgbClr val="D9E0DC"/>
            </a:solidFill>
            <a:prstDash val="solid"/>
          </a:ln>
        </p:spPr>
      </p:sp>
      <p:sp>
        <p:nvSpPr>
          <p:cNvPr id="15" name="Text 13"/>
          <p:cNvSpPr txBox="1"/>
          <p:nvPr/>
        </p:nvSpPr>
        <p:spPr>
          <a:xfrm>
            <a:off x="6766560" y="1810512"/>
            <a:ext cx="1463040" cy="420624"/>
          </a:xfrm>
          <a:prstGeom prst="rect">
            <a:avLst/>
          </a:prstGeom>
          <a:noFill/>
          <a:ln/>
        </p:spPr>
        <p:txBody>
          <a:bodyPr wrap="square" lIns="0" tIns="0" rIns="0" bIns="0" rtlCol="0" anchor="ctr"/>
          <a:lstStyle/>
          <a:p>
            <a:pPr algn="l" indent="0" marL="0">
              <a:buNone/>
            </a:pPr>
            <a:r>
              <a:rPr lang="en-US" sz="1150" dirty="0">
                <a:solidFill>
                  <a:srgbClr val="11211C"/>
                </a:solidFill>
              </a:rPr>
              <a:t>small-graph</a:t>
            </a:r>
            <a:endParaRPr lang="en-US" sz="1150" dirty="0"/>
          </a:p>
        </p:txBody>
      </p:sp>
      <p:sp>
        <p:nvSpPr>
          <p:cNvPr id="16" name="Text 14"/>
          <p:cNvSpPr txBox="1"/>
          <p:nvPr/>
        </p:nvSpPr>
        <p:spPr>
          <a:xfrm>
            <a:off x="8229600" y="1810512"/>
            <a:ext cx="493776" cy="420624"/>
          </a:xfrm>
          <a:prstGeom prst="rect">
            <a:avLst/>
          </a:prstGeom>
          <a:noFill/>
          <a:ln/>
        </p:spPr>
        <p:txBody>
          <a:bodyPr wrap="square" lIns="0" tIns="0" rIns="0" bIns="0" rtlCol="0" anchor="ctr"/>
          <a:lstStyle/>
          <a:p>
            <a:pPr algn="r" indent="0" marL="0">
              <a:buNone/>
            </a:pPr>
            <a:r>
              <a:rPr lang="en-US" sz="1150" dirty="0">
                <a:solidFill>
                  <a:srgbClr val="11211C"/>
                </a:solidFill>
              </a:rPr>
              <a:t>1,357</a:t>
            </a:r>
            <a:endParaRPr lang="en-US" sz="1150" dirty="0"/>
          </a:p>
        </p:txBody>
      </p:sp>
      <p:sp>
        <p:nvSpPr>
          <p:cNvPr id="17" name="Text 15"/>
          <p:cNvSpPr txBox="1"/>
          <p:nvPr/>
        </p:nvSpPr>
        <p:spPr>
          <a:xfrm>
            <a:off x="8723376" y="1810512"/>
            <a:ext cx="521208" cy="420624"/>
          </a:xfrm>
          <a:prstGeom prst="rect">
            <a:avLst/>
          </a:prstGeom>
          <a:noFill/>
          <a:ln/>
        </p:spPr>
        <p:txBody>
          <a:bodyPr wrap="square" lIns="0" tIns="0" rIns="0" bIns="0" rtlCol="0" anchor="ctr"/>
          <a:lstStyle/>
          <a:p>
            <a:pPr algn="r" indent="0" marL="0">
              <a:buNone/>
            </a:pPr>
            <a:r>
              <a:rPr lang="en-US" sz="1150" dirty="0">
                <a:solidFill>
                  <a:srgbClr val="11211C"/>
                </a:solidFill>
              </a:rPr>
              <a:t>5</a:t>
            </a:r>
            <a:endParaRPr lang="en-US" sz="1150" dirty="0"/>
          </a:p>
        </p:txBody>
      </p:sp>
      <p:sp>
        <p:nvSpPr>
          <p:cNvPr id="18" name="Text 16"/>
          <p:cNvSpPr txBox="1"/>
          <p:nvPr/>
        </p:nvSpPr>
        <p:spPr>
          <a:xfrm>
            <a:off x="9244584" y="1810512"/>
            <a:ext cx="1188720" cy="420624"/>
          </a:xfrm>
          <a:prstGeom prst="rect">
            <a:avLst/>
          </a:prstGeom>
          <a:noFill/>
          <a:ln/>
        </p:spPr>
        <p:txBody>
          <a:bodyPr wrap="square" lIns="0" tIns="0" rIns="0" bIns="0" rtlCol="0" anchor="ctr"/>
          <a:lstStyle/>
          <a:p>
            <a:pPr algn="r" indent="0" marL="0">
              <a:buNone/>
            </a:pPr>
            <a:r>
              <a:rPr lang="en-US" sz="1150" dirty="0">
                <a:solidFill>
                  <a:srgbClr val="11211C"/>
                </a:solidFill>
              </a:rPr>
              <a:t>−1,841,434</a:t>
            </a:r>
            <a:endParaRPr lang="en-US" sz="1150" dirty="0"/>
          </a:p>
        </p:txBody>
      </p:sp>
      <p:sp>
        <p:nvSpPr>
          <p:cNvPr id="19" name="Text 17"/>
          <p:cNvSpPr txBox="1"/>
          <p:nvPr/>
        </p:nvSpPr>
        <p:spPr>
          <a:xfrm>
            <a:off x="10433304" y="1810512"/>
            <a:ext cx="1170432" cy="420624"/>
          </a:xfrm>
          <a:prstGeom prst="rect">
            <a:avLst/>
          </a:prstGeom>
          <a:noFill/>
          <a:ln/>
        </p:spPr>
        <p:txBody>
          <a:bodyPr wrap="square" lIns="0" tIns="0" rIns="0" bIns="0" rtlCol="0" anchor="ctr"/>
          <a:lstStyle/>
          <a:p>
            <a:pPr algn="r" indent="0" marL="0">
              <a:buNone/>
            </a:pPr>
            <a:r>
              <a:rPr lang="en-US" sz="1150" dirty="0">
                <a:solidFill>
                  <a:srgbClr val="11211C"/>
                </a:solidFill>
              </a:rPr>
              <a:t>−1,829,919</a:t>
            </a:r>
            <a:endParaRPr lang="en-US" sz="1150" dirty="0"/>
          </a:p>
        </p:txBody>
      </p:sp>
      <p:sp>
        <p:nvSpPr>
          <p:cNvPr id="20" name="Text 18"/>
          <p:cNvSpPr txBox="1"/>
          <p:nvPr/>
        </p:nvSpPr>
        <p:spPr>
          <a:xfrm>
            <a:off x="11603736" y="1810512"/>
            <a:ext cx="548640" cy="420624"/>
          </a:xfrm>
          <a:prstGeom prst="rect">
            <a:avLst/>
          </a:prstGeom>
          <a:noFill/>
          <a:ln/>
        </p:spPr>
        <p:txBody>
          <a:bodyPr wrap="square" lIns="0" tIns="0" rIns="0" bIns="0" rtlCol="0" anchor="ctr"/>
          <a:lstStyle/>
          <a:p>
            <a:pPr algn="r" indent="0" marL="0">
              <a:buNone/>
            </a:pPr>
            <a:r>
              <a:rPr lang="en-US" sz="1150" dirty="0">
                <a:solidFill>
                  <a:srgbClr val="11211C"/>
                </a:solidFill>
              </a:rPr>
              <a:t>0.63%</a:t>
            </a:r>
            <a:endParaRPr lang="en-US" sz="1150" dirty="0"/>
          </a:p>
        </p:txBody>
      </p:sp>
      <p:sp>
        <p:nvSpPr>
          <p:cNvPr id="21" name="Shape 19"/>
          <p:cNvSpPr/>
          <p:nvPr/>
        </p:nvSpPr>
        <p:spPr>
          <a:xfrm>
            <a:off x="6766560" y="2615184"/>
            <a:ext cx="5385816" cy="914"/>
          </a:xfrm>
          <a:prstGeom prst="line">
            <a:avLst/>
          </a:prstGeom>
          <a:noFill/>
          <a:ln w="7620">
            <a:solidFill>
              <a:srgbClr val="D9E0DC"/>
            </a:solidFill>
            <a:prstDash val="solid"/>
          </a:ln>
        </p:spPr>
      </p:sp>
      <p:sp>
        <p:nvSpPr>
          <p:cNvPr id="22" name="Text 20"/>
          <p:cNvSpPr txBox="1"/>
          <p:nvPr/>
        </p:nvSpPr>
        <p:spPr>
          <a:xfrm>
            <a:off x="6766560" y="2231136"/>
            <a:ext cx="1463040" cy="420624"/>
          </a:xfrm>
          <a:prstGeom prst="rect">
            <a:avLst/>
          </a:prstGeom>
          <a:noFill/>
          <a:ln/>
        </p:spPr>
        <p:txBody>
          <a:bodyPr wrap="square" lIns="0" tIns="0" rIns="0" bIns="0" rtlCol="0" anchor="ctr"/>
          <a:lstStyle/>
          <a:p>
            <a:pPr algn="l" indent="0" marL="0">
              <a:buNone/>
            </a:pPr>
            <a:r>
              <a:rPr lang="en-US" sz="1150" dirty="0">
                <a:solidFill>
                  <a:srgbClr val="11211C"/>
                </a:solidFill>
              </a:rPr>
              <a:t>medium-graph</a:t>
            </a:r>
            <a:endParaRPr lang="en-US" sz="1150" dirty="0"/>
          </a:p>
        </p:txBody>
      </p:sp>
      <p:sp>
        <p:nvSpPr>
          <p:cNvPr id="23" name="Text 21"/>
          <p:cNvSpPr txBox="1"/>
          <p:nvPr/>
        </p:nvSpPr>
        <p:spPr>
          <a:xfrm>
            <a:off x="8229600" y="2231136"/>
            <a:ext cx="493776" cy="420624"/>
          </a:xfrm>
          <a:prstGeom prst="rect">
            <a:avLst/>
          </a:prstGeom>
          <a:noFill/>
          <a:ln/>
        </p:spPr>
        <p:txBody>
          <a:bodyPr wrap="square" lIns="0" tIns="0" rIns="0" bIns="0" rtlCol="0" anchor="ctr"/>
          <a:lstStyle/>
          <a:p>
            <a:pPr algn="r" indent="0" marL="0">
              <a:buNone/>
            </a:pPr>
            <a:r>
              <a:rPr lang="en-US" sz="1150" dirty="0">
                <a:solidFill>
                  <a:srgbClr val="11211C"/>
                </a:solidFill>
              </a:rPr>
              <a:t>1,399</a:t>
            </a:r>
            <a:endParaRPr lang="en-US" sz="1150" dirty="0"/>
          </a:p>
        </p:txBody>
      </p:sp>
      <p:sp>
        <p:nvSpPr>
          <p:cNvPr id="24" name="Text 22"/>
          <p:cNvSpPr txBox="1"/>
          <p:nvPr/>
        </p:nvSpPr>
        <p:spPr>
          <a:xfrm>
            <a:off x="8723376" y="2231136"/>
            <a:ext cx="521208" cy="420624"/>
          </a:xfrm>
          <a:prstGeom prst="rect">
            <a:avLst/>
          </a:prstGeom>
          <a:noFill/>
          <a:ln/>
        </p:spPr>
        <p:txBody>
          <a:bodyPr wrap="square" lIns="0" tIns="0" rIns="0" bIns="0" rtlCol="0" anchor="ctr"/>
          <a:lstStyle/>
          <a:p>
            <a:pPr algn="r" indent="0" marL="0">
              <a:buNone/>
            </a:pPr>
            <a:r>
              <a:rPr lang="en-US" sz="1150" dirty="0">
                <a:solidFill>
                  <a:srgbClr val="11211C"/>
                </a:solidFill>
              </a:rPr>
              <a:t>63</a:t>
            </a:r>
            <a:endParaRPr lang="en-US" sz="1150" dirty="0"/>
          </a:p>
        </p:txBody>
      </p:sp>
      <p:sp>
        <p:nvSpPr>
          <p:cNvPr id="25" name="Text 23"/>
          <p:cNvSpPr txBox="1"/>
          <p:nvPr/>
        </p:nvSpPr>
        <p:spPr>
          <a:xfrm>
            <a:off x="9244584" y="2231136"/>
            <a:ext cx="1188720" cy="420624"/>
          </a:xfrm>
          <a:prstGeom prst="rect">
            <a:avLst/>
          </a:prstGeom>
          <a:noFill/>
          <a:ln/>
        </p:spPr>
        <p:txBody>
          <a:bodyPr wrap="square" lIns="0" tIns="0" rIns="0" bIns="0" rtlCol="0" anchor="ctr"/>
          <a:lstStyle/>
          <a:p>
            <a:pPr algn="r" indent="0" marL="0">
              <a:buNone/>
            </a:pPr>
            <a:r>
              <a:rPr lang="en-US" sz="1150" dirty="0">
                <a:solidFill>
                  <a:srgbClr val="11211C"/>
                </a:solidFill>
              </a:rPr>
              <a:t>−1,955,110</a:t>
            </a:r>
            <a:endParaRPr lang="en-US" sz="1150" dirty="0"/>
          </a:p>
        </p:txBody>
      </p:sp>
      <p:sp>
        <p:nvSpPr>
          <p:cNvPr id="26" name="Text 24"/>
          <p:cNvSpPr txBox="1"/>
          <p:nvPr/>
        </p:nvSpPr>
        <p:spPr>
          <a:xfrm>
            <a:off x="10433304" y="2231136"/>
            <a:ext cx="1170432" cy="420624"/>
          </a:xfrm>
          <a:prstGeom prst="rect">
            <a:avLst/>
          </a:prstGeom>
          <a:noFill/>
          <a:ln/>
        </p:spPr>
        <p:txBody>
          <a:bodyPr wrap="square" lIns="0" tIns="0" rIns="0" bIns="0" rtlCol="0" anchor="ctr"/>
          <a:lstStyle/>
          <a:p>
            <a:pPr algn="r" indent="0" marL="0">
              <a:buNone/>
            </a:pPr>
            <a:r>
              <a:rPr lang="en-US" sz="1150" dirty="0">
                <a:solidFill>
                  <a:srgbClr val="11211C"/>
                </a:solidFill>
              </a:rPr>
              <a:t>−1,745,122</a:t>
            </a:r>
            <a:endParaRPr lang="en-US" sz="1150" dirty="0"/>
          </a:p>
        </p:txBody>
      </p:sp>
      <p:sp>
        <p:nvSpPr>
          <p:cNvPr id="27" name="Text 25"/>
          <p:cNvSpPr txBox="1"/>
          <p:nvPr/>
        </p:nvSpPr>
        <p:spPr>
          <a:xfrm>
            <a:off x="11603736" y="2231136"/>
            <a:ext cx="548640" cy="420624"/>
          </a:xfrm>
          <a:prstGeom prst="rect">
            <a:avLst/>
          </a:prstGeom>
          <a:noFill/>
          <a:ln/>
        </p:spPr>
        <p:txBody>
          <a:bodyPr wrap="square" lIns="0" tIns="0" rIns="0" bIns="0" rtlCol="0" anchor="ctr"/>
          <a:lstStyle/>
          <a:p>
            <a:pPr algn="r" indent="0" marL="0">
              <a:buNone/>
            </a:pPr>
            <a:r>
              <a:rPr lang="en-US" sz="1150" dirty="0">
                <a:solidFill>
                  <a:srgbClr val="11211C"/>
                </a:solidFill>
              </a:rPr>
              <a:t>10.74%</a:t>
            </a:r>
            <a:endParaRPr lang="en-US" sz="1150" dirty="0"/>
          </a:p>
        </p:txBody>
      </p:sp>
      <p:sp>
        <p:nvSpPr>
          <p:cNvPr id="28" name="Shape 26"/>
          <p:cNvSpPr/>
          <p:nvPr/>
        </p:nvSpPr>
        <p:spPr>
          <a:xfrm>
            <a:off x="6766560" y="3035808"/>
            <a:ext cx="5385816" cy="914"/>
          </a:xfrm>
          <a:prstGeom prst="line">
            <a:avLst/>
          </a:prstGeom>
          <a:noFill/>
          <a:ln w="7620">
            <a:solidFill>
              <a:srgbClr val="D9E0DC"/>
            </a:solidFill>
            <a:prstDash val="solid"/>
          </a:ln>
        </p:spPr>
      </p:sp>
      <p:sp>
        <p:nvSpPr>
          <p:cNvPr id="29" name="Text 27"/>
          <p:cNvSpPr txBox="1"/>
          <p:nvPr/>
        </p:nvSpPr>
        <p:spPr>
          <a:xfrm>
            <a:off x="6766560" y="2651760"/>
            <a:ext cx="1463040" cy="420624"/>
          </a:xfrm>
          <a:prstGeom prst="rect">
            <a:avLst/>
          </a:prstGeom>
          <a:noFill/>
          <a:ln/>
        </p:spPr>
        <p:txBody>
          <a:bodyPr wrap="square" lIns="0" tIns="0" rIns="0" bIns="0" rtlCol="0" anchor="ctr"/>
          <a:lstStyle/>
          <a:p>
            <a:pPr algn="l" indent="0" marL="0">
              <a:buNone/>
            </a:pPr>
            <a:r>
              <a:rPr lang="en-US" sz="1150" dirty="0">
                <a:solidFill>
                  <a:srgbClr val="11211C"/>
                </a:solidFill>
              </a:rPr>
              <a:t>large-graph</a:t>
            </a:r>
            <a:endParaRPr lang="en-US" sz="1150" dirty="0"/>
          </a:p>
        </p:txBody>
      </p:sp>
      <p:sp>
        <p:nvSpPr>
          <p:cNvPr id="30" name="Text 28"/>
          <p:cNvSpPr txBox="1"/>
          <p:nvPr/>
        </p:nvSpPr>
        <p:spPr>
          <a:xfrm>
            <a:off x="8229600" y="2651760"/>
            <a:ext cx="493776" cy="420624"/>
          </a:xfrm>
          <a:prstGeom prst="rect">
            <a:avLst/>
          </a:prstGeom>
          <a:noFill/>
          <a:ln/>
        </p:spPr>
        <p:txBody>
          <a:bodyPr wrap="square" lIns="0" tIns="0" rIns="0" bIns="0" rtlCol="0" anchor="ctr"/>
          <a:lstStyle/>
          <a:p>
            <a:pPr algn="r" indent="0" marL="0">
              <a:buNone/>
            </a:pPr>
            <a:r>
              <a:rPr lang="en-US" sz="1150" dirty="0">
                <a:solidFill>
                  <a:srgbClr val="11211C"/>
                </a:solidFill>
              </a:rPr>
              <a:t>2,426</a:t>
            </a:r>
            <a:endParaRPr lang="en-US" sz="1150" dirty="0"/>
          </a:p>
        </p:txBody>
      </p:sp>
      <p:sp>
        <p:nvSpPr>
          <p:cNvPr id="31" name="Text 29"/>
          <p:cNvSpPr txBox="1"/>
          <p:nvPr/>
        </p:nvSpPr>
        <p:spPr>
          <a:xfrm>
            <a:off x="8723376" y="2651760"/>
            <a:ext cx="521208" cy="420624"/>
          </a:xfrm>
          <a:prstGeom prst="rect">
            <a:avLst/>
          </a:prstGeom>
          <a:noFill/>
          <a:ln/>
        </p:spPr>
        <p:txBody>
          <a:bodyPr wrap="square" lIns="0" tIns="0" rIns="0" bIns="0" rtlCol="0" anchor="ctr"/>
          <a:lstStyle/>
          <a:p>
            <a:pPr algn="r" indent="0" marL="0">
              <a:buNone/>
            </a:pPr>
            <a:r>
              <a:rPr lang="en-US" sz="1150" dirty="0">
                <a:solidFill>
                  <a:srgbClr val="11211C"/>
                </a:solidFill>
              </a:rPr>
              <a:t>499</a:t>
            </a:r>
            <a:endParaRPr lang="en-US" sz="1150" dirty="0"/>
          </a:p>
        </p:txBody>
      </p:sp>
      <p:sp>
        <p:nvSpPr>
          <p:cNvPr id="32" name="Text 30"/>
          <p:cNvSpPr txBox="1"/>
          <p:nvPr/>
        </p:nvSpPr>
        <p:spPr>
          <a:xfrm>
            <a:off x="9244584" y="2651760"/>
            <a:ext cx="1188720" cy="420624"/>
          </a:xfrm>
          <a:prstGeom prst="rect">
            <a:avLst/>
          </a:prstGeom>
          <a:noFill/>
          <a:ln/>
        </p:spPr>
        <p:txBody>
          <a:bodyPr wrap="square" lIns="0" tIns="0" rIns="0" bIns="0" rtlCol="0" anchor="ctr"/>
          <a:lstStyle/>
          <a:p>
            <a:pPr algn="r" indent="0" marL="0">
              <a:buNone/>
            </a:pPr>
            <a:r>
              <a:rPr lang="en-US" sz="1150" dirty="0">
                <a:solidFill>
                  <a:srgbClr val="11211C"/>
                </a:solidFill>
              </a:rPr>
              <a:t>−5,754,421</a:t>
            </a:r>
            <a:endParaRPr lang="en-US" sz="1150" dirty="0"/>
          </a:p>
        </p:txBody>
      </p:sp>
      <p:sp>
        <p:nvSpPr>
          <p:cNvPr id="33" name="Text 31"/>
          <p:cNvSpPr txBox="1"/>
          <p:nvPr/>
        </p:nvSpPr>
        <p:spPr>
          <a:xfrm>
            <a:off x="10433304" y="2651760"/>
            <a:ext cx="1170432" cy="420624"/>
          </a:xfrm>
          <a:prstGeom prst="rect">
            <a:avLst/>
          </a:prstGeom>
          <a:noFill/>
          <a:ln/>
        </p:spPr>
        <p:txBody>
          <a:bodyPr wrap="square" lIns="0" tIns="0" rIns="0" bIns="0" rtlCol="0" anchor="ctr"/>
          <a:lstStyle/>
          <a:p>
            <a:pPr algn="r" indent="0" marL="0">
              <a:buNone/>
            </a:pPr>
            <a:r>
              <a:rPr lang="en-US" sz="1150" dirty="0">
                <a:solidFill>
                  <a:srgbClr val="11211C"/>
                </a:solidFill>
              </a:rPr>
              <a:t>−5,493,062</a:t>
            </a:r>
            <a:endParaRPr lang="en-US" sz="1150" dirty="0"/>
          </a:p>
        </p:txBody>
      </p:sp>
      <p:sp>
        <p:nvSpPr>
          <p:cNvPr id="34" name="Text 32"/>
          <p:cNvSpPr txBox="1"/>
          <p:nvPr/>
        </p:nvSpPr>
        <p:spPr>
          <a:xfrm>
            <a:off x="11603736" y="2651760"/>
            <a:ext cx="548640" cy="420624"/>
          </a:xfrm>
          <a:prstGeom prst="rect">
            <a:avLst/>
          </a:prstGeom>
          <a:noFill/>
          <a:ln/>
        </p:spPr>
        <p:txBody>
          <a:bodyPr wrap="square" lIns="0" tIns="0" rIns="0" bIns="0" rtlCol="0" anchor="ctr"/>
          <a:lstStyle/>
          <a:p>
            <a:pPr algn="r" indent="0" marL="0">
              <a:buNone/>
            </a:pPr>
            <a:r>
              <a:rPr lang="en-US" sz="1150" dirty="0">
                <a:solidFill>
                  <a:srgbClr val="11211C"/>
                </a:solidFill>
              </a:rPr>
              <a:t>4.54%</a:t>
            </a:r>
            <a:endParaRPr lang="en-US" sz="1150" dirty="0"/>
          </a:p>
        </p:txBody>
      </p:sp>
      <p:sp>
        <p:nvSpPr>
          <p:cNvPr id="35" name="Text 33"/>
          <p:cNvSpPr txBox="1"/>
          <p:nvPr/>
        </p:nvSpPr>
        <p:spPr>
          <a:xfrm>
            <a:off x="6766560" y="4041648"/>
            <a:ext cx="4873752" cy="1371600"/>
          </a:xfrm>
          <a:prstGeom prst="rect">
            <a:avLst/>
          </a:prstGeom>
          <a:noFill/>
          <a:ln/>
        </p:spPr>
        <p:txBody>
          <a:bodyPr wrap="square" lIns="0" tIns="0" rIns="0" bIns="0" rtlCol="0" anchor="ctr"/>
          <a:lstStyle/>
          <a:p>
            <a:pPr indent="0" marL="0">
              <a:lnSpc>
                <a:spcPts val="1800"/>
              </a:lnSpc>
              <a:buNone/>
            </a:pPr>
            <a:r>
              <a:rPr lang="en-US" sz="1200" dirty="0">
                <a:solidFill>
                  <a:srgbClr val="11211C"/>
                </a:solidFill>
              </a:rPr>
              <a:t>A gap is two unknowns added together: distance from best to optimum, plus distance from optimum to bound. Small gap means both are small. Wide gap usually means the bound is loose.</a:t>
            </a:r>
            <a:endParaRPr lang="en-US" sz="1200" dirty="0"/>
          </a:p>
        </p:txBody>
      </p:sp>
      <p:sp>
        <p:nvSpPr>
          <p:cNvPr id="25" name="Slide Number Placeholder 0"/>
          <p:cNvSpPr>
            <a:spLocks noGrp="1"/>
          </p:cNvSpPr>
          <p:nvPr>
            <p:ph type="sldNum" sz="quarter" idx="4294967295"/>
          </p:nvPr>
        </p:nvSpPr>
        <p:spPr>
          <a:xfrm>
            <a:off x="11167567" y="6437376"/>
            <a:ext cx="45720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6B7A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420624"/>
            <a:ext cx="11057839" cy="658368"/>
          </a:xfrm>
          <a:prstGeom prst="rect">
            <a:avLst/>
          </a:prstGeom>
          <a:noFill/>
          <a:ln/>
        </p:spPr>
        <p:txBody>
          <a:bodyPr wrap="square" lIns="0" tIns="0" rIns="0" bIns="0" rtlCol="0" anchor="ctr"/>
          <a:lstStyle/>
          <a:p>
            <a:pPr indent="0" marL="0">
              <a:buNone/>
            </a:pPr>
            <a:r>
              <a:rPr lang="en-US" sz="2600" b="1" dirty="0">
                <a:solidFill>
                  <a:srgbClr val="11211C"/>
                </a:solidFill>
                <a:latin typeface="Cambria" pitchFamily="34" charset="0"/>
                <a:ea typeface="Cambria" pitchFamily="34" charset="-122"/>
                <a:cs typeface="Cambria" pitchFamily="34" charset="-120"/>
              </a:rPr>
              <a:t>Ten rows, but only three underlying problems</a:t>
            </a:r>
            <a:endParaRPr lang="en-US" sz="2600" dirty="0"/>
          </a:p>
        </p:txBody>
      </p:sp>
      <p:sp>
        <p:nvSpPr>
          <p:cNvPr id="3" name="Text 1"/>
          <p:cNvSpPr txBox="1"/>
          <p:nvPr/>
        </p:nvSpPr>
        <p:spPr>
          <a:xfrm>
            <a:off x="566928" y="1261872"/>
            <a:ext cx="10936224" cy="822960"/>
          </a:xfrm>
          <a:prstGeom prst="rect">
            <a:avLst/>
          </a:prstGeom>
          <a:noFill/>
          <a:ln/>
        </p:spPr>
        <p:txBody>
          <a:bodyPr wrap="square" lIns="0" tIns="0" rIns="0" bIns="0" rtlCol="0" anchor="ctr"/>
          <a:lstStyle/>
          <a:p>
            <a:pPr indent="0" marL="0">
              <a:lnSpc>
                <a:spcPts val="1900"/>
              </a:lnSpc>
              <a:buNone/>
            </a:pPr>
            <a:r>
              <a:rPr lang="en-US" sz="1250" dirty="0">
                <a:solidFill>
                  <a:srgbClr val="11211C"/>
                </a:solidFill>
              </a:rPr>
              <a:t>The instances form three families. Within each family n and the edge count are identical and only the structure differs, so a ranking that changes between families is a statement about structure rather than size. Counts like “the leaderboard holds eight of ten” should be read accordingly: ten samples, three structures.</a:t>
            </a:r>
            <a:endParaRPr lang="en-US" sz="1250" dirty="0"/>
          </a:p>
        </p:txBody>
      </p:sp>
      <p:sp>
        <p:nvSpPr>
          <p:cNvPr id="4" name="Shape 2"/>
          <p:cNvSpPr/>
          <p:nvPr/>
        </p:nvSpPr>
        <p:spPr>
          <a:xfrm>
            <a:off x="475488" y="2670048"/>
            <a:ext cx="8668512" cy="1298448"/>
          </a:xfrm>
          <a:prstGeom prst="rect">
            <a:avLst/>
          </a:prstGeom>
          <a:solidFill>
            <a:srgbClr val="EFF3F1"/>
          </a:solidFill>
          <a:ln w="3175">
            <a:solidFill>
              <a:srgbClr val="EFF3F1"/>
            </a:solidFill>
            <a:prstDash val="solid"/>
          </a:ln>
        </p:spPr>
      </p:sp>
      <p:sp>
        <p:nvSpPr>
          <p:cNvPr id="5" name="Shape 3"/>
          <p:cNvSpPr/>
          <p:nvPr/>
        </p:nvSpPr>
        <p:spPr>
          <a:xfrm>
            <a:off x="475488" y="3968496"/>
            <a:ext cx="8668512" cy="973836"/>
          </a:xfrm>
          <a:prstGeom prst="rect">
            <a:avLst/>
          </a:prstGeom>
          <a:solidFill>
            <a:srgbClr val="FFFFFF"/>
          </a:solidFill>
          <a:ln w="3175">
            <a:solidFill>
              <a:srgbClr val="FFFFFF"/>
            </a:solidFill>
            <a:prstDash val="solid"/>
          </a:ln>
        </p:spPr>
      </p:sp>
      <p:sp>
        <p:nvSpPr>
          <p:cNvPr id="6" name="Shape 4"/>
          <p:cNvSpPr/>
          <p:nvPr/>
        </p:nvSpPr>
        <p:spPr>
          <a:xfrm>
            <a:off x="475488" y="4942332"/>
            <a:ext cx="8668512" cy="973836"/>
          </a:xfrm>
          <a:prstGeom prst="rect">
            <a:avLst/>
          </a:prstGeom>
          <a:solidFill>
            <a:srgbClr val="EFF3F1"/>
          </a:solidFill>
          <a:ln w="3175">
            <a:solidFill>
              <a:srgbClr val="EFF3F1"/>
            </a:solidFill>
            <a:prstDash val="solid"/>
          </a:ln>
        </p:spPr>
      </p:sp>
      <p:sp>
        <p:nvSpPr>
          <p:cNvPr id="7" name="Text 5"/>
          <p:cNvSpPr txBox="1"/>
          <p:nvPr/>
        </p:nvSpPr>
        <p:spPr>
          <a:xfrm>
            <a:off x="0" y="0"/>
            <a:ext cx="91440" cy="91440"/>
          </a:xfrm>
          <a:prstGeom prst="rect">
            <a:avLst/>
          </a:prstGeom>
          <a:noFill/>
          <a:ln/>
        </p:spPr>
        <p:txBody>
          <a:bodyPr wrap="square" lIns="0" tIns="0" rIns="0" bIns="0" rtlCol="0" anchor="ctr"/>
          <a:lstStyle/>
          <a:p>
            <a:pPr indent="0" marL="0">
              <a:buNone/>
            </a:pPr>
            <a:endParaRPr lang="en-US" dirty="0"/>
          </a:p>
        </p:txBody>
      </p:sp>
      <p:sp>
        <p:nvSpPr>
          <p:cNvPr id="8" name="Text 6"/>
          <p:cNvSpPr txBox="1"/>
          <p:nvPr/>
        </p:nvSpPr>
        <p:spPr>
          <a:xfrm>
            <a:off x="566928" y="2286000"/>
            <a:ext cx="1481328" cy="329184"/>
          </a:xfrm>
          <a:prstGeom prst="rect">
            <a:avLst/>
          </a:prstGeom>
          <a:noFill/>
          <a:ln/>
        </p:spPr>
        <p:txBody>
          <a:bodyPr wrap="square" lIns="0" tIns="0" rIns="0" bIns="0" rtlCol="0" anchor="b"/>
          <a:lstStyle/>
          <a:p>
            <a:pPr algn="l" indent="0" marL="0">
              <a:buNone/>
            </a:pPr>
            <a:r>
              <a:rPr lang="en-US" sz="1050" b="1" dirty="0">
                <a:solidFill>
                  <a:srgbClr val="2A5247"/>
                </a:solidFill>
              </a:rPr>
              <a:t>instance</a:t>
            </a:r>
            <a:endParaRPr lang="en-US" sz="1050" dirty="0"/>
          </a:p>
        </p:txBody>
      </p:sp>
      <p:sp>
        <p:nvSpPr>
          <p:cNvPr id="9" name="Text 7"/>
          <p:cNvSpPr txBox="1"/>
          <p:nvPr/>
        </p:nvSpPr>
        <p:spPr>
          <a:xfrm>
            <a:off x="2048256" y="2286000"/>
            <a:ext cx="658368" cy="329184"/>
          </a:xfrm>
          <a:prstGeom prst="rect">
            <a:avLst/>
          </a:prstGeom>
          <a:noFill/>
          <a:ln/>
        </p:spPr>
        <p:txBody>
          <a:bodyPr wrap="square" lIns="0" tIns="0" rIns="0" bIns="0" rtlCol="0" anchor="b"/>
          <a:lstStyle/>
          <a:p>
            <a:pPr algn="r" indent="0" marL="0">
              <a:buNone/>
            </a:pPr>
            <a:r>
              <a:rPr lang="en-US" sz="1050" b="1" dirty="0">
                <a:solidFill>
                  <a:srgbClr val="2A5247"/>
                </a:solidFill>
              </a:rPr>
              <a:t>n</a:t>
            </a:r>
            <a:endParaRPr lang="en-US" sz="1050" dirty="0"/>
          </a:p>
        </p:txBody>
      </p:sp>
      <p:sp>
        <p:nvSpPr>
          <p:cNvPr id="10" name="Text 8"/>
          <p:cNvSpPr txBox="1"/>
          <p:nvPr/>
        </p:nvSpPr>
        <p:spPr>
          <a:xfrm>
            <a:off x="2706624" y="2286000"/>
            <a:ext cx="987552" cy="329184"/>
          </a:xfrm>
          <a:prstGeom prst="rect">
            <a:avLst/>
          </a:prstGeom>
          <a:noFill/>
          <a:ln/>
        </p:spPr>
        <p:txBody>
          <a:bodyPr wrap="square" lIns="0" tIns="0" rIns="0" bIns="0" rtlCol="0" anchor="b"/>
          <a:lstStyle/>
          <a:p>
            <a:pPr algn="r" indent="0" marL="0">
              <a:buNone/>
            </a:pPr>
            <a:r>
              <a:rPr lang="en-US" sz="1050" b="1" dirty="0">
                <a:solidFill>
                  <a:srgbClr val="2A5247"/>
                </a:solidFill>
              </a:rPr>
              <a:t>edges</a:t>
            </a:r>
            <a:endParaRPr lang="en-US" sz="1050" dirty="0"/>
          </a:p>
        </p:txBody>
      </p:sp>
      <p:sp>
        <p:nvSpPr>
          <p:cNvPr id="11" name="Text 9"/>
          <p:cNvSpPr txBox="1"/>
          <p:nvPr/>
        </p:nvSpPr>
        <p:spPr>
          <a:xfrm>
            <a:off x="3694176" y="2286000"/>
            <a:ext cx="566928" cy="329184"/>
          </a:xfrm>
          <a:prstGeom prst="rect">
            <a:avLst/>
          </a:prstGeom>
          <a:noFill/>
          <a:ln/>
        </p:spPr>
        <p:txBody>
          <a:bodyPr wrap="square" lIns="0" tIns="0" rIns="0" bIns="0" rtlCol="0" anchor="b"/>
          <a:lstStyle/>
          <a:p>
            <a:pPr algn="r" indent="0" marL="0">
              <a:buNone/>
            </a:pPr>
            <a:r>
              <a:rPr lang="en-US" sz="1050" b="1" dirty="0">
                <a:solidFill>
                  <a:srgbClr val="2A5247"/>
                </a:solidFill>
              </a:rPr>
              <a:t>tw ≥</a:t>
            </a:r>
            <a:endParaRPr lang="en-US" sz="1050" dirty="0"/>
          </a:p>
        </p:txBody>
      </p:sp>
      <p:sp>
        <p:nvSpPr>
          <p:cNvPr id="12" name="Text 10"/>
          <p:cNvSpPr txBox="1"/>
          <p:nvPr/>
        </p:nvSpPr>
        <p:spPr>
          <a:xfrm>
            <a:off x="4261104" y="2286000"/>
            <a:ext cx="237744" cy="329184"/>
          </a:xfrm>
          <a:prstGeom prst="rect">
            <a:avLst/>
          </a:prstGeom>
          <a:noFill/>
          <a:ln/>
        </p:spPr>
        <p:txBody>
          <a:bodyPr wrap="square" lIns="0" tIns="0" rIns="0" bIns="0" rtlCol="0" anchor="b"/>
          <a:lstStyle/>
          <a:p>
            <a:pPr algn="l" indent="0" marL="0">
              <a:buNone/>
            </a:pPr>
            <a:endParaRPr lang="en-US" sz="1050" dirty="0"/>
          </a:p>
        </p:txBody>
      </p:sp>
      <p:sp>
        <p:nvSpPr>
          <p:cNvPr id="13" name="Text 11"/>
          <p:cNvSpPr txBox="1"/>
          <p:nvPr/>
        </p:nvSpPr>
        <p:spPr>
          <a:xfrm>
            <a:off x="4498848" y="2286000"/>
            <a:ext cx="4517136" cy="329184"/>
          </a:xfrm>
          <a:prstGeom prst="rect">
            <a:avLst/>
          </a:prstGeom>
          <a:noFill/>
          <a:ln/>
        </p:spPr>
        <p:txBody>
          <a:bodyPr wrap="square" lIns="0" tIns="0" rIns="0" bIns="0" rtlCol="0" anchor="b"/>
          <a:lstStyle/>
          <a:p>
            <a:pPr algn="l" indent="0" marL="0">
              <a:buNone/>
            </a:pPr>
            <a:r>
              <a:rPr lang="en-US" sz="1050" b="1" dirty="0">
                <a:solidFill>
                  <a:srgbClr val="2A5247"/>
                </a:solidFill>
              </a:rPr>
              <a:t>origin</a:t>
            </a:r>
            <a:endParaRPr lang="en-US" sz="1050" dirty="0"/>
          </a:p>
        </p:txBody>
      </p:sp>
      <p:sp>
        <p:nvSpPr>
          <p:cNvPr id="14" name="Shape 12"/>
          <p:cNvSpPr/>
          <p:nvPr/>
        </p:nvSpPr>
        <p:spPr>
          <a:xfrm>
            <a:off x="566928" y="2651760"/>
            <a:ext cx="8449056" cy="914"/>
          </a:xfrm>
          <a:prstGeom prst="line">
            <a:avLst/>
          </a:prstGeom>
          <a:noFill/>
          <a:ln w="13970">
            <a:solidFill>
              <a:srgbClr val="11211C"/>
            </a:solidFill>
            <a:prstDash val="solid"/>
          </a:ln>
        </p:spPr>
      </p:sp>
      <p:sp>
        <p:nvSpPr>
          <p:cNvPr id="15" name="Text 13"/>
          <p:cNvSpPr txBox="1"/>
          <p:nvPr/>
        </p:nvSpPr>
        <p:spPr>
          <a:xfrm>
            <a:off x="566928" y="2670048"/>
            <a:ext cx="1481328" cy="324612"/>
          </a:xfrm>
          <a:prstGeom prst="rect">
            <a:avLst/>
          </a:prstGeom>
          <a:noFill/>
          <a:ln/>
        </p:spPr>
        <p:txBody>
          <a:bodyPr wrap="square" lIns="0" tIns="0" rIns="0" bIns="0" rtlCol="0" anchor="ctr"/>
          <a:lstStyle/>
          <a:p>
            <a:pPr algn="l" indent="0" marL="0">
              <a:buNone/>
            </a:pPr>
            <a:r>
              <a:rPr lang="en-US" sz="1000" dirty="0">
                <a:solidFill>
                  <a:srgbClr val="11211C"/>
                </a:solidFill>
              </a:rPr>
              <a:t>small-graph</a:t>
            </a:r>
            <a:endParaRPr lang="en-US" sz="1000" dirty="0"/>
          </a:p>
        </p:txBody>
      </p:sp>
      <p:sp>
        <p:nvSpPr>
          <p:cNvPr id="16" name="Text 14"/>
          <p:cNvSpPr txBox="1"/>
          <p:nvPr/>
        </p:nvSpPr>
        <p:spPr>
          <a:xfrm>
            <a:off x="2048256" y="2670048"/>
            <a:ext cx="658368" cy="324612"/>
          </a:xfrm>
          <a:prstGeom prst="rect">
            <a:avLst/>
          </a:prstGeom>
          <a:noFill/>
          <a:ln/>
        </p:spPr>
        <p:txBody>
          <a:bodyPr wrap="square" lIns="0" tIns="0" rIns="0" bIns="0" rtlCol="0" anchor="ctr"/>
          <a:lstStyle/>
          <a:p>
            <a:pPr algn="r" indent="0" marL="0">
              <a:buNone/>
            </a:pPr>
            <a:r>
              <a:rPr lang="en-US" sz="1000" dirty="0">
                <a:solidFill>
                  <a:srgbClr val="11211C"/>
                </a:solidFill>
              </a:rPr>
              <a:t>1,357</a:t>
            </a:r>
            <a:endParaRPr lang="en-US" sz="1000" dirty="0"/>
          </a:p>
        </p:txBody>
      </p:sp>
      <p:sp>
        <p:nvSpPr>
          <p:cNvPr id="17" name="Text 15"/>
          <p:cNvSpPr txBox="1"/>
          <p:nvPr/>
        </p:nvSpPr>
        <p:spPr>
          <a:xfrm>
            <a:off x="2706624" y="2670048"/>
            <a:ext cx="987552" cy="324612"/>
          </a:xfrm>
          <a:prstGeom prst="rect">
            <a:avLst/>
          </a:prstGeom>
          <a:noFill/>
          <a:ln/>
        </p:spPr>
        <p:txBody>
          <a:bodyPr wrap="square" lIns="0" tIns="0" rIns="0" bIns="0" rtlCol="0" anchor="ctr"/>
          <a:lstStyle/>
          <a:p>
            <a:pPr algn="r" indent="0" marL="0">
              <a:buNone/>
            </a:pPr>
            <a:r>
              <a:rPr lang="en-US" sz="1000" dirty="0">
                <a:solidFill>
                  <a:srgbClr val="11211C"/>
                </a:solidFill>
              </a:rPr>
              <a:t>2,280</a:t>
            </a:r>
            <a:endParaRPr lang="en-US" sz="1000" dirty="0"/>
          </a:p>
        </p:txBody>
      </p:sp>
      <p:sp>
        <p:nvSpPr>
          <p:cNvPr id="18" name="Text 16"/>
          <p:cNvSpPr txBox="1"/>
          <p:nvPr/>
        </p:nvSpPr>
        <p:spPr>
          <a:xfrm>
            <a:off x="3694176" y="2670048"/>
            <a:ext cx="566928" cy="324612"/>
          </a:xfrm>
          <a:prstGeom prst="rect">
            <a:avLst/>
          </a:prstGeom>
          <a:noFill/>
          <a:ln/>
        </p:spPr>
        <p:txBody>
          <a:bodyPr wrap="square" lIns="0" tIns="0" rIns="0" bIns="0" rtlCol="0" anchor="ctr"/>
          <a:lstStyle/>
          <a:p>
            <a:pPr algn="r" indent="0" marL="0">
              <a:buNone/>
            </a:pPr>
            <a:r>
              <a:rPr lang="en-US" sz="1000" dirty="0">
                <a:solidFill>
                  <a:srgbClr val="11211C"/>
                </a:solidFill>
              </a:rPr>
              <a:t>5</a:t>
            </a:r>
            <a:endParaRPr lang="en-US" sz="1000" dirty="0"/>
          </a:p>
        </p:txBody>
      </p:sp>
      <p:sp>
        <p:nvSpPr>
          <p:cNvPr id="19" name="Text 17"/>
          <p:cNvSpPr txBox="1"/>
          <p:nvPr/>
        </p:nvSpPr>
        <p:spPr>
          <a:xfrm>
            <a:off x="4261104" y="2670048"/>
            <a:ext cx="237744" cy="324612"/>
          </a:xfrm>
          <a:prstGeom prst="rect">
            <a:avLst/>
          </a:prstGeom>
          <a:noFill/>
          <a:ln/>
        </p:spPr>
        <p:txBody>
          <a:bodyPr wrap="square" lIns="0" tIns="0" rIns="0" bIns="0" rtlCol="0" anchor="ctr"/>
          <a:lstStyle/>
          <a:p>
            <a:pPr algn="l" indent="0" marL="0">
              <a:buNone/>
            </a:pPr>
            <a:endParaRPr lang="en-US" sz="1000" dirty="0"/>
          </a:p>
        </p:txBody>
      </p:sp>
      <p:sp>
        <p:nvSpPr>
          <p:cNvPr id="20" name="Text 18"/>
          <p:cNvSpPr txBox="1"/>
          <p:nvPr/>
        </p:nvSpPr>
        <p:spPr>
          <a:xfrm>
            <a:off x="4498848" y="2670048"/>
            <a:ext cx="4517136" cy="324612"/>
          </a:xfrm>
          <a:prstGeom prst="rect">
            <a:avLst/>
          </a:prstGeom>
          <a:noFill/>
          <a:ln/>
        </p:spPr>
        <p:txBody>
          <a:bodyPr wrap="square" lIns="0" tIns="0" rIns="0" bIns="0" rtlCol="0" anchor="ctr"/>
          <a:lstStyle/>
          <a:p>
            <a:pPr algn="l" indent="0" marL="0">
              <a:buNone/>
            </a:pPr>
            <a:r>
              <a:rPr lang="en-US" sz="1000" dirty="0">
                <a:solidFill>
                  <a:srgbClr val="6B7A75"/>
                </a:solidFill>
              </a:rPr>
              <a:t>ESA SpOC-3 official</a:t>
            </a:r>
            <a:endParaRPr lang="en-US" sz="1000" dirty="0"/>
          </a:p>
        </p:txBody>
      </p:sp>
      <p:sp>
        <p:nvSpPr>
          <p:cNvPr id="21" name="Text 19"/>
          <p:cNvSpPr txBox="1"/>
          <p:nvPr/>
        </p:nvSpPr>
        <p:spPr>
          <a:xfrm>
            <a:off x="566928" y="2994660"/>
            <a:ext cx="1481328" cy="324612"/>
          </a:xfrm>
          <a:prstGeom prst="rect">
            <a:avLst/>
          </a:prstGeom>
          <a:noFill/>
          <a:ln/>
        </p:spPr>
        <p:txBody>
          <a:bodyPr wrap="square" lIns="0" tIns="0" rIns="0" bIns="0" rtlCol="0" anchor="ctr"/>
          <a:lstStyle/>
          <a:p>
            <a:pPr algn="l" indent="0" marL="0">
              <a:buNone/>
            </a:pPr>
            <a:r>
              <a:rPr lang="en-US" sz="1000" dirty="0">
                <a:solidFill>
                  <a:srgbClr val="11211C"/>
                </a:solidFill>
              </a:rPr>
              <a:t>synth-1</a:t>
            </a:r>
            <a:endParaRPr lang="en-US" sz="1000" dirty="0"/>
          </a:p>
        </p:txBody>
      </p:sp>
      <p:sp>
        <p:nvSpPr>
          <p:cNvPr id="22" name="Text 20"/>
          <p:cNvSpPr txBox="1"/>
          <p:nvPr/>
        </p:nvSpPr>
        <p:spPr>
          <a:xfrm>
            <a:off x="2048256" y="2994660"/>
            <a:ext cx="658368" cy="324612"/>
          </a:xfrm>
          <a:prstGeom prst="rect">
            <a:avLst/>
          </a:prstGeom>
          <a:noFill/>
          <a:ln/>
        </p:spPr>
        <p:txBody>
          <a:bodyPr wrap="square" lIns="0" tIns="0" rIns="0" bIns="0" rtlCol="0" anchor="ctr"/>
          <a:lstStyle/>
          <a:p>
            <a:pPr algn="r" indent="0" marL="0">
              <a:buNone/>
            </a:pPr>
            <a:r>
              <a:rPr lang="en-US" sz="1000" dirty="0">
                <a:solidFill>
                  <a:srgbClr val="11211C"/>
                </a:solidFill>
              </a:rPr>
              <a:t>1,357</a:t>
            </a:r>
            <a:endParaRPr lang="en-US" sz="1000" dirty="0"/>
          </a:p>
        </p:txBody>
      </p:sp>
      <p:sp>
        <p:nvSpPr>
          <p:cNvPr id="23" name="Text 21"/>
          <p:cNvSpPr txBox="1"/>
          <p:nvPr/>
        </p:nvSpPr>
        <p:spPr>
          <a:xfrm>
            <a:off x="2706624" y="2994660"/>
            <a:ext cx="987552" cy="324612"/>
          </a:xfrm>
          <a:prstGeom prst="rect">
            <a:avLst/>
          </a:prstGeom>
          <a:noFill/>
          <a:ln/>
        </p:spPr>
        <p:txBody>
          <a:bodyPr wrap="square" lIns="0" tIns="0" rIns="0" bIns="0" rtlCol="0" anchor="ctr"/>
          <a:lstStyle/>
          <a:p>
            <a:pPr algn="r" indent="0" marL="0">
              <a:buNone/>
            </a:pPr>
            <a:r>
              <a:rPr lang="en-US" sz="1000" dirty="0">
                <a:solidFill>
                  <a:srgbClr val="11211C"/>
                </a:solidFill>
              </a:rPr>
              <a:t>2,282</a:t>
            </a:r>
            <a:endParaRPr lang="en-US" sz="1000" dirty="0"/>
          </a:p>
        </p:txBody>
      </p:sp>
      <p:sp>
        <p:nvSpPr>
          <p:cNvPr id="24" name="Text 22"/>
          <p:cNvSpPr txBox="1"/>
          <p:nvPr/>
        </p:nvSpPr>
        <p:spPr>
          <a:xfrm>
            <a:off x="3694176" y="2994660"/>
            <a:ext cx="566928" cy="324612"/>
          </a:xfrm>
          <a:prstGeom prst="rect">
            <a:avLst/>
          </a:prstGeom>
          <a:noFill/>
          <a:ln/>
        </p:spPr>
        <p:txBody>
          <a:bodyPr wrap="square" lIns="0" tIns="0" rIns="0" bIns="0" rtlCol="0" anchor="ctr"/>
          <a:lstStyle/>
          <a:p>
            <a:pPr algn="r" indent="0" marL="0">
              <a:buNone/>
            </a:pPr>
            <a:r>
              <a:rPr lang="en-US" sz="1000" dirty="0">
                <a:solidFill>
                  <a:srgbClr val="11211C"/>
                </a:solidFill>
              </a:rPr>
              <a:t>5</a:t>
            </a:r>
            <a:endParaRPr lang="en-US" sz="1000" dirty="0"/>
          </a:p>
        </p:txBody>
      </p:sp>
      <p:sp>
        <p:nvSpPr>
          <p:cNvPr id="25" name="Text 23"/>
          <p:cNvSpPr txBox="1"/>
          <p:nvPr/>
        </p:nvSpPr>
        <p:spPr>
          <a:xfrm>
            <a:off x="4261104" y="2994660"/>
            <a:ext cx="237744" cy="324612"/>
          </a:xfrm>
          <a:prstGeom prst="rect">
            <a:avLst/>
          </a:prstGeom>
          <a:noFill/>
          <a:ln/>
        </p:spPr>
        <p:txBody>
          <a:bodyPr wrap="square" lIns="0" tIns="0" rIns="0" bIns="0" rtlCol="0" anchor="ctr"/>
          <a:lstStyle/>
          <a:p>
            <a:pPr algn="l" indent="0" marL="0">
              <a:buNone/>
            </a:pPr>
            <a:endParaRPr lang="en-US" sz="1000" dirty="0"/>
          </a:p>
        </p:txBody>
      </p:sp>
      <p:sp>
        <p:nvSpPr>
          <p:cNvPr id="26" name="Text 24"/>
          <p:cNvSpPr txBox="1"/>
          <p:nvPr/>
        </p:nvSpPr>
        <p:spPr>
          <a:xfrm>
            <a:off x="4498848" y="2994660"/>
            <a:ext cx="4517136" cy="324612"/>
          </a:xfrm>
          <a:prstGeom prst="rect">
            <a:avLst/>
          </a:prstGeom>
          <a:noFill/>
          <a:ln/>
        </p:spPr>
        <p:txBody>
          <a:bodyPr wrap="square" lIns="0" tIns="0" rIns="0" bIns="0" rtlCol="0" anchor="ctr"/>
          <a:lstStyle/>
          <a:p>
            <a:pPr algn="l" indent="0" marL="0">
              <a:buNone/>
            </a:pPr>
            <a:r>
              <a:rPr lang="en-US" sz="1000" dirty="0">
                <a:solidFill>
                  <a:srgbClr val="6B7A75"/>
                </a:solidFill>
              </a:rPr>
              <a:t>10 × 115 grid, 100 edges dropped, 207 pendants</a:t>
            </a:r>
            <a:endParaRPr lang="en-US" sz="1000" dirty="0"/>
          </a:p>
        </p:txBody>
      </p:sp>
      <p:sp>
        <p:nvSpPr>
          <p:cNvPr id="27" name="Text 25"/>
          <p:cNvSpPr txBox="1"/>
          <p:nvPr/>
        </p:nvSpPr>
        <p:spPr>
          <a:xfrm>
            <a:off x="566928" y="3319272"/>
            <a:ext cx="1481328" cy="324612"/>
          </a:xfrm>
          <a:prstGeom prst="rect">
            <a:avLst/>
          </a:prstGeom>
          <a:noFill/>
          <a:ln/>
        </p:spPr>
        <p:txBody>
          <a:bodyPr wrap="square" lIns="0" tIns="0" rIns="0" bIns="0" rtlCol="0" anchor="ctr"/>
          <a:lstStyle/>
          <a:p>
            <a:pPr algn="l" indent="0" marL="0">
              <a:buNone/>
            </a:pPr>
            <a:r>
              <a:rPr lang="en-US" sz="1000" dirty="0">
                <a:solidFill>
                  <a:srgbClr val="11211C"/>
                </a:solidFill>
              </a:rPr>
              <a:t>synth-2</a:t>
            </a:r>
            <a:endParaRPr lang="en-US" sz="1000" dirty="0"/>
          </a:p>
        </p:txBody>
      </p:sp>
      <p:sp>
        <p:nvSpPr>
          <p:cNvPr id="28" name="Text 26"/>
          <p:cNvSpPr txBox="1"/>
          <p:nvPr/>
        </p:nvSpPr>
        <p:spPr>
          <a:xfrm>
            <a:off x="2048256" y="3319272"/>
            <a:ext cx="658368" cy="324612"/>
          </a:xfrm>
          <a:prstGeom prst="rect">
            <a:avLst/>
          </a:prstGeom>
          <a:noFill/>
          <a:ln/>
        </p:spPr>
        <p:txBody>
          <a:bodyPr wrap="square" lIns="0" tIns="0" rIns="0" bIns="0" rtlCol="0" anchor="ctr"/>
          <a:lstStyle/>
          <a:p>
            <a:pPr algn="r" indent="0" marL="0">
              <a:buNone/>
            </a:pPr>
            <a:r>
              <a:rPr lang="en-US" sz="1000" dirty="0">
                <a:solidFill>
                  <a:srgbClr val="11211C"/>
                </a:solidFill>
              </a:rPr>
              <a:t>1,357</a:t>
            </a:r>
            <a:endParaRPr lang="en-US" sz="1000" dirty="0"/>
          </a:p>
        </p:txBody>
      </p:sp>
      <p:sp>
        <p:nvSpPr>
          <p:cNvPr id="29" name="Text 27"/>
          <p:cNvSpPr txBox="1"/>
          <p:nvPr/>
        </p:nvSpPr>
        <p:spPr>
          <a:xfrm>
            <a:off x="2706624" y="3319272"/>
            <a:ext cx="987552" cy="324612"/>
          </a:xfrm>
          <a:prstGeom prst="rect">
            <a:avLst/>
          </a:prstGeom>
          <a:noFill/>
          <a:ln/>
        </p:spPr>
        <p:txBody>
          <a:bodyPr wrap="square" lIns="0" tIns="0" rIns="0" bIns="0" rtlCol="0" anchor="ctr"/>
          <a:lstStyle/>
          <a:p>
            <a:pPr algn="r" indent="0" marL="0">
              <a:buNone/>
            </a:pPr>
            <a:r>
              <a:rPr lang="en-US" sz="1000" dirty="0">
                <a:solidFill>
                  <a:srgbClr val="11211C"/>
                </a:solidFill>
              </a:rPr>
              <a:t>2,282</a:t>
            </a:r>
            <a:endParaRPr lang="en-US" sz="1000" dirty="0"/>
          </a:p>
        </p:txBody>
      </p:sp>
      <p:sp>
        <p:nvSpPr>
          <p:cNvPr id="30" name="Text 28"/>
          <p:cNvSpPr txBox="1"/>
          <p:nvPr/>
        </p:nvSpPr>
        <p:spPr>
          <a:xfrm>
            <a:off x="3694176" y="3319272"/>
            <a:ext cx="566928" cy="324612"/>
          </a:xfrm>
          <a:prstGeom prst="rect">
            <a:avLst/>
          </a:prstGeom>
          <a:noFill/>
          <a:ln/>
        </p:spPr>
        <p:txBody>
          <a:bodyPr wrap="square" lIns="0" tIns="0" rIns="0" bIns="0" rtlCol="0" anchor="ctr"/>
          <a:lstStyle/>
          <a:p>
            <a:pPr algn="r" indent="0" marL="0">
              <a:buNone/>
            </a:pPr>
            <a:r>
              <a:rPr lang="en-US" sz="1000" dirty="0">
                <a:solidFill>
                  <a:srgbClr val="11211C"/>
                </a:solidFill>
              </a:rPr>
              <a:t>5</a:t>
            </a:r>
            <a:endParaRPr lang="en-US" sz="1000" dirty="0"/>
          </a:p>
        </p:txBody>
      </p:sp>
      <p:sp>
        <p:nvSpPr>
          <p:cNvPr id="31" name="Text 29"/>
          <p:cNvSpPr txBox="1"/>
          <p:nvPr/>
        </p:nvSpPr>
        <p:spPr>
          <a:xfrm>
            <a:off x="4261104" y="3319272"/>
            <a:ext cx="237744" cy="324612"/>
          </a:xfrm>
          <a:prstGeom prst="rect">
            <a:avLst/>
          </a:prstGeom>
          <a:noFill/>
          <a:ln/>
        </p:spPr>
        <p:txBody>
          <a:bodyPr wrap="square" lIns="0" tIns="0" rIns="0" bIns="0" rtlCol="0" anchor="ctr"/>
          <a:lstStyle/>
          <a:p>
            <a:pPr algn="l" indent="0" marL="0">
              <a:buNone/>
            </a:pPr>
            <a:endParaRPr lang="en-US" sz="1000" dirty="0"/>
          </a:p>
        </p:txBody>
      </p:sp>
      <p:sp>
        <p:nvSpPr>
          <p:cNvPr id="32" name="Text 30"/>
          <p:cNvSpPr txBox="1"/>
          <p:nvPr/>
        </p:nvSpPr>
        <p:spPr>
          <a:xfrm>
            <a:off x="4498848" y="3319272"/>
            <a:ext cx="4517136" cy="324612"/>
          </a:xfrm>
          <a:prstGeom prst="rect">
            <a:avLst/>
          </a:prstGeom>
          <a:noFill/>
          <a:ln/>
        </p:spPr>
        <p:txBody>
          <a:bodyPr wrap="square" lIns="0" tIns="0" rIns="0" bIns="0" rtlCol="0" anchor="ctr"/>
          <a:lstStyle/>
          <a:p>
            <a:pPr algn="l" indent="0" marL="0">
              <a:buNone/>
            </a:pPr>
            <a:r>
              <a:rPr lang="en-US" sz="1000" dirty="0">
                <a:solidFill>
                  <a:srgbClr val="6B7A75"/>
                </a:solidFill>
              </a:rPr>
              <a:t>10 × 115 grid, 100 edges dropped, 207 pendants</a:t>
            </a:r>
            <a:endParaRPr lang="en-US" sz="1000" dirty="0"/>
          </a:p>
        </p:txBody>
      </p:sp>
      <p:sp>
        <p:nvSpPr>
          <p:cNvPr id="33" name="Text 31"/>
          <p:cNvSpPr txBox="1"/>
          <p:nvPr/>
        </p:nvSpPr>
        <p:spPr>
          <a:xfrm>
            <a:off x="566928" y="3643884"/>
            <a:ext cx="1481328" cy="324612"/>
          </a:xfrm>
          <a:prstGeom prst="rect">
            <a:avLst/>
          </a:prstGeom>
          <a:noFill/>
          <a:ln/>
        </p:spPr>
        <p:txBody>
          <a:bodyPr wrap="square" lIns="0" tIns="0" rIns="0" bIns="0" rtlCol="0" anchor="ctr"/>
          <a:lstStyle/>
          <a:p>
            <a:pPr algn="l" indent="0" marL="0">
              <a:buNone/>
            </a:pPr>
            <a:r>
              <a:rPr lang="en-US" sz="1000" dirty="0">
                <a:solidFill>
                  <a:srgbClr val="11211C"/>
                </a:solidFill>
              </a:rPr>
              <a:t>synth-3</a:t>
            </a:r>
            <a:endParaRPr lang="en-US" sz="1000" dirty="0"/>
          </a:p>
        </p:txBody>
      </p:sp>
      <p:sp>
        <p:nvSpPr>
          <p:cNvPr id="34" name="Text 32"/>
          <p:cNvSpPr txBox="1"/>
          <p:nvPr/>
        </p:nvSpPr>
        <p:spPr>
          <a:xfrm>
            <a:off x="2048256" y="3643884"/>
            <a:ext cx="658368" cy="324612"/>
          </a:xfrm>
          <a:prstGeom prst="rect">
            <a:avLst/>
          </a:prstGeom>
          <a:noFill/>
          <a:ln/>
        </p:spPr>
        <p:txBody>
          <a:bodyPr wrap="square" lIns="0" tIns="0" rIns="0" bIns="0" rtlCol="0" anchor="ctr"/>
          <a:lstStyle/>
          <a:p>
            <a:pPr algn="r" indent="0" marL="0">
              <a:buNone/>
            </a:pPr>
            <a:r>
              <a:rPr lang="en-US" sz="1000" dirty="0">
                <a:solidFill>
                  <a:srgbClr val="11211C"/>
                </a:solidFill>
              </a:rPr>
              <a:t>1,357</a:t>
            </a:r>
            <a:endParaRPr lang="en-US" sz="1000" dirty="0"/>
          </a:p>
        </p:txBody>
      </p:sp>
      <p:sp>
        <p:nvSpPr>
          <p:cNvPr id="35" name="Text 33"/>
          <p:cNvSpPr txBox="1"/>
          <p:nvPr/>
        </p:nvSpPr>
        <p:spPr>
          <a:xfrm>
            <a:off x="2706624" y="3643884"/>
            <a:ext cx="987552" cy="324612"/>
          </a:xfrm>
          <a:prstGeom prst="rect">
            <a:avLst/>
          </a:prstGeom>
          <a:noFill/>
          <a:ln/>
        </p:spPr>
        <p:txBody>
          <a:bodyPr wrap="square" lIns="0" tIns="0" rIns="0" bIns="0" rtlCol="0" anchor="ctr"/>
          <a:lstStyle/>
          <a:p>
            <a:pPr algn="r" indent="0" marL="0">
              <a:buNone/>
            </a:pPr>
            <a:r>
              <a:rPr lang="en-US" sz="1000" dirty="0">
                <a:solidFill>
                  <a:srgbClr val="11211C"/>
                </a:solidFill>
              </a:rPr>
              <a:t>2,282</a:t>
            </a:r>
            <a:endParaRPr lang="en-US" sz="1000" dirty="0"/>
          </a:p>
        </p:txBody>
      </p:sp>
      <p:sp>
        <p:nvSpPr>
          <p:cNvPr id="36" name="Text 34"/>
          <p:cNvSpPr txBox="1"/>
          <p:nvPr/>
        </p:nvSpPr>
        <p:spPr>
          <a:xfrm>
            <a:off x="3694176" y="3643884"/>
            <a:ext cx="566928" cy="324612"/>
          </a:xfrm>
          <a:prstGeom prst="rect">
            <a:avLst/>
          </a:prstGeom>
          <a:noFill/>
          <a:ln/>
        </p:spPr>
        <p:txBody>
          <a:bodyPr wrap="square" lIns="0" tIns="0" rIns="0" bIns="0" rtlCol="0" anchor="ctr"/>
          <a:lstStyle/>
          <a:p>
            <a:pPr algn="r" indent="0" marL="0">
              <a:buNone/>
            </a:pPr>
            <a:r>
              <a:rPr lang="en-US" sz="1000" dirty="0">
                <a:solidFill>
                  <a:srgbClr val="11211C"/>
                </a:solidFill>
              </a:rPr>
              <a:t>5</a:t>
            </a:r>
            <a:endParaRPr lang="en-US" sz="1000" dirty="0"/>
          </a:p>
        </p:txBody>
      </p:sp>
      <p:sp>
        <p:nvSpPr>
          <p:cNvPr id="37" name="Text 35"/>
          <p:cNvSpPr txBox="1"/>
          <p:nvPr/>
        </p:nvSpPr>
        <p:spPr>
          <a:xfrm>
            <a:off x="4261104" y="3643884"/>
            <a:ext cx="237744" cy="324612"/>
          </a:xfrm>
          <a:prstGeom prst="rect">
            <a:avLst/>
          </a:prstGeom>
          <a:noFill/>
          <a:ln/>
        </p:spPr>
        <p:txBody>
          <a:bodyPr wrap="square" lIns="0" tIns="0" rIns="0" bIns="0" rtlCol="0" anchor="ctr"/>
          <a:lstStyle/>
          <a:p>
            <a:pPr algn="l" indent="0" marL="0">
              <a:buNone/>
            </a:pPr>
            <a:endParaRPr lang="en-US" sz="1000" dirty="0"/>
          </a:p>
        </p:txBody>
      </p:sp>
      <p:sp>
        <p:nvSpPr>
          <p:cNvPr id="38" name="Text 36"/>
          <p:cNvSpPr txBox="1"/>
          <p:nvPr/>
        </p:nvSpPr>
        <p:spPr>
          <a:xfrm>
            <a:off x="4498848" y="3643884"/>
            <a:ext cx="4517136" cy="324612"/>
          </a:xfrm>
          <a:prstGeom prst="rect">
            <a:avLst/>
          </a:prstGeom>
          <a:noFill/>
          <a:ln/>
        </p:spPr>
        <p:txBody>
          <a:bodyPr wrap="square" lIns="0" tIns="0" rIns="0" bIns="0" rtlCol="0" anchor="ctr"/>
          <a:lstStyle/>
          <a:p>
            <a:pPr algn="l" indent="0" marL="0">
              <a:buNone/>
            </a:pPr>
            <a:r>
              <a:rPr lang="en-US" sz="1000" dirty="0">
                <a:solidFill>
                  <a:srgbClr val="6B7A75"/>
                </a:solidFill>
              </a:rPr>
              <a:t>10 × 115 grid, 100 edges dropped, 207 pendants</a:t>
            </a:r>
            <a:endParaRPr lang="en-US" sz="1000" dirty="0"/>
          </a:p>
        </p:txBody>
      </p:sp>
      <p:sp>
        <p:nvSpPr>
          <p:cNvPr id="39" name="Text 37"/>
          <p:cNvSpPr txBox="1"/>
          <p:nvPr/>
        </p:nvSpPr>
        <p:spPr>
          <a:xfrm>
            <a:off x="566928" y="3968496"/>
            <a:ext cx="1481328" cy="324612"/>
          </a:xfrm>
          <a:prstGeom prst="rect">
            <a:avLst/>
          </a:prstGeom>
          <a:noFill/>
          <a:ln/>
        </p:spPr>
        <p:txBody>
          <a:bodyPr wrap="square" lIns="0" tIns="0" rIns="0" bIns="0" rtlCol="0" anchor="ctr"/>
          <a:lstStyle/>
          <a:p>
            <a:pPr algn="l" indent="0" marL="0">
              <a:buNone/>
            </a:pPr>
            <a:r>
              <a:rPr lang="en-US" sz="1000" dirty="0">
                <a:solidFill>
                  <a:srgbClr val="11211C"/>
                </a:solidFill>
              </a:rPr>
              <a:t>medium-graph</a:t>
            </a:r>
            <a:endParaRPr lang="en-US" sz="1000" dirty="0"/>
          </a:p>
        </p:txBody>
      </p:sp>
      <p:sp>
        <p:nvSpPr>
          <p:cNvPr id="40" name="Text 38"/>
          <p:cNvSpPr txBox="1"/>
          <p:nvPr/>
        </p:nvSpPr>
        <p:spPr>
          <a:xfrm>
            <a:off x="2048256" y="3968496"/>
            <a:ext cx="658368" cy="324612"/>
          </a:xfrm>
          <a:prstGeom prst="rect">
            <a:avLst/>
          </a:prstGeom>
          <a:noFill/>
          <a:ln/>
        </p:spPr>
        <p:txBody>
          <a:bodyPr wrap="square" lIns="0" tIns="0" rIns="0" bIns="0" rtlCol="0" anchor="ctr"/>
          <a:lstStyle/>
          <a:p>
            <a:pPr algn="r" indent="0" marL="0">
              <a:buNone/>
            </a:pPr>
            <a:r>
              <a:rPr lang="en-US" sz="1000" dirty="0">
                <a:solidFill>
                  <a:srgbClr val="11211C"/>
                </a:solidFill>
              </a:rPr>
              <a:t>1,399</a:t>
            </a:r>
            <a:endParaRPr lang="en-US" sz="1000" dirty="0"/>
          </a:p>
        </p:txBody>
      </p:sp>
      <p:sp>
        <p:nvSpPr>
          <p:cNvPr id="41" name="Text 39"/>
          <p:cNvSpPr txBox="1"/>
          <p:nvPr/>
        </p:nvSpPr>
        <p:spPr>
          <a:xfrm>
            <a:off x="2706624" y="3968496"/>
            <a:ext cx="987552" cy="324612"/>
          </a:xfrm>
          <a:prstGeom prst="rect">
            <a:avLst/>
          </a:prstGeom>
          <a:noFill/>
          <a:ln/>
        </p:spPr>
        <p:txBody>
          <a:bodyPr wrap="square" lIns="0" tIns="0" rIns="0" bIns="0" rtlCol="0" anchor="ctr"/>
          <a:lstStyle/>
          <a:p>
            <a:pPr algn="r" indent="0" marL="0">
              <a:buNone/>
            </a:pPr>
            <a:r>
              <a:rPr lang="en-US" sz="1000" dirty="0">
                <a:solidFill>
                  <a:srgbClr val="11211C"/>
                </a:solidFill>
              </a:rPr>
              <a:t>13,799</a:t>
            </a:r>
            <a:endParaRPr lang="en-US" sz="1000" dirty="0"/>
          </a:p>
        </p:txBody>
      </p:sp>
      <p:sp>
        <p:nvSpPr>
          <p:cNvPr id="42" name="Text 40"/>
          <p:cNvSpPr txBox="1"/>
          <p:nvPr/>
        </p:nvSpPr>
        <p:spPr>
          <a:xfrm>
            <a:off x="3694176" y="3968496"/>
            <a:ext cx="566928" cy="324612"/>
          </a:xfrm>
          <a:prstGeom prst="rect">
            <a:avLst/>
          </a:prstGeom>
          <a:noFill/>
          <a:ln/>
        </p:spPr>
        <p:txBody>
          <a:bodyPr wrap="square" lIns="0" tIns="0" rIns="0" bIns="0" rtlCol="0" anchor="ctr"/>
          <a:lstStyle/>
          <a:p>
            <a:pPr algn="r" indent="0" marL="0">
              <a:buNone/>
            </a:pPr>
            <a:r>
              <a:rPr lang="en-US" sz="1000" dirty="0">
                <a:solidFill>
                  <a:srgbClr val="11211C"/>
                </a:solidFill>
              </a:rPr>
              <a:t>63</a:t>
            </a:r>
            <a:endParaRPr lang="en-US" sz="1000" dirty="0"/>
          </a:p>
        </p:txBody>
      </p:sp>
      <p:sp>
        <p:nvSpPr>
          <p:cNvPr id="43" name="Text 41"/>
          <p:cNvSpPr txBox="1"/>
          <p:nvPr/>
        </p:nvSpPr>
        <p:spPr>
          <a:xfrm>
            <a:off x="4261104" y="3968496"/>
            <a:ext cx="237744" cy="324612"/>
          </a:xfrm>
          <a:prstGeom prst="rect">
            <a:avLst/>
          </a:prstGeom>
          <a:noFill/>
          <a:ln/>
        </p:spPr>
        <p:txBody>
          <a:bodyPr wrap="square" lIns="0" tIns="0" rIns="0" bIns="0" rtlCol="0" anchor="ctr"/>
          <a:lstStyle/>
          <a:p>
            <a:pPr algn="l" indent="0" marL="0">
              <a:buNone/>
            </a:pPr>
            <a:endParaRPr lang="en-US" sz="1000" dirty="0"/>
          </a:p>
        </p:txBody>
      </p:sp>
      <p:sp>
        <p:nvSpPr>
          <p:cNvPr id="44" name="Text 42"/>
          <p:cNvSpPr txBox="1"/>
          <p:nvPr/>
        </p:nvSpPr>
        <p:spPr>
          <a:xfrm>
            <a:off x="4498848" y="3968496"/>
            <a:ext cx="4517136" cy="324612"/>
          </a:xfrm>
          <a:prstGeom prst="rect">
            <a:avLst/>
          </a:prstGeom>
          <a:noFill/>
          <a:ln/>
        </p:spPr>
        <p:txBody>
          <a:bodyPr wrap="square" lIns="0" tIns="0" rIns="0" bIns="0" rtlCol="0" anchor="ctr"/>
          <a:lstStyle/>
          <a:p>
            <a:pPr algn="l" indent="0" marL="0">
              <a:buNone/>
            </a:pPr>
            <a:r>
              <a:rPr lang="en-US" sz="1000" dirty="0">
                <a:solidFill>
                  <a:srgbClr val="6B7A75"/>
                </a:solidFill>
              </a:rPr>
              <a:t>ESA SpOC-3 official</a:t>
            </a:r>
            <a:endParaRPr lang="en-US" sz="1000" dirty="0"/>
          </a:p>
        </p:txBody>
      </p:sp>
      <p:sp>
        <p:nvSpPr>
          <p:cNvPr id="45" name="Text 43"/>
          <p:cNvSpPr txBox="1"/>
          <p:nvPr/>
        </p:nvSpPr>
        <p:spPr>
          <a:xfrm>
            <a:off x="566928" y="4293108"/>
            <a:ext cx="1481328" cy="324612"/>
          </a:xfrm>
          <a:prstGeom prst="rect">
            <a:avLst/>
          </a:prstGeom>
          <a:noFill/>
          <a:ln/>
        </p:spPr>
        <p:txBody>
          <a:bodyPr wrap="square" lIns="0" tIns="0" rIns="0" bIns="0" rtlCol="0" anchor="ctr"/>
          <a:lstStyle/>
          <a:p>
            <a:pPr algn="l" indent="0" marL="0">
              <a:buNone/>
            </a:pPr>
            <a:r>
              <a:rPr lang="en-US" sz="1000" dirty="0">
                <a:solidFill>
                  <a:srgbClr val="11211C"/>
                </a:solidFill>
              </a:rPr>
              <a:t>synth-4</a:t>
            </a:r>
            <a:endParaRPr lang="en-US" sz="1000" dirty="0"/>
          </a:p>
        </p:txBody>
      </p:sp>
      <p:sp>
        <p:nvSpPr>
          <p:cNvPr id="46" name="Text 44"/>
          <p:cNvSpPr txBox="1"/>
          <p:nvPr/>
        </p:nvSpPr>
        <p:spPr>
          <a:xfrm>
            <a:off x="2048256" y="4293108"/>
            <a:ext cx="658368" cy="324612"/>
          </a:xfrm>
          <a:prstGeom prst="rect">
            <a:avLst/>
          </a:prstGeom>
          <a:noFill/>
          <a:ln/>
        </p:spPr>
        <p:txBody>
          <a:bodyPr wrap="square" lIns="0" tIns="0" rIns="0" bIns="0" rtlCol="0" anchor="ctr"/>
          <a:lstStyle/>
          <a:p>
            <a:pPr algn="r" indent="0" marL="0">
              <a:buNone/>
            </a:pPr>
            <a:r>
              <a:rPr lang="en-US" sz="1000" dirty="0">
                <a:solidFill>
                  <a:srgbClr val="11211C"/>
                </a:solidFill>
              </a:rPr>
              <a:t>1,399</a:t>
            </a:r>
            <a:endParaRPr lang="en-US" sz="1000" dirty="0"/>
          </a:p>
        </p:txBody>
      </p:sp>
      <p:sp>
        <p:nvSpPr>
          <p:cNvPr id="47" name="Text 45"/>
          <p:cNvSpPr txBox="1"/>
          <p:nvPr/>
        </p:nvSpPr>
        <p:spPr>
          <a:xfrm>
            <a:off x="2706624" y="4293108"/>
            <a:ext cx="987552" cy="324612"/>
          </a:xfrm>
          <a:prstGeom prst="rect">
            <a:avLst/>
          </a:prstGeom>
          <a:noFill/>
          <a:ln/>
        </p:spPr>
        <p:txBody>
          <a:bodyPr wrap="square" lIns="0" tIns="0" rIns="0" bIns="0" rtlCol="0" anchor="ctr"/>
          <a:lstStyle/>
          <a:p>
            <a:pPr algn="r" indent="0" marL="0">
              <a:buNone/>
            </a:pPr>
            <a:r>
              <a:rPr lang="en-US" sz="1000" dirty="0">
                <a:solidFill>
                  <a:srgbClr val="11211C"/>
                </a:solidFill>
              </a:rPr>
              <a:t>13,799</a:t>
            </a:r>
            <a:endParaRPr lang="en-US" sz="1000" dirty="0"/>
          </a:p>
        </p:txBody>
      </p:sp>
      <p:sp>
        <p:nvSpPr>
          <p:cNvPr id="48" name="Text 46"/>
          <p:cNvSpPr txBox="1"/>
          <p:nvPr/>
        </p:nvSpPr>
        <p:spPr>
          <a:xfrm>
            <a:off x="3694176" y="4293108"/>
            <a:ext cx="566928" cy="324612"/>
          </a:xfrm>
          <a:prstGeom prst="rect">
            <a:avLst/>
          </a:prstGeom>
          <a:noFill/>
          <a:ln/>
        </p:spPr>
        <p:txBody>
          <a:bodyPr wrap="square" lIns="0" tIns="0" rIns="0" bIns="0" rtlCol="0" anchor="ctr"/>
          <a:lstStyle/>
          <a:p>
            <a:pPr algn="r" indent="0" marL="0">
              <a:buNone/>
            </a:pPr>
            <a:r>
              <a:rPr lang="en-US" sz="1000" dirty="0">
                <a:solidFill>
                  <a:srgbClr val="11211C"/>
                </a:solidFill>
              </a:rPr>
              <a:t>72</a:t>
            </a:r>
            <a:endParaRPr lang="en-US" sz="1000" dirty="0"/>
          </a:p>
        </p:txBody>
      </p:sp>
      <p:sp>
        <p:nvSpPr>
          <p:cNvPr id="49" name="Text 47"/>
          <p:cNvSpPr txBox="1"/>
          <p:nvPr/>
        </p:nvSpPr>
        <p:spPr>
          <a:xfrm>
            <a:off x="4261104" y="4293108"/>
            <a:ext cx="237744" cy="324612"/>
          </a:xfrm>
          <a:prstGeom prst="rect">
            <a:avLst/>
          </a:prstGeom>
          <a:noFill/>
          <a:ln/>
        </p:spPr>
        <p:txBody>
          <a:bodyPr wrap="square" lIns="0" tIns="0" rIns="0" bIns="0" rtlCol="0" anchor="ctr"/>
          <a:lstStyle/>
          <a:p>
            <a:pPr algn="l" indent="0" marL="0">
              <a:buNone/>
            </a:pPr>
            <a:endParaRPr lang="en-US" sz="1000" dirty="0"/>
          </a:p>
        </p:txBody>
      </p:sp>
      <p:sp>
        <p:nvSpPr>
          <p:cNvPr id="50" name="Text 48"/>
          <p:cNvSpPr txBox="1"/>
          <p:nvPr/>
        </p:nvSpPr>
        <p:spPr>
          <a:xfrm>
            <a:off x="4498848" y="4293108"/>
            <a:ext cx="4517136" cy="324612"/>
          </a:xfrm>
          <a:prstGeom prst="rect">
            <a:avLst/>
          </a:prstGeom>
          <a:noFill/>
          <a:ln/>
        </p:spPr>
        <p:txBody>
          <a:bodyPr wrap="square" lIns="0" tIns="0" rIns="0" bIns="0" rtlCol="0" anchor="ctr"/>
          <a:lstStyle/>
          <a:p>
            <a:pPr algn="l" indent="0" marL="0">
              <a:buNone/>
            </a:pPr>
            <a:r>
              <a:rPr lang="en-US" sz="1000" dirty="0">
                <a:solidFill>
                  <a:srgbClr val="6B7A75"/>
                </a:solidFill>
              </a:rPr>
              <a:t>degree-preserving rewiring of medium-graph</a:t>
            </a:r>
            <a:endParaRPr lang="en-US" sz="1000" dirty="0"/>
          </a:p>
        </p:txBody>
      </p:sp>
      <p:sp>
        <p:nvSpPr>
          <p:cNvPr id="51" name="Text 49"/>
          <p:cNvSpPr txBox="1"/>
          <p:nvPr/>
        </p:nvSpPr>
        <p:spPr>
          <a:xfrm>
            <a:off x="566928" y="4617720"/>
            <a:ext cx="1481328" cy="324612"/>
          </a:xfrm>
          <a:prstGeom prst="rect">
            <a:avLst/>
          </a:prstGeom>
          <a:noFill/>
          <a:ln/>
        </p:spPr>
        <p:txBody>
          <a:bodyPr wrap="square" lIns="0" tIns="0" rIns="0" bIns="0" rtlCol="0" anchor="ctr"/>
          <a:lstStyle/>
          <a:p>
            <a:pPr algn="l" indent="0" marL="0">
              <a:buNone/>
            </a:pPr>
            <a:r>
              <a:rPr lang="en-US" sz="1000" dirty="0">
                <a:solidFill>
                  <a:srgbClr val="11211C"/>
                </a:solidFill>
              </a:rPr>
              <a:t>synth-5</a:t>
            </a:r>
            <a:endParaRPr lang="en-US" sz="1000" dirty="0"/>
          </a:p>
        </p:txBody>
      </p:sp>
      <p:sp>
        <p:nvSpPr>
          <p:cNvPr id="52" name="Text 50"/>
          <p:cNvSpPr txBox="1"/>
          <p:nvPr/>
        </p:nvSpPr>
        <p:spPr>
          <a:xfrm>
            <a:off x="2048256" y="4617720"/>
            <a:ext cx="658368" cy="324612"/>
          </a:xfrm>
          <a:prstGeom prst="rect">
            <a:avLst/>
          </a:prstGeom>
          <a:noFill/>
          <a:ln/>
        </p:spPr>
        <p:txBody>
          <a:bodyPr wrap="square" lIns="0" tIns="0" rIns="0" bIns="0" rtlCol="0" anchor="ctr"/>
          <a:lstStyle/>
          <a:p>
            <a:pPr algn="r" indent="0" marL="0">
              <a:buNone/>
            </a:pPr>
            <a:r>
              <a:rPr lang="en-US" sz="1000" dirty="0">
                <a:solidFill>
                  <a:srgbClr val="11211C"/>
                </a:solidFill>
              </a:rPr>
              <a:t>1,399</a:t>
            </a:r>
            <a:endParaRPr lang="en-US" sz="1000" dirty="0"/>
          </a:p>
        </p:txBody>
      </p:sp>
      <p:sp>
        <p:nvSpPr>
          <p:cNvPr id="53" name="Text 51"/>
          <p:cNvSpPr txBox="1"/>
          <p:nvPr/>
        </p:nvSpPr>
        <p:spPr>
          <a:xfrm>
            <a:off x="2706624" y="4617720"/>
            <a:ext cx="987552" cy="324612"/>
          </a:xfrm>
          <a:prstGeom prst="rect">
            <a:avLst/>
          </a:prstGeom>
          <a:noFill/>
          <a:ln/>
        </p:spPr>
        <p:txBody>
          <a:bodyPr wrap="square" lIns="0" tIns="0" rIns="0" bIns="0" rtlCol="0" anchor="ctr"/>
          <a:lstStyle/>
          <a:p>
            <a:pPr algn="r" indent="0" marL="0">
              <a:buNone/>
            </a:pPr>
            <a:r>
              <a:rPr lang="en-US" sz="1000" dirty="0">
                <a:solidFill>
                  <a:srgbClr val="11211C"/>
                </a:solidFill>
              </a:rPr>
              <a:t>13,799</a:t>
            </a:r>
            <a:endParaRPr lang="en-US" sz="1000" dirty="0"/>
          </a:p>
        </p:txBody>
      </p:sp>
      <p:sp>
        <p:nvSpPr>
          <p:cNvPr id="54" name="Text 52"/>
          <p:cNvSpPr txBox="1"/>
          <p:nvPr/>
        </p:nvSpPr>
        <p:spPr>
          <a:xfrm>
            <a:off x="3694176" y="4617720"/>
            <a:ext cx="566928" cy="324612"/>
          </a:xfrm>
          <a:prstGeom prst="rect">
            <a:avLst/>
          </a:prstGeom>
          <a:noFill/>
          <a:ln/>
        </p:spPr>
        <p:txBody>
          <a:bodyPr wrap="square" lIns="0" tIns="0" rIns="0" bIns="0" rtlCol="0" anchor="ctr"/>
          <a:lstStyle/>
          <a:p>
            <a:pPr algn="r" indent="0" marL="0">
              <a:buNone/>
            </a:pPr>
            <a:r>
              <a:rPr lang="en-US" sz="1000" dirty="0">
                <a:solidFill>
                  <a:srgbClr val="11211C"/>
                </a:solidFill>
              </a:rPr>
              <a:t>73</a:t>
            </a:r>
            <a:endParaRPr lang="en-US" sz="1000" dirty="0"/>
          </a:p>
        </p:txBody>
      </p:sp>
      <p:sp>
        <p:nvSpPr>
          <p:cNvPr id="55" name="Text 53"/>
          <p:cNvSpPr txBox="1"/>
          <p:nvPr/>
        </p:nvSpPr>
        <p:spPr>
          <a:xfrm>
            <a:off x="4261104" y="4617720"/>
            <a:ext cx="237744" cy="324612"/>
          </a:xfrm>
          <a:prstGeom prst="rect">
            <a:avLst/>
          </a:prstGeom>
          <a:noFill/>
          <a:ln/>
        </p:spPr>
        <p:txBody>
          <a:bodyPr wrap="square" lIns="0" tIns="0" rIns="0" bIns="0" rtlCol="0" anchor="ctr"/>
          <a:lstStyle/>
          <a:p>
            <a:pPr algn="l" indent="0" marL="0">
              <a:buNone/>
            </a:pPr>
            <a:endParaRPr lang="en-US" sz="1000" dirty="0"/>
          </a:p>
        </p:txBody>
      </p:sp>
      <p:sp>
        <p:nvSpPr>
          <p:cNvPr id="56" name="Text 54"/>
          <p:cNvSpPr txBox="1"/>
          <p:nvPr/>
        </p:nvSpPr>
        <p:spPr>
          <a:xfrm>
            <a:off x="4498848" y="4617720"/>
            <a:ext cx="4517136" cy="324612"/>
          </a:xfrm>
          <a:prstGeom prst="rect">
            <a:avLst/>
          </a:prstGeom>
          <a:noFill/>
          <a:ln/>
        </p:spPr>
        <p:txBody>
          <a:bodyPr wrap="square" lIns="0" tIns="0" rIns="0" bIns="0" rtlCol="0" anchor="ctr"/>
          <a:lstStyle/>
          <a:p>
            <a:pPr algn="l" indent="0" marL="0">
              <a:buNone/>
            </a:pPr>
            <a:r>
              <a:rPr lang="en-US" sz="1000" dirty="0">
                <a:solidFill>
                  <a:srgbClr val="6B7A75"/>
                </a:solidFill>
              </a:rPr>
              <a:t>degree-preserving rewiring of medium-graph</a:t>
            </a:r>
            <a:endParaRPr lang="en-US" sz="1000" dirty="0"/>
          </a:p>
        </p:txBody>
      </p:sp>
      <p:sp>
        <p:nvSpPr>
          <p:cNvPr id="57" name="Text 55"/>
          <p:cNvSpPr txBox="1"/>
          <p:nvPr/>
        </p:nvSpPr>
        <p:spPr>
          <a:xfrm>
            <a:off x="566928" y="4942332"/>
            <a:ext cx="1481328" cy="324612"/>
          </a:xfrm>
          <a:prstGeom prst="rect">
            <a:avLst/>
          </a:prstGeom>
          <a:noFill/>
          <a:ln/>
        </p:spPr>
        <p:txBody>
          <a:bodyPr wrap="square" lIns="0" tIns="0" rIns="0" bIns="0" rtlCol="0" anchor="ctr"/>
          <a:lstStyle/>
          <a:p>
            <a:pPr algn="l" indent="0" marL="0">
              <a:buNone/>
            </a:pPr>
            <a:r>
              <a:rPr lang="en-US" sz="1000" dirty="0">
                <a:solidFill>
                  <a:srgbClr val="11211C"/>
                </a:solidFill>
              </a:rPr>
              <a:t>large-graph</a:t>
            </a:r>
            <a:endParaRPr lang="en-US" sz="1000" dirty="0"/>
          </a:p>
        </p:txBody>
      </p:sp>
      <p:sp>
        <p:nvSpPr>
          <p:cNvPr id="58" name="Text 56"/>
          <p:cNvSpPr txBox="1"/>
          <p:nvPr/>
        </p:nvSpPr>
        <p:spPr>
          <a:xfrm>
            <a:off x="2048256" y="4942332"/>
            <a:ext cx="658368" cy="324612"/>
          </a:xfrm>
          <a:prstGeom prst="rect">
            <a:avLst/>
          </a:prstGeom>
          <a:noFill/>
          <a:ln/>
        </p:spPr>
        <p:txBody>
          <a:bodyPr wrap="square" lIns="0" tIns="0" rIns="0" bIns="0" rtlCol="0" anchor="ctr"/>
          <a:lstStyle/>
          <a:p>
            <a:pPr algn="r" indent="0" marL="0">
              <a:buNone/>
            </a:pPr>
            <a:r>
              <a:rPr lang="en-US" sz="1000" dirty="0">
                <a:solidFill>
                  <a:srgbClr val="11211C"/>
                </a:solidFill>
              </a:rPr>
              <a:t>2,426</a:t>
            </a:r>
            <a:endParaRPr lang="en-US" sz="1000" dirty="0"/>
          </a:p>
        </p:txBody>
      </p:sp>
      <p:sp>
        <p:nvSpPr>
          <p:cNvPr id="59" name="Text 57"/>
          <p:cNvSpPr txBox="1"/>
          <p:nvPr/>
        </p:nvSpPr>
        <p:spPr>
          <a:xfrm>
            <a:off x="2706624" y="4942332"/>
            <a:ext cx="987552" cy="324612"/>
          </a:xfrm>
          <a:prstGeom prst="rect">
            <a:avLst/>
          </a:prstGeom>
          <a:noFill/>
          <a:ln/>
        </p:spPr>
        <p:txBody>
          <a:bodyPr wrap="square" lIns="0" tIns="0" rIns="0" bIns="0" rtlCol="0" anchor="ctr"/>
          <a:lstStyle/>
          <a:p>
            <a:pPr algn="r" indent="0" marL="0">
              <a:buNone/>
            </a:pPr>
            <a:r>
              <a:rPr lang="en-US" sz="1000" dirty="0">
                <a:solidFill>
                  <a:srgbClr val="11211C"/>
                </a:solidFill>
              </a:rPr>
              <a:t>253,895</a:t>
            </a:r>
            <a:endParaRPr lang="en-US" sz="1000" dirty="0"/>
          </a:p>
        </p:txBody>
      </p:sp>
      <p:sp>
        <p:nvSpPr>
          <p:cNvPr id="60" name="Text 58"/>
          <p:cNvSpPr txBox="1"/>
          <p:nvPr/>
        </p:nvSpPr>
        <p:spPr>
          <a:xfrm>
            <a:off x="3694176" y="4942332"/>
            <a:ext cx="566928" cy="324612"/>
          </a:xfrm>
          <a:prstGeom prst="rect">
            <a:avLst/>
          </a:prstGeom>
          <a:noFill/>
          <a:ln/>
        </p:spPr>
        <p:txBody>
          <a:bodyPr wrap="square" lIns="0" tIns="0" rIns="0" bIns="0" rtlCol="0" anchor="ctr"/>
          <a:lstStyle/>
          <a:p>
            <a:pPr algn="r" indent="0" marL="0">
              <a:buNone/>
            </a:pPr>
            <a:r>
              <a:rPr lang="en-US" sz="1000" dirty="0">
                <a:solidFill>
                  <a:srgbClr val="11211C"/>
                </a:solidFill>
              </a:rPr>
              <a:t>499</a:t>
            </a:r>
            <a:endParaRPr lang="en-US" sz="1000" dirty="0"/>
          </a:p>
        </p:txBody>
      </p:sp>
      <p:sp>
        <p:nvSpPr>
          <p:cNvPr id="61" name="Text 59"/>
          <p:cNvSpPr txBox="1"/>
          <p:nvPr/>
        </p:nvSpPr>
        <p:spPr>
          <a:xfrm>
            <a:off x="4261104" y="4942332"/>
            <a:ext cx="237744" cy="324612"/>
          </a:xfrm>
          <a:prstGeom prst="rect">
            <a:avLst/>
          </a:prstGeom>
          <a:noFill/>
          <a:ln/>
        </p:spPr>
        <p:txBody>
          <a:bodyPr wrap="square" lIns="0" tIns="0" rIns="0" bIns="0" rtlCol="0" anchor="ctr"/>
          <a:lstStyle/>
          <a:p>
            <a:pPr algn="l" indent="0" marL="0">
              <a:buNone/>
            </a:pPr>
            <a:endParaRPr lang="en-US" sz="1000" dirty="0"/>
          </a:p>
        </p:txBody>
      </p:sp>
      <p:sp>
        <p:nvSpPr>
          <p:cNvPr id="62" name="Text 60"/>
          <p:cNvSpPr txBox="1"/>
          <p:nvPr/>
        </p:nvSpPr>
        <p:spPr>
          <a:xfrm>
            <a:off x="4498848" y="4942332"/>
            <a:ext cx="4517136" cy="324612"/>
          </a:xfrm>
          <a:prstGeom prst="rect">
            <a:avLst/>
          </a:prstGeom>
          <a:noFill/>
          <a:ln/>
        </p:spPr>
        <p:txBody>
          <a:bodyPr wrap="square" lIns="0" tIns="0" rIns="0" bIns="0" rtlCol="0" anchor="ctr"/>
          <a:lstStyle/>
          <a:p>
            <a:pPr algn="l" indent="0" marL="0">
              <a:buNone/>
            </a:pPr>
            <a:r>
              <a:rPr lang="en-US" sz="1000" dirty="0">
                <a:solidFill>
                  <a:srgbClr val="6B7A75"/>
                </a:solidFill>
              </a:rPr>
              <a:t>ESA official, contains a 500-clique</a:t>
            </a:r>
            <a:endParaRPr lang="en-US" sz="1000" dirty="0"/>
          </a:p>
        </p:txBody>
      </p:sp>
      <p:sp>
        <p:nvSpPr>
          <p:cNvPr id="63" name="Text 61"/>
          <p:cNvSpPr txBox="1"/>
          <p:nvPr/>
        </p:nvSpPr>
        <p:spPr>
          <a:xfrm>
            <a:off x="566928" y="5266944"/>
            <a:ext cx="1481328" cy="324612"/>
          </a:xfrm>
          <a:prstGeom prst="rect">
            <a:avLst/>
          </a:prstGeom>
          <a:noFill/>
          <a:ln/>
        </p:spPr>
        <p:txBody>
          <a:bodyPr wrap="square" lIns="0" tIns="0" rIns="0" bIns="0" rtlCol="0" anchor="ctr"/>
          <a:lstStyle/>
          <a:p>
            <a:pPr algn="l" indent="0" marL="0">
              <a:buNone/>
            </a:pPr>
            <a:r>
              <a:rPr lang="en-US" sz="1000" dirty="0">
                <a:solidFill>
                  <a:srgbClr val="11211C"/>
                </a:solidFill>
              </a:rPr>
              <a:t>synth-6</a:t>
            </a:r>
            <a:endParaRPr lang="en-US" sz="1000" dirty="0"/>
          </a:p>
        </p:txBody>
      </p:sp>
      <p:sp>
        <p:nvSpPr>
          <p:cNvPr id="64" name="Text 62"/>
          <p:cNvSpPr txBox="1"/>
          <p:nvPr/>
        </p:nvSpPr>
        <p:spPr>
          <a:xfrm>
            <a:off x="2048256" y="5266944"/>
            <a:ext cx="658368" cy="324612"/>
          </a:xfrm>
          <a:prstGeom prst="rect">
            <a:avLst/>
          </a:prstGeom>
          <a:noFill/>
          <a:ln/>
        </p:spPr>
        <p:txBody>
          <a:bodyPr wrap="square" lIns="0" tIns="0" rIns="0" bIns="0" rtlCol="0" anchor="ctr"/>
          <a:lstStyle/>
          <a:p>
            <a:pPr algn="r" indent="0" marL="0">
              <a:buNone/>
            </a:pPr>
            <a:r>
              <a:rPr lang="en-US" sz="1000" dirty="0">
                <a:solidFill>
                  <a:srgbClr val="11211C"/>
                </a:solidFill>
              </a:rPr>
              <a:t>2,426</a:t>
            </a:r>
            <a:endParaRPr lang="en-US" sz="1000" dirty="0"/>
          </a:p>
        </p:txBody>
      </p:sp>
      <p:sp>
        <p:nvSpPr>
          <p:cNvPr id="65" name="Text 63"/>
          <p:cNvSpPr txBox="1"/>
          <p:nvPr/>
        </p:nvSpPr>
        <p:spPr>
          <a:xfrm>
            <a:off x="2706624" y="5266944"/>
            <a:ext cx="987552" cy="324612"/>
          </a:xfrm>
          <a:prstGeom prst="rect">
            <a:avLst/>
          </a:prstGeom>
          <a:noFill/>
          <a:ln/>
        </p:spPr>
        <p:txBody>
          <a:bodyPr wrap="square" lIns="0" tIns="0" rIns="0" bIns="0" rtlCol="0" anchor="ctr"/>
          <a:lstStyle/>
          <a:p>
            <a:pPr algn="r" indent="0" marL="0">
              <a:buNone/>
            </a:pPr>
            <a:r>
              <a:rPr lang="en-US" sz="1000" dirty="0">
                <a:solidFill>
                  <a:srgbClr val="11211C"/>
                </a:solidFill>
              </a:rPr>
              <a:t>253,895</a:t>
            </a:r>
            <a:endParaRPr lang="en-US" sz="1000" dirty="0"/>
          </a:p>
        </p:txBody>
      </p:sp>
      <p:sp>
        <p:nvSpPr>
          <p:cNvPr id="66" name="Text 64"/>
          <p:cNvSpPr txBox="1"/>
          <p:nvPr/>
        </p:nvSpPr>
        <p:spPr>
          <a:xfrm>
            <a:off x="3694176" y="5266944"/>
            <a:ext cx="566928" cy="324612"/>
          </a:xfrm>
          <a:prstGeom prst="rect">
            <a:avLst/>
          </a:prstGeom>
          <a:noFill/>
          <a:ln/>
        </p:spPr>
        <p:txBody>
          <a:bodyPr wrap="square" lIns="0" tIns="0" rIns="0" bIns="0" rtlCol="0" anchor="ctr"/>
          <a:lstStyle/>
          <a:p>
            <a:pPr algn="r" indent="0" marL="0">
              <a:buNone/>
            </a:pPr>
            <a:r>
              <a:rPr lang="en-US" sz="1000" dirty="0">
                <a:solidFill>
                  <a:srgbClr val="11211C"/>
                </a:solidFill>
              </a:rPr>
              <a:t>499</a:t>
            </a:r>
            <a:endParaRPr lang="en-US" sz="1000" dirty="0"/>
          </a:p>
        </p:txBody>
      </p:sp>
      <p:sp>
        <p:nvSpPr>
          <p:cNvPr id="67" name="Text 65"/>
          <p:cNvSpPr txBox="1"/>
          <p:nvPr/>
        </p:nvSpPr>
        <p:spPr>
          <a:xfrm>
            <a:off x="4261104" y="5266944"/>
            <a:ext cx="237744" cy="324612"/>
          </a:xfrm>
          <a:prstGeom prst="rect">
            <a:avLst/>
          </a:prstGeom>
          <a:noFill/>
          <a:ln/>
        </p:spPr>
        <p:txBody>
          <a:bodyPr wrap="square" lIns="0" tIns="0" rIns="0" bIns="0" rtlCol="0" anchor="ctr"/>
          <a:lstStyle/>
          <a:p>
            <a:pPr algn="l" indent="0" marL="0">
              <a:buNone/>
            </a:pPr>
            <a:endParaRPr lang="en-US" sz="1000" dirty="0"/>
          </a:p>
        </p:txBody>
      </p:sp>
      <p:sp>
        <p:nvSpPr>
          <p:cNvPr id="68" name="Text 66"/>
          <p:cNvSpPr txBox="1"/>
          <p:nvPr/>
        </p:nvSpPr>
        <p:spPr>
          <a:xfrm>
            <a:off x="4498848" y="5266944"/>
            <a:ext cx="4517136" cy="324612"/>
          </a:xfrm>
          <a:prstGeom prst="rect">
            <a:avLst/>
          </a:prstGeom>
          <a:noFill/>
          <a:ln/>
        </p:spPr>
        <p:txBody>
          <a:bodyPr wrap="square" lIns="0" tIns="0" rIns="0" bIns="0" rtlCol="0" anchor="ctr"/>
          <a:lstStyle/>
          <a:p>
            <a:pPr algn="l" indent="0" marL="0">
              <a:buNone/>
            </a:pPr>
            <a:r>
              <a:rPr lang="en-US" sz="1000" dirty="0">
                <a:solidFill>
                  <a:srgbClr val="6B7A75"/>
                </a:solidFill>
              </a:rPr>
              <a:t>rewiring of large-graph, cliques preserved</a:t>
            </a:r>
            <a:endParaRPr lang="en-US" sz="1000" dirty="0"/>
          </a:p>
        </p:txBody>
      </p:sp>
      <p:sp>
        <p:nvSpPr>
          <p:cNvPr id="69" name="Text 67"/>
          <p:cNvSpPr txBox="1"/>
          <p:nvPr/>
        </p:nvSpPr>
        <p:spPr>
          <a:xfrm>
            <a:off x="566928" y="5591556"/>
            <a:ext cx="1481328" cy="324612"/>
          </a:xfrm>
          <a:prstGeom prst="rect">
            <a:avLst/>
          </a:prstGeom>
          <a:noFill/>
          <a:ln/>
        </p:spPr>
        <p:txBody>
          <a:bodyPr wrap="square" lIns="0" tIns="0" rIns="0" bIns="0" rtlCol="0" anchor="ctr"/>
          <a:lstStyle/>
          <a:p>
            <a:pPr algn="l" indent="0" marL="0">
              <a:buNone/>
            </a:pPr>
            <a:r>
              <a:rPr lang="en-US" sz="1000" dirty="0">
                <a:solidFill>
                  <a:srgbClr val="11211C"/>
                </a:solidFill>
              </a:rPr>
              <a:t>synth-7</a:t>
            </a:r>
            <a:endParaRPr lang="en-US" sz="1000" dirty="0"/>
          </a:p>
        </p:txBody>
      </p:sp>
      <p:sp>
        <p:nvSpPr>
          <p:cNvPr id="70" name="Text 68"/>
          <p:cNvSpPr txBox="1"/>
          <p:nvPr/>
        </p:nvSpPr>
        <p:spPr>
          <a:xfrm>
            <a:off x="2048256" y="5591556"/>
            <a:ext cx="658368" cy="324612"/>
          </a:xfrm>
          <a:prstGeom prst="rect">
            <a:avLst/>
          </a:prstGeom>
          <a:noFill/>
          <a:ln/>
        </p:spPr>
        <p:txBody>
          <a:bodyPr wrap="square" lIns="0" tIns="0" rIns="0" bIns="0" rtlCol="0" anchor="ctr"/>
          <a:lstStyle/>
          <a:p>
            <a:pPr algn="r" indent="0" marL="0">
              <a:buNone/>
            </a:pPr>
            <a:r>
              <a:rPr lang="en-US" sz="1000" dirty="0">
                <a:solidFill>
                  <a:srgbClr val="11211C"/>
                </a:solidFill>
              </a:rPr>
              <a:t>2,426</a:t>
            </a:r>
            <a:endParaRPr lang="en-US" sz="1000" dirty="0"/>
          </a:p>
        </p:txBody>
      </p:sp>
      <p:sp>
        <p:nvSpPr>
          <p:cNvPr id="71" name="Text 69"/>
          <p:cNvSpPr txBox="1"/>
          <p:nvPr/>
        </p:nvSpPr>
        <p:spPr>
          <a:xfrm>
            <a:off x="2706624" y="5591556"/>
            <a:ext cx="987552" cy="324612"/>
          </a:xfrm>
          <a:prstGeom prst="rect">
            <a:avLst/>
          </a:prstGeom>
          <a:noFill/>
          <a:ln/>
        </p:spPr>
        <p:txBody>
          <a:bodyPr wrap="square" lIns="0" tIns="0" rIns="0" bIns="0" rtlCol="0" anchor="ctr"/>
          <a:lstStyle/>
          <a:p>
            <a:pPr algn="r" indent="0" marL="0">
              <a:buNone/>
            </a:pPr>
            <a:r>
              <a:rPr lang="en-US" sz="1000" dirty="0">
                <a:solidFill>
                  <a:srgbClr val="11211C"/>
                </a:solidFill>
              </a:rPr>
              <a:t>253,895</a:t>
            </a:r>
            <a:endParaRPr lang="en-US" sz="1000" dirty="0"/>
          </a:p>
        </p:txBody>
      </p:sp>
      <p:sp>
        <p:nvSpPr>
          <p:cNvPr id="72" name="Text 70"/>
          <p:cNvSpPr txBox="1"/>
          <p:nvPr/>
        </p:nvSpPr>
        <p:spPr>
          <a:xfrm>
            <a:off x="3694176" y="5591556"/>
            <a:ext cx="566928" cy="324612"/>
          </a:xfrm>
          <a:prstGeom prst="rect">
            <a:avLst/>
          </a:prstGeom>
          <a:noFill/>
          <a:ln/>
        </p:spPr>
        <p:txBody>
          <a:bodyPr wrap="square" lIns="0" tIns="0" rIns="0" bIns="0" rtlCol="0" anchor="ctr"/>
          <a:lstStyle/>
          <a:p>
            <a:pPr algn="r" indent="0" marL="0">
              <a:buNone/>
            </a:pPr>
            <a:r>
              <a:rPr lang="en-US" sz="1000" dirty="0">
                <a:solidFill>
                  <a:srgbClr val="11211C"/>
                </a:solidFill>
              </a:rPr>
              <a:t>499</a:t>
            </a:r>
            <a:endParaRPr lang="en-US" sz="1000" dirty="0"/>
          </a:p>
        </p:txBody>
      </p:sp>
      <p:sp>
        <p:nvSpPr>
          <p:cNvPr id="73" name="Text 71"/>
          <p:cNvSpPr txBox="1"/>
          <p:nvPr/>
        </p:nvSpPr>
        <p:spPr>
          <a:xfrm>
            <a:off x="4261104" y="5591556"/>
            <a:ext cx="237744" cy="324612"/>
          </a:xfrm>
          <a:prstGeom prst="rect">
            <a:avLst/>
          </a:prstGeom>
          <a:noFill/>
          <a:ln/>
        </p:spPr>
        <p:txBody>
          <a:bodyPr wrap="square" lIns="0" tIns="0" rIns="0" bIns="0" rtlCol="0" anchor="ctr"/>
          <a:lstStyle/>
          <a:p>
            <a:pPr algn="l" indent="0" marL="0">
              <a:buNone/>
            </a:pPr>
            <a:endParaRPr lang="en-US" sz="1000" dirty="0"/>
          </a:p>
        </p:txBody>
      </p:sp>
      <p:sp>
        <p:nvSpPr>
          <p:cNvPr id="74" name="Text 72"/>
          <p:cNvSpPr txBox="1"/>
          <p:nvPr/>
        </p:nvSpPr>
        <p:spPr>
          <a:xfrm>
            <a:off x="4498848" y="5591556"/>
            <a:ext cx="4517136" cy="324612"/>
          </a:xfrm>
          <a:prstGeom prst="rect">
            <a:avLst/>
          </a:prstGeom>
          <a:noFill/>
          <a:ln/>
        </p:spPr>
        <p:txBody>
          <a:bodyPr wrap="square" lIns="0" tIns="0" rIns="0" bIns="0" rtlCol="0" anchor="ctr"/>
          <a:lstStyle/>
          <a:p>
            <a:pPr algn="l" indent="0" marL="0">
              <a:buNone/>
            </a:pPr>
            <a:r>
              <a:rPr lang="en-US" sz="1000" dirty="0">
                <a:solidFill>
                  <a:srgbClr val="6B7A75"/>
                </a:solidFill>
              </a:rPr>
              <a:t>rewiring of large-graph, cliques preserved</a:t>
            </a:r>
            <a:endParaRPr lang="en-US" sz="1000" dirty="0"/>
          </a:p>
        </p:txBody>
      </p:sp>
      <p:sp>
        <p:nvSpPr>
          <p:cNvPr id="75" name="Shape 73"/>
          <p:cNvSpPr/>
          <p:nvPr/>
        </p:nvSpPr>
        <p:spPr>
          <a:xfrm>
            <a:off x="9235440" y="2706624"/>
            <a:ext cx="914" cy="1225296"/>
          </a:xfrm>
          <a:prstGeom prst="line">
            <a:avLst/>
          </a:prstGeom>
          <a:noFill/>
          <a:ln w="25400">
            <a:solidFill>
              <a:srgbClr val="3E8E72"/>
            </a:solidFill>
            <a:prstDash val="solid"/>
          </a:ln>
        </p:spPr>
      </p:sp>
      <p:sp>
        <p:nvSpPr>
          <p:cNvPr id="76" name="Text 74"/>
          <p:cNvSpPr txBox="1"/>
          <p:nvPr/>
        </p:nvSpPr>
        <p:spPr>
          <a:xfrm>
            <a:off x="9381744" y="2670048"/>
            <a:ext cx="2194560" cy="1298448"/>
          </a:xfrm>
          <a:prstGeom prst="rect">
            <a:avLst/>
          </a:prstGeom>
          <a:noFill/>
          <a:ln/>
        </p:spPr>
        <p:txBody>
          <a:bodyPr wrap="square" lIns="0" tIns="0" rIns="0" bIns="0" rtlCol="0" anchor="ctr"/>
          <a:lstStyle/>
          <a:p>
            <a:pPr indent="0" marL="0">
              <a:buNone/>
            </a:pPr>
            <a:r>
              <a:rPr lang="en-US" sz="1150" b="1" dirty="0">
                <a:solidFill>
                  <a:srgbClr val="2A5247"/>
                </a:solidFill>
              </a:rPr>
              <a:t>sparse</a:t>
            </a:r>
            <a:endParaRPr lang="en-US" sz="1150" dirty="0"/>
          </a:p>
        </p:txBody>
      </p:sp>
      <p:sp>
        <p:nvSpPr>
          <p:cNvPr id="77" name="Shape 75"/>
          <p:cNvSpPr/>
          <p:nvPr/>
        </p:nvSpPr>
        <p:spPr>
          <a:xfrm>
            <a:off x="9235440" y="4005072"/>
            <a:ext cx="914" cy="900684"/>
          </a:xfrm>
          <a:prstGeom prst="line">
            <a:avLst/>
          </a:prstGeom>
          <a:noFill/>
          <a:ln w="25400">
            <a:solidFill>
              <a:srgbClr val="3E8E72"/>
            </a:solidFill>
            <a:prstDash val="solid"/>
          </a:ln>
        </p:spPr>
      </p:sp>
      <p:sp>
        <p:nvSpPr>
          <p:cNvPr id="78" name="Text 76"/>
          <p:cNvSpPr txBox="1"/>
          <p:nvPr/>
        </p:nvSpPr>
        <p:spPr>
          <a:xfrm>
            <a:off x="9381744" y="3968496"/>
            <a:ext cx="2194560" cy="973836"/>
          </a:xfrm>
          <a:prstGeom prst="rect">
            <a:avLst/>
          </a:prstGeom>
          <a:noFill/>
          <a:ln/>
        </p:spPr>
        <p:txBody>
          <a:bodyPr wrap="square" lIns="0" tIns="0" rIns="0" bIns="0" rtlCol="0" anchor="ctr"/>
          <a:lstStyle/>
          <a:p>
            <a:pPr indent="0" marL="0">
              <a:buNone/>
            </a:pPr>
            <a:r>
              <a:rPr lang="en-US" sz="1150" b="1" dirty="0">
                <a:solidFill>
                  <a:srgbClr val="2A5247"/>
                </a:solidFill>
              </a:rPr>
              <a:t>rewired medium</a:t>
            </a:r>
            <a:endParaRPr lang="en-US" sz="1150" dirty="0"/>
          </a:p>
        </p:txBody>
      </p:sp>
      <p:sp>
        <p:nvSpPr>
          <p:cNvPr id="79" name="Shape 77"/>
          <p:cNvSpPr/>
          <p:nvPr/>
        </p:nvSpPr>
        <p:spPr>
          <a:xfrm>
            <a:off x="9235440" y="4978908"/>
            <a:ext cx="914" cy="900684"/>
          </a:xfrm>
          <a:prstGeom prst="line">
            <a:avLst/>
          </a:prstGeom>
          <a:noFill/>
          <a:ln w="25400">
            <a:solidFill>
              <a:srgbClr val="3E8E72"/>
            </a:solidFill>
            <a:prstDash val="solid"/>
          </a:ln>
        </p:spPr>
      </p:sp>
      <p:sp>
        <p:nvSpPr>
          <p:cNvPr id="80" name="Text 78"/>
          <p:cNvSpPr txBox="1"/>
          <p:nvPr/>
        </p:nvSpPr>
        <p:spPr>
          <a:xfrm>
            <a:off x="9381744" y="4942332"/>
            <a:ext cx="2194560" cy="973836"/>
          </a:xfrm>
          <a:prstGeom prst="rect">
            <a:avLst/>
          </a:prstGeom>
          <a:noFill/>
          <a:ln/>
        </p:spPr>
        <p:txBody>
          <a:bodyPr wrap="square" lIns="0" tIns="0" rIns="0" bIns="0" rtlCol="0" anchor="ctr"/>
          <a:lstStyle/>
          <a:p>
            <a:pPr indent="0" marL="0">
              <a:buNone/>
            </a:pPr>
            <a:r>
              <a:rPr lang="en-US" sz="1150" b="1" dirty="0">
                <a:solidFill>
                  <a:srgbClr val="2A5247"/>
                </a:solidFill>
              </a:rPr>
              <a:t>clique-pinned</a:t>
            </a:r>
            <a:endParaRPr lang="en-US" sz="1150" dirty="0"/>
          </a:p>
        </p:txBody>
      </p:sp>
      <p:sp>
        <p:nvSpPr>
          <p:cNvPr id="25" name="Slide Number Placeholder 0"/>
          <p:cNvSpPr>
            <a:spLocks noGrp="1"/>
          </p:cNvSpPr>
          <p:nvPr>
            <p:ph type="sldNum" sz="quarter" idx="4294967295"/>
          </p:nvPr>
        </p:nvSpPr>
        <p:spPr>
          <a:xfrm>
            <a:off x="11167567" y="6437376"/>
            <a:ext cx="45720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6B7A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420624"/>
            <a:ext cx="11057839" cy="658368"/>
          </a:xfrm>
          <a:prstGeom prst="rect">
            <a:avLst/>
          </a:prstGeom>
          <a:noFill/>
          <a:ln/>
        </p:spPr>
        <p:txBody>
          <a:bodyPr wrap="square" lIns="0" tIns="0" rIns="0" bIns="0" rtlCol="0" anchor="ctr"/>
          <a:lstStyle/>
          <a:p>
            <a:pPr indent="0" marL="0">
              <a:buNone/>
            </a:pPr>
            <a:r>
              <a:rPr lang="en-US" sz="2600" b="1" dirty="0">
                <a:solidFill>
                  <a:srgbClr val="11211C"/>
                </a:solidFill>
                <a:latin typeface="Cambria" pitchFamily="34" charset="0"/>
                <a:ea typeface="Cambria" pitchFamily="34" charset="-122"/>
                <a:cs typeface="Cambria" pitchFamily="34" charset="-120"/>
              </a:rPr>
              <a:t>Starting points decide this table, not searches</a:t>
            </a:r>
            <a:endParaRPr lang="en-US" sz="2600" dirty="0"/>
          </a:p>
        </p:txBody>
      </p:sp>
      <p:sp>
        <p:nvSpPr>
          <p:cNvPr id="3" name="Text 1"/>
          <p:cNvSpPr txBox="1"/>
          <p:nvPr/>
        </p:nvSpPr>
        <p:spPr>
          <a:xfrm>
            <a:off x="566928" y="1261872"/>
            <a:ext cx="5669280" cy="786384"/>
          </a:xfrm>
          <a:prstGeom prst="rect">
            <a:avLst/>
          </a:prstGeom>
          <a:noFill/>
          <a:ln/>
        </p:spPr>
        <p:txBody>
          <a:bodyPr wrap="square" lIns="0" tIns="0" rIns="0" bIns="0" rtlCol="0" anchor="ctr"/>
          <a:lstStyle/>
          <a:p>
            <a:pPr indent="0" marL="0">
              <a:lnSpc>
                <a:spcPts val="1800"/>
              </a:lnSpc>
              <a:buNone/>
            </a:pPr>
            <a:r>
              <a:rPr lang="en-US" sz="1250" dirty="0">
                <a:solidFill>
                  <a:srgbClr val="11211C"/>
                </a:solidFill>
              </a:rPr>
              <a:t>Before comparing searches, both permutation-space solvers must start somewhere. The obvious fair choice, a random ordering, does not work here, and the reason is the 500 cap.</a:t>
            </a:r>
            <a:endParaRPr lang="en-US" sz="1250" dirty="0"/>
          </a:p>
        </p:txBody>
      </p:sp>
      <p:sp>
        <p:nvSpPr>
          <p:cNvPr id="4" name="Text 2"/>
          <p:cNvSpPr txBox="1"/>
          <p:nvPr/>
        </p:nvSpPr>
        <p:spPr>
          <a:xfrm>
            <a:off x="566928" y="2139696"/>
            <a:ext cx="5669280" cy="1463040"/>
          </a:xfrm>
          <a:prstGeom prst="rect">
            <a:avLst/>
          </a:prstGeom>
          <a:noFill/>
          <a:ln/>
        </p:spPr>
        <p:txBody>
          <a:bodyPr wrap="square" lIns="0" tIns="0" rIns="0" bIns="0" rtlCol="0" anchor="ctr"/>
          <a:lstStyle/>
          <a:p>
            <a:pPr indent="0" marL="0">
              <a:lnSpc>
                <a:spcPts val="1800"/>
              </a:lnSpc>
              <a:buNone/>
            </a:pPr>
            <a:r>
              <a:rPr lang="en-US" sz="1200" dirty="0">
                <a:solidFill>
                  <a:srgbClr val="11211C"/>
                </a:solidFill>
              </a:rPr>
              <a:t>On six of the ten instances a random permutation yields nothing at all: every prefix busts the cap, so there is not one legal point to stand on. A solver with no legal point has nothing to climb, and the search degenerates into a random walk. Measured on medium-graph, 25 s from a random start: Team HRI's LNS ran 193 iterations and accepted zero.</a:t>
            </a:r>
            <a:endParaRPr lang="en-US" sz="1200" dirty="0"/>
          </a:p>
        </p:txBody>
      </p:sp>
      <p:sp>
        <p:nvSpPr>
          <p:cNvPr id="5" name="Shape 3"/>
          <p:cNvSpPr/>
          <p:nvPr/>
        </p:nvSpPr>
        <p:spPr>
          <a:xfrm>
            <a:off x="566928" y="3712464"/>
            <a:ext cx="5669280" cy="1700784"/>
          </a:xfrm>
          <a:prstGeom prst="roundRect">
            <a:avLst>
              <a:gd name="adj" fmla="val 2151"/>
            </a:avLst>
          </a:prstGeom>
          <a:solidFill>
            <a:srgbClr val="EFF3F1"/>
          </a:solidFill>
          <a:ln w="6350">
            <a:solidFill>
              <a:srgbClr val="EFF3F1"/>
            </a:solidFill>
            <a:prstDash val="solid"/>
          </a:ln>
        </p:spPr>
      </p:sp>
      <p:sp>
        <p:nvSpPr>
          <p:cNvPr id="6" name="Text 4"/>
          <p:cNvSpPr txBox="1"/>
          <p:nvPr/>
        </p:nvSpPr>
        <p:spPr>
          <a:xfrm>
            <a:off x="804672" y="3858768"/>
            <a:ext cx="5212080" cy="237744"/>
          </a:xfrm>
          <a:prstGeom prst="rect">
            <a:avLst/>
          </a:prstGeom>
          <a:noFill/>
          <a:ln/>
        </p:spPr>
        <p:txBody>
          <a:bodyPr wrap="square" lIns="0" tIns="0" rIns="0" bIns="0" rtlCol="0" anchor="ctr"/>
          <a:lstStyle/>
          <a:p>
            <a:pPr indent="0" marL="0">
              <a:buNone/>
            </a:pPr>
            <a:r>
              <a:rPr lang="en-US" sz="1100" b="1" spc="100" kern="0" dirty="0">
                <a:solidFill>
                  <a:srgbClr val="2A5247"/>
                </a:solidFill>
              </a:rPr>
              <a:t>What that does to a comparison</a:t>
            </a:r>
            <a:endParaRPr lang="en-US" sz="1100" dirty="0"/>
          </a:p>
        </p:txBody>
      </p:sp>
      <p:sp>
        <p:nvSpPr>
          <p:cNvPr id="7" name="Text 5"/>
          <p:cNvSpPr txBox="1"/>
          <p:nvPr/>
        </p:nvSpPr>
        <p:spPr>
          <a:xfrm>
            <a:off x="804672" y="4133088"/>
            <a:ext cx="5212080" cy="1152144"/>
          </a:xfrm>
          <a:prstGeom prst="rect">
            <a:avLst/>
          </a:prstGeom>
          <a:noFill/>
          <a:ln/>
        </p:spPr>
        <p:txBody>
          <a:bodyPr wrap="square" lIns="0" tIns="0" rIns="0" bIns="0" rtlCol="0" anchor="ctr"/>
          <a:lstStyle/>
          <a:p>
            <a:pPr indent="0" marL="0">
              <a:lnSpc>
                <a:spcPts val="1700"/>
              </a:lnSpc>
              <a:buNone/>
            </a:pPr>
            <a:r>
              <a:rPr lang="en-US" sz="1150" dirty="0">
                <a:solidFill>
                  <a:srgbClr val="11211C"/>
                </a:solidFill>
              </a:rPr>
              <a:t>An earlier benchmark started hill climbing from min-degree and Team HRI from random, as HRI's paper specifies. On synth-1 at 8 s that read HRI −1,543,392 against hill climbing −1,818,617, which looks like a rout. Give HRI the same start and it reads −1,818,667 against −1,819,901: the same result to within a rounding error.</a:t>
            </a:r>
            <a:endParaRPr lang="en-US" sz="1150" dirty="0"/>
          </a:p>
        </p:txBody>
      </p:sp>
      <p:sp>
        <p:nvSpPr>
          <p:cNvPr id="8" name="Text 6"/>
          <p:cNvSpPr txBox="1"/>
          <p:nvPr/>
        </p:nvSpPr>
        <p:spPr>
          <a:xfrm>
            <a:off x="566928" y="5541264"/>
            <a:ext cx="5669280" cy="457200"/>
          </a:xfrm>
          <a:prstGeom prst="rect">
            <a:avLst/>
          </a:prstGeom>
          <a:noFill/>
          <a:ln/>
        </p:spPr>
        <p:txBody>
          <a:bodyPr wrap="square" lIns="0" tIns="0" rIns="0" bIns="0" rtlCol="0" anchor="ctr"/>
          <a:lstStyle/>
          <a:p>
            <a:pPr indent="0" marL="0">
              <a:lnSpc>
                <a:spcPts val="1900"/>
              </a:lnSpc>
              <a:buNone/>
            </a:pPr>
            <a:r>
              <a:rPr lang="en-US" sz="1400" b="1" dirty="0">
                <a:solidFill>
                  <a:srgbClr val="C0603C"/>
                </a:solidFill>
                <a:latin typeface="Cambria" pitchFamily="34" charset="0"/>
                <a:ea typeface="Cambria" pitchFamily="34" charset="-122"/>
                <a:cs typeface="Cambria" pitchFamily="34" charset="-120"/>
              </a:rPr>
              <a:t>Almost the whole apparent gap was the starting heuristic, not the search.</a:t>
            </a:r>
            <a:endParaRPr lang="en-US" sz="1400" dirty="0"/>
          </a:p>
        </p:txBody>
      </p:sp>
      <p:sp>
        <p:nvSpPr>
          <p:cNvPr id="9" name="Text 7"/>
          <p:cNvSpPr txBox="1"/>
          <p:nvPr/>
        </p:nvSpPr>
        <p:spPr>
          <a:xfrm>
            <a:off x="6492240" y="1280160"/>
            <a:ext cx="5138928" cy="237744"/>
          </a:xfrm>
          <a:prstGeom prst="rect">
            <a:avLst/>
          </a:prstGeom>
          <a:noFill/>
          <a:ln/>
        </p:spPr>
        <p:txBody>
          <a:bodyPr wrap="square" lIns="0" tIns="0" rIns="0" bIns="0" rtlCol="0" anchor="ctr"/>
          <a:lstStyle/>
          <a:p>
            <a:pPr indent="0" marL="0">
              <a:buNone/>
            </a:pPr>
            <a:r>
              <a:rPr lang="en-US" sz="1050" b="1" spc="100" kern="0" dirty="0">
                <a:solidFill>
                  <a:srgbClr val="2A5247"/>
                </a:solidFill>
              </a:rPr>
              <a:t>legal Pareto points from one ordering</a:t>
            </a:r>
            <a:endParaRPr lang="en-US" sz="1050" dirty="0"/>
          </a:p>
        </p:txBody>
      </p:sp>
      <p:sp>
        <p:nvSpPr>
          <p:cNvPr id="10" name="Text 8"/>
          <p:cNvSpPr txBox="1"/>
          <p:nvPr/>
        </p:nvSpPr>
        <p:spPr>
          <a:xfrm>
            <a:off x="7818120" y="1609344"/>
            <a:ext cx="1796796" cy="219456"/>
          </a:xfrm>
          <a:prstGeom prst="rect">
            <a:avLst/>
          </a:prstGeom>
          <a:noFill/>
          <a:ln/>
        </p:spPr>
        <p:txBody>
          <a:bodyPr wrap="square" lIns="0" tIns="0" rIns="0" bIns="0" rtlCol="0" anchor="ctr"/>
          <a:lstStyle/>
          <a:p>
            <a:pPr indent="0" marL="0">
              <a:buNone/>
            </a:pPr>
            <a:r>
              <a:rPr lang="en-US" sz="950" b="1" dirty="0">
                <a:solidFill>
                  <a:srgbClr val="C0603C"/>
                </a:solidFill>
              </a:rPr>
              <a:t>random ordering</a:t>
            </a:r>
            <a:endParaRPr lang="en-US" sz="950" dirty="0"/>
          </a:p>
        </p:txBody>
      </p:sp>
      <p:sp>
        <p:nvSpPr>
          <p:cNvPr id="11" name="Text 9"/>
          <p:cNvSpPr txBox="1"/>
          <p:nvPr/>
        </p:nvSpPr>
        <p:spPr>
          <a:xfrm>
            <a:off x="9834372" y="1609344"/>
            <a:ext cx="1796796" cy="219456"/>
          </a:xfrm>
          <a:prstGeom prst="rect">
            <a:avLst/>
          </a:prstGeom>
          <a:noFill/>
          <a:ln/>
        </p:spPr>
        <p:txBody>
          <a:bodyPr wrap="square" lIns="0" tIns="0" rIns="0" bIns="0" rtlCol="0" anchor="ctr"/>
          <a:lstStyle/>
          <a:p>
            <a:pPr indent="0" marL="0">
              <a:buNone/>
            </a:pPr>
            <a:r>
              <a:rPr lang="en-US" sz="950" b="1" dirty="0">
                <a:solidFill>
                  <a:srgbClr val="3E8E72"/>
                </a:solidFill>
              </a:rPr>
              <a:t>min-degree</a:t>
            </a:r>
            <a:endParaRPr lang="en-US" sz="950" dirty="0"/>
          </a:p>
        </p:txBody>
      </p:sp>
      <p:sp>
        <p:nvSpPr>
          <p:cNvPr id="12" name="Text 10"/>
          <p:cNvSpPr txBox="1"/>
          <p:nvPr/>
        </p:nvSpPr>
        <p:spPr>
          <a:xfrm>
            <a:off x="6492240" y="1883664"/>
            <a:ext cx="1261872" cy="365760"/>
          </a:xfrm>
          <a:prstGeom prst="rect">
            <a:avLst/>
          </a:prstGeom>
          <a:noFill/>
          <a:ln/>
        </p:spPr>
        <p:txBody>
          <a:bodyPr wrap="square" lIns="0" tIns="0" rIns="0" bIns="0" rtlCol="0" anchor="ctr"/>
          <a:lstStyle/>
          <a:p>
            <a:pPr indent="0" marL="0">
              <a:buNone/>
            </a:pPr>
            <a:r>
              <a:rPr lang="en-US" sz="900" dirty="0">
                <a:solidFill>
                  <a:srgbClr val="11211C"/>
                </a:solidFill>
              </a:rPr>
              <a:t>small-graph</a:t>
            </a:r>
            <a:endParaRPr lang="en-US" sz="900" dirty="0"/>
          </a:p>
        </p:txBody>
      </p:sp>
      <p:sp>
        <p:nvSpPr>
          <p:cNvPr id="13" name="Shape 11"/>
          <p:cNvSpPr/>
          <p:nvPr/>
        </p:nvSpPr>
        <p:spPr>
          <a:xfrm>
            <a:off x="7818120" y="1920240"/>
            <a:ext cx="420450" cy="274320"/>
          </a:xfrm>
          <a:prstGeom prst="rect">
            <a:avLst/>
          </a:prstGeom>
          <a:solidFill>
            <a:srgbClr val="C0603C">
              <a:alpha val="75000"/>
            </a:srgbClr>
          </a:solidFill>
          <a:ln w="3175">
            <a:solidFill>
              <a:srgbClr val="C0603C">
                <a:alpha val="75000"/>
              </a:srgbClr>
            </a:solidFill>
            <a:prstDash val="solid"/>
          </a:ln>
        </p:spPr>
      </p:sp>
      <p:sp>
        <p:nvSpPr>
          <p:cNvPr id="14" name="Shape 12"/>
          <p:cNvSpPr/>
          <p:nvPr/>
        </p:nvSpPr>
        <p:spPr>
          <a:xfrm>
            <a:off x="9834372" y="1920240"/>
            <a:ext cx="79059" cy="274320"/>
          </a:xfrm>
          <a:prstGeom prst="rect">
            <a:avLst/>
          </a:prstGeom>
          <a:solidFill>
            <a:srgbClr val="3E8E72">
              <a:alpha val="75000"/>
            </a:srgbClr>
          </a:solidFill>
          <a:ln w="3175">
            <a:solidFill>
              <a:srgbClr val="3E8E72">
                <a:alpha val="75000"/>
              </a:srgbClr>
            </a:solidFill>
            <a:prstDash val="solid"/>
          </a:ln>
        </p:spPr>
      </p:sp>
      <p:sp>
        <p:nvSpPr>
          <p:cNvPr id="15" name="Text 13"/>
          <p:cNvSpPr txBox="1"/>
          <p:nvPr/>
        </p:nvSpPr>
        <p:spPr>
          <a:xfrm>
            <a:off x="9968295" y="1883664"/>
            <a:ext cx="384048" cy="365760"/>
          </a:xfrm>
          <a:prstGeom prst="rect">
            <a:avLst/>
          </a:prstGeom>
          <a:noFill/>
          <a:ln/>
        </p:spPr>
        <p:txBody>
          <a:bodyPr wrap="square" lIns="0" tIns="0" rIns="0" bIns="0" rtlCol="0" anchor="ctr"/>
          <a:lstStyle/>
          <a:p>
            <a:pPr indent="0" marL="0">
              <a:buNone/>
            </a:pPr>
            <a:r>
              <a:rPr lang="en-US" sz="800" dirty="0">
                <a:solidFill>
                  <a:srgbClr val="6B7A75"/>
                </a:solidFill>
              </a:rPr>
              <a:t>22</a:t>
            </a:r>
            <a:endParaRPr lang="en-US" sz="800" dirty="0"/>
          </a:p>
        </p:txBody>
      </p:sp>
      <p:sp>
        <p:nvSpPr>
          <p:cNvPr id="16" name="Text 14"/>
          <p:cNvSpPr txBox="1"/>
          <p:nvPr/>
        </p:nvSpPr>
        <p:spPr>
          <a:xfrm>
            <a:off x="6492240" y="2249424"/>
            <a:ext cx="1261872" cy="365760"/>
          </a:xfrm>
          <a:prstGeom prst="rect">
            <a:avLst/>
          </a:prstGeom>
          <a:noFill/>
          <a:ln/>
        </p:spPr>
        <p:txBody>
          <a:bodyPr wrap="square" lIns="0" tIns="0" rIns="0" bIns="0" rtlCol="0" anchor="ctr"/>
          <a:lstStyle/>
          <a:p>
            <a:pPr indent="0" marL="0">
              <a:buNone/>
            </a:pPr>
            <a:r>
              <a:rPr lang="en-US" sz="900" dirty="0">
                <a:solidFill>
                  <a:srgbClr val="11211C"/>
                </a:solidFill>
              </a:rPr>
              <a:t>medium-graph</a:t>
            </a:r>
            <a:endParaRPr lang="en-US" sz="900" dirty="0"/>
          </a:p>
        </p:txBody>
      </p:sp>
      <p:sp>
        <p:nvSpPr>
          <p:cNvPr id="17" name="Text 15"/>
          <p:cNvSpPr txBox="1"/>
          <p:nvPr/>
        </p:nvSpPr>
        <p:spPr>
          <a:xfrm>
            <a:off x="7818120" y="2249424"/>
            <a:ext cx="274320" cy="365760"/>
          </a:xfrm>
          <a:prstGeom prst="rect">
            <a:avLst/>
          </a:prstGeom>
          <a:noFill/>
          <a:ln/>
        </p:spPr>
        <p:txBody>
          <a:bodyPr wrap="square" lIns="0" tIns="0" rIns="0" bIns="0" rtlCol="0" anchor="ctr"/>
          <a:lstStyle/>
          <a:p>
            <a:pPr indent="0" marL="0">
              <a:buNone/>
            </a:pPr>
            <a:r>
              <a:rPr lang="en-US" sz="900" b="1" dirty="0">
                <a:solidFill>
                  <a:srgbClr val="C0603C"/>
                </a:solidFill>
              </a:rPr>
              <a:t>0</a:t>
            </a:r>
            <a:endParaRPr lang="en-US" sz="900" dirty="0"/>
          </a:p>
        </p:txBody>
      </p:sp>
      <p:sp>
        <p:nvSpPr>
          <p:cNvPr id="18" name="Shape 16"/>
          <p:cNvSpPr/>
          <p:nvPr/>
        </p:nvSpPr>
        <p:spPr>
          <a:xfrm>
            <a:off x="9834372" y="2286000"/>
            <a:ext cx="1024174" cy="274320"/>
          </a:xfrm>
          <a:prstGeom prst="rect">
            <a:avLst/>
          </a:prstGeom>
          <a:solidFill>
            <a:srgbClr val="3E8E72">
              <a:alpha val="75000"/>
            </a:srgbClr>
          </a:solidFill>
          <a:ln w="3175">
            <a:solidFill>
              <a:srgbClr val="3E8E72">
                <a:alpha val="75000"/>
              </a:srgbClr>
            </a:solidFill>
            <a:prstDash val="solid"/>
          </a:ln>
        </p:spPr>
      </p:sp>
      <p:sp>
        <p:nvSpPr>
          <p:cNvPr id="19" name="Text 17"/>
          <p:cNvSpPr txBox="1"/>
          <p:nvPr/>
        </p:nvSpPr>
        <p:spPr>
          <a:xfrm>
            <a:off x="10913410" y="2249424"/>
            <a:ext cx="384048" cy="365760"/>
          </a:xfrm>
          <a:prstGeom prst="rect">
            <a:avLst/>
          </a:prstGeom>
          <a:noFill/>
          <a:ln/>
        </p:spPr>
        <p:txBody>
          <a:bodyPr wrap="square" lIns="0" tIns="0" rIns="0" bIns="0" rtlCol="0" anchor="ctr"/>
          <a:lstStyle/>
          <a:p>
            <a:pPr indent="0" marL="0">
              <a:buNone/>
            </a:pPr>
            <a:r>
              <a:rPr lang="en-US" sz="800" dirty="0">
                <a:solidFill>
                  <a:srgbClr val="6B7A75"/>
                </a:solidFill>
              </a:rPr>
              <a:t>285</a:t>
            </a:r>
            <a:endParaRPr lang="en-US" sz="800" dirty="0"/>
          </a:p>
        </p:txBody>
      </p:sp>
      <p:sp>
        <p:nvSpPr>
          <p:cNvPr id="20" name="Text 18"/>
          <p:cNvSpPr txBox="1"/>
          <p:nvPr/>
        </p:nvSpPr>
        <p:spPr>
          <a:xfrm>
            <a:off x="6492240" y="2615184"/>
            <a:ext cx="1261872" cy="365760"/>
          </a:xfrm>
          <a:prstGeom prst="rect">
            <a:avLst/>
          </a:prstGeom>
          <a:noFill/>
          <a:ln/>
        </p:spPr>
        <p:txBody>
          <a:bodyPr wrap="square" lIns="0" tIns="0" rIns="0" bIns="0" rtlCol="0" anchor="ctr"/>
          <a:lstStyle/>
          <a:p>
            <a:pPr indent="0" marL="0">
              <a:buNone/>
            </a:pPr>
            <a:r>
              <a:rPr lang="en-US" sz="900" dirty="0">
                <a:solidFill>
                  <a:srgbClr val="11211C"/>
                </a:solidFill>
              </a:rPr>
              <a:t>large-graph</a:t>
            </a:r>
            <a:endParaRPr lang="en-US" sz="900" dirty="0"/>
          </a:p>
        </p:txBody>
      </p:sp>
      <p:sp>
        <p:nvSpPr>
          <p:cNvPr id="21" name="Text 19"/>
          <p:cNvSpPr txBox="1"/>
          <p:nvPr/>
        </p:nvSpPr>
        <p:spPr>
          <a:xfrm>
            <a:off x="7818120" y="2615184"/>
            <a:ext cx="274320" cy="365760"/>
          </a:xfrm>
          <a:prstGeom prst="rect">
            <a:avLst/>
          </a:prstGeom>
          <a:noFill/>
          <a:ln/>
        </p:spPr>
        <p:txBody>
          <a:bodyPr wrap="square" lIns="0" tIns="0" rIns="0" bIns="0" rtlCol="0" anchor="ctr"/>
          <a:lstStyle/>
          <a:p>
            <a:pPr indent="0" marL="0">
              <a:buNone/>
            </a:pPr>
            <a:r>
              <a:rPr lang="en-US" sz="900" b="1" dirty="0">
                <a:solidFill>
                  <a:srgbClr val="C0603C"/>
                </a:solidFill>
              </a:rPr>
              <a:t>0</a:t>
            </a:r>
            <a:endParaRPr lang="en-US" sz="900" dirty="0"/>
          </a:p>
        </p:txBody>
      </p:sp>
      <p:sp>
        <p:nvSpPr>
          <p:cNvPr id="22" name="Shape 20"/>
          <p:cNvSpPr/>
          <p:nvPr/>
        </p:nvSpPr>
        <p:spPr>
          <a:xfrm>
            <a:off x="9834372" y="2651760"/>
            <a:ext cx="1796796" cy="274320"/>
          </a:xfrm>
          <a:prstGeom prst="rect">
            <a:avLst/>
          </a:prstGeom>
          <a:solidFill>
            <a:srgbClr val="3E8E72">
              <a:alpha val="75000"/>
            </a:srgbClr>
          </a:solidFill>
          <a:ln w="3175">
            <a:solidFill>
              <a:srgbClr val="3E8E72">
                <a:alpha val="75000"/>
              </a:srgbClr>
            </a:solidFill>
            <a:prstDash val="solid"/>
          </a:ln>
        </p:spPr>
      </p:sp>
      <p:sp>
        <p:nvSpPr>
          <p:cNvPr id="23" name="Text 21"/>
          <p:cNvSpPr txBox="1"/>
          <p:nvPr/>
        </p:nvSpPr>
        <p:spPr>
          <a:xfrm>
            <a:off x="11686032" y="2615184"/>
            <a:ext cx="384048" cy="365760"/>
          </a:xfrm>
          <a:prstGeom prst="rect">
            <a:avLst/>
          </a:prstGeom>
          <a:noFill/>
          <a:ln/>
        </p:spPr>
        <p:txBody>
          <a:bodyPr wrap="square" lIns="0" tIns="0" rIns="0" bIns="0" rtlCol="0" anchor="ctr"/>
          <a:lstStyle/>
          <a:p>
            <a:pPr indent="0" marL="0">
              <a:buNone/>
            </a:pPr>
            <a:r>
              <a:rPr lang="en-US" sz="800" dirty="0">
                <a:solidFill>
                  <a:srgbClr val="6B7A75"/>
                </a:solidFill>
              </a:rPr>
              <a:t>500</a:t>
            </a:r>
            <a:endParaRPr lang="en-US" sz="800" dirty="0"/>
          </a:p>
        </p:txBody>
      </p:sp>
      <p:sp>
        <p:nvSpPr>
          <p:cNvPr id="24" name="Text 22"/>
          <p:cNvSpPr txBox="1"/>
          <p:nvPr/>
        </p:nvSpPr>
        <p:spPr>
          <a:xfrm>
            <a:off x="6492240" y="2980944"/>
            <a:ext cx="1261872" cy="365760"/>
          </a:xfrm>
          <a:prstGeom prst="rect">
            <a:avLst/>
          </a:prstGeom>
          <a:noFill/>
          <a:ln/>
        </p:spPr>
        <p:txBody>
          <a:bodyPr wrap="square" lIns="0" tIns="0" rIns="0" bIns="0" rtlCol="0" anchor="ctr"/>
          <a:lstStyle/>
          <a:p>
            <a:pPr indent="0" marL="0">
              <a:buNone/>
            </a:pPr>
            <a:r>
              <a:rPr lang="en-US" sz="900" dirty="0">
                <a:solidFill>
                  <a:srgbClr val="11211C"/>
                </a:solidFill>
              </a:rPr>
              <a:t>synth-1</a:t>
            </a:r>
            <a:endParaRPr lang="en-US" sz="900" dirty="0"/>
          </a:p>
        </p:txBody>
      </p:sp>
      <p:sp>
        <p:nvSpPr>
          <p:cNvPr id="25" name="Shape 23"/>
          <p:cNvSpPr/>
          <p:nvPr/>
        </p:nvSpPr>
        <p:spPr>
          <a:xfrm>
            <a:off x="7818120" y="3017520"/>
            <a:ext cx="898398" cy="274320"/>
          </a:xfrm>
          <a:prstGeom prst="rect">
            <a:avLst/>
          </a:prstGeom>
          <a:solidFill>
            <a:srgbClr val="C0603C">
              <a:alpha val="75000"/>
            </a:srgbClr>
          </a:solidFill>
          <a:ln w="3175">
            <a:solidFill>
              <a:srgbClr val="C0603C">
                <a:alpha val="75000"/>
              </a:srgbClr>
            </a:solidFill>
            <a:prstDash val="solid"/>
          </a:ln>
        </p:spPr>
      </p:sp>
      <p:sp>
        <p:nvSpPr>
          <p:cNvPr id="26" name="Shape 24"/>
          <p:cNvSpPr/>
          <p:nvPr/>
        </p:nvSpPr>
        <p:spPr>
          <a:xfrm>
            <a:off x="9834372" y="3017520"/>
            <a:ext cx="64685" cy="274320"/>
          </a:xfrm>
          <a:prstGeom prst="rect">
            <a:avLst/>
          </a:prstGeom>
          <a:solidFill>
            <a:srgbClr val="3E8E72">
              <a:alpha val="75000"/>
            </a:srgbClr>
          </a:solidFill>
          <a:ln w="3175">
            <a:solidFill>
              <a:srgbClr val="3E8E72">
                <a:alpha val="75000"/>
              </a:srgbClr>
            </a:solidFill>
            <a:prstDash val="solid"/>
          </a:ln>
        </p:spPr>
      </p:sp>
      <p:sp>
        <p:nvSpPr>
          <p:cNvPr id="27" name="Text 25"/>
          <p:cNvSpPr txBox="1"/>
          <p:nvPr/>
        </p:nvSpPr>
        <p:spPr>
          <a:xfrm>
            <a:off x="9953921" y="2980944"/>
            <a:ext cx="384048" cy="365760"/>
          </a:xfrm>
          <a:prstGeom prst="rect">
            <a:avLst/>
          </a:prstGeom>
          <a:noFill/>
          <a:ln/>
        </p:spPr>
        <p:txBody>
          <a:bodyPr wrap="square" lIns="0" tIns="0" rIns="0" bIns="0" rtlCol="0" anchor="ctr"/>
          <a:lstStyle/>
          <a:p>
            <a:pPr indent="0" marL="0">
              <a:buNone/>
            </a:pPr>
            <a:r>
              <a:rPr lang="en-US" sz="800" dirty="0">
                <a:solidFill>
                  <a:srgbClr val="6B7A75"/>
                </a:solidFill>
              </a:rPr>
              <a:t>18</a:t>
            </a:r>
            <a:endParaRPr lang="en-US" sz="800" dirty="0"/>
          </a:p>
        </p:txBody>
      </p:sp>
      <p:sp>
        <p:nvSpPr>
          <p:cNvPr id="28" name="Text 26"/>
          <p:cNvSpPr txBox="1"/>
          <p:nvPr/>
        </p:nvSpPr>
        <p:spPr>
          <a:xfrm>
            <a:off x="6492240" y="3346704"/>
            <a:ext cx="1261872" cy="365760"/>
          </a:xfrm>
          <a:prstGeom prst="rect">
            <a:avLst/>
          </a:prstGeom>
          <a:noFill/>
          <a:ln/>
        </p:spPr>
        <p:txBody>
          <a:bodyPr wrap="square" lIns="0" tIns="0" rIns="0" bIns="0" rtlCol="0" anchor="ctr"/>
          <a:lstStyle/>
          <a:p>
            <a:pPr indent="0" marL="0">
              <a:buNone/>
            </a:pPr>
            <a:r>
              <a:rPr lang="en-US" sz="900" dirty="0">
                <a:solidFill>
                  <a:srgbClr val="11211C"/>
                </a:solidFill>
              </a:rPr>
              <a:t>synth-2</a:t>
            </a:r>
            <a:endParaRPr lang="en-US" sz="900" dirty="0"/>
          </a:p>
        </p:txBody>
      </p:sp>
      <p:sp>
        <p:nvSpPr>
          <p:cNvPr id="29" name="Shape 27"/>
          <p:cNvSpPr/>
          <p:nvPr/>
        </p:nvSpPr>
        <p:spPr>
          <a:xfrm>
            <a:off x="7818120" y="3383280"/>
            <a:ext cx="1067297" cy="274320"/>
          </a:xfrm>
          <a:prstGeom prst="rect">
            <a:avLst/>
          </a:prstGeom>
          <a:solidFill>
            <a:srgbClr val="C0603C">
              <a:alpha val="75000"/>
            </a:srgbClr>
          </a:solidFill>
          <a:ln w="3175">
            <a:solidFill>
              <a:srgbClr val="C0603C">
                <a:alpha val="75000"/>
              </a:srgbClr>
            </a:solidFill>
            <a:prstDash val="solid"/>
          </a:ln>
        </p:spPr>
      </p:sp>
      <p:sp>
        <p:nvSpPr>
          <p:cNvPr id="30" name="Shape 28"/>
          <p:cNvSpPr/>
          <p:nvPr/>
        </p:nvSpPr>
        <p:spPr>
          <a:xfrm>
            <a:off x="9834372" y="3383280"/>
            <a:ext cx="68278" cy="274320"/>
          </a:xfrm>
          <a:prstGeom prst="rect">
            <a:avLst/>
          </a:prstGeom>
          <a:solidFill>
            <a:srgbClr val="3E8E72">
              <a:alpha val="75000"/>
            </a:srgbClr>
          </a:solidFill>
          <a:ln w="3175">
            <a:solidFill>
              <a:srgbClr val="3E8E72">
                <a:alpha val="75000"/>
              </a:srgbClr>
            </a:solidFill>
            <a:prstDash val="solid"/>
          </a:ln>
        </p:spPr>
      </p:sp>
      <p:sp>
        <p:nvSpPr>
          <p:cNvPr id="31" name="Text 29"/>
          <p:cNvSpPr txBox="1"/>
          <p:nvPr/>
        </p:nvSpPr>
        <p:spPr>
          <a:xfrm>
            <a:off x="9957514" y="3346704"/>
            <a:ext cx="384048" cy="365760"/>
          </a:xfrm>
          <a:prstGeom prst="rect">
            <a:avLst/>
          </a:prstGeom>
          <a:noFill/>
          <a:ln/>
        </p:spPr>
        <p:txBody>
          <a:bodyPr wrap="square" lIns="0" tIns="0" rIns="0" bIns="0" rtlCol="0" anchor="ctr"/>
          <a:lstStyle/>
          <a:p>
            <a:pPr indent="0" marL="0">
              <a:buNone/>
            </a:pPr>
            <a:r>
              <a:rPr lang="en-US" sz="800" dirty="0">
                <a:solidFill>
                  <a:srgbClr val="6B7A75"/>
                </a:solidFill>
              </a:rPr>
              <a:t>19</a:t>
            </a:r>
            <a:endParaRPr lang="en-US" sz="800" dirty="0"/>
          </a:p>
        </p:txBody>
      </p:sp>
      <p:sp>
        <p:nvSpPr>
          <p:cNvPr id="32" name="Text 30"/>
          <p:cNvSpPr txBox="1"/>
          <p:nvPr/>
        </p:nvSpPr>
        <p:spPr>
          <a:xfrm>
            <a:off x="6492240" y="3712464"/>
            <a:ext cx="1261872" cy="365760"/>
          </a:xfrm>
          <a:prstGeom prst="rect">
            <a:avLst/>
          </a:prstGeom>
          <a:noFill/>
          <a:ln/>
        </p:spPr>
        <p:txBody>
          <a:bodyPr wrap="square" lIns="0" tIns="0" rIns="0" bIns="0" rtlCol="0" anchor="ctr"/>
          <a:lstStyle/>
          <a:p>
            <a:pPr indent="0" marL="0">
              <a:buNone/>
            </a:pPr>
            <a:r>
              <a:rPr lang="en-US" sz="900" dirty="0">
                <a:solidFill>
                  <a:srgbClr val="11211C"/>
                </a:solidFill>
              </a:rPr>
              <a:t>synth-3</a:t>
            </a:r>
            <a:endParaRPr lang="en-US" sz="900" dirty="0"/>
          </a:p>
        </p:txBody>
      </p:sp>
      <p:sp>
        <p:nvSpPr>
          <p:cNvPr id="33" name="Shape 31"/>
          <p:cNvSpPr/>
          <p:nvPr/>
        </p:nvSpPr>
        <p:spPr>
          <a:xfrm>
            <a:off x="7818120" y="3749040"/>
            <a:ext cx="1060110" cy="274320"/>
          </a:xfrm>
          <a:prstGeom prst="rect">
            <a:avLst/>
          </a:prstGeom>
          <a:solidFill>
            <a:srgbClr val="C0603C">
              <a:alpha val="75000"/>
            </a:srgbClr>
          </a:solidFill>
          <a:ln w="3175">
            <a:solidFill>
              <a:srgbClr val="C0603C">
                <a:alpha val="75000"/>
              </a:srgbClr>
            </a:solidFill>
            <a:prstDash val="solid"/>
          </a:ln>
        </p:spPr>
      </p:sp>
      <p:sp>
        <p:nvSpPr>
          <p:cNvPr id="34" name="Shape 32"/>
          <p:cNvSpPr/>
          <p:nvPr/>
        </p:nvSpPr>
        <p:spPr>
          <a:xfrm>
            <a:off x="9834372" y="3749040"/>
            <a:ext cx="68278" cy="274320"/>
          </a:xfrm>
          <a:prstGeom prst="rect">
            <a:avLst/>
          </a:prstGeom>
          <a:solidFill>
            <a:srgbClr val="3E8E72">
              <a:alpha val="75000"/>
            </a:srgbClr>
          </a:solidFill>
          <a:ln w="3175">
            <a:solidFill>
              <a:srgbClr val="3E8E72">
                <a:alpha val="75000"/>
              </a:srgbClr>
            </a:solidFill>
            <a:prstDash val="solid"/>
          </a:ln>
        </p:spPr>
      </p:sp>
      <p:sp>
        <p:nvSpPr>
          <p:cNvPr id="35" name="Text 33"/>
          <p:cNvSpPr txBox="1"/>
          <p:nvPr/>
        </p:nvSpPr>
        <p:spPr>
          <a:xfrm>
            <a:off x="9957514" y="3712464"/>
            <a:ext cx="384048" cy="365760"/>
          </a:xfrm>
          <a:prstGeom prst="rect">
            <a:avLst/>
          </a:prstGeom>
          <a:noFill/>
          <a:ln/>
        </p:spPr>
        <p:txBody>
          <a:bodyPr wrap="square" lIns="0" tIns="0" rIns="0" bIns="0" rtlCol="0" anchor="ctr"/>
          <a:lstStyle/>
          <a:p>
            <a:pPr indent="0" marL="0">
              <a:buNone/>
            </a:pPr>
            <a:r>
              <a:rPr lang="en-US" sz="800" dirty="0">
                <a:solidFill>
                  <a:srgbClr val="6B7A75"/>
                </a:solidFill>
              </a:rPr>
              <a:t>19</a:t>
            </a:r>
            <a:endParaRPr lang="en-US" sz="800" dirty="0"/>
          </a:p>
        </p:txBody>
      </p:sp>
      <p:sp>
        <p:nvSpPr>
          <p:cNvPr id="36" name="Text 34"/>
          <p:cNvSpPr txBox="1"/>
          <p:nvPr/>
        </p:nvSpPr>
        <p:spPr>
          <a:xfrm>
            <a:off x="6492240" y="4078224"/>
            <a:ext cx="1261872" cy="365760"/>
          </a:xfrm>
          <a:prstGeom prst="rect">
            <a:avLst/>
          </a:prstGeom>
          <a:noFill/>
          <a:ln/>
        </p:spPr>
        <p:txBody>
          <a:bodyPr wrap="square" lIns="0" tIns="0" rIns="0" bIns="0" rtlCol="0" anchor="ctr"/>
          <a:lstStyle/>
          <a:p>
            <a:pPr indent="0" marL="0">
              <a:buNone/>
            </a:pPr>
            <a:r>
              <a:rPr lang="en-US" sz="900" dirty="0">
                <a:solidFill>
                  <a:srgbClr val="11211C"/>
                </a:solidFill>
              </a:rPr>
              <a:t>synth-4</a:t>
            </a:r>
            <a:endParaRPr lang="en-US" sz="900" dirty="0"/>
          </a:p>
        </p:txBody>
      </p:sp>
      <p:sp>
        <p:nvSpPr>
          <p:cNvPr id="37" name="Text 35"/>
          <p:cNvSpPr txBox="1"/>
          <p:nvPr/>
        </p:nvSpPr>
        <p:spPr>
          <a:xfrm>
            <a:off x="7818120" y="4078224"/>
            <a:ext cx="274320" cy="365760"/>
          </a:xfrm>
          <a:prstGeom prst="rect">
            <a:avLst/>
          </a:prstGeom>
          <a:noFill/>
          <a:ln/>
        </p:spPr>
        <p:txBody>
          <a:bodyPr wrap="square" lIns="0" tIns="0" rIns="0" bIns="0" rtlCol="0" anchor="ctr"/>
          <a:lstStyle/>
          <a:p>
            <a:pPr indent="0" marL="0">
              <a:buNone/>
            </a:pPr>
            <a:r>
              <a:rPr lang="en-US" sz="900" b="1" dirty="0">
                <a:solidFill>
                  <a:srgbClr val="C0603C"/>
                </a:solidFill>
              </a:rPr>
              <a:t>0</a:t>
            </a:r>
            <a:endParaRPr lang="en-US" sz="900" dirty="0"/>
          </a:p>
        </p:txBody>
      </p:sp>
      <p:sp>
        <p:nvSpPr>
          <p:cNvPr id="38" name="Shape 36"/>
          <p:cNvSpPr/>
          <p:nvPr/>
        </p:nvSpPr>
        <p:spPr>
          <a:xfrm>
            <a:off x="9834372" y="4114800"/>
            <a:ext cx="1121201" cy="274320"/>
          </a:xfrm>
          <a:prstGeom prst="rect">
            <a:avLst/>
          </a:prstGeom>
          <a:solidFill>
            <a:srgbClr val="3E8E72">
              <a:alpha val="75000"/>
            </a:srgbClr>
          </a:solidFill>
          <a:ln w="3175">
            <a:solidFill>
              <a:srgbClr val="3E8E72">
                <a:alpha val="75000"/>
              </a:srgbClr>
            </a:solidFill>
            <a:prstDash val="solid"/>
          </a:ln>
        </p:spPr>
      </p:sp>
      <p:sp>
        <p:nvSpPr>
          <p:cNvPr id="39" name="Text 37"/>
          <p:cNvSpPr txBox="1"/>
          <p:nvPr/>
        </p:nvSpPr>
        <p:spPr>
          <a:xfrm>
            <a:off x="11010437" y="4078224"/>
            <a:ext cx="384048" cy="365760"/>
          </a:xfrm>
          <a:prstGeom prst="rect">
            <a:avLst/>
          </a:prstGeom>
          <a:noFill/>
          <a:ln/>
        </p:spPr>
        <p:txBody>
          <a:bodyPr wrap="square" lIns="0" tIns="0" rIns="0" bIns="0" rtlCol="0" anchor="ctr"/>
          <a:lstStyle/>
          <a:p>
            <a:pPr indent="0" marL="0">
              <a:buNone/>
            </a:pPr>
            <a:r>
              <a:rPr lang="en-US" sz="800" dirty="0">
                <a:solidFill>
                  <a:srgbClr val="6B7A75"/>
                </a:solidFill>
              </a:rPr>
              <a:t>312</a:t>
            </a:r>
            <a:endParaRPr lang="en-US" sz="800" dirty="0"/>
          </a:p>
        </p:txBody>
      </p:sp>
      <p:sp>
        <p:nvSpPr>
          <p:cNvPr id="40" name="Text 38"/>
          <p:cNvSpPr txBox="1"/>
          <p:nvPr/>
        </p:nvSpPr>
        <p:spPr>
          <a:xfrm>
            <a:off x="6492240" y="4443984"/>
            <a:ext cx="1261872" cy="365760"/>
          </a:xfrm>
          <a:prstGeom prst="rect">
            <a:avLst/>
          </a:prstGeom>
          <a:noFill/>
          <a:ln/>
        </p:spPr>
        <p:txBody>
          <a:bodyPr wrap="square" lIns="0" tIns="0" rIns="0" bIns="0" rtlCol="0" anchor="ctr"/>
          <a:lstStyle/>
          <a:p>
            <a:pPr indent="0" marL="0">
              <a:buNone/>
            </a:pPr>
            <a:r>
              <a:rPr lang="en-US" sz="900" dirty="0">
                <a:solidFill>
                  <a:srgbClr val="11211C"/>
                </a:solidFill>
              </a:rPr>
              <a:t>synth-5</a:t>
            </a:r>
            <a:endParaRPr lang="en-US" sz="900" dirty="0"/>
          </a:p>
        </p:txBody>
      </p:sp>
      <p:sp>
        <p:nvSpPr>
          <p:cNvPr id="41" name="Text 39"/>
          <p:cNvSpPr txBox="1"/>
          <p:nvPr/>
        </p:nvSpPr>
        <p:spPr>
          <a:xfrm>
            <a:off x="7818120" y="4443984"/>
            <a:ext cx="274320" cy="365760"/>
          </a:xfrm>
          <a:prstGeom prst="rect">
            <a:avLst/>
          </a:prstGeom>
          <a:noFill/>
          <a:ln/>
        </p:spPr>
        <p:txBody>
          <a:bodyPr wrap="square" lIns="0" tIns="0" rIns="0" bIns="0" rtlCol="0" anchor="ctr"/>
          <a:lstStyle/>
          <a:p>
            <a:pPr indent="0" marL="0">
              <a:buNone/>
            </a:pPr>
            <a:r>
              <a:rPr lang="en-US" sz="900" b="1" dirty="0">
                <a:solidFill>
                  <a:srgbClr val="C0603C"/>
                </a:solidFill>
              </a:rPr>
              <a:t>0</a:t>
            </a:r>
            <a:endParaRPr lang="en-US" sz="900" dirty="0"/>
          </a:p>
        </p:txBody>
      </p:sp>
      <p:sp>
        <p:nvSpPr>
          <p:cNvPr id="42" name="Shape 40"/>
          <p:cNvSpPr/>
          <p:nvPr/>
        </p:nvSpPr>
        <p:spPr>
          <a:xfrm>
            <a:off x="9834372" y="4480560"/>
            <a:ext cx="1254164" cy="274320"/>
          </a:xfrm>
          <a:prstGeom prst="rect">
            <a:avLst/>
          </a:prstGeom>
          <a:solidFill>
            <a:srgbClr val="3E8E72">
              <a:alpha val="75000"/>
            </a:srgbClr>
          </a:solidFill>
          <a:ln w="3175">
            <a:solidFill>
              <a:srgbClr val="3E8E72">
                <a:alpha val="75000"/>
              </a:srgbClr>
            </a:solidFill>
            <a:prstDash val="solid"/>
          </a:ln>
        </p:spPr>
      </p:sp>
      <p:sp>
        <p:nvSpPr>
          <p:cNvPr id="43" name="Text 41"/>
          <p:cNvSpPr txBox="1"/>
          <p:nvPr/>
        </p:nvSpPr>
        <p:spPr>
          <a:xfrm>
            <a:off x="11143400" y="4443984"/>
            <a:ext cx="384048" cy="365760"/>
          </a:xfrm>
          <a:prstGeom prst="rect">
            <a:avLst/>
          </a:prstGeom>
          <a:noFill/>
          <a:ln/>
        </p:spPr>
        <p:txBody>
          <a:bodyPr wrap="square" lIns="0" tIns="0" rIns="0" bIns="0" rtlCol="0" anchor="ctr"/>
          <a:lstStyle/>
          <a:p>
            <a:pPr indent="0" marL="0">
              <a:buNone/>
            </a:pPr>
            <a:r>
              <a:rPr lang="en-US" sz="800" dirty="0">
                <a:solidFill>
                  <a:srgbClr val="6B7A75"/>
                </a:solidFill>
              </a:rPr>
              <a:t>349</a:t>
            </a:r>
            <a:endParaRPr lang="en-US" sz="800" dirty="0"/>
          </a:p>
        </p:txBody>
      </p:sp>
      <p:sp>
        <p:nvSpPr>
          <p:cNvPr id="44" name="Text 42"/>
          <p:cNvSpPr txBox="1"/>
          <p:nvPr/>
        </p:nvSpPr>
        <p:spPr>
          <a:xfrm>
            <a:off x="6492240" y="4809744"/>
            <a:ext cx="1261872" cy="365760"/>
          </a:xfrm>
          <a:prstGeom prst="rect">
            <a:avLst/>
          </a:prstGeom>
          <a:noFill/>
          <a:ln/>
        </p:spPr>
        <p:txBody>
          <a:bodyPr wrap="square" lIns="0" tIns="0" rIns="0" bIns="0" rtlCol="0" anchor="ctr"/>
          <a:lstStyle/>
          <a:p>
            <a:pPr indent="0" marL="0">
              <a:buNone/>
            </a:pPr>
            <a:r>
              <a:rPr lang="en-US" sz="900" dirty="0">
                <a:solidFill>
                  <a:srgbClr val="11211C"/>
                </a:solidFill>
              </a:rPr>
              <a:t>synth-6</a:t>
            </a:r>
            <a:endParaRPr lang="en-US" sz="900" dirty="0"/>
          </a:p>
        </p:txBody>
      </p:sp>
      <p:sp>
        <p:nvSpPr>
          <p:cNvPr id="45" name="Text 43"/>
          <p:cNvSpPr txBox="1"/>
          <p:nvPr/>
        </p:nvSpPr>
        <p:spPr>
          <a:xfrm>
            <a:off x="7818120" y="4809744"/>
            <a:ext cx="274320" cy="365760"/>
          </a:xfrm>
          <a:prstGeom prst="rect">
            <a:avLst/>
          </a:prstGeom>
          <a:noFill/>
          <a:ln/>
        </p:spPr>
        <p:txBody>
          <a:bodyPr wrap="square" lIns="0" tIns="0" rIns="0" bIns="0" rtlCol="0" anchor="ctr"/>
          <a:lstStyle/>
          <a:p>
            <a:pPr indent="0" marL="0">
              <a:buNone/>
            </a:pPr>
            <a:r>
              <a:rPr lang="en-US" sz="900" b="1" dirty="0">
                <a:solidFill>
                  <a:srgbClr val="C0603C"/>
                </a:solidFill>
              </a:rPr>
              <a:t>0</a:t>
            </a:r>
            <a:endParaRPr lang="en-US" sz="900" dirty="0"/>
          </a:p>
        </p:txBody>
      </p:sp>
      <p:sp>
        <p:nvSpPr>
          <p:cNvPr id="46" name="Shape 44"/>
          <p:cNvSpPr/>
          <p:nvPr/>
        </p:nvSpPr>
        <p:spPr>
          <a:xfrm>
            <a:off x="9834372" y="4846320"/>
            <a:ext cx="1796796" cy="274320"/>
          </a:xfrm>
          <a:prstGeom prst="rect">
            <a:avLst/>
          </a:prstGeom>
          <a:solidFill>
            <a:srgbClr val="3E8E72">
              <a:alpha val="75000"/>
            </a:srgbClr>
          </a:solidFill>
          <a:ln w="3175">
            <a:solidFill>
              <a:srgbClr val="3E8E72">
                <a:alpha val="75000"/>
              </a:srgbClr>
            </a:solidFill>
            <a:prstDash val="solid"/>
          </a:ln>
        </p:spPr>
      </p:sp>
      <p:sp>
        <p:nvSpPr>
          <p:cNvPr id="47" name="Text 45"/>
          <p:cNvSpPr txBox="1"/>
          <p:nvPr/>
        </p:nvSpPr>
        <p:spPr>
          <a:xfrm>
            <a:off x="11686032" y="4809744"/>
            <a:ext cx="384048" cy="365760"/>
          </a:xfrm>
          <a:prstGeom prst="rect">
            <a:avLst/>
          </a:prstGeom>
          <a:noFill/>
          <a:ln/>
        </p:spPr>
        <p:txBody>
          <a:bodyPr wrap="square" lIns="0" tIns="0" rIns="0" bIns="0" rtlCol="0" anchor="ctr"/>
          <a:lstStyle/>
          <a:p>
            <a:pPr indent="0" marL="0">
              <a:buNone/>
            </a:pPr>
            <a:r>
              <a:rPr lang="en-US" sz="800" dirty="0">
                <a:solidFill>
                  <a:srgbClr val="6B7A75"/>
                </a:solidFill>
              </a:rPr>
              <a:t>500</a:t>
            </a:r>
            <a:endParaRPr lang="en-US" sz="800" dirty="0"/>
          </a:p>
        </p:txBody>
      </p:sp>
      <p:sp>
        <p:nvSpPr>
          <p:cNvPr id="48" name="Text 46"/>
          <p:cNvSpPr txBox="1"/>
          <p:nvPr/>
        </p:nvSpPr>
        <p:spPr>
          <a:xfrm>
            <a:off x="6492240" y="5175504"/>
            <a:ext cx="1261872" cy="365760"/>
          </a:xfrm>
          <a:prstGeom prst="rect">
            <a:avLst/>
          </a:prstGeom>
          <a:noFill/>
          <a:ln/>
        </p:spPr>
        <p:txBody>
          <a:bodyPr wrap="square" lIns="0" tIns="0" rIns="0" bIns="0" rtlCol="0" anchor="ctr"/>
          <a:lstStyle/>
          <a:p>
            <a:pPr indent="0" marL="0">
              <a:buNone/>
            </a:pPr>
            <a:r>
              <a:rPr lang="en-US" sz="900" dirty="0">
                <a:solidFill>
                  <a:srgbClr val="11211C"/>
                </a:solidFill>
              </a:rPr>
              <a:t>synth-7</a:t>
            </a:r>
            <a:endParaRPr lang="en-US" sz="900" dirty="0"/>
          </a:p>
        </p:txBody>
      </p:sp>
      <p:sp>
        <p:nvSpPr>
          <p:cNvPr id="49" name="Text 47"/>
          <p:cNvSpPr txBox="1"/>
          <p:nvPr/>
        </p:nvSpPr>
        <p:spPr>
          <a:xfrm>
            <a:off x="7818120" y="5175504"/>
            <a:ext cx="274320" cy="365760"/>
          </a:xfrm>
          <a:prstGeom prst="rect">
            <a:avLst/>
          </a:prstGeom>
          <a:noFill/>
          <a:ln/>
        </p:spPr>
        <p:txBody>
          <a:bodyPr wrap="square" lIns="0" tIns="0" rIns="0" bIns="0" rtlCol="0" anchor="ctr"/>
          <a:lstStyle/>
          <a:p>
            <a:pPr indent="0" marL="0">
              <a:buNone/>
            </a:pPr>
            <a:r>
              <a:rPr lang="en-US" sz="900" b="1" dirty="0">
                <a:solidFill>
                  <a:srgbClr val="C0603C"/>
                </a:solidFill>
              </a:rPr>
              <a:t>0</a:t>
            </a:r>
            <a:endParaRPr lang="en-US" sz="900" dirty="0"/>
          </a:p>
        </p:txBody>
      </p:sp>
      <p:sp>
        <p:nvSpPr>
          <p:cNvPr id="50" name="Shape 48"/>
          <p:cNvSpPr/>
          <p:nvPr/>
        </p:nvSpPr>
        <p:spPr>
          <a:xfrm>
            <a:off x="9834372" y="5212080"/>
            <a:ext cx="1796796" cy="274320"/>
          </a:xfrm>
          <a:prstGeom prst="rect">
            <a:avLst/>
          </a:prstGeom>
          <a:solidFill>
            <a:srgbClr val="3E8E72">
              <a:alpha val="75000"/>
            </a:srgbClr>
          </a:solidFill>
          <a:ln w="3175">
            <a:solidFill>
              <a:srgbClr val="3E8E72">
                <a:alpha val="75000"/>
              </a:srgbClr>
            </a:solidFill>
            <a:prstDash val="solid"/>
          </a:ln>
        </p:spPr>
      </p:sp>
      <p:sp>
        <p:nvSpPr>
          <p:cNvPr id="51" name="Text 49"/>
          <p:cNvSpPr txBox="1"/>
          <p:nvPr/>
        </p:nvSpPr>
        <p:spPr>
          <a:xfrm>
            <a:off x="11686032" y="5175504"/>
            <a:ext cx="384048" cy="365760"/>
          </a:xfrm>
          <a:prstGeom prst="rect">
            <a:avLst/>
          </a:prstGeom>
          <a:noFill/>
          <a:ln/>
        </p:spPr>
        <p:txBody>
          <a:bodyPr wrap="square" lIns="0" tIns="0" rIns="0" bIns="0" rtlCol="0" anchor="ctr"/>
          <a:lstStyle/>
          <a:p>
            <a:pPr indent="0" marL="0">
              <a:buNone/>
            </a:pPr>
            <a:r>
              <a:rPr lang="en-US" sz="800" dirty="0">
                <a:solidFill>
                  <a:srgbClr val="6B7A75"/>
                </a:solidFill>
              </a:rPr>
              <a:t>500</a:t>
            </a:r>
            <a:endParaRPr lang="en-US" sz="800" dirty="0"/>
          </a:p>
        </p:txBody>
      </p:sp>
      <p:sp>
        <p:nvSpPr>
          <p:cNvPr id="25" name="Slide Number Placeholder 0"/>
          <p:cNvSpPr>
            <a:spLocks noGrp="1"/>
          </p:cNvSpPr>
          <p:nvPr>
            <p:ph type="sldNum" sz="quarter" idx="4294967295"/>
          </p:nvPr>
        </p:nvSpPr>
        <p:spPr>
          <a:xfrm>
            <a:off x="11167567" y="6437376"/>
            <a:ext cx="45720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6B7A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420624"/>
            <a:ext cx="11057839" cy="658368"/>
          </a:xfrm>
          <a:prstGeom prst="rect">
            <a:avLst/>
          </a:prstGeom>
          <a:noFill/>
          <a:ln/>
        </p:spPr>
        <p:txBody>
          <a:bodyPr wrap="square" lIns="0" tIns="0" rIns="0" bIns="0" rtlCol="0" anchor="ctr"/>
          <a:lstStyle/>
          <a:p>
            <a:pPr indent="0" marL="0">
              <a:buNone/>
            </a:pPr>
            <a:r>
              <a:rPr lang="en-US" sz="2600" b="1" dirty="0">
                <a:solidFill>
                  <a:srgbClr val="11211C"/>
                </a:solidFill>
                <a:latin typeface="Cambria" pitchFamily="34" charset="0"/>
                <a:ea typeface="Cambria" pitchFamily="34" charset="-122"/>
                <a:cs typeface="Cambria" pitchFamily="34" charset="-120"/>
              </a:rPr>
              <a:t>Ten instances, seven methods, one matrix</a:t>
            </a:r>
            <a:endParaRPr lang="en-US" sz="2600" dirty="0"/>
          </a:p>
        </p:txBody>
      </p:sp>
      <p:sp>
        <p:nvSpPr>
          <p:cNvPr id="3" name="Text 1"/>
          <p:cNvSpPr txBox="1"/>
          <p:nvPr/>
        </p:nvSpPr>
        <p:spPr>
          <a:xfrm>
            <a:off x="566928" y="1207008"/>
            <a:ext cx="5852160" cy="1133856"/>
          </a:xfrm>
          <a:prstGeom prst="rect">
            <a:avLst/>
          </a:prstGeom>
          <a:noFill/>
          <a:ln/>
        </p:spPr>
        <p:txBody>
          <a:bodyPr wrap="square" lIns="0" tIns="0" rIns="0" bIns="0" rtlCol="0" anchor="ctr"/>
          <a:lstStyle/>
          <a:p>
            <a:pPr indent="0" marL="0">
              <a:lnSpc>
                <a:spcPts val="1600"/>
              </a:lnSpc>
              <a:buNone/>
            </a:pPr>
            <a:r>
              <a:rPr lang="en-US" sz="1100" dirty="0">
                <a:solidFill>
                  <a:srgbClr val="11211C"/>
                </a:solidFill>
              </a:rPr>
              <a:t>Three leaderboard entries re-implemented and re-scored through the official evaluator, against four methods written for this study. 1,200 s per instance per seed, three seeds, best of three, one CPU core each, except Spacekangaroos, whose entry needs a GPU and ran on one Kaggle T4.</a:t>
            </a:r>
            <a:endParaRPr lang="en-US" sz="1100" dirty="0"/>
          </a:p>
        </p:txBody>
      </p:sp>
      <p:sp>
        <p:nvSpPr>
          <p:cNvPr id="4" name="Text 2"/>
          <p:cNvSpPr txBox="1"/>
          <p:nvPr/>
        </p:nvSpPr>
        <p:spPr>
          <a:xfrm>
            <a:off x="1865376" y="2139696"/>
            <a:ext cx="566928" cy="365760"/>
          </a:xfrm>
          <a:prstGeom prst="rect">
            <a:avLst/>
          </a:prstGeom>
          <a:noFill/>
          <a:ln/>
        </p:spPr>
        <p:txBody>
          <a:bodyPr wrap="square" lIns="0" tIns="0" rIns="0" bIns="0" rtlCol="0" anchor="b"/>
          <a:lstStyle/>
          <a:p>
            <a:pPr algn="ctr" indent="0" marL="0">
              <a:buNone/>
            </a:pPr>
            <a:r>
              <a:rPr lang="en-US" sz="900" b="1" dirty="0">
                <a:solidFill>
                  <a:srgbClr val="2A5247"/>
                </a:solidFill>
              </a:rPr>
              <a:t>fcmaes</a:t>
            </a:r>
            <a:endParaRPr lang="en-US" sz="900" dirty="0"/>
          </a:p>
        </p:txBody>
      </p:sp>
      <p:sp>
        <p:nvSpPr>
          <p:cNvPr id="5" name="Text 3"/>
          <p:cNvSpPr txBox="1"/>
          <p:nvPr/>
        </p:nvSpPr>
        <p:spPr>
          <a:xfrm>
            <a:off x="2432304" y="2139696"/>
            <a:ext cx="566928" cy="365760"/>
          </a:xfrm>
          <a:prstGeom prst="rect">
            <a:avLst/>
          </a:prstGeom>
          <a:noFill/>
          <a:ln/>
        </p:spPr>
        <p:txBody>
          <a:bodyPr wrap="square" lIns="0" tIns="0" rIns="0" bIns="0" rtlCol="0" anchor="b"/>
          <a:lstStyle/>
          <a:p>
            <a:pPr algn="ctr" indent="0" marL="0">
              <a:buNone/>
            </a:pPr>
            <a:r>
              <a:rPr lang="en-US" sz="900" b="1" dirty="0">
                <a:solidFill>
                  <a:srgbClr val="2A5247"/>
                </a:solidFill>
              </a:rPr>
              <a:t>HRI</a:t>
            </a:r>
            <a:endParaRPr lang="en-US" sz="900" dirty="0"/>
          </a:p>
        </p:txBody>
      </p:sp>
      <p:sp>
        <p:nvSpPr>
          <p:cNvPr id="6" name="Text 4"/>
          <p:cNvSpPr txBox="1"/>
          <p:nvPr/>
        </p:nvSpPr>
        <p:spPr>
          <a:xfrm>
            <a:off x="2999232" y="2139696"/>
            <a:ext cx="566928" cy="365760"/>
          </a:xfrm>
          <a:prstGeom prst="rect">
            <a:avLst/>
          </a:prstGeom>
          <a:noFill/>
          <a:ln/>
        </p:spPr>
        <p:txBody>
          <a:bodyPr wrap="square" lIns="0" tIns="0" rIns="0" bIns="0" rtlCol="0" anchor="b"/>
          <a:lstStyle/>
          <a:p>
            <a:pPr algn="ctr" indent="0" marL="0">
              <a:buNone/>
            </a:pPr>
            <a:r>
              <a:rPr lang="en-US" sz="900" b="1" dirty="0">
                <a:solidFill>
                  <a:srgbClr val="2A5247"/>
                </a:solidFill>
              </a:rPr>
              <a:t>S.kang</a:t>
            </a:r>
            <a:endParaRPr lang="en-US" sz="900" dirty="0"/>
          </a:p>
        </p:txBody>
      </p:sp>
      <p:sp>
        <p:nvSpPr>
          <p:cNvPr id="7" name="Text 5"/>
          <p:cNvSpPr txBox="1"/>
          <p:nvPr/>
        </p:nvSpPr>
        <p:spPr>
          <a:xfrm>
            <a:off x="3566160" y="2139696"/>
            <a:ext cx="566928" cy="365760"/>
          </a:xfrm>
          <a:prstGeom prst="rect">
            <a:avLst/>
          </a:prstGeom>
          <a:noFill/>
          <a:ln/>
        </p:spPr>
        <p:txBody>
          <a:bodyPr wrap="square" lIns="0" tIns="0" rIns="0" bIns="0" rtlCol="0" anchor="b"/>
          <a:lstStyle/>
          <a:p>
            <a:pPr algn="ctr" indent="0" marL="0">
              <a:buNone/>
            </a:pPr>
            <a:r>
              <a:rPr lang="en-US" sz="900" b="1" dirty="0">
                <a:solidFill>
                  <a:srgbClr val="2A5247"/>
                </a:solidFill>
              </a:rPr>
              <a:t>HillCl</a:t>
            </a:r>
            <a:endParaRPr lang="en-US" sz="900" dirty="0"/>
          </a:p>
        </p:txBody>
      </p:sp>
      <p:sp>
        <p:nvSpPr>
          <p:cNvPr id="8" name="Text 6"/>
          <p:cNvSpPr txBox="1"/>
          <p:nvPr/>
        </p:nvSpPr>
        <p:spPr>
          <a:xfrm>
            <a:off x="4133088" y="2139696"/>
            <a:ext cx="566928" cy="365760"/>
          </a:xfrm>
          <a:prstGeom prst="rect">
            <a:avLst/>
          </a:prstGeom>
          <a:noFill/>
          <a:ln/>
        </p:spPr>
        <p:txBody>
          <a:bodyPr wrap="square" lIns="0" tIns="0" rIns="0" bIns="0" rtlCol="0" anchor="b"/>
          <a:lstStyle/>
          <a:p>
            <a:pPr algn="ctr" indent="0" marL="0">
              <a:buNone/>
            </a:pPr>
            <a:r>
              <a:rPr lang="en-US" sz="900" b="1" dirty="0">
                <a:solidFill>
                  <a:srgbClr val="2A5247"/>
                </a:solidFill>
              </a:rPr>
              <a:t>SimAnn</a:t>
            </a:r>
            <a:endParaRPr lang="en-US" sz="900" dirty="0"/>
          </a:p>
        </p:txBody>
      </p:sp>
      <p:sp>
        <p:nvSpPr>
          <p:cNvPr id="9" name="Text 7"/>
          <p:cNvSpPr txBox="1"/>
          <p:nvPr/>
        </p:nvSpPr>
        <p:spPr>
          <a:xfrm>
            <a:off x="4700016" y="2139696"/>
            <a:ext cx="566928" cy="365760"/>
          </a:xfrm>
          <a:prstGeom prst="rect">
            <a:avLst/>
          </a:prstGeom>
          <a:noFill/>
          <a:ln/>
        </p:spPr>
        <p:txBody>
          <a:bodyPr wrap="square" lIns="0" tIns="0" rIns="0" bIns="0" rtlCol="0" anchor="b"/>
          <a:lstStyle/>
          <a:p>
            <a:pPr algn="ctr" indent="0" marL="0">
              <a:buNone/>
            </a:pPr>
            <a:r>
              <a:rPr lang="en-US" sz="900" b="1" dirty="0">
                <a:solidFill>
                  <a:srgbClr val="2A5247"/>
                </a:solidFill>
              </a:rPr>
              <a:t>VNS</a:t>
            </a:r>
            <a:endParaRPr lang="en-US" sz="900" dirty="0"/>
          </a:p>
        </p:txBody>
      </p:sp>
      <p:sp>
        <p:nvSpPr>
          <p:cNvPr id="10" name="Text 8"/>
          <p:cNvSpPr txBox="1"/>
          <p:nvPr/>
        </p:nvSpPr>
        <p:spPr>
          <a:xfrm>
            <a:off x="5266944" y="2139696"/>
            <a:ext cx="566928" cy="365760"/>
          </a:xfrm>
          <a:prstGeom prst="rect">
            <a:avLst/>
          </a:prstGeom>
          <a:noFill/>
          <a:ln/>
        </p:spPr>
        <p:txBody>
          <a:bodyPr wrap="square" lIns="0" tIns="0" rIns="0" bIns="0" rtlCol="0" anchor="b"/>
          <a:lstStyle/>
          <a:p>
            <a:pPr algn="ctr" indent="0" marL="0">
              <a:buNone/>
            </a:pPr>
            <a:r>
              <a:rPr lang="en-US" sz="900" b="1" dirty="0">
                <a:solidFill>
                  <a:srgbClr val="2A5247"/>
                </a:solidFill>
              </a:rPr>
              <a:t>GRASP</a:t>
            </a:r>
            <a:endParaRPr lang="en-US" sz="900" dirty="0"/>
          </a:p>
        </p:txBody>
      </p:sp>
      <p:sp>
        <p:nvSpPr>
          <p:cNvPr id="11" name="Text 9"/>
          <p:cNvSpPr txBox="1"/>
          <p:nvPr/>
        </p:nvSpPr>
        <p:spPr>
          <a:xfrm>
            <a:off x="566928" y="2542032"/>
            <a:ext cx="1225296" cy="297180"/>
          </a:xfrm>
          <a:prstGeom prst="rect">
            <a:avLst/>
          </a:prstGeom>
          <a:noFill/>
          <a:ln/>
        </p:spPr>
        <p:txBody>
          <a:bodyPr wrap="square" lIns="0" tIns="0" rIns="0" bIns="0" rtlCol="0" anchor="ctr"/>
          <a:lstStyle/>
          <a:p>
            <a:pPr indent="0" marL="0">
              <a:buNone/>
            </a:pPr>
            <a:r>
              <a:rPr lang="en-US" sz="950" dirty="0">
                <a:solidFill>
                  <a:srgbClr val="11211C"/>
                </a:solidFill>
              </a:rPr>
              <a:t>small-graph</a:t>
            </a:r>
            <a:endParaRPr lang="en-US" sz="950" dirty="0"/>
          </a:p>
        </p:txBody>
      </p:sp>
      <p:sp>
        <p:nvSpPr>
          <p:cNvPr id="12" name="Shape 10"/>
          <p:cNvSpPr/>
          <p:nvPr/>
        </p:nvSpPr>
        <p:spPr>
          <a:xfrm>
            <a:off x="1865376" y="2542032"/>
            <a:ext cx="539496" cy="269748"/>
          </a:xfrm>
          <a:prstGeom prst="rect">
            <a:avLst/>
          </a:prstGeom>
          <a:solidFill>
            <a:srgbClr val="3E8E72">
              <a:alpha val="8000"/>
            </a:srgbClr>
          </a:solidFill>
          <a:ln w="3175">
            <a:solidFill>
              <a:srgbClr val="3E8E72">
                <a:alpha val="8000"/>
              </a:srgbClr>
            </a:solidFill>
            <a:prstDash val="solid"/>
          </a:ln>
        </p:spPr>
      </p:sp>
      <p:sp>
        <p:nvSpPr>
          <p:cNvPr id="13" name="Text 11"/>
          <p:cNvSpPr txBox="1"/>
          <p:nvPr/>
        </p:nvSpPr>
        <p:spPr>
          <a:xfrm>
            <a:off x="1865376" y="2542032"/>
            <a:ext cx="539496" cy="269748"/>
          </a:xfrm>
          <a:prstGeom prst="rect">
            <a:avLst/>
          </a:prstGeom>
          <a:noFill/>
          <a:ln/>
        </p:spPr>
        <p:txBody>
          <a:bodyPr wrap="square" lIns="0" tIns="0" rIns="0" bIns="0" rtlCol="0" anchor="ctr"/>
          <a:lstStyle/>
          <a:p>
            <a:pPr algn="ctr" indent="0" marL="0">
              <a:buNone/>
            </a:pPr>
            <a:r>
              <a:rPr lang="en-US" sz="800" dirty="0">
                <a:solidFill>
                  <a:srgbClr val="11211C"/>
                </a:solidFill>
              </a:rPr>
              <a:t>-1808</a:t>
            </a:r>
            <a:endParaRPr lang="en-US" sz="800" dirty="0"/>
          </a:p>
        </p:txBody>
      </p:sp>
      <p:sp>
        <p:nvSpPr>
          <p:cNvPr id="14" name="Shape 12"/>
          <p:cNvSpPr/>
          <p:nvPr/>
        </p:nvSpPr>
        <p:spPr>
          <a:xfrm>
            <a:off x="2432304" y="2542032"/>
            <a:ext cx="539496" cy="269748"/>
          </a:xfrm>
          <a:prstGeom prst="rect">
            <a:avLst/>
          </a:prstGeom>
          <a:solidFill>
            <a:srgbClr val="3E8E72">
              <a:alpha val="61000"/>
            </a:srgbClr>
          </a:solidFill>
          <a:ln w="3175">
            <a:solidFill>
              <a:srgbClr val="3E8E72">
                <a:alpha val="61000"/>
              </a:srgbClr>
            </a:solidFill>
            <a:prstDash val="solid"/>
          </a:ln>
        </p:spPr>
      </p:sp>
      <p:sp>
        <p:nvSpPr>
          <p:cNvPr id="15" name="Text 13"/>
          <p:cNvSpPr txBox="1"/>
          <p:nvPr/>
        </p:nvSpPr>
        <p:spPr>
          <a:xfrm>
            <a:off x="2432304" y="2542032"/>
            <a:ext cx="539496" cy="269748"/>
          </a:xfrm>
          <a:prstGeom prst="rect">
            <a:avLst/>
          </a:prstGeom>
          <a:noFill/>
          <a:ln/>
        </p:spPr>
        <p:txBody>
          <a:bodyPr wrap="square" lIns="0" tIns="0" rIns="0" bIns="0" rtlCol="0" anchor="ctr"/>
          <a:lstStyle/>
          <a:p>
            <a:pPr algn="ctr" indent="0" marL="0">
              <a:buNone/>
            </a:pPr>
            <a:r>
              <a:rPr lang="en-US" sz="800" dirty="0">
                <a:solidFill>
                  <a:srgbClr val="11211C"/>
                </a:solidFill>
              </a:rPr>
              <a:t>-1821</a:t>
            </a:r>
            <a:endParaRPr lang="en-US" sz="800" dirty="0"/>
          </a:p>
        </p:txBody>
      </p:sp>
      <p:sp>
        <p:nvSpPr>
          <p:cNvPr id="16" name="Shape 14"/>
          <p:cNvSpPr/>
          <p:nvPr/>
        </p:nvSpPr>
        <p:spPr>
          <a:xfrm>
            <a:off x="2999232" y="2542032"/>
            <a:ext cx="539496" cy="269748"/>
          </a:xfrm>
          <a:prstGeom prst="rect">
            <a:avLst/>
          </a:prstGeom>
          <a:solidFill>
            <a:srgbClr val="3E8E72">
              <a:alpha val="88000"/>
            </a:srgbClr>
          </a:solidFill>
          <a:ln w="19050">
            <a:solidFill>
              <a:srgbClr val="1F3A33"/>
            </a:solidFill>
            <a:prstDash val="solid"/>
          </a:ln>
        </p:spPr>
      </p:sp>
      <p:sp>
        <p:nvSpPr>
          <p:cNvPr id="17" name="Text 15"/>
          <p:cNvSpPr txBox="1"/>
          <p:nvPr/>
        </p:nvSpPr>
        <p:spPr>
          <a:xfrm>
            <a:off x="2999232" y="2542032"/>
            <a:ext cx="539496" cy="269748"/>
          </a:xfrm>
          <a:prstGeom prst="rect">
            <a:avLst/>
          </a:prstGeom>
          <a:noFill/>
          <a:ln/>
        </p:spPr>
        <p:txBody>
          <a:bodyPr wrap="square" lIns="0" tIns="0" rIns="0" bIns="0" rtlCol="0" anchor="ctr"/>
          <a:lstStyle/>
          <a:p>
            <a:pPr algn="ctr" indent="0" marL="0">
              <a:buNone/>
            </a:pPr>
            <a:r>
              <a:rPr lang="en-US" sz="800" b="1" dirty="0">
                <a:solidFill>
                  <a:srgbClr val="FFFFFF"/>
                </a:solidFill>
              </a:rPr>
              <a:t>-1827</a:t>
            </a:r>
            <a:endParaRPr lang="en-US" sz="800" dirty="0"/>
          </a:p>
        </p:txBody>
      </p:sp>
      <p:sp>
        <p:nvSpPr>
          <p:cNvPr id="18" name="Shape 16"/>
          <p:cNvSpPr/>
          <p:nvPr/>
        </p:nvSpPr>
        <p:spPr>
          <a:xfrm>
            <a:off x="3566160" y="2542032"/>
            <a:ext cx="539496" cy="269748"/>
          </a:xfrm>
          <a:prstGeom prst="rect">
            <a:avLst/>
          </a:prstGeom>
          <a:solidFill>
            <a:srgbClr val="3E8E72">
              <a:alpha val="35000"/>
            </a:srgbClr>
          </a:solidFill>
          <a:ln w="3175">
            <a:solidFill>
              <a:srgbClr val="3E8E72">
                <a:alpha val="35000"/>
              </a:srgbClr>
            </a:solidFill>
            <a:prstDash val="solid"/>
          </a:ln>
        </p:spPr>
      </p:sp>
      <p:sp>
        <p:nvSpPr>
          <p:cNvPr id="19" name="Text 17"/>
          <p:cNvSpPr txBox="1"/>
          <p:nvPr/>
        </p:nvSpPr>
        <p:spPr>
          <a:xfrm>
            <a:off x="3566160" y="2542032"/>
            <a:ext cx="539496" cy="269748"/>
          </a:xfrm>
          <a:prstGeom prst="rect">
            <a:avLst/>
          </a:prstGeom>
          <a:noFill/>
          <a:ln/>
        </p:spPr>
        <p:txBody>
          <a:bodyPr wrap="square" lIns="0" tIns="0" rIns="0" bIns="0" rtlCol="0" anchor="ctr"/>
          <a:lstStyle/>
          <a:p>
            <a:pPr algn="ctr" indent="0" marL="0">
              <a:buNone/>
            </a:pPr>
            <a:r>
              <a:rPr lang="en-US" sz="800" dirty="0">
                <a:solidFill>
                  <a:srgbClr val="11211C"/>
                </a:solidFill>
              </a:rPr>
              <a:t>-1815</a:t>
            </a:r>
            <a:endParaRPr lang="en-US" sz="800" dirty="0"/>
          </a:p>
        </p:txBody>
      </p:sp>
      <p:sp>
        <p:nvSpPr>
          <p:cNvPr id="20" name="Shape 18"/>
          <p:cNvSpPr/>
          <p:nvPr/>
        </p:nvSpPr>
        <p:spPr>
          <a:xfrm>
            <a:off x="4133088" y="2542032"/>
            <a:ext cx="539496" cy="269748"/>
          </a:xfrm>
          <a:prstGeom prst="rect">
            <a:avLst/>
          </a:prstGeom>
          <a:solidFill>
            <a:srgbClr val="3E8E72">
              <a:alpha val="40000"/>
            </a:srgbClr>
          </a:solidFill>
          <a:ln w="3175">
            <a:solidFill>
              <a:srgbClr val="3E8E72">
                <a:alpha val="40000"/>
              </a:srgbClr>
            </a:solidFill>
            <a:prstDash val="solid"/>
          </a:ln>
        </p:spPr>
      </p:sp>
      <p:sp>
        <p:nvSpPr>
          <p:cNvPr id="21" name="Text 19"/>
          <p:cNvSpPr txBox="1"/>
          <p:nvPr/>
        </p:nvSpPr>
        <p:spPr>
          <a:xfrm>
            <a:off x="4133088" y="2542032"/>
            <a:ext cx="539496" cy="269748"/>
          </a:xfrm>
          <a:prstGeom prst="rect">
            <a:avLst/>
          </a:prstGeom>
          <a:noFill/>
          <a:ln/>
        </p:spPr>
        <p:txBody>
          <a:bodyPr wrap="square" lIns="0" tIns="0" rIns="0" bIns="0" rtlCol="0" anchor="ctr"/>
          <a:lstStyle/>
          <a:p>
            <a:pPr algn="ctr" indent="0" marL="0">
              <a:buNone/>
            </a:pPr>
            <a:r>
              <a:rPr lang="en-US" sz="800" dirty="0">
                <a:solidFill>
                  <a:srgbClr val="11211C"/>
                </a:solidFill>
              </a:rPr>
              <a:t>-1816</a:t>
            </a:r>
            <a:endParaRPr lang="en-US" sz="800" dirty="0"/>
          </a:p>
        </p:txBody>
      </p:sp>
      <p:sp>
        <p:nvSpPr>
          <p:cNvPr id="22" name="Shape 20"/>
          <p:cNvSpPr/>
          <p:nvPr/>
        </p:nvSpPr>
        <p:spPr>
          <a:xfrm>
            <a:off x="4700016" y="2542032"/>
            <a:ext cx="539496" cy="269748"/>
          </a:xfrm>
          <a:prstGeom prst="rect">
            <a:avLst/>
          </a:prstGeom>
          <a:solidFill>
            <a:srgbClr val="3E8E72">
              <a:alpha val="37000"/>
            </a:srgbClr>
          </a:solidFill>
          <a:ln w="3175">
            <a:solidFill>
              <a:srgbClr val="3E8E72">
                <a:alpha val="37000"/>
              </a:srgbClr>
            </a:solidFill>
            <a:prstDash val="solid"/>
          </a:ln>
        </p:spPr>
      </p:sp>
      <p:sp>
        <p:nvSpPr>
          <p:cNvPr id="23" name="Text 21"/>
          <p:cNvSpPr txBox="1"/>
          <p:nvPr/>
        </p:nvSpPr>
        <p:spPr>
          <a:xfrm>
            <a:off x="4700016" y="2542032"/>
            <a:ext cx="539496" cy="269748"/>
          </a:xfrm>
          <a:prstGeom prst="rect">
            <a:avLst/>
          </a:prstGeom>
          <a:noFill/>
          <a:ln/>
        </p:spPr>
        <p:txBody>
          <a:bodyPr wrap="square" lIns="0" tIns="0" rIns="0" bIns="0" rtlCol="0" anchor="ctr"/>
          <a:lstStyle/>
          <a:p>
            <a:pPr algn="ctr" indent="0" marL="0">
              <a:buNone/>
            </a:pPr>
            <a:r>
              <a:rPr lang="en-US" sz="800" dirty="0">
                <a:solidFill>
                  <a:srgbClr val="11211C"/>
                </a:solidFill>
              </a:rPr>
              <a:t>-1815</a:t>
            </a:r>
            <a:endParaRPr lang="en-US" sz="800" dirty="0"/>
          </a:p>
        </p:txBody>
      </p:sp>
      <p:sp>
        <p:nvSpPr>
          <p:cNvPr id="24" name="Shape 22"/>
          <p:cNvSpPr/>
          <p:nvPr/>
        </p:nvSpPr>
        <p:spPr>
          <a:xfrm>
            <a:off x="5266944" y="2542032"/>
            <a:ext cx="539496" cy="269748"/>
          </a:xfrm>
          <a:prstGeom prst="rect">
            <a:avLst/>
          </a:prstGeom>
          <a:solidFill>
            <a:srgbClr val="3E8E72">
              <a:alpha val="41000"/>
            </a:srgbClr>
          </a:solidFill>
          <a:ln w="3175">
            <a:solidFill>
              <a:srgbClr val="3E8E72">
                <a:alpha val="41000"/>
              </a:srgbClr>
            </a:solidFill>
            <a:prstDash val="solid"/>
          </a:ln>
        </p:spPr>
      </p:sp>
      <p:sp>
        <p:nvSpPr>
          <p:cNvPr id="25" name="Text 23"/>
          <p:cNvSpPr txBox="1"/>
          <p:nvPr/>
        </p:nvSpPr>
        <p:spPr>
          <a:xfrm>
            <a:off x="5266944" y="2542032"/>
            <a:ext cx="539496" cy="269748"/>
          </a:xfrm>
          <a:prstGeom prst="rect">
            <a:avLst/>
          </a:prstGeom>
          <a:noFill/>
          <a:ln/>
        </p:spPr>
        <p:txBody>
          <a:bodyPr wrap="square" lIns="0" tIns="0" rIns="0" bIns="0" rtlCol="0" anchor="ctr"/>
          <a:lstStyle/>
          <a:p>
            <a:pPr algn="ctr" indent="0" marL="0">
              <a:buNone/>
            </a:pPr>
            <a:r>
              <a:rPr lang="en-US" sz="800" dirty="0">
                <a:solidFill>
                  <a:srgbClr val="11211C"/>
                </a:solidFill>
              </a:rPr>
              <a:t>-1816</a:t>
            </a:r>
            <a:endParaRPr lang="en-US" sz="800" dirty="0"/>
          </a:p>
        </p:txBody>
      </p:sp>
      <p:sp>
        <p:nvSpPr>
          <p:cNvPr id="26" name="Text 24"/>
          <p:cNvSpPr txBox="1"/>
          <p:nvPr/>
        </p:nvSpPr>
        <p:spPr>
          <a:xfrm>
            <a:off x="566928" y="2839212"/>
            <a:ext cx="1225296" cy="297180"/>
          </a:xfrm>
          <a:prstGeom prst="rect">
            <a:avLst/>
          </a:prstGeom>
          <a:noFill/>
          <a:ln/>
        </p:spPr>
        <p:txBody>
          <a:bodyPr wrap="square" lIns="0" tIns="0" rIns="0" bIns="0" rtlCol="0" anchor="ctr"/>
          <a:lstStyle/>
          <a:p>
            <a:pPr indent="0" marL="0">
              <a:buNone/>
            </a:pPr>
            <a:r>
              <a:rPr lang="en-US" sz="950" dirty="0">
                <a:solidFill>
                  <a:srgbClr val="11211C"/>
                </a:solidFill>
              </a:rPr>
              <a:t>medium-graph</a:t>
            </a:r>
            <a:endParaRPr lang="en-US" sz="950" dirty="0"/>
          </a:p>
        </p:txBody>
      </p:sp>
      <p:sp>
        <p:nvSpPr>
          <p:cNvPr id="27" name="Shape 25"/>
          <p:cNvSpPr/>
          <p:nvPr/>
        </p:nvSpPr>
        <p:spPr>
          <a:xfrm>
            <a:off x="1865376" y="2839212"/>
            <a:ext cx="539496" cy="269748"/>
          </a:xfrm>
          <a:prstGeom prst="rect">
            <a:avLst/>
          </a:prstGeom>
          <a:solidFill>
            <a:srgbClr val="3E8E72">
              <a:alpha val="75000"/>
            </a:srgbClr>
          </a:solidFill>
          <a:ln w="3175">
            <a:solidFill>
              <a:srgbClr val="3E8E72">
                <a:alpha val="75000"/>
              </a:srgbClr>
            </a:solidFill>
            <a:prstDash val="solid"/>
          </a:ln>
        </p:spPr>
      </p:sp>
      <p:sp>
        <p:nvSpPr>
          <p:cNvPr id="28" name="Text 26"/>
          <p:cNvSpPr txBox="1"/>
          <p:nvPr/>
        </p:nvSpPr>
        <p:spPr>
          <a:xfrm>
            <a:off x="1865376" y="2839212"/>
            <a:ext cx="539496" cy="269748"/>
          </a:xfrm>
          <a:prstGeom prst="rect">
            <a:avLst/>
          </a:prstGeom>
          <a:noFill/>
          <a:ln/>
        </p:spPr>
        <p:txBody>
          <a:bodyPr wrap="square" lIns="0" tIns="0" rIns="0" bIns="0" rtlCol="0" anchor="ctr"/>
          <a:lstStyle/>
          <a:p>
            <a:pPr algn="ctr" indent="0" marL="0">
              <a:buNone/>
            </a:pPr>
            <a:r>
              <a:rPr lang="en-US" sz="800" dirty="0">
                <a:solidFill>
                  <a:srgbClr val="FFFFFF"/>
                </a:solidFill>
              </a:rPr>
              <a:t>-1663</a:t>
            </a:r>
            <a:endParaRPr lang="en-US" sz="800" dirty="0"/>
          </a:p>
        </p:txBody>
      </p:sp>
      <p:sp>
        <p:nvSpPr>
          <p:cNvPr id="29" name="Shape 27"/>
          <p:cNvSpPr/>
          <p:nvPr/>
        </p:nvSpPr>
        <p:spPr>
          <a:xfrm>
            <a:off x="2432304" y="2839212"/>
            <a:ext cx="539496" cy="269748"/>
          </a:xfrm>
          <a:prstGeom prst="rect">
            <a:avLst/>
          </a:prstGeom>
          <a:solidFill>
            <a:srgbClr val="3E8E72">
              <a:alpha val="88000"/>
            </a:srgbClr>
          </a:solidFill>
          <a:ln w="19050">
            <a:solidFill>
              <a:srgbClr val="1F3A33"/>
            </a:solidFill>
            <a:prstDash val="solid"/>
          </a:ln>
        </p:spPr>
      </p:sp>
      <p:sp>
        <p:nvSpPr>
          <p:cNvPr id="30" name="Text 28"/>
          <p:cNvSpPr txBox="1"/>
          <p:nvPr/>
        </p:nvSpPr>
        <p:spPr>
          <a:xfrm>
            <a:off x="2432304" y="2839212"/>
            <a:ext cx="539496" cy="269748"/>
          </a:xfrm>
          <a:prstGeom prst="rect">
            <a:avLst/>
          </a:prstGeom>
          <a:noFill/>
          <a:ln/>
        </p:spPr>
        <p:txBody>
          <a:bodyPr wrap="square" lIns="0" tIns="0" rIns="0" bIns="0" rtlCol="0" anchor="ctr"/>
          <a:lstStyle/>
          <a:p>
            <a:pPr algn="ctr" indent="0" marL="0">
              <a:buNone/>
            </a:pPr>
            <a:r>
              <a:rPr lang="en-US" sz="800" b="1" dirty="0">
                <a:solidFill>
                  <a:srgbClr val="FFFFFF"/>
                </a:solidFill>
              </a:rPr>
              <a:t>-1682</a:t>
            </a:r>
            <a:endParaRPr lang="en-US" sz="800" dirty="0"/>
          </a:p>
        </p:txBody>
      </p:sp>
      <p:sp>
        <p:nvSpPr>
          <p:cNvPr id="31" name="Shape 29"/>
          <p:cNvSpPr/>
          <p:nvPr/>
        </p:nvSpPr>
        <p:spPr>
          <a:xfrm>
            <a:off x="2999232" y="2839212"/>
            <a:ext cx="539496" cy="269748"/>
          </a:xfrm>
          <a:prstGeom prst="rect">
            <a:avLst/>
          </a:prstGeom>
          <a:solidFill>
            <a:srgbClr val="3E8E72">
              <a:alpha val="8000"/>
            </a:srgbClr>
          </a:solidFill>
          <a:ln w="3175">
            <a:solidFill>
              <a:srgbClr val="3E8E72">
                <a:alpha val="8000"/>
              </a:srgbClr>
            </a:solidFill>
            <a:prstDash val="solid"/>
          </a:ln>
        </p:spPr>
      </p:sp>
      <p:sp>
        <p:nvSpPr>
          <p:cNvPr id="32" name="Text 30"/>
          <p:cNvSpPr txBox="1"/>
          <p:nvPr/>
        </p:nvSpPr>
        <p:spPr>
          <a:xfrm>
            <a:off x="2999232" y="2839212"/>
            <a:ext cx="539496" cy="269748"/>
          </a:xfrm>
          <a:prstGeom prst="rect">
            <a:avLst/>
          </a:prstGeom>
          <a:noFill/>
          <a:ln/>
        </p:spPr>
        <p:txBody>
          <a:bodyPr wrap="square" lIns="0" tIns="0" rIns="0" bIns="0" rtlCol="0" anchor="ctr"/>
          <a:lstStyle/>
          <a:p>
            <a:pPr algn="ctr" indent="0" marL="0">
              <a:buNone/>
            </a:pPr>
            <a:r>
              <a:rPr lang="en-US" sz="800" dirty="0">
                <a:solidFill>
                  <a:srgbClr val="11211C"/>
                </a:solidFill>
              </a:rPr>
              <a:t>-1567</a:t>
            </a:r>
            <a:endParaRPr lang="en-US" sz="800" dirty="0"/>
          </a:p>
        </p:txBody>
      </p:sp>
      <p:sp>
        <p:nvSpPr>
          <p:cNvPr id="33" name="Shape 31"/>
          <p:cNvSpPr/>
          <p:nvPr/>
        </p:nvSpPr>
        <p:spPr>
          <a:xfrm>
            <a:off x="3566160" y="2839212"/>
            <a:ext cx="539496" cy="269748"/>
          </a:xfrm>
          <a:prstGeom prst="rect">
            <a:avLst/>
          </a:prstGeom>
          <a:solidFill>
            <a:srgbClr val="3E8E72">
              <a:alpha val="38000"/>
            </a:srgbClr>
          </a:solidFill>
          <a:ln w="3175">
            <a:solidFill>
              <a:srgbClr val="3E8E72">
                <a:alpha val="38000"/>
              </a:srgbClr>
            </a:solidFill>
            <a:prstDash val="solid"/>
          </a:ln>
        </p:spPr>
      </p:sp>
      <p:sp>
        <p:nvSpPr>
          <p:cNvPr id="34" name="Text 32"/>
          <p:cNvSpPr txBox="1"/>
          <p:nvPr/>
        </p:nvSpPr>
        <p:spPr>
          <a:xfrm>
            <a:off x="3566160" y="2839212"/>
            <a:ext cx="539496" cy="269748"/>
          </a:xfrm>
          <a:prstGeom prst="rect">
            <a:avLst/>
          </a:prstGeom>
          <a:noFill/>
          <a:ln/>
        </p:spPr>
        <p:txBody>
          <a:bodyPr wrap="square" lIns="0" tIns="0" rIns="0" bIns="0" rtlCol="0" anchor="ctr"/>
          <a:lstStyle/>
          <a:p>
            <a:pPr algn="ctr" indent="0" marL="0">
              <a:buNone/>
            </a:pPr>
            <a:r>
              <a:rPr lang="en-US" sz="800" dirty="0">
                <a:solidFill>
                  <a:srgbClr val="11211C"/>
                </a:solidFill>
              </a:rPr>
              <a:t>-1610</a:t>
            </a:r>
            <a:endParaRPr lang="en-US" sz="800" dirty="0"/>
          </a:p>
        </p:txBody>
      </p:sp>
      <p:sp>
        <p:nvSpPr>
          <p:cNvPr id="35" name="Shape 33"/>
          <p:cNvSpPr/>
          <p:nvPr/>
        </p:nvSpPr>
        <p:spPr>
          <a:xfrm>
            <a:off x="4133088" y="2839212"/>
            <a:ext cx="539496" cy="269748"/>
          </a:xfrm>
          <a:prstGeom prst="rect">
            <a:avLst/>
          </a:prstGeom>
          <a:solidFill>
            <a:srgbClr val="3E8E72">
              <a:alpha val="38000"/>
            </a:srgbClr>
          </a:solidFill>
          <a:ln w="3175">
            <a:solidFill>
              <a:srgbClr val="3E8E72">
                <a:alpha val="38000"/>
              </a:srgbClr>
            </a:solidFill>
            <a:prstDash val="solid"/>
          </a:ln>
        </p:spPr>
      </p:sp>
      <p:sp>
        <p:nvSpPr>
          <p:cNvPr id="36" name="Text 34"/>
          <p:cNvSpPr txBox="1"/>
          <p:nvPr/>
        </p:nvSpPr>
        <p:spPr>
          <a:xfrm>
            <a:off x="4133088" y="2839212"/>
            <a:ext cx="539496" cy="269748"/>
          </a:xfrm>
          <a:prstGeom prst="rect">
            <a:avLst/>
          </a:prstGeom>
          <a:noFill/>
          <a:ln/>
        </p:spPr>
        <p:txBody>
          <a:bodyPr wrap="square" lIns="0" tIns="0" rIns="0" bIns="0" rtlCol="0" anchor="ctr"/>
          <a:lstStyle/>
          <a:p>
            <a:pPr algn="ctr" indent="0" marL="0">
              <a:buNone/>
            </a:pPr>
            <a:r>
              <a:rPr lang="en-US" sz="800" dirty="0">
                <a:solidFill>
                  <a:srgbClr val="11211C"/>
                </a:solidFill>
              </a:rPr>
              <a:t>-1609</a:t>
            </a:r>
            <a:endParaRPr lang="en-US" sz="800" dirty="0"/>
          </a:p>
        </p:txBody>
      </p:sp>
      <p:sp>
        <p:nvSpPr>
          <p:cNvPr id="37" name="Shape 35"/>
          <p:cNvSpPr/>
          <p:nvPr/>
        </p:nvSpPr>
        <p:spPr>
          <a:xfrm>
            <a:off x="4700016" y="2839212"/>
            <a:ext cx="539496" cy="269748"/>
          </a:xfrm>
          <a:prstGeom prst="rect">
            <a:avLst/>
          </a:prstGeom>
          <a:solidFill>
            <a:srgbClr val="3E8E72">
              <a:alpha val="41000"/>
            </a:srgbClr>
          </a:solidFill>
          <a:ln w="3175">
            <a:solidFill>
              <a:srgbClr val="3E8E72">
                <a:alpha val="41000"/>
              </a:srgbClr>
            </a:solidFill>
            <a:prstDash val="solid"/>
          </a:ln>
        </p:spPr>
      </p:sp>
      <p:sp>
        <p:nvSpPr>
          <p:cNvPr id="38" name="Text 36"/>
          <p:cNvSpPr txBox="1"/>
          <p:nvPr/>
        </p:nvSpPr>
        <p:spPr>
          <a:xfrm>
            <a:off x="4700016" y="2839212"/>
            <a:ext cx="539496" cy="269748"/>
          </a:xfrm>
          <a:prstGeom prst="rect">
            <a:avLst/>
          </a:prstGeom>
          <a:noFill/>
          <a:ln/>
        </p:spPr>
        <p:txBody>
          <a:bodyPr wrap="square" lIns="0" tIns="0" rIns="0" bIns="0" rtlCol="0" anchor="ctr"/>
          <a:lstStyle/>
          <a:p>
            <a:pPr algn="ctr" indent="0" marL="0">
              <a:buNone/>
            </a:pPr>
            <a:r>
              <a:rPr lang="en-US" sz="800" dirty="0">
                <a:solidFill>
                  <a:srgbClr val="11211C"/>
                </a:solidFill>
              </a:rPr>
              <a:t>-1615</a:t>
            </a:r>
            <a:endParaRPr lang="en-US" sz="800" dirty="0"/>
          </a:p>
        </p:txBody>
      </p:sp>
      <p:sp>
        <p:nvSpPr>
          <p:cNvPr id="39" name="Shape 37"/>
          <p:cNvSpPr/>
          <p:nvPr/>
        </p:nvSpPr>
        <p:spPr>
          <a:xfrm>
            <a:off x="5266944" y="2839212"/>
            <a:ext cx="539496" cy="269748"/>
          </a:xfrm>
          <a:prstGeom prst="rect">
            <a:avLst/>
          </a:prstGeom>
          <a:solidFill>
            <a:srgbClr val="3E8E72">
              <a:alpha val="39000"/>
            </a:srgbClr>
          </a:solidFill>
          <a:ln w="3175">
            <a:solidFill>
              <a:srgbClr val="3E8E72">
                <a:alpha val="39000"/>
              </a:srgbClr>
            </a:solidFill>
            <a:prstDash val="solid"/>
          </a:ln>
        </p:spPr>
      </p:sp>
      <p:sp>
        <p:nvSpPr>
          <p:cNvPr id="40" name="Text 38"/>
          <p:cNvSpPr txBox="1"/>
          <p:nvPr/>
        </p:nvSpPr>
        <p:spPr>
          <a:xfrm>
            <a:off x="5266944" y="2839212"/>
            <a:ext cx="539496" cy="269748"/>
          </a:xfrm>
          <a:prstGeom prst="rect">
            <a:avLst/>
          </a:prstGeom>
          <a:noFill/>
          <a:ln/>
        </p:spPr>
        <p:txBody>
          <a:bodyPr wrap="square" lIns="0" tIns="0" rIns="0" bIns="0" rtlCol="0" anchor="ctr"/>
          <a:lstStyle/>
          <a:p>
            <a:pPr algn="ctr" indent="0" marL="0">
              <a:buNone/>
            </a:pPr>
            <a:r>
              <a:rPr lang="en-US" sz="800" dirty="0">
                <a:solidFill>
                  <a:srgbClr val="11211C"/>
                </a:solidFill>
              </a:rPr>
              <a:t>-1612</a:t>
            </a:r>
            <a:endParaRPr lang="en-US" sz="800" dirty="0"/>
          </a:p>
        </p:txBody>
      </p:sp>
      <p:sp>
        <p:nvSpPr>
          <p:cNvPr id="41" name="Text 39"/>
          <p:cNvSpPr txBox="1"/>
          <p:nvPr/>
        </p:nvSpPr>
        <p:spPr>
          <a:xfrm>
            <a:off x="566928" y="3136392"/>
            <a:ext cx="1225296" cy="297180"/>
          </a:xfrm>
          <a:prstGeom prst="rect">
            <a:avLst/>
          </a:prstGeom>
          <a:noFill/>
          <a:ln/>
        </p:spPr>
        <p:txBody>
          <a:bodyPr wrap="square" lIns="0" tIns="0" rIns="0" bIns="0" rtlCol="0" anchor="ctr"/>
          <a:lstStyle/>
          <a:p>
            <a:pPr indent="0" marL="0">
              <a:buNone/>
            </a:pPr>
            <a:r>
              <a:rPr lang="en-US" sz="950" dirty="0">
                <a:solidFill>
                  <a:srgbClr val="11211C"/>
                </a:solidFill>
              </a:rPr>
              <a:t>large-graph</a:t>
            </a:r>
            <a:endParaRPr lang="en-US" sz="950" dirty="0"/>
          </a:p>
        </p:txBody>
      </p:sp>
      <p:sp>
        <p:nvSpPr>
          <p:cNvPr id="42" name="Shape 40"/>
          <p:cNvSpPr/>
          <p:nvPr/>
        </p:nvSpPr>
        <p:spPr>
          <a:xfrm>
            <a:off x="1865376" y="3136392"/>
            <a:ext cx="539496" cy="269748"/>
          </a:xfrm>
          <a:prstGeom prst="rect">
            <a:avLst/>
          </a:prstGeom>
          <a:solidFill>
            <a:srgbClr val="3E8E72">
              <a:alpha val="88000"/>
            </a:srgbClr>
          </a:solidFill>
          <a:ln w="19050">
            <a:solidFill>
              <a:srgbClr val="1F3A33"/>
            </a:solidFill>
            <a:prstDash val="solid"/>
          </a:ln>
        </p:spPr>
      </p:sp>
      <p:sp>
        <p:nvSpPr>
          <p:cNvPr id="43" name="Text 41"/>
          <p:cNvSpPr txBox="1"/>
          <p:nvPr/>
        </p:nvSpPr>
        <p:spPr>
          <a:xfrm>
            <a:off x="1865376" y="3136392"/>
            <a:ext cx="539496" cy="269748"/>
          </a:xfrm>
          <a:prstGeom prst="rect">
            <a:avLst/>
          </a:prstGeom>
          <a:noFill/>
          <a:ln/>
        </p:spPr>
        <p:txBody>
          <a:bodyPr wrap="square" lIns="0" tIns="0" rIns="0" bIns="0" rtlCol="0" anchor="ctr"/>
          <a:lstStyle/>
          <a:p>
            <a:pPr algn="ctr" indent="0" marL="0">
              <a:buNone/>
            </a:pPr>
            <a:r>
              <a:rPr lang="en-US" sz="800" b="1" dirty="0">
                <a:solidFill>
                  <a:srgbClr val="FFFFFF"/>
                </a:solidFill>
              </a:rPr>
              <a:t>-5329</a:t>
            </a:r>
            <a:endParaRPr lang="en-US" sz="800" dirty="0"/>
          </a:p>
        </p:txBody>
      </p:sp>
      <p:sp>
        <p:nvSpPr>
          <p:cNvPr id="44" name="Shape 42"/>
          <p:cNvSpPr/>
          <p:nvPr/>
        </p:nvSpPr>
        <p:spPr>
          <a:xfrm>
            <a:off x="2432304" y="3136392"/>
            <a:ext cx="539496" cy="269748"/>
          </a:xfrm>
          <a:prstGeom prst="rect">
            <a:avLst/>
          </a:prstGeom>
          <a:solidFill>
            <a:srgbClr val="3E8E72">
              <a:alpha val="14000"/>
            </a:srgbClr>
          </a:solidFill>
          <a:ln w="3175">
            <a:solidFill>
              <a:srgbClr val="3E8E72">
                <a:alpha val="14000"/>
              </a:srgbClr>
            </a:solidFill>
            <a:prstDash val="solid"/>
          </a:ln>
        </p:spPr>
      </p:sp>
      <p:sp>
        <p:nvSpPr>
          <p:cNvPr id="45" name="Text 43"/>
          <p:cNvSpPr txBox="1"/>
          <p:nvPr/>
        </p:nvSpPr>
        <p:spPr>
          <a:xfrm>
            <a:off x="2432304" y="3136392"/>
            <a:ext cx="539496" cy="269748"/>
          </a:xfrm>
          <a:prstGeom prst="rect">
            <a:avLst/>
          </a:prstGeom>
          <a:noFill/>
          <a:ln/>
        </p:spPr>
        <p:txBody>
          <a:bodyPr wrap="square" lIns="0" tIns="0" rIns="0" bIns="0" rtlCol="0" anchor="ctr"/>
          <a:lstStyle/>
          <a:p>
            <a:pPr algn="ctr" indent="0" marL="0">
              <a:buNone/>
            </a:pPr>
            <a:r>
              <a:rPr lang="en-US" sz="800" dirty="0">
                <a:solidFill>
                  <a:srgbClr val="11211C"/>
                </a:solidFill>
              </a:rPr>
              <a:t>-4837</a:t>
            </a:r>
            <a:endParaRPr lang="en-US" sz="800" dirty="0"/>
          </a:p>
        </p:txBody>
      </p:sp>
      <p:sp>
        <p:nvSpPr>
          <p:cNvPr id="46" name="Shape 44"/>
          <p:cNvSpPr/>
          <p:nvPr/>
        </p:nvSpPr>
        <p:spPr>
          <a:xfrm>
            <a:off x="2999232" y="3136392"/>
            <a:ext cx="539496" cy="269748"/>
          </a:xfrm>
          <a:prstGeom prst="rect">
            <a:avLst/>
          </a:prstGeom>
          <a:solidFill>
            <a:srgbClr val="F2EDE9"/>
          </a:solidFill>
          <a:ln w="6350">
            <a:solidFill>
              <a:srgbClr val="E4D5CC"/>
            </a:solidFill>
            <a:prstDash val="solid"/>
          </a:ln>
        </p:spPr>
      </p:sp>
      <p:sp>
        <p:nvSpPr>
          <p:cNvPr id="47" name="Text 45"/>
          <p:cNvSpPr txBox="1"/>
          <p:nvPr/>
        </p:nvSpPr>
        <p:spPr>
          <a:xfrm>
            <a:off x="2999232" y="3136392"/>
            <a:ext cx="539496" cy="269748"/>
          </a:xfrm>
          <a:prstGeom prst="rect">
            <a:avLst/>
          </a:prstGeom>
          <a:noFill/>
          <a:ln/>
        </p:spPr>
        <p:txBody>
          <a:bodyPr wrap="square" lIns="0" tIns="0" rIns="0" bIns="0" rtlCol="0" anchor="ctr"/>
          <a:lstStyle/>
          <a:p>
            <a:pPr algn="ctr" indent="0" marL="0">
              <a:buNone/>
            </a:pPr>
            <a:r>
              <a:rPr lang="en-US" sz="750" i="1" dirty="0">
                <a:solidFill>
                  <a:srgbClr val="C0603C"/>
                </a:solidFill>
              </a:rPr>
              <a:t>none</a:t>
            </a:r>
            <a:endParaRPr lang="en-US" sz="750" dirty="0"/>
          </a:p>
        </p:txBody>
      </p:sp>
      <p:sp>
        <p:nvSpPr>
          <p:cNvPr id="48" name="Shape 46"/>
          <p:cNvSpPr/>
          <p:nvPr/>
        </p:nvSpPr>
        <p:spPr>
          <a:xfrm>
            <a:off x="3566160" y="3136392"/>
            <a:ext cx="539496" cy="269748"/>
          </a:xfrm>
          <a:prstGeom prst="rect">
            <a:avLst/>
          </a:prstGeom>
          <a:solidFill>
            <a:srgbClr val="3E8E72">
              <a:alpha val="8000"/>
            </a:srgbClr>
          </a:solidFill>
          <a:ln w="3175">
            <a:solidFill>
              <a:srgbClr val="3E8E72">
                <a:alpha val="8000"/>
              </a:srgbClr>
            </a:solidFill>
            <a:prstDash val="solid"/>
          </a:ln>
        </p:spPr>
      </p:sp>
      <p:sp>
        <p:nvSpPr>
          <p:cNvPr id="49" name="Text 47"/>
          <p:cNvSpPr txBox="1"/>
          <p:nvPr/>
        </p:nvSpPr>
        <p:spPr>
          <a:xfrm>
            <a:off x="3566160" y="3136392"/>
            <a:ext cx="539496" cy="269748"/>
          </a:xfrm>
          <a:prstGeom prst="rect">
            <a:avLst/>
          </a:prstGeom>
          <a:noFill/>
          <a:ln/>
        </p:spPr>
        <p:txBody>
          <a:bodyPr wrap="square" lIns="0" tIns="0" rIns="0" bIns="0" rtlCol="0" anchor="ctr"/>
          <a:lstStyle/>
          <a:p>
            <a:pPr algn="ctr" indent="0" marL="0">
              <a:buNone/>
            </a:pPr>
            <a:r>
              <a:rPr lang="en-US" sz="800" dirty="0">
                <a:solidFill>
                  <a:srgbClr val="11211C"/>
                </a:solidFill>
              </a:rPr>
              <a:t>-4799</a:t>
            </a:r>
            <a:endParaRPr lang="en-US" sz="800" dirty="0"/>
          </a:p>
        </p:txBody>
      </p:sp>
      <p:sp>
        <p:nvSpPr>
          <p:cNvPr id="50" name="Shape 48"/>
          <p:cNvSpPr/>
          <p:nvPr/>
        </p:nvSpPr>
        <p:spPr>
          <a:xfrm>
            <a:off x="4133088" y="3136392"/>
            <a:ext cx="539496" cy="269748"/>
          </a:xfrm>
          <a:prstGeom prst="rect">
            <a:avLst/>
          </a:prstGeom>
          <a:solidFill>
            <a:srgbClr val="3E8E72">
              <a:alpha val="11000"/>
            </a:srgbClr>
          </a:solidFill>
          <a:ln w="3175">
            <a:solidFill>
              <a:srgbClr val="3E8E72">
                <a:alpha val="11000"/>
              </a:srgbClr>
            </a:solidFill>
            <a:prstDash val="solid"/>
          </a:ln>
        </p:spPr>
      </p:sp>
      <p:sp>
        <p:nvSpPr>
          <p:cNvPr id="51" name="Text 49"/>
          <p:cNvSpPr txBox="1"/>
          <p:nvPr/>
        </p:nvSpPr>
        <p:spPr>
          <a:xfrm>
            <a:off x="4133088" y="3136392"/>
            <a:ext cx="539496" cy="269748"/>
          </a:xfrm>
          <a:prstGeom prst="rect">
            <a:avLst/>
          </a:prstGeom>
          <a:noFill/>
          <a:ln/>
        </p:spPr>
        <p:txBody>
          <a:bodyPr wrap="square" lIns="0" tIns="0" rIns="0" bIns="0" rtlCol="0" anchor="ctr"/>
          <a:lstStyle/>
          <a:p>
            <a:pPr algn="ctr" indent="0" marL="0">
              <a:buNone/>
            </a:pPr>
            <a:r>
              <a:rPr lang="en-US" sz="800" dirty="0">
                <a:solidFill>
                  <a:srgbClr val="11211C"/>
                </a:solidFill>
              </a:rPr>
              <a:t>-4819</a:t>
            </a:r>
            <a:endParaRPr lang="en-US" sz="800" dirty="0"/>
          </a:p>
        </p:txBody>
      </p:sp>
      <p:sp>
        <p:nvSpPr>
          <p:cNvPr id="52" name="Shape 50"/>
          <p:cNvSpPr/>
          <p:nvPr/>
        </p:nvSpPr>
        <p:spPr>
          <a:xfrm>
            <a:off x="4700016" y="3136392"/>
            <a:ext cx="539496" cy="269748"/>
          </a:xfrm>
          <a:prstGeom prst="rect">
            <a:avLst/>
          </a:prstGeom>
          <a:solidFill>
            <a:srgbClr val="3E8E72">
              <a:alpha val="9000"/>
            </a:srgbClr>
          </a:solidFill>
          <a:ln w="3175">
            <a:solidFill>
              <a:srgbClr val="3E8E72">
                <a:alpha val="9000"/>
              </a:srgbClr>
            </a:solidFill>
            <a:prstDash val="solid"/>
          </a:ln>
        </p:spPr>
      </p:sp>
      <p:sp>
        <p:nvSpPr>
          <p:cNvPr id="53" name="Text 51"/>
          <p:cNvSpPr txBox="1"/>
          <p:nvPr/>
        </p:nvSpPr>
        <p:spPr>
          <a:xfrm>
            <a:off x="4700016" y="3136392"/>
            <a:ext cx="539496" cy="269748"/>
          </a:xfrm>
          <a:prstGeom prst="rect">
            <a:avLst/>
          </a:prstGeom>
          <a:noFill/>
          <a:ln/>
        </p:spPr>
        <p:txBody>
          <a:bodyPr wrap="square" lIns="0" tIns="0" rIns="0" bIns="0" rtlCol="0" anchor="ctr"/>
          <a:lstStyle/>
          <a:p>
            <a:pPr algn="ctr" indent="0" marL="0">
              <a:buNone/>
            </a:pPr>
            <a:r>
              <a:rPr lang="en-US" sz="800" dirty="0">
                <a:solidFill>
                  <a:srgbClr val="11211C"/>
                </a:solidFill>
              </a:rPr>
              <a:t>-4802</a:t>
            </a:r>
            <a:endParaRPr lang="en-US" sz="800" dirty="0"/>
          </a:p>
        </p:txBody>
      </p:sp>
      <p:sp>
        <p:nvSpPr>
          <p:cNvPr id="54" name="Shape 52"/>
          <p:cNvSpPr/>
          <p:nvPr/>
        </p:nvSpPr>
        <p:spPr>
          <a:xfrm>
            <a:off x="5266944" y="3136392"/>
            <a:ext cx="539496" cy="269748"/>
          </a:xfrm>
          <a:prstGeom prst="rect">
            <a:avLst/>
          </a:prstGeom>
          <a:solidFill>
            <a:srgbClr val="3E8E72">
              <a:alpha val="28000"/>
            </a:srgbClr>
          </a:solidFill>
          <a:ln w="3175">
            <a:solidFill>
              <a:srgbClr val="3E8E72">
                <a:alpha val="28000"/>
              </a:srgbClr>
            </a:solidFill>
            <a:prstDash val="solid"/>
          </a:ln>
        </p:spPr>
      </p:sp>
      <p:sp>
        <p:nvSpPr>
          <p:cNvPr id="55" name="Text 53"/>
          <p:cNvSpPr txBox="1"/>
          <p:nvPr/>
        </p:nvSpPr>
        <p:spPr>
          <a:xfrm>
            <a:off x="5266944" y="3136392"/>
            <a:ext cx="539496" cy="269748"/>
          </a:xfrm>
          <a:prstGeom prst="rect">
            <a:avLst/>
          </a:prstGeom>
          <a:noFill/>
          <a:ln/>
        </p:spPr>
        <p:txBody>
          <a:bodyPr wrap="square" lIns="0" tIns="0" rIns="0" bIns="0" rtlCol="0" anchor="ctr"/>
          <a:lstStyle/>
          <a:p>
            <a:pPr algn="ctr" indent="0" marL="0">
              <a:buNone/>
            </a:pPr>
            <a:r>
              <a:rPr lang="en-US" sz="800" dirty="0">
                <a:solidFill>
                  <a:srgbClr val="11211C"/>
                </a:solidFill>
              </a:rPr>
              <a:t>-4932</a:t>
            </a:r>
            <a:endParaRPr lang="en-US" sz="800" dirty="0"/>
          </a:p>
        </p:txBody>
      </p:sp>
      <p:sp>
        <p:nvSpPr>
          <p:cNvPr id="56" name="Text 54"/>
          <p:cNvSpPr txBox="1"/>
          <p:nvPr/>
        </p:nvSpPr>
        <p:spPr>
          <a:xfrm>
            <a:off x="566928" y="3433572"/>
            <a:ext cx="1225296" cy="297180"/>
          </a:xfrm>
          <a:prstGeom prst="rect">
            <a:avLst/>
          </a:prstGeom>
          <a:noFill/>
          <a:ln/>
        </p:spPr>
        <p:txBody>
          <a:bodyPr wrap="square" lIns="0" tIns="0" rIns="0" bIns="0" rtlCol="0" anchor="ctr"/>
          <a:lstStyle/>
          <a:p>
            <a:pPr indent="0" marL="0">
              <a:buNone/>
            </a:pPr>
            <a:r>
              <a:rPr lang="en-US" sz="950" dirty="0">
                <a:solidFill>
                  <a:srgbClr val="11211C"/>
                </a:solidFill>
              </a:rPr>
              <a:t>synth-1</a:t>
            </a:r>
            <a:endParaRPr lang="en-US" sz="950" dirty="0"/>
          </a:p>
        </p:txBody>
      </p:sp>
      <p:sp>
        <p:nvSpPr>
          <p:cNvPr id="57" name="Shape 55"/>
          <p:cNvSpPr/>
          <p:nvPr/>
        </p:nvSpPr>
        <p:spPr>
          <a:xfrm>
            <a:off x="1865376" y="3433572"/>
            <a:ext cx="539496" cy="269748"/>
          </a:xfrm>
          <a:prstGeom prst="rect">
            <a:avLst/>
          </a:prstGeom>
          <a:solidFill>
            <a:srgbClr val="3E8E72">
              <a:alpha val="8000"/>
            </a:srgbClr>
          </a:solidFill>
          <a:ln w="3175">
            <a:solidFill>
              <a:srgbClr val="3E8E72">
                <a:alpha val="8000"/>
              </a:srgbClr>
            </a:solidFill>
            <a:prstDash val="solid"/>
          </a:ln>
        </p:spPr>
      </p:sp>
      <p:sp>
        <p:nvSpPr>
          <p:cNvPr id="58" name="Text 56"/>
          <p:cNvSpPr txBox="1"/>
          <p:nvPr/>
        </p:nvSpPr>
        <p:spPr>
          <a:xfrm>
            <a:off x="1865376" y="3433572"/>
            <a:ext cx="539496" cy="269748"/>
          </a:xfrm>
          <a:prstGeom prst="rect">
            <a:avLst/>
          </a:prstGeom>
          <a:noFill/>
          <a:ln/>
        </p:spPr>
        <p:txBody>
          <a:bodyPr wrap="square" lIns="0" tIns="0" rIns="0" bIns="0" rtlCol="0" anchor="ctr"/>
          <a:lstStyle/>
          <a:p>
            <a:pPr algn="ctr" indent="0" marL="0">
              <a:buNone/>
            </a:pPr>
            <a:r>
              <a:rPr lang="en-US" sz="800" dirty="0">
                <a:solidFill>
                  <a:srgbClr val="11211C"/>
                </a:solidFill>
              </a:rPr>
              <a:t>-1805</a:t>
            </a:r>
            <a:endParaRPr lang="en-US" sz="800" dirty="0"/>
          </a:p>
        </p:txBody>
      </p:sp>
      <p:sp>
        <p:nvSpPr>
          <p:cNvPr id="59" name="Shape 57"/>
          <p:cNvSpPr/>
          <p:nvPr/>
        </p:nvSpPr>
        <p:spPr>
          <a:xfrm>
            <a:off x="2432304" y="3433572"/>
            <a:ext cx="539496" cy="269748"/>
          </a:xfrm>
          <a:prstGeom prst="rect">
            <a:avLst/>
          </a:prstGeom>
          <a:solidFill>
            <a:srgbClr val="3E8E72">
              <a:alpha val="76000"/>
            </a:srgbClr>
          </a:solidFill>
          <a:ln w="3175">
            <a:solidFill>
              <a:srgbClr val="3E8E72">
                <a:alpha val="76000"/>
              </a:srgbClr>
            </a:solidFill>
            <a:prstDash val="solid"/>
          </a:ln>
        </p:spPr>
      </p:sp>
      <p:sp>
        <p:nvSpPr>
          <p:cNvPr id="60" name="Text 58"/>
          <p:cNvSpPr txBox="1"/>
          <p:nvPr/>
        </p:nvSpPr>
        <p:spPr>
          <a:xfrm>
            <a:off x="2432304" y="3433572"/>
            <a:ext cx="539496" cy="269748"/>
          </a:xfrm>
          <a:prstGeom prst="rect">
            <a:avLst/>
          </a:prstGeom>
          <a:noFill/>
          <a:ln/>
        </p:spPr>
        <p:txBody>
          <a:bodyPr wrap="square" lIns="0" tIns="0" rIns="0" bIns="0" rtlCol="0" anchor="ctr"/>
          <a:lstStyle/>
          <a:p>
            <a:pPr algn="ctr" indent="0" marL="0">
              <a:buNone/>
            </a:pPr>
            <a:r>
              <a:rPr lang="en-US" sz="800" dirty="0">
                <a:solidFill>
                  <a:srgbClr val="FFFFFF"/>
                </a:solidFill>
              </a:rPr>
              <a:t>-1819</a:t>
            </a:r>
            <a:endParaRPr lang="en-US" sz="800" dirty="0"/>
          </a:p>
        </p:txBody>
      </p:sp>
      <p:sp>
        <p:nvSpPr>
          <p:cNvPr id="61" name="Shape 59"/>
          <p:cNvSpPr/>
          <p:nvPr/>
        </p:nvSpPr>
        <p:spPr>
          <a:xfrm>
            <a:off x="2999232" y="3433572"/>
            <a:ext cx="539496" cy="269748"/>
          </a:xfrm>
          <a:prstGeom prst="rect">
            <a:avLst/>
          </a:prstGeom>
          <a:solidFill>
            <a:srgbClr val="3E8E72">
              <a:alpha val="67000"/>
            </a:srgbClr>
          </a:solidFill>
          <a:ln w="3175">
            <a:solidFill>
              <a:srgbClr val="3E8E72">
                <a:alpha val="67000"/>
              </a:srgbClr>
            </a:solidFill>
            <a:prstDash val="solid"/>
          </a:ln>
        </p:spPr>
      </p:sp>
      <p:sp>
        <p:nvSpPr>
          <p:cNvPr id="62" name="Text 60"/>
          <p:cNvSpPr txBox="1"/>
          <p:nvPr/>
        </p:nvSpPr>
        <p:spPr>
          <a:xfrm>
            <a:off x="2999232" y="3433572"/>
            <a:ext cx="539496" cy="269748"/>
          </a:xfrm>
          <a:prstGeom prst="rect">
            <a:avLst/>
          </a:prstGeom>
          <a:noFill/>
          <a:ln/>
        </p:spPr>
        <p:txBody>
          <a:bodyPr wrap="square" lIns="0" tIns="0" rIns="0" bIns="0" rtlCol="0" anchor="ctr"/>
          <a:lstStyle/>
          <a:p>
            <a:pPr algn="ctr" indent="0" marL="0">
              <a:buNone/>
            </a:pPr>
            <a:r>
              <a:rPr lang="en-US" sz="800" dirty="0">
                <a:solidFill>
                  <a:srgbClr val="FFFFFF"/>
                </a:solidFill>
              </a:rPr>
              <a:t>-1817</a:t>
            </a:r>
            <a:endParaRPr lang="en-US" sz="800" dirty="0"/>
          </a:p>
        </p:txBody>
      </p:sp>
      <p:sp>
        <p:nvSpPr>
          <p:cNvPr id="63" name="Shape 61"/>
          <p:cNvSpPr/>
          <p:nvPr/>
        </p:nvSpPr>
        <p:spPr>
          <a:xfrm>
            <a:off x="3566160" y="3433572"/>
            <a:ext cx="539496" cy="269748"/>
          </a:xfrm>
          <a:prstGeom prst="rect">
            <a:avLst/>
          </a:prstGeom>
          <a:solidFill>
            <a:srgbClr val="3E8E72">
              <a:alpha val="88000"/>
            </a:srgbClr>
          </a:solidFill>
          <a:ln w="19050">
            <a:solidFill>
              <a:srgbClr val="1F3A33"/>
            </a:solidFill>
            <a:prstDash val="solid"/>
          </a:ln>
        </p:spPr>
      </p:sp>
      <p:sp>
        <p:nvSpPr>
          <p:cNvPr id="64" name="Text 62"/>
          <p:cNvSpPr txBox="1"/>
          <p:nvPr/>
        </p:nvSpPr>
        <p:spPr>
          <a:xfrm>
            <a:off x="3566160" y="3433572"/>
            <a:ext cx="539496" cy="269748"/>
          </a:xfrm>
          <a:prstGeom prst="rect">
            <a:avLst/>
          </a:prstGeom>
          <a:noFill/>
          <a:ln/>
        </p:spPr>
        <p:txBody>
          <a:bodyPr wrap="square" lIns="0" tIns="0" rIns="0" bIns="0" rtlCol="0" anchor="ctr"/>
          <a:lstStyle/>
          <a:p>
            <a:pPr algn="ctr" indent="0" marL="0">
              <a:buNone/>
            </a:pPr>
            <a:r>
              <a:rPr lang="en-US" sz="800" b="1" dirty="0">
                <a:solidFill>
                  <a:srgbClr val="FFFFFF"/>
                </a:solidFill>
              </a:rPr>
              <a:t>-1821</a:t>
            </a:r>
            <a:endParaRPr lang="en-US" sz="800" dirty="0"/>
          </a:p>
        </p:txBody>
      </p:sp>
      <p:sp>
        <p:nvSpPr>
          <p:cNvPr id="65" name="Shape 63"/>
          <p:cNvSpPr/>
          <p:nvPr/>
        </p:nvSpPr>
        <p:spPr>
          <a:xfrm>
            <a:off x="4133088" y="3433572"/>
            <a:ext cx="539496" cy="269748"/>
          </a:xfrm>
          <a:prstGeom prst="rect">
            <a:avLst/>
          </a:prstGeom>
          <a:solidFill>
            <a:srgbClr val="3E8E72">
              <a:alpha val="81000"/>
            </a:srgbClr>
          </a:solidFill>
          <a:ln w="3175">
            <a:solidFill>
              <a:srgbClr val="3E8E72">
                <a:alpha val="81000"/>
              </a:srgbClr>
            </a:solidFill>
            <a:prstDash val="solid"/>
          </a:ln>
        </p:spPr>
      </p:sp>
      <p:sp>
        <p:nvSpPr>
          <p:cNvPr id="66" name="Text 64"/>
          <p:cNvSpPr txBox="1"/>
          <p:nvPr/>
        </p:nvSpPr>
        <p:spPr>
          <a:xfrm>
            <a:off x="4133088" y="3433572"/>
            <a:ext cx="539496" cy="269748"/>
          </a:xfrm>
          <a:prstGeom prst="rect">
            <a:avLst/>
          </a:prstGeom>
          <a:noFill/>
          <a:ln/>
        </p:spPr>
        <p:txBody>
          <a:bodyPr wrap="square" lIns="0" tIns="0" rIns="0" bIns="0" rtlCol="0" anchor="ctr"/>
          <a:lstStyle/>
          <a:p>
            <a:pPr algn="ctr" indent="0" marL="0">
              <a:buNone/>
            </a:pPr>
            <a:r>
              <a:rPr lang="en-US" sz="800" dirty="0">
                <a:solidFill>
                  <a:srgbClr val="FFFFFF"/>
                </a:solidFill>
              </a:rPr>
              <a:t>-1820</a:t>
            </a:r>
            <a:endParaRPr lang="en-US" sz="800" dirty="0"/>
          </a:p>
        </p:txBody>
      </p:sp>
      <p:sp>
        <p:nvSpPr>
          <p:cNvPr id="67" name="Shape 65"/>
          <p:cNvSpPr/>
          <p:nvPr/>
        </p:nvSpPr>
        <p:spPr>
          <a:xfrm>
            <a:off x="4700016" y="3433572"/>
            <a:ext cx="539496" cy="269748"/>
          </a:xfrm>
          <a:prstGeom prst="rect">
            <a:avLst/>
          </a:prstGeom>
          <a:solidFill>
            <a:srgbClr val="3E8E72">
              <a:alpha val="76000"/>
            </a:srgbClr>
          </a:solidFill>
          <a:ln w="3175">
            <a:solidFill>
              <a:srgbClr val="3E8E72">
                <a:alpha val="76000"/>
              </a:srgbClr>
            </a:solidFill>
            <a:prstDash val="solid"/>
          </a:ln>
        </p:spPr>
      </p:sp>
      <p:sp>
        <p:nvSpPr>
          <p:cNvPr id="68" name="Text 66"/>
          <p:cNvSpPr txBox="1"/>
          <p:nvPr/>
        </p:nvSpPr>
        <p:spPr>
          <a:xfrm>
            <a:off x="4700016" y="3433572"/>
            <a:ext cx="539496" cy="269748"/>
          </a:xfrm>
          <a:prstGeom prst="rect">
            <a:avLst/>
          </a:prstGeom>
          <a:noFill/>
          <a:ln/>
        </p:spPr>
        <p:txBody>
          <a:bodyPr wrap="square" lIns="0" tIns="0" rIns="0" bIns="0" rtlCol="0" anchor="ctr"/>
          <a:lstStyle/>
          <a:p>
            <a:pPr algn="ctr" indent="0" marL="0">
              <a:buNone/>
            </a:pPr>
            <a:r>
              <a:rPr lang="en-US" sz="800" dirty="0">
                <a:solidFill>
                  <a:srgbClr val="FFFFFF"/>
                </a:solidFill>
              </a:rPr>
              <a:t>-1819</a:t>
            </a:r>
            <a:endParaRPr lang="en-US" sz="800" dirty="0"/>
          </a:p>
        </p:txBody>
      </p:sp>
      <p:sp>
        <p:nvSpPr>
          <p:cNvPr id="69" name="Shape 67"/>
          <p:cNvSpPr/>
          <p:nvPr/>
        </p:nvSpPr>
        <p:spPr>
          <a:xfrm>
            <a:off x="5266944" y="3433572"/>
            <a:ext cx="539496" cy="269748"/>
          </a:xfrm>
          <a:prstGeom prst="rect">
            <a:avLst/>
          </a:prstGeom>
          <a:solidFill>
            <a:srgbClr val="3E8E72">
              <a:alpha val="76000"/>
            </a:srgbClr>
          </a:solidFill>
          <a:ln w="3175">
            <a:solidFill>
              <a:srgbClr val="3E8E72">
                <a:alpha val="76000"/>
              </a:srgbClr>
            </a:solidFill>
            <a:prstDash val="solid"/>
          </a:ln>
        </p:spPr>
      </p:sp>
      <p:sp>
        <p:nvSpPr>
          <p:cNvPr id="70" name="Text 68"/>
          <p:cNvSpPr txBox="1"/>
          <p:nvPr/>
        </p:nvSpPr>
        <p:spPr>
          <a:xfrm>
            <a:off x="5266944" y="3433572"/>
            <a:ext cx="539496" cy="269748"/>
          </a:xfrm>
          <a:prstGeom prst="rect">
            <a:avLst/>
          </a:prstGeom>
          <a:noFill/>
          <a:ln/>
        </p:spPr>
        <p:txBody>
          <a:bodyPr wrap="square" lIns="0" tIns="0" rIns="0" bIns="0" rtlCol="0" anchor="ctr"/>
          <a:lstStyle/>
          <a:p>
            <a:pPr algn="ctr" indent="0" marL="0">
              <a:buNone/>
            </a:pPr>
            <a:r>
              <a:rPr lang="en-US" sz="800" dirty="0">
                <a:solidFill>
                  <a:srgbClr val="FFFFFF"/>
                </a:solidFill>
              </a:rPr>
              <a:t>-1819</a:t>
            </a:r>
            <a:endParaRPr lang="en-US" sz="800" dirty="0"/>
          </a:p>
        </p:txBody>
      </p:sp>
      <p:sp>
        <p:nvSpPr>
          <p:cNvPr id="71" name="Text 69"/>
          <p:cNvSpPr txBox="1"/>
          <p:nvPr/>
        </p:nvSpPr>
        <p:spPr>
          <a:xfrm>
            <a:off x="566928" y="3730752"/>
            <a:ext cx="1225296" cy="297180"/>
          </a:xfrm>
          <a:prstGeom prst="rect">
            <a:avLst/>
          </a:prstGeom>
          <a:noFill/>
          <a:ln/>
        </p:spPr>
        <p:txBody>
          <a:bodyPr wrap="square" lIns="0" tIns="0" rIns="0" bIns="0" rtlCol="0" anchor="ctr"/>
          <a:lstStyle/>
          <a:p>
            <a:pPr indent="0" marL="0">
              <a:buNone/>
            </a:pPr>
            <a:r>
              <a:rPr lang="en-US" sz="950" dirty="0">
                <a:solidFill>
                  <a:srgbClr val="11211C"/>
                </a:solidFill>
              </a:rPr>
              <a:t>synth-2</a:t>
            </a:r>
            <a:endParaRPr lang="en-US" sz="950" dirty="0"/>
          </a:p>
        </p:txBody>
      </p:sp>
      <p:sp>
        <p:nvSpPr>
          <p:cNvPr id="72" name="Shape 70"/>
          <p:cNvSpPr/>
          <p:nvPr/>
        </p:nvSpPr>
        <p:spPr>
          <a:xfrm>
            <a:off x="1865376" y="3730752"/>
            <a:ext cx="539496" cy="269748"/>
          </a:xfrm>
          <a:prstGeom prst="rect">
            <a:avLst/>
          </a:prstGeom>
          <a:solidFill>
            <a:srgbClr val="3E8E72">
              <a:alpha val="8000"/>
            </a:srgbClr>
          </a:solidFill>
          <a:ln w="3175">
            <a:solidFill>
              <a:srgbClr val="3E8E72">
                <a:alpha val="8000"/>
              </a:srgbClr>
            </a:solidFill>
            <a:prstDash val="solid"/>
          </a:ln>
        </p:spPr>
      </p:sp>
      <p:sp>
        <p:nvSpPr>
          <p:cNvPr id="73" name="Text 71"/>
          <p:cNvSpPr txBox="1"/>
          <p:nvPr/>
        </p:nvSpPr>
        <p:spPr>
          <a:xfrm>
            <a:off x="1865376" y="3730752"/>
            <a:ext cx="539496" cy="269748"/>
          </a:xfrm>
          <a:prstGeom prst="rect">
            <a:avLst/>
          </a:prstGeom>
          <a:noFill/>
          <a:ln/>
        </p:spPr>
        <p:txBody>
          <a:bodyPr wrap="square" lIns="0" tIns="0" rIns="0" bIns="0" rtlCol="0" anchor="ctr"/>
          <a:lstStyle/>
          <a:p>
            <a:pPr algn="ctr" indent="0" marL="0">
              <a:buNone/>
            </a:pPr>
            <a:r>
              <a:rPr lang="en-US" sz="800" dirty="0">
                <a:solidFill>
                  <a:srgbClr val="11211C"/>
                </a:solidFill>
              </a:rPr>
              <a:t>-1804</a:t>
            </a:r>
            <a:endParaRPr lang="en-US" sz="800" dirty="0"/>
          </a:p>
        </p:txBody>
      </p:sp>
      <p:sp>
        <p:nvSpPr>
          <p:cNvPr id="74" name="Shape 72"/>
          <p:cNvSpPr/>
          <p:nvPr/>
        </p:nvSpPr>
        <p:spPr>
          <a:xfrm>
            <a:off x="2432304" y="3730752"/>
            <a:ext cx="539496" cy="269748"/>
          </a:xfrm>
          <a:prstGeom prst="rect">
            <a:avLst/>
          </a:prstGeom>
          <a:solidFill>
            <a:srgbClr val="3E8E72">
              <a:alpha val="88000"/>
            </a:srgbClr>
          </a:solidFill>
          <a:ln w="19050">
            <a:solidFill>
              <a:srgbClr val="1F3A33"/>
            </a:solidFill>
            <a:prstDash val="solid"/>
          </a:ln>
        </p:spPr>
      </p:sp>
      <p:sp>
        <p:nvSpPr>
          <p:cNvPr id="75" name="Text 73"/>
          <p:cNvSpPr txBox="1"/>
          <p:nvPr/>
        </p:nvSpPr>
        <p:spPr>
          <a:xfrm>
            <a:off x="2432304" y="3730752"/>
            <a:ext cx="539496" cy="269748"/>
          </a:xfrm>
          <a:prstGeom prst="rect">
            <a:avLst/>
          </a:prstGeom>
          <a:noFill/>
          <a:ln/>
        </p:spPr>
        <p:txBody>
          <a:bodyPr wrap="square" lIns="0" tIns="0" rIns="0" bIns="0" rtlCol="0" anchor="ctr"/>
          <a:lstStyle/>
          <a:p>
            <a:pPr algn="ctr" indent="0" marL="0">
              <a:buNone/>
            </a:pPr>
            <a:r>
              <a:rPr lang="en-US" sz="800" b="1" dirty="0">
                <a:solidFill>
                  <a:srgbClr val="FFFFFF"/>
                </a:solidFill>
              </a:rPr>
              <a:t>-1820</a:t>
            </a:r>
            <a:endParaRPr lang="en-US" sz="800" dirty="0"/>
          </a:p>
        </p:txBody>
      </p:sp>
      <p:sp>
        <p:nvSpPr>
          <p:cNvPr id="76" name="Shape 74"/>
          <p:cNvSpPr/>
          <p:nvPr/>
        </p:nvSpPr>
        <p:spPr>
          <a:xfrm>
            <a:off x="2999232" y="3730752"/>
            <a:ext cx="539496" cy="269748"/>
          </a:xfrm>
          <a:prstGeom prst="rect">
            <a:avLst/>
          </a:prstGeom>
          <a:solidFill>
            <a:srgbClr val="3E8E72">
              <a:alpha val="75000"/>
            </a:srgbClr>
          </a:solidFill>
          <a:ln w="3175">
            <a:solidFill>
              <a:srgbClr val="3E8E72">
                <a:alpha val="75000"/>
              </a:srgbClr>
            </a:solidFill>
            <a:prstDash val="solid"/>
          </a:ln>
        </p:spPr>
      </p:sp>
      <p:sp>
        <p:nvSpPr>
          <p:cNvPr id="77" name="Text 75"/>
          <p:cNvSpPr txBox="1"/>
          <p:nvPr/>
        </p:nvSpPr>
        <p:spPr>
          <a:xfrm>
            <a:off x="2999232" y="3730752"/>
            <a:ext cx="539496" cy="269748"/>
          </a:xfrm>
          <a:prstGeom prst="rect">
            <a:avLst/>
          </a:prstGeom>
          <a:noFill/>
          <a:ln/>
        </p:spPr>
        <p:txBody>
          <a:bodyPr wrap="square" lIns="0" tIns="0" rIns="0" bIns="0" rtlCol="0" anchor="ctr"/>
          <a:lstStyle/>
          <a:p>
            <a:pPr algn="ctr" indent="0" marL="0">
              <a:buNone/>
            </a:pPr>
            <a:r>
              <a:rPr lang="en-US" sz="800" dirty="0">
                <a:solidFill>
                  <a:srgbClr val="FFFFFF"/>
                </a:solidFill>
              </a:rPr>
              <a:t>-1817</a:t>
            </a:r>
            <a:endParaRPr lang="en-US" sz="800" dirty="0"/>
          </a:p>
        </p:txBody>
      </p:sp>
      <p:sp>
        <p:nvSpPr>
          <p:cNvPr id="78" name="Shape 76"/>
          <p:cNvSpPr/>
          <p:nvPr/>
        </p:nvSpPr>
        <p:spPr>
          <a:xfrm>
            <a:off x="3566160" y="3730752"/>
            <a:ext cx="539496" cy="269748"/>
          </a:xfrm>
          <a:prstGeom prst="rect">
            <a:avLst/>
          </a:prstGeom>
          <a:solidFill>
            <a:srgbClr val="3E8E72">
              <a:alpha val="87000"/>
            </a:srgbClr>
          </a:solidFill>
          <a:ln w="3175">
            <a:solidFill>
              <a:srgbClr val="3E8E72">
                <a:alpha val="87000"/>
              </a:srgbClr>
            </a:solidFill>
            <a:prstDash val="solid"/>
          </a:ln>
        </p:spPr>
      </p:sp>
      <p:sp>
        <p:nvSpPr>
          <p:cNvPr id="79" name="Text 77"/>
          <p:cNvSpPr txBox="1"/>
          <p:nvPr/>
        </p:nvSpPr>
        <p:spPr>
          <a:xfrm>
            <a:off x="3566160" y="3730752"/>
            <a:ext cx="539496" cy="269748"/>
          </a:xfrm>
          <a:prstGeom prst="rect">
            <a:avLst/>
          </a:prstGeom>
          <a:noFill/>
          <a:ln/>
        </p:spPr>
        <p:txBody>
          <a:bodyPr wrap="square" lIns="0" tIns="0" rIns="0" bIns="0" rtlCol="0" anchor="ctr"/>
          <a:lstStyle/>
          <a:p>
            <a:pPr algn="ctr" indent="0" marL="0">
              <a:buNone/>
            </a:pPr>
            <a:r>
              <a:rPr lang="en-US" sz="800" dirty="0">
                <a:solidFill>
                  <a:srgbClr val="FFFFFF"/>
                </a:solidFill>
              </a:rPr>
              <a:t>-1820</a:t>
            </a:r>
            <a:endParaRPr lang="en-US" sz="800" dirty="0"/>
          </a:p>
        </p:txBody>
      </p:sp>
      <p:sp>
        <p:nvSpPr>
          <p:cNvPr id="80" name="Shape 78"/>
          <p:cNvSpPr/>
          <p:nvPr/>
        </p:nvSpPr>
        <p:spPr>
          <a:xfrm>
            <a:off x="4133088" y="3730752"/>
            <a:ext cx="539496" cy="269748"/>
          </a:xfrm>
          <a:prstGeom prst="rect">
            <a:avLst/>
          </a:prstGeom>
          <a:solidFill>
            <a:srgbClr val="3E8E72">
              <a:alpha val="87000"/>
            </a:srgbClr>
          </a:solidFill>
          <a:ln w="3175">
            <a:solidFill>
              <a:srgbClr val="3E8E72">
                <a:alpha val="87000"/>
              </a:srgbClr>
            </a:solidFill>
            <a:prstDash val="solid"/>
          </a:ln>
        </p:spPr>
      </p:sp>
      <p:sp>
        <p:nvSpPr>
          <p:cNvPr id="81" name="Text 79"/>
          <p:cNvSpPr txBox="1"/>
          <p:nvPr/>
        </p:nvSpPr>
        <p:spPr>
          <a:xfrm>
            <a:off x="4133088" y="3730752"/>
            <a:ext cx="539496" cy="269748"/>
          </a:xfrm>
          <a:prstGeom prst="rect">
            <a:avLst/>
          </a:prstGeom>
          <a:noFill/>
          <a:ln/>
        </p:spPr>
        <p:txBody>
          <a:bodyPr wrap="square" lIns="0" tIns="0" rIns="0" bIns="0" rtlCol="0" anchor="ctr"/>
          <a:lstStyle/>
          <a:p>
            <a:pPr algn="ctr" indent="0" marL="0">
              <a:buNone/>
            </a:pPr>
            <a:r>
              <a:rPr lang="en-US" sz="800" dirty="0">
                <a:solidFill>
                  <a:srgbClr val="FFFFFF"/>
                </a:solidFill>
              </a:rPr>
              <a:t>-1820</a:t>
            </a:r>
            <a:endParaRPr lang="en-US" sz="800" dirty="0"/>
          </a:p>
        </p:txBody>
      </p:sp>
      <p:sp>
        <p:nvSpPr>
          <p:cNvPr id="82" name="Shape 80"/>
          <p:cNvSpPr/>
          <p:nvPr/>
        </p:nvSpPr>
        <p:spPr>
          <a:xfrm>
            <a:off x="4700016" y="3730752"/>
            <a:ext cx="539496" cy="269748"/>
          </a:xfrm>
          <a:prstGeom prst="rect">
            <a:avLst/>
          </a:prstGeom>
          <a:solidFill>
            <a:srgbClr val="3E8E72">
              <a:alpha val="87000"/>
            </a:srgbClr>
          </a:solidFill>
          <a:ln w="3175">
            <a:solidFill>
              <a:srgbClr val="3E8E72">
                <a:alpha val="87000"/>
              </a:srgbClr>
            </a:solidFill>
            <a:prstDash val="solid"/>
          </a:ln>
        </p:spPr>
      </p:sp>
      <p:sp>
        <p:nvSpPr>
          <p:cNvPr id="83" name="Text 81"/>
          <p:cNvSpPr txBox="1"/>
          <p:nvPr/>
        </p:nvSpPr>
        <p:spPr>
          <a:xfrm>
            <a:off x="4700016" y="3730752"/>
            <a:ext cx="539496" cy="269748"/>
          </a:xfrm>
          <a:prstGeom prst="rect">
            <a:avLst/>
          </a:prstGeom>
          <a:noFill/>
          <a:ln/>
        </p:spPr>
        <p:txBody>
          <a:bodyPr wrap="square" lIns="0" tIns="0" rIns="0" bIns="0" rtlCol="0" anchor="ctr"/>
          <a:lstStyle/>
          <a:p>
            <a:pPr algn="ctr" indent="0" marL="0">
              <a:buNone/>
            </a:pPr>
            <a:r>
              <a:rPr lang="en-US" sz="800" dirty="0">
                <a:solidFill>
                  <a:srgbClr val="FFFFFF"/>
                </a:solidFill>
              </a:rPr>
              <a:t>-1820</a:t>
            </a:r>
            <a:endParaRPr lang="en-US" sz="800" dirty="0"/>
          </a:p>
        </p:txBody>
      </p:sp>
      <p:sp>
        <p:nvSpPr>
          <p:cNvPr id="84" name="Shape 82"/>
          <p:cNvSpPr/>
          <p:nvPr/>
        </p:nvSpPr>
        <p:spPr>
          <a:xfrm>
            <a:off x="5266944" y="3730752"/>
            <a:ext cx="539496" cy="269748"/>
          </a:xfrm>
          <a:prstGeom prst="rect">
            <a:avLst/>
          </a:prstGeom>
          <a:solidFill>
            <a:srgbClr val="3E8E72">
              <a:alpha val="87000"/>
            </a:srgbClr>
          </a:solidFill>
          <a:ln w="3175">
            <a:solidFill>
              <a:srgbClr val="3E8E72">
                <a:alpha val="87000"/>
              </a:srgbClr>
            </a:solidFill>
            <a:prstDash val="solid"/>
          </a:ln>
        </p:spPr>
      </p:sp>
      <p:sp>
        <p:nvSpPr>
          <p:cNvPr id="85" name="Text 83"/>
          <p:cNvSpPr txBox="1"/>
          <p:nvPr/>
        </p:nvSpPr>
        <p:spPr>
          <a:xfrm>
            <a:off x="5266944" y="3730752"/>
            <a:ext cx="539496" cy="269748"/>
          </a:xfrm>
          <a:prstGeom prst="rect">
            <a:avLst/>
          </a:prstGeom>
          <a:noFill/>
          <a:ln/>
        </p:spPr>
        <p:txBody>
          <a:bodyPr wrap="square" lIns="0" tIns="0" rIns="0" bIns="0" rtlCol="0" anchor="ctr"/>
          <a:lstStyle/>
          <a:p>
            <a:pPr algn="ctr" indent="0" marL="0">
              <a:buNone/>
            </a:pPr>
            <a:r>
              <a:rPr lang="en-US" sz="800" dirty="0">
                <a:solidFill>
                  <a:srgbClr val="FFFFFF"/>
                </a:solidFill>
              </a:rPr>
              <a:t>-1820</a:t>
            </a:r>
            <a:endParaRPr lang="en-US" sz="800" dirty="0"/>
          </a:p>
        </p:txBody>
      </p:sp>
      <p:sp>
        <p:nvSpPr>
          <p:cNvPr id="86" name="Text 84"/>
          <p:cNvSpPr txBox="1"/>
          <p:nvPr/>
        </p:nvSpPr>
        <p:spPr>
          <a:xfrm>
            <a:off x="566928" y="4027932"/>
            <a:ext cx="1225296" cy="297180"/>
          </a:xfrm>
          <a:prstGeom prst="rect">
            <a:avLst/>
          </a:prstGeom>
          <a:noFill/>
          <a:ln/>
        </p:spPr>
        <p:txBody>
          <a:bodyPr wrap="square" lIns="0" tIns="0" rIns="0" bIns="0" rtlCol="0" anchor="ctr"/>
          <a:lstStyle/>
          <a:p>
            <a:pPr indent="0" marL="0">
              <a:buNone/>
            </a:pPr>
            <a:r>
              <a:rPr lang="en-US" sz="950" dirty="0">
                <a:solidFill>
                  <a:srgbClr val="11211C"/>
                </a:solidFill>
              </a:rPr>
              <a:t>synth-3</a:t>
            </a:r>
            <a:endParaRPr lang="en-US" sz="950" dirty="0"/>
          </a:p>
        </p:txBody>
      </p:sp>
      <p:sp>
        <p:nvSpPr>
          <p:cNvPr id="87" name="Shape 85"/>
          <p:cNvSpPr/>
          <p:nvPr/>
        </p:nvSpPr>
        <p:spPr>
          <a:xfrm>
            <a:off x="1865376" y="4027932"/>
            <a:ext cx="539496" cy="269748"/>
          </a:xfrm>
          <a:prstGeom prst="rect">
            <a:avLst/>
          </a:prstGeom>
          <a:solidFill>
            <a:srgbClr val="3E8E72">
              <a:alpha val="8000"/>
            </a:srgbClr>
          </a:solidFill>
          <a:ln w="3175">
            <a:solidFill>
              <a:srgbClr val="3E8E72">
                <a:alpha val="8000"/>
              </a:srgbClr>
            </a:solidFill>
            <a:prstDash val="solid"/>
          </a:ln>
        </p:spPr>
      </p:sp>
      <p:sp>
        <p:nvSpPr>
          <p:cNvPr id="88" name="Text 86"/>
          <p:cNvSpPr txBox="1"/>
          <p:nvPr/>
        </p:nvSpPr>
        <p:spPr>
          <a:xfrm>
            <a:off x="1865376" y="4027932"/>
            <a:ext cx="539496" cy="269748"/>
          </a:xfrm>
          <a:prstGeom prst="rect">
            <a:avLst/>
          </a:prstGeom>
          <a:noFill/>
          <a:ln/>
        </p:spPr>
        <p:txBody>
          <a:bodyPr wrap="square" lIns="0" tIns="0" rIns="0" bIns="0" rtlCol="0" anchor="ctr"/>
          <a:lstStyle/>
          <a:p>
            <a:pPr algn="ctr" indent="0" marL="0">
              <a:buNone/>
            </a:pPr>
            <a:r>
              <a:rPr lang="en-US" sz="800" dirty="0">
                <a:solidFill>
                  <a:srgbClr val="11211C"/>
                </a:solidFill>
              </a:rPr>
              <a:t>-1804</a:t>
            </a:r>
            <a:endParaRPr lang="en-US" sz="800" dirty="0"/>
          </a:p>
        </p:txBody>
      </p:sp>
      <p:sp>
        <p:nvSpPr>
          <p:cNvPr id="89" name="Shape 87"/>
          <p:cNvSpPr/>
          <p:nvPr/>
        </p:nvSpPr>
        <p:spPr>
          <a:xfrm>
            <a:off x="2432304" y="4027932"/>
            <a:ext cx="539496" cy="269748"/>
          </a:xfrm>
          <a:prstGeom prst="rect">
            <a:avLst/>
          </a:prstGeom>
          <a:solidFill>
            <a:srgbClr val="3E8E72">
              <a:alpha val="71000"/>
            </a:srgbClr>
          </a:solidFill>
          <a:ln w="3175">
            <a:solidFill>
              <a:srgbClr val="3E8E72">
                <a:alpha val="71000"/>
              </a:srgbClr>
            </a:solidFill>
            <a:prstDash val="solid"/>
          </a:ln>
        </p:spPr>
      </p:sp>
      <p:sp>
        <p:nvSpPr>
          <p:cNvPr id="90" name="Text 88"/>
          <p:cNvSpPr txBox="1"/>
          <p:nvPr/>
        </p:nvSpPr>
        <p:spPr>
          <a:xfrm>
            <a:off x="2432304" y="4027932"/>
            <a:ext cx="539496" cy="269748"/>
          </a:xfrm>
          <a:prstGeom prst="rect">
            <a:avLst/>
          </a:prstGeom>
          <a:noFill/>
          <a:ln/>
        </p:spPr>
        <p:txBody>
          <a:bodyPr wrap="square" lIns="0" tIns="0" rIns="0" bIns="0" rtlCol="0" anchor="ctr"/>
          <a:lstStyle/>
          <a:p>
            <a:pPr algn="ctr" indent="0" marL="0">
              <a:buNone/>
            </a:pPr>
            <a:r>
              <a:rPr lang="en-US" sz="800" dirty="0">
                <a:solidFill>
                  <a:srgbClr val="FFFFFF"/>
                </a:solidFill>
              </a:rPr>
              <a:t>-1818</a:t>
            </a:r>
            <a:endParaRPr lang="en-US" sz="800" dirty="0"/>
          </a:p>
        </p:txBody>
      </p:sp>
      <p:sp>
        <p:nvSpPr>
          <p:cNvPr id="91" name="Shape 89"/>
          <p:cNvSpPr/>
          <p:nvPr/>
        </p:nvSpPr>
        <p:spPr>
          <a:xfrm>
            <a:off x="2999232" y="4027932"/>
            <a:ext cx="539496" cy="269748"/>
          </a:xfrm>
          <a:prstGeom prst="rect">
            <a:avLst/>
          </a:prstGeom>
          <a:solidFill>
            <a:srgbClr val="3E8E72">
              <a:alpha val="66000"/>
            </a:srgbClr>
          </a:solidFill>
          <a:ln w="3175">
            <a:solidFill>
              <a:srgbClr val="3E8E72">
                <a:alpha val="66000"/>
              </a:srgbClr>
            </a:solidFill>
            <a:prstDash val="solid"/>
          </a:ln>
        </p:spPr>
      </p:sp>
      <p:sp>
        <p:nvSpPr>
          <p:cNvPr id="92" name="Text 90"/>
          <p:cNvSpPr txBox="1"/>
          <p:nvPr/>
        </p:nvSpPr>
        <p:spPr>
          <a:xfrm>
            <a:off x="2999232" y="4027932"/>
            <a:ext cx="539496" cy="269748"/>
          </a:xfrm>
          <a:prstGeom prst="rect">
            <a:avLst/>
          </a:prstGeom>
          <a:noFill/>
          <a:ln/>
        </p:spPr>
        <p:txBody>
          <a:bodyPr wrap="square" lIns="0" tIns="0" rIns="0" bIns="0" rtlCol="0" anchor="ctr"/>
          <a:lstStyle/>
          <a:p>
            <a:pPr algn="ctr" indent="0" marL="0">
              <a:buNone/>
            </a:pPr>
            <a:r>
              <a:rPr lang="en-US" sz="800" dirty="0">
                <a:solidFill>
                  <a:srgbClr val="FFFFFF"/>
                </a:solidFill>
              </a:rPr>
              <a:t>-1817</a:t>
            </a:r>
            <a:endParaRPr lang="en-US" sz="800" dirty="0"/>
          </a:p>
        </p:txBody>
      </p:sp>
      <p:sp>
        <p:nvSpPr>
          <p:cNvPr id="93" name="Shape 91"/>
          <p:cNvSpPr/>
          <p:nvPr/>
        </p:nvSpPr>
        <p:spPr>
          <a:xfrm>
            <a:off x="3566160" y="4027932"/>
            <a:ext cx="539496" cy="269748"/>
          </a:xfrm>
          <a:prstGeom prst="rect">
            <a:avLst/>
          </a:prstGeom>
          <a:solidFill>
            <a:srgbClr val="3E8E72">
              <a:alpha val="82000"/>
            </a:srgbClr>
          </a:solidFill>
          <a:ln w="3175">
            <a:solidFill>
              <a:srgbClr val="3E8E72">
                <a:alpha val="82000"/>
              </a:srgbClr>
            </a:solidFill>
            <a:prstDash val="solid"/>
          </a:ln>
        </p:spPr>
      </p:sp>
      <p:sp>
        <p:nvSpPr>
          <p:cNvPr id="94" name="Text 92"/>
          <p:cNvSpPr txBox="1"/>
          <p:nvPr/>
        </p:nvSpPr>
        <p:spPr>
          <a:xfrm>
            <a:off x="3566160" y="4027932"/>
            <a:ext cx="539496" cy="269748"/>
          </a:xfrm>
          <a:prstGeom prst="rect">
            <a:avLst/>
          </a:prstGeom>
          <a:noFill/>
          <a:ln/>
        </p:spPr>
        <p:txBody>
          <a:bodyPr wrap="square" lIns="0" tIns="0" rIns="0" bIns="0" rtlCol="0" anchor="ctr"/>
          <a:lstStyle/>
          <a:p>
            <a:pPr algn="ctr" indent="0" marL="0">
              <a:buNone/>
            </a:pPr>
            <a:r>
              <a:rPr lang="en-US" sz="800" dirty="0">
                <a:solidFill>
                  <a:srgbClr val="FFFFFF"/>
                </a:solidFill>
              </a:rPr>
              <a:t>-1820</a:t>
            </a:r>
            <a:endParaRPr lang="en-US" sz="800" dirty="0"/>
          </a:p>
        </p:txBody>
      </p:sp>
      <p:sp>
        <p:nvSpPr>
          <p:cNvPr id="95" name="Shape 93"/>
          <p:cNvSpPr/>
          <p:nvPr/>
        </p:nvSpPr>
        <p:spPr>
          <a:xfrm>
            <a:off x="4133088" y="4027932"/>
            <a:ext cx="539496" cy="269748"/>
          </a:xfrm>
          <a:prstGeom prst="rect">
            <a:avLst/>
          </a:prstGeom>
          <a:solidFill>
            <a:srgbClr val="3E8E72">
              <a:alpha val="82000"/>
            </a:srgbClr>
          </a:solidFill>
          <a:ln w="3175">
            <a:solidFill>
              <a:srgbClr val="3E8E72">
                <a:alpha val="82000"/>
              </a:srgbClr>
            </a:solidFill>
            <a:prstDash val="solid"/>
          </a:ln>
        </p:spPr>
      </p:sp>
      <p:sp>
        <p:nvSpPr>
          <p:cNvPr id="96" name="Text 94"/>
          <p:cNvSpPr txBox="1"/>
          <p:nvPr/>
        </p:nvSpPr>
        <p:spPr>
          <a:xfrm>
            <a:off x="4133088" y="4027932"/>
            <a:ext cx="539496" cy="269748"/>
          </a:xfrm>
          <a:prstGeom prst="rect">
            <a:avLst/>
          </a:prstGeom>
          <a:noFill/>
          <a:ln/>
        </p:spPr>
        <p:txBody>
          <a:bodyPr wrap="square" lIns="0" tIns="0" rIns="0" bIns="0" rtlCol="0" anchor="ctr"/>
          <a:lstStyle/>
          <a:p>
            <a:pPr algn="ctr" indent="0" marL="0">
              <a:buNone/>
            </a:pPr>
            <a:r>
              <a:rPr lang="en-US" sz="800" dirty="0">
                <a:solidFill>
                  <a:srgbClr val="FFFFFF"/>
                </a:solidFill>
              </a:rPr>
              <a:t>-1820</a:t>
            </a:r>
            <a:endParaRPr lang="en-US" sz="800" dirty="0"/>
          </a:p>
        </p:txBody>
      </p:sp>
      <p:sp>
        <p:nvSpPr>
          <p:cNvPr id="97" name="Shape 95"/>
          <p:cNvSpPr/>
          <p:nvPr/>
        </p:nvSpPr>
        <p:spPr>
          <a:xfrm>
            <a:off x="4700016" y="4027932"/>
            <a:ext cx="539496" cy="269748"/>
          </a:xfrm>
          <a:prstGeom prst="rect">
            <a:avLst/>
          </a:prstGeom>
          <a:solidFill>
            <a:srgbClr val="3E8E72">
              <a:alpha val="88000"/>
            </a:srgbClr>
          </a:solidFill>
          <a:ln w="19050">
            <a:solidFill>
              <a:srgbClr val="1F3A33"/>
            </a:solidFill>
            <a:prstDash val="solid"/>
          </a:ln>
        </p:spPr>
      </p:sp>
      <p:sp>
        <p:nvSpPr>
          <p:cNvPr id="98" name="Text 96"/>
          <p:cNvSpPr txBox="1"/>
          <p:nvPr/>
        </p:nvSpPr>
        <p:spPr>
          <a:xfrm>
            <a:off x="4700016" y="4027932"/>
            <a:ext cx="539496" cy="269748"/>
          </a:xfrm>
          <a:prstGeom prst="rect">
            <a:avLst/>
          </a:prstGeom>
          <a:noFill/>
          <a:ln/>
        </p:spPr>
        <p:txBody>
          <a:bodyPr wrap="square" lIns="0" tIns="0" rIns="0" bIns="0" rtlCol="0" anchor="ctr"/>
          <a:lstStyle/>
          <a:p>
            <a:pPr algn="ctr" indent="0" marL="0">
              <a:buNone/>
            </a:pPr>
            <a:r>
              <a:rPr lang="en-US" sz="800" b="1" dirty="0">
                <a:solidFill>
                  <a:srgbClr val="FFFFFF"/>
                </a:solidFill>
              </a:rPr>
              <a:t>-1821</a:t>
            </a:r>
            <a:endParaRPr lang="en-US" sz="800" dirty="0"/>
          </a:p>
        </p:txBody>
      </p:sp>
      <p:sp>
        <p:nvSpPr>
          <p:cNvPr id="99" name="Shape 97"/>
          <p:cNvSpPr/>
          <p:nvPr/>
        </p:nvSpPr>
        <p:spPr>
          <a:xfrm>
            <a:off x="5266944" y="4027932"/>
            <a:ext cx="539496" cy="269748"/>
          </a:xfrm>
          <a:prstGeom prst="rect">
            <a:avLst/>
          </a:prstGeom>
          <a:solidFill>
            <a:srgbClr val="3E8E72">
              <a:alpha val="82000"/>
            </a:srgbClr>
          </a:solidFill>
          <a:ln w="3175">
            <a:solidFill>
              <a:srgbClr val="3E8E72">
                <a:alpha val="82000"/>
              </a:srgbClr>
            </a:solidFill>
            <a:prstDash val="solid"/>
          </a:ln>
        </p:spPr>
      </p:sp>
      <p:sp>
        <p:nvSpPr>
          <p:cNvPr id="100" name="Text 98"/>
          <p:cNvSpPr txBox="1"/>
          <p:nvPr/>
        </p:nvSpPr>
        <p:spPr>
          <a:xfrm>
            <a:off x="5266944" y="4027932"/>
            <a:ext cx="539496" cy="269748"/>
          </a:xfrm>
          <a:prstGeom prst="rect">
            <a:avLst/>
          </a:prstGeom>
          <a:noFill/>
          <a:ln/>
        </p:spPr>
        <p:txBody>
          <a:bodyPr wrap="square" lIns="0" tIns="0" rIns="0" bIns="0" rtlCol="0" anchor="ctr"/>
          <a:lstStyle/>
          <a:p>
            <a:pPr algn="ctr" indent="0" marL="0">
              <a:buNone/>
            </a:pPr>
            <a:r>
              <a:rPr lang="en-US" sz="800" dirty="0">
                <a:solidFill>
                  <a:srgbClr val="FFFFFF"/>
                </a:solidFill>
              </a:rPr>
              <a:t>-1820</a:t>
            </a:r>
            <a:endParaRPr lang="en-US" sz="800" dirty="0"/>
          </a:p>
        </p:txBody>
      </p:sp>
      <p:sp>
        <p:nvSpPr>
          <p:cNvPr id="101" name="Text 99"/>
          <p:cNvSpPr txBox="1"/>
          <p:nvPr/>
        </p:nvSpPr>
        <p:spPr>
          <a:xfrm>
            <a:off x="566928" y="4325112"/>
            <a:ext cx="1225296" cy="297180"/>
          </a:xfrm>
          <a:prstGeom prst="rect">
            <a:avLst/>
          </a:prstGeom>
          <a:noFill/>
          <a:ln/>
        </p:spPr>
        <p:txBody>
          <a:bodyPr wrap="square" lIns="0" tIns="0" rIns="0" bIns="0" rtlCol="0" anchor="ctr"/>
          <a:lstStyle/>
          <a:p>
            <a:pPr indent="0" marL="0">
              <a:buNone/>
            </a:pPr>
            <a:r>
              <a:rPr lang="en-US" sz="950" dirty="0">
                <a:solidFill>
                  <a:srgbClr val="11211C"/>
                </a:solidFill>
              </a:rPr>
              <a:t>synth-4</a:t>
            </a:r>
            <a:endParaRPr lang="en-US" sz="950" dirty="0"/>
          </a:p>
        </p:txBody>
      </p:sp>
      <p:sp>
        <p:nvSpPr>
          <p:cNvPr id="102" name="Shape 100"/>
          <p:cNvSpPr/>
          <p:nvPr/>
        </p:nvSpPr>
        <p:spPr>
          <a:xfrm>
            <a:off x="1865376" y="4325112"/>
            <a:ext cx="539496" cy="269748"/>
          </a:xfrm>
          <a:prstGeom prst="rect">
            <a:avLst/>
          </a:prstGeom>
          <a:solidFill>
            <a:srgbClr val="3E8E72">
              <a:alpha val="84000"/>
            </a:srgbClr>
          </a:solidFill>
          <a:ln w="3175">
            <a:solidFill>
              <a:srgbClr val="3E8E72">
                <a:alpha val="84000"/>
              </a:srgbClr>
            </a:solidFill>
            <a:prstDash val="solid"/>
          </a:ln>
        </p:spPr>
      </p:sp>
      <p:sp>
        <p:nvSpPr>
          <p:cNvPr id="103" name="Text 101"/>
          <p:cNvSpPr txBox="1"/>
          <p:nvPr/>
        </p:nvSpPr>
        <p:spPr>
          <a:xfrm>
            <a:off x="1865376" y="4325112"/>
            <a:ext cx="539496" cy="269748"/>
          </a:xfrm>
          <a:prstGeom prst="rect">
            <a:avLst/>
          </a:prstGeom>
          <a:noFill/>
          <a:ln/>
        </p:spPr>
        <p:txBody>
          <a:bodyPr wrap="square" lIns="0" tIns="0" rIns="0" bIns="0" rtlCol="0" anchor="ctr"/>
          <a:lstStyle/>
          <a:p>
            <a:pPr algn="ctr" indent="0" marL="0">
              <a:buNone/>
            </a:pPr>
            <a:r>
              <a:rPr lang="en-US" sz="800" dirty="0">
                <a:solidFill>
                  <a:srgbClr val="FFFFFF"/>
                </a:solidFill>
              </a:rPr>
              <a:t>-1586</a:t>
            </a:r>
            <a:endParaRPr lang="en-US" sz="800" dirty="0"/>
          </a:p>
        </p:txBody>
      </p:sp>
      <p:sp>
        <p:nvSpPr>
          <p:cNvPr id="104" name="Shape 102"/>
          <p:cNvSpPr/>
          <p:nvPr/>
        </p:nvSpPr>
        <p:spPr>
          <a:xfrm>
            <a:off x="2432304" y="4325112"/>
            <a:ext cx="539496" cy="269748"/>
          </a:xfrm>
          <a:prstGeom prst="rect">
            <a:avLst/>
          </a:prstGeom>
          <a:solidFill>
            <a:srgbClr val="3E8E72">
              <a:alpha val="88000"/>
            </a:srgbClr>
          </a:solidFill>
          <a:ln w="19050">
            <a:solidFill>
              <a:srgbClr val="1F3A33"/>
            </a:solidFill>
            <a:prstDash val="solid"/>
          </a:ln>
        </p:spPr>
      </p:sp>
      <p:sp>
        <p:nvSpPr>
          <p:cNvPr id="105" name="Text 103"/>
          <p:cNvSpPr txBox="1"/>
          <p:nvPr/>
        </p:nvSpPr>
        <p:spPr>
          <a:xfrm>
            <a:off x="2432304" y="4325112"/>
            <a:ext cx="539496" cy="269748"/>
          </a:xfrm>
          <a:prstGeom prst="rect">
            <a:avLst/>
          </a:prstGeom>
          <a:noFill/>
          <a:ln/>
        </p:spPr>
        <p:txBody>
          <a:bodyPr wrap="square" lIns="0" tIns="0" rIns="0" bIns="0" rtlCol="0" anchor="ctr"/>
          <a:lstStyle/>
          <a:p>
            <a:pPr algn="ctr" indent="0" marL="0">
              <a:buNone/>
            </a:pPr>
            <a:r>
              <a:rPr lang="en-US" sz="800" b="1" dirty="0">
                <a:solidFill>
                  <a:srgbClr val="FFFFFF"/>
                </a:solidFill>
              </a:rPr>
              <a:t>-1592</a:t>
            </a:r>
            <a:endParaRPr lang="en-US" sz="800" dirty="0"/>
          </a:p>
        </p:txBody>
      </p:sp>
      <p:sp>
        <p:nvSpPr>
          <p:cNvPr id="106" name="Shape 104"/>
          <p:cNvSpPr/>
          <p:nvPr/>
        </p:nvSpPr>
        <p:spPr>
          <a:xfrm>
            <a:off x="2999232" y="4325112"/>
            <a:ext cx="539496" cy="269748"/>
          </a:xfrm>
          <a:prstGeom prst="rect">
            <a:avLst/>
          </a:prstGeom>
          <a:solidFill>
            <a:srgbClr val="3E8E72">
              <a:alpha val="8000"/>
            </a:srgbClr>
          </a:solidFill>
          <a:ln w="3175">
            <a:solidFill>
              <a:srgbClr val="3E8E72">
                <a:alpha val="8000"/>
              </a:srgbClr>
            </a:solidFill>
            <a:prstDash val="solid"/>
          </a:ln>
        </p:spPr>
      </p:sp>
      <p:sp>
        <p:nvSpPr>
          <p:cNvPr id="107" name="Text 105"/>
          <p:cNvSpPr txBox="1"/>
          <p:nvPr/>
        </p:nvSpPr>
        <p:spPr>
          <a:xfrm>
            <a:off x="2999232" y="4325112"/>
            <a:ext cx="539496" cy="269748"/>
          </a:xfrm>
          <a:prstGeom prst="rect">
            <a:avLst/>
          </a:prstGeom>
          <a:noFill/>
          <a:ln/>
        </p:spPr>
        <p:txBody>
          <a:bodyPr wrap="square" lIns="0" tIns="0" rIns="0" bIns="0" rtlCol="0" anchor="ctr"/>
          <a:lstStyle/>
          <a:p>
            <a:pPr algn="ctr" indent="0" marL="0">
              <a:buNone/>
            </a:pPr>
            <a:r>
              <a:rPr lang="en-US" sz="800" dirty="0">
                <a:solidFill>
                  <a:srgbClr val="11211C"/>
                </a:solidFill>
              </a:rPr>
              <a:t>-1484</a:t>
            </a:r>
            <a:endParaRPr lang="en-US" sz="800" dirty="0"/>
          </a:p>
        </p:txBody>
      </p:sp>
      <p:sp>
        <p:nvSpPr>
          <p:cNvPr id="108" name="Shape 106"/>
          <p:cNvSpPr/>
          <p:nvPr/>
        </p:nvSpPr>
        <p:spPr>
          <a:xfrm>
            <a:off x="3566160" y="4325112"/>
            <a:ext cx="539496" cy="269748"/>
          </a:xfrm>
          <a:prstGeom prst="rect">
            <a:avLst/>
          </a:prstGeom>
          <a:solidFill>
            <a:srgbClr val="3E8E72">
              <a:alpha val="61000"/>
            </a:srgbClr>
          </a:solidFill>
          <a:ln w="3175">
            <a:solidFill>
              <a:srgbClr val="3E8E72">
                <a:alpha val="61000"/>
              </a:srgbClr>
            </a:solidFill>
            <a:prstDash val="solid"/>
          </a:ln>
        </p:spPr>
      </p:sp>
      <p:sp>
        <p:nvSpPr>
          <p:cNvPr id="109" name="Text 107"/>
          <p:cNvSpPr txBox="1"/>
          <p:nvPr/>
        </p:nvSpPr>
        <p:spPr>
          <a:xfrm>
            <a:off x="3566160" y="4325112"/>
            <a:ext cx="539496" cy="269748"/>
          </a:xfrm>
          <a:prstGeom prst="rect">
            <a:avLst/>
          </a:prstGeom>
          <a:noFill/>
          <a:ln/>
        </p:spPr>
        <p:txBody>
          <a:bodyPr wrap="square" lIns="0" tIns="0" rIns="0" bIns="0" rtlCol="0" anchor="ctr"/>
          <a:lstStyle/>
          <a:p>
            <a:pPr algn="ctr" indent="0" marL="0">
              <a:buNone/>
            </a:pPr>
            <a:r>
              <a:rPr lang="en-US" sz="800" dirty="0">
                <a:solidFill>
                  <a:srgbClr val="11211C"/>
                </a:solidFill>
              </a:rPr>
              <a:t>-1556</a:t>
            </a:r>
            <a:endParaRPr lang="en-US" sz="800" dirty="0"/>
          </a:p>
        </p:txBody>
      </p:sp>
      <p:sp>
        <p:nvSpPr>
          <p:cNvPr id="110" name="Shape 108"/>
          <p:cNvSpPr/>
          <p:nvPr/>
        </p:nvSpPr>
        <p:spPr>
          <a:xfrm>
            <a:off x="4133088" y="4325112"/>
            <a:ext cx="539496" cy="269748"/>
          </a:xfrm>
          <a:prstGeom prst="rect">
            <a:avLst/>
          </a:prstGeom>
          <a:solidFill>
            <a:srgbClr val="3E8E72">
              <a:alpha val="67000"/>
            </a:srgbClr>
          </a:solidFill>
          <a:ln w="3175">
            <a:solidFill>
              <a:srgbClr val="3E8E72">
                <a:alpha val="67000"/>
              </a:srgbClr>
            </a:solidFill>
            <a:prstDash val="solid"/>
          </a:ln>
        </p:spPr>
      </p:sp>
      <p:sp>
        <p:nvSpPr>
          <p:cNvPr id="111" name="Text 109"/>
          <p:cNvSpPr txBox="1"/>
          <p:nvPr/>
        </p:nvSpPr>
        <p:spPr>
          <a:xfrm>
            <a:off x="4133088" y="4325112"/>
            <a:ext cx="539496" cy="269748"/>
          </a:xfrm>
          <a:prstGeom prst="rect">
            <a:avLst/>
          </a:prstGeom>
          <a:noFill/>
          <a:ln/>
        </p:spPr>
        <p:txBody>
          <a:bodyPr wrap="square" lIns="0" tIns="0" rIns="0" bIns="0" rtlCol="0" anchor="ctr"/>
          <a:lstStyle/>
          <a:p>
            <a:pPr algn="ctr" indent="0" marL="0">
              <a:buNone/>
            </a:pPr>
            <a:r>
              <a:rPr lang="en-US" sz="800" dirty="0">
                <a:solidFill>
                  <a:srgbClr val="FFFFFF"/>
                </a:solidFill>
              </a:rPr>
              <a:t>-1564</a:t>
            </a:r>
            <a:endParaRPr lang="en-US" sz="800" dirty="0"/>
          </a:p>
        </p:txBody>
      </p:sp>
      <p:sp>
        <p:nvSpPr>
          <p:cNvPr id="112" name="Shape 110"/>
          <p:cNvSpPr/>
          <p:nvPr/>
        </p:nvSpPr>
        <p:spPr>
          <a:xfrm>
            <a:off x="4700016" y="4325112"/>
            <a:ext cx="539496" cy="269748"/>
          </a:xfrm>
          <a:prstGeom prst="rect">
            <a:avLst/>
          </a:prstGeom>
          <a:solidFill>
            <a:srgbClr val="3E8E72">
              <a:alpha val="62000"/>
            </a:srgbClr>
          </a:solidFill>
          <a:ln w="3175">
            <a:solidFill>
              <a:srgbClr val="3E8E72">
                <a:alpha val="62000"/>
              </a:srgbClr>
            </a:solidFill>
            <a:prstDash val="solid"/>
          </a:ln>
        </p:spPr>
      </p:sp>
      <p:sp>
        <p:nvSpPr>
          <p:cNvPr id="113" name="Text 111"/>
          <p:cNvSpPr txBox="1"/>
          <p:nvPr/>
        </p:nvSpPr>
        <p:spPr>
          <a:xfrm>
            <a:off x="4700016" y="4325112"/>
            <a:ext cx="539496" cy="269748"/>
          </a:xfrm>
          <a:prstGeom prst="rect">
            <a:avLst/>
          </a:prstGeom>
          <a:noFill/>
          <a:ln/>
        </p:spPr>
        <p:txBody>
          <a:bodyPr wrap="square" lIns="0" tIns="0" rIns="0" bIns="0" rtlCol="0" anchor="ctr"/>
          <a:lstStyle/>
          <a:p>
            <a:pPr algn="ctr" indent="0" marL="0">
              <a:buNone/>
            </a:pPr>
            <a:r>
              <a:rPr lang="en-US" sz="800" dirty="0">
                <a:solidFill>
                  <a:srgbClr val="11211C"/>
                </a:solidFill>
              </a:rPr>
              <a:t>-1557</a:t>
            </a:r>
            <a:endParaRPr lang="en-US" sz="800" dirty="0"/>
          </a:p>
        </p:txBody>
      </p:sp>
      <p:sp>
        <p:nvSpPr>
          <p:cNvPr id="114" name="Shape 112"/>
          <p:cNvSpPr/>
          <p:nvPr/>
        </p:nvSpPr>
        <p:spPr>
          <a:xfrm>
            <a:off x="5266944" y="4325112"/>
            <a:ext cx="539496" cy="269748"/>
          </a:xfrm>
          <a:prstGeom prst="rect">
            <a:avLst/>
          </a:prstGeom>
          <a:solidFill>
            <a:srgbClr val="3E8E72">
              <a:alpha val="59000"/>
            </a:srgbClr>
          </a:solidFill>
          <a:ln w="3175">
            <a:solidFill>
              <a:srgbClr val="3E8E72">
                <a:alpha val="59000"/>
              </a:srgbClr>
            </a:solidFill>
            <a:prstDash val="solid"/>
          </a:ln>
        </p:spPr>
      </p:sp>
      <p:sp>
        <p:nvSpPr>
          <p:cNvPr id="115" name="Text 113"/>
          <p:cNvSpPr txBox="1"/>
          <p:nvPr/>
        </p:nvSpPr>
        <p:spPr>
          <a:xfrm>
            <a:off x="5266944" y="4325112"/>
            <a:ext cx="539496" cy="269748"/>
          </a:xfrm>
          <a:prstGeom prst="rect">
            <a:avLst/>
          </a:prstGeom>
          <a:noFill/>
          <a:ln/>
        </p:spPr>
        <p:txBody>
          <a:bodyPr wrap="square" lIns="0" tIns="0" rIns="0" bIns="0" rtlCol="0" anchor="ctr"/>
          <a:lstStyle/>
          <a:p>
            <a:pPr algn="ctr" indent="0" marL="0">
              <a:buNone/>
            </a:pPr>
            <a:r>
              <a:rPr lang="en-US" sz="800" dirty="0">
                <a:solidFill>
                  <a:srgbClr val="11211C"/>
                </a:solidFill>
              </a:rPr>
              <a:t>-1553</a:t>
            </a:r>
            <a:endParaRPr lang="en-US" sz="800" dirty="0"/>
          </a:p>
        </p:txBody>
      </p:sp>
      <p:sp>
        <p:nvSpPr>
          <p:cNvPr id="116" name="Text 114"/>
          <p:cNvSpPr txBox="1"/>
          <p:nvPr/>
        </p:nvSpPr>
        <p:spPr>
          <a:xfrm>
            <a:off x="566928" y="4622292"/>
            <a:ext cx="1225296" cy="297180"/>
          </a:xfrm>
          <a:prstGeom prst="rect">
            <a:avLst/>
          </a:prstGeom>
          <a:noFill/>
          <a:ln/>
        </p:spPr>
        <p:txBody>
          <a:bodyPr wrap="square" lIns="0" tIns="0" rIns="0" bIns="0" rtlCol="0" anchor="ctr"/>
          <a:lstStyle/>
          <a:p>
            <a:pPr indent="0" marL="0">
              <a:buNone/>
            </a:pPr>
            <a:r>
              <a:rPr lang="en-US" sz="950" dirty="0">
                <a:solidFill>
                  <a:srgbClr val="11211C"/>
                </a:solidFill>
              </a:rPr>
              <a:t>synth-5</a:t>
            </a:r>
            <a:endParaRPr lang="en-US" sz="950" dirty="0"/>
          </a:p>
        </p:txBody>
      </p:sp>
      <p:sp>
        <p:nvSpPr>
          <p:cNvPr id="117" name="Shape 115"/>
          <p:cNvSpPr/>
          <p:nvPr/>
        </p:nvSpPr>
        <p:spPr>
          <a:xfrm>
            <a:off x="1865376" y="4622292"/>
            <a:ext cx="539496" cy="269748"/>
          </a:xfrm>
          <a:prstGeom prst="rect">
            <a:avLst/>
          </a:prstGeom>
          <a:solidFill>
            <a:srgbClr val="3E8E72">
              <a:alpha val="79000"/>
            </a:srgbClr>
          </a:solidFill>
          <a:ln w="3175">
            <a:solidFill>
              <a:srgbClr val="3E8E72">
                <a:alpha val="79000"/>
              </a:srgbClr>
            </a:solidFill>
            <a:prstDash val="solid"/>
          </a:ln>
        </p:spPr>
      </p:sp>
      <p:sp>
        <p:nvSpPr>
          <p:cNvPr id="118" name="Text 116"/>
          <p:cNvSpPr txBox="1"/>
          <p:nvPr/>
        </p:nvSpPr>
        <p:spPr>
          <a:xfrm>
            <a:off x="1865376" y="4622292"/>
            <a:ext cx="539496" cy="269748"/>
          </a:xfrm>
          <a:prstGeom prst="rect">
            <a:avLst/>
          </a:prstGeom>
          <a:noFill/>
          <a:ln/>
        </p:spPr>
        <p:txBody>
          <a:bodyPr wrap="square" lIns="0" tIns="0" rIns="0" bIns="0" rtlCol="0" anchor="ctr"/>
          <a:lstStyle/>
          <a:p>
            <a:pPr algn="ctr" indent="0" marL="0">
              <a:buNone/>
            </a:pPr>
            <a:r>
              <a:rPr lang="en-US" sz="800" dirty="0">
                <a:solidFill>
                  <a:srgbClr val="FFFFFF"/>
                </a:solidFill>
              </a:rPr>
              <a:t>-1583</a:t>
            </a:r>
            <a:endParaRPr lang="en-US" sz="800" dirty="0"/>
          </a:p>
        </p:txBody>
      </p:sp>
      <p:sp>
        <p:nvSpPr>
          <p:cNvPr id="119" name="Shape 117"/>
          <p:cNvSpPr/>
          <p:nvPr/>
        </p:nvSpPr>
        <p:spPr>
          <a:xfrm>
            <a:off x="2432304" y="4622292"/>
            <a:ext cx="539496" cy="269748"/>
          </a:xfrm>
          <a:prstGeom prst="rect">
            <a:avLst/>
          </a:prstGeom>
          <a:solidFill>
            <a:srgbClr val="3E8E72">
              <a:alpha val="88000"/>
            </a:srgbClr>
          </a:solidFill>
          <a:ln w="19050">
            <a:solidFill>
              <a:srgbClr val="1F3A33"/>
            </a:solidFill>
            <a:prstDash val="solid"/>
          </a:ln>
        </p:spPr>
      </p:sp>
      <p:sp>
        <p:nvSpPr>
          <p:cNvPr id="120" name="Text 118"/>
          <p:cNvSpPr txBox="1"/>
          <p:nvPr/>
        </p:nvSpPr>
        <p:spPr>
          <a:xfrm>
            <a:off x="2432304" y="4622292"/>
            <a:ext cx="539496" cy="269748"/>
          </a:xfrm>
          <a:prstGeom prst="rect">
            <a:avLst/>
          </a:prstGeom>
          <a:noFill/>
          <a:ln/>
        </p:spPr>
        <p:txBody>
          <a:bodyPr wrap="square" lIns="0" tIns="0" rIns="0" bIns="0" rtlCol="0" anchor="ctr"/>
          <a:lstStyle/>
          <a:p>
            <a:pPr algn="ctr" indent="0" marL="0">
              <a:buNone/>
            </a:pPr>
            <a:r>
              <a:rPr lang="en-US" sz="800" b="1" dirty="0">
                <a:solidFill>
                  <a:srgbClr val="FFFFFF"/>
                </a:solidFill>
              </a:rPr>
              <a:t>-1597</a:t>
            </a:r>
            <a:endParaRPr lang="en-US" sz="800" dirty="0"/>
          </a:p>
        </p:txBody>
      </p:sp>
      <p:sp>
        <p:nvSpPr>
          <p:cNvPr id="121" name="Shape 119"/>
          <p:cNvSpPr/>
          <p:nvPr/>
        </p:nvSpPr>
        <p:spPr>
          <a:xfrm>
            <a:off x="2999232" y="4622292"/>
            <a:ext cx="539496" cy="269748"/>
          </a:xfrm>
          <a:prstGeom prst="rect">
            <a:avLst/>
          </a:prstGeom>
          <a:solidFill>
            <a:srgbClr val="3E8E72">
              <a:alpha val="8000"/>
            </a:srgbClr>
          </a:solidFill>
          <a:ln w="3175">
            <a:solidFill>
              <a:srgbClr val="3E8E72">
                <a:alpha val="8000"/>
              </a:srgbClr>
            </a:solidFill>
            <a:prstDash val="solid"/>
          </a:ln>
        </p:spPr>
      </p:sp>
      <p:sp>
        <p:nvSpPr>
          <p:cNvPr id="122" name="Text 120"/>
          <p:cNvSpPr txBox="1"/>
          <p:nvPr/>
        </p:nvSpPr>
        <p:spPr>
          <a:xfrm>
            <a:off x="2999232" y="4622292"/>
            <a:ext cx="539496" cy="269748"/>
          </a:xfrm>
          <a:prstGeom prst="rect">
            <a:avLst/>
          </a:prstGeom>
          <a:noFill/>
          <a:ln/>
        </p:spPr>
        <p:txBody>
          <a:bodyPr wrap="square" lIns="0" tIns="0" rIns="0" bIns="0" rtlCol="0" anchor="ctr"/>
          <a:lstStyle/>
          <a:p>
            <a:pPr algn="ctr" indent="0" marL="0">
              <a:buNone/>
            </a:pPr>
            <a:r>
              <a:rPr lang="en-US" sz="800" dirty="0">
                <a:solidFill>
                  <a:srgbClr val="11211C"/>
                </a:solidFill>
              </a:rPr>
              <a:t>-1473</a:t>
            </a:r>
            <a:endParaRPr lang="en-US" sz="800" dirty="0"/>
          </a:p>
        </p:txBody>
      </p:sp>
      <p:sp>
        <p:nvSpPr>
          <p:cNvPr id="123" name="Shape 121"/>
          <p:cNvSpPr/>
          <p:nvPr/>
        </p:nvSpPr>
        <p:spPr>
          <a:xfrm>
            <a:off x="3566160" y="4622292"/>
            <a:ext cx="539496" cy="269748"/>
          </a:xfrm>
          <a:prstGeom prst="rect">
            <a:avLst/>
          </a:prstGeom>
          <a:solidFill>
            <a:srgbClr val="3E8E72">
              <a:alpha val="63000"/>
            </a:srgbClr>
          </a:solidFill>
          <a:ln w="3175">
            <a:solidFill>
              <a:srgbClr val="3E8E72">
                <a:alpha val="63000"/>
              </a:srgbClr>
            </a:solidFill>
            <a:prstDash val="solid"/>
          </a:ln>
        </p:spPr>
      </p:sp>
      <p:sp>
        <p:nvSpPr>
          <p:cNvPr id="124" name="Text 122"/>
          <p:cNvSpPr txBox="1"/>
          <p:nvPr/>
        </p:nvSpPr>
        <p:spPr>
          <a:xfrm>
            <a:off x="3566160" y="4622292"/>
            <a:ext cx="539496" cy="269748"/>
          </a:xfrm>
          <a:prstGeom prst="rect">
            <a:avLst/>
          </a:prstGeom>
          <a:noFill/>
          <a:ln/>
        </p:spPr>
        <p:txBody>
          <a:bodyPr wrap="square" lIns="0" tIns="0" rIns="0" bIns="0" rtlCol="0" anchor="ctr"/>
          <a:lstStyle/>
          <a:p>
            <a:pPr algn="ctr" indent="0" marL="0">
              <a:buNone/>
            </a:pPr>
            <a:r>
              <a:rPr lang="en-US" sz="800" dirty="0">
                <a:solidFill>
                  <a:srgbClr val="11211C"/>
                </a:solidFill>
              </a:rPr>
              <a:t>-1559</a:t>
            </a:r>
            <a:endParaRPr lang="en-US" sz="800" dirty="0"/>
          </a:p>
        </p:txBody>
      </p:sp>
      <p:sp>
        <p:nvSpPr>
          <p:cNvPr id="125" name="Shape 123"/>
          <p:cNvSpPr/>
          <p:nvPr/>
        </p:nvSpPr>
        <p:spPr>
          <a:xfrm>
            <a:off x="4133088" y="4622292"/>
            <a:ext cx="539496" cy="269748"/>
          </a:xfrm>
          <a:prstGeom prst="rect">
            <a:avLst/>
          </a:prstGeom>
          <a:solidFill>
            <a:srgbClr val="3E8E72">
              <a:alpha val="64000"/>
            </a:srgbClr>
          </a:solidFill>
          <a:ln w="3175">
            <a:solidFill>
              <a:srgbClr val="3E8E72">
                <a:alpha val="64000"/>
              </a:srgbClr>
            </a:solidFill>
            <a:prstDash val="solid"/>
          </a:ln>
        </p:spPr>
      </p:sp>
      <p:sp>
        <p:nvSpPr>
          <p:cNvPr id="126" name="Text 124"/>
          <p:cNvSpPr txBox="1"/>
          <p:nvPr/>
        </p:nvSpPr>
        <p:spPr>
          <a:xfrm>
            <a:off x="4133088" y="4622292"/>
            <a:ext cx="539496" cy="269748"/>
          </a:xfrm>
          <a:prstGeom prst="rect">
            <a:avLst/>
          </a:prstGeom>
          <a:noFill/>
          <a:ln/>
        </p:spPr>
        <p:txBody>
          <a:bodyPr wrap="square" lIns="0" tIns="0" rIns="0" bIns="0" rtlCol="0" anchor="ctr"/>
          <a:lstStyle/>
          <a:p>
            <a:pPr algn="ctr" indent="0" marL="0">
              <a:buNone/>
            </a:pPr>
            <a:r>
              <a:rPr lang="en-US" sz="800" dirty="0">
                <a:solidFill>
                  <a:srgbClr val="11211C"/>
                </a:solidFill>
              </a:rPr>
              <a:t>-1561</a:t>
            </a:r>
            <a:endParaRPr lang="en-US" sz="800" dirty="0"/>
          </a:p>
        </p:txBody>
      </p:sp>
      <p:sp>
        <p:nvSpPr>
          <p:cNvPr id="127" name="Shape 125"/>
          <p:cNvSpPr/>
          <p:nvPr/>
        </p:nvSpPr>
        <p:spPr>
          <a:xfrm>
            <a:off x="4700016" y="4622292"/>
            <a:ext cx="539496" cy="269748"/>
          </a:xfrm>
          <a:prstGeom prst="rect">
            <a:avLst/>
          </a:prstGeom>
          <a:solidFill>
            <a:srgbClr val="3E8E72">
              <a:alpha val="68000"/>
            </a:srgbClr>
          </a:solidFill>
          <a:ln w="3175">
            <a:solidFill>
              <a:srgbClr val="3E8E72">
                <a:alpha val="68000"/>
              </a:srgbClr>
            </a:solidFill>
            <a:prstDash val="solid"/>
          </a:ln>
        </p:spPr>
      </p:sp>
      <p:sp>
        <p:nvSpPr>
          <p:cNvPr id="128" name="Text 126"/>
          <p:cNvSpPr txBox="1"/>
          <p:nvPr/>
        </p:nvSpPr>
        <p:spPr>
          <a:xfrm>
            <a:off x="4700016" y="4622292"/>
            <a:ext cx="539496" cy="269748"/>
          </a:xfrm>
          <a:prstGeom prst="rect">
            <a:avLst/>
          </a:prstGeom>
          <a:noFill/>
          <a:ln/>
        </p:spPr>
        <p:txBody>
          <a:bodyPr wrap="square" lIns="0" tIns="0" rIns="0" bIns="0" rtlCol="0" anchor="ctr"/>
          <a:lstStyle/>
          <a:p>
            <a:pPr algn="ctr" indent="0" marL="0">
              <a:buNone/>
            </a:pPr>
            <a:r>
              <a:rPr lang="en-US" sz="800" dirty="0">
                <a:solidFill>
                  <a:srgbClr val="FFFFFF"/>
                </a:solidFill>
              </a:rPr>
              <a:t>-1566</a:t>
            </a:r>
            <a:endParaRPr lang="en-US" sz="800" dirty="0"/>
          </a:p>
        </p:txBody>
      </p:sp>
      <p:sp>
        <p:nvSpPr>
          <p:cNvPr id="129" name="Shape 127"/>
          <p:cNvSpPr/>
          <p:nvPr/>
        </p:nvSpPr>
        <p:spPr>
          <a:xfrm>
            <a:off x="5266944" y="4622292"/>
            <a:ext cx="539496" cy="269748"/>
          </a:xfrm>
          <a:prstGeom prst="rect">
            <a:avLst/>
          </a:prstGeom>
          <a:solidFill>
            <a:srgbClr val="3E8E72">
              <a:alpha val="63000"/>
            </a:srgbClr>
          </a:solidFill>
          <a:ln w="3175">
            <a:solidFill>
              <a:srgbClr val="3E8E72">
                <a:alpha val="63000"/>
              </a:srgbClr>
            </a:solidFill>
            <a:prstDash val="solid"/>
          </a:ln>
        </p:spPr>
      </p:sp>
      <p:sp>
        <p:nvSpPr>
          <p:cNvPr id="130" name="Text 128"/>
          <p:cNvSpPr txBox="1"/>
          <p:nvPr/>
        </p:nvSpPr>
        <p:spPr>
          <a:xfrm>
            <a:off x="5266944" y="4622292"/>
            <a:ext cx="539496" cy="269748"/>
          </a:xfrm>
          <a:prstGeom prst="rect">
            <a:avLst/>
          </a:prstGeom>
          <a:noFill/>
          <a:ln/>
        </p:spPr>
        <p:txBody>
          <a:bodyPr wrap="square" lIns="0" tIns="0" rIns="0" bIns="0" rtlCol="0" anchor="ctr"/>
          <a:lstStyle/>
          <a:p>
            <a:pPr algn="ctr" indent="0" marL="0">
              <a:buNone/>
            </a:pPr>
            <a:r>
              <a:rPr lang="en-US" sz="800" dirty="0">
                <a:solidFill>
                  <a:srgbClr val="11211C"/>
                </a:solidFill>
              </a:rPr>
              <a:t>-1559</a:t>
            </a:r>
            <a:endParaRPr lang="en-US" sz="800" dirty="0"/>
          </a:p>
        </p:txBody>
      </p:sp>
      <p:sp>
        <p:nvSpPr>
          <p:cNvPr id="131" name="Text 129"/>
          <p:cNvSpPr txBox="1"/>
          <p:nvPr/>
        </p:nvSpPr>
        <p:spPr>
          <a:xfrm>
            <a:off x="566928" y="4919472"/>
            <a:ext cx="1225296" cy="297180"/>
          </a:xfrm>
          <a:prstGeom prst="rect">
            <a:avLst/>
          </a:prstGeom>
          <a:noFill/>
          <a:ln/>
        </p:spPr>
        <p:txBody>
          <a:bodyPr wrap="square" lIns="0" tIns="0" rIns="0" bIns="0" rtlCol="0" anchor="ctr"/>
          <a:lstStyle/>
          <a:p>
            <a:pPr indent="0" marL="0">
              <a:buNone/>
            </a:pPr>
            <a:r>
              <a:rPr lang="en-US" sz="950" dirty="0">
                <a:solidFill>
                  <a:srgbClr val="11211C"/>
                </a:solidFill>
              </a:rPr>
              <a:t>synth-6</a:t>
            </a:r>
            <a:endParaRPr lang="en-US" sz="950" dirty="0"/>
          </a:p>
        </p:txBody>
      </p:sp>
      <p:sp>
        <p:nvSpPr>
          <p:cNvPr id="132" name="Shape 130"/>
          <p:cNvSpPr/>
          <p:nvPr/>
        </p:nvSpPr>
        <p:spPr>
          <a:xfrm>
            <a:off x="1865376" y="4919472"/>
            <a:ext cx="539496" cy="269748"/>
          </a:xfrm>
          <a:prstGeom prst="rect">
            <a:avLst/>
          </a:prstGeom>
          <a:solidFill>
            <a:srgbClr val="3E8E72">
              <a:alpha val="88000"/>
            </a:srgbClr>
          </a:solidFill>
          <a:ln w="19050">
            <a:solidFill>
              <a:srgbClr val="1F3A33"/>
            </a:solidFill>
            <a:prstDash val="solid"/>
          </a:ln>
        </p:spPr>
      </p:sp>
      <p:sp>
        <p:nvSpPr>
          <p:cNvPr id="133" name="Text 131"/>
          <p:cNvSpPr txBox="1"/>
          <p:nvPr/>
        </p:nvSpPr>
        <p:spPr>
          <a:xfrm>
            <a:off x="1865376" y="4919472"/>
            <a:ext cx="539496" cy="269748"/>
          </a:xfrm>
          <a:prstGeom prst="rect">
            <a:avLst/>
          </a:prstGeom>
          <a:noFill/>
          <a:ln/>
        </p:spPr>
        <p:txBody>
          <a:bodyPr wrap="square" lIns="0" tIns="0" rIns="0" bIns="0" rtlCol="0" anchor="ctr"/>
          <a:lstStyle/>
          <a:p>
            <a:pPr algn="ctr" indent="0" marL="0">
              <a:buNone/>
            </a:pPr>
            <a:r>
              <a:rPr lang="en-US" sz="800" b="1" dirty="0">
                <a:solidFill>
                  <a:srgbClr val="FFFFFF"/>
                </a:solidFill>
              </a:rPr>
              <a:t>-5167</a:t>
            </a:r>
            <a:endParaRPr lang="en-US" sz="800" dirty="0"/>
          </a:p>
        </p:txBody>
      </p:sp>
      <p:sp>
        <p:nvSpPr>
          <p:cNvPr id="134" name="Shape 132"/>
          <p:cNvSpPr/>
          <p:nvPr/>
        </p:nvSpPr>
        <p:spPr>
          <a:xfrm>
            <a:off x="2432304" y="4919472"/>
            <a:ext cx="539496" cy="269748"/>
          </a:xfrm>
          <a:prstGeom prst="rect">
            <a:avLst/>
          </a:prstGeom>
          <a:solidFill>
            <a:srgbClr val="3E8E72">
              <a:alpha val="8000"/>
            </a:srgbClr>
          </a:solidFill>
          <a:ln w="3175">
            <a:solidFill>
              <a:srgbClr val="3E8E72">
                <a:alpha val="8000"/>
              </a:srgbClr>
            </a:solidFill>
            <a:prstDash val="solid"/>
          </a:ln>
        </p:spPr>
      </p:sp>
      <p:sp>
        <p:nvSpPr>
          <p:cNvPr id="135" name="Text 133"/>
          <p:cNvSpPr txBox="1"/>
          <p:nvPr/>
        </p:nvSpPr>
        <p:spPr>
          <a:xfrm>
            <a:off x="2432304" y="4919472"/>
            <a:ext cx="539496" cy="269748"/>
          </a:xfrm>
          <a:prstGeom prst="rect">
            <a:avLst/>
          </a:prstGeom>
          <a:noFill/>
          <a:ln/>
        </p:spPr>
        <p:txBody>
          <a:bodyPr wrap="square" lIns="0" tIns="0" rIns="0" bIns="0" rtlCol="0" anchor="ctr"/>
          <a:lstStyle/>
          <a:p>
            <a:pPr algn="ctr" indent="0" marL="0">
              <a:buNone/>
            </a:pPr>
            <a:r>
              <a:rPr lang="en-US" sz="800" dirty="0">
                <a:solidFill>
                  <a:srgbClr val="11211C"/>
                </a:solidFill>
              </a:rPr>
              <a:t>-4798</a:t>
            </a:r>
            <a:endParaRPr lang="en-US" sz="800" dirty="0"/>
          </a:p>
        </p:txBody>
      </p:sp>
      <p:sp>
        <p:nvSpPr>
          <p:cNvPr id="136" name="Shape 134"/>
          <p:cNvSpPr/>
          <p:nvPr/>
        </p:nvSpPr>
        <p:spPr>
          <a:xfrm>
            <a:off x="2999232" y="4919472"/>
            <a:ext cx="539496" cy="269748"/>
          </a:xfrm>
          <a:prstGeom prst="rect">
            <a:avLst/>
          </a:prstGeom>
          <a:solidFill>
            <a:srgbClr val="F2EDE9"/>
          </a:solidFill>
          <a:ln w="6350">
            <a:solidFill>
              <a:srgbClr val="E4D5CC"/>
            </a:solidFill>
            <a:prstDash val="solid"/>
          </a:ln>
        </p:spPr>
      </p:sp>
      <p:sp>
        <p:nvSpPr>
          <p:cNvPr id="137" name="Text 135"/>
          <p:cNvSpPr txBox="1"/>
          <p:nvPr/>
        </p:nvSpPr>
        <p:spPr>
          <a:xfrm>
            <a:off x="2999232" y="4919472"/>
            <a:ext cx="539496" cy="269748"/>
          </a:xfrm>
          <a:prstGeom prst="rect">
            <a:avLst/>
          </a:prstGeom>
          <a:noFill/>
          <a:ln/>
        </p:spPr>
        <p:txBody>
          <a:bodyPr wrap="square" lIns="0" tIns="0" rIns="0" bIns="0" rtlCol="0" anchor="ctr"/>
          <a:lstStyle/>
          <a:p>
            <a:pPr algn="ctr" indent="0" marL="0">
              <a:buNone/>
            </a:pPr>
            <a:r>
              <a:rPr lang="en-US" sz="750" i="1" dirty="0">
                <a:solidFill>
                  <a:srgbClr val="C0603C"/>
                </a:solidFill>
              </a:rPr>
              <a:t>none</a:t>
            </a:r>
            <a:endParaRPr lang="en-US" sz="750" dirty="0"/>
          </a:p>
        </p:txBody>
      </p:sp>
      <p:sp>
        <p:nvSpPr>
          <p:cNvPr id="138" name="Shape 136"/>
          <p:cNvSpPr/>
          <p:nvPr/>
        </p:nvSpPr>
        <p:spPr>
          <a:xfrm>
            <a:off x="3566160" y="4919472"/>
            <a:ext cx="539496" cy="269748"/>
          </a:xfrm>
          <a:prstGeom prst="rect">
            <a:avLst/>
          </a:prstGeom>
          <a:solidFill>
            <a:srgbClr val="3E8E72">
              <a:alpha val="8000"/>
            </a:srgbClr>
          </a:solidFill>
          <a:ln w="3175">
            <a:solidFill>
              <a:srgbClr val="3E8E72">
                <a:alpha val="8000"/>
              </a:srgbClr>
            </a:solidFill>
            <a:prstDash val="solid"/>
          </a:ln>
        </p:spPr>
      </p:sp>
      <p:sp>
        <p:nvSpPr>
          <p:cNvPr id="139" name="Text 137"/>
          <p:cNvSpPr txBox="1"/>
          <p:nvPr/>
        </p:nvSpPr>
        <p:spPr>
          <a:xfrm>
            <a:off x="3566160" y="4919472"/>
            <a:ext cx="539496" cy="269748"/>
          </a:xfrm>
          <a:prstGeom prst="rect">
            <a:avLst/>
          </a:prstGeom>
          <a:noFill/>
          <a:ln/>
        </p:spPr>
        <p:txBody>
          <a:bodyPr wrap="square" lIns="0" tIns="0" rIns="0" bIns="0" rtlCol="0" anchor="ctr"/>
          <a:lstStyle/>
          <a:p>
            <a:pPr algn="ctr" indent="0" marL="0">
              <a:buNone/>
            </a:pPr>
            <a:r>
              <a:rPr lang="en-US" sz="800" dirty="0">
                <a:solidFill>
                  <a:srgbClr val="11211C"/>
                </a:solidFill>
              </a:rPr>
              <a:t>-4796</a:t>
            </a:r>
            <a:endParaRPr lang="en-US" sz="800" dirty="0"/>
          </a:p>
        </p:txBody>
      </p:sp>
      <p:sp>
        <p:nvSpPr>
          <p:cNvPr id="140" name="Shape 138"/>
          <p:cNvSpPr/>
          <p:nvPr/>
        </p:nvSpPr>
        <p:spPr>
          <a:xfrm>
            <a:off x="4133088" y="4919472"/>
            <a:ext cx="539496" cy="269748"/>
          </a:xfrm>
          <a:prstGeom prst="rect">
            <a:avLst/>
          </a:prstGeom>
          <a:solidFill>
            <a:srgbClr val="3E8E72">
              <a:alpha val="9000"/>
            </a:srgbClr>
          </a:solidFill>
          <a:ln w="3175">
            <a:solidFill>
              <a:srgbClr val="3E8E72">
                <a:alpha val="9000"/>
              </a:srgbClr>
            </a:solidFill>
            <a:prstDash val="solid"/>
          </a:ln>
        </p:spPr>
      </p:sp>
      <p:sp>
        <p:nvSpPr>
          <p:cNvPr id="141" name="Text 139"/>
          <p:cNvSpPr txBox="1"/>
          <p:nvPr/>
        </p:nvSpPr>
        <p:spPr>
          <a:xfrm>
            <a:off x="4133088" y="4919472"/>
            <a:ext cx="539496" cy="269748"/>
          </a:xfrm>
          <a:prstGeom prst="rect">
            <a:avLst/>
          </a:prstGeom>
          <a:noFill/>
          <a:ln/>
        </p:spPr>
        <p:txBody>
          <a:bodyPr wrap="square" lIns="0" tIns="0" rIns="0" bIns="0" rtlCol="0" anchor="ctr"/>
          <a:lstStyle/>
          <a:p>
            <a:pPr algn="ctr" indent="0" marL="0">
              <a:buNone/>
            </a:pPr>
            <a:r>
              <a:rPr lang="en-US" sz="800" dirty="0">
                <a:solidFill>
                  <a:srgbClr val="11211C"/>
                </a:solidFill>
              </a:rPr>
              <a:t>-4801</a:t>
            </a:r>
            <a:endParaRPr lang="en-US" sz="800" dirty="0"/>
          </a:p>
        </p:txBody>
      </p:sp>
      <p:sp>
        <p:nvSpPr>
          <p:cNvPr id="142" name="Shape 140"/>
          <p:cNvSpPr/>
          <p:nvPr/>
        </p:nvSpPr>
        <p:spPr>
          <a:xfrm>
            <a:off x="4700016" y="4919472"/>
            <a:ext cx="539496" cy="269748"/>
          </a:xfrm>
          <a:prstGeom prst="rect">
            <a:avLst/>
          </a:prstGeom>
          <a:solidFill>
            <a:srgbClr val="3E8E72">
              <a:alpha val="8000"/>
            </a:srgbClr>
          </a:solidFill>
          <a:ln w="3175">
            <a:solidFill>
              <a:srgbClr val="3E8E72">
                <a:alpha val="8000"/>
              </a:srgbClr>
            </a:solidFill>
            <a:prstDash val="solid"/>
          </a:ln>
        </p:spPr>
      </p:sp>
      <p:sp>
        <p:nvSpPr>
          <p:cNvPr id="143" name="Text 141"/>
          <p:cNvSpPr txBox="1"/>
          <p:nvPr/>
        </p:nvSpPr>
        <p:spPr>
          <a:xfrm>
            <a:off x="4700016" y="4919472"/>
            <a:ext cx="539496" cy="269748"/>
          </a:xfrm>
          <a:prstGeom prst="rect">
            <a:avLst/>
          </a:prstGeom>
          <a:noFill/>
          <a:ln/>
        </p:spPr>
        <p:txBody>
          <a:bodyPr wrap="square" lIns="0" tIns="0" rIns="0" bIns="0" rtlCol="0" anchor="ctr"/>
          <a:lstStyle/>
          <a:p>
            <a:pPr algn="ctr" indent="0" marL="0">
              <a:buNone/>
            </a:pPr>
            <a:r>
              <a:rPr lang="en-US" sz="800" dirty="0">
                <a:solidFill>
                  <a:srgbClr val="11211C"/>
                </a:solidFill>
              </a:rPr>
              <a:t>-4797</a:t>
            </a:r>
            <a:endParaRPr lang="en-US" sz="800" dirty="0"/>
          </a:p>
        </p:txBody>
      </p:sp>
      <p:sp>
        <p:nvSpPr>
          <p:cNvPr id="144" name="Shape 142"/>
          <p:cNvSpPr/>
          <p:nvPr/>
        </p:nvSpPr>
        <p:spPr>
          <a:xfrm>
            <a:off x="5266944" y="4919472"/>
            <a:ext cx="539496" cy="269748"/>
          </a:xfrm>
          <a:prstGeom prst="rect">
            <a:avLst/>
          </a:prstGeom>
          <a:solidFill>
            <a:srgbClr val="3E8E72">
              <a:alpha val="33000"/>
            </a:srgbClr>
          </a:solidFill>
          <a:ln w="3175">
            <a:solidFill>
              <a:srgbClr val="3E8E72">
                <a:alpha val="33000"/>
              </a:srgbClr>
            </a:solidFill>
            <a:prstDash val="solid"/>
          </a:ln>
        </p:spPr>
      </p:sp>
      <p:sp>
        <p:nvSpPr>
          <p:cNvPr id="145" name="Text 143"/>
          <p:cNvSpPr txBox="1"/>
          <p:nvPr/>
        </p:nvSpPr>
        <p:spPr>
          <a:xfrm>
            <a:off x="5266944" y="4919472"/>
            <a:ext cx="539496" cy="269748"/>
          </a:xfrm>
          <a:prstGeom prst="rect">
            <a:avLst/>
          </a:prstGeom>
          <a:noFill/>
          <a:ln/>
        </p:spPr>
        <p:txBody>
          <a:bodyPr wrap="square" lIns="0" tIns="0" rIns="0" bIns="0" rtlCol="0" anchor="ctr"/>
          <a:lstStyle/>
          <a:p>
            <a:pPr algn="ctr" indent="0" marL="0">
              <a:buNone/>
            </a:pPr>
            <a:r>
              <a:rPr lang="en-US" sz="800" dirty="0">
                <a:solidFill>
                  <a:srgbClr val="11211C"/>
                </a:solidFill>
              </a:rPr>
              <a:t>-4911</a:t>
            </a:r>
            <a:endParaRPr lang="en-US" sz="800" dirty="0"/>
          </a:p>
        </p:txBody>
      </p:sp>
      <p:sp>
        <p:nvSpPr>
          <p:cNvPr id="146" name="Text 144"/>
          <p:cNvSpPr txBox="1"/>
          <p:nvPr/>
        </p:nvSpPr>
        <p:spPr>
          <a:xfrm>
            <a:off x="566928" y="5216652"/>
            <a:ext cx="1225296" cy="297180"/>
          </a:xfrm>
          <a:prstGeom prst="rect">
            <a:avLst/>
          </a:prstGeom>
          <a:noFill/>
          <a:ln/>
        </p:spPr>
        <p:txBody>
          <a:bodyPr wrap="square" lIns="0" tIns="0" rIns="0" bIns="0" rtlCol="0" anchor="ctr"/>
          <a:lstStyle/>
          <a:p>
            <a:pPr indent="0" marL="0">
              <a:buNone/>
            </a:pPr>
            <a:r>
              <a:rPr lang="en-US" sz="950" dirty="0">
                <a:solidFill>
                  <a:srgbClr val="11211C"/>
                </a:solidFill>
              </a:rPr>
              <a:t>synth-7</a:t>
            </a:r>
            <a:endParaRPr lang="en-US" sz="950" dirty="0"/>
          </a:p>
        </p:txBody>
      </p:sp>
      <p:sp>
        <p:nvSpPr>
          <p:cNvPr id="147" name="Shape 145"/>
          <p:cNvSpPr/>
          <p:nvPr/>
        </p:nvSpPr>
        <p:spPr>
          <a:xfrm>
            <a:off x="1865376" y="5216652"/>
            <a:ext cx="539496" cy="269748"/>
          </a:xfrm>
          <a:prstGeom prst="rect">
            <a:avLst/>
          </a:prstGeom>
          <a:solidFill>
            <a:srgbClr val="3E8E72">
              <a:alpha val="88000"/>
            </a:srgbClr>
          </a:solidFill>
          <a:ln w="19050">
            <a:solidFill>
              <a:srgbClr val="1F3A33"/>
            </a:solidFill>
            <a:prstDash val="solid"/>
          </a:ln>
        </p:spPr>
      </p:sp>
      <p:sp>
        <p:nvSpPr>
          <p:cNvPr id="148" name="Text 146"/>
          <p:cNvSpPr txBox="1"/>
          <p:nvPr/>
        </p:nvSpPr>
        <p:spPr>
          <a:xfrm>
            <a:off x="1865376" y="5216652"/>
            <a:ext cx="539496" cy="269748"/>
          </a:xfrm>
          <a:prstGeom prst="rect">
            <a:avLst/>
          </a:prstGeom>
          <a:noFill/>
          <a:ln/>
        </p:spPr>
        <p:txBody>
          <a:bodyPr wrap="square" lIns="0" tIns="0" rIns="0" bIns="0" rtlCol="0" anchor="ctr"/>
          <a:lstStyle/>
          <a:p>
            <a:pPr algn="ctr" indent="0" marL="0">
              <a:buNone/>
            </a:pPr>
            <a:r>
              <a:rPr lang="en-US" sz="800" b="1" dirty="0">
                <a:solidFill>
                  <a:srgbClr val="FFFFFF"/>
                </a:solidFill>
              </a:rPr>
              <a:t>-5204</a:t>
            </a:r>
            <a:endParaRPr lang="en-US" sz="800" dirty="0"/>
          </a:p>
        </p:txBody>
      </p:sp>
      <p:sp>
        <p:nvSpPr>
          <p:cNvPr id="149" name="Shape 147"/>
          <p:cNvSpPr/>
          <p:nvPr/>
        </p:nvSpPr>
        <p:spPr>
          <a:xfrm>
            <a:off x="2432304" y="5216652"/>
            <a:ext cx="539496" cy="269748"/>
          </a:xfrm>
          <a:prstGeom prst="rect">
            <a:avLst/>
          </a:prstGeom>
          <a:solidFill>
            <a:srgbClr val="3E8E72">
              <a:alpha val="9000"/>
            </a:srgbClr>
          </a:solidFill>
          <a:ln w="3175">
            <a:solidFill>
              <a:srgbClr val="3E8E72">
                <a:alpha val="9000"/>
              </a:srgbClr>
            </a:solidFill>
            <a:prstDash val="solid"/>
          </a:ln>
        </p:spPr>
      </p:sp>
      <p:sp>
        <p:nvSpPr>
          <p:cNvPr id="150" name="Text 148"/>
          <p:cNvSpPr txBox="1"/>
          <p:nvPr/>
        </p:nvSpPr>
        <p:spPr>
          <a:xfrm>
            <a:off x="2432304" y="5216652"/>
            <a:ext cx="539496" cy="269748"/>
          </a:xfrm>
          <a:prstGeom prst="rect">
            <a:avLst/>
          </a:prstGeom>
          <a:noFill/>
          <a:ln/>
        </p:spPr>
        <p:txBody>
          <a:bodyPr wrap="square" lIns="0" tIns="0" rIns="0" bIns="0" rtlCol="0" anchor="ctr"/>
          <a:lstStyle/>
          <a:p>
            <a:pPr algn="ctr" indent="0" marL="0">
              <a:buNone/>
            </a:pPr>
            <a:r>
              <a:rPr lang="en-US" sz="800" dirty="0">
                <a:solidFill>
                  <a:srgbClr val="11211C"/>
                </a:solidFill>
              </a:rPr>
              <a:t>-4800</a:t>
            </a:r>
            <a:endParaRPr lang="en-US" sz="800" dirty="0"/>
          </a:p>
        </p:txBody>
      </p:sp>
      <p:sp>
        <p:nvSpPr>
          <p:cNvPr id="151" name="Shape 149"/>
          <p:cNvSpPr/>
          <p:nvPr/>
        </p:nvSpPr>
        <p:spPr>
          <a:xfrm>
            <a:off x="2999232" y="5216652"/>
            <a:ext cx="539496" cy="269748"/>
          </a:xfrm>
          <a:prstGeom prst="rect">
            <a:avLst/>
          </a:prstGeom>
          <a:solidFill>
            <a:srgbClr val="F2EDE9"/>
          </a:solidFill>
          <a:ln w="6350">
            <a:solidFill>
              <a:srgbClr val="E4D5CC"/>
            </a:solidFill>
            <a:prstDash val="solid"/>
          </a:ln>
        </p:spPr>
      </p:sp>
      <p:sp>
        <p:nvSpPr>
          <p:cNvPr id="152" name="Text 150"/>
          <p:cNvSpPr txBox="1"/>
          <p:nvPr/>
        </p:nvSpPr>
        <p:spPr>
          <a:xfrm>
            <a:off x="2999232" y="5216652"/>
            <a:ext cx="539496" cy="269748"/>
          </a:xfrm>
          <a:prstGeom prst="rect">
            <a:avLst/>
          </a:prstGeom>
          <a:noFill/>
          <a:ln/>
        </p:spPr>
        <p:txBody>
          <a:bodyPr wrap="square" lIns="0" tIns="0" rIns="0" bIns="0" rtlCol="0" anchor="ctr"/>
          <a:lstStyle/>
          <a:p>
            <a:pPr algn="ctr" indent="0" marL="0">
              <a:buNone/>
            </a:pPr>
            <a:r>
              <a:rPr lang="en-US" sz="750" i="1" dirty="0">
                <a:solidFill>
                  <a:srgbClr val="C0603C"/>
                </a:solidFill>
              </a:rPr>
              <a:t>none</a:t>
            </a:r>
            <a:endParaRPr lang="en-US" sz="750" dirty="0"/>
          </a:p>
        </p:txBody>
      </p:sp>
      <p:sp>
        <p:nvSpPr>
          <p:cNvPr id="153" name="Shape 151"/>
          <p:cNvSpPr/>
          <p:nvPr/>
        </p:nvSpPr>
        <p:spPr>
          <a:xfrm>
            <a:off x="3566160" y="5216652"/>
            <a:ext cx="539496" cy="269748"/>
          </a:xfrm>
          <a:prstGeom prst="rect">
            <a:avLst/>
          </a:prstGeom>
          <a:solidFill>
            <a:srgbClr val="3E8E72">
              <a:alpha val="8000"/>
            </a:srgbClr>
          </a:solidFill>
          <a:ln w="3175">
            <a:solidFill>
              <a:srgbClr val="3E8E72">
                <a:alpha val="8000"/>
              </a:srgbClr>
            </a:solidFill>
            <a:prstDash val="solid"/>
          </a:ln>
        </p:spPr>
      </p:sp>
      <p:sp>
        <p:nvSpPr>
          <p:cNvPr id="154" name="Text 152"/>
          <p:cNvSpPr txBox="1"/>
          <p:nvPr/>
        </p:nvSpPr>
        <p:spPr>
          <a:xfrm>
            <a:off x="3566160" y="5216652"/>
            <a:ext cx="539496" cy="269748"/>
          </a:xfrm>
          <a:prstGeom prst="rect">
            <a:avLst/>
          </a:prstGeom>
          <a:noFill/>
          <a:ln/>
        </p:spPr>
        <p:txBody>
          <a:bodyPr wrap="square" lIns="0" tIns="0" rIns="0" bIns="0" rtlCol="0" anchor="ctr"/>
          <a:lstStyle/>
          <a:p>
            <a:pPr algn="ctr" indent="0" marL="0">
              <a:buNone/>
            </a:pPr>
            <a:r>
              <a:rPr lang="en-US" sz="800" dirty="0">
                <a:solidFill>
                  <a:srgbClr val="11211C"/>
                </a:solidFill>
              </a:rPr>
              <a:t>-4795</a:t>
            </a:r>
            <a:endParaRPr lang="en-US" sz="800" dirty="0"/>
          </a:p>
        </p:txBody>
      </p:sp>
      <p:sp>
        <p:nvSpPr>
          <p:cNvPr id="155" name="Shape 153"/>
          <p:cNvSpPr/>
          <p:nvPr/>
        </p:nvSpPr>
        <p:spPr>
          <a:xfrm>
            <a:off x="4133088" y="5216652"/>
            <a:ext cx="539496" cy="269748"/>
          </a:xfrm>
          <a:prstGeom prst="rect">
            <a:avLst/>
          </a:prstGeom>
          <a:solidFill>
            <a:srgbClr val="3E8E72">
              <a:alpha val="9000"/>
            </a:srgbClr>
          </a:solidFill>
          <a:ln w="3175">
            <a:solidFill>
              <a:srgbClr val="3E8E72">
                <a:alpha val="9000"/>
              </a:srgbClr>
            </a:solidFill>
            <a:prstDash val="solid"/>
          </a:ln>
        </p:spPr>
      </p:sp>
      <p:sp>
        <p:nvSpPr>
          <p:cNvPr id="156" name="Text 154"/>
          <p:cNvSpPr txBox="1"/>
          <p:nvPr/>
        </p:nvSpPr>
        <p:spPr>
          <a:xfrm>
            <a:off x="4133088" y="5216652"/>
            <a:ext cx="539496" cy="269748"/>
          </a:xfrm>
          <a:prstGeom prst="rect">
            <a:avLst/>
          </a:prstGeom>
          <a:noFill/>
          <a:ln/>
        </p:spPr>
        <p:txBody>
          <a:bodyPr wrap="square" lIns="0" tIns="0" rIns="0" bIns="0" rtlCol="0" anchor="ctr"/>
          <a:lstStyle/>
          <a:p>
            <a:pPr algn="ctr" indent="0" marL="0">
              <a:buNone/>
            </a:pPr>
            <a:r>
              <a:rPr lang="en-US" sz="800" dirty="0">
                <a:solidFill>
                  <a:srgbClr val="11211C"/>
                </a:solidFill>
              </a:rPr>
              <a:t>-4803</a:t>
            </a:r>
            <a:endParaRPr lang="en-US" sz="800" dirty="0"/>
          </a:p>
        </p:txBody>
      </p:sp>
      <p:sp>
        <p:nvSpPr>
          <p:cNvPr id="157" name="Shape 155"/>
          <p:cNvSpPr/>
          <p:nvPr/>
        </p:nvSpPr>
        <p:spPr>
          <a:xfrm>
            <a:off x="4700016" y="5216652"/>
            <a:ext cx="539496" cy="269748"/>
          </a:xfrm>
          <a:prstGeom prst="rect">
            <a:avLst/>
          </a:prstGeom>
          <a:solidFill>
            <a:srgbClr val="3E8E72">
              <a:alpha val="8000"/>
            </a:srgbClr>
          </a:solidFill>
          <a:ln w="3175">
            <a:solidFill>
              <a:srgbClr val="3E8E72">
                <a:alpha val="8000"/>
              </a:srgbClr>
            </a:solidFill>
            <a:prstDash val="solid"/>
          </a:ln>
        </p:spPr>
      </p:sp>
      <p:sp>
        <p:nvSpPr>
          <p:cNvPr id="158" name="Text 156"/>
          <p:cNvSpPr txBox="1"/>
          <p:nvPr/>
        </p:nvSpPr>
        <p:spPr>
          <a:xfrm>
            <a:off x="4700016" y="5216652"/>
            <a:ext cx="539496" cy="269748"/>
          </a:xfrm>
          <a:prstGeom prst="rect">
            <a:avLst/>
          </a:prstGeom>
          <a:noFill/>
          <a:ln/>
        </p:spPr>
        <p:txBody>
          <a:bodyPr wrap="square" lIns="0" tIns="0" rIns="0" bIns="0" rtlCol="0" anchor="ctr"/>
          <a:lstStyle/>
          <a:p>
            <a:pPr algn="ctr" indent="0" marL="0">
              <a:buNone/>
            </a:pPr>
            <a:r>
              <a:rPr lang="en-US" sz="800" dirty="0">
                <a:solidFill>
                  <a:srgbClr val="11211C"/>
                </a:solidFill>
              </a:rPr>
              <a:t>-4797</a:t>
            </a:r>
            <a:endParaRPr lang="en-US" sz="800" dirty="0"/>
          </a:p>
        </p:txBody>
      </p:sp>
      <p:sp>
        <p:nvSpPr>
          <p:cNvPr id="159" name="Shape 157"/>
          <p:cNvSpPr/>
          <p:nvPr/>
        </p:nvSpPr>
        <p:spPr>
          <a:xfrm>
            <a:off x="5266944" y="5216652"/>
            <a:ext cx="539496" cy="269748"/>
          </a:xfrm>
          <a:prstGeom prst="rect">
            <a:avLst/>
          </a:prstGeom>
          <a:solidFill>
            <a:srgbClr val="3E8E72">
              <a:alpha val="26000"/>
            </a:srgbClr>
          </a:solidFill>
          <a:ln w="3175">
            <a:solidFill>
              <a:srgbClr val="3E8E72">
                <a:alpha val="26000"/>
              </a:srgbClr>
            </a:solidFill>
            <a:prstDash val="solid"/>
          </a:ln>
        </p:spPr>
      </p:sp>
      <p:sp>
        <p:nvSpPr>
          <p:cNvPr id="160" name="Text 158"/>
          <p:cNvSpPr txBox="1"/>
          <p:nvPr/>
        </p:nvSpPr>
        <p:spPr>
          <a:xfrm>
            <a:off x="5266944" y="5216652"/>
            <a:ext cx="539496" cy="269748"/>
          </a:xfrm>
          <a:prstGeom prst="rect">
            <a:avLst/>
          </a:prstGeom>
          <a:noFill/>
          <a:ln/>
        </p:spPr>
        <p:txBody>
          <a:bodyPr wrap="square" lIns="0" tIns="0" rIns="0" bIns="0" rtlCol="0" anchor="ctr"/>
          <a:lstStyle/>
          <a:p>
            <a:pPr algn="ctr" indent="0" marL="0">
              <a:buNone/>
            </a:pPr>
            <a:r>
              <a:rPr lang="en-US" sz="800" dirty="0">
                <a:solidFill>
                  <a:srgbClr val="11211C"/>
                </a:solidFill>
              </a:rPr>
              <a:t>-4890</a:t>
            </a:r>
            <a:endParaRPr lang="en-US" sz="800" dirty="0"/>
          </a:p>
        </p:txBody>
      </p:sp>
      <p:sp>
        <p:nvSpPr>
          <p:cNvPr id="161" name="Text 159"/>
          <p:cNvSpPr txBox="1"/>
          <p:nvPr/>
        </p:nvSpPr>
        <p:spPr>
          <a:xfrm>
            <a:off x="566928" y="5586984"/>
            <a:ext cx="5266944" cy="219456"/>
          </a:xfrm>
          <a:prstGeom prst="rect">
            <a:avLst/>
          </a:prstGeom>
          <a:noFill/>
          <a:ln/>
        </p:spPr>
        <p:txBody>
          <a:bodyPr wrap="square" lIns="0" tIns="0" rIns="0" bIns="0" rtlCol="0" anchor="ctr"/>
          <a:lstStyle/>
          <a:p>
            <a:pPr indent="0" marL="0">
              <a:buNone/>
            </a:pPr>
            <a:r>
              <a:rPr lang="en-US" sz="900" i="1" dirty="0">
                <a:solidFill>
                  <a:srgbClr val="6B7A75"/>
                </a:solidFill>
              </a:rPr>
              <a:t>shaded by distance to that row's best · outlined cell = row winner</a:t>
            </a:r>
            <a:endParaRPr lang="en-US" sz="900" dirty="0"/>
          </a:p>
        </p:txBody>
      </p:sp>
      <p:sp>
        <p:nvSpPr>
          <p:cNvPr id="162" name="Text 160"/>
          <p:cNvSpPr txBox="1"/>
          <p:nvPr/>
        </p:nvSpPr>
        <p:spPr>
          <a:xfrm>
            <a:off x="6675120" y="1316736"/>
            <a:ext cx="182880" cy="237744"/>
          </a:xfrm>
          <a:prstGeom prst="rect">
            <a:avLst/>
          </a:prstGeom>
          <a:noFill/>
          <a:ln/>
        </p:spPr>
        <p:txBody>
          <a:bodyPr wrap="square" lIns="0" tIns="0" rIns="0" bIns="0" rtlCol="0" anchor="ctr"/>
          <a:lstStyle/>
          <a:p>
            <a:pPr indent="0" marL="0">
              <a:buNone/>
            </a:pPr>
            <a:r>
              <a:rPr lang="en-US" sz="1500" dirty="0">
                <a:solidFill>
                  <a:srgbClr val="3E8E72"/>
                </a:solidFill>
              </a:rPr>
              <a:t>·</a:t>
            </a:r>
            <a:endParaRPr lang="en-US" sz="1500" dirty="0"/>
          </a:p>
        </p:txBody>
      </p:sp>
      <p:sp>
        <p:nvSpPr>
          <p:cNvPr id="163" name="Text 161"/>
          <p:cNvSpPr txBox="1"/>
          <p:nvPr/>
        </p:nvSpPr>
        <p:spPr>
          <a:xfrm>
            <a:off x="6912864" y="1280160"/>
            <a:ext cx="4718304" cy="914400"/>
          </a:xfrm>
          <a:prstGeom prst="rect">
            <a:avLst/>
          </a:prstGeom>
          <a:noFill/>
          <a:ln/>
        </p:spPr>
        <p:txBody>
          <a:bodyPr wrap="square" lIns="0" tIns="0" rIns="0" bIns="0" rtlCol="0" anchor="ctr"/>
          <a:lstStyle/>
          <a:p>
            <a:pPr indent="0" marL="0">
              <a:lnSpc>
                <a:spcPts val="1800"/>
              </a:lnSpc>
              <a:buNone/>
            </a:pPr>
            <a:r>
              <a:rPr lang="en-US" sz="1200" dirty="0">
                <a:solidFill>
                  <a:srgbClr val="11211C"/>
                </a:solidFill>
              </a:rPr>
              <a:t>The three leaderboard entries hold the best result on eight of the ten rows.</a:t>
            </a:r>
            <a:endParaRPr lang="en-US" sz="1200" dirty="0"/>
          </a:p>
        </p:txBody>
      </p:sp>
      <p:sp>
        <p:nvSpPr>
          <p:cNvPr id="164" name="Text 162"/>
          <p:cNvSpPr txBox="1"/>
          <p:nvPr/>
        </p:nvSpPr>
        <p:spPr>
          <a:xfrm>
            <a:off x="6675120" y="2340864"/>
            <a:ext cx="182880" cy="237744"/>
          </a:xfrm>
          <a:prstGeom prst="rect">
            <a:avLst/>
          </a:prstGeom>
          <a:noFill/>
          <a:ln/>
        </p:spPr>
        <p:txBody>
          <a:bodyPr wrap="square" lIns="0" tIns="0" rIns="0" bIns="0" rtlCol="0" anchor="ctr"/>
          <a:lstStyle/>
          <a:p>
            <a:pPr indent="0" marL="0">
              <a:buNone/>
            </a:pPr>
            <a:r>
              <a:rPr lang="en-US" sz="1500" dirty="0">
                <a:solidFill>
                  <a:srgbClr val="3E8E72"/>
                </a:solidFill>
              </a:rPr>
              <a:t>·</a:t>
            </a:r>
            <a:endParaRPr lang="en-US" sz="1500" dirty="0"/>
          </a:p>
        </p:txBody>
      </p:sp>
      <p:sp>
        <p:nvSpPr>
          <p:cNvPr id="165" name="Text 163"/>
          <p:cNvSpPr txBox="1"/>
          <p:nvPr/>
        </p:nvSpPr>
        <p:spPr>
          <a:xfrm>
            <a:off x="6912864" y="2304288"/>
            <a:ext cx="4718304" cy="914400"/>
          </a:xfrm>
          <a:prstGeom prst="rect">
            <a:avLst/>
          </a:prstGeom>
          <a:noFill/>
          <a:ln/>
        </p:spPr>
        <p:txBody>
          <a:bodyPr wrap="square" lIns="0" tIns="0" rIns="0" bIns="0" rtlCol="0" anchor="ctr"/>
          <a:lstStyle/>
          <a:p>
            <a:pPr indent="0" marL="0">
              <a:lnSpc>
                <a:spcPts val="1800"/>
              </a:lnSpc>
              <a:buNone/>
            </a:pPr>
            <a:r>
              <a:rPr lang="en-US" sz="1200" dirty="0">
                <a:solidFill>
                  <a:srgbClr val="11211C"/>
                </a:solidFill>
              </a:rPr>
              <a:t>Spacekangaroos wins small-graph outright, yet returns no feasible point at all on the three 2,426-vertex instances: every ordering it found busted the 500 cap.</a:t>
            </a:r>
            <a:endParaRPr lang="en-US" sz="1200" dirty="0"/>
          </a:p>
        </p:txBody>
      </p:sp>
      <p:sp>
        <p:nvSpPr>
          <p:cNvPr id="166" name="Text 164"/>
          <p:cNvSpPr txBox="1"/>
          <p:nvPr/>
        </p:nvSpPr>
        <p:spPr>
          <a:xfrm>
            <a:off x="6675120" y="3364992"/>
            <a:ext cx="182880" cy="237744"/>
          </a:xfrm>
          <a:prstGeom prst="rect">
            <a:avLst/>
          </a:prstGeom>
          <a:noFill/>
          <a:ln/>
        </p:spPr>
        <p:txBody>
          <a:bodyPr wrap="square" lIns="0" tIns="0" rIns="0" bIns="0" rtlCol="0" anchor="ctr"/>
          <a:lstStyle/>
          <a:p>
            <a:pPr indent="0" marL="0">
              <a:buNone/>
            </a:pPr>
            <a:r>
              <a:rPr lang="en-US" sz="1500" dirty="0">
                <a:solidFill>
                  <a:srgbClr val="3E8E72"/>
                </a:solidFill>
              </a:rPr>
              <a:t>·</a:t>
            </a:r>
            <a:endParaRPr lang="en-US" sz="1500" dirty="0"/>
          </a:p>
        </p:txBody>
      </p:sp>
      <p:sp>
        <p:nvSpPr>
          <p:cNvPr id="167" name="Text 165"/>
          <p:cNvSpPr txBox="1"/>
          <p:nvPr/>
        </p:nvSpPr>
        <p:spPr>
          <a:xfrm>
            <a:off x="6912864" y="3328416"/>
            <a:ext cx="4718304" cy="914400"/>
          </a:xfrm>
          <a:prstGeom prst="rect">
            <a:avLst/>
          </a:prstGeom>
          <a:noFill/>
          <a:ln/>
        </p:spPr>
        <p:txBody>
          <a:bodyPr wrap="square" lIns="0" tIns="0" rIns="0" bIns="0" rtlCol="0" anchor="ctr"/>
          <a:lstStyle/>
          <a:p>
            <a:pPr indent="0" marL="0">
              <a:lnSpc>
                <a:spcPts val="1800"/>
              </a:lnSpc>
              <a:buNone/>
            </a:pPr>
            <a:r>
              <a:rPr lang="en-US" sz="1200" dirty="0">
                <a:solidFill>
                  <a:srgbClr val="11211C"/>
                </a:solidFill>
              </a:rPr>
              <a:t>Equal wall-clock is not equal computation. The CPU process sat at 929%, about nine cores, while hill climbing is pure Python and uses one. The handicap runs against this study, not for it.</a:t>
            </a:r>
            <a:endParaRPr lang="en-US" sz="1200" dirty="0"/>
          </a:p>
        </p:txBody>
      </p:sp>
      <p:sp>
        <p:nvSpPr>
          <p:cNvPr id="168" name="Shape 166"/>
          <p:cNvSpPr/>
          <p:nvPr/>
        </p:nvSpPr>
        <p:spPr>
          <a:xfrm>
            <a:off x="6675120" y="4498848"/>
            <a:ext cx="4956048" cy="841248"/>
          </a:xfrm>
          <a:prstGeom prst="roundRect">
            <a:avLst>
              <a:gd name="adj" fmla="val 4348"/>
            </a:avLst>
          </a:prstGeom>
          <a:solidFill>
            <a:srgbClr val="1F3A33"/>
          </a:solidFill>
          <a:ln w="6350">
            <a:solidFill>
              <a:srgbClr val="1F3A33"/>
            </a:solidFill>
            <a:prstDash val="solid"/>
          </a:ln>
        </p:spPr>
      </p:sp>
      <p:sp>
        <p:nvSpPr>
          <p:cNvPr id="169" name="Text 167"/>
          <p:cNvSpPr txBox="1"/>
          <p:nvPr/>
        </p:nvSpPr>
        <p:spPr>
          <a:xfrm>
            <a:off x="6931152" y="4626864"/>
            <a:ext cx="4480560" cy="585216"/>
          </a:xfrm>
          <a:prstGeom prst="rect">
            <a:avLst/>
          </a:prstGeom>
          <a:noFill/>
          <a:ln/>
        </p:spPr>
        <p:txBody>
          <a:bodyPr wrap="square" lIns="0" tIns="0" rIns="0" bIns="0"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That reading did not survive the next measurement.</a:t>
            </a:r>
            <a:endParaRPr lang="en-US" sz="1450" dirty="0"/>
          </a:p>
        </p:txBody>
      </p:sp>
      <p:sp>
        <p:nvSpPr>
          <p:cNvPr id="25" name="Slide Number Placeholder 0"/>
          <p:cNvSpPr>
            <a:spLocks noGrp="1"/>
          </p:cNvSpPr>
          <p:nvPr>
            <p:ph type="sldNum" sz="quarter" idx="4294967295"/>
          </p:nvPr>
        </p:nvSpPr>
        <p:spPr>
          <a:xfrm>
            <a:off x="11167567" y="6437376"/>
            <a:ext cx="45720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6B7A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420624"/>
            <a:ext cx="11057839" cy="658368"/>
          </a:xfrm>
          <a:prstGeom prst="rect">
            <a:avLst/>
          </a:prstGeom>
          <a:noFill/>
          <a:ln/>
        </p:spPr>
        <p:txBody>
          <a:bodyPr wrap="square" lIns="0" tIns="0" rIns="0" bIns="0" rtlCol="0" anchor="ctr"/>
          <a:lstStyle/>
          <a:p>
            <a:pPr indent="0" marL="0">
              <a:buNone/>
            </a:pPr>
            <a:r>
              <a:rPr lang="en-US" sz="2600" b="1" dirty="0">
                <a:solidFill>
                  <a:srgbClr val="11211C"/>
                </a:solidFill>
                <a:latin typeface="Cambria" pitchFamily="34" charset="0"/>
                <a:ea typeface="Cambria" pitchFamily="34" charset="-122"/>
                <a:cs typeface="Cambria" pitchFamily="34" charset="-120"/>
              </a:rPr>
              <a:t>Then I ran the control twice</a:t>
            </a:r>
            <a:endParaRPr lang="en-US" sz="2600" dirty="0"/>
          </a:p>
        </p:txBody>
      </p:sp>
      <p:sp>
        <p:nvSpPr>
          <p:cNvPr id="3" name="Text 1"/>
          <p:cNvSpPr txBox="1"/>
          <p:nvPr/>
        </p:nvSpPr>
        <p:spPr>
          <a:xfrm>
            <a:off x="566928" y="1280160"/>
            <a:ext cx="10936224" cy="841248"/>
          </a:xfrm>
          <a:prstGeom prst="rect">
            <a:avLst/>
          </a:prstGeom>
          <a:noFill/>
          <a:ln/>
        </p:spPr>
        <p:txBody>
          <a:bodyPr wrap="square" lIns="0" tIns="0" rIns="0" bIns="0" rtlCol="0" anchor="ctr"/>
          <a:lstStyle/>
          <a:p>
            <a:pPr indent="0" marL="0">
              <a:lnSpc>
                <a:spcPts val="2000"/>
              </a:lnSpc>
              <a:buNone/>
            </a:pPr>
            <a:r>
              <a:rPr lang="en-US" sz="1300" dirty="0">
                <a:solidFill>
                  <a:srgbClr val="11211C"/>
                </a:solidFill>
              </a:rPr>
              <a:t>The climber is bounded by wall-clock, not by an iteration count, so two full-budget runs of the identical method are two independent samples rather than a repetition. I had both. Comparing them is the most useful measurement in the study.</a:t>
            </a:r>
            <a:endParaRPr lang="en-US" sz="1300" dirty="0"/>
          </a:p>
        </p:txBody>
      </p:sp>
      <p:sp>
        <p:nvSpPr>
          <p:cNvPr id="4" name="Text 2"/>
          <p:cNvSpPr txBox="1"/>
          <p:nvPr/>
        </p:nvSpPr>
        <p:spPr>
          <a:xfrm>
            <a:off x="566928" y="2249424"/>
            <a:ext cx="3429000" cy="658368"/>
          </a:xfrm>
          <a:prstGeom prst="rect">
            <a:avLst/>
          </a:prstGeom>
          <a:noFill/>
          <a:ln/>
        </p:spPr>
        <p:txBody>
          <a:bodyPr wrap="square" lIns="0" tIns="0" rIns="0" bIns="0" rtlCol="0" anchor="ctr"/>
          <a:lstStyle/>
          <a:p>
            <a:pPr indent="0" marL="0">
              <a:buNone/>
            </a:pPr>
            <a:r>
              <a:rPr lang="en-US" sz="3400" b="1" dirty="0">
                <a:solidFill>
                  <a:srgbClr val="6B7A75"/>
                </a:solidFill>
                <a:latin typeface="Cambria" pitchFamily="34" charset="0"/>
                <a:ea typeface="Cambria" pitchFamily="34" charset="-122"/>
                <a:cs typeface="Cambria" pitchFamily="34" charset="-120"/>
              </a:rPr>
              <a:t>1,528 HV</a:t>
            </a:r>
            <a:endParaRPr lang="en-US" sz="3400" dirty="0"/>
          </a:p>
        </p:txBody>
      </p:sp>
      <p:sp>
        <p:nvSpPr>
          <p:cNvPr id="5" name="Shape 3"/>
          <p:cNvSpPr/>
          <p:nvPr/>
        </p:nvSpPr>
        <p:spPr>
          <a:xfrm>
            <a:off x="566928" y="2999232"/>
            <a:ext cx="3246120" cy="914"/>
          </a:xfrm>
          <a:prstGeom prst="line">
            <a:avLst/>
          </a:prstGeom>
          <a:noFill/>
          <a:ln w="25400">
            <a:solidFill>
              <a:srgbClr val="6B7A75"/>
            </a:solidFill>
            <a:prstDash val="solid"/>
          </a:ln>
        </p:spPr>
      </p:sp>
      <p:sp>
        <p:nvSpPr>
          <p:cNvPr id="6" name="Text 4"/>
          <p:cNvSpPr txBox="1"/>
          <p:nvPr/>
        </p:nvSpPr>
        <p:spPr>
          <a:xfrm>
            <a:off x="566928" y="3108960"/>
            <a:ext cx="3429000" cy="822960"/>
          </a:xfrm>
          <a:prstGeom prst="rect">
            <a:avLst/>
          </a:prstGeom>
          <a:noFill/>
          <a:ln/>
        </p:spPr>
        <p:txBody>
          <a:bodyPr wrap="square" lIns="0" tIns="0" rIns="0" bIns="0" rtlCol="0" anchor="ctr"/>
          <a:lstStyle/>
          <a:p>
            <a:pPr indent="0" marL="0">
              <a:lnSpc>
                <a:spcPts val="1600"/>
              </a:lnSpc>
              <a:buNone/>
            </a:pPr>
            <a:r>
              <a:rPr lang="en-US" sz="1150" dirty="0">
                <a:solidFill>
                  <a:srgbClr val="11211C"/>
                </a:solidFill>
              </a:rPr>
              <a:t>median spread between two seeds inside one run: the floor this work originally quoted</a:t>
            </a:r>
            <a:endParaRPr lang="en-US" sz="1150" dirty="0"/>
          </a:p>
        </p:txBody>
      </p:sp>
      <p:sp>
        <p:nvSpPr>
          <p:cNvPr id="7" name="Text 5"/>
          <p:cNvSpPr txBox="1"/>
          <p:nvPr/>
        </p:nvSpPr>
        <p:spPr>
          <a:xfrm>
            <a:off x="4288536" y="2249424"/>
            <a:ext cx="3429000" cy="658368"/>
          </a:xfrm>
          <a:prstGeom prst="rect">
            <a:avLst/>
          </a:prstGeom>
          <a:noFill/>
          <a:ln/>
        </p:spPr>
        <p:txBody>
          <a:bodyPr wrap="square" lIns="0" tIns="0" rIns="0" bIns="0" rtlCol="0" anchor="ctr"/>
          <a:lstStyle/>
          <a:p>
            <a:pPr indent="0" marL="0">
              <a:buNone/>
            </a:pPr>
            <a:r>
              <a:rPr lang="en-US" sz="3400" b="1" dirty="0">
                <a:solidFill>
                  <a:srgbClr val="C0603C"/>
                </a:solidFill>
                <a:latin typeface="Cambria" pitchFamily="34" charset="0"/>
                <a:ea typeface="Cambria" pitchFamily="34" charset="-122"/>
                <a:cs typeface="Cambria" pitchFamily="34" charset="-120"/>
              </a:rPr>
              <a:t>7,881 HV</a:t>
            </a:r>
            <a:endParaRPr lang="en-US" sz="3400" dirty="0"/>
          </a:p>
        </p:txBody>
      </p:sp>
      <p:sp>
        <p:nvSpPr>
          <p:cNvPr id="8" name="Shape 6"/>
          <p:cNvSpPr/>
          <p:nvPr/>
        </p:nvSpPr>
        <p:spPr>
          <a:xfrm>
            <a:off x="4288536" y="2999232"/>
            <a:ext cx="3246120" cy="914"/>
          </a:xfrm>
          <a:prstGeom prst="line">
            <a:avLst/>
          </a:prstGeom>
          <a:noFill/>
          <a:ln w="25400">
            <a:solidFill>
              <a:srgbClr val="C0603C"/>
            </a:solidFill>
            <a:prstDash val="solid"/>
          </a:ln>
        </p:spPr>
      </p:sp>
      <p:sp>
        <p:nvSpPr>
          <p:cNvPr id="9" name="Text 7"/>
          <p:cNvSpPr txBox="1"/>
          <p:nvPr/>
        </p:nvSpPr>
        <p:spPr>
          <a:xfrm>
            <a:off x="4288536" y="3108960"/>
            <a:ext cx="3429000" cy="822960"/>
          </a:xfrm>
          <a:prstGeom prst="rect">
            <a:avLst/>
          </a:prstGeom>
          <a:noFill/>
          <a:ln/>
        </p:spPr>
        <p:txBody>
          <a:bodyPr wrap="square" lIns="0" tIns="0" rIns="0" bIns="0" rtlCol="0" anchor="ctr"/>
          <a:lstStyle/>
          <a:p>
            <a:pPr indent="0" marL="0">
              <a:lnSpc>
                <a:spcPts val="1600"/>
              </a:lnSpc>
              <a:buNone/>
            </a:pPr>
            <a:r>
              <a:rPr lang="en-US" sz="1150" dirty="0">
                <a:solidFill>
                  <a:srgbClr val="11211C"/>
                </a:solidFill>
              </a:rPr>
              <a:t>the most the baseline moved on any single instance between the two runs</a:t>
            </a:r>
            <a:endParaRPr lang="en-US" sz="1150" dirty="0"/>
          </a:p>
        </p:txBody>
      </p:sp>
      <p:sp>
        <p:nvSpPr>
          <p:cNvPr id="10" name="Text 8"/>
          <p:cNvSpPr txBox="1"/>
          <p:nvPr/>
        </p:nvSpPr>
        <p:spPr>
          <a:xfrm>
            <a:off x="8010144" y="2249424"/>
            <a:ext cx="3429000" cy="658368"/>
          </a:xfrm>
          <a:prstGeom prst="rect">
            <a:avLst/>
          </a:prstGeom>
          <a:noFill/>
          <a:ln/>
        </p:spPr>
        <p:txBody>
          <a:bodyPr wrap="square" lIns="0" tIns="0" rIns="0" bIns="0" rtlCol="0" anchor="ctr"/>
          <a:lstStyle/>
          <a:p>
            <a:pPr indent="0" marL="0">
              <a:buNone/>
            </a:pPr>
            <a:r>
              <a:rPr lang="en-US" sz="3400" b="1" dirty="0">
                <a:solidFill>
                  <a:srgbClr val="2A5247"/>
                </a:solidFill>
                <a:latin typeface="Cambria" pitchFamily="34" charset="0"/>
                <a:ea typeface="Cambria" pitchFamily="34" charset="-122"/>
                <a:cs typeface="Cambria" pitchFamily="34" charset="-120"/>
              </a:rPr>
              <a:t>21,519 HV</a:t>
            </a:r>
            <a:endParaRPr lang="en-US" sz="3400" dirty="0"/>
          </a:p>
        </p:txBody>
      </p:sp>
      <p:sp>
        <p:nvSpPr>
          <p:cNvPr id="11" name="Shape 9"/>
          <p:cNvSpPr/>
          <p:nvPr/>
        </p:nvSpPr>
        <p:spPr>
          <a:xfrm>
            <a:off x="8010144" y="2999232"/>
            <a:ext cx="3246120" cy="914"/>
          </a:xfrm>
          <a:prstGeom prst="line">
            <a:avLst/>
          </a:prstGeom>
          <a:noFill/>
          <a:ln w="25400">
            <a:solidFill>
              <a:srgbClr val="2A5247"/>
            </a:solidFill>
            <a:prstDash val="solid"/>
          </a:ln>
        </p:spPr>
      </p:sp>
      <p:sp>
        <p:nvSpPr>
          <p:cNvPr id="12" name="Text 10"/>
          <p:cNvSpPr txBox="1"/>
          <p:nvPr/>
        </p:nvSpPr>
        <p:spPr>
          <a:xfrm>
            <a:off x="8010144" y="3108960"/>
            <a:ext cx="3429000" cy="822960"/>
          </a:xfrm>
          <a:prstGeom prst="rect">
            <a:avLst/>
          </a:prstGeom>
          <a:noFill/>
          <a:ln/>
        </p:spPr>
        <p:txBody>
          <a:bodyPr wrap="square" lIns="0" tIns="0" rIns="0" bIns="0" rtlCol="0" anchor="ctr"/>
          <a:lstStyle/>
          <a:p>
            <a:pPr indent="0" marL="0">
              <a:lnSpc>
                <a:spcPts val="1600"/>
              </a:lnSpc>
              <a:buNone/>
            </a:pPr>
            <a:r>
              <a:rPr lang="en-US" sz="1150" dirty="0">
                <a:solidFill>
                  <a:srgbClr val="11211C"/>
                </a:solidFill>
              </a:rPr>
              <a:t>how far the ten-instance total moved between the two runs</a:t>
            </a:r>
            <a:endParaRPr lang="en-US" sz="1150" dirty="0"/>
          </a:p>
        </p:txBody>
      </p:sp>
      <p:sp>
        <p:nvSpPr>
          <p:cNvPr id="13" name="Text 11"/>
          <p:cNvSpPr txBox="1"/>
          <p:nvPr/>
        </p:nvSpPr>
        <p:spPr>
          <a:xfrm>
            <a:off x="566928" y="4133088"/>
            <a:ext cx="6583680" cy="1188720"/>
          </a:xfrm>
          <a:prstGeom prst="rect">
            <a:avLst/>
          </a:prstGeom>
          <a:noFill/>
          <a:ln/>
        </p:spPr>
        <p:txBody>
          <a:bodyPr wrap="square" lIns="0" tIns="0" rIns="0" bIns="0" rtlCol="0" anchor="ctr"/>
          <a:lstStyle/>
          <a:p>
            <a:pPr indent="0" marL="0">
              <a:lnSpc>
                <a:spcPts val="1800"/>
              </a:lnSpc>
              <a:buNone/>
            </a:pPr>
            <a:r>
              <a:rPr lang="en-US" sz="1250" dirty="0">
                <a:solidFill>
                  <a:srgbClr val="11211C"/>
                </a:solidFill>
              </a:rPr>
              <a:t>The baseline differs from itself by fourteen times the within-run seed spread. Two seeds in one session share a machine, a thermal state and a scheduler; two sessions share none of that. The within-run figure is not an error bar, and using it as one manufactures results.</a:t>
            </a:r>
            <a:endParaRPr lang="en-US" sz="1250" dirty="0"/>
          </a:p>
        </p:txBody>
      </p:sp>
      <p:sp>
        <p:nvSpPr>
          <p:cNvPr id="14" name="Shape 12"/>
          <p:cNvSpPr/>
          <p:nvPr/>
        </p:nvSpPr>
        <p:spPr>
          <a:xfrm>
            <a:off x="7406640" y="4078224"/>
            <a:ext cx="4224528" cy="1371600"/>
          </a:xfrm>
          <a:prstGeom prst="roundRect">
            <a:avLst>
              <a:gd name="adj" fmla="val 2667"/>
            </a:avLst>
          </a:prstGeom>
          <a:solidFill>
            <a:srgbClr val="EFF3F1"/>
          </a:solidFill>
          <a:ln w="6350">
            <a:solidFill>
              <a:srgbClr val="EFF3F1"/>
            </a:solidFill>
            <a:prstDash val="solid"/>
          </a:ln>
        </p:spPr>
      </p:sp>
      <p:sp>
        <p:nvSpPr>
          <p:cNvPr id="15" name="Text 13"/>
          <p:cNvSpPr txBox="1"/>
          <p:nvPr/>
        </p:nvSpPr>
        <p:spPr>
          <a:xfrm>
            <a:off x="7644384" y="4224528"/>
            <a:ext cx="3749040" cy="1097280"/>
          </a:xfrm>
          <a:prstGeom prst="rect">
            <a:avLst/>
          </a:prstGeom>
          <a:noFill/>
          <a:ln/>
        </p:spPr>
        <p:txBody>
          <a:bodyPr wrap="square" lIns="0" tIns="0" rIns="0" bIns="0" rtlCol="0" anchor="ctr"/>
          <a:lstStyle/>
          <a:p>
            <a:pPr indent="0" marL="0">
              <a:lnSpc>
                <a:spcPts val="1700"/>
              </a:lnSpc>
              <a:buNone/>
            </a:pPr>
            <a:r>
              <a:rPr lang="en-US" sz="1150" dirty="0">
                <a:solidFill>
                  <a:srgbClr val="11211C"/>
                </a:solidFill>
              </a:rPr>
              <a:t>The last two are not interchangeable either. 21,519 is a sum over ten instances and belongs against another such sum; holding a single row up against it inflates the floor by about the instance count and invents ties.</a:t>
            </a:r>
            <a:endParaRPr lang="en-US" sz="1150" dirty="0"/>
          </a:p>
        </p:txBody>
      </p:sp>
      <p:sp>
        <p:nvSpPr>
          <p:cNvPr id="25" name="Slide Number Placeholder 0"/>
          <p:cNvSpPr>
            <a:spLocks noGrp="1"/>
          </p:cNvSpPr>
          <p:nvPr>
            <p:ph type="sldNum" sz="quarter" idx="4294967295"/>
          </p:nvPr>
        </p:nvSpPr>
        <p:spPr>
          <a:xfrm>
            <a:off x="11167567" y="6437376"/>
            <a:ext cx="45720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6B7A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66928" y="420624"/>
            <a:ext cx="11057839" cy="658368"/>
          </a:xfrm>
          <a:prstGeom prst="rect">
            <a:avLst/>
          </a:prstGeom>
          <a:noFill/>
          <a:ln/>
        </p:spPr>
        <p:txBody>
          <a:bodyPr wrap="square" lIns="0" tIns="0" rIns="0" bIns="0" rtlCol="0" anchor="ctr"/>
          <a:lstStyle/>
          <a:p>
            <a:pPr indent="0" marL="0">
              <a:buNone/>
            </a:pPr>
            <a:r>
              <a:rPr lang="en-US" sz="2600" b="1" dirty="0">
                <a:solidFill>
                  <a:srgbClr val="11211C"/>
                </a:solidFill>
                <a:latin typeface="Cambria" pitchFamily="34" charset="0"/>
                <a:ea typeface="Cambria" pitchFamily="34" charset="-122"/>
                <a:cs typeface="Cambria" pitchFamily="34" charset="-120"/>
              </a:rPr>
              <a:t>Half the comparison is a tie</a:t>
            </a:r>
            <a:endParaRPr lang="en-US" sz="2600" dirty="0"/>
          </a:p>
        </p:txBody>
      </p:sp>
      <p:sp>
        <p:nvSpPr>
          <p:cNvPr id="3" name="Text 1"/>
          <p:cNvSpPr txBox="1"/>
          <p:nvPr/>
        </p:nvSpPr>
        <p:spPr>
          <a:xfrm>
            <a:off x="566928" y="1261872"/>
            <a:ext cx="10936224" cy="329184"/>
          </a:xfrm>
          <a:prstGeom prst="rect">
            <a:avLst/>
          </a:prstGeom>
          <a:noFill/>
          <a:ln/>
        </p:spPr>
        <p:txBody>
          <a:bodyPr wrap="square" lIns="0" tIns="0" rIns="0" bIns="0" rtlCol="0" anchor="ctr"/>
          <a:lstStyle/>
          <a:p>
            <a:pPr indent="0" marL="0">
              <a:buNone/>
            </a:pPr>
            <a:r>
              <a:rPr lang="en-US" sz="1300" dirty="0">
                <a:solidFill>
                  <a:srgbClr val="11211C"/>
                </a:solidFill>
              </a:rPr>
              <a:t>Every row's margin between first and second place, on a logarithmic axis, against the per-instance floor.</a:t>
            </a:r>
            <a:endParaRPr lang="en-US" sz="1300" dirty="0"/>
          </a:p>
        </p:txBody>
      </p:sp>
      <p:sp>
        <p:nvSpPr>
          <p:cNvPr id="4" name="Shape 2"/>
          <p:cNvSpPr/>
          <p:nvPr/>
        </p:nvSpPr>
        <p:spPr>
          <a:xfrm>
            <a:off x="1389888" y="4078224"/>
            <a:ext cx="10058400" cy="914"/>
          </a:xfrm>
          <a:prstGeom prst="line">
            <a:avLst/>
          </a:prstGeom>
          <a:noFill/>
          <a:ln w="12700">
            <a:solidFill>
              <a:srgbClr val="11211C"/>
            </a:solidFill>
            <a:prstDash val="solid"/>
          </a:ln>
        </p:spPr>
      </p:sp>
      <p:sp>
        <p:nvSpPr>
          <p:cNvPr id="5" name="Shape 3"/>
          <p:cNvSpPr/>
          <p:nvPr/>
        </p:nvSpPr>
        <p:spPr>
          <a:xfrm>
            <a:off x="1389888" y="4078224"/>
            <a:ext cx="914" cy="109728"/>
          </a:xfrm>
          <a:prstGeom prst="line">
            <a:avLst/>
          </a:prstGeom>
          <a:noFill/>
          <a:ln w="10160">
            <a:solidFill>
              <a:srgbClr val="6B7A75"/>
            </a:solidFill>
            <a:prstDash val="solid"/>
          </a:ln>
        </p:spPr>
      </p:sp>
      <p:sp>
        <p:nvSpPr>
          <p:cNvPr id="6" name="Text 4"/>
          <p:cNvSpPr txBox="1"/>
          <p:nvPr/>
        </p:nvSpPr>
        <p:spPr>
          <a:xfrm>
            <a:off x="932688" y="4224528"/>
            <a:ext cx="914400" cy="201168"/>
          </a:xfrm>
          <a:prstGeom prst="rect">
            <a:avLst/>
          </a:prstGeom>
          <a:noFill/>
          <a:ln/>
        </p:spPr>
        <p:txBody>
          <a:bodyPr wrap="square" lIns="0" tIns="0" rIns="0" bIns="0" rtlCol="0" anchor="ctr"/>
          <a:lstStyle/>
          <a:p>
            <a:pPr algn="ctr" indent="0" marL="0">
              <a:buNone/>
            </a:pPr>
            <a:r>
              <a:rPr lang="en-US" sz="900" dirty="0">
                <a:solidFill>
                  <a:srgbClr val="6B7A75"/>
                </a:solidFill>
              </a:rPr>
              <a:t>100</a:t>
            </a:r>
            <a:endParaRPr lang="en-US" sz="900" dirty="0"/>
          </a:p>
        </p:txBody>
      </p:sp>
      <p:sp>
        <p:nvSpPr>
          <p:cNvPr id="7" name="Shape 5"/>
          <p:cNvSpPr/>
          <p:nvPr/>
        </p:nvSpPr>
        <p:spPr>
          <a:xfrm>
            <a:off x="4036835" y="4078224"/>
            <a:ext cx="914" cy="109728"/>
          </a:xfrm>
          <a:prstGeom prst="line">
            <a:avLst/>
          </a:prstGeom>
          <a:noFill/>
          <a:ln w="10160">
            <a:solidFill>
              <a:srgbClr val="6B7A75"/>
            </a:solidFill>
            <a:prstDash val="solid"/>
          </a:ln>
        </p:spPr>
      </p:sp>
      <p:sp>
        <p:nvSpPr>
          <p:cNvPr id="8" name="Text 6"/>
          <p:cNvSpPr txBox="1"/>
          <p:nvPr/>
        </p:nvSpPr>
        <p:spPr>
          <a:xfrm>
            <a:off x="3579635" y="4224528"/>
            <a:ext cx="914400" cy="201168"/>
          </a:xfrm>
          <a:prstGeom prst="rect">
            <a:avLst/>
          </a:prstGeom>
          <a:noFill/>
          <a:ln/>
        </p:spPr>
        <p:txBody>
          <a:bodyPr wrap="square" lIns="0" tIns="0" rIns="0" bIns="0" rtlCol="0" anchor="ctr"/>
          <a:lstStyle/>
          <a:p>
            <a:pPr algn="ctr" indent="0" marL="0">
              <a:buNone/>
            </a:pPr>
            <a:r>
              <a:rPr lang="en-US" sz="900" dirty="0">
                <a:solidFill>
                  <a:srgbClr val="6B7A75"/>
                </a:solidFill>
              </a:rPr>
              <a:t>1,000</a:t>
            </a:r>
            <a:endParaRPr lang="en-US" sz="900" dirty="0"/>
          </a:p>
        </p:txBody>
      </p:sp>
      <p:sp>
        <p:nvSpPr>
          <p:cNvPr id="9" name="Shape 7"/>
          <p:cNvSpPr/>
          <p:nvPr/>
        </p:nvSpPr>
        <p:spPr>
          <a:xfrm>
            <a:off x="6683783" y="4078224"/>
            <a:ext cx="914" cy="109728"/>
          </a:xfrm>
          <a:prstGeom prst="line">
            <a:avLst/>
          </a:prstGeom>
          <a:noFill/>
          <a:ln w="10160">
            <a:solidFill>
              <a:srgbClr val="6B7A75"/>
            </a:solidFill>
            <a:prstDash val="solid"/>
          </a:ln>
        </p:spPr>
      </p:sp>
      <p:sp>
        <p:nvSpPr>
          <p:cNvPr id="10" name="Text 8"/>
          <p:cNvSpPr txBox="1"/>
          <p:nvPr/>
        </p:nvSpPr>
        <p:spPr>
          <a:xfrm>
            <a:off x="6226583" y="4224528"/>
            <a:ext cx="914400" cy="201168"/>
          </a:xfrm>
          <a:prstGeom prst="rect">
            <a:avLst/>
          </a:prstGeom>
          <a:noFill/>
          <a:ln/>
        </p:spPr>
        <p:txBody>
          <a:bodyPr wrap="square" lIns="0" tIns="0" rIns="0" bIns="0" rtlCol="0" anchor="ctr"/>
          <a:lstStyle/>
          <a:p>
            <a:pPr algn="ctr" indent="0" marL="0">
              <a:buNone/>
            </a:pPr>
            <a:r>
              <a:rPr lang="en-US" sz="900" dirty="0">
                <a:solidFill>
                  <a:srgbClr val="6B7A75"/>
                </a:solidFill>
              </a:rPr>
              <a:t>10,000</a:t>
            </a:r>
            <a:endParaRPr lang="en-US" sz="900" dirty="0"/>
          </a:p>
        </p:txBody>
      </p:sp>
      <p:sp>
        <p:nvSpPr>
          <p:cNvPr id="11" name="Shape 9"/>
          <p:cNvSpPr/>
          <p:nvPr/>
        </p:nvSpPr>
        <p:spPr>
          <a:xfrm>
            <a:off x="9330730" y="4078224"/>
            <a:ext cx="914" cy="109728"/>
          </a:xfrm>
          <a:prstGeom prst="line">
            <a:avLst/>
          </a:prstGeom>
          <a:noFill/>
          <a:ln w="10160">
            <a:solidFill>
              <a:srgbClr val="6B7A75"/>
            </a:solidFill>
            <a:prstDash val="solid"/>
          </a:ln>
        </p:spPr>
      </p:sp>
      <p:sp>
        <p:nvSpPr>
          <p:cNvPr id="12" name="Text 10"/>
          <p:cNvSpPr txBox="1"/>
          <p:nvPr/>
        </p:nvSpPr>
        <p:spPr>
          <a:xfrm>
            <a:off x="8873530" y="4224528"/>
            <a:ext cx="914400" cy="201168"/>
          </a:xfrm>
          <a:prstGeom prst="rect">
            <a:avLst/>
          </a:prstGeom>
          <a:noFill/>
          <a:ln/>
        </p:spPr>
        <p:txBody>
          <a:bodyPr wrap="square" lIns="0" tIns="0" rIns="0" bIns="0" rtlCol="0" anchor="ctr"/>
          <a:lstStyle/>
          <a:p>
            <a:pPr algn="ctr" indent="0" marL="0">
              <a:buNone/>
            </a:pPr>
            <a:r>
              <a:rPr lang="en-US" sz="900" dirty="0">
                <a:solidFill>
                  <a:srgbClr val="6B7A75"/>
                </a:solidFill>
              </a:rPr>
              <a:t>100,000</a:t>
            </a:r>
            <a:endParaRPr lang="en-US" sz="900" dirty="0"/>
          </a:p>
        </p:txBody>
      </p:sp>
      <p:sp>
        <p:nvSpPr>
          <p:cNvPr id="13" name="Shape 11"/>
          <p:cNvSpPr/>
          <p:nvPr/>
        </p:nvSpPr>
        <p:spPr>
          <a:xfrm>
            <a:off x="6410039" y="1993392"/>
            <a:ext cx="914" cy="2103120"/>
          </a:xfrm>
          <a:prstGeom prst="line">
            <a:avLst/>
          </a:prstGeom>
          <a:noFill/>
          <a:ln w="22860">
            <a:solidFill>
              <a:srgbClr val="C0603C"/>
            </a:solidFill>
            <a:prstDash val="dash"/>
          </a:ln>
        </p:spPr>
      </p:sp>
      <p:sp>
        <p:nvSpPr>
          <p:cNvPr id="14" name="Text 12"/>
          <p:cNvSpPr txBox="1"/>
          <p:nvPr/>
        </p:nvSpPr>
        <p:spPr>
          <a:xfrm>
            <a:off x="5038439" y="1719072"/>
            <a:ext cx="2743200" cy="219456"/>
          </a:xfrm>
          <a:prstGeom prst="rect">
            <a:avLst/>
          </a:prstGeom>
          <a:noFill/>
          <a:ln/>
        </p:spPr>
        <p:txBody>
          <a:bodyPr wrap="square" lIns="0" tIns="0" rIns="0" bIns="0" rtlCol="0" anchor="ctr"/>
          <a:lstStyle/>
          <a:p>
            <a:pPr algn="ctr" indent="0" marL="0">
              <a:buNone/>
            </a:pPr>
            <a:r>
              <a:rPr lang="en-US" sz="1050" b="1" dirty="0">
                <a:solidFill>
                  <a:srgbClr val="C0603C"/>
                </a:solidFill>
              </a:rPr>
              <a:t>7,881 HV floor</a:t>
            </a:r>
            <a:endParaRPr lang="en-US" sz="1050" dirty="0"/>
          </a:p>
        </p:txBody>
      </p:sp>
      <p:sp>
        <p:nvSpPr>
          <p:cNvPr id="15" name="Shape 13"/>
          <p:cNvSpPr/>
          <p:nvPr/>
        </p:nvSpPr>
        <p:spPr>
          <a:xfrm>
            <a:off x="2019984" y="3813048"/>
            <a:ext cx="914" cy="237744"/>
          </a:xfrm>
          <a:prstGeom prst="line">
            <a:avLst/>
          </a:prstGeom>
          <a:noFill/>
          <a:ln w="11430">
            <a:solidFill>
              <a:srgbClr val="C0603C"/>
            </a:solidFill>
            <a:prstDash val="solid"/>
          </a:ln>
        </p:spPr>
      </p:sp>
      <p:sp>
        <p:nvSpPr>
          <p:cNvPr id="16" name="Shape 14"/>
          <p:cNvSpPr/>
          <p:nvPr/>
        </p:nvSpPr>
        <p:spPr>
          <a:xfrm>
            <a:off x="1969692" y="3735324"/>
            <a:ext cx="100584" cy="100584"/>
          </a:xfrm>
          <a:prstGeom prst="ellipse">
            <a:avLst/>
          </a:prstGeom>
          <a:solidFill>
            <a:srgbClr val="C0603C"/>
          </a:solidFill>
          <a:ln w="6350">
            <a:solidFill>
              <a:srgbClr val="C0603C"/>
            </a:solidFill>
            <a:prstDash val="solid"/>
          </a:ln>
        </p:spPr>
      </p:sp>
      <p:sp>
        <p:nvSpPr>
          <p:cNvPr id="17" name="Text 15"/>
          <p:cNvSpPr txBox="1"/>
          <p:nvPr/>
        </p:nvSpPr>
        <p:spPr>
          <a:xfrm>
            <a:off x="-46560" y="3602736"/>
            <a:ext cx="2011680" cy="219456"/>
          </a:xfrm>
          <a:prstGeom prst="rect">
            <a:avLst/>
          </a:prstGeom>
          <a:noFill/>
          <a:ln/>
        </p:spPr>
        <p:txBody>
          <a:bodyPr wrap="square" lIns="0" tIns="0" rIns="0" bIns="0" rtlCol="0" anchor="ctr"/>
          <a:lstStyle/>
          <a:p>
            <a:pPr algn="r" indent="0" marL="0">
              <a:buNone/>
            </a:pPr>
            <a:r>
              <a:rPr lang="en-US" sz="950" b="1" dirty="0">
                <a:solidFill>
                  <a:srgbClr val="C0603C"/>
                </a:solidFill>
              </a:rPr>
              <a:t>synth-2  173</a:t>
            </a:r>
            <a:endParaRPr lang="en-US" sz="950" dirty="0"/>
          </a:p>
        </p:txBody>
      </p:sp>
      <p:sp>
        <p:nvSpPr>
          <p:cNvPr id="18" name="Shape 16"/>
          <p:cNvSpPr/>
          <p:nvPr/>
        </p:nvSpPr>
        <p:spPr>
          <a:xfrm>
            <a:off x="4263539" y="3474720"/>
            <a:ext cx="914" cy="576072"/>
          </a:xfrm>
          <a:prstGeom prst="line">
            <a:avLst/>
          </a:prstGeom>
          <a:noFill/>
          <a:ln w="11430">
            <a:solidFill>
              <a:srgbClr val="C0603C"/>
            </a:solidFill>
            <a:prstDash val="solid"/>
          </a:ln>
        </p:spPr>
      </p:sp>
      <p:sp>
        <p:nvSpPr>
          <p:cNvPr id="19" name="Shape 17"/>
          <p:cNvSpPr/>
          <p:nvPr/>
        </p:nvSpPr>
        <p:spPr>
          <a:xfrm>
            <a:off x="4213247" y="3396996"/>
            <a:ext cx="100584" cy="100584"/>
          </a:xfrm>
          <a:prstGeom prst="ellipse">
            <a:avLst/>
          </a:prstGeom>
          <a:solidFill>
            <a:srgbClr val="C0603C"/>
          </a:solidFill>
          <a:ln w="6350">
            <a:solidFill>
              <a:srgbClr val="C0603C"/>
            </a:solidFill>
            <a:prstDash val="solid"/>
          </a:ln>
        </p:spPr>
      </p:sp>
      <p:sp>
        <p:nvSpPr>
          <p:cNvPr id="20" name="Text 18"/>
          <p:cNvSpPr txBox="1"/>
          <p:nvPr/>
        </p:nvSpPr>
        <p:spPr>
          <a:xfrm>
            <a:off x="2196995" y="3264408"/>
            <a:ext cx="2011680" cy="219456"/>
          </a:xfrm>
          <a:prstGeom prst="rect">
            <a:avLst/>
          </a:prstGeom>
          <a:noFill/>
          <a:ln/>
        </p:spPr>
        <p:txBody>
          <a:bodyPr wrap="square" lIns="0" tIns="0" rIns="0" bIns="0" rtlCol="0" anchor="ctr"/>
          <a:lstStyle/>
          <a:p>
            <a:pPr algn="r" indent="0" marL="0">
              <a:buNone/>
            </a:pPr>
            <a:r>
              <a:rPr lang="en-US" sz="950" b="1" dirty="0">
                <a:solidFill>
                  <a:srgbClr val="C0603C"/>
                </a:solidFill>
              </a:rPr>
              <a:t>synth-3  1,218</a:t>
            </a:r>
            <a:endParaRPr lang="en-US" sz="950" dirty="0"/>
          </a:p>
        </p:txBody>
      </p:sp>
      <p:sp>
        <p:nvSpPr>
          <p:cNvPr id="21" name="Shape 19"/>
          <p:cNvSpPr/>
          <p:nvPr/>
        </p:nvSpPr>
        <p:spPr>
          <a:xfrm>
            <a:off x="4398728" y="3136392"/>
            <a:ext cx="914" cy="914400"/>
          </a:xfrm>
          <a:prstGeom prst="line">
            <a:avLst/>
          </a:prstGeom>
          <a:noFill/>
          <a:ln w="11430">
            <a:solidFill>
              <a:srgbClr val="C0603C"/>
            </a:solidFill>
            <a:prstDash val="solid"/>
          </a:ln>
        </p:spPr>
      </p:sp>
      <p:sp>
        <p:nvSpPr>
          <p:cNvPr id="22" name="Shape 20"/>
          <p:cNvSpPr/>
          <p:nvPr/>
        </p:nvSpPr>
        <p:spPr>
          <a:xfrm>
            <a:off x="4348436" y="3058668"/>
            <a:ext cx="100584" cy="100584"/>
          </a:xfrm>
          <a:prstGeom prst="ellipse">
            <a:avLst/>
          </a:prstGeom>
          <a:solidFill>
            <a:srgbClr val="C0603C"/>
          </a:solidFill>
          <a:ln w="6350">
            <a:solidFill>
              <a:srgbClr val="C0603C"/>
            </a:solidFill>
            <a:prstDash val="solid"/>
          </a:ln>
        </p:spPr>
      </p:sp>
      <p:sp>
        <p:nvSpPr>
          <p:cNvPr id="23" name="Text 21"/>
          <p:cNvSpPr txBox="1"/>
          <p:nvPr/>
        </p:nvSpPr>
        <p:spPr>
          <a:xfrm>
            <a:off x="2332184" y="2926080"/>
            <a:ext cx="2011680" cy="219456"/>
          </a:xfrm>
          <a:prstGeom prst="rect">
            <a:avLst/>
          </a:prstGeom>
          <a:noFill/>
          <a:ln/>
        </p:spPr>
        <p:txBody>
          <a:bodyPr wrap="square" lIns="0" tIns="0" rIns="0" bIns="0" rtlCol="0" anchor="ctr"/>
          <a:lstStyle/>
          <a:p>
            <a:pPr algn="r" indent="0" marL="0">
              <a:buNone/>
            </a:pPr>
            <a:r>
              <a:rPr lang="en-US" sz="950" b="1" dirty="0">
                <a:solidFill>
                  <a:srgbClr val="C0603C"/>
                </a:solidFill>
              </a:rPr>
              <a:t>synth-1  1,370</a:t>
            </a:r>
            <a:endParaRPr lang="en-US" sz="950" dirty="0"/>
          </a:p>
        </p:txBody>
      </p:sp>
      <p:sp>
        <p:nvSpPr>
          <p:cNvPr id="24" name="Shape 22"/>
          <p:cNvSpPr/>
          <p:nvPr/>
        </p:nvSpPr>
        <p:spPr>
          <a:xfrm>
            <a:off x="6098858" y="2798064"/>
            <a:ext cx="914" cy="1252728"/>
          </a:xfrm>
          <a:prstGeom prst="line">
            <a:avLst/>
          </a:prstGeom>
          <a:noFill/>
          <a:ln w="11430">
            <a:solidFill>
              <a:srgbClr val="C0603C"/>
            </a:solidFill>
            <a:prstDash val="solid"/>
          </a:ln>
        </p:spPr>
      </p:sp>
      <p:sp>
        <p:nvSpPr>
          <p:cNvPr id="25" name="Shape 23"/>
          <p:cNvSpPr/>
          <p:nvPr/>
        </p:nvSpPr>
        <p:spPr>
          <a:xfrm>
            <a:off x="6048566" y="2720340"/>
            <a:ext cx="100584" cy="100584"/>
          </a:xfrm>
          <a:prstGeom prst="ellipse">
            <a:avLst/>
          </a:prstGeom>
          <a:solidFill>
            <a:srgbClr val="C0603C"/>
          </a:solidFill>
          <a:ln w="6350">
            <a:solidFill>
              <a:srgbClr val="C0603C"/>
            </a:solidFill>
            <a:prstDash val="solid"/>
          </a:ln>
        </p:spPr>
      </p:sp>
      <p:sp>
        <p:nvSpPr>
          <p:cNvPr id="26" name="Text 24"/>
          <p:cNvSpPr txBox="1"/>
          <p:nvPr/>
        </p:nvSpPr>
        <p:spPr>
          <a:xfrm>
            <a:off x="4032314" y="2587752"/>
            <a:ext cx="2011680" cy="219456"/>
          </a:xfrm>
          <a:prstGeom prst="rect">
            <a:avLst/>
          </a:prstGeom>
          <a:noFill/>
          <a:ln/>
        </p:spPr>
        <p:txBody>
          <a:bodyPr wrap="square" lIns="0" tIns="0" rIns="0" bIns="0" rtlCol="0" anchor="ctr"/>
          <a:lstStyle/>
          <a:p>
            <a:pPr algn="r" indent="0" marL="0">
              <a:buNone/>
            </a:pPr>
            <a:r>
              <a:rPr lang="en-US" sz="950" b="1" dirty="0">
                <a:solidFill>
                  <a:srgbClr val="C0603C"/>
                </a:solidFill>
              </a:rPr>
              <a:t>synth-4  6,012</a:t>
            </a:r>
            <a:endParaRPr lang="en-US" sz="950" dirty="0"/>
          </a:p>
        </p:txBody>
      </p:sp>
      <p:sp>
        <p:nvSpPr>
          <p:cNvPr id="27" name="Shape 25"/>
          <p:cNvSpPr/>
          <p:nvPr/>
        </p:nvSpPr>
        <p:spPr>
          <a:xfrm>
            <a:off x="6207518" y="2459736"/>
            <a:ext cx="914" cy="1591056"/>
          </a:xfrm>
          <a:prstGeom prst="line">
            <a:avLst/>
          </a:prstGeom>
          <a:noFill/>
          <a:ln w="11430">
            <a:solidFill>
              <a:srgbClr val="C0603C"/>
            </a:solidFill>
            <a:prstDash val="solid"/>
          </a:ln>
        </p:spPr>
      </p:sp>
      <p:sp>
        <p:nvSpPr>
          <p:cNvPr id="28" name="Shape 26"/>
          <p:cNvSpPr/>
          <p:nvPr/>
        </p:nvSpPr>
        <p:spPr>
          <a:xfrm>
            <a:off x="6157226" y="2382012"/>
            <a:ext cx="100584" cy="100584"/>
          </a:xfrm>
          <a:prstGeom prst="ellipse">
            <a:avLst/>
          </a:prstGeom>
          <a:solidFill>
            <a:srgbClr val="C0603C"/>
          </a:solidFill>
          <a:ln w="6350">
            <a:solidFill>
              <a:srgbClr val="C0603C"/>
            </a:solidFill>
            <a:prstDash val="solid"/>
          </a:ln>
        </p:spPr>
      </p:sp>
      <p:sp>
        <p:nvSpPr>
          <p:cNvPr id="29" name="Text 27"/>
          <p:cNvSpPr txBox="1"/>
          <p:nvPr/>
        </p:nvSpPr>
        <p:spPr>
          <a:xfrm>
            <a:off x="4140974" y="2249424"/>
            <a:ext cx="2011680" cy="219456"/>
          </a:xfrm>
          <a:prstGeom prst="rect">
            <a:avLst/>
          </a:prstGeom>
          <a:noFill/>
          <a:ln/>
        </p:spPr>
        <p:txBody>
          <a:bodyPr wrap="square" lIns="0" tIns="0" rIns="0" bIns="0" rtlCol="0" anchor="ctr"/>
          <a:lstStyle/>
          <a:p>
            <a:pPr algn="r" indent="0" marL="0">
              <a:buNone/>
            </a:pPr>
            <a:r>
              <a:rPr lang="en-US" sz="950" b="1" dirty="0">
                <a:solidFill>
                  <a:srgbClr val="C0603C"/>
                </a:solidFill>
              </a:rPr>
              <a:t>small-graph  6,608</a:t>
            </a:r>
            <a:endParaRPr lang="en-US" sz="950" dirty="0"/>
          </a:p>
        </p:txBody>
      </p:sp>
      <p:sp>
        <p:nvSpPr>
          <p:cNvPr id="30" name="Shape 28"/>
          <p:cNvSpPr/>
          <p:nvPr/>
        </p:nvSpPr>
        <p:spPr>
          <a:xfrm>
            <a:off x="7112500" y="3813048"/>
            <a:ext cx="914" cy="237744"/>
          </a:xfrm>
          <a:prstGeom prst="line">
            <a:avLst/>
          </a:prstGeom>
          <a:noFill/>
          <a:ln w="11430">
            <a:solidFill>
              <a:srgbClr val="3E8E72"/>
            </a:solidFill>
            <a:prstDash val="solid"/>
          </a:ln>
        </p:spPr>
      </p:sp>
      <p:sp>
        <p:nvSpPr>
          <p:cNvPr id="31" name="Shape 29"/>
          <p:cNvSpPr/>
          <p:nvPr/>
        </p:nvSpPr>
        <p:spPr>
          <a:xfrm>
            <a:off x="7062208" y="3735324"/>
            <a:ext cx="100584" cy="100584"/>
          </a:xfrm>
          <a:prstGeom prst="ellipse">
            <a:avLst/>
          </a:prstGeom>
          <a:solidFill>
            <a:srgbClr val="3E8E72"/>
          </a:solidFill>
          <a:ln w="6350">
            <a:solidFill>
              <a:srgbClr val="3E8E72"/>
            </a:solidFill>
            <a:prstDash val="solid"/>
          </a:ln>
        </p:spPr>
      </p:sp>
      <p:sp>
        <p:nvSpPr>
          <p:cNvPr id="32" name="Text 30"/>
          <p:cNvSpPr txBox="1"/>
          <p:nvPr/>
        </p:nvSpPr>
        <p:spPr>
          <a:xfrm>
            <a:off x="7021060" y="3602736"/>
            <a:ext cx="2011680" cy="219456"/>
          </a:xfrm>
          <a:prstGeom prst="rect">
            <a:avLst/>
          </a:prstGeom>
          <a:noFill/>
          <a:ln/>
        </p:spPr>
        <p:txBody>
          <a:bodyPr wrap="square" lIns="0" tIns="0" rIns="0" bIns="0" rtlCol="0" anchor="ctr"/>
          <a:lstStyle/>
          <a:p>
            <a:pPr algn="l" indent="0" marL="0">
              <a:buNone/>
            </a:pPr>
            <a:r>
              <a:rPr lang="en-US" sz="950" b="1" dirty="0">
                <a:solidFill>
                  <a:srgbClr val="3E8E72"/>
                </a:solidFill>
              </a:rPr>
              <a:t>synth-5  14,520</a:t>
            </a:r>
            <a:endParaRPr lang="en-US" sz="950" dirty="0"/>
          </a:p>
        </p:txBody>
      </p:sp>
      <p:sp>
        <p:nvSpPr>
          <p:cNvPr id="33" name="Shape 31"/>
          <p:cNvSpPr/>
          <p:nvPr/>
        </p:nvSpPr>
        <p:spPr>
          <a:xfrm>
            <a:off x="7438506" y="3474720"/>
            <a:ext cx="914" cy="576072"/>
          </a:xfrm>
          <a:prstGeom prst="line">
            <a:avLst/>
          </a:prstGeom>
          <a:noFill/>
          <a:ln w="11430">
            <a:solidFill>
              <a:srgbClr val="3E8E72"/>
            </a:solidFill>
            <a:prstDash val="solid"/>
          </a:ln>
        </p:spPr>
      </p:sp>
      <p:sp>
        <p:nvSpPr>
          <p:cNvPr id="34" name="Shape 32"/>
          <p:cNvSpPr/>
          <p:nvPr/>
        </p:nvSpPr>
        <p:spPr>
          <a:xfrm>
            <a:off x="7388214" y="3396996"/>
            <a:ext cx="100584" cy="100584"/>
          </a:xfrm>
          <a:prstGeom prst="ellipse">
            <a:avLst/>
          </a:prstGeom>
          <a:solidFill>
            <a:srgbClr val="3E8E72"/>
          </a:solidFill>
          <a:ln w="6350">
            <a:solidFill>
              <a:srgbClr val="3E8E72"/>
            </a:solidFill>
            <a:prstDash val="solid"/>
          </a:ln>
        </p:spPr>
      </p:sp>
      <p:sp>
        <p:nvSpPr>
          <p:cNvPr id="35" name="Text 33"/>
          <p:cNvSpPr txBox="1"/>
          <p:nvPr/>
        </p:nvSpPr>
        <p:spPr>
          <a:xfrm>
            <a:off x="7347066" y="3264408"/>
            <a:ext cx="2011680" cy="219456"/>
          </a:xfrm>
          <a:prstGeom prst="rect">
            <a:avLst/>
          </a:prstGeom>
          <a:noFill/>
          <a:ln/>
        </p:spPr>
        <p:txBody>
          <a:bodyPr wrap="square" lIns="0" tIns="0" rIns="0" bIns="0" rtlCol="0" anchor="ctr"/>
          <a:lstStyle/>
          <a:p>
            <a:pPr algn="l" indent="0" marL="0">
              <a:buNone/>
            </a:pPr>
            <a:r>
              <a:rPr lang="en-US" sz="950" b="1" dirty="0">
                <a:solidFill>
                  <a:srgbClr val="3E8E72"/>
                </a:solidFill>
              </a:rPr>
              <a:t>medium-graph  19,281</a:t>
            </a:r>
            <a:endParaRPr lang="en-US" sz="950" dirty="0"/>
          </a:p>
        </p:txBody>
      </p:sp>
      <p:sp>
        <p:nvSpPr>
          <p:cNvPr id="36" name="Shape 34"/>
          <p:cNvSpPr/>
          <p:nvPr/>
        </p:nvSpPr>
        <p:spPr>
          <a:xfrm>
            <a:off x="10410314" y="3136392"/>
            <a:ext cx="914" cy="914400"/>
          </a:xfrm>
          <a:prstGeom prst="line">
            <a:avLst/>
          </a:prstGeom>
          <a:noFill/>
          <a:ln w="11430">
            <a:solidFill>
              <a:srgbClr val="3E8E72"/>
            </a:solidFill>
            <a:prstDash val="solid"/>
          </a:ln>
        </p:spPr>
      </p:sp>
      <p:sp>
        <p:nvSpPr>
          <p:cNvPr id="37" name="Shape 35"/>
          <p:cNvSpPr/>
          <p:nvPr/>
        </p:nvSpPr>
        <p:spPr>
          <a:xfrm>
            <a:off x="10360022" y="3058668"/>
            <a:ext cx="100584" cy="100584"/>
          </a:xfrm>
          <a:prstGeom prst="ellipse">
            <a:avLst/>
          </a:prstGeom>
          <a:solidFill>
            <a:srgbClr val="3E8E72"/>
          </a:solidFill>
          <a:ln w="6350">
            <a:solidFill>
              <a:srgbClr val="3E8E72"/>
            </a:solidFill>
            <a:prstDash val="solid"/>
          </a:ln>
        </p:spPr>
      </p:sp>
      <p:sp>
        <p:nvSpPr>
          <p:cNvPr id="38" name="Text 36"/>
          <p:cNvSpPr txBox="1"/>
          <p:nvPr/>
        </p:nvSpPr>
        <p:spPr>
          <a:xfrm>
            <a:off x="10318874" y="2926080"/>
            <a:ext cx="2011680" cy="219456"/>
          </a:xfrm>
          <a:prstGeom prst="rect">
            <a:avLst/>
          </a:prstGeom>
          <a:noFill/>
          <a:ln/>
        </p:spPr>
        <p:txBody>
          <a:bodyPr wrap="square" lIns="0" tIns="0" rIns="0" bIns="0" rtlCol="0" anchor="ctr"/>
          <a:lstStyle/>
          <a:p>
            <a:pPr algn="l" indent="0" marL="0">
              <a:buNone/>
            </a:pPr>
            <a:r>
              <a:rPr lang="en-US" sz="950" b="1" dirty="0">
                <a:solidFill>
                  <a:srgbClr val="3E8E72"/>
                </a:solidFill>
              </a:rPr>
              <a:t>synth-6  255,776</a:t>
            </a:r>
            <a:endParaRPr lang="en-US" sz="950" dirty="0"/>
          </a:p>
        </p:txBody>
      </p:sp>
      <p:sp>
        <p:nvSpPr>
          <p:cNvPr id="39" name="Shape 37"/>
          <p:cNvSpPr/>
          <p:nvPr/>
        </p:nvSpPr>
        <p:spPr>
          <a:xfrm>
            <a:off x="10646234" y="2798064"/>
            <a:ext cx="914" cy="1252728"/>
          </a:xfrm>
          <a:prstGeom prst="line">
            <a:avLst/>
          </a:prstGeom>
          <a:noFill/>
          <a:ln w="11430">
            <a:solidFill>
              <a:srgbClr val="3E8E72"/>
            </a:solidFill>
            <a:prstDash val="solid"/>
          </a:ln>
        </p:spPr>
      </p:sp>
      <p:sp>
        <p:nvSpPr>
          <p:cNvPr id="40" name="Shape 38"/>
          <p:cNvSpPr/>
          <p:nvPr/>
        </p:nvSpPr>
        <p:spPr>
          <a:xfrm>
            <a:off x="10595942" y="2720340"/>
            <a:ext cx="100584" cy="100584"/>
          </a:xfrm>
          <a:prstGeom prst="ellipse">
            <a:avLst/>
          </a:prstGeom>
          <a:solidFill>
            <a:srgbClr val="3E8E72"/>
          </a:solidFill>
          <a:ln w="6350">
            <a:solidFill>
              <a:srgbClr val="3E8E72"/>
            </a:solidFill>
            <a:prstDash val="solid"/>
          </a:ln>
        </p:spPr>
      </p:sp>
      <p:sp>
        <p:nvSpPr>
          <p:cNvPr id="41" name="Text 39"/>
          <p:cNvSpPr txBox="1"/>
          <p:nvPr/>
        </p:nvSpPr>
        <p:spPr>
          <a:xfrm>
            <a:off x="10554794" y="2587752"/>
            <a:ext cx="2011680" cy="219456"/>
          </a:xfrm>
          <a:prstGeom prst="rect">
            <a:avLst/>
          </a:prstGeom>
          <a:noFill/>
          <a:ln/>
        </p:spPr>
        <p:txBody>
          <a:bodyPr wrap="square" lIns="0" tIns="0" rIns="0" bIns="0" rtlCol="0" anchor="ctr"/>
          <a:lstStyle/>
          <a:p>
            <a:pPr algn="l" indent="0" marL="0">
              <a:buNone/>
            </a:pPr>
            <a:r>
              <a:rPr lang="en-US" sz="950" b="1" dirty="0">
                <a:solidFill>
                  <a:srgbClr val="3E8E72"/>
                </a:solidFill>
              </a:rPr>
              <a:t>synth-7  314,043</a:t>
            </a:r>
            <a:endParaRPr lang="en-US" sz="950" dirty="0"/>
          </a:p>
        </p:txBody>
      </p:sp>
      <p:sp>
        <p:nvSpPr>
          <p:cNvPr id="42" name="Shape 40"/>
          <p:cNvSpPr/>
          <p:nvPr/>
        </p:nvSpPr>
        <p:spPr>
          <a:xfrm>
            <a:off x="10916062" y="2459736"/>
            <a:ext cx="914" cy="1591056"/>
          </a:xfrm>
          <a:prstGeom prst="line">
            <a:avLst/>
          </a:prstGeom>
          <a:noFill/>
          <a:ln w="11430">
            <a:solidFill>
              <a:srgbClr val="3E8E72"/>
            </a:solidFill>
            <a:prstDash val="solid"/>
          </a:ln>
        </p:spPr>
      </p:sp>
      <p:sp>
        <p:nvSpPr>
          <p:cNvPr id="43" name="Shape 41"/>
          <p:cNvSpPr/>
          <p:nvPr/>
        </p:nvSpPr>
        <p:spPr>
          <a:xfrm>
            <a:off x="10865770" y="2382012"/>
            <a:ext cx="100584" cy="100584"/>
          </a:xfrm>
          <a:prstGeom prst="ellipse">
            <a:avLst/>
          </a:prstGeom>
          <a:solidFill>
            <a:srgbClr val="3E8E72"/>
          </a:solidFill>
          <a:ln w="6350">
            <a:solidFill>
              <a:srgbClr val="3E8E72"/>
            </a:solidFill>
            <a:prstDash val="solid"/>
          </a:ln>
        </p:spPr>
      </p:sp>
      <p:sp>
        <p:nvSpPr>
          <p:cNvPr id="44" name="Text 42"/>
          <p:cNvSpPr txBox="1"/>
          <p:nvPr/>
        </p:nvSpPr>
        <p:spPr>
          <a:xfrm>
            <a:off x="10824622" y="2249424"/>
            <a:ext cx="2011680" cy="219456"/>
          </a:xfrm>
          <a:prstGeom prst="rect">
            <a:avLst/>
          </a:prstGeom>
          <a:noFill/>
          <a:ln/>
        </p:spPr>
        <p:txBody>
          <a:bodyPr wrap="square" lIns="0" tIns="0" rIns="0" bIns="0" rtlCol="0" anchor="ctr"/>
          <a:lstStyle/>
          <a:p>
            <a:pPr algn="l" indent="0" marL="0">
              <a:buNone/>
            </a:pPr>
            <a:r>
              <a:rPr lang="en-US" sz="950" b="1" dirty="0">
                <a:solidFill>
                  <a:srgbClr val="3E8E72"/>
                </a:solidFill>
              </a:rPr>
              <a:t>large-graph  397,126</a:t>
            </a:r>
            <a:endParaRPr lang="en-US" sz="950" dirty="0"/>
          </a:p>
        </p:txBody>
      </p:sp>
      <p:sp>
        <p:nvSpPr>
          <p:cNvPr id="45" name="Shape 43"/>
          <p:cNvSpPr/>
          <p:nvPr/>
        </p:nvSpPr>
        <p:spPr>
          <a:xfrm>
            <a:off x="1394460" y="4594860"/>
            <a:ext cx="100584" cy="100584"/>
          </a:xfrm>
          <a:prstGeom prst="ellipse">
            <a:avLst/>
          </a:prstGeom>
          <a:solidFill>
            <a:srgbClr val="C0603C"/>
          </a:solidFill>
          <a:ln w="6350">
            <a:solidFill>
              <a:srgbClr val="C0603C"/>
            </a:solidFill>
            <a:prstDash val="solid"/>
          </a:ln>
        </p:spPr>
      </p:sp>
      <p:sp>
        <p:nvSpPr>
          <p:cNvPr id="46" name="Text 44"/>
          <p:cNvSpPr txBox="1"/>
          <p:nvPr/>
        </p:nvSpPr>
        <p:spPr>
          <a:xfrm>
            <a:off x="1572768" y="4535424"/>
            <a:ext cx="1280160" cy="219456"/>
          </a:xfrm>
          <a:prstGeom prst="rect">
            <a:avLst/>
          </a:prstGeom>
          <a:noFill/>
          <a:ln/>
        </p:spPr>
        <p:txBody>
          <a:bodyPr wrap="square" lIns="0" tIns="0" rIns="0" bIns="0" rtlCol="0" anchor="ctr"/>
          <a:lstStyle/>
          <a:p>
            <a:pPr indent="0" marL="0">
              <a:buNone/>
            </a:pPr>
            <a:r>
              <a:rPr lang="en-US" sz="1000" b="1" dirty="0">
                <a:solidFill>
                  <a:srgbClr val="C0603C"/>
                </a:solidFill>
              </a:rPr>
              <a:t>tie</a:t>
            </a:r>
            <a:endParaRPr lang="en-US" sz="1000" dirty="0"/>
          </a:p>
        </p:txBody>
      </p:sp>
      <p:sp>
        <p:nvSpPr>
          <p:cNvPr id="47" name="Shape 45"/>
          <p:cNvSpPr/>
          <p:nvPr/>
        </p:nvSpPr>
        <p:spPr>
          <a:xfrm>
            <a:off x="2766060" y="4594860"/>
            <a:ext cx="100584" cy="100584"/>
          </a:xfrm>
          <a:prstGeom prst="ellipse">
            <a:avLst/>
          </a:prstGeom>
          <a:solidFill>
            <a:srgbClr val="3E8E72"/>
          </a:solidFill>
          <a:ln w="6350">
            <a:solidFill>
              <a:srgbClr val="3E8E72"/>
            </a:solidFill>
            <a:prstDash val="solid"/>
          </a:ln>
        </p:spPr>
      </p:sp>
      <p:sp>
        <p:nvSpPr>
          <p:cNvPr id="48" name="Text 46"/>
          <p:cNvSpPr txBox="1"/>
          <p:nvPr/>
        </p:nvSpPr>
        <p:spPr>
          <a:xfrm>
            <a:off x="2944368" y="4535424"/>
            <a:ext cx="1280160" cy="219456"/>
          </a:xfrm>
          <a:prstGeom prst="rect">
            <a:avLst/>
          </a:prstGeom>
          <a:noFill/>
          <a:ln/>
        </p:spPr>
        <p:txBody>
          <a:bodyPr wrap="square" lIns="0" tIns="0" rIns="0" bIns="0" rtlCol="0" anchor="ctr"/>
          <a:lstStyle/>
          <a:p>
            <a:pPr indent="0" marL="0">
              <a:buNone/>
            </a:pPr>
            <a:r>
              <a:rPr lang="en-US" sz="1000" b="1" dirty="0">
                <a:solidFill>
                  <a:srgbClr val="3E8E72"/>
                </a:solidFill>
              </a:rPr>
              <a:t>separated</a:t>
            </a:r>
            <a:endParaRPr lang="en-US" sz="1000" dirty="0"/>
          </a:p>
        </p:txBody>
      </p:sp>
      <p:sp>
        <p:nvSpPr>
          <p:cNvPr id="49" name="Text 47"/>
          <p:cNvSpPr txBox="1"/>
          <p:nvPr/>
        </p:nvSpPr>
        <p:spPr>
          <a:xfrm>
            <a:off x="566928" y="4992624"/>
            <a:ext cx="5669280" cy="822960"/>
          </a:xfrm>
          <a:prstGeom prst="rect">
            <a:avLst/>
          </a:prstGeom>
          <a:noFill/>
          <a:ln/>
        </p:spPr>
        <p:txBody>
          <a:bodyPr wrap="square" lIns="0" tIns="0" rIns="0" bIns="0" rtlCol="0" anchor="ctr"/>
          <a:lstStyle/>
          <a:p>
            <a:pPr indent="0" marL="0">
              <a:lnSpc>
                <a:spcPts val="1800"/>
              </a:lnSpc>
              <a:buNone/>
            </a:pPr>
            <a:r>
              <a:rPr lang="en-US" sz="1200" dirty="0">
                <a:solidFill>
                  <a:srgbClr val="11211C"/>
                </a:solidFill>
              </a:rPr>
              <a:t>On five of the ten rows the named winner won by less than the amount the reference method differs from itself. The table names a best method on every row; it supports a ranking on five.</a:t>
            </a:r>
            <a:endParaRPr lang="en-US" sz="1200" dirty="0"/>
          </a:p>
        </p:txBody>
      </p:sp>
      <p:sp>
        <p:nvSpPr>
          <p:cNvPr id="50" name="Shape 48"/>
          <p:cNvSpPr/>
          <p:nvPr/>
        </p:nvSpPr>
        <p:spPr>
          <a:xfrm>
            <a:off x="6492240" y="4937760"/>
            <a:ext cx="5138928" cy="914400"/>
          </a:xfrm>
          <a:prstGeom prst="roundRect">
            <a:avLst>
              <a:gd name="adj" fmla="val 4000"/>
            </a:avLst>
          </a:prstGeom>
          <a:solidFill>
            <a:srgbClr val="EFF3F1"/>
          </a:solidFill>
          <a:ln w="6350">
            <a:solidFill>
              <a:srgbClr val="EFF3F1"/>
            </a:solidFill>
            <a:prstDash val="solid"/>
          </a:ln>
        </p:spPr>
      </p:sp>
      <p:sp>
        <p:nvSpPr>
          <p:cNvPr id="51" name="Text 49"/>
          <p:cNvSpPr txBox="1"/>
          <p:nvPr/>
        </p:nvSpPr>
        <p:spPr>
          <a:xfrm>
            <a:off x="6729984" y="5084064"/>
            <a:ext cx="4663440" cy="713232"/>
          </a:xfrm>
          <a:prstGeom prst="rect">
            <a:avLst/>
          </a:prstGeom>
          <a:noFill/>
          <a:ln/>
        </p:spPr>
        <p:txBody>
          <a:bodyPr wrap="square" lIns="0" tIns="0" rIns="0" bIns="0" rtlCol="0" anchor="ctr"/>
          <a:lstStyle/>
          <a:p>
            <a:pPr indent="0" marL="0">
              <a:lnSpc>
                <a:spcPts val="1700"/>
              </a:lnSpc>
              <a:buNone/>
            </a:pPr>
            <a:r>
              <a:rPr lang="en-US" sz="1150" dirty="0">
                <a:solidFill>
                  <a:srgbClr val="11211C"/>
                </a:solidFill>
              </a:rPr>
              <a:t>Note which rows survive. Every separated row is either a dense instance or the two rewirings of medium-graph: exactly the instances where there is still headroom under the bound.</a:t>
            </a:r>
            <a:endParaRPr lang="en-US" sz="1150" dirty="0"/>
          </a:p>
        </p:txBody>
      </p:sp>
      <p:sp>
        <p:nvSpPr>
          <p:cNvPr id="25" name="Slide Number Placeholder 0"/>
          <p:cNvSpPr>
            <a:spLocks noGrp="1"/>
          </p:cNvSpPr>
          <p:nvPr>
            <p:ph type="sldNum" sz="quarter" idx="4294967295"/>
          </p:nvPr>
        </p:nvSpPr>
        <p:spPr>
          <a:xfrm>
            <a:off x="11167567" y="6437376"/>
            <a:ext cx="45720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6B7A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420624"/>
            <a:ext cx="11057839" cy="658368"/>
          </a:xfrm>
          <a:prstGeom prst="rect">
            <a:avLst/>
          </a:prstGeom>
          <a:noFill/>
          <a:ln/>
        </p:spPr>
        <p:txBody>
          <a:bodyPr wrap="square" lIns="0" tIns="0" rIns="0" bIns="0" rtlCol="0" anchor="ctr"/>
          <a:lstStyle/>
          <a:p>
            <a:pPr indent="0" marL="0">
              <a:buNone/>
            </a:pPr>
            <a:r>
              <a:rPr lang="en-US" sz="2600" b="1" dirty="0">
                <a:solidFill>
                  <a:srgbClr val="11211C"/>
                </a:solidFill>
                <a:latin typeface="Cambria" pitchFamily="34" charset="0"/>
                <a:ea typeface="Cambria" pitchFamily="34" charset="-122"/>
                <a:cs typeface="Cambria" pitchFamily="34" charset="-120"/>
              </a:rPr>
              <a:t>Which component of a local search is doing the work</a:t>
            </a:r>
            <a:endParaRPr lang="en-US" sz="2600" dirty="0"/>
          </a:p>
        </p:txBody>
      </p:sp>
      <p:sp>
        <p:nvSpPr>
          <p:cNvPr id="3" name="Text 1"/>
          <p:cNvSpPr txBox="1"/>
          <p:nvPr/>
        </p:nvSpPr>
        <p:spPr>
          <a:xfrm>
            <a:off x="566928" y="1261872"/>
            <a:ext cx="10936224" cy="786384"/>
          </a:xfrm>
          <a:prstGeom prst="rect">
            <a:avLst/>
          </a:prstGeom>
          <a:noFill/>
          <a:ln/>
        </p:spPr>
        <p:txBody>
          <a:bodyPr wrap="square" lIns="0" tIns="0" rIns="0" bIns="0" rtlCol="0" anchor="ctr"/>
          <a:lstStyle/>
          <a:p>
            <a:pPr indent="0" marL="0">
              <a:lnSpc>
                <a:spcPts val="1900"/>
              </a:lnSpc>
              <a:buNone/>
            </a:pPr>
            <a:r>
              <a:rPr lang="en-US" sz="1250" dirty="0">
                <a:solidFill>
                  <a:srgbClr val="11211C"/>
                </a:solidFill>
              </a:rPr>
              <a:t>A local search has exactly three parts: the construction that gives it a starting ordering, the move pool it draws candidates from, and the acceptance rule that decides what it keeps. I replaced each one, alone, against the same baseline, everything else held fixed.</a:t>
            </a:r>
            <a:endParaRPr lang="en-US" sz="1250" dirty="0"/>
          </a:p>
        </p:txBody>
      </p:sp>
      <p:sp>
        <p:nvSpPr>
          <p:cNvPr id="4" name="Shape 2"/>
          <p:cNvSpPr/>
          <p:nvPr/>
        </p:nvSpPr>
        <p:spPr>
          <a:xfrm>
            <a:off x="566928" y="2651760"/>
            <a:ext cx="9582912" cy="914"/>
          </a:xfrm>
          <a:prstGeom prst="line">
            <a:avLst/>
          </a:prstGeom>
          <a:noFill/>
          <a:ln w="13970">
            <a:solidFill>
              <a:srgbClr val="11211C"/>
            </a:solidFill>
            <a:prstDash val="solid"/>
          </a:ln>
        </p:spPr>
      </p:sp>
      <p:sp>
        <p:nvSpPr>
          <p:cNvPr id="5" name="Text 3"/>
          <p:cNvSpPr txBox="1"/>
          <p:nvPr/>
        </p:nvSpPr>
        <p:spPr>
          <a:xfrm>
            <a:off x="566928" y="2231136"/>
            <a:ext cx="2286000" cy="457200"/>
          </a:xfrm>
          <a:prstGeom prst="rect">
            <a:avLst/>
          </a:prstGeom>
          <a:noFill/>
          <a:ln/>
        </p:spPr>
        <p:txBody>
          <a:bodyPr wrap="square" lIns="0" tIns="0" rIns="0" bIns="0" rtlCol="0" anchor="ctr"/>
          <a:lstStyle/>
          <a:p>
            <a:pPr algn="l" indent="0" marL="0">
              <a:buNone/>
            </a:pPr>
            <a:r>
              <a:rPr lang="en-US" sz="1150" b="1" dirty="0">
                <a:solidFill>
                  <a:srgbClr val="2A5247"/>
                </a:solidFill>
              </a:rPr>
              <a:t>replaced component</a:t>
            </a:r>
            <a:endParaRPr lang="en-US" sz="1150" dirty="0"/>
          </a:p>
        </p:txBody>
      </p:sp>
      <p:sp>
        <p:nvSpPr>
          <p:cNvPr id="6" name="Text 4"/>
          <p:cNvSpPr txBox="1"/>
          <p:nvPr/>
        </p:nvSpPr>
        <p:spPr>
          <a:xfrm>
            <a:off x="2852928" y="2231136"/>
            <a:ext cx="2606040" cy="457200"/>
          </a:xfrm>
          <a:prstGeom prst="rect">
            <a:avLst/>
          </a:prstGeom>
          <a:noFill/>
          <a:ln/>
        </p:spPr>
        <p:txBody>
          <a:bodyPr wrap="square" lIns="0" tIns="0" rIns="0" bIns="0" rtlCol="0" anchor="ctr"/>
          <a:lstStyle/>
          <a:p>
            <a:pPr algn="l" indent="0" marL="0">
              <a:buNone/>
            </a:pPr>
            <a:r>
              <a:rPr lang="en-US" sz="1150" b="1" dirty="0">
                <a:solidFill>
                  <a:srgbClr val="2A5247"/>
                </a:solidFill>
              </a:rPr>
              <a:t>arm</a:t>
            </a:r>
            <a:endParaRPr lang="en-US" sz="1150" dirty="0"/>
          </a:p>
        </p:txBody>
      </p:sp>
      <p:sp>
        <p:nvSpPr>
          <p:cNvPr id="7" name="Text 5"/>
          <p:cNvSpPr txBox="1"/>
          <p:nvPr/>
        </p:nvSpPr>
        <p:spPr>
          <a:xfrm>
            <a:off x="5458968" y="2231136"/>
            <a:ext cx="1371600" cy="457200"/>
          </a:xfrm>
          <a:prstGeom prst="rect">
            <a:avLst/>
          </a:prstGeom>
          <a:noFill/>
          <a:ln/>
        </p:spPr>
        <p:txBody>
          <a:bodyPr wrap="square" lIns="0" tIns="0" rIns="0" bIns="0" rtlCol="0" anchor="ctr"/>
          <a:lstStyle/>
          <a:p>
            <a:pPr algn="r" indent="0" marL="0">
              <a:buNone/>
            </a:pPr>
            <a:r>
              <a:rPr lang="en-US" sz="1150" b="1" dirty="0">
                <a:solidFill>
                  <a:srgbClr val="2A5247"/>
                </a:solidFill>
              </a:rPr>
              <a:t>net HV</a:t>
            </a:r>
            <a:endParaRPr lang="en-US" sz="1150" dirty="0"/>
          </a:p>
        </p:txBody>
      </p:sp>
      <p:sp>
        <p:nvSpPr>
          <p:cNvPr id="8" name="Text 6"/>
          <p:cNvSpPr txBox="1"/>
          <p:nvPr/>
        </p:nvSpPr>
        <p:spPr>
          <a:xfrm>
            <a:off x="6830568" y="2231136"/>
            <a:ext cx="1143000" cy="457200"/>
          </a:xfrm>
          <a:prstGeom prst="rect">
            <a:avLst/>
          </a:prstGeom>
          <a:noFill/>
          <a:ln/>
        </p:spPr>
        <p:txBody>
          <a:bodyPr wrap="square" lIns="0" tIns="0" rIns="0" bIns="0" rtlCol="0" anchor="ctr"/>
          <a:lstStyle/>
          <a:p>
            <a:pPr algn="r" indent="0" marL="0">
              <a:buNone/>
            </a:pPr>
            <a:r>
              <a:rPr lang="en-US" sz="1150" b="1" dirty="0">
                <a:solidFill>
                  <a:srgbClr val="2A5247"/>
                </a:solidFill>
              </a:rPr>
              <a:t>÷ 21,519</a:t>
            </a:r>
            <a:endParaRPr lang="en-US" sz="1150" dirty="0"/>
          </a:p>
        </p:txBody>
      </p:sp>
      <p:sp>
        <p:nvSpPr>
          <p:cNvPr id="9" name="Text 7"/>
          <p:cNvSpPr txBox="1"/>
          <p:nvPr/>
        </p:nvSpPr>
        <p:spPr>
          <a:xfrm>
            <a:off x="7973568" y="2231136"/>
            <a:ext cx="256032" cy="457200"/>
          </a:xfrm>
          <a:prstGeom prst="rect">
            <a:avLst/>
          </a:prstGeom>
          <a:noFill/>
          <a:ln/>
        </p:spPr>
        <p:txBody>
          <a:bodyPr wrap="square" lIns="0" tIns="0" rIns="0" bIns="0" rtlCol="0" anchor="ctr"/>
          <a:lstStyle/>
          <a:p>
            <a:pPr algn="l" indent="0" marL="0">
              <a:buNone/>
            </a:pPr>
            <a:endParaRPr lang="en-US" sz="1150" dirty="0"/>
          </a:p>
        </p:txBody>
      </p:sp>
      <p:sp>
        <p:nvSpPr>
          <p:cNvPr id="10" name="Text 8"/>
          <p:cNvSpPr txBox="1"/>
          <p:nvPr/>
        </p:nvSpPr>
        <p:spPr>
          <a:xfrm>
            <a:off x="8229600" y="2231136"/>
            <a:ext cx="1920240" cy="457200"/>
          </a:xfrm>
          <a:prstGeom prst="rect">
            <a:avLst/>
          </a:prstGeom>
          <a:noFill/>
          <a:ln/>
        </p:spPr>
        <p:txBody>
          <a:bodyPr wrap="square" lIns="0" tIns="0" rIns="0" bIns="0" rtlCol="0" anchor="ctr"/>
          <a:lstStyle/>
          <a:p>
            <a:pPr algn="l" indent="0" marL="0">
              <a:buNone/>
            </a:pPr>
            <a:endParaRPr lang="en-US" sz="1150" dirty="0"/>
          </a:p>
        </p:txBody>
      </p:sp>
      <p:sp>
        <p:nvSpPr>
          <p:cNvPr id="11" name="Shape 9"/>
          <p:cNvSpPr/>
          <p:nvPr/>
        </p:nvSpPr>
        <p:spPr>
          <a:xfrm>
            <a:off x="566928" y="3108960"/>
            <a:ext cx="9582912" cy="914"/>
          </a:xfrm>
          <a:prstGeom prst="line">
            <a:avLst/>
          </a:prstGeom>
          <a:noFill/>
          <a:ln w="7620">
            <a:solidFill>
              <a:srgbClr val="D9E0DC"/>
            </a:solidFill>
            <a:prstDash val="solid"/>
          </a:ln>
        </p:spPr>
      </p:sp>
      <p:sp>
        <p:nvSpPr>
          <p:cNvPr id="12" name="Text 10"/>
          <p:cNvSpPr txBox="1"/>
          <p:nvPr/>
        </p:nvSpPr>
        <p:spPr>
          <a:xfrm>
            <a:off x="566928" y="2688336"/>
            <a:ext cx="2286000" cy="457200"/>
          </a:xfrm>
          <a:prstGeom prst="rect">
            <a:avLst/>
          </a:prstGeom>
          <a:noFill/>
          <a:ln/>
        </p:spPr>
        <p:txBody>
          <a:bodyPr wrap="square" lIns="0" tIns="0" rIns="0" bIns="0" rtlCol="0" anchor="ctr"/>
          <a:lstStyle/>
          <a:p>
            <a:pPr algn="l" indent="0" marL="0">
              <a:buNone/>
            </a:pPr>
            <a:r>
              <a:rPr lang="en-US" sz="1300" dirty="0">
                <a:solidFill>
                  <a:srgbClr val="11211C"/>
                </a:solidFill>
              </a:rPr>
              <a:t>move pool</a:t>
            </a:r>
            <a:endParaRPr lang="en-US" sz="1300" dirty="0"/>
          </a:p>
        </p:txBody>
      </p:sp>
      <p:sp>
        <p:nvSpPr>
          <p:cNvPr id="13" name="Text 11"/>
          <p:cNvSpPr txBox="1"/>
          <p:nvPr/>
        </p:nvSpPr>
        <p:spPr>
          <a:xfrm>
            <a:off x="2852928" y="2688336"/>
            <a:ext cx="2606040" cy="457200"/>
          </a:xfrm>
          <a:prstGeom prst="rect">
            <a:avLst/>
          </a:prstGeom>
          <a:noFill/>
          <a:ln/>
        </p:spPr>
        <p:txBody>
          <a:bodyPr wrap="square" lIns="0" tIns="0" rIns="0" bIns="0" rtlCol="0" anchor="ctr"/>
          <a:lstStyle/>
          <a:p>
            <a:pPr algn="l" indent="0" marL="0">
              <a:buNone/>
            </a:pPr>
            <a:r>
              <a:rPr lang="en-US" sz="1300" dirty="0">
                <a:solidFill>
                  <a:srgbClr val="11211C"/>
                </a:solidFill>
              </a:rPr>
              <a:t>bottleneck-aware</a:t>
            </a:r>
            <a:endParaRPr lang="en-US" sz="1300" dirty="0"/>
          </a:p>
        </p:txBody>
      </p:sp>
      <p:sp>
        <p:nvSpPr>
          <p:cNvPr id="14" name="Text 12"/>
          <p:cNvSpPr txBox="1"/>
          <p:nvPr/>
        </p:nvSpPr>
        <p:spPr>
          <a:xfrm>
            <a:off x="5458968" y="2688336"/>
            <a:ext cx="1371600" cy="457200"/>
          </a:xfrm>
          <a:prstGeom prst="rect">
            <a:avLst/>
          </a:prstGeom>
          <a:noFill/>
          <a:ln/>
        </p:spPr>
        <p:txBody>
          <a:bodyPr wrap="square" lIns="0" tIns="0" rIns="0" bIns="0" rtlCol="0" anchor="ctr"/>
          <a:lstStyle/>
          <a:p>
            <a:pPr algn="r" indent="0" marL="0">
              <a:buNone/>
            </a:pPr>
            <a:r>
              <a:rPr lang="en-US" sz="1300" dirty="0">
                <a:solidFill>
                  <a:srgbClr val="11211C"/>
                </a:solidFill>
              </a:rPr>
              <a:t>+9,562</a:t>
            </a:r>
            <a:endParaRPr lang="en-US" sz="1300" dirty="0"/>
          </a:p>
        </p:txBody>
      </p:sp>
      <p:sp>
        <p:nvSpPr>
          <p:cNvPr id="15" name="Text 13"/>
          <p:cNvSpPr txBox="1"/>
          <p:nvPr/>
        </p:nvSpPr>
        <p:spPr>
          <a:xfrm>
            <a:off x="6830568" y="2688336"/>
            <a:ext cx="1143000" cy="457200"/>
          </a:xfrm>
          <a:prstGeom prst="rect">
            <a:avLst/>
          </a:prstGeom>
          <a:noFill/>
          <a:ln/>
        </p:spPr>
        <p:txBody>
          <a:bodyPr wrap="square" lIns="0" tIns="0" rIns="0" bIns="0" rtlCol="0" anchor="ctr"/>
          <a:lstStyle/>
          <a:p>
            <a:pPr algn="r" indent="0" marL="0">
              <a:buNone/>
            </a:pPr>
            <a:r>
              <a:rPr lang="en-US" sz="1300" dirty="0">
                <a:solidFill>
                  <a:srgbClr val="11211C"/>
                </a:solidFill>
              </a:rPr>
              <a:t>0.4×</a:t>
            </a:r>
            <a:endParaRPr lang="en-US" sz="1300" dirty="0"/>
          </a:p>
        </p:txBody>
      </p:sp>
      <p:sp>
        <p:nvSpPr>
          <p:cNvPr id="16" name="Text 14"/>
          <p:cNvSpPr txBox="1"/>
          <p:nvPr/>
        </p:nvSpPr>
        <p:spPr>
          <a:xfrm>
            <a:off x="7973568" y="2688336"/>
            <a:ext cx="256032" cy="457200"/>
          </a:xfrm>
          <a:prstGeom prst="rect">
            <a:avLst/>
          </a:prstGeom>
          <a:noFill/>
          <a:ln/>
        </p:spPr>
        <p:txBody>
          <a:bodyPr wrap="square" lIns="0" tIns="0" rIns="0" bIns="0" rtlCol="0" anchor="ctr"/>
          <a:lstStyle/>
          <a:p>
            <a:pPr algn="l" indent="0" marL="0">
              <a:buNone/>
            </a:pPr>
            <a:endParaRPr lang="en-US" sz="1300" dirty="0"/>
          </a:p>
        </p:txBody>
      </p:sp>
      <p:sp>
        <p:nvSpPr>
          <p:cNvPr id="17" name="Text 15"/>
          <p:cNvSpPr txBox="1"/>
          <p:nvPr/>
        </p:nvSpPr>
        <p:spPr>
          <a:xfrm>
            <a:off x="8229600" y="2688336"/>
            <a:ext cx="1920240" cy="457200"/>
          </a:xfrm>
          <a:prstGeom prst="rect">
            <a:avLst/>
          </a:prstGeom>
          <a:noFill/>
          <a:ln/>
        </p:spPr>
        <p:txBody>
          <a:bodyPr wrap="square" lIns="0" tIns="0" rIns="0" bIns="0" rtlCol="0" anchor="ctr"/>
          <a:lstStyle/>
          <a:p>
            <a:pPr algn="l" indent="0" marL="0">
              <a:buNone/>
            </a:pPr>
            <a:endParaRPr lang="en-US" sz="1300" dirty="0"/>
          </a:p>
        </p:txBody>
      </p:sp>
      <p:sp>
        <p:nvSpPr>
          <p:cNvPr id="18" name="Shape 16"/>
          <p:cNvSpPr/>
          <p:nvPr/>
        </p:nvSpPr>
        <p:spPr>
          <a:xfrm>
            <a:off x="566928" y="3566160"/>
            <a:ext cx="9582912" cy="914"/>
          </a:xfrm>
          <a:prstGeom prst="line">
            <a:avLst/>
          </a:prstGeom>
          <a:noFill/>
          <a:ln w="7620">
            <a:solidFill>
              <a:srgbClr val="D9E0DC"/>
            </a:solidFill>
            <a:prstDash val="solid"/>
          </a:ln>
        </p:spPr>
      </p:sp>
      <p:sp>
        <p:nvSpPr>
          <p:cNvPr id="19" name="Text 17"/>
          <p:cNvSpPr txBox="1"/>
          <p:nvPr/>
        </p:nvSpPr>
        <p:spPr>
          <a:xfrm>
            <a:off x="566928" y="3145536"/>
            <a:ext cx="2286000" cy="457200"/>
          </a:xfrm>
          <a:prstGeom prst="rect">
            <a:avLst/>
          </a:prstGeom>
          <a:noFill/>
          <a:ln/>
        </p:spPr>
        <p:txBody>
          <a:bodyPr wrap="square" lIns="0" tIns="0" rIns="0" bIns="0" rtlCol="0" anchor="ctr"/>
          <a:lstStyle/>
          <a:p>
            <a:pPr algn="l" indent="0" marL="0">
              <a:buNone/>
            </a:pPr>
            <a:r>
              <a:rPr lang="en-US" sz="1300" dirty="0">
                <a:solidFill>
                  <a:srgbClr val="11211C"/>
                </a:solidFill>
              </a:rPr>
              <a:t>acceptance rule</a:t>
            </a:r>
            <a:endParaRPr lang="en-US" sz="1300" dirty="0"/>
          </a:p>
        </p:txBody>
      </p:sp>
      <p:sp>
        <p:nvSpPr>
          <p:cNvPr id="20" name="Text 18"/>
          <p:cNvSpPr txBox="1"/>
          <p:nvPr/>
        </p:nvSpPr>
        <p:spPr>
          <a:xfrm>
            <a:off x="2852928" y="3145536"/>
            <a:ext cx="2606040" cy="457200"/>
          </a:xfrm>
          <a:prstGeom prst="rect">
            <a:avLst/>
          </a:prstGeom>
          <a:noFill/>
          <a:ln/>
        </p:spPr>
        <p:txBody>
          <a:bodyPr wrap="square" lIns="0" tIns="0" rIns="0" bIns="0" rtlCol="0" anchor="ctr"/>
          <a:lstStyle/>
          <a:p>
            <a:pPr algn="l" indent="0" marL="0">
              <a:buNone/>
            </a:pPr>
            <a:r>
              <a:rPr lang="en-US" sz="1300" dirty="0">
                <a:solidFill>
                  <a:srgbClr val="11211C"/>
                </a:solidFill>
              </a:rPr>
              <a:t>VNS shake ladder</a:t>
            </a:r>
            <a:endParaRPr lang="en-US" sz="1300" dirty="0"/>
          </a:p>
        </p:txBody>
      </p:sp>
      <p:sp>
        <p:nvSpPr>
          <p:cNvPr id="21" name="Text 19"/>
          <p:cNvSpPr txBox="1"/>
          <p:nvPr/>
        </p:nvSpPr>
        <p:spPr>
          <a:xfrm>
            <a:off x="5458968" y="3145536"/>
            <a:ext cx="1371600" cy="457200"/>
          </a:xfrm>
          <a:prstGeom prst="rect">
            <a:avLst/>
          </a:prstGeom>
          <a:noFill/>
          <a:ln/>
        </p:spPr>
        <p:txBody>
          <a:bodyPr wrap="square" lIns="0" tIns="0" rIns="0" bIns="0" rtlCol="0" anchor="ctr"/>
          <a:lstStyle/>
          <a:p>
            <a:pPr algn="r" indent="0" marL="0">
              <a:buNone/>
            </a:pPr>
            <a:r>
              <a:rPr lang="en-US" sz="1300" dirty="0">
                <a:solidFill>
                  <a:srgbClr val="11211C"/>
                </a:solidFill>
              </a:rPr>
              <a:t>+19,623</a:t>
            </a:r>
            <a:endParaRPr lang="en-US" sz="1300" dirty="0"/>
          </a:p>
        </p:txBody>
      </p:sp>
      <p:sp>
        <p:nvSpPr>
          <p:cNvPr id="22" name="Text 20"/>
          <p:cNvSpPr txBox="1"/>
          <p:nvPr/>
        </p:nvSpPr>
        <p:spPr>
          <a:xfrm>
            <a:off x="6830568" y="3145536"/>
            <a:ext cx="1143000" cy="457200"/>
          </a:xfrm>
          <a:prstGeom prst="rect">
            <a:avLst/>
          </a:prstGeom>
          <a:noFill/>
          <a:ln/>
        </p:spPr>
        <p:txBody>
          <a:bodyPr wrap="square" lIns="0" tIns="0" rIns="0" bIns="0" rtlCol="0" anchor="ctr"/>
          <a:lstStyle/>
          <a:p>
            <a:pPr algn="r" indent="0" marL="0">
              <a:buNone/>
            </a:pPr>
            <a:r>
              <a:rPr lang="en-US" sz="1300" dirty="0">
                <a:solidFill>
                  <a:srgbClr val="11211C"/>
                </a:solidFill>
              </a:rPr>
              <a:t>0.9×</a:t>
            </a:r>
            <a:endParaRPr lang="en-US" sz="1300" dirty="0"/>
          </a:p>
        </p:txBody>
      </p:sp>
      <p:sp>
        <p:nvSpPr>
          <p:cNvPr id="23" name="Text 21"/>
          <p:cNvSpPr txBox="1"/>
          <p:nvPr/>
        </p:nvSpPr>
        <p:spPr>
          <a:xfrm>
            <a:off x="7973568" y="3145536"/>
            <a:ext cx="256032" cy="457200"/>
          </a:xfrm>
          <a:prstGeom prst="rect">
            <a:avLst/>
          </a:prstGeom>
          <a:noFill/>
          <a:ln/>
        </p:spPr>
        <p:txBody>
          <a:bodyPr wrap="square" lIns="0" tIns="0" rIns="0" bIns="0" rtlCol="0" anchor="ctr"/>
          <a:lstStyle/>
          <a:p>
            <a:pPr algn="l" indent="0" marL="0">
              <a:buNone/>
            </a:pPr>
            <a:endParaRPr lang="en-US" sz="1300" dirty="0"/>
          </a:p>
        </p:txBody>
      </p:sp>
      <p:sp>
        <p:nvSpPr>
          <p:cNvPr id="24" name="Text 22"/>
          <p:cNvSpPr txBox="1"/>
          <p:nvPr/>
        </p:nvSpPr>
        <p:spPr>
          <a:xfrm>
            <a:off x="8229600" y="3145536"/>
            <a:ext cx="1920240" cy="457200"/>
          </a:xfrm>
          <a:prstGeom prst="rect">
            <a:avLst/>
          </a:prstGeom>
          <a:noFill/>
          <a:ln/>
        </p:spPr>
        <p:txBody>
          <a:bodyPr wrap="square" lIns="0" tIns="0" rIns="0" bIns="0" rtlCol="0" anchor="ctr"/>
          <a:lstStyle/>
          <a:p>
            <a:pPr algn="l" indent="0" marL="0">
              <a:buNone/>
            </a:pPr>
            <a:endParaRPr lang="en-US" sz="1300" dirty="0"/>
          </a:p>
        </p:txBody>
      </p:sp>
      <p:sp>
        <p:nvSpPr>
          <p:cNvPr id="25" name="Shape 23"/>
          <p:cNvSpPr/>
          <p:nvPr/>
        </p:nvSpPr>
        <p:spPr>
          <a:xfrm>
            <a:off x="566928" y="4023360"/>
            <a:ext cx="9582912" cy="914"/>
          </a:xfrm>
          <a:prstGeom prst="line">
            <a:avLst/>
          </a:prstGeom>
          <a:noFill/>
          <a:ln w="7620">
            <a:solidFill>
              <a:srgbClr val="D9E0DC"/>
            </a:solidFill>
            <a:prstDash val="solid"/>
          </a:ln>
        </p:spPr>
      </p:sp>
      <p:sp>
        <p:nvSpPr>
          <p:cNvPr id="26" name="Text 24"/>
          <p:cNvSpPr txBox="1"/>
          <p:nvPr/>
        </p:nvSpPr>
        <p:spPr>
          <a:xfrm>
            <a:off x="566928" y="3602736"/>
            <a:ext cx="2286000" cy="457200"/>
          </a:xfrm>
          <a:prstGeom prst="rect">
            <a:avLst/>
          </a:prstGeom>
          <a:noFill/>
          <a:ln/>
        </p:spPr>
        <p:txBody>
          <a:bodyPr wrap="square" lIns="0" tIns="0" rIns="0" bIns="0" rtlCol="0" anchor="ctr"/>
          <a:lstStyle/>
          <a:p>
            <a:pPr algn="l" indent="0" marL="0">
              <a:buNone/>
            </a:pPr>
            <a:r>
              <a:rPr lang="en-US" sz="1300" dirty="0">
                <a:solidFill>
                  <a:srgbClr val="11211C"/>
                </a:solidFill>
              </a:rPr>
              <a:t>acceptance rule</a:t>
            </a:r>
            <a:endParaRPr lang="en-US" sz="1300" dirty="0"/>
          </a:p>
        </p:txBody>
      </p:sp>
      <p:sp>
        <p:nvSpPr>
          <p:cNvPr id="27" name="Text 25"/>
          <p:cNvSpPr txBox="1"/>
          <p:nvPr/>
        </p:nvSpPr>
        <p:spPr>
          <a:xfrm>
            <a:off x="2852928" y="3602736"/>
            <a:ext cx="2606040" cy="457200"/>
          </a:xfrm>
          <a:prstGeom prst="rect">
            <a:avLst/>
          </a:prstGeom>
          <a:noFill/>
          <a:ln/>
        </p:spPr>
        <p:txBody>
          <a:bodyPr wrap="square" lIns="0" tIns="0" rIns="0" bIns="0" rtlCol="0" anchor="ctr"/>
          <a:lstStyle/>
          <a:p>
            <a:pPr algn="l" indent="0" marL="0">
              <a:buNone/>
            </a:pPr>
            <a:r>
              <a:rPr lang="en-US" sz="1300" dirty="0">
                <a:solidFill>
                  <a:srgbClr val="11211C"/>
                </a:solidFill>
              </a:rPr>
              <a:t>simulated annealing</a:t>
            </a:r>
            <a:endParaRPr lang="en-US" sz="1300" dirty="0"/>
          </a:p>
        </p:txBody>
      </p:sp>
      <p:sp>
        <p:nvSpPr>
          <p:cNvPr id="28" name="Text 26"/>
          <p:cNvSpPr txBox="1"/>
          <p:nvPr/>
        </p:nvSpPr>
        <p:spPr>
          <a:xfrm>
            <a:off x="5458968" y="3602736"/>
            <a:ext cx="1371600" cy="457200"/>
          </a:xfrm>
          <a:prstGeom prst="rect">
            <a:avLst/>
          </a:prstGeom>
          <a:noFill/>
          <a:ln/>
        </p:spPr>
        <p:txBody>
          <a:bodyPr wrap="square" lIns="0" tIns="0" rIns="0" bIns="0" rtlCol="0" anchor="ctr"/>
          <a:lstStyle/>
          <a:p>
            <a:pPr algn="r" indent="0" marL="0">
              <a:buNone/>
            </a:pPr>
            <a:r>
              <a:rPr lang="en-US" sz="1300" dirty="0">
                <a:solidFill>
                  <a:srgbClr val="11211C"/>
                </a:solidFill>
              </a:rPr>
              <a:t>+42,468</a:t>
            </a:r>
            <a:endParaRPr lang="en-US" sz="1300" dirty="0"/>
          </a:p>
        </p:txBody>
      </p:sp>
      <p:sp>
        <p:nvSpPr>
          <p:cNvPr id="29" name="Text 27"/>
          <p:cNvSpPr txBox="1"/>
          <p:nvPr/>
        </p:nvSpPr>
        <p:spPr>
          <a:xfrm>
            <a:off x="6830568" y="3602736"/>
            <a:ext cx="1143000" cy="457200"/>
          </a:xfrm>
          <a:prstGeom prst="rect">
            <a:avLst/>
          </a:prstGeom>
          <a:noFill/>
          <a:ln/>
        </p:spPr>
        <p:txBody>
          <a:bodyPr wrap="square" lIns="0" tIns="0" rIns="0" bIns="0" rtlCol="0" anchor="ctr"/>
          <a:lstStyle/>
          <a:p>
            <a:pPr algn="r" indent="0" marL="0">
              <a:buNone/>
            </a:pPr>
            <a:r>
              <a:rPr lang="en-US" sz="1300" dirty="0">
                <a:solidFill>
                  <a:srgbClr val="11211C"/>
                </a:solidFill>
              </a:rPr>
              <a:t>2.0×</a:t>
            </a:r>
            <a:endParaRPr lang="en-US" sz="1300" dirty="0"/>
          </a:p>
        </p:txBody>
      </p:sp>
      <p:sp>
        <p:nvSpPr>
          <p:cNvPr id="30" name="Text 28"/>
          <p:cNvSpPr txBox="1"/>
          <p:nvPr/>
        </p:nvSpPr>
        <p:spPr>
          <a:xfrm>
            <a:off x="7973568" y="3602736"/>
            <a:ext cx="256032" cy="457200"/>
          </a:xfrm>
          <a:prstGeom prst="rect">
            <a:avLst/>
          </a:prstGeom>
          <a:noFill/>
          <a:ln/>
        </p:spPr>
        <p:txBody>
          <a:bodyPr wrap="square" lIns="0" tIns="0" rIns="0" bIns="0" rtlCol="0" anchor="ctr"/>
          <a:lstStyle/>
          <a:p>
            <a:pPr algn="l" indent="0" marL="0">
              <a:buNone/>
            </a:pPr>
            <a:endParaRPr lang="en-US" sz="1300" dirty="0"/>
          </a:p>
        </p:txBody>
      </p:sp>
      <p:sp>
        <p:nvSpPr>
          <p:cNvPr id="31" name="Text 29"/>
          <p:cNvSpPr txBox="1"/>
          <p:nvPr/>
        </p:nvSpPr>
        <p:spPr>
          <a:xfrm>
            <a:off x="8229600" y="3602736"/>
            <a:ext cx="1920240" cy="457200"/>
          </a:xfrm>
          <a:prstGeom prst="rect">
            <a:avLst/>
          </a:prstGeom>
          <a:noFill/>
          <a:ln/>
        </p:spPr>
        <p:txBody>
          <a:bodyPr wrap="square" lIns="0" tIns="0" rIns="0" bIns="0" rtlCol="0" anchor="ctr"/>
          <a:lstStyle/>
          <a:p>
            <a:pPr algn="l" indent="0" marL="0">
              <a:buNone/>
            </a:pPr>
            <a:endParaRPr lang="en-US" sz="1300" dirty="0"/>
          </a:p>
        </p:txBody>
      </p:sp>
      <p:sp>
        <p:nvSpPr>
          <p:cNvPr id="32" name="Shape 30"/>
          <p:cNvSpPr/>
          <p:nvPr/>
        </p:nvSpPr>
        <p:spPr>
          <a:xfrm>
            <a:off x="566928" y="4480560"/>
            <a:ext cx="9582912" cy="914"/>
          </a:xfrm>
          <a:prstGeom prst="line">
            <a:avLst/>
          </a:prstGeom>
          <a:noFill/>
          <a:ln w="7620">
            <a:solidFill>
              <a:srgbClr val="D9E0DC"/>
            </a:solidFill>
            <a:prstDash val="solid"/>
          </a:ln>
        </p:spPr>
      </p:sp>
      <p:sp>
        <p:nvSpPr>
          <p:cNvPr id="33" name="Text 31"/>
          <p:cNvSpPr txBox="1"/>
          <p:nvPr/>
        </p:nvSpPr>
        <p:spPr>
          <a:xfrm>
            <a:off x="566928" y="4059936"/>
            <a:ext cx="2286000" cy="457200"/>
          </a:xfrm>
          <a:prstGeom prst="rect">
            <a:avLst/>
          </a:prstGeom>
          <a:noFill/>
          <a:ln/>
        </p:spPr>
        <p:txBody>
          <a:bodyPr wrap="square" lIns="0" tIns="0" rIns="0" bIns="0" rtlCol="0" anchor="ctr"/>
          <a:lstStyle/>
          <a:p>
            <a:pPr algn="l" indent="0" marL="0">
              <a:buNone/>
            </a:pPr>
            <a:r>
              <a:rPr lang="en-US" sz="1300" dirty="0">
                <a:solidFill>
                  <a:srgbClr val="11211C"/>
                </a:solidFill>
              </a:rPr>
              <a:t>construction</a:t>
            </a:r>
            <a:endParaRPr lang="en-US" sz="1300" dirty="0"/>
          </a:p>
        </p:txBody>
      </p:sp>
      <p:sp>
        <p:nvSpPr>
          <p:cNvPr id="34" name="Text 32"/>
          <p:cNvSpPr txBox="1"/>
          <p:nvPr/>
        </p:nvSpPr>
        <p:spPr>
          <a:xfrm>
            <a:off x="2852928" y="4059936"/>
            <a:ext cx="2606040" cy="457200"/>
          </a:xfrm>
          <a:prstGeom prst="rect">
            <a:avLst/>
          </a:prstGeom>
          <a:noFill/>
          <a:ln/>
        </p:spPr>
        <p:txBody>
          <a:bodyPr wrap="square" lIns="0" tIns="0" rIns="0" bIns="0" rtlCol="0" anchor="ctr"/>
          <a:lstStyle/>
          <a:p>
            <a:pPr algn="l" indent="0" marL="0">
              <a:buNone/>
            </a:pPr>
            <a:r>
              <a:rPr lang="en-US" sz="1300" dirty="0">
                <a:solidFill>
                  <a:srgbClr val="11211C"/>
                </a:solidFill>
              </a:rPr>
              <a:t>GRASP randomised</a:t>
            </a:r>
            <a:endParaRPr lang="en-US" sz="1300" dirty="0"/>
          </a:p>
        </p:txBody>
      </p:sp>
      <p:sp>
        <p:nvSpPr>
          <p:cNvPr id="35" name="Text 33"/>
          <p:cNvSpPr txBox="1"/>
          <p:nvPr/>
        </p:nvSpPr>
        <p:spPr>
          <a:xfrm>
            <a:off x="5458968" y="4059936"/>
            <a:ext cx="1371600" cy="457200"/>
          </a:xfrm>
          <a:prstGeom prst="rect">
            <a:avLst/>
          </a:prstGeom>
          <a:noFill/>
          <a:ln/>
        </p:spPr>
        <p:txBody>
          <a:bodyPr wrap="square" lIns="0" tIns="0" rIns="0" bIns="0" rtlCol="0" anchor="ctr"/>
          <a:lstStyle/>
          <a:p>
            <a:pPr algn="r" indent="0" marL="0">
              <a:buNone/>
            </a:pPr>
            <a:r>
              <a:rPr lang="en-US" sz="1300" dirty="0">
                <a:solidFill>
                  <a:srgbClr val="11211C"/>
                </a:solidFill>
              </a:rPr>
              <a:t>+341,263</a:t>
            </a:r>
            <a:endParaRPr lang="en-US" sz="1300" dirty="0"/>
          </a:p>
        </p:txBody>
      </p:sp>
      <p:sp>
        <p:nvSpPr>
          <p:cNvPr id="36" name="Text 34"/>
          <p:cNvSpPr txBox="1"/>
          <p:nvPr/>
        </p:nvSpPr>
        <p:spPr>
          <a:xfrm>
            <a:off x="6830568" y="4059936"/>
            <a:ext cx="1143000" cy="457200"/>
          </a:xfrm>
          <a:prstGeom prst="rect">
            <a:avLst/>
          </a:prstGeom>
          <a:noFill/>
          <a:ln/>
        </p:spPr>
        <p:txBody>
          <a:bodyPr wrap="square" lIns="0" tIns="0" rIns="0" bIns="0" rtlCol="0" anchor="ctr"/>
          <a:lstStyle/>
          <a:p>
            <a:pPr algn="r" indent="0" marL="0">
              <a:buNone/>
            </a:pPr>
            <a:r>
              <a:rPr lang="en-US" sz="1300" dirty="0">
                <a:solidFill>
                  <a:srgbClr val="11211C"/>
                </a:solidFill>
              </a:rPr>
              <a:t>15.9×</a:t>
            </a:r>
            <a:endParaRPr lang="en-US" sz="1300" dirty="0"/>
          </a:p>
        </p:txBody>
      </p:sp>
      <p:sp>
        <p:nvSpPr>
          <p:cNvPr id="37" name="Text 35"/>
          <p:cNvSpPr txBox="1"/>
          <p:nvPr/>
        </p:nvSpPr>
        <p:spPr>
          <a:xfrm>
            <a:off x="7973568" y="4059936"/>
            <a:ext cx="256032" cy="457200"/>
          </a:xfrm>
          <a:prstGeom prst="rect">
            <a:avLst/>
          </a:prstGeom>
          <a:noFill/>
          <a:ln/>
        </p:spPr>
        <p:txBody>
          <a:bodyPr wrap="square" lIns="0" tIns="0" rIns="0" bIns="0" rtlCol="0" anchor="ctr"/>
          <a:lstStyle/>
          <a:p>
            <a:pPr algn="l" indent="0" marL="0">
              <a:buNone/>
            </a:pPr>
            <a:endParaRPr lang="en-US" sz="1300" dirty="0"/>
          </a:p>
        </p:txBody>
      </p:sp>
      <p:sp>
        <p:nvSpPr>
          <p:cNvPr id="38" name="Text 36"/>
          <p:cNvSpPr txBox="1"/>
          <p:nvPr/>
        </p:nvSpPr>
        <p:spPr>
          <a:xfrm>
            <a:off x="8229600" y="4059936"/>
            <a:ext cx="1920240" cy="457200"/>
          </a:xfrm>
          <a:prstGeom prst="rect">
            <a:avLst/>
          </a:prstGeom>
          <a:noFill/>
          <a:ln/>
        </p:spPr>
        <p:txBody>
          <a:bodyPr wrap="square" lIns="0" tIns="0" rIns="0" bIns="0" rtlCol="0" anchor="ctr"/>
          <a:lstStyle/>
          <a:p>
            <a:pPr algn="l" indent="0" marL="0">
              <a:buNone/>
            </a:pPr>
            <a:endParaRPr lang="en-US" sz="1300" dirty="0"/>
          </a:p>
        </p:txBody>
      </p:sp>
      <p:sp>
        <p:nvSpPr>
          <p:cNvPr id="39" name="Text 37"/>
          <p:cNvSpPr txBox="1"/>
          <p:nvPr/>
        </p:nvSpPr>
        <p:spPr>
          <a:xfrm>
            <a:off x="8321040" y="2231136"/>
            <a:ext cx="1737360" cy="457200"/>
          </a:xfrm>
          <a:prstGeom prst="rect">
            <a:avLst/>
          </a:prstGeom>
          <a:noFill/>
          <a:ln/>
        </p:spPr>
        <p:txBody>
          <a:bodyPr wrap="square" lIns="0" tIns="0" rIns="0" bIns="0" rtlCol="0" anchor="ctr"/>
          <a:lstStyle/>
          <a:p>
            <a:pPr indent="0" marL="0">
              <a:buNone/>
            </a:pPr>
            <a:r>
              <a:rPr lang="en-US" sz="1150" b="1" dirty="0">
                <a:solidFill>
                  <a:srgbClr val="2A5247"/>
                </a:solidFill>
              </a:rPr>
              <a:t>verdict</a:t>
            </a:r>
            <a:endParaRPr lang="en-US" sz="1150" dirty="0"/>
          </a:p>
        </p:txBody>
      </p:sp>
      <p:sp>
        <p:nvSpPr>
          <p:cNvPr id="40" name="Shape 38"/>
          <p:cNvSpPr/>
          <p:nvPr/>
        </p:nvSpPr>
        <p:spPr>
          <a:xfrm>
            <a:off x="8284464" y="2752344"/>
            <a:ext cx="1792224" cy="310896"/>
          </a:xfrm>
          <a:prstGeom prst="roundRect">
            <a:avLst>
              <a:gd name="adj" fmla="val 88235"/>
            </a:avLst>
          </a:prstGeom>
          <a:solidFill>
            <a:srgbClr val="EFF3F1"/>
          </a:solidFill>
          <a:ln w="9525">
            <a:solidFill>
              <a:srgbClr val="DEE6E2"/>
            </a:solidFill>
            <a:prstDash val="solid"/>
          </a:ln>
        </p:spPr>
      </p:sp>
      <p:sp>
        <p:nvSpPr>
          <p:cNvPr id="41" name="Text 39"/>
          <p:cNvSpPr txBox="1"/>
          <p:nvPr/>
        </p:nvSpPr>
        <p:spPr>
          <a:xfrm>
            <a:off x="8284464" y="2752344"/>
            <a:ext cx="1792224" cy="310896"/>
          </a:xfrm>
          <a:prstGeom prst="rect">
            <a:avLst/>
          </a:prstGeom>
          <a:noFill/>
          <a:ln/>
        </p:spPr>
        <p:txBody>
          <a:bodyPr wrap="square" lIns="0" tIns="0" rIns="0" bIns="0" rtlCol="0" anchor="ctr"/>
          <a:lstStyle/>
          <a:p>
            <a:pPr algn="ctr" indent="0" marL="0">
              <a:buNone/>
            </a:pPr>
            <a:r>
              <a:rPr lang="en-US" sz="1100" b="1" dirty="0">
                <a:solidFill>
                  <a:srgbClr val="6B7A75"/>
                </a:solidFill>
              </a:rPr>
              <a:t>not established</a:t>
            </a:r>
            <a:endParaRPr lang="en-US" sz="1100" dirty="0"/>
          </a:p>
        </p:txBody>
      </p:sp>
      <p:sp>
        <p:nvSpPr>
          <p:cNvPr id="42" name="Shape 40"/>
          <p:cNvSpPr/>
          <p:nvPr/>
        </p:nvSpPr>
        <p:spPr>
          <a:xfrm>
            <a:off x="8284464" y="3209544"/>
            <a:ext cx="1792224" cy="310896"/>
          </a:xfrm>
          <a:prstGeom prst="roundRect">
            <a:avLst>
              <a:gd name="adj" fmla="val 88235"/>
            </a:avLst>
          </a:prstGeom>
          <a:solidFill>
            <a:srgbClr val="EFF3F1"/>
          </a:solidFill>
          <a:ln w="9525">
            <a:solidFill>
              <a:srgbClr val="DEE6E2"/>
            </a:solidFill>
            <a:prstDash val="solid"/>
          </a:ln>
        </p:spPr>
      </p:sp>
      <p:sp>
        <p:nvSpPr>
          <p:cNvPr id="43" name="Text 41"/>
          <p:cNvSpPr txBox="1"/>
          <p:nvPr/>
        </p:nvSpPr>
        <p:spPr>
          <a:xfrm>
            <a:off x="8284464" y="3209544"/>
            <a:ext cx="1792224" cy="310896"/>
          </a:xfrm>
          <a:prstGeom prst="rect">
            <a:avLst/>
          </a:prstGeom>
          <a:noFill/>
          <a:ln/>
        </p:spPr>
        <p:txBody>
          <a:bodyPr wrap="square" lIns="0" tIns="0" rIns="0" bIns="0" rtlCol="0" anchor="ctr"/>
          <a:lstStyle/>
          <a:p>
            <a:pPr algn="ctr" indent="0" marL="0">
              <a:buNone/>
            </a:pPr>
            <a:r>
              <a:rPr lang="en-US" sz="1100" b="1" dirty="0">
                <a:solidFill>
                  <a:srgbClr val="6B7A75"/>
                </a:solidFill>
              </a:rPr>
              <a:t>not established</a:t>
            </a:r>
            <a:endParaRPr lang="en-US" sz="1100" dirty="0"/>
          </a:p>
        </p:txBody>
      </p:sp>
      <p:sp>
        <p:nvSpPr>
          <p:cNvPr id="44" name="Shape 42"/>
          <p:cNvSpPr/>
          <p:nvPr/>
        </p:nvSpPr>
        <p:spPr>
          <a:xfrm>
            <a:off x="8284464" y="3666744"/>
            <a:ext cx="1792224" cy="310896"/>
          </a:xfrm>
          <a:prstGeom prst="roundRect">
            <a:avLst>
              <a:gd name="adj" fmla="val 88235"/>
            </a:avLst>
          </a:prstGeom>
          <a:solidFill>
            <a:srgbClr val="F0E0D4"/>
          </a:solidFill>
          <a:ln w="9525">
            <a:solidFill>
              <a:srgbClr val="E5CDBA"/>
            </a:solidFill>
            <a:prstDash val="solid"/>
          </a:ln>
        </p:spPr>
      </p:sp>
      <p:sp>
        <p:nvSpPr>
          <p:cNvPr id="45" name="Text 43"/>
          <p:cNvSpPr txBox="1"/>
          <p:nvPr/>
        </p:nvSpPr>
        <p:spPr>
          <a:xfrm>
            <a:off x="8284464" y="3666744"/>
            <a:ext cx="1792224" cy="310896"/>
          </a:xfrm>
          <a:prstGeom prst="rect">
            <a:avLst/>
          </a:prstGeom>
          <a:noFill/>
          <a:ln/>
        </p:spPr>
        <p:txBody>
          <a:bodyPr wrap="square" lIns="0" tIns="0" rIns="0" bIns="0" rtlCol="0" anchor="ctr"/>
          <a:lstStyle/>
          <a:p>
            <a:pPr algn="ctr" indent="0" marL="0">
              <a:buNone/>
            </a:pPr>
            <a:r>
              <a:rPr lang="en-US" sz="1100" b="1" dirty="0">
                <a:solidFill>
                  <a:srgbClr val="C0603C"/>
                </a:solidFill>
              </a:rPr>
              <a:t>marginal</a:t>
            </a:r>
            <a:endParaRPr lang="en-US" sz="1100" dirty="0"/>
          </a:p>
        </p:txBody>
      </p:sp>
      <p:sp>
        <p:nvSpPr>
          <p:cNvPr id="46" name="Shape 44"/>
          <p:cNvSpPr/>
          <p:nvPr/>
        </p:nvSpPr>
        <p:spPr>
          <a:xfrm>
            <a:off x="8284464" y="4123944"/>
            <a:ext cx="1792224" cy="310896"/>
          </a:xfrm>
          <a:prstGeom prst="roundRect">
            <a:avLst>
              <a:gd name="adj" fmla="val 88235"/>
            </a:avLst>
          </a:prstGeom>
          <a:solidFill>
            <a:srgbClr val="3E8E72"/>
          </a:solidFill>
          <a:ln w="9525">
            <a:solidFill>
              <a:srgbClr val="3E8E72"/>
            </a:solidFill>
            <a:prstDash val="solid"/>
          </a:ln>
        </p:spPr>
      </p:sp>
      <p:sp>
        <p:nvSpPr>
          <p:cNvPr id="47" name="Text 45"/>
          <p:cNvSpPr txBox="1"/>
          <p:nvPr/>
        </p:nvSpPr>
        <p:spPr>
          <a:xfrm>
            <a:off x="8284464" y="4123944"/>
            <a:ext cx="1792224" cy="310896"/>
          </a:xfrm>
          <a:prstGeom prst="rect">
            <a:avLst/>
          </a:prstGeom>
          <a:noFill/>
          <a:ln/>
        </p:spPr>
        <p:txBody>
          <a:bodyPr wrap="square" lIns="0" tIns="0" rIns="0" bIns="0" rtlCol="0" anchor="ctr"/>
          <a:lstStyle/>
          <a:p>
            <a:pPr algn="ctr" indent="0" marL="0">
              <a:buNone/>
            </a:pPr>
            <a:r>
              <a:rPr lang="en-US" sz="1100" b="1" dirty="0">
                <a:solidFill>
                  <a:srgbClr val="FFFFFF"/>
                </a:solidFill>
              </a:rPr>
              <a:t>real</a:t>
            </a:r>
            <a:endParaRPr lang="en-US" sz="1100" dirty="0"/>
          </a:p>
        </p:txBody>
      </p:sp>
      <p:sp>
        <p:nvSpPr>
          <p:cNvPr id="48" name="Shape 46"/>
          <p:cNvSpPr/>
          <p:nvPr/>
        </p:nvSpPr>
        <p:spPr>
          <a:xfrm>
            <a:off x="566928" y="4572000"/>
            <a:ext cx="10936224" cy="914400"/>
          </a:xfrm>
          <a:prstGeom prst="roundRect">
            <a:avLst>
              <a:gd name="adj" fmla="val 4000"/>
            </a:avLst>
          </a:prstGeom>
          <a:solidFill>
            <a:srgbClr val="1F3A33"/>
          </a:solidFill>
          <a:ln w="6350">
            <a:solidFill>
              <a:srgbClr val="1F3A33"/>
            </a:solidFill>
            <a:prstDash val="solid"/>
          </a:ln>
        </p:spPr>
      </p:sp>
      <p:sp>
        <p:nvSpPr>
          <p:cNvPr id="49" name="Text 47"/>
          <p:cNvSpPr txBox="1"/>
          <p:nvPr/>
        </p:nvSpPr>
        <p:spPr>
          <a:xfrm>
            <a:off x="859536" y="4718304"/>
            <a:ext cx="10332720" cy="640080"/>
          </a:xfrm>
          <a:prstGeom prst="rect">
            <a:avLst/>
          </a:prstGeom>
          <a:noFill/>
          <a:ln/>
        </p:spPr>
        <p:txBody>
          <a:bodyPr wrap="square" lIns="0" tIns="0" rIns="0" bIns="0" rtlCol="0" anchor="ctr"/>
          <a:lstStyle/>
          <a:p>
            <a:pPr indent="0" marL="0">
              <a:lnSpc>
                <a:spcPts val="1800"/>
              </a:lnSpc>
              <a:buNone/>
            </a:pPr>
            <a:r>
              <a:rPr lang="en-US" sz="1250" dirty="0">
                <a:solidFill>
                  <a:srgbClr val="FFFFFF"/>
                </a:solidFill>
              </a:rPr>
              <a:t>Measured against the old 1,528 HV floor, the move pool and VNS were wins. Measured against a control that was actually re-drawn, both vanish, and against the other baseline sample both go negative. An effect that changes sign when you re-draw the control was never there.</a:t>
            </a:r>
            <a:endParaRPr lang="en-US" sz="1250" dirty="0"/>
          </a:p>
        </p:txBody>
      </p:sp>
      <p:sp>
        <p:nvSpPr>
          <p:cNvPr id="25" name="Slide Number Placeholder 0"/>
          <p:cNvSpPr>
            <a:spLocks noGrp="1"/>
          </p:cNvSpPr>
          <p:nvPr>
            <p:ph type="sldNum" sz="quarter" idx="4294967295"/>
          </p:nvPr>
        </p:nvSpPr>
        <p:spPr>
          <a:xfrm>
            <a:off x="11167567" y="6437376"/>
            <a:ext cx="45720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6B7A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66928" y="420624"/>
            <a:ext cx="11057839" cy="658368"/>
          </a:xfrm>
          <a:prstGeom prst="rect">
            <a:avLst/>
          </a:prstGeom>
          <a:noFill/>
          <a:ln/>
        </p:spPr>
        <p:txBody>
          <a:bodyPr wrap="square" lIns="0" tIns="0" rIns="0" bIns="0" rtlCol="0" anchor="ctr"/>
          <a:lstStyle/>
          <a:p>
            <a:pPr indent="0" marL="0">
              <a:buNone/>
            </a:pPr>
            <a:r>
              <a:rPr lang="en-US" sz="2600" b="1" dirty="0">
                <a:solidFill>
                  <a:srgbClr val="11211C"/>
                </a:solidFill>
                <a:latin typeface="Cambria" pitchFamily="34" charset="0"/>
                <a:ea typeface="Cambria" pitchFamily="34" charset="-122"/>
                <a:cs typeface="Cambria" pitchFamily="34" charset="-120"/>
              </a:rPr>
              <a:t>The one real effect lives on three instances</a:t>
            </a:r>
            <a:endParaRPr lang="en-US" sz="2600" dirty="0"/>
          </a:p>
        </p:txBody>
      </p:sp>
      <p:sp>
        <p:nvSpPr>
          <p:cNvPr id="3" name="Text 1"/>
          <p:cNvSpPr txBox="1"/>
          <p:nvPr/>
        </p:nvSpPr>
        <p:spPr>
          <a:xfrm>
            <a:off x="566928" y="1280160"/>
            <a:ext cx="10936224" cy="786384"/>
          </a:xfrm>
          <a:prstGeom prst="rect">
            <a:avLst/>
          </a:prstGeom>
          <a:noFill/>
          <a:ln/>
        </p:spPr>
        <p:txBody>
          <a:bodyPr wrap="square" lIns="0" tIns="0" rIns="0" bIns="0" rtlCol="0" anchor="ctr"/>
          <a:lstStyle/>
          <a:p>
            <a:pPr indent="0" marL="0">
              <a:lnSpc>
                <a:spcPts val="1900"/>
              </a:lnSpc>
              <a:buNone/>
            </a:pPr>
            <a:r>
              <a:rPr lang="en-US" sz="1300" dirty="0">
                <a:solidFill>
                  <a:srgbClr val="11211C"/>
                </a:solidFill>
              </a:rPr>
              <a:t>GRASP differs from the baseline in one respect: it draws its ordering from a restricted candidate list instead of always taking the greedy minimum. Its entire margin comes from the three graphs carrying a planted 500-clique.</a:t>
            </a:r>
            <a:endParaRPr lang="en-US" sz="1300" dirty="0"/>
          </a:p>
        </p:txBody>
      </p:sp>
      <p:sp>
        <p:nvSpPr>
          <p:cNvPr id="4" name="Shape 2"/>
          <p:cNvSpPr/>
          <p:nvPr/>
        </p:nvSpPr>
        <p:spPr>
          <a:xfrm>
            <a:off x="566928" y="2212848"/>
            <a:ext cx="2615184" cy="1463040"/>
          </a:xfrm>
          <a:prstGeom prst="roundRect">
            <a:avLst>
              <a:gd name="adj" fmla="val 2500"/>
            </a:avLst>
          </a:prstGeom>
          <a:solidFill>
            <a:srgbClr val="EFF3F1"/>
          </a:solidFill>
          <a:ln w="6350">
            <a:solidFill>
              <a:srgbClr val="EFF3F1"/>
            </a:solidFill>
            <a:prstDash val="solid"/>
          </a:ln>
        </p:spPr>
      </p:sp>
      <p:sp>
        <p:nvSpPr>
          <p:cNvPr id="5" name="Text 3"/>
          <p:cNvSpPr txBox="1"/>
          <p:nvPr/>
        </p:nvSpPr>
        <p:spPr>
          <a:xfrm>
            <a:off x="786384" y="2395728"/>
            <a:ext cx="2194560" cy="512064"/>
          </a:xfrm>
          <a:prstGeom prst="rect">
            <a:avLst/>
          </a:prstGeom>
          <a:noFill/>
          <a:ln/>
        </p:spPr>
        <p:txBody>
          <a:bodyPr wrap="square" lIns="0" tIns="0" rIns="0" bIns="0" rtlCol="0" anchor="ctr"/>
          <a:lstStyle/>
          <a:p>
            <a:pPr indent="0" marL="0">
              <a:buNone/>
            </a:pPr>
            <a:r>
              <a:rPr lang="en-US" sz="2300" b="1" dirty="0">
                <a:solidFill>
                  <a:srgbClr val="3E8E72"/>
                </a:solidFill>
                <a:latin typeface="Cambria" pitchFamily="34" charset="0"/>
                <a:ea typeface="Cambria" pitchFamily="34" charset="-122"/>
                <a:cs typeface="Cambria" pitchFamily="34" charset="-120"/>
              </a:rPr>
              <a:t>+343,623 HV</a:t>
            </a:r>
            <a:endParaRPr lang="en-US" sz="2300" dirty="0"/>
          </a:p>
        </p:txBody>
      </p:sp>
      <p:sp>
        <p:nvSpPr>
          <p:cNvPr id="6" name="Text 4"/>
          <p:cNvSpPr txBox="1"/>
          <p:nvPr/>
        </p:nvSpPr>
        <p:spPr>
          <a:xfrm>
            <a:off x="786384" y="2944368"/>
            <a:ext cx="2194560" cy="603504"/>
          </a:xfrm>
          <a:prstGeom prst="rect">
            <a:avLst/>
          </a:prstGeom>
          <a:noFill/>
          <a:ln/>
        </p:spPr>
        <p:txBody>
          <a:bodyPr wrap="square" lIns="0" tIns="0" rIns="0" bIns="0" rtlCol="0" anchor="ctr"/>
          <a:lstStyle/>
          <a:p>
            <a:pPr indent="0" marL="0">
              <a:lnSpc>
                <a:spcPts val="1600"/>
              </a:lnSpc>
              <a:buNone/>
            </a:pPr>
            <a:r>
              <a:rPr lang="en-US" sz="1150" dirty="0">
                <a:solidFill>
                  <a:srgbClr val="11211C"/>
                </a:solidFill>
              </a:rPr>
              <a:t>across large-graph, synth-6 and synth-7</a:t>
            </a:r>
            <a:endParaRPr lang="en-US" sz="1150" dirty="0"/>
          </a:p>
        </p:txBody>
      </p:sp>
      <p:sp>
        <p:nvSpPr>
          <p:cNvPr id="7" name="Shape 5"/>
          <p:cNvSpPr/>
          <p:nvPr/>
        </p:nvSpPr>
        <p:spPr>
          <a:xfrm>
            <a:off x="3401568" y="2212848"/>
            <a:ext cx="2615184" cy="1463040"/>
          </a:xfrm>
          <a:prstGeom prst="roundRect">
            <a:avLst>
              <a:gd name="adj" fmla="val 2500"/>
            </a:avLst>
          </a:prstGeom>
          <a:solidFill>
            <a:srgbClr val="FBF0EA"/>
          </a:solidFill>
          <a:ln w="6350">
            <a:solidFill>
              <a:srgbClr val="FBF0EA"/>
            </a:solidFill>
            <a:prstDash val="solid"/>
          </a:ln>
        </p:spPr>
      </p:sp>
      <p:sp>
        <p:nvSpPr>
          <p:cNvPr id="8" name="Text 6"/>
          <p:cNvSpPr txBox="1"/>
          <p:nvPr/>
        </p:nvSpPr>
        <p:spPr>
          <a:xfrm>
            <a:off x="3621024" y="2395728"/>
            <a:ext cx="2194560" cy="512064"/>
          </a:xfrm>
          <a:prstGeom prst="rect">
            <a:avLst/>
          </a:prstGeom>
          <a:noFill/>
          <a:ln/>
        </p:spPr>
        <p:txBody>
          <a:bodyPr wrap="square" lIns="0" tIns="0" rIns="0" bIns="0" rtlCol="0" anchor="ctr"/>
          <a:lstStyle/>
          <a:p>
            <a:pPr indent="0" marL="0">
              <a:buNone/>
            </a:pPr>
            <a:r>
              <a:rPr lang="en-US" sz="2300" b="1" dirty="0">
                <a:solidFill>
                  <a:srgbClr val="C0603C"/>
                </a:solidFill>
                <a:latin typeface="Cambria" pitchFamily="34" charset="0"/>
                <a:ea typeface="Cambria" pitchFamily="34" charset="-122"/>
                <a:cs typeface="Cambria" pitchFamily="34" charset="-120"/>
              </a:rPr>
              <a:t>−2,360 HV</a:t>
            </a:r>
            <a:endParaRPr lang="en-US" sz="2300" dirty="0"/>
          </a:p>
        </p:txBody>
      </p:sp>
      <p:sp>
        <p:nvSpPr>
          <p:cNvPr id="9" name="Text 7"/>
          <p:cNvSpPr txBox="1"/>
          <p:nvPr/>
        </p:nvSpPr>
        <p:spPr>
          <a:xfrm>
            <a:off x="3621024" y="2944368"/>
            <a:ext cx="2194560" cy="603504"/>
          </a:xfrm>
          <a:prstGeom prst="rect">
            <a:avLst/>
          </a:prstGeom>
          <a:noFill/>
          <a:ln/>
        </p:spPr>
        <p:txBody>
          <a:bodyPr wrap="square" lIns="0" tIns="0" rIns="0" bIns="0" rtlCol="0" anchor="ctr"/>
          <a:lstStyle/>
          <a:p>
            <a:pPr indent="0" marL="0">
              <a:lnSpc>
                <a:spcPts val="1600"/>
              </a:lnSpc>
              <a:buNone/>
            </a:pPr>
            <a:r>
              <a:rPr lang="en-US" sz="1150" dirty="0">
                <a:solidFill>
                  <a:srgbClr val="11211C"/>
                </a:solidFill>
              </a:rPr>
              <a:t>across the other seven instances combined</a:t>
            </a:r>
            <a:endParaRPr lang="en-US" sz="1150" dirty="0"/>
          </a:p>
        </p:txBody>
      </p:sp>
      <p:sp>
        <p:nvSpPr>
          <p:cNvPr id="10" name="Text 8"/>
          <p:cNvSpPr txBox="1"/>
          <p:nvPr/>
        </p:nvSpPr>
        <p:spPr>
          <a:xfrm>
            <a:off x="6400800" y="2212848"/>
            <a:ext cx="5230368" cy="1463040"/>
          </a:xfrm>
          <a:prstGeom prst="rect">
            <a:avLst/>
          </a:prstGeom>
          <a:noFill/>
          <a:ln/>
        </p:spPr>
        <p:txBody>
          <a:bodyPr wrap="square" lIns="0" tIns="0" rIns="0" bIns="0" rtlCol="0" anchor="ctr"/>
          <a:lstStyle/>
          <a:p>
            <a:pPr indent="0" marL="0">
              <a:lnSpc>
                <a:spcPts val="1900"/>
              </a:lnSpc>
              <a:buNone/>
            </a:pPr>
            <a:r>
              <a:rPr lang="en-US" sz="1250" dirty="0">
                <a:solidFill>
                  <a:srgbClr val="11211C"/>
                </a:solidFill>
              </a:rPr>
              <a:t>And it is diversity, not count. Hill Climbing already builds eight constructions, one per target width. But min-degree with random tie-breaking rebuilds the identical ordering on six of the ten instances, so its eight starts are one start. GRASP's eight are eight.</a:t>
            </a:r>
            <a:endParaRPr lang="en-US" sz="1250" dirty="0"/>
          </a:p>
        </p:txBody>
      </p:sp>
      <p:sp>
        <p:nvSpPr>
          <p:cNvPr id="11" name="Shape 9"/>
          <p:cNvSpPr/>
          <p:nvPr/>
        </p:nvSpPr>
        <p:spPr>
          <a:xfrm>
            <a:off x="566928" y="3931920"/>
            <a:ext cx="10936224" cy="1005840"/>
          </a:xfrm>
          <a:prstGeom prst="roundRect">
            <a:avLst>
              <a:gd name="adj" fmla="val 3636"/>
            </a:avLst>
          </a:prstGeom>
          <a:solidFill>
            <a:srgbClr val="EFF3F1"/>
          </a:solidFill>
          <a:ln w="6350">
            <a:solidFill>
              <a:srgbClr val="EFF3F1"/>
            </a:solidFill>
            <a:prstDash val="solid"/>
          </a:ln>
        </p:spPr>
      </p:sp>
      <p:sp>
        <p:nvSpPr>
          <p:cNvPr id="12" name="Text 10"/>
          <p:cNvSpPr txBox="1"/>
          <p:nvPr/>
        </p:nvSpPr>
        <p:spPr>
          <a:xfrm>
            <a:off x="859536" y="4114800"/>
            <a:ext cx="10332720" cy="676656"/>
          </a:xfrm>
          <a:prstGeom prst="rect">
            <a:avLst/>
          </a:prstGeom>
          <a:noFill/>
          <a:ln/>
        </p:spPr>
        <p:txBody>
          <a:bodyPr wrap="square" lIns="0" tIns="0" rIns="0" bIns="0" rtlCol="0" anchor="ctr"/>
          <a:lstStyle/>
          <a:p>
            <a:pPr indent="0" marL="0">
              <a:lnSpc>
                <a:spcPts val="1800"/>
              </a:lnSpc>
              <a:buNone/>
            </a:pPr>
            <a:r>
              <a:rPr lang="en-US" sz="1250" dirty="0">
                <a:solidFill>
                  <a:srgbClr val="11211C"/>
                </a:solidFill>
              </a:rPr>
              <a:t>Reported as a ten-instance total because that is how the table is built. It is a result about dense instances, and two of those three were generated to resemble the first.</a:t>
            </a:r>
            <a:endParaRPr lang="en-US" sz="1250" dirty="0"/>
          </a:p>
        </p:txBody>
      </p:sp>
      <p:sp>
        <p:nvSpPr>
          <p:cNvPr id="25" name="Slide Number Placeholder 0"/>
          <p:cNvSpPr>
            <a:spLocks noGrp="1"/>
          </p:cNvSpPr>
          <p:nvPr>
            <p:ph type="sldNum" sz="quarter" idx="4294967295"/>
          </p:nvPr>
        </p:nvSpPr>
        <p:spPr>
          <a:xfrm>
            <a:off x="11167567" y="6437376"/>
            <a:ext cx="45720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6B7A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66928" y="420624"/>
            <a:ext cx="11057839" cy="658368"/>
          </a:xfrm>
          <a:prstGeom prst="rect">
            <a:avLst/>
          </a:prstGeom>
          <a:noFill/>
          <a:ln/>
        </p:spPr>
        <p:txBody>
          <a:bodyPr wrap="square" lIns="0" tIns="0" rIns="0" bIns="0" rtlCol="0" anchor="ctr"/>
          <a:lstStyle/>
          <a:p>
            <a:pPr indent="0" marL="0">
              <a:buNone/>
            </a:pPr>
            <a:r>
              <a:rPr lang="en-US" sz="2600" b="1" dirty="0">
                <a:solidFill>
                  <a:srgbClr val="11211C"/>
                </a:solidFill>
                <a:latin typeface="Cambria" pitchFamily="34" charset="0"/>
                <a:ea typeface="Cambria" pitchFamily="34" charset="-122"/>
                <a:cs typeface="Cambria" pitchFamily="34" charset="-120"/>
              </a:rPr>
              <a:t>Seventeen operators, and a landscape with nothing to climb</a:t>
            </a:r>
            <a:endParaRPr lang="en-US" sz="2600" dirty="0"/>
          </a:p>
        </p:txBody>
      </p:sp>
      <p:sp>
        <p:nvSpPr>
          <p:cNvPr id="3" name="Text 1"/>
          <p:cNvSpPr txBox="1"/>
          <p:nvPr/>
        </p:nvSpPr>
        <p:spPr>
          <a:xfrm>
            <a:off x="566928" y="1261872"/>
            <a:ext cx="5486400" cy="1005840"/>
          </a:xfrm>
          <a:prstGeom prst="rect">
            <a:avLst/>
          </a:prstGeom>
          <a:noFill/>
          <a:ln/>
        </p:spPr>
        <p:txBody>
          <a:bodyPr wrap="square" lIns="0" tIns="0" rIns="0" bIns="0" rtlCol="0" anchor="ctr"/>
          <a:lstStyle/>
          <a:p>
            <a:pPr indent="0" marL="0">
              <a:lnSpc>
                <a:spcPts val="1800"/>
              </a:lnSpc>
              <a:buNone/>
            </a:pPr>
            <a:r>
              <a:rPr lang="en-US" sz="1200" dirty="0">
                <a:solidFill>
                  <a:srgbClr val="11211C"/>
                </a:solidFill>
              </a:rPr>
              <a:t>Thirteen new operators in five families, each run alone against the four-operator baseline. None of the fourteen arms beats it by more than the aggregate floor, and the full seventeen-operator pool finishes 738 HV behind it.</a:t>
            </a:r>
            <a:endParaRPr lang="en-US" sz="1200" dirty="0"/>
          </a:p>
        </p:txBody>
      </p:sp>
      <p:sp>
        <p:nvSpPr>
          <p:cNvPr id="4" name="Text 2"/>
          <p:cNvSpPr txBox="1"/>
          <p:nvPr/>
        </p:nvSpPr>
        <p:spPr>
          <a:xfrm>
            <a:off x="566928" y="2395728"/>
            <a:ext cx="2103120" cy="548640"/>
          </a:xfrm>
          <a:prstGeom prst="rect">
            <a:avLst/>
          </a:prstGeom>
          <a:noFill/>
          <a:ln/>
        </p:spPr>
        <p:txBody>
          <a:bodyPr wrap="square" lIns="0" tIns="0" rIns="0" bIns="0" rtlCol="0" anchor="ctr"/>
          <a:lstStyle/>
          <a:p>
            <a:pPr indent="0" marL="0">
              <a:buNone/>
            </a:pPr>
            <a:r>
              <a:rPr lang="en-US" sz="3000" b="1" dirty="0">
                <a:solidFill>
                  <a:srgbClr val="C0603C"/>
                </a:solidFill>
                <a:latin typeface="Cambria" pitchFamily="34" charset="0"/>
                <a:ea typeface="Cambria" pitchFamily="34" charset="-122"/>
                <a:cs typeface="Cambria" pitchFamily="34" charset="-120"/>
              </a:rPr>
              <a:t>0.2327%</a:t>
            </a:r>
            <a:endParaRPr lang="en-US" sz="3000" dirty="0"/>
          </a:p>
        </p:txBody>
      </p:sp>
      <p:sp>
        <p:nvSpPr>
          <p:cNvPr id="5" name="Text 3"/>
          <p:cNvSpPr txBox="1"/>
          <p:nvPr/>
        </p:nvSpPr>
        <p:spPr>
          <a:xfrm>
            <a:off x="566928" y="2980944"/>
            <a:ext cx="5394960" cy="512064"/>
          </a:xfrm>
          <a:prstGeom prst="rect">
            <a:avLst/>
          </a:prstGeom>
          <a:noFill/>
          <a:ln/>
        </p:spPr>
        <p:txBody>
          <a:bodyPr wrap="square" lIns="0" tIns="0" rIns="0" bIns="0" rtlCol="0" anchor="ctr"/>
          <a:lstStyle/>
          <a:p>
            <a:pPr indent="0" marL="0">
              <a:lnSpc>
                <a:spcPts val="1600"/>
              </a:lnSpc>
              <a:buNone/>
            </a:pPr>
            <a:r>
              <a:rPr lang="en-US" sz="1150" dirty="0">
                <a:solidFill>
                  <a:srgbClr val="11211C"/>
                </a:solidFill>
              </a:rPr>
              <a:t>the highest accept rate measured anywhere, across four operators and ten instances</a:t>
            </a:r>
            <a:endParaRPr lang="en-US" sz="1150" dirty="0"/>
          </a:p>
        </p:txBody>
      </p:sp>
      <p:sp>
        <p:nvSpPr>
          <p:cNvPr id="6" name="Shape 4"/>
          <p:cNvSpPr/>
          <p:nvPr/>
        </p:nvSpPr>
        <p:spPr>
          <a:xfrm>
            <a:off x="566928" y="3675888"/>
            <a:ext cx="5486400" cy="1920240"/>
          </a:xfrm>
          <a:prstGeom prst="roundRect">
            <a:avLst>
              <a:gd name="adj" fmla="val 1905"/>
            </a:avLst>
          </a:prstGeom>
          <a:solidFill>
            <a:srgbClr val="1F3A33"/>
          </a:solidFill>
          <a:ln w="6350">
            <a:solidFill>
              <a:srgbClr val="1F3A33"/>
            </a:solidFill>
            <a:prstDash val="solid"/>
          </a:ln>
        </p:spPr>
      </p:sp>
      <p:sp>
        <p:nvSpPr>
          <p:cNvPr id="7" name="Text 5"/>
          <p:cNvSpPr txBox="1"/>
          <p:nvPr/>
        </p:nvSpPr>
        <p:spPr>
          <a:xfrm>
            <a:off x="804672" y="3840480"/>
            <a:ext cx="5029200" cy="237744"/>
          </a:xfrm>
          <a:prstGeom prst="rect">
            <a:avLst/>
          </a:prstGeom>
          <a:noFill/>
          <a:ln/>
        </p:spPr>
        <p:txBody>
          <a:bodyPr wrap="square" lIns="0" tIns="0" rIns="0" bIns="0" rtlCol="0" anchor="ctr"/>
          <a:lstStyle/>
          <a:p>
            <a:pPr indent="0" marL="0">
              <a:buNone/>
            </a:pPr>
            <a:r>
              <a:rPr lang="en-US" sz="1100" b="1" spc="100" kern="0" dirty="0">
                <a:solidFill>
                  <a:srgbClr val="8FB8A6"/>
                </a:solidFill>
              </a:rPr>
              <a:t>The paradox that explains everything</a:t>
            </a:r>
            <a:endParaRPr lang="en-US" sz="1100" dirty="0"/>
          </a:p>
        </p:txBody>
      </p:sp>
      <p:sp>
        <p:nvSpPr>
          <p:cNvPr id="8" name="Text 6"/>
          <p:cNvSpPr txBox="1"/>
          <p:nvPr/>
        </p:nvSpPr>
        <p:spPr>
          <a:xfrm>
            <a:off x="804672" y="4133088"/>
            <a:ext cx="5029200" cy="1353312"/>
          </a:xfrm>
          <a:prstGeom prst="rect">
            <a:avLst/>
          </a:prstGeom>
          <a:noFill/>
          <a:ln/>
        </p:spPr>
        <p:txBody>
          <a:bodyPr wrap="square" lIns="0" tIns="0" rIns="0" bIns="0" rtlCol="0" anchor="ctr"/>
          <a:lstStyle/>
          <a:p>
            <a:pPr indent="0" marL="0">
              <a:lnSpc>
                <a:spcPts val="1700"/>
              </a:lnSpc>
              <a:buNone/>
            </a:pPr>
            <a:r>
              <a:rPr lang="en-US" sz="1150" dirty="0">
                <a:solidFill>
                  <a:srgbClr val="FFFFFF"/>
                </a:solidFill>
              </a:rPr>
              <a:t>On medium-graph the best-scoring operator is reverse_segment, which accepted nothing whatsoever there. On synth-7 none of the four ever accepts, and the four scores still differ by 1,841 HV. The score does not come from accepted moves. It comes from every evaluated candidate donating its whole staircase to a shared front.</a:t>
            </a:r>
            <a:endParaRPr lang="en-US" sz="1150" dirty="0"/>
          </a:p>
        </p:txBody>
      </p:sp>
      <p:sp>
        <p:nvSpPr>
          <p:cNvPr id="9" name="Text 7"/>
          <p:cNvSpPr txBox="1"/>
          <p:nvPr/>
        </p:nvSpPr>
        <p:spPr>
          <a:xfrm>
            <a:off x="7790688" y="1298448"/>
            <a:ext cx="932688" cy="475488"/>
          </a:xfrm>
          <a:prstGeom prst="rect">
            <a:avLst/>
          </a:prstGeom>
          <a:noFill/>
          <a:ln/>
        </p:spPr>
        <p:txBody>
          <a:bodyPr wrap="square" lIns="0" tIns="0" rIns="0" bIns="0" rtlCol="0" anchor="b"/>
          <a:lstStyle/>
          <a:p>
            <a:pPr algn="ctr" indent="0" marL="0">
              <a:buNone/>
            </a:pPr>
            <a:r>
              <a:rPr lang="en-US" sz="800" b="1" dirty="0">
                <a:solidFill>
                  <a:srgbClr val="2A5247"/>
                </a:solidFill>
              </a:rPr>
              <a:t>move_</a:t>
            </a:r>
            <a:endParaRPr lang="en-US" sz="800" dirty="0"/>
          </a:p>
          <a:p>
            <a:pPr algn="ctr" indent="0" marL="0">
              <a:buNone/>
            </a:pPr>
            <a:r>
              <a:rPr lang="en-US" sz="800" b="1" dirty="0">
                <a:solidFill>
                  <a:srgbClr val="2A5247"/>
                </a:solidFill>
              </a:rPr>
              <a:t>vertex</a:t>
            </a:r>
            <a:endParaRPr lang="en-US" sz="800" dirty="0"/>
          </a:p>
        </p:txBody>
      </p:sp>
      <p:sp>
        <p:nvSpPr>
          <p:cNvPr id="10" name="Text 8"/>
          <p:cNvSpPr txBox="1"/>
          <p:nvPr/>
        </p:nvSpPr>
        <p:spPr>
          <a:xfrm>
            <a:off x="8723376" y="1298448"/>
            <a:ext cx="932688" cy="475488"/>
          </a:xfrm>
          <a:prstGeom prst="rect">
            <a:avLst/>
          </a:prstGeom>
          <a:noFill/>
          <a:ln/>
        </p:spPr>
        <p:txBody>
          <a:bodyPr wrap="square" lIns="0" tIns="0" rIns="0" bIns="0" rtlCol="0" anchor="b"/>
          <a:lstStyle/>
          <a:p>
            <a:pPr algn="ctr" indent="0" marL="0">
              <a:buNone/>
            </a:pPr>
            <a:r>
              <a:rPr lang="en-US" sz="800" b="1" dirty="0">
                <a:solidFill>
                  <a:srgbClr val="2A5247"/>
                </a:solidFill>
              </a:rPr>
              <a:t>swap_</a:t>
            </a:r>
            <a:endParaRPr lang="en-US" sz="800" dirty="0"/>
          </a:p>
          <a:p>
            <a:pPr algn="ctr" indent="0" marL="0">
              <a:buNone/>
            </a:pPr>
            <a:r>
              <a:rPr lang="en-US" sz="800" b="1" dirty="0">
                <a:solidFill>
                  <a:srgbClr val="2A5247"/>
                </a:solidFill>
              </a:rPr>
              <a:t>any</a:t>
            </a:r>
            <a:endParaRPr lang="en-US" sz="800" dirty="0"/>
          </a:p>
        </p:txBody>
      </p:sp>
      <p:sp>
        <p:nvSpPr>
          <p:cNvPr id="11" name="Text 9"/>
          <p:cNvSpPr txBox="1"/>
          <p:nvPr/>
        </p:nvSpPr>
        <p:spPr>
          <a:xfrm>
            <a:off x="9656064" y="1298448"/>
            <a:ext cx="932688" cy="475488"/>
          </a:xfrm>
          <a:prstGeom prst="rect">
            <a:avLst/>
          </a:prstGeom>
          <a:noFill/>
          <a:ln/>
        </p:spPr>
        <p:txBody>
          <a:bodyPr wrap="square" lIns="0" tIns="0" rIns="0" bIns="0" rtlCol="0" anchor="b"/>
          <a:lstStyle/>
          <a:p>
            <a:pPr algn="ctr" indent="0" marL="0">
              <a:buNone/>
            </a:pPr>
            <a:r>
              <a:rPr lang="en-US" sz="800" b="1" dirty="0">
                <a:solidFill>
                  <a:srgbClr val="2A5247"/>
                </a:solidFill>
              </a:rPr>
              <a:t>reverse_</a:t>
            </a:r>
            <a:endParaRPr lang="en-US" sz="800" dirty="0"/>
          </a:p>
          <a:p>
            <a:pPr algn="ctr" indent="0" marL="0">
              <a:buNone/>
            </a:pPr>
            <a:r>
              <a:rPr lang="en-US" sz="800" b="1" dirty="0">
                <a:solidFill>
                  <a:srgbClr val="2A5247"/>
                </a:solidFill>
              </a:rPr>
              <a:t>segment</a:t>
            </a:r>
            <a:endParaRPr lang="en-US" sz="800" dirty="0"/>
          </a:p>
        </p:txBody>
      </p:sp>
      <p:sp>
        <p:nvSpPr>
          <p:cNvPr id="12" name="Text 10"/>
          <p:cNvSpPr txBox="1"/>
          <p:nvPr/>
        </p:nvSpPr>
        <p:spPr>
          <a:xfrm>
            <a:off x="10588752" y="1298448"/>
            <a:ext cx="932688" cy="475488"/>
          </a:xfrm>
          <a:prstGeom prst="rect">
            <a:avLst/>
          </a:prstGeom>
          <a:noFill/>
          <a:ln/>
        </p:spPr>
        <p:txBody>
          <a:bodyPr wrap="square" lIns="0" tIns="0" rIns="0" bIns="0" rtlCol="0" anchor="b"/>
          <a:lstStyle/>
          <a:p>
            <a:pPr algn="ctr" indent="0" marL="0">
              <a:buNone/>
            </a:pPr>
            <a:r>
              <a:rPr lang="en-US" sz="800" b="1" dirty="0">
                <a:solidFill>
                  <a:srgbClr val="2A5247"/>
                </a:solidFill>
              </a:rPr>
              <a:t>swap_</a:t>
            </a:r>
            <a:endParaRPr lang="en-US" sz="800" dirty="0"/>
          </a:p>
          <a:p>
            <a:pPr algn="ctr" indent="0" marL="0">
              <a:buNone/>
            </a:pPr>
            <a:r>
              <a:rPr lang="en-US" sz="800" b="1" dirty="0">
                <a:solidFill>
                  <a:srgbClr val="2A5247"/>
                </a:solidFill>
              </a:rPr>
              <a:t>neighbours</a:t>
            </a:r>
            <a:endParaRPr lang="en-US" sz="800" dirty="0"/>
          </a:p>
        </p:txBody>
      </p:sp>
      <p:sp>
        <p:nvSpPr>
          <p:cNvPr id="13" name="Text 11"/>
          <p:cNvSpPr txBox="1"/>
          <p:nvPr/>
        </p:nvSpPr>
        <p:spPr>
          <a:xfrm>
            <a:off x="6492240" y="1810512"/>
            <a:ext cx="1225296" cy="324612"/>
          </a:xfrm>
          <a:prstGeom prst="rect">
            <a:avLst/>
          </a:prstGeom>
          <a:noFill/>
          <a:ln/>
        </p:spPr>
        <p:txBody>
          <a:bodyPr wrap="square" lIns="0" tIns="0" rIns="0" bIns="0" rtlCol="0" anchor="ctr"/>
          <a:lstStyle/>
          <a:p>
            <a:pPr indent="0" marL="0">
              <a:buNone/>
            </a:pPr>
            <a:r>
              <a:rPr lang="en-US" sz="950" dirty="0">
                <a:solidFill>
                  <a:srgbClr val="11211C"/>
                </a:solidFill>
              </a:rPr>
              <a:t>small-graph</a:t>
            </a:r>
            <a:endParaRPr lang="en-US" sz="950" dirty="0"/>
          </a:p>
        </p:txBody>
      </p:sp>
      <p:sp>
        <p:nvSpPr>
          <p:cNvPr id="14" name="Shape 12"/>
          <p:cNvSpPr/>
          <p:nvPr/>
        </p:nvSpPr>
        <p:spPr>
          <a:xfrm>
            <a:off x="7790688" y="1810512"/>
            <a:ext cx="905256" cy="297180"/>
          </a:xfrm>
          <a:prstGeom prst="rect">
            <a:avLst/>
          </a:prstGeom>
          <a:solidFill>
            <a:srgbClr val="2A5247">
              <a:alpha val="44000"/>
            </a:srgbClr>
          </a:solidFill>
          <a:ln w="3175">
            <a:solidFill>
              <a:srgbClr val="2A5247">
                <a:alpha val="44000"/>
              </a:srgbClr>
            </a:solidFill>
            <a:prstDash val="solid"/>
          </a:ln>
        </p:spPr>
      </p:sp>
      <p:sp>
        <p:nvSpPr>
          <p:cNvPr id="15" name="Text 13"/>
          <p:cNvSpPr txBox="1"/>
          <p:nvPr/>
        </p:nvSpPr>
        <p:spPr>
          <a:xfrm>
            <a:off x="7790688" y="1810512"/>
            <a:ext cx="905256" cy="297180"/>
          </a:xfrm>
          <a:prstGeom prst="rect">
            <a:avLst/>
          </a:prstGeom>
          <a:noFill/>
          <a:ln/>
        </p:spPr>
        <p:txBody>
          <a:bodyPr wrap="square" lIns="0" tIns="0" rIns="0" bIns="0" rtlCol="0" anchor="ctr"/>
          <a:lstStyle/>
          <a:p>
            <a:pPr algn="ctr" indent="0" marL="0">
              <a:buNone/>
            </a:pPr>
            <a:r>
              <a:rPr lang="en-US" sz="750" dirty="0">
                <a:solidFill>
                  <a:srgbClr val="11211C"/>
                </a:solidFill>
              </a:rPr>
              <a:t>0.1069%</a:t>
            </a:r>
            <a:endParaRPr lang="en-US" sz="750" dirty="0"/>
          </a:p>
        </p:txBody>
      </p:sp>
      <p:sp>
        <p:nvSpPr>
          <p:cNvPr id="16" name="Shape 14"/>
          <p:cNvSpPr/>
          <p:nvPr/>
        </p:nvSpPr>
        <p:spPr>
          <a:xfrm>
            <a:off x="8723376" y="1810512"/>
            <a:ext cx="905256" cy="297180"/>
          </a:xfrm>
          <a:prstGeom prst="rect">
            <a:avLst/>
          </a:prstGeom>
          <a:solidFill>
            <a:srgbClr val="2A5247">
              <a:alpha val="13000"/>
            </a:srgbClr>
          </a:solidFill>
          <a:ln w="3175">
            <a:solidFill>
              <a:srgbClr val="2A5247">
                <a:alpha val="13000"/>
              </a:srgbClr>
            </a:solidFill>
            <a:prstDash val="solid"/>
          </a:ln>
        </p:spPr>
      </p:sp>
      <p:sp>
        <p:nvSpPr>
          <p:cNvPr id="17" name="Text 15"/>
          <p:cNvSpPr txBox="1"/>
          <p:nvPr/>
        </p:nvSpPr>
        <p:spPr>
          <a:xfrm>
            <a:off x="8723376" y="1810512"/>
            <a:ext cx="905256" cy="297180"/>
          </a:xfrm>
          <a:prstGeom prst="rect">
            <a:avLst/>
          </a:prstGeom>
          <a:noFill/>
          <a:ln/>
        </p:spPr>
        <p:txBody>
          <a:bodyPr wrap="square" lIns="0" tIns="0" rIns="0" bIns="0" rtlCol="0" anchor="ctr"/>
          <a:lstStyle/>
          <a:p>
            <a:pPr algn="ctr" indent="0" marL="0">
              <a:buNone/>
            </a:pPr>
            <a:r>
              <a:rPr lang="en-US" sz="750" dirty="0">
                <a:solidFill>
                  <a:srgbClr val="11211C"/>
                </a:solidFill>
              </a:rPr>
              <a:t>0.0210%</a:t>
            </a:r>
            <a:endParaRPr lang="en-US" sz="750" dirty="0"/>
          </a:p>
        </p:txBody>
      </p:sp>
      <p:sp>
        <p:nvSpPr>
          <p:cNvPr id="18" name="Shape 16"/>
          <p:cNvSpPr/>
          <p:nvPr/>
        </p:nvSpPr>
        <p:spPr>
          <a:xfrm>
            <a:off x="9656064" y="1810512"/>
            <a:ext cx="905256" cy="297180"/>
          </a:xfrm>
          <a:prstGeom prst="rect">
            <a:avLst/>
          </a:prstGeom>
          <a:solidFill>
            <a:srgbClr val="2A5247">
              <a:alpha val="7000"/>
            </a:srgbClr>
          </a:solidFill>
          <a:ln w="3175">
            <a:solidFill>
              <a:srgbClr val="2A5247">
                <a:alpha val="7000"/>
              </a:srgbClr>
            </a:solidFill>
            <a:prstDash val="solid"/>
          </a:ln>
        </p:spPr>
      </p:sp>
      <p:sp>
        <p:nvSpPr>
          <p:cNvPr id="19" name="Text 17"/>
          <p:cNvSpPr txBox="1"/>
          <p:nvPr/>
        </p:nvSpPr>
        <p:spPr>
          <a:xfrm>
            <a:off x="9656064" y="1810512"/>
            <a:ext cx="905256" cy="297180"/>
          </a:xfrm>
          <a:prstGeom prst="rect">
            <a:avLst/>
          </a:prstGeom>
          <a:noFill/>
          <a:ln/>
        </p:spPr>
        <p:txBody>
          <a:bodyPr wrap="square" lIns="0" tIns="0" rIns="0" bIns="0" rtlCol="0" anchor="ctr"/>
          <a:lstStyle/>
          <a:p>
            <a:pPr algn="ctr" indent="0" marL="0">
              <a:buNone/>
            </a:pPr>
            <a:r>
              <a:rPr lang="en-US" sz="750" dirty="0">
                <a:solidFill>
                  <a:srgbClr val="11211C"/>
                </a:solidFill>
              </a:rPr>
              <a:t>0.0022%</a:t>
            </a:r>
            <a:endParaRPr lang="en-US" sz="750" dirty="0"/>
          </a:p>
        </p:txBody>
      </p:sp>
      <p:sp>
        <p:nvSpPr>
          <p:cNvPr id="20" name="Shape 18"/>
          <p:cNvSpPr/>
          <p:nvPr/>
        </p:nvSpPr>
        <p:spPr>
          <a:xfrm>
            <a:off x="10588752" y="1810512"/>
            <a:ext cx="905256" cy="297180"/>
          </a:xfrm>
          <a:prstGeom prst="rect">
            <a:avLst/>
          </a:prstGeom>
          <a:solidFill>
            <a:srgbClr val="FFFFFF"/>
          </a:solidFill>
          <a:ln w="6350">
            <a:solidFill>
              <a:srgbClr val="E0E6E3"/>
            </a:solidFill>
            <a:prstDash val="solid"/>
          </a:ln>
        </p:spPr>
      </p:sp>
      <p:sp>
        <p:nvSpPr>
          <p:cNvPr id="21" name="Text 19"/>
          <p:cNvSpPr txBox="1"/>
          <p:nvPr/>
        </p:nvSpPr>
        <p:spPr>
          <a:xfrm>
            <a:off x="10588752" y="1810512"/>
            <a:ext cx="905256" cy="297180"/>
          </a:xfrm>
          <a:prstGeom prst="rect">
            <a:avLst/>
          </a:prstGeom>
          <a:noFill/>
          <a:ln/>
        </p:spPr>
        <p:txBody>
          <a:bodyPr wrap="square" lIns="0" tIns="0" rIns="0" bIns="0" rtlCol="0" anchor="ctr"/>
          <a:lstStyle/>
          <a:p>
            <a:pPr algn="ctr" indent="0" marL="0">
              <a:buNone/>
            </a:pPr>
            <a:r>
              <a:rPr lang="en-US" sz="750" i="1" dirty="0">
                <a:solidFill>
                  <a:srgbClr val="A9B5B0"/>
                </a:solidFill>
              </a:rPr>
              <a:t>none</a:t>
            </a:r>
            <a:endParaRPr lang="en-US" sz="750" dirty="0"/>
          </a:p>
        </p:txBody>
      </p:sp>
      <p:sp>
        <p:nvSpPr>
          <p:cNvPr id="22" name="Text 20"/>
          <p:cNvSpPr txBox="1"/>
          <p:nvPr/>
        </p:nvSpPr>
        <p:spPr>
          <a:xfrm>
            <a:off x="6492240" y="2135124"/>
            <a:ext cx="1225296" cy="324612"/>
          </a:xfrm>
          <a:prstGeom prst="rect">
            <a:avLst/>
          </a:prstGeom>
          <a:noFill/>
          <a:ln/>
        </p:spPr>
        <p:txBody>
          <a:bodyPr wrap="square" lIns="0" tIns="0" rIns="0" bIns="0" rtlCol="0" anchor="ctr"/>
          <a:lstStyle/>
          <a:p>
            <a:pPr indent="0" marL="0">
              <a:buNone/>
            </a:pPr>
            <a:r>
              <a:rPr lang="en-US" sz="950" dirty="0">
                <a:solidFill>
                  <a:srgbClr val="11211C"/>
                </a:solidFill>
              </a:rPr>
              <a:t>medium-graph</a:t>
            </a:r>
            <a:endParaRPr lang="en-US" sz="950" dirty="0"/>
          </a:p>
        </p:txBody>
      </p:sp>
      <p:sp>
        <p:nvSpPr>
          <p:cNvPr id="23" name="Shape 21"/>
          <p:cNvSpPr/>
          <p:nvPr/>
        </p:nvSpPr>
        <p:spPr>
          <a:xfrm>
            <a:off x="7790688" y="2135124"/>
            <a:ext cx="905256" cy="297180"/>
          </a:xfrm>
          <a:prstGeom prst="rect">
            <a:avLst/>
          </a:prstGeom>
          <a:solidFill>
            <a:srgbClr val="2A5247">
              <a:alpha val="33000"/>
            </a:srgbClr>
          </a:solidFill>
          <a:ln w="3175">
            <a:solidFill>
              <a:srgbClr val="2A5247">
                <a:alpha val="33000"/>
              </a:srgbClr>
            </a:solidFill>
            <a:prstDash val="solid"/>
          </a:ln>
        </p:spPr>
      </p:sp>
      <p:sp>
        <p:nvSpPr>
          <p:cNvPr id="24" name="Text 22"/>
          <p:cNvSpPr txBox="1"/>
          <p:nvPr/>
        </p:nvSpPr>
        <p:spPr>
          <a:xfrm>
            <a:off x="7790688" y="2135124"/>
            <a:ext cx="905256" cy="297180"/>
          </a:xfrm>
          <a:prstGeom prst="rect">
            <a:avLst/>
          </a:prstGeom>
          <a:noFill/>
          <a:ln/>
        </p:spPr>
        <p:txBody>
          <a:bodyPr wrap="square" lIns="0" tIns="0" rIns="0" bIns="0" rtlCol="0" anchor="ctr"/>
          <a:lstStyle/>
          <a:p>
            <a:pPr algn="ctr" indent="0" marL="0">
              <a:buNone/>
            </a:pPr>
            <a:r>
              <a:rPr lang="en-US" sz="750" dirty="0">
                <a:solidFill>
                  <a:srgbClr val="11211C"/>
                </a:solidFill>
              </a:rPr>
              <a:t>0.0774%</a:t>
            </a:r>
            <a:endParaRPr lang="en-US" sz="750" dirty="0"/>
          </a:p>
        </p:txBody>
      </p:sp>
      <p:sp>
        <p:nvSpPr>
          <p:cNvPr id="25" name="Shape 23"/>
          <p:cNvSpPr/>
          <p:nvPr/>
        </p:nvSpPr>
        <p:spPr>
          <a:xfrm>
            <a:off x="8723376" y="2135124"/>
            <a:ext cx="905256" cy="297180"/>
          </a:xfrm>
          <a:prstGeom prst="rect">
            <a:avLst/>
          </a:prstGeom>
          <a:solidFill>
            <a:srgbClr val="2A5247">
              <a:alpha val="37000"/>
            </a:srgbClr>
          </a:solidFill>
          <a:ln w="3175">
            <a:solidFill>
              <a:srgbClr val="2A5247">
                <a:alpha val="37000"/>
              </a:srgbClr>
            </a:solidFill>
            <a:prstDash val="solid"/>
          </a:ln>
        </p:spPr>
      </p:sp>
      <p:sp>
        <p:nvSpPr>
          <p:cNvPr id="26" name="Text 24"/>
          <p:cNvSpPr txBox="1"/>
          <p:nvPr/>
        </p:nvSpPr>
        <p:spPr>
          <a:xfrm>
            <a:off x="8723376" y="2135124"/>
            <a:ext cx="905256" cy="297180"/>
          </a:xfrm>
          <a:prstGeom prst="rect">
            <a:avLst/>
          </a:prstGeom>
          <a:noFill/>
          <a:ln/>
        </p:spPr>
        <p:txBody>
          <a:bodyPr wrap="square" lIns="0" tIns="0" rIns="0" bIns="0" rtlCol="0" anchor="ctr"/>
          <a:lstStyle/>
          <a:p>
            <a:pPr algn="ctr" indent="0" marL="0">
              <a:buNone/>
            </a:pPr>
            <a:r>
              <a:rPr lang="en-US" sz="750" dirty="0">
                <a:solidFill>
                  <a:srgbClr val="11211C"/>
                </a:solidFill>
              </a:rPr>
              <a:t>0.0890%</a:t>
            </a:r>
            <a:endParaRPr lang="en-US" sz="750" dirty="0"/>
          </a:p>
        </p:txBody>
      </p:sp>
      <p:sp>
        <p:nvSpPr>
          <p:cNvPr id="27" name="Shape 25"/>
          <p:cNvSpPr/>
          <p:nvPr/>
        </p:nvSpPr>
        <p:spPr>
          <a:xfrm>
            <a:off x="9656064" y="2135124"/>
            <a:ext cx="905256" cy="297180"/>
          </a:xfrm>
          <a:prstGeom prst="rect">
            <a:avLst/>
          </a:prstGeom>
          <a:solidFill>
            <a:srgbClr val="FFFFFF"/>
          </a:solidFill>
          <a:ln w="6350">
            <a:solidFill>
              <a:srgbClr val="E0E6E3"/>
            </a:solidFill>
            <a:prstDash val="solid"/>
          </a:ln>
        </p:spPr>
      </p:sp>
      <p:sp>
        <p:nvSpPr>
          <p:cNvPr id="28" name="Text 26"/>
          <p:cNvSpPr txBox="1"/>
          <p:nvPr/>
        </p:nvSpPr>
        <p:spPr>
          <a:xfrm>
            <a:off x="9656064" y="2135124"/>
            <a:ext cx="905256" cy="297180"/>
          </a:xfrm>
          <a:prstGeom prst="rect">
            <a:avLst/>
          </a:prstGeom>
          <a:noFill/>
          <a:ln/>
        </p:spPr>
        <p:txBody>
          <a:bodyPr wrap="square" lIns="0" tIns="0" rIns="0" bIns="0" rtlCol="0" anchor="ctr"/>
          <a:lstStyle/>
          <a:p>
            <a:pPr algn="ctr" indent="0" marL="0">
              <a:buNone/>
            </a:pPr>
            <a:r>
              <a:rPr lang="en-US" sz="750" i="1" dirty="0">
                <a:solidFill>
                  <a:srgbClr val="A9B5B0"/>
                </a:solidFill>
              </a:rPr>
              <a:t>none</a:t>
            </a:r>
            <a:endParaRPr lang="en-US" sz="750" dirty="0"/>
          </a:p>
        </p:txBody>
      </p:sp>
      <p:sp>
        <p:nvSpPr>
          <p:cNvPr id="29" name="Shape 27"/>
          <p:cNvSpPr/>
          <p:nvPr/>
        </p:nvSpPr>
        <p:spPr>
          <a:xfrm>
            <a:off x="10588752" y="2135124"/>
            <a:ext cx="905256" cy="297180"/>
          </a:xfrm>
          <a:prstGeom prst="rect">
            <a:avLst/>
          </a:prstGeom>
          <a:solidFill>
            <a:srgbClr val="FFFFFF"/>
          </a:solidFill>
          <a:ln w="6350">
            <a:solidFill>
              <a:srgbClr val="E0E6E3"/>
            </a:solidFill>
            <a:prstDash val="solid"/>
          </a:ln>
        </p:spPr>
      </p:sp>
      <p:sp>
        <p:nvSpPr>
          <p:cNvPr id="30" name="Text 28"/>
          <p:cNvSpPr txBox="1"/>
          <p:nvPr/>
        </p:nvSpPr>
        <p:spPr>
          <a:xfrm>
            <a:off x="10588752" y="2135124"/>
            <a:ext cx="905256" cy="297180"/>
          </a:xfrm>
          <a:prstGeom prst="rect">
            <a:avLst/>
          </a:prstGeom>
          <a:noFill/>
          <a:ln/>
        </p:spPr>
        <p:txBody>
          <a:bodyPr wrap="square" lIns="0" tIns="0" rIns="0" bIns="0" rtlCol="0" anchor="ctr"/>
          <a:lstStyle/>
          <a:p>
            <a:pPr algn="ctr" indent="0" marL="0">
              <a:buNone/>
            </a:pPr>
            <a:r>
              <a:rPr lang="en-US" sz="750" i="1" dirty="0">
                <a:solidFill>
                  <a:srgbClr val="A9B5B0"/>
                </a:solidFill>
              </a:rPr>
              <a:t>none</a:t>
            </a:r>
            <a:endParaRPr lang="en-US" sz="750" dirty="0"/>
          </a:p>
        </p:txBody>
      </p:sp>
      <p:sp>
        <p:nvSpPr>
          <p:cNvPr id="31" name="Text 29"/>
          <p:cNvSpPr txBox="1"/>
          <p:nvPr/>
        </p:nvSpPr>
        <p:spPr>
          <a:xfrm>
            <a:off x="6492240" y="2459736"/>
            <a:ext cx="1225296" cy="324612"/>
          </a:xfrm>
          <a:prstGeom prst="rect">
            <a:avLst/>
          </a:prstGeom>
          <a:noFill/>
          <a:ln/>
        </p:spPr>
        <p:txBody>
          <a:bodyPr wrap="square" lIns="0" tIns="0" rIns="0" bIns="0" rtlCol="0" anchor="ctr"/>
          <a:lstStyle/>
          <a:p>
            <a:pPr indent="0" marL="0">
              <a:buNone/>
            </a:pPr>
            <a:r>
              <a:rPr lang="en-US" sz="950" dirty="0">
                <a:solidFill>
                  <a:srgbClr val="11211C"/>
                </a:solidFill>
              </a:rPr>
              <a:t>large-graph</a:t>
            </a:r>
            <a:endParaRPr lang="en-US" sz="950" dirty="0"/>
          </a:p>
        </p:txBody>
      </p:sp>
      <p:sp>
        <p:nvSpPr>
          <p:cNvPr id="32" name="Shape 30"/>
          <p:cNvSpPr/>
          <p:nvPr/>
        </p:nvSpPr>
        <p:spPr>
          <a:xfrm>
            <a:off x="7790688" y="2459736"/>
            <a:ext cx="905256" cy="297180"/>
          </a:xfrm>
          <a:prstGeom prst="rect">
            <a:avLst/>
          </a:prstGeom>
          <a:solidFill>
            <a:srgbClr val="2A5247">
              <a:alpha val="24000"/>
            </a:srgbClr>
          </a:solidFill>
          <a:ln w="3175">
            <a:solidFill>
              <a:srgbClr val="2A5247">
                <a:alpha val="24000"/>
              </a:srgbClr>
            </a:solidFill>
            <a:prstDash val="solid"/>
          </a:ln>
        </p:spPr>
      </p:sp>
      <p:sp>
        <p:nvSpPr>
          <p:cNvPr id="33" name="Text 31"/>
          <p:cNvSpPr txBox="1"/>
          <p:nvPr/>
        </p:nvSpPr>
        <p:spPr>
          <a:xfrm>
            <a:off x="7790688" y="2459736"/>
            <a:ext cx="905256" cy="297180"/>
          </a:xfrm>
          <a:prstGeom prst="rect">
            <a:avLst/>
          </a:prstGeom>
          <a:noFill/>
          <a:ln/>
        </p:spPr>
        <p:txBody>
          <a:bodyPr wrap="square" lIns="0" tIns="0" rIns="0" bIns="0" rtlCol="0" anchor="ctr"/>
          <a:lstStyle/>
          <a:p>
            <a:pPr algn="ctr" indent="0" marL="0">
              <a:buNone/>
            </a:pPr>
            <a:r>
              <a:rPr lang="en-US" sz="750" dirty="0">
                <a:solidFill>
                  <a:srgbClr val="11211C"/>
                </a:solidFill>
              </a:rPr>
              <a:t>0.0506%</a:t>
            </a:r>
            <a:endParaRPr lang="en-US" sz="750" dirty="0"/>
          </a:p>
        </p:txBody>
      </p:sp>
      <p:sp>
        <p:nvSpPr>
          <p:cNvPr id="34" name="Shape 32"/>
          <p:cNvSpPr/>
          <p:nvPr/>
        </p:nvSpPr>
        <p:spPr>
          <a:xfrm>
            <a:off x="8723376" y="2459736"/>
            <a:ext cx="905256" cy="297180"/>
          </a:xfrm>
          <a:prstGeom prst="rect">
            <a:avLst/>
          </a:prstGeom>
          <a:solidFill>
            <a:srgbClr val="2A5247">
              <a:alpha val="36000"/>
            </a:srgbClr>
          </a:solidFill>
          <a:ln w="3175">
            <a:solidFill>
              <a:srgbClr val="2A5247">
                <a:alpha val="36000"/>
              </a:srgbClr>
            </a:solidFill>
            <a:prstDash val="solid"/>
          </a:ln>
        </p:spPr>
      </p:sp>
      <p:sp>
        <p:nvSpPr>
          <p:cNvPr id="35" name="Text 33"/>
          <p:cNvSpPr txBox="1"/>
          <p:nvPr/>
        </p:nvSpPr>
        <p:spPr>
          <a:xfrm>
            <a:off x="8723376" y="2459736"/>
            <a:ext cx="905256" cy="297180"/>
          </a:xfrm>
          <a:prstGeom prst="rect">
            <a:avLst/>
          </a:prstGeom>
          <a:noFill/>
          <a:ln/>
        </p:spPr>
        <p:txBody>
          <a:bodyPr wrap="square" lIns="0" tIns="0" rIns="0" bIns="0" rtlCol="0" anchor="ctr"/>
          <a:lstStyle/>
          <a:p>
            <a:pPr algn="ctr" indent="0" marL="0">
              <a:buNone/>
            </a:pPr>
            <a:r>
              <a:rPr lang="en-US" sz="750" dirty="0">
                <a:solidFill>
                  <a:srgbClr val="11211C"/>
                </a:solidFill>
              </a:rPr>
              <a:t>0.0855%</a:t>
            </a:r>
            <a:endParaRPr lang="en-US" sz="750" dirty="0"/>
          </a:p>
        </p:txBody>
      </p:sp>
      <p:sp>
        <p:nvSpPr>
          <p:cNvPr id="36" name="Shape 34"/>
          <p:cNvSpPr/>
          <p:nvPr/>
        </p:nvSpPr>
        <p:spPr>
          <a:xfrm>
            <a:off x="9656064" y="2459736"/>
            <a:ext cx="905256" cy="297180"/>
          </a:xfrm>
          <a:prstGeom prst="rect">
            <a:avLst/>
          </a:prstGeom>
          <a:solidFill>
            <a:srgbClr val="FFFFFF"/>
          </a:solidFill>
          <a:ln w="6350">
            <a:solidFill>
              <a:srgbClr val="E0E6E3"/>
            </a:solidFill>
            <a:prstDash val="solid"/>
          </a:ln>
        </p:spPr>
      </p:sp>
      <p:sp>
        <p:nvSpPr>
          <p:cNvPr id="37" name="Text 35"/>
          <p:cNvSpPr txBox="1"/>
          <p:nvPr/>
        </p:nvSpPr>
        <p:spPr>
          <a:xfrm>
            <a:off x="9656064" y="2459736"/>
            <a:ext cx="905256" cy="297180"/>
          </a:xfrm>
          <a:prstGeom prst="rect">
            <a:avLst/>
          </a:prstGeom>
          <a:noFill/>
          <a:ln/>
        </p:spPr>
        <p:txBody>
          <a:bodyPr wrap="square" lIns="0" tIns="0" rIns="0" bIns="0" rtlCol="0" anchor="ctr"/>
          <a:lstStyle/>
          <a:p>
            <a:pPr algn="ctr" indent="0" marL="0">
              <a:buNone/>
            </a:pPr>
            <a:r>
              <a:rPr lang="en-US" sz="750" i="1" dirty="0">
                <a:solidFill>
                  <a:srgbClr val="A9B5B0"/>
                </a:solidFill>
              </a:rPr>
              <a:t>none</a:t>
            </a:r>
            <a:endParaRPr lang="en-US" sz="750" dirty="0"/>
          </a:p>
        </p:txBody>
      </p:sp>
      <p:sp>
        <p:nvSpPr>
          <p:cNvPr id="38" name="Shape 36"/>
          <p:cNvSpPr/>
          <p:nvPr/>
        </p:nvSpPr>
        <p:spPr>
          <a:xfrm>
            <a:off x="10588752" y="2459736"/>
            <a:ext cx="905256" cy="297180"/>
          </a:xfrm>
          <a:prstGeom prst="rect">
            <a:avLst/>
          </a:prstGeom>
          <a:solidFill>
            <a:srgbClr val="FFFFFF"/>
          </a:solidFill>
          <a:ln w="6350">
            <a:solidFill>
              <a:srgbClr val="E0E6E3"/>
            </a:solidFill>
            <a:prstDash val="solid"/>
          </a:ln>
        </p:spPr>
      </p:sp>
      <p:sp>
        <p:nvSpPr>
          <p:cNvPr id="39" name="Text 37"/>
          <p:cNvSpPr txBox="1"/>
          <p:nvPr/>
        </p:nvSpPr>
        <p:spPr>
          <a:xfrm>
            <a:off x="10588752" y="2459736"/>
            <a:ext cx="905256" cy="297180"/>
          </a:xfrm>
          <a:prstGeom prst="rect">
            <a:avLst/>
          </a:prstGeom>
          <a:noFill/>
          <a:ln/>
        </p:spPr>
        <p:txBody>
          <a:bodyPr wrap="square" lIns="0" tIns="0" rIns="0" bIns="0" rtlCol="0" anchor="ctr"/>
          <a:lstStyle/>
          <a:p>
            <a:pPr algn="ctr" indent="0" marL="0">
              <a:buNone/>
            </a:pPr>
            <a:r>
              <a:rPr lang="en-US" sz="750" i="1" dirty="0">
                <a:solidFill>
                  <a:srgbClr val="A9B5B0"/>
                </a:solidFill>
              </a:rPr>
              <a:t>none</a:t>
            </a:r>
            <a:endParaRPr lang="en-US" sz="750" dirty="0"/>
          </a:p>
        </p:txBody>
      </p:sp>
      <p:sp>
        <p:nvSpPr>
          <p:cNvPr id="40" name="Text 38"/>
          <p:cNvSpPr txBox="1"/>
          <p:nvPr/>
        </p:nvSpPr>
        <p:spPr>
          <a:xfrm>
            <a:off x="6492240" y="2784348"/>
            <a:ext cx="1225296" cy="324612"/>
          </a:xfrm>
          <a:prstGeom prst="rect">
            <a:avLst/>
          </a:prstGeom>
          <a:noFill/>
          <a:ln/>
        </p:spPr>
        <p:txBody>
          <a:bodyPr wrap="square" lIns="0" tIns="0" rIns="0" bIns="0" rtlCol="0" anchor="ctr"/>
          <a:lstStyle/>
          <a:p>
            <a:pPr indent="0" marL="0">
              <a:buNone/>
            </a:pPr>
            <a:r>
              <a:rPr lang="en-US" sz="950" dirty="0">
                <a:solidFill>
                  <a:srgbClr val="11211C"/>
                </a:solidFill>
              </a:rPr>
              <a:t>synth-1</a:t>
            </a:r>
            <a:endParaRPr lang="en-US" sz="950" dirty="0"/>
          </a:p>
        </p:txBody>
      </p:sp>
      <p:sp>
        <p:nvSpPr>
          <p:cNvPr id="41" name="Shape 39"/>
          <p:cNvSpPr/>
          <p:nvPr/>
        </p:nvSpPr>
        <p:spPr>
          <a:xfrm>
            <a:off x="7790688" y="2784348"/>
            <a:ext cx="905256" cy="297180"/>
          </a:xfrm>
          <a:prstGeom prst="rect">
            <a:avLst/>
          </a:prstGeom>
          <a:solidFill>
            <a:srgbClr val="2A5247">
              <a:alpha val="23000"/>
            </a:srgbClr>
          </a:solidFill>
          <a:ln w="3175">
            <a:solidFill>
              <a:srgbClr val="2A5247">
                <a:alpha val="23000"/>
              </a:srgbClr>
            </a:solidFill>
            <a:prstDash val="solid"/>
          </a:ln>
        </p:spPr>
      </p:sp>
      <p:sp>
        <p:nvSpPr>
          <p:cNvPr id="42" name="Text 40"/>
          <p:cNvSpPr txBox="1"/>
          <p:nvPr/>
        </p:nvSpPr>
        <p:spPr>
          <a:xfrm>
            <a:off x="7790688" y="2784348"/>
            <a:ext cx="905256" cy="297180"/>
          </a:xfrm>
          <a:prstGeom prst="rect">
            <a:avLst/>
          </a:prstGeom>
          <a:noFill/>
          <a:ln/>
        </p:spPr>
        <p:txBody>
          <a:bodyPr wrap="square" lIns="0" tIns="0" rIns="0" bIns="0" rtlCol="0" anchor="ctr"/>
          <a:lstStyle/>
          <a:p>
            <a:pPr algn="ctr" indent="0" marL="0">
              <a:buNone/>
            </a:pPr>
            <a:r>
              <a:rPr lang="en-US" sz="750" dirty="0">
                <a:solidFill>
                  <a:srgbClr val="11211C"/>
                </a:solidFill>
              </a:rPr>
              <a:t>0.0488%</a:t>
            </a:r>
            <a:endParaRPr lang="en-US" sz="750" dirty="0"/>
          </a:p>
        </p:txBody>
      </p:sp>
      <p:sp>
        <p:nvSpPr>
          <p:cNvPr id="43" name="Shape 41"/>
          <p:cNvSpPr/>
          <p:nvPr/>
        </p:nvSpPr>
        <p:spPr>
          <a:xfrm>
            <a:off x="8723376" y="2784348"/>
            <a:ext cx="905256" cy="297180"/>
          </a:xfrm>
          <a:prstGeom prst="rect">
            <a:avLst/>
          </a:prstGeom>
          <a:solidFill>
            <a:srgbClr val="2A5247">
              <a:alpha val="6000"/>
            </a:srgbClr>
          </a:solidFill>
          <a:ln w="3175">
            <a:solidFill>
              <a:srgbClr val="2A5247">
                <a:alpha val="6000"/>
              </a:srgbClr>
            </a:solidFill>
            <a:prstDash val="solid"/>
          </a:ln>
        </p:spPr>
      </p:sp>
      <p:sp>
        <p:nvSpPr>
          <p:cNvPr id="44" name="Text 42"/>
          <p:cNvSpPr txBox="1"/>
          <p:nvPr/>
        </p:nvSpPr>
        <p:spPr>
          <a:xfrm>
            <a:off x="8723376" y="2784348"/>
            <a:ext cx="905256" cy="297180"/>
          </a:xfrm>
          <a:prstGeom prst="rect">
            <a:avLst/>
          </a:prstGeom>
          <a:noFill/>
          <a:ln/>
        </p:spPr>
        <p:txBody>
          <a:bodyPr wrap="square" lIns="0" tIns="0" rIns="0" bIns="0" rtlCol="0" anchor="ctr"/>
          <a:lstStyle/>
          <a:p>
            <a:pPr algn="ctr" indent="0" marL="0">
              <a:buNone/>
            </a:pPr>
            <a:r>
              <a:rPr lang="en-US" sz="750" dirty="0">
                <a:solidFill>
                  <a:srgbClr val="11211C"/>
                </a:solidFill>
              </a:rPr>
              <a:t>0.0014%</a:t>
            </a:r>
            <a:endParaRPr lang="en-US" sz="750" dirty="0"/>
          </a:p>
        </p:txBody>
      </p:sp>
      <p:sp>
        <p:nvSpPr>
          <p:cNvPr id="45" name="Shape 43"/>
          <p:cNvSpPr/>
          <p:nvPr/>
        </p:nvSpPr>
        <p:spPr>
          <a:xfrm>
            <a:off x="9656064" y="2784348"/>
            <a:ext cx="905256" cy="297180"/>
          </a:xfrm>
          <a:prstGeom prst="rect">
            <a:avLst/>
          </a:prstGeom>
          <a:solidFill>
            <a:srgbClr val="2A5247">
              <a:alpha val="7000"/>
            </a:srgbClr>
          </a:solidFill>
          <a:ln w="3175">
            <a:solidFill>
              <a:srgbClr val="2A5247">
                <a:alpha val="7000"/>
              </a:srgbClr>
            </a:solidFill>
            <a:prstDash val="solid"/>
          </a:ln>
        </p:spPr>
      </p:sp>
      <p:sp>
        <p:nvSpPr>
          <p:cNvPr id="46" name="Text 44"/>
          <p:cNvSpPr txBox="1"/>
          <p:nvPr/>
        </p:nvSpPr>
        <p:spPr>
          <a:xfrm>
            <a:off x="9656064" y="2784348"/>
            <a:ext cx="905256" cy="297180"/>
          </a:xfrm>
          <a:prstGeom prst="rect">
            <a:avLst/>
          </a:prstGeom>
          <a:noFill/>
          <a:ln/>
        </p:spPr>
        <p:txBody>
          <a:bodyPr wrap="square" lIns="0" tIns="0" rIns="0" bIns="0" rtlCol="0" anchor="ctr"/>
          <a:lstStyle/>
          <a:p>
            <a:pPr algn="ctr" indent="0" marL="0">
              <a:buNone/>
            </a:pPr>
            <a:r>
              <a:rPr lang="en-US" sz="750" dirty="0">
                <a:solidFill>
                  <a:srgbClr val="11211C"/>
                </a:solidFill>
              </a:rPr>
              <a:t>0.0019%</a:t>
            </a:r>
            <a:endParaRPr lang="en-US" sz="750" dirty="0"/>
          </a:p>
        </p:txBody>
      </p:sp>
      <p:sp>
        <p:nvSpPr>
          <p:cNvPr id="47" name="Shape 45"/>
          <p:cNvSpPr/>
          <p:nvPr/>
        </p:nvSpPr>
        <p:spPr>
          <a:xfrm>
            <a:off x="10588752" y="2784348"/>
            <a:ext cx="905256" cy="297180"/>
          </a:xfrm>
          <a:prstGeom prst="rect">
            <a:avLst/>
          </a:prstGeom>
          <a:solidFill>
            <a:srgbClr val="2A5247">
              <a:alpha val="7000"/>
            </a:srgbClr>
          </a:solidFill>
          <a:ln w="3175">
            <a:solidFill>
              <a:srgbClr val="2A5247">
                <a:alpha val="7000"/>
              </a:srgbClr>
            </a:solidFill>
            <a:prstDash val="solid"/>
          </a:ln>
        </p:spPr>
      </p:sp>
      <p:sp>
        <p:nvSpPr>
          <p:cNvPr id="48" name="Text 46"/>
          <p:cNvSpPr txBox="1"/>
          <p:nvPr/>
        </p:nvSpPr>
        <p:spPr>
          <a:xfrm>
            <a:off x="10588752" y="2784348"/>
            <a:ext cx="905256" cy="297180"/>
          </a:xfrm>
          <a:prstGeom prst="rect">
            <a:avLst/>
          </a:prstGeom>
          <a:noFill/>
          <a:ln/>
        </p:spPr>
        <p:txBody>
          <a:bodyPr wrap="square" lIns="0" tIns="0" rIns="0" bIns="0" rtlCol="0" anchor="ctr"/>
          <a:lstStyle/>
          <a:p>
            <a:pPr algn="ctr" indent="0" marL="0">
              <a:buNone/>
            </a:pPr>
            <a:r>
              <a:rPr lang="en-US" sz="750" dirty="0">
                <a:solidFill>
                  <a:srgbClr val="11211C"/>
                </a:solidFill>
              </a:rPr>
              <a:t>0.0016%</a:t>
            </a:r>
            <a:endParaRPr lang="en-US" sz="750" dirty="0"/>
          </a:p>
        </p:txBody>
      </p:sp>
      <p:sp>
        <p:nvSpPr>
          <p:cNvPr id="49" name="Text 47"/>
          <p:cNvSpPr txBox="1"/>
          <p:nvPr/>
        </p:nvSpPr>
        <p:spPr>
          <a:xfrm>
            <a:off x="6492240" y="3108960"/>
            <a:ext cx="1225296" cy="324612"/>
          </a:xfrm>
          <a:prstGeom prst="rect">
            <a:avLst/>
          </a:prstGeom>
          <a:noFill/>
          <a:ln/>
        </p:spPr>
        <p:txBody>
          <a:bodyPr wrap="square" lIns="0" tIns="0" rIns="0" bIns="0" rtlCol="0" anchor="ctr"/>
          <a:lstStyle/>
          <a:p>
            <a:pPr indent="0" marL="0">
              <a:buNone/>
            </a:pPr>
            <a:r>
              <a:rPr lang="en-US" sz="950" dirty="0">
                <a:solidFill>
                  <a:srgbClr val="11211C"/>
                </a:solidFill>
              </a:rPr>
              <a:t>synth-2</a:t>
            </a:r>
            <a:endParaRPr lang="en-US" sz="950" dirty="0"/>
          </a:p>
        </p:txBody>
      </p:sp>
      <p:sp>
        <p:nvSpPr>
          <p:cNvPr id="50" name="Shape 48"/>
          <p:cNvSpPr/>
          <p:nvPr/>
        </p:nvSpPr>
        <p:spPr>
          <a:xfrm>
            <a:off x="7790688" y="3108960"/>
            <a:ext cx="905256" cy="297180"/>
          </a:xfrm>
          <a:prstGeom prst="rect">
            <a:avLst/>
          </a:prstGeom>
          <a:solidFill>
            <a:srgbClr val="2A5247">
              <a:alpha val="39000"/>
            </a:srgbClr>
          </a:solidFill>
          <a:ln w="3175">
            <a:solidFill>
              <a:srgbClr val="2A5247">
                <a:alpha val="39000"/>
              </a:srgbClr>
            </a:solidFill>
            <a:prstDash val="solid"/>
          </a:ln>
        </p:spPr>
      </p:sp>
      <p:sp>
        <p:nvSpPr>
          <p:cNvPr id="51" name="Text 49"/>
          <p:cNvSpPr txBox="1"/>
          <p:nvPr/>
        </p:nvSpPr>
        <p:spPr>
          <a:xfrm>
            <a:off x="7790688" y="3108960"/>
            <a:ext cx="905256" cy="297180"/>
          </a:xfrm>
          <a:prstGeom prst="rect">
            <a:avLst/>
          </a:prstGeom>
          <a:noFill/>
          <a:ln/>
        </p:spPr>
        <p:txBody>
          <a:bodyPr wrap="square" lIns="0" tIns="0" rIns="0" bIns="0" rtlCol="0" anchor="ctr"/>
          <a:lstStyle/>
          <a:p>
            <a:pPr algn="ctr" indent="0" marL="0">
              <a:buNone/>
            </a:pPr>
            <a:r>
              <a:rPr lang="en-US" sz="750" dirty="0">
                <a:solidFill>
                  <a:srgbClr val="11211C"/>
                </a:solidFill>
              </a:rPr>
              <a:t>0.0944%</a:t>
            </a:r>
            <a:endParaRPr lang="en-US" sz="750" dirty="0"/>
          </a:p>
        </p:txBody>
      </p:sp>
      <p:sp>
        <p:nvSpPr>
          <p:cNvPr id="52" name="Shape 50"/>
          <p:cNvSpPr/>
          <p:nvPr/>
        </p:nvSpPr>
        <p:spPr>
          <a:xfrm>
            <a:off x="8723376" y="3108960"/>
            <a:ext cx="905256" cy="297180"/>
          </a:xfrm>
          <a:prstGeom prst="rect">
            <a:avLst/>
          </a:prstGeom>
          <a:solidFill>
            <a:srgbClr val="2A5247">
              <a:alpha val="7000"/>
            </a:srgbClr>
          </a:solidFill>
          <a:ln w="3175">
            <a:solidFill>
              <a:srgbClr val="2A5247">
                <a:alpha val="7000"/>
              </a:srgbClr>
            </a:solidFill>
            <a:prstDash val="solid"/>
          </a:ln>
        </p:spPr>
      </p:sp>
      <p:sp>
        <p:nvSpPr>
          <p:cNvPr id="53" name="Text 51"/>
          <p:cNvSpPr txBox="1"/>
          <p:nvPr/>
        </p:nvSpPr>
        <p:spPr>
          <a:xfrm>
            <a:off x="8723376" y="3108960"/>
            <a:ext cx="905256" cy="297180"/>
          </a:xfrm>
          <a:prstGeom prst="rect">
            <a:avLst/>
          </a:prstGeom>
          <a:noFill/>
          <a:ln/>
        </p:spPr>
        <p:txBody>
          <a:bodyPr wrap="square" lIns="0" tIns="0" rIns="0" bIns="0" rtlCol="0" anchor="ctr"/>
          <a:lstStyle/>
          <a:p>
            <a:pPr algn="ctr" indent="0" marL="0">
              <a:buNone/>
            </a:pPr>
            <a:r>
              <a:rPr lang="en-US" sz="750" dirty="0">
                <a:solidFill>
                  <a:srgbClr val="11211C"/>
                </a:solidFill>
              </a:rPr>
              <a:t>0.0020%</a:t>
            </a:r>
            <a:endParaRPr lang="en-US" sz="750" dirty="0"/>
          </a:p>
        </p:txBody>
      </p:sp>
      <p:sp>
        <p:nvSpPr>
          <p:cNvPr id="54" name="Shape 52"/>
          <p:cNvSpPr/>
          <p:nvPr/>
        </p:nvSpPr>
        <p:spPr>
          <a:xfrm>
            <a:off x="9656064" y="3108960"/>
            <a:ext cx="905256" cy="297180"/>
          </a:xfrm>
          <a:prstGeom prst="rect">
            <a:avLst/>
          </a:prstGeom>
          <a:solidFill>
            <a:srgbClr val="2A5247">
              <a:alpha val="6000"/>
            </a:srgbClr>
          </a:solidFill>
          <a:ln w="3175">
            <a:solidFill>
              <a:srgbClr val="2A5247">
                <a:alpha val="6000"/>
              </a:srgbClr>
            </a:solidFill>
            <a:prstDash val="solid"/>
          </a:ln>
        </p:spPr>
      </p:sp>
      <p:sp>
        <p:nvSpPr>
          <p:cNvPr id="55" name="Text 53"/>
          <p:cNvSpPr txBox="1"/>
          <p:nvPr/>
        </p:nvSpPr>
        <p:spPr>
          <a:xfrm>
            <a:off x="9656064" y="3108960"/>
            <a:ext cx="905256" cy="297180"/>
          </a:xfrm>
          <a:prstGeom prst="rect">
            <a:avLst/>
          </a:prstGeom>
          <a:noFill/>
          <a:ln/>
        </p:spPr>
        <p:txBody>
          <a:bodyPr wrap="square" lIns="0" tIns="0" rIns="0" bIns="0" rtlCol="0" anchor="ctr"/>
          <a:lstStyle/>
          <a:p>
            <a:pPr algn="ctr" indent="0" marL="0">
              <a:buNone/>
            </a:pPr>
            <a:r>
              <a:rPr lang="en-US" sz="750" dirty="0">
                <a:solidFill>
                  <a:srgbClr val="11211C"/>
                </a:solidFill>
              </a:rPr>
              <a:t>0.0010%</a:t>
            </a:r>
            <a:endParaRPr lang="en-US" sz="750" dirty="0"/>
          </a:p>
        </p:txBody>
      </p:sp>
      <p:sp>
        <p:nvSpPr>
          <p:cNvPr id="56" name="Shape 54"/>
          <p:cNvSpPr/>
          <p:nvPr/>
        </p:nvSpPr>
        <p:spPr>
          <a:xfrm>
            <a:off x="10588752" y="3108960"/>
            <a:ext cx="905256" cy="297180"/>
          </a:xfrm>
          <a:prstGeom prst="rect">
            <a:avLst/>
          </a:prstGeom>
          <a:solidFill>
            <a:srgbClr val="FFFFFF"/>
          </a:solidFill>
          <a:ln w="6350">
            <a:solidFill>
              <a:srgbClr val="E0E6E3"/>
            </a:solidFill>
            <a:prstDash val="solid"/>
          </a:ln>
        </p:spPr>
      </p:sp>
      <p:sp>
        <p:nvSpPr>
          <p:cNvPr id="57" name="Text 55"/>
          <p:cNvSpPr txBox="1"/>
          <p:nvPr/>
        </p:nvSpPr>
        <p:spPr>
          <a:xfrm>
            <a:off x="10588752" y="3108960"/>
            <a:ext cx="905256" cy="297180"/>
          </a:xfrm>
          <a:prstGeom prst="rect">
            <a:avLst/>
          </a:prstGeom>
          <a:noFill/>
          <a:ln/>
        </p:spPr>
        <p:txBody>
          <a:bodyPr wrap="square" lIns="0" tIns="0" rIns="0" bIns="0" rtlCol="0" anchor="ctr"/>
          <a:lstStyle/>
          <a:p>
            <a:pPr algn="ctr" indent="0" marL="0">
              <a:buNone/>
            </a:pPr>
            <a:r>
              <a:rPr lang="en-US" sz="750" i="1" dirty="0">
                <a:solidFill>
                  <a:srgbClr val="A9B5B0"/>
                </a:solidFill>
              </a:rPr>
              <a:t>none</a:t>
            </a:r>
            <a:endParaRPr lang="en-US" sz="750" dirty="0"/>
          </a:p>
        </p:txBody>
      </p:sp>
      <p:sp>
        <p:nvSpPr>
          <p:cNvPr id="58" name="Text 56"/>
          <p:cNvSpPr txBox="1"/>
          <p:nvPr/>
        </p:nvSpPr>
        <p:spPr>
          <a:xfrm>
            <a:off x="6492240" y="3433572"/>
            <a:ext cx="1225296" cy="324612"/>
          </a:xfrm>
          <a:prstGeom prst="rect">
            <a:avLst/>
          </a:prstGeom>
          <a:noFill/>
          <a:ln/>
        </p:spPr>
        <p:txBody>
          <a:bodyPr wrap="square" lIns="0" tIns="0" rIns="0" bIns="0" rtlCol="0" anchor="ctr"/>
          <a:lstStyle/>
          <a:p>
            <a:pPr indent="0" marL="0">
              <a:buNone/>
            </a:pPr>
            <a:r>
              <a:rPr lang="en-US" sz="950" dirty="0">
                <a:solidFill>
                  <a:srgbClr val="11211C"/>
                </a:solidFill>
              </a:rPr>
              <a:t>synth-3</a:t>
            </a:r>
            <a:endParaRPr lang="en-US" sz="950" dirty="0"/>
          </a:p>
        </p:txBody>
      </p:sp>
      <p:sp>
        <p:nvSpPr>
          <p:cNvPr id="59" name="Shape 57"/>
          <p:cNvSpPr/>
          <p:nvPr/>
        </p:nvSpPr>
        <p:spPr>
          <a:xfrm>
            <a:off x="7790688" y="3433572"/>
            <a:ext cx="905256" cy="297180"/>
          </a:xfrm>
          <a:prstGeom prst="rect">
            <a:avLst/>
          </a:prstGeom>
          <a:solidFill>
            <a:srgbClr val="2A5247">
              <a:alpha val="7000"/>
            </a:srgbClr>
          </a:solidFill>
          <a:ln w="3175">
            <a:solidFill>
              <a:srgbClr val="2A5247">
                <a:alpha val="7000"/>
              </a:srgbClr>
            </a:solidFill>
            <a:prstDash val="solid"/>
          </a:ln>
        </p:spPr>
      </p:sp>
      <p:sp>
        <p:nvSpPr>
          <p:cNvPr id="60" name="Text 58"/>
          <p:cNvSpPr txBox="1"/>
          <p:nvPr/>
        </p:nvSpPr>
        <p:spPr>
          <a:xfrm>
            <a:off x="7790688" y="3433572"/>
            <a:ext cx="905256" cy="297180"/>
          </a:xfrm>
          <a:prstGeom prst="rect">
            <a:avLst/>
          </a:prstGeom>
          <a:noFill/>
          <a:ln/>
        </p:spPr>
        <p:txBody>
          <a:bodyPr wrap="square" lIns="0" tIns="0" rIns="0" bIns="0" rtlCol="0" anchor="ctr"/>
          <a:lstStyle/>
          <a:p>
            <a:pPr algn="ctr" indent="0" marL="0">
              <a:buNone/>
            </a:pPr>
            <a:r>
              <a:rPr lang="en-US" sz="750" dirty="0">
                <a:solidFill>
                  <a:srgbClr val="11211C"/>
                </a:solidFill>
              </a:rPr>
              <a:t>0.0031%</a:t>
            </a:r>
            <a:endParaRPr lang="en-US" sz="750" dirty="0"/>
          </a:p>
        </p:txBody>
      </p:sp>
      <p:sp>
        <p:nvSpPr>
          <p:cNvPr id="61" name="Shape 59"/>
          <p:cNvSpPr/>
          <p:nvPr/>
        </p:nvSpPr>
        <p:spPr>
          <a:xfrm>
            <a:off x="8723376" y="3433572"/>
            <a:ext cx="905256" cy="297180"/>
          </a:xfrm>
          <a:prstGeom prst="rect">
            <a:avLst/>
          </a:prstGeom>
          <a:solidFill>
            <a:srgbClr val="2A5247">
              <a:alpha val="6000"/>
            </a:srgbClr>
          </a:solidFill>
          <a:ln w="3175">
            <a:solidFill>
              <a:srgbClr val="2A5247">
                <a:alpha val="6000"/>
              </a:srgbClr>
            </a:solidFill>
            <a:prstDash val="solid"/>
          </a:ln>
        </p:spPr>
      </p:sp>
      <p:sp>
        <p:nvSpPr>
          <p:cNvPr id="62" name="Text 60"/>
          <p:cNvSpPr txBox="1"/>
          <p:nvPr/>
        </p:nvSpPr>
        <p:spPr>
          <a:xfrm>
            <a:off x="8723376" y="3433572"/>
            <a:ext cx="905256" cy="297180"/>
          </a:xfrm>
          <a:prstGeom prst="rect">
            <a:avLst/>
          </a:prstGeom>
          <a:noFill/>
          <a:ln/>
        </p:spPr>
        <p:txBody>
          <a:bodyPr wrap="square" lIns="0" tIns="0" rIns="0" bIns="0" rtlCol="0" anchor="ctr"/>
          <a:lstStyle/>
          <a:p>
            <a:pPr algn="ctr" indent="0" marL="0">
              <a:buNone/>
            </a:pPr>
            <a:r>
              <a:rPr lang="en-US" sz="750" dirty="0">
                <a:solidFill>
                  <a:srgbClr val="11211C"/>
                </a:solidFill>
              </a:rPr>
              <a:t>0.0006%</a:t>
            </a:r>
            <a:endParaRPr lang="en-US" sz="750" dirty="0"/>
          </a:p>
        </p:txBody>
      </p:sp>
      <p:sp>
        <p:nvSpPr>
          <p:cNvPr id="63" name="Shape 61"/>
          <p:cNvSpPr/>
          <p:nvPr/>
        </p:nvSpPr>
        <p:spPr>
          <a:xfrm>
            <a:off x="9656064" y="3433572"/>
            <a:ext cx="905256" cy="297180"/>
          </a:xfrm>
          <a:prstGeom prst="rect">
            <a:avLst/>
          </a:prstGeom>
          <a:solidFill>
            <a:srgbClr val="2A5247">
              <a:alpha val="6000"/>
            </a:srgbClr>
          </a:solidFill>
          <a:ln w="3175">
            <a:solidFill>
              <a:srgbClr val="2A5247">
                <a:alpha val="6000"/>
              </a:srgbClr>
            </a:solidFill>
            <a:prstDash val="solid"/>
          </a:ln>
        </p:spPr>
      </p:sp>
      <p:sp>
        <p:nvSpPr>
          <p:cNvPr id="64" name="Text 62"/>
          <p:cNvSpPr txBox="1"/>
          <p:nvPr/>
        </p:nvSpPr>
        <p:spPr>
          <a:xfrm>
            <a:off x="9656064" y="3433572"/>
            <a:ext cx="905256" cy="297180"/>
          </a:xfrm>
          <a:prstGeom prst="rect">
            <a:avLst/>
          </a:prstGeom>
          <a:noFill/>
          <a:ln/>
        </p:spPr>
        <p:txBody>
          <a:bodyPr wrap="square" lIns="0" tIns="0" rIns="0" bIns="0" rtlCol="0" anchor="ctr"/>
          <a:lstStyle/>
          <a:p>
            <a:pPr algn="ctr" indent="0" marL="0">
              <a:buNone/>
            </a:pPr>
            <a:r>
              <a:rPr lang="en-US" sz="750" dirty="0">
                <a:solidFill>
                  <a:srgbClr val="11211C"/>
                </a:solidFill>
              </a:rPr>
              <a:t>0.0003%</a:t>
            </a:r>
            <a:endParaRPr lang="en-US" sz="750" dirty="0"/>
          </a:p>
        </p:txBody>
      </p:sp>
      <p:sp>
        <p:nvSpPr>
          <p:cNvPr id="65" name="Shape 63"/>
          <p:cNvSpPr/>
          <p:nvPr/>
        </p:nvSpPr>
        <p:spPr>
          <a:xfrm>
            <a:off x="10588752" y="3433572"/>
            <a:ext cx="905256" cy="297180"/>
          </a:xfrm>
          <a:prstGeom prst="rect">
            <a:avLst/>
          </a:prstGeom>
          <a:solidFill>
            <a:srgbClr val="2A5247">
              <a:alpha val="7000"/>
            </a:srgbClr>
          </a:solidFill>
          <a:ln w="3175">
            <a:solidFill>
              <a:srgbClr val="2A5247">
                <a:alpha val="7000"/>
              </a:srgbClr>
            </a:solidFill>
            <a:prstDash val="solid"/>
          </a:ln>
        </p:spPr>
      </p:sp>
      <p:sp>
        <p:nvSpPr>
          <p:cNvPr id="66" name="Text 64"/>
          <p:cNvSpPr txBox="1"/>
          <p:nvPr/>
        </p:nvSpPr>
        <p:spPr>
          <a:xfrm>
            <a:off x="10588752" y="3433572"/>
            <a:ext cx="905256" cy="297180"/>
          </a:xfrm>
          <a:prstGeom prst="rect">
            <a:avLst/>
          </a:prstGeom>
          <a:noFill/>
          <a:ln/>
        </p:spPr>
        <p:txBody>
          <a:bodyPr wrap="square" lIns="0" tIns="0" rIns="0" bIns="0" rtlCol="0" anchor="ctr"/>
          <a:lstStyle/>
          <a:p>
            <a:pPr algn="ctr" indent="0" marL="0">
              <a:buNone/>
            </a:pPr>
            <a:r>
              <a:rPr lang="en-US" sz="750" dirty="0">
                <a:solidFill>
                  <a:srgbClr val="11211C"/>
                </a:solidFill>
              </a:rPr>
              <a:t>0.0030%</a:t>
            </a:r>
            <a:endParaRPr lang="en-US" sz="750" dirty="0"/>
          </a:p>
        </p:txBody>
      </p:sp>
      <p:sp>
        <p:nvSpPr>
          <p:cNvPr id="67" name="Text 65"/>
          <p:cNvSpPr txBox="1"/>
          <p:nvPr/>
        </p:nvSpPr>
        <p:spPr>
          <a:xfrm>
            <a:off x="6492240" y="3758184"/>
            <a:ext cx="1225296" cy="324612"/>
          </a:xfrm>
          <a:prstGeom prst="rect">
            <a:avLst/>
          </a:prstGeom>
          <a:noFill/>
          <a:ln/>
        </p:spPr>
        <p:txBody>
          <a:bodyPr wrap="square" lIns="0" tIns="0" rIns="0" bIns="0" rtlCol="0" anchor="ctr"/>
          <a:lstStyle/>
          <a:p>
            <a:pPr indent="0" marL="0">
              <a:buNone/>
            </a:pPr>
            <a:r>
              <a:rPr lang="en-US" sz="950" dirty="0">
                <a:solidFill>
                  <a:srgbClr val="11211C"/>
                </a:solidFill>
              </a:rPr>
              <a:t>synth-4</a:t>
            </a:r>
            <a:endParaRPr lang="en-US" sz="950" dirty="0"/>
          </a:p>
        </p:txBody>
      </p:sp>
      <p:sp>
        <p:nvSpPr>
          <p:cNvPr id="68" name="Shape 66"/>
          <p:cNvSpPr/>
          <p:nvPr/>
        </p:nvSpPr>
        <p:spPr>
          <a:xfrm>
            <a:off x="7790688" y="3758184"/>
            <a:ext cx="905256" cy="297180"/>
          </a:xfrm>
          <a:prstGeom prst="rect">
            <a:avLst/>
          </a:prstGeom>
          <a:solidFill>
            <a:srgbClr val="2A5247">
              <a:alpha val="61000"/>
            </a:srgbClr>
          </a:solidFill>
          <a:ln w="3175">
            <a:solidFill>
              <a:srgbClr val="2A5247">
                <a:alpha val="61000"/>
              </a:srgbClr>
            </a:solidFill>
            <a:prstDash val="solid"/>
          </a:ln>
        </p:spPr>
      </p:sp>
      <p:sp>
        <p:nvSpPr>
          <p:cNvPr id="69" name="Text 67"/>
          <p:cNvSpPr txBox="1"/>
          <p:nvPr/>
        </p:nvSpPr>
        <p:spPr>
          <a:xfrm>
            <a:off x="7790688" y="3758184"/>
            <a:ext cx="905256" cy="297180"/>
          </a:xfrm>
          <a:prstGeom prst="rect">
            <a:avLst/>
          </a:prstGeom>
          <a:noFill/>
          <a:ln/>
        </p:spPr>
        <p:txBody>
          <a:bodyPr wrap="square" lIns="0" tIns="0" rIns="0" bIns="0" rtlCol="0" anchor="ctr"/>
          <a:lstStyle/>
          <a:p>
            <a:pPr algn="ctr" indent="0" marL="0">
              <a:buNone/>
            </a:pPr>
            <a:r>
              <a:rPr lang="en-US" sz="750" dirty="0">
                <a:solidFill>
                  <a:srgbClr val="FFFFFF"/>
                </a:solidFill>
              </a:rPr>
              <a:t>0.1554%</a:t>
            </a:r>
            <a:endParaRPr lang="en-US" sz="750" dirty="0"/>
          </a:p>
        </p:txBody>
      </p:sp>
      <p:sp>
        <p:nvSpPr>
          <p:cNvPr id="70" name="Shape 68"/>
          <p:cNvSpPr/>
          <p:nvPr/>
        </p:nvSpPr>
        <p:spPr>
          <a:xfrm>
            <a:off x="8723376" y="3758184"/>
            <a:ext cx="905256" cy="297180"/>
          </a:xfrm>
          <a:prstGeom prst="rect">
            <a:avLst/>
          </a:prstGeom>
          <a:solidFill>
            <a:srgbClr val="2A5247">
              <a:alpha val="88000"/>
            </a:srgbClr>
          </a:solidFill>
          <a:ln w="3175">
            <a:solidFill>
              <a:srgbClr val="2A5247">
                <a:alpha val="88000"/>
              </a:srgbClr>
            </a:solidFill>
            <a:prstDash val="solid"/>
          </a:ln>
        </p:spPr>
      </p:sp>
      <p:sp>
        <p:nvSpPr>
          <p:cNvPr id="71" name="Text 69"/>
          <p:cNvSpPr txBox="1"/>
          <p:nvPr/>
        </p:nvSpPr>
        <p:spPr>
          <a:xfrm>
            <a:off x="8723376" y="3758184"/>
            <a:ext cx="905256" cy="297180"/>
          </a:xfrm>
          <a:prstGeom prst="rect">
            <a:avLst/>
          </a:prstGeom>
          <a:noFill/>
          <a:ln/>
        </p:spPr>
        <p:txBody>
          <a:bodyPr wrap="square" lIns="0" tIns="0" rIns="0" bIns="0" rtlCol="0" anchor="ctr"/>
          <a:lstStyle/>
          <a:p>
            <a:pPr algn="ctr" indent="0" marL="0">
              <a:buNone/>
            </a:pPr>
            <a:r>
              <a:rPr lang="en-US" sz="750" dirty="0">
                <a:solidFill>
                  <a:srgbClr val="FFFFFF"/>
                </a:solidFill>
              </a:rPr>
              <a:t>0.2327%</a:t>
            </a:r>
            <a:endParaRPr lang="en-US" sz="750" dirty="0"/>
          </a:p>
        </p:txBody>
      </p:sp>
      <p:sp>
        <p:nvSpPr>
          <p:cNvPr id="72" name="Shape 70"/>
          <p:cNvSpPr/>
          <p:nvPr/>
        </p:nvSpPr>
        <p:spPr>
          <a:xfrm>
            <a:off x="9656064" y="3758184"/>
            <a:ext cx="905256" cy="297180"/>
          </a:xfrm>
          <a:prstGeom prst="rect">
            <a:avLst/>
          </a:prstGeom>
          <a:solidFill>
            <a:srgbClr val="FFFFFF"/>
          </a:solidFill>
          <a:ln w="6350">
            <a:solidFill>
              <a:srgbClr val="E0E6E3"/>
            </a:solidFill>
            <a:prstDash val="solid"/>
          </a:ln>
        </p:spPr>
      </p:sp>
      <p:sp>
        <p:nvSpPr>
          <p:cNvPr id="73" name="Text 71"/>
          <p:cNvSpPr txBox="1"/>
          <p:nvPr/>
        </p:nvSpPr>
        <p:spPr>
          <a:xfrm>
            <a:off x="9656064" y="3758184"/>
            <a:ext cx="905256" cy="297180"/>
          </a:xfrm>
          <a:prstGeom prst="rect">
            <a:avLst/>
          </a:prstGeom>
          <a:noFill/>
          <a:ln/>
        </p:spPr>
        <p:txBody>
          <a:bodyPr wrap="square" lIns="0" tIns="0" rIns="0" bIns="0" rtlCol="0" anchor="ctr"/>
          <a:lstStyle/>
          <a:p>
            <a:pPr algn="ctr" indent="0" marL="0">
              <a:buNone/>
            </a:pPr>
            <a:r>
              <a:rPr lang="en-US" sz="750" i="1" dirty="0">
                <a:solidFill>
                  <a:srgbClr val="A9B5B0"/>
                </a:solidFill>
              </a:rPr>
              <a:t>none</a:t>
            </a:r>
            <a:endParaRPr lang="en-US" sz="750" dirty="0"/>
          </a:p>
        </p:txBody>
      </p:sp>
      <p:sp>
        <p:nvSpPr>
          <p:cNvPr id="74" name="Shape 72"/>
          <p:cNvSpPr/>
          <p:nvPr/>
        </p:nvSpPr>
        <p:spPr>
          <a:xfrm>
            <a:off x="10588752" y="3758184"/>
            <a:ext cx="905256" cy="297180"/>
          </a:xfrm>
          <a:prstGeom prst="rect">
            <a:avLst/>
          </a:prstGeom>
          <a:solidFill>
            <a:srgbClr val="FFFFFF"/>
          </a:solidFill>
          <a:ln w="6350">
            <a:solidFill>
              <a:srgbClr val="E0E6E3"/>
            </a:solidFill>
            <a:prstDash val="solid"/>
          </a:ln>
        </p:spPr>
      </p:sp>
      <p:sp>
        <p:nvSpPr>
          <p:cNvPr id="75" name="Text 73"/>
          <p:cNvSpPr txBox="1"/>
          <p:nvPr/>
        </p:nvSpPr>
        <p:spPr>
          <a:xfrm>
            <a:off x="10588752" y="3758184"/>
            <a:ext cx="905256" cy="297180"/>
          </a:xfrm>
          <a:prstGeom prst="rect">
            <a:avLst/>
          </a:prstGeom>
          <a:noFill/>
          <a:ln/>
        </p:spPr>
        <p:txBody>
          <a:bodyPr wrap="square" lIns="0" tIns="0" rIns="0" bIns="0" rtlCol="0" anchor="ctr"/>
          <a:lstStyle/>
          <a:p>
            <a:pPr algn="ctr" indent="0" marL="0">
              <a:buNone/>
            </a:pPr>
            <a:r>
              <a:rPr lang="en-US" sz="750" i="1" dirty="0">
                <a:solidFill>
                  <a:srgbClr val="A9B5B0"/>
                </a:solidFill>
              </a:rPr>
              <a:t>none</a:t>
            </a:r>
            <a:endParaRPr lang="en-US" sz="750" dirty="0"/>
          </a:p>
        </p:txBody>
      </p:sp>
      <p:sp>
        <p:nvSpPr>
          <p:cNvPr id="76" name="Text 74"/>
          <p:cNvSpPr txBox="1"/>
          <p:nvPr/>
        </p:nvSpPr>
        <p:spPr>
          <a:xfrm>
            <a:off x="6492240" y="4082796"/>
            <a:ext cx="1225296" cy="324612"/>
          </a:xfrm>
          <a:prstGeom prst="rect">
            <a:avLst/>
          </a:prstGeom>
          <a:noFill/>
          <a:ln/>
        </p:spPr>
        <p:txBody>
          <a:bodyPr wrap="square" lIns="0" tIns="0" rIns="0" bIns="0" rtlCol="0" anchor="ctr"/>
          <a:lstStyle/>
          <a:p>
            <a:pPr indent="0" marL="0">
              <a:buNone/>
            </a:pPr>
            <a:r>
              <a:rPr lang="en-US" sz="950" dirty="0">
                <a:solidFill>
                  <a:srgbClr val="11211C"/>
                </a:solidFill>
              </a:rPr>
              <a:t>synth-5</a:t>
            </a:r>
            <a:endParaRPr lang="en-US" sz="950" dirty="0"/>
          </a:p>
        </p:txBody>
      </p:sp>
      <p:sp>
        <p:nvSpPr>
          <p:cNvPr id="77" name="Shape 75"/>
          <p:cNvSpPr/>
          <p:nvPr/>
        </p:nvSpPr>
        <p:spPr>
          <a:xfrm>
            <a:off x="7790688" y="4082796"/>
            <a:ext cx="905256" cy="297180"/>
          </a:xfrm>
          <a:prstGeom prst="rect">
            <a:avLst/>
          </a:prstGeom>
          <a:solidFill>
            <a:srgbClr val="2A5247">
              <a:alpha val="27000"/>
            </a:srgbClr>
          </a:solidFill>
          <a:ln w="3175">
            <a:solidFill>
              <a:srgbClr val="2A5247">
                <a:alpha val="27000"/>
              </a:srgbClr>
            </a:solidFill>
            <a:prstDash val="solid"/>
          </a:ln>
        </p:spPr>
      </p:sp>
      <p:sp>
        <p:nvSpPr>
          <p:cNvPr id="78" name="Text 76"/>
          <p:cNvSpPr txBox="1"/>
          <p:nvPr/>
        </p:nvSpPr>
        <p:spPr>
          <a:xfrm>
            <a:off x="7790688" y="4082796"/>
            <a:ext cx="905256" cy="297180"/>
          </a:xfrm>
          <a:prstGeom prst="rect">
            <a:avLst/>
          </a:prstGeom>
          <a:noFill/>
          <a:ln/>
        </p:spPr>
        <p:txBody>
          <a:bodyPr wrap="square" lIns="0" tIns="0" rIns="0" bIns="0" rtlCol="0" anchor="ctr"/>
          <a:lstStyle/>
          <a:p>
            <a:pPr algn="ctr" indent="0" marL="0">
              <a:buNone/>
            </a:pPr>
            <a:r>
              <a:rPr lang="en-US" sz="750" dirty="0">
                <a:solidFill>
                  <a:srgbClr val="11211C"/>
                </a:solidFill>
              </a:rPr>
              <a:t>0.0593%</a:t>
            </a:r>
            <a:endParaRPr lang="en-US" sz="750" dirty="0"/>
          </a:p>
        </p:txBody>
      </p:sp>
      <p:sp>
        <p:nvSpPr>
          <p:cNvPr id="79" name="Shape 77"/>
          <p:cNvSpPr/>
          <p:nvPr/>
        </p:nvSpPr>
        <p:spPr>
          <a:xfrm>
            <a:off x="8723376" y="4082796"/>
            <a:ext cx="905256" cy="297180"/>
          </a:xfrm>
          <a:prstGeom prst="rect">
            <a:avLst/>
          </a:prstGeom>
          <a:solidFill>
            <a:srgbClr val="2A5247">
              <a:alpha val="54000"/>
            </a:srgbClr>
          </a:solidFill>
          <a:ln w="3175">
            <a:solidFill>
              <a:srgbClr val="2A5247">
                <a:alpha val="54000"/>
              </a:srgbClr>
            </a:solidFill>
            <a:prstDash val="solid"/>
          </a:ln>
        </p:spPr>
      </p:sp>
      <p:sp>
        <p:nvSpPr>
          <p:cNvPr id="80" name="Text 78"/>
          <p:cNvSpPr txBox="1"/>
          <p:nvPr/>
        </p:nvSpPr>
        <p:spPr>
          <a:xfrm>
            <a:off x="8723376" y="4082796"/>
            <a:ext cx="905256" cy="297180"/>
          </a:xfrm>
          <a:prstGeom prst="rect">
            <a:avLst/>
          </a:prstGeom>
          <a:noFill/>
          <a:ln/>
        </p:spPr>
        <p:txBody>
          <a:bodyPr wrap="square" lIns="0" tIns="0" rIns="0" bIns="0" rtlCol="0" anchor="ctr"/>
          <a:lstStyle/>
          <a:p>
            <a:pPr algn="ctr" indent="0" marL="0">
              <a:buNone/>
            </a:pPr>
            <a:r>
              <a:rPr lang="en-US" sz="750" dirty="0">
                <a:solidFill>
                  <a:srgbClr val="11211C"/>
                </a:solidFill>
              </a:rPr>
              <a:t>0.1371%</a:t>
            </a:r>
            <a:endParaRPr lang="en-US" sz="750" dirty="0"/>
          </a:p>
        </p:txBody>
      </p:sp>
      <p:sp>
        <p:nvSpPr>
          <p:cNvPr id="81" name="Shape 79"/>
          <p:cNvSpPr/>
          <p:nvPr/>
        </p:nvSpPr>
        <p:spPr>
          <a:xfrm>
            <a:off x="9656064" y="4082796"/>
            <a:ext cx="905256" cy="297180"/>
          </a:xfrm>
          <a:prstGeom prst="rect">
            <a:avLst/>
          </a:prstGeom>
          <a:solidFill>
            <a:srgbClr val="FFFFFF"/>
          </a:solidFill>
          <a:ln w="6350">
            <a:solidFill>
              <a:srgbClr val="E0E6E3"/>
            </a:solidFill>
            <a:prstDash val="solid"/>
          </a:ln>
        </p:spPr>
      </p:sp>
      <p:sp>
        <p:nvSpPr>
          <p:cNvPr id="82" name="Text 80"/>
          <p:cNvSpPr txBox="1"/>
          <p:nvPr/>
        </p:nvSpPr>
        <p:spPr>
          <a:xfrm>
            <a:off x="9656064" y="4082796"/>
            <a:ext cx="905256" cy="297180"/>
          </a:xfrm>
          <a:prstGeom prst="rect">
            <a:avLst/>
          </a:prstGeom>
          <a:noFill/>
          <a:ln/>
        </p:spPr>
        <p:txBody>
          <a:bodyPr wrap="square" lIns="0" tIns="0" rIns="0" bIns="0" rtlCol="0" anchor="ctr"/>
          <a:lstStyle/>
          <a:p>
            <a:pPr algn="ctr" indent="0" marL="0">
              <a:buNone/>
            </a:pPr>
            <a:r>
              <a:rPr lang="en-US" sz="750" i="1" dirty="0">
                <a:solidFill>
                  <a:srgbClr val="A9B5B0"/>
                </a:solidFill>
              </a:rPr>
              <a:t>none</a:t>
            </a:r>
            <a:endParaRPr lang="en-US" sz="750" dirty="0"/>
          </a:p>
        </p:txBody>
      </p:sp>
      <p:sp>
        <p:nvSpPr>
          <p:cNvPr id="83" name="Shape 81"/>
          <p:cNvSpPr/>
          <p:nvPr/>
        </p:nvSpPr>
        <p:spPr>
          <a:xfrm>
            <a:off x="10588752" y="4082796"/>
            <a:ext cx="905256" cy="297180"/>
          </a:xfrm>
          <a:prstGeom prst="rect">
            <a:avLst/>
          </a:prstGeom>
          <a:solidFill>
            <a:srgbClr val="FFFFFF"/>
          </a:solidFill>
          <a:ln w="6350">
            <a:solidFill>
              <a:srgbClr val="E0E6E3"/>
            </a:solidFill>
            <a:prstDash val="solid"/>
          </a:ln>
        </p:spPr>
      </p:sp>
      <p:sp>
        <p:nvSpPr>
          <p:cNvPr id="84" name="Text 82"/>
          <p:cNvSpPr txBox="1"/>
          <p:nvPr/>
        </p:nvSpPr>
        <p:spPr>
          <a:xfrm>
            <a:off x="10588752" y="4082796"/>
            <a:ext cx="905256" cy="297180"/>
          </a:xfrm>
          <a:prstGeom prst="rect">
            <a:avLst/>
          </a:prstGeom>
          <a:noFill/>
          <a:ln/>
        </p:spPr>
        <p:txBody>
          <a:bodyPr wrap="square" lIns="0" tIns="0" rIns="0" bIns="0" rtlCol="0" anchor="ctr"/>
          <a:lstStyle/>
          <a:p>
            <a:pPr algn="ctr" indent="0" marL="0">
              <a:buNone/>
            </a:pPr>
            <a:r>
              <a:rPr lang="en-US" sz="750" i="1" dirty="0">
                <a:solidFill>
                  <a:srgbClr val="A9B5B0"/>
                </a:solidFill>
              </a:rPr>
              <a:t>none</a:t>
            </a:r>
            <a:endParaRPr lang="en-US" sz="750" dirty="0"/>
          </a:p>
        </p:txBody>
      </p:sp>
      <p:sp>
        <p:nvSpPr>
          <p:cNvPr id="85" name="Text 83"/>
          <p:cNvSpPr txBox="1"/>
          <p:nvPr/>
        </p:nvSpPr>
        <p:spPr>
          <a:xfrm>
            <a:off x="6492240" y="4407408"/>
            <a:ext cx="1225296" cy="324612"/>
          </a:xfrm>
          <a:prstGeom prst="rect">
            <a:avLst/>
          </a:prstGeom>
          <a:noFill/>
          <a:ln/>
        </p:spPr>
        <p:txBody>
          <a:bodyPr wrap="square" lIns="0" tIns="0" rIns="0" bIns="0" rtlCol="0" anchor="ctr"/>
          <a:lstStyle/>
          <a:p>
            <a:pPr indent="0" marL="0">
              <a:buNone/>
            </a:pPr>
            <a:r>
              <a:rPr lang="en-US" sz="950" dirty="0">
                <a:solidFill>
                  <a:srgbClr val="11211C"/>
                </a:solidFill>
              </a:rPr>
              <a:t>synth-6</a:t>
            </a:r>
            <a:endParaRPr lang="en-US" sz="950" dirty="0"/>
          </a:p>
        </p:txBody>
      </p:sp>
      <p:sp>
        <p:nvSpPr>
          <p:cNvPr id="86" name="Shape 84"/>
          <p:cNvSpPr/>
          <p:nvPr/>
        </p:nvSpPr>
        <p:spPr>
          <a:xfrm>
            <a:off x="7790688" y="4407408"/>
            <a:ext cx="905256" cy="297180"/>
          </a:xfrm>
          <a:prstGeom prst="rect">
            <a:avLst/>
          </a:prstGeom>
          <a:solidFill>
            <a:srgbClr val="2A5247">
              <a:alpha val="7000"/>
            </a:srgbClr>
          </a:solidFill>
          <a:ln w="3175">
            <a:solidFill>
              <a:srgbClr val="2A5247">
                <a:alpha val="7000"/>
              </a:srgbClr>
            </a:solidFill>
            <a:prstDash val="solid"/>
          </a:ln>
        </p:spPr>
      </p:sp>
      <p:sp>
        <p:nvSpPr>
          <p:cNvPr id="87" name="Text 85"/>
          <p:cNvSpPr txBox="1"/>
          <p:nvPr/>
        </p:nvSpPr>
        <p:spPr>
          <a:xfrm>
            <a:off x="7790688" y="4407408"/>
            <a:ext cx="905256" cy="297180"/>
          </a:xfrm>
          <a:prstGeom prst="rect">
            <a:avLst/>
          </a:prstGeom>
          <a:noFill/>
          <a:ln/>
        </p:spPr>
        <p:txBody>
          <a:bodyPr wrap="square" lIns="0" tIns="0" rIns="0" bIns="0" rtlCol="0" anchor="ctr"/>
          <a:lstStyle/>
          <a:p>
            <a:pPr algn="ctr" indent="0" marL="0">
              <a:buNone/>
            </a:pPr>
            <a:r>
              <a:rPr lang="en-US" sz="750" dirty="0">
                <a:solidFill>
                  <a:srgbClr val="11211C"/>
                </a:solidFill>
              </a:rPr>
              <a:t>0.0033%</a:t>
            </a:r>
            <a:endParaRPr lang="en-US" sz="750" dirty="0"/>
          </a:p>
        </p:txBody>
      </p:sp>
      <p:sp>
        <p:nvSpPr>
          <p:cNvPr id="88" name="Shape 86"/>
          <p:cNvSpPr/>
          <p:nvPr/>
        </p:nvSpPr>
        <p:spPr>
          <a:xfrm>
            <a:off x="8723376" y="4407408"/>
            <a:ext cx="905256" cy="297180"/>
          </a:xfrm>
          <a:prstGeom prst="rect">
            <a:avLst/>
          </a:prstGeom>
          <a:solidFill>
            <a:srgbClr val="2A5247">
              <a:alpha val="7000"/>
            </a:srgbClr>
          </a:solidFill>
          <a:ln w="3175">
            <a:solidFill>
              <a:srgbClr val="2A5247">
                <a:alpha val="7000"/>
              </a:srgbClr>
            </a:solidFill>
            <a:prstDash val="solid"/>
          </a:ln>
        </p:spPr>
      </p:sp>
      <p:sp>
        <p:nvSpPr>
          <p:cNvPr id="89" name="Text 87"/>
          <p:cNvSpPr txBox="1"/>
          <p:nvPr/>
        </p:nvSpPr>
        <p:spPr>
          <a:xfrm>
            <a:off x="8723376" y="4407408"/>
            <a:ext cx="905256" cy="297180"/>
          </a:xfrm>
          <a:prstGeom prst="rect">
            <a:avLst/>
          </a:prstGeom>
          <a:noFill/>
          <a:ln/>
        </p:spPr>
        <p:txBody>
          <a:bodyPr wrap="square" lIns="0" tIns="0" rIns="0" bIns="0" rtlCol="0" anchor="ctr"/>
          <a:lstStyle/>
          <a:p>
            <a:pPr algn="ctr" indent="0" marL="0">
              <a:buNone/>
            </a:pPr>
            <a:r>
              <a:rPr lang="en-US" sz="750" dirty="0">
                <a:solidFill>
                  <a:srgbClr val="11211C"/>
                </a:solidFill>
              </a:rPr>
              <a:t>0.0034%</a:t>
            </a:r>
            <a:endParaRPr lang="en-US" sz="750" dirty="0"/>
          </a:p>
        </p:txBody>
      </p:sp>
      <p:sp>
        <p:nvSpPr>
          <p:cNvPr id="90" name="Shape 88"/>
          <p:cNvSpPr/>
          <p:nvPr/>
        </p:nvSpPr>
        <p:spPr>
          <a:xfrm>
            <a:off x="9656064" y="4407408"/>
            <a:ext cx="905256" cy="297180"/>
          </a:xfrm>
          <a:prstGeom prst="rect">
            <a:avLst/>
          </a:prstGeom>
          <a:solidFill>
            <a:srgbClr val="FFFFFF"/>
          </a:solidFill>
          <a:ln w="6350">
            <a:solidFill>
              <a:srgbClr val="E0E6E3"/>
            </a:solidFill>
            <a:prstDash val="solid"/>
          </a:ln>
        </p:spPr>
      </p:sp>
      <p:sp>
        <p:nvSpPr>
          <p:cNvPr id="91" name="Text 89"/>
          <p:cNvSpPr txBox="1"/>
          <p:nvPr/>
        </p:nvSpPr>
        <p:spPr>
          <a:xfrm>
            <a:off x="9656064" y="4407408"/>
            <a:ext cx="905256" cy="297180"/>
          </a:xfrm>
          <a:prstGeom prst="rect">
            <a:avLst/>
          </a:prstGeom>
          <a:noFill/>
          <a:ln/>
        </p:spPr>
        <p:txBody>
          <a:bodyPr wrap="square" lIns="0" tIns="0" rIns="0" bIns="0" rtlCol="0" anchor="ctr"/>
          <a:lstStyle/>
          <a:p>
            <a:pPr algn="ctr" indent="0" marL="0">
              <a:buNone/>
            </a:pPr>
            <a:r>
              <a:rPr lang="en-US" sz="750" i="1" dirty="0">
                <a:solidFill>
                  <a:srgbClr val="A9B5B0"/>
                </a:solidFill>
              </a:rPr>
              <a:t>none</a:t>
            </a:r>
            <a:endParaRPr lang="en-US" sz="750" dirty="0"/>
          </a:p>
        </p:txBody>
      </p:sp>
      <p:sp>
        <p:nvSpPr>
          <p:cNvPr id="92" name="Shape 90"/>
          <p:cNvSpPr/>
          <p:nvPr/>
        </p:nvSpPr>
        <p:spPr>
          <a:xfrm>
            <a:off x="10588752" y="4407408"/>
            <a:ext cx="905256" cy="297180"/>
          </a:xfrm>
          <a:prstGeom prst="rect">
            <a:avLst/>
          </a:prstGeom>
          <a:solidFill>
            <a:srgbClr val="FFFFFF"/>
          </a:solidFill>
          <a:ln w="6350">
            <a:solidFill>
              <a:srgbClr val="E0E6E3"/>
            </a:solidFill>
            <a:prstDash val="solid"/>
          </a:ln>
        </p:spPr>
      </p:sp>
      <p:sp>
        <p:nvSpPr>
          <p:cNvPr id="93" name="Text 91"/>
          <p:cNvSpPr txBox="1"/>
          <p:nvPr/>
        </p:nvSpPr>
        <p:spPr>
          <a:xfrm>
            <a:off x="10588752" y="4407408"/>
            <a:ext cx="905256" cy="297180"/>
          </a:xfrm>
          <a:prstGeom prst="rect">
            <a:avLst/>
          </a:prstGeom>
          <a:noFill/>
          <a:ln/>
        </p:spPr>
        <p:txBody>
          <a:bodyPr wrap="square" lIns="0" tIns="0" rIns="0" bIns="0" rtlCol="0" anchor="ctr"/>
          <a:lstStyle/>
          <a:p>
            <a:pPr algn="ctr" indent="0" marL="0">
              <a:buNone/>
            </a:pPr>
            <a:r>
              <a:rPr lang="en-US" sz="750" i="1" dirty="0">
                <a:solidFill>
                  <a:srgbClr val="A9B5B0"/>
                </a:solidFill>
              </a:rPr>
              <a:t>none</a:t>
            </a:r>
            <a:endParaRPr lang="en-US" sz="750" dirty="0"/>
          </a:p>
        </p:txBody>
      </p:sp>
      <p:sp>
        <p:nvSpPr>
          <p:cNvPr id="94" name="Text 92"/>
          <p:cNvSpPr txBox="1"/>
          <p:nvPr/>
        </p:nvSpPr>
        <p:spPr>
          <a:xfrm>
            <a:off x="6492240" y="4732020"/>
            <a:ext cx="1225296" cy="324612"/>
          </a:xfrm>
          <a:prstGeom prst="rect">
            <a:avLst/>
          </a:prstGeom>
          <a:noFill/>
          <a:ln/>
        </p:spPr>
        <p:txBody>
          <a:bodyPr wrap="square" lIns="0" tIns="0" rIns="0" bIns="0" rtlCol="0" anchor="ctr"/>
          <a:lstStyle/>
          <a:p>
            <a:pPr indent="0" marL="0">
              <a:buNone/>
            </a:pPr>
            <a:r>
              <a:rPr lang="en-US" sz="950" dirty="0">
                <a:solidFill>
                  <a:srgbClr val="11211C"/>
                </a:solidFill>
              </a:rPr>
              <a:t>synth-7</a:t>
            </a:r>
            <a:endParaRPr lang="en-US" sz="950" dirty="0"/>
          </a:p>
        </p:txBody>
      </p:sp>
      <p:sp>
        <p:nvSpPr>
          <p:cNvPr id="95" name="Shape 93"/>
          <p:cNvSpPr/>
          <p:nvPr/>
        </p:nvSpPr>
        <p:spPr>
          <a:xfrm>
            <a:off x="7790688" y="4732020"/>
            <a:ext cx="905256" cy="297180"/>
          </a:xfrm>
          <a:prstGeom prst="rect">
            <a:avLst/>
          </a:prstGeom>
          <a:solidFill>
            <a:srgbClr val="FFFFFF"/>
          </a:solidFill>
          <a:ln w="6350">
            <a:solidFill>
              <a:srgbClr val="E0E6E3"/>
            </a:solidFill>
            <a:prstDash val="solid"/>
          </a:ln>
        </p:spPr>
      </p:sp>
      <p:sp>
        <p:nvSpPr>
          <p:cNvPr id="96" name="Text 94"/>
          <p:cNvSpPr txBox="1"/>
          <p:nvPr/>
        </p:nvSpPr>
        <p:spPr>
          <a:xfrm>
            <a:off x="7790688" y="4732020"/>
            <a:ext cx="905256" cy="297180"/>
          </a:xfrm>
          <a:prstGeom prst="rect">
            <a:avLst/>
          </a:prstGeom>
          <a:noFill/>
          <a:ln/>
        </p:spPr>
        <p:txBody>
          <a:bodyPr wrap="square" lIns="0" tIns="0" rIns="0" bIns="0" rtlCol="0" anchor="ctr"/>
          <a:lstStyle/>
          <a:p>
            <a:pPr algn="ctr" indent="0" marL="0">
              <a:buNone/>
            </a:pPr>
            <a:r>
              <a:rPr lang="en-US" sz="750" i="1" dirty="0">
                <a:solidFill>
                  <a:srgbClr val="A9B5B0"/>
                </a:solidFill>
              </a:rPr>
              <a:t>none</a:t>
            </a:r>
            <a:endParaRPr lang="en-US" sz="750" dirty="0"/>
          </a:p>
        </p:txBody>
      </p:sp>
      <p:sp>
        <p:nvSpPr>
          <p:cNvPr id="97" name="Shape 95"/>
          <p:cNvSpPr/>
          <p:nvPr/>
        </p:nvSpPr>
        <p:spPr>
          <a:xfrm>
            <a:off x="8723376" y="4732020"/>
            <a:ext cx="905256" cy="297180"/>
          </a:xfrm>
          <a:prstGeom prst="rect">
            <a:avLst/>
          </a:prstGeom>
          <a:solidFill>
            <a:srgbClr val="FFFFFF"/>
          </a:solidFill>
          <a:ln w="6350">
            <a:solidFill>
              <a:srgbClr val="E0E6E3"/>
            </a:solidFill>
            <a:prstDash val="solid"/>
          </a:ln>
        </p:spPr>
      </p:sp>
      <p:sp>
        <p:nvSpPr>
          <p:cNvPr id="98" name="Text 96"/>
          <p:cNvSpPr txBox="1"/>
          <p:nvPr/>
        </p:nvSpPr>
        <p:spPr>
          <a:xfrm>
            <a:off x="8723376" y="4732020"/>
            <a:ext cx="905256" cy="297180"/>
          </a:xfrm>
          <a:prstGeom prst="rect">
            <a:avLst/>
          </a:prstGeom>
          <a:noFill/>
          <a:ln/>
        </p:spPr>
        <p:txBody>
          <a:bodyPr wrap="square" lIns="0" tIns="0" rIns="0" bIns="0" rtlCol="0" anchor="ctr"/>
          <a:lstStyle/>
          <a:p>
            <a:pPr algn="ctr" indent="0" marL="0">
              <a:buNone/>
            </a:pPr>
            <a:r>
              <a:rPr lang="en-US" sz="750" i="1" dirty="0">
                <a:solidFill>
                  <a:srgbClr val="A9B5B0"/>
                </a:solidFill>
              </a:rPr>
              <a:t>none</a:t>
            </a:r>
            <a:endParaRPr lang="en-US" sz="750" dirty="0"/>
          </a:p>
        </p:txBody>
      </p:sp>
      <p:sp>
        <p:nvSpPr>
          <p:cNvPr id="99" name="Shape 97"/>
          <p:cNvSpPr/>
          <p:nvPr/>
        </p:nvSpPr>
        <p:spPr>
          <a:xfrm>
            <a:off x="9656064" y="4732020"/>
            <a:ext cx="905256" cy="297180"/>
          </a:xfrm>
          <a:prstGeom prst="rect">
            <a:avLst/>
          </a:prstGeom>
          <a:solidFill>
            <a:srgbClr val="FFFFFF"/>
          </a:solidFill>
          <a:ln w="6350">
            <a:solidFill>
              <a:srgbClr val="E0E6E3"/>
            </a:solidFill>
            <a:prstDash val="solid"/>
          </a:ln>
        </p:spPr>
      </p:sp>
      <p:sp>
        <p:nvSpPr>
          <p:cNvPr id="100" name="Text 98"/>
          <p:cNvSpPr txBox="1"/>
          <p:nvPr/>
        </p:nvSpPr>
        <p:spPr>
          <a:xfrm>
            <a:off x="9656064" y="4732020"/>
            <a:ext cx="905256" cy="297180"/>
          </a:xfrm>
          <a:prstGeom prst="rect">
            <a:avLst/>
          </a:prstGeom>
          <a:noFill/>
          <a:ln/>
        </p:spPr>
        <p:txBody>
          <a:bodyPr wrap="square" lIns="0" tIns="0" rIns="0" bIns="0" rtlCol="0" anchor="ctr"/>
          <a:lstStyle/>
          <a:p>
            <a:pPr algn="ctr" indent="0" marL="0">
              <a:buNone/>
            </a:pPr>
            <a:r>
              <a:rPr lang="en-US" sz="750" i="1" dirty="0">
                <a:solidFill>
                  <a:srgbClr val="A9B5B0"/>
                </a:solidFill>
              </a:rPr>
              <a:t>none</a:t>
            </a:r>
            <a:endParaRPr lang="en-US" sz="750" dirty="0"/>
          </a:p>
        </p:txBody>
      </p:sp>
      <p:sp>
        <p:nvSpPr>
          <p:cNvPr id="101" name="Shape 99"/>
          <p:cNvSpPr/>
          <p:nvPr/>
        </p:nvSpPr>
        <p:spPr>
          <a:xfrm>
            <a:off x="10588752" y="4732020"/>
            <a:ext cx="905256" cy="297180"/>
          </a:xfrm>
          <a:prstGeom prst="rect">
            <a:avLst/>
          </a:prstGeom>
          <a:solidFill>
            <a:srgbClr val="FFFFFF"/>
          </a:solidFill>
          <a:ln w="6350">
            <a:solidFill>
              <a:srgbClr val="E0E6E3"/>
            </a:solidFill>
            <a:prstDash val="solid"/>
          </a:ln>
        </p:spPr>
      </p:sp>
      <p:sp>
        <p:nvSpPr>
          <p:cNvPr id="102" name="Text 100"/>
          <p:cNvSpPr txBox="1"/>
          <p:nvPr/>
        </p:nvSpPr>
        <p:spPr>
          <a:xfrm>
            <a:off x="10588752" y="4732020"/>
            <a:ext cx="905256" cy="297180"/>
          </a:xfrm>
          <a:prstGeom prst="rect">
            <a:avLst/>
          </a:prstGeom>
          <a:noFill/>
          <a:ln/>
        </p:spPr>
        <p:txBody>
          <a:bodyPr wrap="square" lIns="0" tIns="0" rIns="0" bIns="0" rtlCol="0" anchor="ctr"/>
          <a:lstStyle/>
          <a:p>
            <a:pPr algn="ctr" indent="0" marL="0">
              <a:buNone/>
            </a:pPr>
            <a:r>
              <a:rPr lang="en-US" sz="750" i="1" dirty="0">
                <a:solidFill>
                  <a:srgbClr val="A9B5B0"/>
                </a:solidFill>
              </a:rPr>
              <a:t>none</a:t>
            </a:r>
            <a:endParaRPr lang="en-US" sz="750" dirty="0"/>
          </a:p>
        </p:txBody>
      </p:sp>
      <p:sp>
        <p:nvSpPr>
          <p:cNvPr id="103" name="Text 101"/>
          <p:cNvSpPr txBox="1"/>
          <p:nvPr/>
        </p:nvSpPr>
        <p:spPr>
          <a:xfrm>
            <a:off x="6492240" y="5129784"/>
            <a:ext cx="5029200" cy="219456"/>
          </a:xfrm>
          <a:prstGeom prst="rect">
            <a:avLst/>
          </a:prstGeom>
          <a:noFill/>
          <a:ln/>
        </p:spPr>
        <p:txBody>
          <a:bodyPr wrap="square" lIns="0" tIns="0" rIns="0" bIns="0" rtlCol="0" anchor="ctr"/>
          <a:lstStyle/>
          <a:p>
            <a:pPr indent="0" marL="0">
              <a:buNone/>
            </a:pPr>
            <a:r>
              <a:rPr lang="en-US" sz="900" i="1" dirty="0">
                <a:solidFill>
                  <a:srgbClr val="6B7A75"/>
                </a:solidFill>
              </a:rPr>
              <a:t>accept rate of each operator run alone, % of candidates kept</a:t>
            </a:r>
            <a:endParaRPr lang="en-US" sz="900" dirty="0"/>
          </a:p>
        </p:txBody>
      </p:sp>
      <p:sp>
        <p:nvSpPr>
          <p:cNvPr id="25" name="Slide Number Placeholder 0"/>
          <p:cNvSpPr>
            <a:spLocks noGrp="1"/>
          </p:cNvSpPr>
          <p:nvPr>
            <p:ph type="sldNum" sz="quarter" idx="4294967295"/>
          </p:nvPr>
        </p:nvSpPr>
        <p:spPr>
          <a:xfrm>
            <a:off x="11167567" y="6437376"/>
            <a:ext cx="45720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6B7A7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66928" y="420624"/>
            <a:ext cx="11057839" cy="658368"/>
          </a:xfrm>
          <a:prstGeom prst="rect">
            <a:avLst/>
          </a:prstGeom>
          <a:noFill/>
          <a:ln/>
        </p:spPr>
        <p:txBody>
          <a:bodyPr wrap="square" lIns="0" tIns="0" rIns="0" bIns="0" rtlCol="0" anchor="ctr"/>
          <a:lstStyle/>
          <a:p>
            <a:pPr indent="0" marL="0">
              <a:buNone/>
            </a:pPr>
            <a:r>
              <a:rPr lang="en-US" sz="2600" b="1" dirty="0">
                <a:solidFill>
                  <a:srgbClr val="11211C"/>
                </a:solidFill>
                <a:latin typeface="Cambria" pitchFamily="34" charset="0"/>
                <a:ea typeface="Cambria" pitchFamily="34" charset="-122"/>
                <a:cs typeface="Cambria" pitchFamily="34" charset="-120"/>
              </a:rPr>
              <a:t>Two findings that are about the problem, not the search</a:t>
            </a:r>
            <a:endParaRPr lang="en-US" sz="2600" dirty="0"/>
          </a:p>
        </p:txBody>
      </p:sp>
      <p:sp>
        <p:nvSpPr>
          <p:cNvPr id="3" name="Text 1"/>
          <p:cNvSpPr txBox="1"/>
          <p:nvPr/>
        </p:nvSpPr>
        <p:spPr>
          <a:xfrm>
            <a:off x="566928" y="1298448"/>
            <a:ext cx="5577840" cy="274320"/>
          </a:xfrm>
          <a:prstGeom prst="rect">
            <a:avLst/>
          </a:prstGeom>
          <a:noFill/>
          <a:ln/>
        </p:spPr>
        <p:txBody>
          <a:bodyPr wrap="square" lIns="0" tIns="0" rIns="0" bIns="0" rtlCol="0" anchor="ctr"/>
          <a:lstStyle/>
          <a:p>
            <a:pPr indent="0" marL="0">
              <a:buNone/>
            </a:pPr>
            <a:r>
              <a:rPr lang="en-US" sz="1500" b="1" dirty="0">
                <a:solidFill>
                  <a:srgbClr val="C0603C"/>
                </a:solidFill>
                <a:latin typeface="Cambria" pitchFamily="34" charset="0"/>
                <a:ea typeface="Cambria" pitchFamily="34" charset="-122"/>
                <a:cs typeface="Cambria" pitchFamily="34" charset="-120"/>
              </a:rPr>
              <a:t>Plain k-opt does not transfer here</a:t>
            </a:r>
            <a:endParaRPr lang="en-US" sz="1500" dirty="0"/>
          </a:p>
        </p:txBody>
      </p:sp>
      <p:sp>
        <p:nvSpPr>
          <p:cNvPr id="4" name="Text 2"/>
          <p:cNvSpPr txBox="1"/>
          <p:nvPr/>
        </p:nvSpPr>
        <p:spPr>
          <a:xfrm>
            <a:off x="566928" y="1664208"/>
            <a:ext cx="5577840" cy="2286000"/>
          </a:xfrm>
          <a:prstGeom prst="rect">
            <a:avLst/>
          </a:prstGeom>
          <a:noFill/>
          <a:ln/>
        </p:spPr>
        <p:txBody>
          <a:bodyPr wrap="square" lIns="0" tIns="0" rIns="0" bIns="0" rtlCol="0" anchor="ctr"/>
          <a:lstStyle/>
          <a:p>
            <a:pPr indent="0" marL="0">
              <a:lnSpc>
                <a:spcPts val="1800"/>
              </a:lnSpc>
              <a:buNone/>
            </a:pPr>
            <a:r>
              <a:rPr lang="en-US" sz="1250" dirty="0">
                <a:solidFill>
                  <a:srgbClr val="11211C"/>
                </a:solidFill>
              </a:rPr>
              <a:t>In the travelling-salesman setting 2-opt is attractive because exchanging two edges updates the objective in constant time. Here eliminating a vertex merges its surviving neighbours into a clique, so one change cascades through every later step. A move rearranging a span of L positions costs O(L) however many edges it nominally exchanges. What does transfer is k-opt confined to a bounded window, which is what reverse_segment already was.</a:t>
            </a:r>
            <a:endParaRPr lang="en-US" sz="1250" dirty="0"/>
          </a:p>
        </p:txBody>
      </p:sp>
      <p:sp>
        <p:nvSpPr>
          <p:cNvPr id="5" name="Text 3"/>
          <p:cNvSpPr txBox="1"/>
          <p:nvPr/>
        </p:nvSpPr>
        <p:spPr>
          <a:xfrm>
            <a:off x="6400800" y="1298448"/>
            <a:ext cx="5239512" cy="274320"/>
          </a:xfrm>
          <a:prstGeom prst="rect">
            <a:avLst/>
          </a:prstGeom>
          <a:noFill/>
          <a:ln/>
        </p:spPr>
        <p:txBody>
          <a:bodyPr wrap="square" lIns="0" tIns="0" rIns="0" bIns="0" rtlCol="0" anchor="ctr"/>
          <a:lstStyle/>
          <a:p>
            <a:pPr indent="0" marL="0">
              <a:buNone/>
            </a:pPr>
            <a:r>
              <a:rPr lang="en-US" sz="1500" b="1" dirty="0">
                <a:solidFill>
                  <a:srgbClr val="3E8E72"/>
                </a:solidFill>
                <a:latin typeface="Cambria" pitchFamily="34" charset="0"/>
                <a:ea typeface="Cambria" pitchFamily="34" charset="-122"/>
                <a:cs typeface="Cambria" pitchFamily="34" charset="-120"/>
              </a:rPr>
              <a:t>A delta evaluator, from one structural fact</a:t>
            </a:r>
            <a:endParaRPr lang="en-US" sz="1500" dirty="0"/>
          </a:p>
        </p:txBody>
      </p:sp>
      <p:sp>
        <p:nvSpPr>
          <p:cNvPr id="6" name="Text 4"/>
          <p:cNvSpPr txBox="1"/>
          <p:nvPr/>
        </p:nvSpPr>
        <p:spPr>
          <a:xfrm>
            <a:off x="6400800" y="1664208"/>
            <a:ext cx="5239512" cy="1920240"/>
          </a:xfrm>
          <a:prstGeom prst="rect">
            <a:avLst/>
          </a:prstGeom>
          <a:noFill/>
          <a:ln/>
        </p:spPr>
        <p:txBody>
          <a:bodyPr wrap="square" lIns="0" tIns="0" rIns="0" bIns="0" rtlCol="0" anchor="ctr"/>
          <a:lstStyle/>
          <a:p>
            <a:pPr indent="0" marL="0">
              <a:lnSpc>
                <a:spcPts val="1800"/>
              </a:lnSpc>
              <a:buNone/>
            </a:pPr>
            <a:r>
              <a:rPr lang="en-US" sz="1250" dirty="0">
                <a:solidFill>
                  <a:srgbClr val="11211C"/>
                </a:solidFill>
              </a:rPr>
              <a:t>The torso over a set S does not depend on the order within S: two survivors are adjacent exactly when some path joins them through S, which says nothing about order. So the degree at a position depends only on the vertex there and the SET below it. A windowed move therefore changes nothing outside its window, not even after it.</a:t>
            </a:r>
            <a:endParaRPr lang="en-US" sz="1250" dirty="0"/>
          </a:p>
        </p:txBody>
      </p:sp>
      <p:sp>
        <p:nvSpPr>
          <p:cNvPr id="7" name="Shape 5"/>
          <p:cNvSpPr/>
          <p:nvPr/>
        </p:nvSpPr>
        <p:spPr>
          <a:xfrm>
            <a:off x="6400800" y="3675888"/>
            <a:ext cx="5239512" cy="1298448"/>
          </a:xfrm>
          <a:prstGeom prst="roundRect">
            <a:avLst>
              <a:gd name="adj" fmla="val 2817"/>
            </a:avLst>
          </a:prstGeom>
          <a:solidFill>
            <a:srgbClr val="1F3A33"/>
          </a:solidFill>
          <a:ln w="6350">
            <a:solidFill>
              <a:srgbClr val="1F3A33"/>
            </a:solidFill>
            <a:prstDash val="solid"/>
          </a:ln>
        </p:spPr>
      </p:sp>
      <p:sp>
        <p:nvSpPr>
          <p:cNvPr id="8" name="Text 6"/>
          <p:cNvSpPr txBox="1"/>
          <p:nvPr/>
        </p:nvSpPr>
        <p:spPr>
          <a:xfrm>
            <a:off x="6638544" y="3803904"/>
            <a:ext cx="1371600" cy="5486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1.81×</a:t>
            </a:r>
            <a:endParaRPr lang="en-US" sz="3000" dirty="0"/>
          </a:p>
        </p:txBody>
      </p:sp>
      <p:sp>
        <p:nvSpPr>
          <p:cNvPr id="9" name="Text 7"/>
          <p:cNvSpPr txBox="1"/>
          <p:nvPr/>
        </p:nvSpPr>
        <p:spPr>
          <a:xfrm>
            <a:off x="7973568" y="3840480"/>
            <a:ext cx="3520440" cy="1005840"/>
          </a:xfrm>
          <a:prstGeom prst="rect">
            <a:avLst/>
          </a:prstGeom>
          <a:noFill/>
          <a:ln/>
        </p:spPr>
        <p:txBody>
          <a:bodyPr wrap="square" lIns="0" tIns="0" rIns="0" bIns="0" rtlCol="0" anchor="ctr"/>
          <a:lstStyle/>
          <a:p>
            <a:pPr indent="0" marL="0">
              <a:lnSpc>
                <a:spcPts val="1500"/>
              </a:lnSpc>
              <a:buNone/>
            </a:pPr>
            <a:r>
              <a:rPr lang="en-US" sz="1050" dirty="0">
                <a:solidFill>
                  <a:srgbClr val="8FB8A6"/>
                </a:solidFill>
              </a:rPr>
              <a:t>more candidates in the same wall-clock, geometric mean over ten instances; step degrees bit-identical, checked on 612 evaluations and 150 chained permutations</a:t>
            </a:r>
            <a:endParaRPr lang="en-US" sz="1050" dirty="0"/>
          </a:p>
        </p:txBody>
      </p:sp>
      <p:sp>
        <p:nvSpPr>
          <p:cNvPr id="10" name="Text 8"/>
          <p:cNvSpPr txBox="1"/>
          <p:nvPr/>
        </p:nvSpPr>
        <p:spPr>
          <a:xfrm>
            <a:off x="566928" y="4133088"/>
            <a:ext cx="5577840" cy="822960"/>
          </a:xfrm>
          <a:prstGeom prst="rect">
            <a:avLst/>
          </a:prstGeom>
          <a:noFill/>
          <a:ln/>
        </p:spPr>
        <p:txBody>
          <a:bodyPr wrap="square" lIns="0" tIns="0" rIns="0" bIns="0" rtlCol="0" anchor="ctr"/>
          <a:lstStyle/>
          <a:p>
            <a:pPr indent="0" marL="0">
              <a:lnSpc>
                <a:spcPts val="1700"/>
              </a:lnSpc>
              <a:buNone/>
            </a:pPr>
            <a:r>
              <a:rPr lang="en-US" sz="1200" i="1" dirty="0">
                <a:solidFill>
                  <a:srgbClr val="6B7A75"/>
                </a:solidFill>
              </a:rPr>
              <a:t>Replaying to the end of the order saves almost nothing, because the elimination walk's cost peaks in the middle positions. Stopping at the window's right edge is the whole trick.</a:t>
            </a:r>
            <a:endParaRPr lang="en-US" sz="1200" dirty="0"/>
          </a:p>
        </p:txBody>
      </p:sp>
      <p:sp>
        <p:nvSpPr>
          <p:cNvPr id="25" name="Slide Number Placeholder 0"/>
          <p:cNvSpPr>
            <a:spLocks noGrp="1"/>
          </p:cNvSpPr>
          <p:nvPr>
            <p:ph type="sldNum" sz="quarter" idx="4294967295"/>
          </p:nvPr>
        </p:nvSpPr>
        <p:spPr>
          <a:xfrm>
            <a:off x="11167567" y="6437376"/>
            <a:ext cx="45720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6B7A7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420624"/>
            <a:ext cx="11057839" cy="658368"/>
          </a:xfrm>
          <a:prstGeom prst="rect">
            <a:avLst/>
          </a:prstGeom>
          <a:noFill/>
          <a:ln/>
        </p:spPr>
        <p:txBody>
          <a:bodyPr wrap="square" lIns="0" tIns="0" rIns="0" bIns="0" rtlCol="0" anchor="ctr"/>
          <a:lstStyle/>
          <a:p>
            <a:pPr indent="0" marL="0">
              <a:buNone/>
            </a:pPr>
            <a:r>
              <a:rPr lang="en-US" sz="2600" b="1" dirty="0">
                <a:solidFill>
                  <a:srgbClr val="11211C"/>
                </a:solidFill>
                <a:latin typeface="Cambria" pitchFamily="34" charset="0"/>
                <a:ea typeface="Cambria" pitchFamily="34" charset="-122"/>
                <a:cs typeface="Cambria" pitchFamily="34" charset="-120"/>
              </a:rPr>
              <a:t>Does more time let search catch construction</a:t>
            </a:r>
            <a:endParaRPr lang="en-US" sz="2600" dirty="0"/>
          </a:p>
        </p:txBody>
      </p:sp>
      <p:sp>
        <p:nvSpPr>
          <p:cNvPr id="3" name="Text 1"/>
          <p:cNvSpPr txBox="1"/>
          <p:nvPr/>
        </p:nvSpPr>
        <p:spPr>
          <a:xfrm>
            <a:off x="566928" y="1280160"/>
            <a:ext cx="5577840" cy="786384"/>
          </a:xfrm>
          <a:prstGeom prst="rect">
            <a:avLst/>
          </a:prstGeom>
          <a:noFill/>
          <a:ln/>
        </p:spPr>
        <p:txBody>
          <a:bodyPr wrap="square" lIns="0" tIns="0" rIns="0" bIns="0" rtlCol="0" anchor="ctr"/>
          <a:lstStyle/>
          <a:p>
            <a:pPr indent="0" marL="0">
              <a:lnSpc>
                <a:spcPts val="1800"/>
              </a:lnSpc>
              <a:buNone/>
            </a:pPr>
            <a:r>
              <a:rPr lang="en-US" sz="1250" dirty="0">
                <a:solidFill>
                  <a:srgbClr val="11211C"/>
                </a:solidFill>
              </a:rPr>
              <a:t>The obvious objection to a single-budget result. Four arms, ten instances, three seeds, at 1,200 / 3,600 / 12,000 seconds, all concurrent on one 64-core machine.</a:t>
            </a:r>
            <a:endParaRPr lang="en-US" sz="1250" dirty="0"/>
          </a:p>
        </p:txBody>
      </p:sp>
      <p:sp>
        <p:nvSpPr>
          <p:cNvPr id="4" name="Text 2"/>
          <p:cNvSpPr txBox="1"/>
          <p:nvPr/>
        </p:nvSpPr>
        <p:spPr>
          <a:xfrm>
            <a:off x="566928" y="2157984"/>
            <a:ext cx="5577840" cy="402336"/>
          </a:xfrm>
          <a:prstGeom prst="rect">
            <a:avLst/>
          </a:prstGeom>
          <a:noFill/>
          <a:ln/>
        </p:spPr>
        <p:txBody>
          <a:bodyPr wrap="square" lIns="0" tIns="0" rIns="0" bIns="0" rtlCol="0" anchor="ctr"/>
          <a:lstStyle/>
          <a:p>
            <a:pPr indent="0" marL="0">
              <a:buNone/>
            </a:pPr>
            <a:r>
              <a:rPr lang="en-US" sz="2100" b="1" dirty="0">
                <a:solidFill>
                  <a:srgbClr val="C0603C"/>
                </a:solidFill>
                <a:latin typeface="Cambria" pitchFamily="34" charset="0"/>
                <a:ea typeface="Cambria" pitchFamily="34" charset="-122"/>
                <a:cs typeface="Cambria" pitchFamily="34" charset="-120"/>
              </a:rPr>
              <a:t>No, but the reason matters.</a:t>
            </a:r>
            <a:endParaRPr lang="en-US" sz="2100" dirty="0"/>
          </a:p>
        </p:txBody>
      </p:sp>
      <p:sp>
        <p:nvSpPr>
          <p:cNvPr id="5" name="Text 3"/>
          <p:cNvSpPr txBox="1"/>
          <p:nvPr/>
        </p:nvSpPr>
        <p:spPr>
          <a:xfrm>
            <a:off x="566928" y="2706624"/>
            <a:ext cx="237744" cy="237744"/>
          </a:xfrm>
          <a:prstGeom prst="rect">
            <a:avLst/>
          </a:prstGeom>
          <a:noFill/>
          <a:ln/>
        </p:spPr>
        <p:txBody>
          <a:bodyPr wrap="square" lIns="0" tIns="0" rIns="0" bIns="0" rtlCol="0" anchor="ctr"/>
          <a:lstStyle/>
          <a:p>
            <a:pPr indent="0" marL="0">
              <a:buNone/>
            </a:pPr>
            <a:r>
              <a:rPr lang="en-US" sz="1100" b="1" dirty="0">
                <a:solidFill>
                  <a:srgbClr val="3E8E72"/>
                </a:solidFill>
              </a:rPr>
              <a:t>1</a:t>
            </a:r>
            <a:endParaRPr lang="en-US" sz="1100" dirty="0"/>
          </a:p>
        </p:txBody>
      </p:sp>
      <p:sp>
        <p:nvSpPr>
          <p:cNvPr id="6" name="Text 4"/>
          <p:cNvSpPr txBox="1"/>
          <p:nvPr/>
        </p:nvSpPr>
        <p:spPr>
          <a:xfrm>
            <a:off x="896112" y="2670048"/>
            <a:ext cx="5248656" cy="768096"/>
          </a:xfrm>
          <a:prstGeom prst="rect">
            <a:avLst/>
          </a:prstGeom>
          <a:noFill/>
          <a:ln/>
        </p:spPr>
        <p:txBody>
          <a:bodyPr wrap="square" lIns="0" tIns="0" rIns="0" bIns="0" rtlCol="0" anchor="ctr"/>
          <a:lstStyle/>
          <a:p>
            <a:pPr indent="0" marL="0">
              <a:lnSpc>
                <a:spcPts val="1700"/>
              </a:lnSpc>
              <a:buNone/>
            </a:pPr>
            <a:r>
              <a:rPr lang="en-US" sz="1200" dirty="0">
                <a:solidFill>
                  <a:srgbClr val="11211C"/>
                </a:solidFill>
              </a:rPr>
              <a:t>More time does help search: the baseline itself improves by 33,043 HV over the ten-fold range, well beyond the floor. The budget was doing real work.</a:t>
            </a:r>
            <a:endParaRPr lang="en-US" sz="1200" dirty="0"/>
          </a:p>
        </p:txBody>
      </p:sp>
      <p:sp>
        <p:nvSpPr>
          <p:cNvPr id="7" name="Text 5"/>
          <p:cNvSpPr txBox="1"/>
          <p:nvPr/>
        </p:nvSpPr>
        <p:spPr>
          <a:xfrm>
            <a:off x="566928" y="3547872"/>
            <a:ext cx="237744" cy="237744"/>
          </a:xfrm>
          <a:prstGeom prst="rect">
            <a:avLst/>
          </a:prstGeom>
          <a:noFill/>
          <a:ln/>
        </p:spPr>
        <p:txBody>
          <a:bodyPr wrap="square" lIns="0" tIns="0" rIns="0" bIns="0" rtlCol="0" anchor="ctr"/>
          <a:lstStyle/>
          <a:p>
            <a:pPr indent="0" marL="0">
              <a:buNone/>
            </a:pPr>
            <a:r>
              <a:rPr lang="en-US" sz="1100" b="1" dirty="0">
                <a:solidFill>
                  <a:srgbClr val="3E8E72"/>
                </a:solidFill>
              </a:rPr>
              <a:t>2</a:t>
            </a:r>
            <a:endParaRPr lang="en-US" sz="1100" dirty="0"/>
          </a:p>
        </p:txBody>
      </p:sp>
      <p:sp>
        <p:nvSpPr>
          <p:cNvPr id="8" name="Text 6"/>
          <p:cNvSpPr txBox="1"/>
          <p:nvPr/>
        </p:nvSpPr>
        <p:spPr>
          <a:xfrm>
            <a:off x="896112" y="3511296"/>
            <a:ext cx="5248656" cy="768096"/>
          </a:xfrm>
          <a:prstGeom prst="rect">
            <a:avLst/>
          </a:prstGeom>
          <a:noFill/>
          <a:ln/>
        </p:spPr>
        <p:txBody>
          <a:bodyPr wrap="square" lIns="0" tIns="0" rIns="0" bIns="0" rtlCol="0" anchor="ctr"/>
          <a:lstStyle/>
          <a:p>
            <a:pPr indent="0" marL="0">
              <a:lnSpc>
                <a:spcPts val="1700"/>
              </a:lnSpc>
              <a:buNone/>
            </a:pPr>
            <a:r>
              <a:rPr lang="en-US" sz="1200" dirty="0">
                <a:solidFill>
                  <a:srgbClr val="11211C"/>
                </a:solidFill>
              </a:rPr>
              <a:t>It simply helped construction at least as much. At ten times the published budget the construction lever still leads by 269,607 HV and the ranking never flips.</a:t>
            </a:r>
            <a:endParaRPr lang="en-US" sz="1200" dirty="0"/>
          </a:p>
        </p:txBody>
      </p:sp>
      <p:sp>
        <p:nvSpPr>
          <p:cNvPr id="9" name="Text 7"/>
          <p:cNvSpPr txBox="1"/>
          <p:nvPr/>
        </p:nvSpPr>
        <p:spPr>
          <a:xfrm>
            <a:off x="566928" y="4389120"/>
            <a:ext cx="237744" cy="237744"/>
          </a:xfrm>
          <a:prstGeom prst="rect">
            <a:avLst/>
          </a:prstGeom>
          <a:noFill/>
          <a:ln/>
        </p:spPr>
        <p:txBody>
          <a:bodyPr wrap="square" lIns="0" tIns="0" rIns="0" bIns="0" rtlCol="0" anchor="ctr"/>
          <a:lstStyle/>
          <a:p>
            <a:pPr indent="0" marL="0">
              <a:buNone/>
            </a:pPr>
            <a:r>
              <a:rPr lang="en-US" sz="1100" b="1" dirty="0">
                <a:solidFill>
                  <a:srgbClr val="3E8E72"/>
                </a:solidFill>
              </a:rPr>
              <a:t>3</a:t>
            </a:r>
            <a:endParaRPr lang="en-US" sz="1100" dirty="0"/>
          </a:p>
        </p:txBody>
      </p:sp>
      <p:sp>
        <p:nvSpPr>
          <p:cNvPr id="10" name="Text 8"/>
          <p:cNvSpPr txBox="1"/>
          <p:nvPr/>
        </p:nvSpPr>
        <p:spPr>
          <a:xfrm>
            <a:off x="896112" y="4352544"/>
            <a:ext cx="5248656" cy="768096"/>
          </a:xfrm>
          <a:prstGeom prst="rect">
            <a:avLst/>
          </a:prstGeom>
          <a:noFill/>
          <a:ln/>
        </p:spPr>
        <p:txBody>
          <a:bodyPr wrap="square" lIns="0" tIns="0" rIns="0" bIns="0" rtlCol="0" anchor="ctr"/>
          <a:lstStyle/>
          <a:p>
            <a:pPr indent="0" marL="0">
              <a:lnSpc>
                <a:spcPts val="1700"/>
              </a:lnSpc>
              <a:buNone/>
            </a:pPr>
            <a:r>
              <a:rPr lang="en-US" sz="1200" dirty="0">
                <a:solidFill>
                  <a:srgbClr val="11211C"/>
                </a:solidFill>
              </a:rPr>
              <a:t>More operators actively cost at longer budgets: the seventeen-operator pool goes from 1,883 HV ahead of the four-operator baseline at 1,200 s to 25,602 HV behind it at 12,000 s.</a:t>
            </a:r>
            <a:endParaRPr lang="en-US" sz="1200" dirty="0"/>
          </a:p>
        </p:txBody>
      </p:sp>
      <p:graphicFrame>
        <p:nvGraphicFramePr>
          <p:cNvPr id="11" name="Chart 0" descr=""/>
          <p:cNvGraphicFramePr/>
          <p:nvPr/>
        </p:nvGraphicFramePr>
        <p:xfrm>
          <a:off x="6400800" y="1371600"/>
          <a:ext cx="5239512" cy="3163824"/>
        </p:xfrm>
        <a:graphic xmlns:a="http://schemas.openxmlformats.org/drawingml/2006/main">
          <a:graphicData uri="http://schemas.openxmlformats.org/drawingml/2006/chart">
            <c:chart xmlns:c="http://schemas.openxmlformats.org/drawingml/2006/chart" r:id="rId1"/>
          </a:graphicData>
        </a:graphic>
      </p:graphicFrame>
      <p:sp>
        <p:nvSpPr>
          <p:cNvPr id="12" name="Shape 9"/>
          <p:cNvSpPr/>
          <p:nvPr/>
        </p:nvSpPr>
        <p:spPr>
          <a:xfrm>
            <a:off x="6400800" y="4663440"/>
            <a:ext cx="5239512" cy="1005840"/>
          </a:xfrm>
          <a:prstGeom prst="roundRect">
            <a:avLst>
              <a:gd name="adj" fmla="val 3636"/>
            </a:avLst>
          </a:prstGeom>
          <a:solidFill>
            <a:srgbClr val="FBF0EA"/>
          </a:solidFill>
          <a:ln w="6350">
            <a:solidFill>
              <a:srgbClr val="FBF0EA"/>
            </a:solidFill>
            <a:prstDash val="solid"/>
          </a:ln>
        </p:spPr>
      </p:sp>
      <p:sp>
        <p:nvSpPr>
          <p:cNvPr id="13" name="Text 10"/>
          <p:cNvSpPr txBox="1"/>
          <p:nvPr/>
        </p:nvSpPr>
        <p:spPr>
          <a:xfrm>
            <a:off x="6638544" y="4791456"/>
            <a:ext cx="4754880" cy="786384"/>
          </a:xfrm>
          <a:prstGeom prst="rect">
            <a:avLst/>
          </a:prstGeom>
          <a:noFill/>
          <a:ln/>
        </p:spPr>
        <p:txBody>
          <a:bodyPr wrap="square" lIns="0" tIns="0" rIns="0" bIns="0" rtlCol="0" anchor="ctr"/>
          <a:lstStyle/>
          <a:p>
            <a:pPr indent="0" marL="0">
              <a:lnSpc>
                <a:spcPts val="1500"/>
              </a:lnSpc>
              <a:buNone/>
            </a:pPr>
            <a:r>
              <a:rPr lang="en-US" sz="1050" dirty="0">
                <a:solidFill>
                  <a:srgbClr val="11211C"/>
                </a:solidFill>
              </a:rPr>
              <a:t>Honest caveat: GRASP's own spread across three seeds reaches 160,026 HV on large-graph, so the apparent decline from 392k to 270k is not resolvable at three seeds and must not be read as a trend.</a:t>
            </a:r>
            <a:endParaRPr lang="en-US" sz="1050" dirty="0"/>
          </a:p>
        </p:txBody>
      </p:sp>
      <p:sp>
        <p:nvSpPr>
          <p:cNvPr id="25" name="Slide Number Placeholder 0"/>
          <p:cNvSpPr>
            <a:spLocks noGrp="1"/>
          </p:cNvSpPr>
          <p:nvPr>
            <p:ph type="sldNum" sz="quarter" idx="4294967295"/>
          </p:nvPr>
        </p:nvSpPr>
        <p:spPr>
          <a:xfrm>
            <a:off x="11167567" y="6437376"/>
            <a:ext cx="45720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6B7A7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66928" y="420624"/>
            <a:ext cx="11057839" cy="658368"/>
          </a:xfrm>
          <a:prstGeom prst="rect">
            <a:avLst/>
          </a:prstGeom>
          <a:noFill/>
          <a:ln/>
        </p:spPr>
        <p:txBody>
          <a:bodyPr wrap="square" lIns="0" tIns="0" rIns="0" bIns="0" rtlCol="0" anchor="ctr"/>
          <a:lstStyle/>
          <a:p>
            <a:pPr indent="0" marL="0">
              <a:buNone/>
            </a:pPr>
            <a:r>
              <a:rPr lang="en-US" sz="2600" b="1" dirty="0">
                <a:solidFill>
                  <a:srgbClr val="11211C"/>
                </a:solidFill>
                <a:latin typeface="Cambria" pitchFamily="34" charset="0"/>
                <a:ea typeface="Cambria" pitchFamily="34" charset="-122"/>
                <a:cs typeface="Cambria" pitchFamily="34" charset="-120"/>
              </a:rPr>
              <a:t>Three ways I fooled myself, and how each was caught</a:t>
            </a:r>
            <a:endParaRPr lang="en-US" sz="2600" dirty="0"/>
          </a:p>
        </p:txBody>
      </p:sp>
      <p:sp>
        <p:nvSpPr>
          <p:cNvPr id="3" name="Shape 1"/>
          <p:cNvSpPr/>
          <p:nvPr/>
        </p:nvSpPr>
        <p:spPr>
          <a:xfrm>
            <a:off x="566928" y="1298448"/>
            <a:ext cx="10936224" cy="1152144"/>
          </a:xfrm>
          <a:prstGeom prst="roundRect">
            <a:avLst>
              <a:gd name="adj" fmla="val 3175"/>
            </a:avLst>
          </a:prstGeom>
          <a:solidFill>
            <a:srgbClr val="FFFFFF"/>
          </a:solidFill>
          <a:ln w="6350">
            <a:solidFill>
              <a:srgbClr val="FFFFFF"/>
            </a:solidFill>
            <a:prstDash val="solid"/>
          </a:ln>
        </p:spPr>
      </p:sp>
      <p:sp>
        <p:nvSpPr>
          <p:cNvPr id="4" name="Shape 2"/>
          <p:cNvSpPr/>
          <p:nvPr/>
        </p:nvSpPr>
        <p:spPr>
          <a:xfrm>
            <a:off x="566928" y="1298448"/>
            <a:ext cx="50292" cy="1152144"/>
          </a:xfrm>
          <a:prstGeom prst="rect">
            <a:avLst/>
          </a:prstGeom>
          <a:solidFill>
            <a:srgbClr val="C0603C"/>
          </a:solidFill>
          <a:ln w="3175">
            <a:solidFill>
              <a:srgbClr val="C0603C"/>
            </a:solidFill>
            <a:prstDash val="solid"/>
          </a:ln>
        </p:spPr>
      </p:sp>
      <p:sp>
        <p:nvSpPr>
          <p:cNvPr id="5" name="Text 3"/>
          <p:cNvSpPr txBox="1"/>
          <p:nvPr/>
        </p:nvSpPr>
        <p:spPr>
          <a:xfrm>
            <a:off x="804672" y="1426464"/>
            <a:ext cx="310896" cy="310896"/>
          </a:xfrm>
          <a:prstGeom prst="rect">
            <a:avLst/>
          </a:prstGeom>
          <a:noFill/>
          <a:ln/>
        </p:spPr>
        <p:txBody>
          <a:bodyPr wrap="square" lIns="0" tIns="0" rIns="0" bIns="0" rtlCol="0" anchor="ctr"/>
          <a:lstStyle/>
          <a:p>
            <a:pPr indent="0" marL="0">
              <a:buNone/>
            </a:pPr>
            <a:r>
              <a:rPr lang="en-US" sz="1700" b="1" dirty="0">
                <a:solidFill>
                  <a:srgbClr val="B9CFC4"/>
                </a:solidFill>
                <a:latin typeface="Cambria" pitchFamily="34" charset="0"/>
                <a:ea typeface="Cambria" pitchFamily="34" charset="-122"/>
                <a:cs typeface="Cambria" pitchFamily="34" charset="-120"/>
              </a:rPr>
              <a:t>1</a:t>
            </a:r>
            <a:endParaRPr lang="en-US" sz="1700" dirty="0"/>
          </a:p>
        </p:txBody>
      </p:sp>
      <p:sp>
        <p:nvSpPr>
          <p:cNvPr id="6" name="Text 4"/>
          <p:cNvSpPr txBox="1"/>
          <p:nvPr/>
        </p:nvSpPr>
        <p:spPr>
          <a:xfrm>
            <a:off x="1225296" y="1426464"/>
            <a:ext cx="3200400" cy="548640"/>
          </a:xfrm>
          <a:prstGeom prst="rect">
            <a:avLst/>
          </a:prstGeom>
          <a:noFill/>
          <a:ln/>
        </p:spPr>
        <p:txBody>
          <a:bodyPr wrap="square" lIns="0" tIns="0" rIns="0" bIns="0" rtlCol="0" anchor="ctr"/>
          <a:lstStyle/>
          <a:p>
            <a:pPr indent="0" marL="0">
              <a:lnSpc>
                <a:spcPts val="1700"/>
              </a:lnSpc>
              <a:buNone/>
            </a:pPr>
            <a:r>
              <a:rPr lang="en-US" sz="1300" b="1" dirty="0">
                <a:solidFill>
                  <a:srgbClr val="11211C"/>
                </a:solidFill>
              </a:rPr>
              <a:t>A probe that leaked the answer</a:t>
            </a:r>
            <a:endParaRPr lang="en-US" sz="1300" dirty="0"/>
          </a:p>
        </p:txBody>
      </p:sp>
      <p:sp>
        <p:nvSpPr>
          <p:cNvPr id="7" name="Text 5"/>
          <p:cNvSpPr txBox="1"/>
          <p:nvPr/>
        </p:nvSpPr>
        <p:spPr>
          <a:xfrm>
            <a:off x="4553712" y="1408176"/>
            <a:ext cx="4206240" cy="950976"/>
          </a:xfrm>
          <a:prstGeom prst="rect">
            <a:avLst/>
          </a:prstGeom>
          <a:noFill/>
          <a:ln/>
        </p:spPr>
        <p:txBody>
          <a:bodyPr wrap="square" lIns="0" tIns="0" rIns="0" bIns="0" rtlCol="0" anchor="ctr"/>
          <a:lstStyle/>
          <a:p>
            <a:pPr indent="0" marL="0">
              <a:lnSpc>
                <a:spcPts val="1500"/>
              </a:lnSpc>
              <a:buNone/>
            </a:pPr>
            <a:r>
              <a:rPr lang="en-US" sz="1050" dirty="0">
                <a:solidFill>
                  <a:srgbClr val="11211C"/>
                </a:solidFill>
              </a:rPr>
              <a:t>hill_climbing.py chose its target widths with a min-degree probe regardless of the requested start, so --start random was quietly handing the climber a free min-degree solution. It reported −1,607,522 on medium-graph for a run that had accepted zero moves.</a:t>
            </a:r>
            <a:endParaRPr lang="en-US" sz="1050" dirty="0"/>
          </a:p>
        </p:txBody>
      </p:sp>
      <p:sp>
        <p:nvSpPr>
          <p:cNvPr id="8" name="Text 6"/>
          <p:cNvSpPr txBox="1"/>
          <p:nvPr/>
        </p:nvSpPr>
        <p:spPr>
          <a:xfrm>
            <a:off x="8924544" y="1408176"/>
            <a:ext cx="2414016" cy="950976"/>
          </a:xfrm>
          <a:prstGeom prst="rect">
            <a:avLst/>
          </a:prstGeom>
          <a:noFill/>
          <a:ln/>
        </p:spPr>
        <p:txBody>
          <a:bodyPr wrap="square" lIns="0" tIns="0" rIns="0" bIns="0" rtlCol="0" anchor="ctr"/>
          <a:lstStyle/>
          <a:p>
            <a:pPr indent="0" marL="0">
              <a:lnSpc>
                <a:spcPts val="1500"/>
              </a:lnSpc>
              <a:buNone/>
            </a:pPr>
            <a:r>
              <a:rPr lang="en-US" sz="1050" i="1" dirty="0">
                <a:solidFill>
                  <a:srgbClr val="2A5247"/>
                </a:solidFill>
              </a:rPr>
              <a:t>Caught by asking why a run with no accepted moves had a score at all.</a:t>
            </a:r>
            <a:endParaRPr lang="en-US" sz="1050" dirty="0"/>
          </a:p>
        </p:txBody>
      </p:sp>
      <p:sp>
        <p:nvSpPr>
          <p:cNvPr id="9" name="Shape 7"/>
          <p:cNvSpPr/>
          <p:nvPr/>
        </p:nvSpPr>
        <p:spPr>
          <a:xfrm>
            <a:off x="566928" y="2596896"/>
            <a:ext cx="10936224" cy="1152144"/>
          </a:xfrm>
          <a:prstGeom prst="roundRect">
            <a:avLst>
              <a:gd name="adj" fmla="val 3175"/>
            </a:avLst>
          </a:prstGeom>
          <a:solidFill>
            <a:srgbClr val="EFF3F1"/>
          </a:solidFill>
          <a:ln w="6350">
            <a:solidFill>
              <a:srgbClr val="EFF3F1"/>
            </a:solidFill>
            <a:prstDash val="solid"/>
          </a:ln>
        </p:spPr>
      </p:sp>
      <p:sp>
        <p:nvSpPr>
          <p:cNvPr id="10" name="Shape 8"/>
          <p:cNvSpPr/>
          <p:nvPr/>
        </p:nvSpPr>
        <p:spPr>
          <a:xfrm>
            <a:off x="566928" y="2596896"/>
            <a:ext cx="50292" cy="1152144"/>
          </a:xfrm>
          <a:prstGeom prst="rect">
            <a:avLst/>
          </a:prstGeom>
          <a:solidFill>
            <a:srgbClr val="C0603C"/>
          </a:solidFill>
          <a:ln w="3175">
            <a:solidFill>
              <a:srgbClr val="C0603C"/>
            </a:solidFill>
            <a:prstDash val="solid"/>
          </a:ln>
        </p:spPr>
      </p:sp>
      <p:sp>
        <p:nvSpPr>
          <p:cNvPr id="11" name="Text 9"/>
          <p:cNvSpPr txBox="1"/>
          <p:nvPr/>
        </p:nvSpPr>
        <p:spPr>
          <a:xfrm>
            <a:off x="804672" y="2724912"/>
            <a:ext cx="310896" cy="310896"/>
          </a:xfrm>
          <a:prstGeom prst="rect">
            <a:avLst/>
          </a:prstGeom>
          <a:noFill/>
          <a:ln/>
        </p:spPr>
        <p:txBody>
          <a:bodyPr wrap="square" lIns="0" tIns="0" rIns="0" bIns="0" rtlCol="0" anchor="ctr"/>
          <a:lstStyle/>
          <a:p>
            <a:pPr indent="0" marL="0">
              <a:buNone/>
            </a:pPr>
            <a:r>
              <a:rPr lang="en-US" sz="1700" b="1" dirty="0">
                <a:solidFill>
                  <a:srgbClr val="B9CFC4"/>
                </a:solidFill>
                <a:latin typeface="Cambria" pitchFamily="34" charset="0"/>
                <a:ea typeface="Cambria" pitchFamily="34" charset="-122"/>
                <a:cs typeface="Cambria" pitchFamily="34" charset="-120"/>
              </a:rPr>
              <a:t>2</a:t>
            </a:r>
            <a:endParaRPr lang="en-US" sz="1700" dirty="0"/>
          </a:p>
        </p:txBody>
      </p:sp>
      <p:sp>
        <p:nvSpPr>
          <p:cNvPr id="12" name="Text 10"/>
          <p:cNvSpPr txBox="1"/>
          <p:nvPr/>
        </p:nvSpPr>
        <p:spPr>
          <a:xfrm>
            <a:off x="1225296" y="2724912"/>
            <a:ext cx="3200400" cy="548640"/>
          </a:xfrm>
          <a:prstGeom prst="rect">
            <a:avLst/>
          </a:prstGeom>
          <a:noFill/>
          <a:ln/>
        </p:spPr>
        <p:txBody>
          <a:bodyPr wrap="square" lIns="0" tIns="0" rIns="0" bIns="0" rtlCol="0" anchor="ctr"/>
          <a:lstStyle/>
          <a:p>
            <a:pPr indent="0" marL="0">
              <a:lnSpc>
                <a:spcPts val="1700"/>
              </a:lnSpc>
              <a:buNone/>
            </a:pPr>
            <a:r>
              <a:rPr lang="en-US" sz="1300" b="1" dirty="0">
                <a:solidFill>
                  <a:srgbClr val="11211C"/>
                </a:solidFill>
              </a:rPr>
              <a:t>A verification that was itself wrong</a:t>
            </a:r>
            <a:endParaRPr lang="en-US" sz="1300" dirty="0"/>
          </a:p>
        </p:txBody>
      </p:sp>
      <p:sp>
        <p:nvSpPr>
          <p:cNvPr id="13" name="Text 11"/>
          <p:cNvSpPr txBox="1"/>
          <p:nvPr/>
        </p:nvSpPr>
        <p:spPr>
          <a:xfrm>
            <a:off x="4553712" y="2706624"/>
            <a:ext cx="4206240" cy="950976"/>
          </a:xfrm>
          <a:prstGeom prst="rect">
            <a:avLst/>
          </a:prstGeom>
          <a:noFill/>
          <a:ln/>
        </p:spPr>
        <p:txBody>
          <a:bodyPr wrap="square" lIns="0" tIns="0" rIns="0" bIns="0" rtlCol="0" anchor="ctr"/>
          <a:lstStyle/>
          <a:p>
            <a:pPr indent="0" marL="0">
              <a:lnSpc>
                <a:spcPts val="1500"/>
              </a:lnSpc>
              <a:buNone/>
            </a:pPr>
            <a:r>
              <a:rPr lang="en-US" sz="1050" dirty="0">
                <a:solidFill>
                  <a:srgbClr val="11211C"/>
                </a:solidFill>
              </a:rPr>
              <a:t>An attempt to confirm a run by re-running it mismatched on 29 of 30 rows. The climb loop stops on elapsed time, so no run can be reproduced exactly, only re-sampled.</a:t>
            </a:r>
            <a:endParaRPr lang="en-US" sz="1050" dirty="0"/>
          </a:p>
        </p:txBody>
      </p:sp>
      <p:sp>
        <p:nvSpPr>
          <p:cNvPr id="14" name="Text 12"/>
          <p:cNvSpPr txBox="1"/>
          <p:nvPr/>
        </p:nvSpPr>
        <p:spPr>
          <a:xfrm>
            <a:off x="8924544" y="2706624"/>
            <a:ext cx="2414016" cy="950976"/>
          </a:xfrm>
          <a:prstGeom prst="rect">
            <a:avLst/>
          </a:prstGeom>
          <a:noFill/>
          <a:ln/>
        </p:spPr>
        <p:txBody>
          <a:bodyPr wrap="square" lIns="0" tIns="0" rIns="0" bIns="0" rtlCol="0" anchor="ctr"/>
          <a:lstStyle/>
          <a:p>
            <a:pPr indent="0" marL="0">
              <a:lnSpc>
                <a:spcPts val="1500"/>
              </a:lnSpc>
              <a:buNone/>
            </a:pPr>
            <a:r>
              <a:rPr lang="en-US" sz="1050" i="1" dirty="0">
                <a:solidFill>
                  <a:srgbClr val="2A5247"/>
                </a:solidFill>
              </a:rPr>
              <a:t>The check was wrong, not the harness; and that accident is what produced two independent baselines.</a:t>
            </a:r>
            <a:endParaRPr lang="en-US" sz="1050" dirty="0"/>
          </a:p>
        </p:txBody>
      </p:sp>
      <p:sp>
        <p:nvSpPr>
          <p:cNvPr id="15" name="Shape 13"/>
          <p:cNvSpPr/>
          <p:nvPr/>
        </p:nvSpPr>
        <p:spPr>
          <a:xfrm>
            <a:off x="566928" y="3895344"/>
            <a:ext cx="10936224" cy="1152144"/>
          </a:xfrm>
          <a:prstGeom prst="roundRect">
            <a:avLst>
              <a:gd name="adj" fmla="val 3175"/>
            </a:avLst>
          </a:prstGeom>
          <a:solidFill>
            <a:srgbClr val="FFFFFF"/>
          </a:solidFill>
          <a:ln w="6350">
            <a:solidFill>
              <a:srgbClr val="FFFFFF"/>
            </a:solidFill>
            <a:prstDash val="solid"/>
          </a:ln>
        </p:spPr>
      </p:sp>
      <p:sp>
        <p:nvSpPr>
          <p:cNvPr id="16" name="Shape 14"/>
          <p:cNvSpPr/>
          <p:nvPr/>
        </p:nvSpPr>
        <p:spPr>
          <a:xfrm>
            <a:off x="566928" y="3895344"/>
            <a:ext cx="50292" cy="1152144"/>
          </a:xfrm>
          <a:prstGeom prst="rect">
            <a:avLst/>
          </a:prstGeom>
          <a:solidFill>
            <a:srgbClr val="C0603C"/>
          </a:solidFill>
          <a:ln w="3175">
            <a:solidFill>
              <a:srgbClr val="C0603C"/>
            </a:solidFill>
            <a:prstDash val="solid"/>
          </a:ln>
        </p:spPr>
      </p:sp>
      <p:sp>
        <p:nvSpPr>
          <p:cNvPr id="17" name="Text 15"/>
          <p:cNvSpPr txBox="1"/>
          <p:nvPr/>
        </p:nvSpPr>
        <p:spPr>
          <a:xfrm>
            <a:off x="804672" y="4023360"/>
            <a:ext cx="310896" cy="310896"/>
          </a:xfrm>
          <a:prstGeom prst="rect">
            <a:avLst/>
          </a:prstGeom>
          <a:noFill/>
          <a:ln/>
        </p:spPr>
        <p:txBody>
          <a:bodyPr wrap="square" lIns="0" tIns="0" rIns="0" bIns="0" rtlCol="0" anchor="ctr"/>
          <a:lstStyle/>
          <a:p>
            <a:pPr indent="0" marL="0">
              <a:buNone/>
            </a:pPr>
            <a:r>
              <a:rPr lang="en-US" sz="1700" b="1" dirty="0">
                <a:solidFill>
                  <a:srgbClr val="B9CFC4"/>
                </a:solidFill>
                <a:latin typeface="Cambria" pitchFamily="34" charset="0"/>
                <a:ea typeface="Cambria" pitchFamily="34" charset="-122"/>
                <a:cs typeface="Cambria" pitchFamily="34" charset="-120"/>
              </a:rPr>
              <a:t>3</a:t>
            </a:r>
            <a:endParaRPr lang="en-US" sz="1700" dirty="0"/>
          </a:p>
        </p:txBody>
      </p:sp>
      <p:sp>
        <p:nvSpPr>
          <p:cNvPr id="18" name="Text 16"/>
          <p:cNvSpPr txBox="1"/>
          <p:nvPr/>
        </p:nvSpPr>
        <p:spPr>
          <a:xfrm>
            <a:off x="1225296" y="4023360"/>
            <a:ext cx="3200400" cy="548640"/>
          </a:xfrm>
          <a:prstGeom prst="rect">
            <a:avLst/>
          </a:prstGeom>
          <a:noFill/>
          <a:ln/>
        </p:spPr>
        <p:txBody>
          <a:bodyPr wrap="square" lIns="0" tIns="0" rIns="0" bIns="0" rtlCol="0" anchor="ctr"/>
          <a:lstStyle/>
          <a:p>
            <a:pPr indent="0" marL="0">
              <a:lnSpc>
                <a:spcPts val="1700"/>
              </a:lnSpc>
              <a:buNone/>
            </a:pPr>
            <a:r>
              <a:rPr lang="en-US" sz="1300" b="1" dirty="0">
                <a:solidFill>
                  <a:srgbClr val="11211C"/>
                </a:solidFill>
              </a:rPr>
              <a:t>A 32-bit overflow in somebody else's kernel</a:t>
            </a:r>
            <a:endParaRPr lang="en-US" sz="1300" dirty="0"/>
          </a:p>
        </p:txBody>
      </p:sp>
      <p:sp>
        <p:nvSpPr>
          <p:cNvPr id="19" name="Text 17"/>
          <p:cNvSpPr txBox="1"/>
          <p:nvPr/>
        </p:nvSpPr>
        <p:spPr>
          <a:xfrm>
            <a:off x="4553712" y="4005072"/>
            <a:ext cx="4206240" cy="950976"/>
          </a:xfrm>
          <a:prstGeom prst="rect">
            <a:avLst/>
          </a:prstGeom>
          <a:noFill/>
          <a:ln/>
        </p:spPr>
        <p:txBody>
          <a:bodyPr wrap="square" lIns="0" tIns="0" rIns="0" bIns="0" rtlCol="0" anchor="ctr"/>
          <a:lstStyle/>
          <a:p>
            <a:pPr indent="0" marL="0">
              <a:lnSpc>
                <a:spcPts val="1500"/>
              </a:lnSpc>
              <a:buNone/>
            </a:pPr>
            <a:r>
              <a:rPr lang="en-US" sz="1050" dirty="0">
                <a:solidFill>
                  <a:srgbClr val="11211C"/>
                </a:solidFill>
              </a:rPr>
              <a:t>The vendored CUDA evaluator indexes a B×N×N array with an int offset, which wraps past 2³¹ at n = 2,426, thread 365 of 1,024. Every 2,426-vertex run died with an illegal memory access.</a:t>
            </a:r>
            <a:endParaRPr lang="en-US" sz="1050" dirty="0"/>
          </a:p>
        </p:txBody>
      </p:sp>
      <p:sp>
        <p:nvSpPr>
          <p:cNvPr id="20" name="Text 18"/>
          <p:cNvSpPr txBox="1"/>
          <p:nvPr/>
        </p:nvSpPr>
        <p:spPr>
          <a:xfrm>
            <a:off x="8924544" y="4005072"/>
            <a:ext cx="2414016" cy="950976"/>
          </a:xfrm>
          <a:prstGeom prst="rect">
            <a:avLst/>
          </a:prstGeom>
          <a:noFill/>
          <a:ln/>
        </p:spPr>
        <p:txBody>
          <a:bodyPr wrap="square" lIns="0" tIns="0" rIns="0" bIns="0" rtlCol="0" anchor="ctr"/>
          <a:lstStyle/>
          <a:p>
            <a:pPr indent="0" marL="0">
              <a:lnSpc>
                <a:spcPts val="1500"/>
              </a:lnSpc>
              <a:buNone/>
            </a:pPr>
            <a:r>
              <a:rPr lang="en-US" sz="1050" i="1" dirty="0">
                <a:solidFill>
                  <a:srgbClr val="2A5247"/>
                </a:solidFill>
              </a:rPr>
              <a:t>Found by noticing the runs ended in ten seconds instead of twenty minutes. One type change fixed it.</a:t>
            </a:r>
            <a:endParaRPr lang="en-US" sz="1050" dirty="0"/>
          </a:p>
        </p:txBody>
      </p:sp>
      <p:sp>
        <p:nvSpPr>
          <p:cNvPr id="21" name="Text 19"/>
          <p:cNvSpPr txBox="1"/>
          <p:nvPr/>
        </p:nvSpPr>
        <p:spPr>
          <a:xfrm>
            <a:off x="566928" y="5285232"/>
            <a:ext cx="10936224" cy="457200"/>
          </a:xfrm>
          <a:prstGeom prst="rect">
            <a:avLst/>
          </a:prstGeom>
          <a:noFill/>
          <a:ln/>
        </p:spPr>
        <p:txBody>
          <a:bodyPr wrap="square" lIns="0" tIns="0" rIns="0" bIns="0" rtlCol="0" anchor="ctr"/>
          <a:lstStyle/>
          <a:p>
            <a:pPr indent="0" marL="0">
              <a:lnSpc>
                <a:spcPts val="1900"/>
              </a:lnSpc>
              <a:buNone/>
            </a:pPr>
            <a:r>
              <a:rPr lang="en-US" sz="1300" b="1" dirty="0">
                <a:solidFill>
                  <a:srgbClr val="C0603C"/>
                </a:solidFill>
                <a:latin typeface="Cambria" pitchFamily="34" charset="0"/>
                <a:ea typeface="Cambria" pitchFamily="34" charset="-122"/>
                <a:cs typeface="Cambria" pitchFamily="34" charset="-120"/>
              </a:rPr>
              <a:t>None of these were caught by a test suite. All three were caught by a number that was the wrong shape for its story.</a:t>
            </a:r>
            <a:endParaRPr lang="en-US" sz="1300" dirty="0"/>
          </a:p>
        </p:txBody>
      </p:sp>
      <p:sp>
        <p:nvSpPr>
          <p:cNvPr id="25" name="Slide Number Placeholder 0"/>
          <p:cNvSpPr>
            <a:spLocks noGrp="1"/>
          </p:cNvSpPr>
          <p:nvPr>
            <p:ph type="sldNum" sz="quarter" idx="4294967295"/>
          </p:nvPr>
        </p:nvSpPr>
        <p:spPr>
          <a:xfrm>
            <a:off x="11167567" y="6437376"/>
            <a:ext cx="45720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6B7A7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8625535" y="2392680"/>
            <a:ext cx="472440" cy="914"/>
          </a:xfrm>
          <a:prstGeom prst="line">
            <a:avLst/>
          </a:prstGeom>
          <a:noFill/>
          <a:ln w="20320">
            <a:solidFill>
              <a:srgbClr val="2A5247"/>
            </a:solidFill>
            <a:prstDash val="solid"/>
          </a:ln>
        </p:spPr>
      </p:sp>
      <p:sp>
        <p:nvSpPr>
          <p:cNvPr id="3" name="Shape 1"/>
          <p:cNvSpPr/>
          <p:nvPr/>
        </p:nvSpPr>
        <p:spPr>
          <a:xfrm flipV="1">
            <a:off x="9097975" y="2042160"/>
            <a:ext cx="914" cy="350520"/>
          </a:xfrm>
          <a:prstGeom prst="line">
            <a:avLst/>
          </a:prstGeom>
          <a:noFill/>
          <a:ln w="20320">
            <a:solidFill>
              <a:srgbClr val="2A5247"/>
            </a:solidFill>
            <a:prstDash val="solid"/>
          </a:ln>
        </p:spPr>
      </p:sp>
      <p:sp>
        <p:nvSpPr>
          <p:cNvPr id="4" name="Shape 2"/>
          <p:cNvSpPr/>
          <p:nvPr/>
        </p:nvSpPr>
        <p:spPr>
          <a:xfrm>
            <a:off x="9097975" y="2042160"/>
            <a:ext cx="472440" cy="914"/>
          </a:xfrm>
          <a:prstGeom prst="line">
            <a:avLst/>
          </a:prstGeom>
          <a:noFill/>
          <a:ln w="20320">
            <a:solidFill>
              <a:srgbClr val="2A5247"/>
            </a:solidFill>
            <a:prstDash val="solid"/>
          </a:ln>
        </p:spPr>
      </p:sp>
      <p:sp>
        <p:nvSpPr>
          <p:cNvPr id="5" name="Shape 3"/>
          <p:cNvSpPr/>
          <p:nvPr/>
        </p:nvSpPr>
        <p:spPr>
          <a:xfrm flipV="1">
            <a:off x="9570415" y="1691640"/>
            <a:ext cx="914" cy="350520"/>
          </a:xfrm>
          <a:prstGeom prst="line">
            <a:avLst/>
          </a:prstGeom>
          <a:noFill/>
          <a:ln w="20320">
            <a:solidFill>
              <a:srgbClr val="2A5247"/>
            </a:solidFill>
            <a:prstDash val="solid"/>
          </a:ln>
        </p:spPr>
      </p:sp>
      <p:sp>
        <p:nvSpPr>
          <p:cNvPr id="6" name="Shape 4"/>
          <p:cNvSpPr/>
          <p:nvPr/>
        </p:nvSpPr>
        <p:spPr>
          <a:xfrm>
            <a:off x="9570415" y="1691640"/>
            <a:ext cx="472440" cy="914"/>
          </a:xfrm>
          <a:prstGeom prst="line">
            <a:avLst/>
          </a:prstGeom>
          <a:noFill/>
          <a:ln w="20320">
            <a:solidFill>
              <a:srgbClr val="2A5247"/>
            </a:solidFill>
            <a:prstDash val="solid"/>
          </a:ln>
        </p:spPr>
      </p:sp>
      <p:sp>
        <p:nvSpPr>
          <p:cNvPr id="7" name="Shape 5"/>
          <p:cNvSpPr/>
          <p:nvPr/>
        </p:nvSpPr>
        <p:spPr>
          <a:xfrm flipV="1">
            <a:off x="10042855" y="1341120"/>
            <a:ext cx="914" cy="350520"/>
          </a:xfrm>
          <a:prstGeom prst="line">
            <a:avLst/>
          </a:prstGeom>
          <a:noFill/>
          <a:ln w="20320">
            <a:solidFill>
              <a:srgbClr val="2A5247"/>
            </a:solidFill>
            <a:prstDash val="solid"/>
          </a:ln>
        </p:spPr>
      </p:sp>
      <p:sp>
        <p:nvSpPr>
          <p:cNvPr id="8" name="Shape 6"/>
          <p:cNvSpPr/>
          <p:nvPr/>
        </p:nvSpPr>
        <p:spPr>
          <a:xfrm>
            <a:off x="10042855" y="1341120"/>
            <a:ext cx="472440" cy="914"/>
          </a:xfrm>
          <a:prstGeom prst="line">
            <a:avLst/>
          </a:prstGeom>
          <a:noFill/>
          <a:ln w="20320">
            <a:solidFill>
              <a:srgbClr val="2A5247"/>
            </a:solidFill>
            <a:prstDash val="solid"/>
          </a:ln>
        </p:spPr>
      </p:sp>
      <p:sp>
        <p:nvSpPr>
          <p:cNvPr id="9" name="Shape 7"/>
          <p:cNvSpPr/>
          <p:nvPr/>
        </p:nvSpPr>
        <p:spPr>
          <a:xfrm flipV="1">
            <a:off x="10515295" y="990600"/>
            <a:ext cx="914" cy="350520"/>
          </a:xfrm>
          <a:prstGeom prst="line">
            <a:avLst/>
          </a:prstGeom>
          <a:noFill/>
          <a:ln w="20320">
            <a:solidFill>
              <a:srgbClr val="2A5247"/>
            </a:solidFill>
            <a:prstDash val="solid"/>
          </a:ln>
        </p:spPr>
      </p:sp>
      <p:sp>
        <p:nvSpPr>
          <p:cNvPr id="10" name="Shape 8"/>
          <p:cNvSpPr/>
          <p:nvPr/>
        </p:nvSpPr>
        <p:spPr>
          <a:xfrm>
            <a:off x="10515295" y="990600"/>
            <a:ext cx="472440" cy="914"/>
          </a:xfrm>
          <a:prstGeom prst="line">
            <a:avLst/>
          </a:prstGeom>
          <a:noFill/>
          <a:ln w="20320">
            <a:solidFill>
              <a:srgbClr val="2A5247"/>
            </a:solidFill>
            <a:prstDash val="solid"/>
          </a:ln>
        </p:spPr>
      </p:sp>
      <p:sp>
        <p:nvSpPr>
          <p:cNvPr id="11" name="Shape 9"/>
          <p:cNvSpPr/>
          <p:nvPr/>
        </p:nvSpPr>
        <p:spPr>
          <a:xfrm flipV="1">
            <a:off x="10987735" y="640080"/>
            <a:ext cx="914" cy="350520"/>
          </a:xfrm>
          <a:prstGeom prst="line">
            <a:avLst/>
          </a:prstGeom>
          <a:noFill/>
          <a:ln w="20320">
            <a:solidFill>
              <a:srgbClr val="2A5247"/>
            </a:solidFill>
            <a:prstDash val="solid"/>
          </a:ln>
        </p:spPr>
      </p:sp>
      <p:sp>
        <p:nvSpPr>
          <p:cNvPr id="12" name="Shape 10"/>
          <p:cNvSpPr/>
          <p:nvPr/>
        </p:nvSpPr>
        <p:spPr>
          <a:xfrm>
            <a:off x="10987735" y="640080"/>
            <a:ext cx="472440" cy="914"/>
          </a:xfrm>
          <a:prstGeom prst="line">
            <a:avLst/>
          </a:prstGeom>
          <a:noFill/>
          <a:ln w="20320">
            <a:solidFill>
              <a:srgbClr val="2A5247"/>
            </a:solidFill>
            <a:prstDash val="solid"/>
          </a:ln>
        </p:spPr>
      </p:sp>
      <p:sp>
        <p:nvSpPr>
          <p:cNvPr id="13" name="Text 11"/>
          <p:cNvSpPr txBox="1"/>
          <p:nvPr/>
        </p:nvSpPr>
        <p:spPr>
          <a:xfrm>
            <a:off x="566928" y="658368"/>
            <a:ext cx="7680960" cy="73152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What I would ask of any benchmark table</a:t>
            </a:r>
            <a:endParaRPr lang="en-US" sz="2600" dirty="0"/>
          </a:p>
        </p:txBody>
      </p:sp>
      <p:sp>
        <p:nvSpPr>
          <p:cNvPr id="14" name="Text 12"/>
          <p:cNvSpPr txBox="1"/>
          <p:nvPr/>
        </p:nvSpPr>
        <p:spPr>
          <a:xfrm>
            <a:off x="566928" y="1700784"/>
            <a:ext cx="365760" cy="310896"/>
          </a:xfrm>
          <a:prstGeom prst="rect">
            <a:avLst/>
          </a:prstGeom>
          <a:noFill/>
          <a:ln/>
        </p:spPr>
        <p:txBody>
          <a:bodyPr wrap="square" lIns="0" tIns="0" rIns="0" bIns="0" rtlCol="0" anchor="ctr"/>
          <a:lstStyle/>
          <a:p>
            <a:pPr indent="0" marL="0">
              <a:buNone/>
            </a:pPr>
            <a:r>
              <a:rPr lang="en-US" sz="1800" b="1" dirty="0">
                <a:solidFill>
                  <a:srgbClr val="3E8E72"/>
                </a:solidFill>
                <a:latin typeface="Cambria" pitchFamily="34" charset="0"/>
                <a:ea typeface="Cambria" pitchFamily="34" charset="-122"/>
                <a:cs typeface="Cambria" pitchFamily="34" charset="-120"/>
              </a:rPr>
              <a:t>1</a:t>
            </a:r>
            <a:endParaRPr lang="en-US" sz="1800" dirty="0"/>
          </a:p>
        </p:txBody>
      </p:sp>
      <p:sp>
        <p:nvSpPr>
          <p:cNvPr id="15" name="Text 13"/>
          <p:cNvSpPr txBox="1"/>
          <p:nvPr/>
        </p:nvSpPr>
        <p:spPr>
          <a:xfrm>
            <a:off x="1078992" y="1700784"/>
            <a:ext cx="10424160" cy="292608"/>
          </a:xfrm>
          <a:prstGeom prst="rect">
            <a:avLst/>
          </a:prstGeom>
          <a:noFill/>
          <a:ln/>
        </p:spPr>
        <p:txBody>
          <a:bodyPr wrap="square" lIns="0" tIns="0" rIns="0" bIns="0" rtlCol="0" anchor="ctr"/>
          <a:lstStyle/>
          <a:p>
            <a:pPr indent="0" marL="0">
              <a:buNone/>
            </a:pPr>
            <a:r>
              <a:rPr lang="en-US" sz="1550" b="1" dirty="0">
                <a:solidFill>
                  <a:srgbClr val="FFFFFF"/>
                </a:solidFill>
              </a:rPr>
              <a:t>Run the control twice, and publish the difference.</a:t>
            </a:r>
            <a:endParaRPr lang="en-US" sz="1550" dirty="0"/>
          </a:p>
        </p:txBody>
      </p:sp>
      <p:sp>
        <p:nvSpPr>
          <p:cNvPr id="16" name="Text 14"/>
          <p:cNvSpPr txBox="1"/>
          <p:nvPr/>
        </p:nvSpPr>
        <p:spPr>
          <a:xfrm>
            <a:off x="1078992" y="2048256"/>
            <a:ext cx="10424160" cy="603504"/>
          </a:xfrm>
          <a:prstGeom prst="rect">
            <a:avLst/>
          </a:prstGeom>
          <a:noFill/>
          <a:ln/>
        </p:spPr>
        <p:txBody>
          <a:bodyPr wrap="square" lIns="0" tIns="0" rIns="0" bIns="0" rtlCol="0" anchor="ctr"/>
          <a:lstStyle/>
          <a:p>
            <a:pPr indent="0" marL="0">
              <a:lnSpc>
                <a:spcPts val="1800"/>
              </a:lnSpc>
              <a:buNone/>
            </a:pPr>
            <a:r>
              <a:rPr lang="en-US" sz="1250" dirty="0">
                <a:solidFill>
                  <a:srgbClr val="B9CFC4"/>
                </a:solidFill>
              </a:rPr>
              <a:t>Not two seeds in one session. Two sessions. If you have not measured how far your method differs from itself, you cannot say that anything differs from it.</a:t>
            </a:r>
            <a:endParaRPr lang="en-US" sz="1250" dirty="0"/>
          </a:p>
        </p:txBody>
      </p:sp>
      <p:sp>
        <p:nvSpPr>
          <p:cNvPr id="17" name="Text 15"/>
          <p:cNvSpPr txBox="1"/>
          <p:nvPr/>
        </p:nvSpPr>
        <p:spPr>
          <a:xfrm>
            <a:off x="566928" y="2761488"/>
            <a:ext cx="365760" cy="310896"/>
          </a:xfrm>
          <a:prstGeom prst="rect">
            <a:avLst/>
          </a:prstGeom>
          <a:noFill/>
          <a:ln/>
        </p:spPr>
        <p:txBody>
          <a:bodyPr wrap="square" lIns="0" tIns="0" rIns="0" bIns="0" rtlCol="0" anchor="ctr"/>
          <a:lstStyle/>
          <a:p>
            <a:pPr indent="0" marL="0">
              <a:buNone/>
            </a:pPr>
            <a:r>
              <a:rPr lang="en-US" sz="1800" b="1" dirty="0">
                <a:solidFill>
                  <a:srgbClr val="3E8E72"/>
                </a:solidFill>
                <a:latin typeface="Cambria" pitchFamily="34" charset="0"/>
                <a:ea typeface="Cambria" pitchFamily="34" charset="-122"/>
                <a:cs typeface="Cambria" pitchFamily="34" charset="-120"/>
              </a:rPr>
              <a:t>2</a:t>
            </a:r>
            <a:endParaRPr lang="en-US" sz="1800" dirty="0"/>
          </a:p>
        </p:txBody>
      </p:sp>
      <p:sp>
        <p:nvSpPr>
          <p:cNvPr id="18" name="Text 16"/>
          <p:cNvSpPr txBox="1"/>
          <p:nvPr/>
        </p:nvSpPr>
        <p:spPr>
          <a:xfrm>
            <a:off x="1078992" y="2761488"/>
            <a:ext cx="10424160" cy="292608"/>
          </a:xfrm>
          <a:prstGeom prst="rect">
            <a:avLst/>
          </a:prstGeom>
          <a:noFill/>
          <a:ln/>
        </p:spPr>
        <p:txBody>
          <a:bodyPr wrap="square" lIns="0" tIns="0" rIns="0" bIns="0" rtlCol="0" anchor="ctr"/>
          <a:lstStyle/>
          <a:p>
            <a:pPr indent="0" marL="0">
              <a:buNone/>
            </a:pPr>
            <a:r>
              <a:rPr lang="en-US" sz="1550" b="1" dirty="0">
                <a:solidFill>
                  <a:srgbClr val="FFFFFF"/>
                </a:solidFill>
              </a:rPr>
              <a:t>Report the floor beside the result, and match their scope.</a:t>
            </a:r>
            <a:endParaRPr lang="en-US" sz="1550" dirty="0"/>
          </a:p>
        </p:txBody>
      </p:sp>
      <p:sp>
        <p:nvSpPr>
          <p:cNvPr id="19" name="Text 17"/>
          <p:cNvSpPr txBox="1"/>
          <p:nvPr/>
        </p:nvSpPr>
        <p:spPr>
          <a:xfrm>
            <a:off x="1078992" y="3108960"/>
            <a:ext cx="10424160" cy="603504"/>
          </a:xfrm>
          <a:prstGeom prst="rect">
            <a:avLst/>
          </a:prstGeom>
          <a:noFill/>
          <a:ln/>
        </p:spPr>
        <p:txBody>
          <a:bodyPr wrap="square" lIns="0" tIns="0" rIns="0" bIns="0" rtlCol="0" anchor="ctr"/>
          <a:lstStyle/>
          <a:p>
            <a:pPr indent="0" marL="0">
              <a:lnSpc>
                <a:spcPts val="1800"/>
              </a:lnSpc>
              <a:buNone/>
            </a:pPr>
            <a:r>
              <a:rPr lang="en-US" sz="1250" dirty="0">
                <a:solidFill>
                  <a:srgbClr val="B9CFC4"/>
                </a:solidFill>
              </a:rPr>
              <a:t>A per-instance margin needs a per-instance floor; an aggregate needs an aggregate one. Confusing the two invents ties in one direction and results in the other.</a:t>
            </a:r>
            <a:endParaRPr lang="en-US" sz="1250" dirty="0"/>
          </a:p>
        </p:txBody>
      </p:sp>
      <p:sp>
        <p:nvSpPr>
          <p:cNvPr id="20" name="Text 18"/>
          <p:cNvSpPr txBox="1"/>
          <p:nvPr/>
        </p:nvSpPr>
        <p:spPr>
          <a:xfrm>
            <a:off x="566928" y="3822192"/>
            <a:ext cx="365760" cy="310896"/>
          </a:xfrm>
          <a:prstGeom prst="rect">
            <a:avLst/>
          </a:prstGeom>
          <a:noFill/>
          <a:ln/>
        </p:spPr>
        <p:txBody>
          <a:bodyPr wrap="square" lIns="0" tIns="0" rIns="0" bIns="0" rtlCol="0" anchor="ctr"/>
          <a:lstStyle/>
          <a:p>
            <a:pPr indent="0" marL="0">
              <a:buNone/>
            </a:pPr>
            <a:r>
              <a:rPr lang="en-US" sz="1800" b="1" dirty="0">
                <a:solidFill>
                  <a:srgbClr val="3E8E72"/>
                </a:solidFill>
                <a:latin typeface="Cambria" pitchFamily="34" charset="0"/>
                <a:ea typeface="Cambria" pitchFamily="34" charset="-122"/>
                <a:cs typeface="Cambria" pitchFamily="34" charset="-120"/>
              </a:rPr>
              <a:t>3</a:t>
            </a:r>
            <a:endParaRPr lang="en-US" sz="1800" dirty="0"/>
          </a:p>
        </p:txBody>
      </p:sp>
      <p:sp>
        <p:nvSpPr>
          <p:cNvPr id="21" name="Text 19"/>
          <p:cNvSpPr txBox="1"/>
          <p:nvPr/>
        </p:nvSpPr>
        <p:spPr>
          <a:xfrm>
            <a:off x="1078992" y="3822192"/>
            <a:ext cx="10424160" cy="292608"/>
          </a:xfrm>
          <a:prstGeom prst="rect">
            <a:avLst/>
          </a:prstGeom>
          <a:noFill/>
          <a:ln/>
        </p:spPr>
        <p:txBody>
          <a:bodyPr wrap="square" lIns="0" tIns="0" rIns="0" bIns="0" rtlCol="0" anchor="ctr"/>
          <a:lstStyle/>
          <a:p>
            <a:pPr indent="0" marL="0">
              <a:buNone/>
            </a:pPr>
            <a:r>
              <a:rPr lang="en-US" sz="1550" b="1" dirty="0">
                <a:solidFill>
                  <a:srgbClr val="FFFFFF"/>
                </a:solidFill>
              </a:rPr>
              <a:t>Name what the effect is a result about.</a:t>
            </a:r>
            <a:endParaRPr lang="en-US" sz="1550" dirty="0"/>
          </a:p>
        </p:txBody>
      </p:sp>
      <p:sp>
        <p:nvSpPr>
          <p:cNvPr id="22" name="Text 20"/>
          <p:cNvSpPr txBox="1"/>
          <p:nvPr/>
        </p:nvSpPr>
        <p:spPr>
          <a:xfrm>
            <a:off x="1078992" y="4169664"/>
            <a:ext cx="10424160" cy="603504"/>
          </a:xfrm>
          <a:prstGeom prst="rect">
            <a:avLst/>
          </a:prstGeom>
          <a:noFill/>
          <a:ln/>
        </p:spPr>
        <p:txBody>
          <a:bodyPr wrap="square" lIns="0" tIns="0" rIns="0" bIns="0" rtlCol="0" anchor="ctr"/>
          <a:lstStyle/>
          <a:p>
            <a:pPr indent="0" marL="0">
              <a:lnSpc>
                <a:spcPts val="1800"/>
              </a:lnSpc>
              <a:buNone/>
            </a:pPr>
            <a:r>
              <a:rPr lang="en-US" sz="1250" dirty="0">
                <a:solidFill>
                  <a:srgbClr val="B9CFC4"/>
                </a:solidFill>
              </a:rPr>
              <a:t>A ten-instance total made entirely on three dense graphs is a result about dense graphs, whatever the table's column header says.</a:t>
            </a:r>
            <a:endParaRPr lang="en-US" sz="1250" dirty="0"/>
          </a:p>
        </p:txBody>
      </p:sp>
      <p:sp>
        <p:nvSpPr>
          <p:cNvPr id="23" name="Shape 21"/>
          <p:cNvSpPr/>
          <p:nvPr/>
        </p:nvSpPr>
        <p:spPr>
          <a:xfrm>
            <a:off x="566928" y="4992624"/>
            <a:ext cx="11057839" cy="914"/>
          </a:xfrm>
          <a:prstGeom prst="line">
            <a:avLst/>
          </a:prstGeom>
          <a:noFill/>
          <a:ln w="15240">
            <a:solidFill>
              <a:srgbClr val="2A5247"/>
            </a:solidFill>
            <a:prstDash val="solid"/>
          </a:ln>
        </p:spPr>
      </p:sp>
      <p:sp>
        <p:nvSpPr>
          <p:cNvPr id="24" name="Text 22"/>
          <p:cNvSpPr txBox="1"/>
          <p:nvPr/>
        </p:nvSpPr>
        <p:spPr>
          <a:xfrm>
            <a:off x="566928" y="5157216"/>
            <a:ext cx="10936224" cy="914400"/>
          </a:xfrm>
          <a:prstGeom prst="rect">
            <a:avLst/>
          </a:prstGeom>
          <a:noFill/>
          <a:ln/>
        </p:spPr>
        <p:txBody>
          <a:bodyPr wrap="square" lIns="0" tIns="0" rIns="0" bIns="0" rtlCol="0" anchor="ctr"/>
          <a:lstStyle/>
          <a:p>
            <a:pPr indent="0" marL="0">
              <a:lnSpc>
                <a:spcPts val="2100"/>
              </a:lnSpc>
              <a:buNone/>
            </a:pPr>
            <a:r>
              <a:rPr lang="en-US" sz="1400" i="1" dirty="0">
                <a:solidFill>
                  <a:srgbClr val="FFFFFF"/>
                </a:solidFill>
              </a:rPr>
              <a:t>On these ten instances, at this budget, the construction dominates and the three search components do not. Half the comparison is a tie. Both are findings, and only one of them is the kind you set out to get.</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9082735" y="5455920"/>
            <a:ext cx="411480" cy="914"/>
          </a:xfrm>
          <a:prstGeom prst="line">
            <a:avLst/>
          </a:prstGeom>
          <a:noFill/>
          <a:ln w="20320">
            <a:solidFill>
              <a:srgbClr val="2A5247"/>
            </a:solidFill>
            <a:prstDash val="solid"/>
          </a:ln>
        </p:spPr>
      </p:sp>
      <p:sp>
        <p:nvSpPr>
          <p:cNvPr id="3" name="Shape 1"/>
          <p:cNvSpPr/>
          <p:nvPr/>
        </p:nvSpPr>
        <p:spPr>
          <a:xfrm flipV="1">
            <a:off x="9494215" y="5151120"/>
            <a:ext cx="914" cy="304800"/>
          </a:xfrm>
          <a:prstGeom prst="line">
            <a:avLst/>
          </a:prstGeom>
          <a:noFill/>
          <a:ln w="20320">
            <a:solidFill>
              <a:srgbClr val="2A5247"/>
            </a:solidFill>
            <a:prstDash val="solid"/>
          </a:ln>
        </p:spPr>
      </p:sp>
      <p:sp>
        <p:nvSpPr>
          <p:cNvPr id="4" name="Shape 2"/>
          <p:cNvSpPr/>
          <p:nvPr/>
        </p:nvSpPr>
        <p:spPr>
          <a:xfrm>
            <a:off x="9494215" y="5151120"/>
            <a:ext cx="411480" cy="914"/>
          </a:xfrm>
          <a:prstGeom prst="line">
            <a:avLst/>
          </a:prstGeom>
          <a:noFill/>
          <a:ln w="20320">
            <a:solidFill>
              <a:srgbClr val="2A5247"/>
            </a:solidFill>
            <a:prstDash val="solid"/>
          </a:ln>
        </p:spPr>
      </p:sp>
      <p:sp>
        <p:nvSpPr>
          <p:cNvPr id="5" name="Shape 3"/>
          <p:cNvSpPr/>
          <p:nvPr/>
        </p:nvSpPr>
        <p:spPr>
          <a:xfrm flipV="1">
            <a:off x="9905695" y="4846320"/>
            <a:ext cx="914" cy="304800"/>
          </a:xfrm>
          <a:prstGeom prst="line">
            <a:avLst/>
          </a:prstGeom>
          <a:noFill/>
          <a:ln w="20320">
            <a:solidFill>
              <a:srgbClr val="2A5247"/>
            </a:solidFill>
            <a:prstDash val="solid"/>
          </a:ln>
        </p:spPr>
      </p:sp>
      <p:sp>
        <p:nvSpPr>
          <p:cNvPr id="6" name="Shape 4"/>
          <p:cNvSpPr/>
          <p:nvPr/>
        </p:nvSpPr>
        <p:spPr>
          <a:xfrm>
            <a:off x="9905695" y="4846320"/>
            <a:ext cx="411480" cy="914"/>
          </a:xfrm>
          <a:prstGeom prst="line">
            <a:avLst/>
          </a:prstGeom>
          <a:noFill/>
          <a:ln w="20320">
            <a:solidFill>
              <a:srgbClr val="2A5247"/>
            </a:solidFill>
            <a:prstDash val="solid"/>
          </a:ln>
        </p:spPr>
      </p:sp>
      <p:sp>
        <p:nvSpPr>
          <p:cNvPr id="7" name="Shape 5"/>
          <p:cNvSpPr/>
          <p:nvPr/>
        </p:nvSpPr>
        <p:spPr>
          <a:xfrm flipV="1">
            <a:off x="10317175" y="4541520"/>
            <a:ext cx="914" cy="304800"/>
          </a:xfrm>
          <a:prstGeom prst="line">
            <a:avLst/>
          </a:prstGeom>
          <a:noFill/>
          <a:ln w="20320">
            <a:solidFill>
              <a:srgbClr val="2A5247"/>
            </a:solidFill>
            <a:prstDash val="solid"/>
          </a:ln>
        </p:spPr>
      </p:sp>
      <p:sp>
        <p:nvSpPr>
          <p:cNvPr id="8" name="Shape 6"/>
          <p:cNvSpPr/>
          <p:nvPr/>
        </p:nvSpPr>
        <p:spPr>
          <a:xfrm>
            <a:off x="10317175" y="4541520"/>
            <a:ext cx="411480" cy="914"/>
          </a:xfrm>
          <a:prstGeom prst="line">
            <a:avLst/>
          </a:prstGeom>
          <a:noFill/>
          <a:ln w="20320">
            <a:solidFill>
              <a:srgbClr val="2A5247"/>
            </a:solidFill>
            <a:prstDash val="solid"/>
          </a:ln>
        </p:spPr>
      </p:sp>
      <p:sp>
        <p:nvSpPr>
          <p:cNvPr id="9" name="Shape 7"/>
          <p:cNvSpPr/>
          <p:nvPr/>
        </p:nvSpPr>
        <p:spPr>
          <a:xfrm flipV="1">
            <a:off x="10728655" y="4236720"/>
            <a:ext cx="914" cy="304800"/>
          </a:xfrm>
          <a:prstGeom prst="line">
            <a:avLst/>
          </a:prstGeom>
          <a:noFill/>
          <a:ln w="20320">
            <a:solidFill>
              <a:srgbClr val="2A5247"/>
            </a:solidFill>
            <a:prstDash val="solid"/>
          </a:ln>
        </p:spPr>
      </p:sp>
      <p:sp>
        <p:nvSpPr>
          <p:cNvPr id="10" name="Shape 8"/>
          <p:cNvSpPr/>
          <p:nvPr/>
        </p:nvSpPr>
        <p:spPr>
          <a:xfrm>
            <a:off x="10728655" y="4236720"/>
            <a:ext cx="411480" cy="914"/>
          </a:xfrm>
          <a:prstGeom prst="line">
            <a:avLst/>
          </a:prstGeom>
          <a:noFill/>
          <a:ln w="20320">
            <a:solidFill>
              <a:srgbClr val="2A5247"/>
            </a:solidFill>
            <a:prstDash val="solid"/>
          </a:ln>
        </p:spPr>
      </p:sp>
      <p:sp>
        <p:nvSpPr>
          <p:cNvPr id="11" name="Shape 9"/>
          <p:cNvSpPr/>
          <p:nvPr/>
        </p:nvSpPr>
        <p:spPr>
          <a:xfrm flipV="1">
            <a:off x="11140135" y="3931920"/>
            <a:ext cx="914" cy="304800"/>
          </a:xfrm>
          <a:prstGeom prst="line">
            <a:avLst/>
          </a:prstGeom>
          <a:noFill/>
          <a:ln w="20320">
            <a:solidFill>
              <a:srgbClr val="2A5247"/>
            </a:solidFill>
            <a:prstDash val="solid"/>
          </a:ln>
        </p:spPr>
      </p:sp>
      <p:sp>
        <p:nvSpPr>
          <p:cNvPr id="12" name="Shape 10"/>
          <p:cNvSpPr/>
          <p:nvPr/>
        </p:nvSpPr>
        <p:spPr>
          <a:xfrm>
            <a:off x="11140135" y="3931920"/>
            <a:ext cx="411480" cy="914"/>
          </a:xfrm>
          <a:prstGeom prst="line">
            <a:avLst/>
          </a:prstGeom>
          <a:noFill/>
          <a:ln w="20320">
            <a:solidFill>
              <a:srgbClr val="2A5247"/>
            </a:solidFill>
            <a:prstDash val="solid"/>
          </a:ln>
        </p:spPr>
      </p:sp>
      <p:sp>
        <p:nvSpPr>
          <p:cNvPr id="13" name="Text 11"/>
          <p:cNvSpPr txBox="1"/>
          <p:nvPr/>
        </p:nvSpPr>
        <p:spPr>
          <a:xfrm>
            <a:off x="566928" y="868680"/>
            <a:ext cx="6766560" cy="73152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Thank you</a:t>
            </a:r>
            <a:endParaRPr lang="en-US" sz="4000" dirty="0"/>
          </a:p>
        </p:txBody>
      </p:sp>
      <p:sp>
        <p:nvSpPr>
          <p:cNvPr id="14" name="Text 12"/>
          <p:cNvSpPr txBox="1"/>
          <p:nvPr/>
        </p:nvSpPr>
        <p:spPr>
          <a:xfrm>
            <a:off x="566928" y="1664208"/>
            <a:ext cx="6766560" cy="640080"/>
          </a:xfrm>
          <a:prstGeom prst="rect">
            <a:avLst/>
          </a:prstGeom>
          <a:noFill/>
          <a:ln/>
        </p:spPr>
        <p:txBody>
          <a:bodyPr wrap="square" lIns="0" tIns="0" rIns="0" bIns="0" rtlCol="0" anchor="ctr"/>
          <a:lstStyle/>
          <a:p>
            <a:pPr indent="0" marL="0">
              <a:buNone/>
            </a:pPr>
            <a:r>
              <a:rPr lang="en-US" sz="3400" b="1" dirty="0">
                <a:solidFill>
                  <a:srgbClr val="3E8E72"/>
                </a:solidFill>
                <a:latin typeface="Cambria" pitchFamily="34" charset="0"/>
                <a:ea typeface="Cambria" pitchFamily="34" charset="-122"/>
                <a:cs typeface="Cambria" pitchFamily="34" charset="-120"/>
              </a:rPr>
              <a:t>Questions</a:t>
            </a:r>
            <a:endParaRPr lang="en-US" sz="3400" dirty="0"/>
          </a:p>
        </p:txBody>
      </p:sp>
      <p:sp>
        <p:nvSpPr>
          <p:cNvPr id="15" name="Shape 13"/>
          <p:cNvSpPr/>
          <p:nvPr/>
        </p:nvSpPr>
        <p:spPr>
          <a:xfrm>
            <a:off x="566928" y="2596896"/>
            <a:ext cx="1463040" cy="914"/>
          </a:xfrm>
          <a:prstGeom prst="line">
            <a:avLst/>
          </a:prstGeom>
          <a:noFill/>
          <a:ln w="27940">
            <a:solidFill>
              <a:srgbClr val="3E8E72"/>
            </a:solidFill>
            <a:prstDash val="solid"/>
          </a:ln>
        </p:spPr>
      </p:sp>
      <p:sp>
        <p:nvSpPr>
          <p:cNvPr id="16" name="Text 14"/>
          <p:cNvSpPr txBox="1"/>
          <p:nvPr/>
        </p:nvSpPr>
        <p:spPr>
          <a:xfrm>
            <a:off x="566928" y="2871216"/>
            <a:ext cx="6766560" cy="237744"/>
          </a:xfrm>
          <a:prstGeom prst="rect">
            <a:avLst/>
          </a:prstGeom>
          <a:noFill/>
          <a:ln/>
        </p:spPr>
        <p:txBody>
          <a:bodyPr wrap="square" lIns="0" tIns="0" rIns="0" bIns="0" rtlCol="0" anchor="ctr"/>
          <a:lstStyle/>
          <a:p>
            <a:pPr indent="0" marL="0">
              <a:buNone/>
            </a:pPr>
            <a:r>
              <a:rPr lang="en-US" sz="1100" spc="100" kern="0" dirty="0">
                <a:solidFill>
                  <a:srgbClr val="8FB8A6"/>
                </a:solidFill>
              </a:rPr>
              <a:t>Figures you may want during the discussion</a:t>
            </a:r>
            <a:endParaRPr lang="en-US" sz="1100" dirty="0"/>
          </a:p>
        </p:txBody>
      </p:sp>
      <p:sp>
        <p:nvSpPr>
          <p:cNvPr id="17" name="Text 15"/>
          <p:cNvSpPr txBox="1"/>
          <p:nvPr/>
        </p:nvSpPr>
        <p:spPr>
          <a:xfrm>
            <a:off x="566928" y="3255264"/>
            <a:ext cx="3657600" cy="31089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7,881 / 21,519 HV</a:t>
            </a:r>
            <a:endParaRPr lang="en-US" sz="1500" dirty="0"/>
          </a:p>
        </p:txBody>
      </p:sp>
      <p:sp>
        <p:nvSpPr>
          <p:cNvPr id="18" name="Text 16"/>
          <p:cNvSpPr txBox="1"/>
          <p:nvPr/>
        </p:nvSpPr>
        <p:spPr>
          <a:xfrm>
            <a:off x="566928" y="3557016"/>
            <a:ext cx="3657600" cy="402336"/>
          </a:xfrm>
          <a:prstGeom prst="rect">
            <a:avLst/>
          </a:prstGeom>
          <a:noFill/>
          <a:ln/>
        </p:spPr>
        <p:txBody>
          <a:bodyPr wrap="square" lIns="0" tIns="0" rIns="0" bIns="0" rtlCol="0" anchor="ctr"/>
          <a:lstStyle/>
          <a:p>
            <a:pPr indent="0" marL="0">
              <a:lnSpc>
                <a:spcPts val="1400"/>
              </a:lnSpc>
              <a:buNone/>
            </a:pPr>
            <a:r>
              <a:rPr lang="en-US" sz="1050" dirty="0">
                <a:solidFill>
                  <a:srgbClr val="B9CFC4"/>
                </a:solidFill>
              </a:rPr>
              <a:t>per-instance and aggregate noise floors</a:t>
            </a:r>
            <a:endParaRPr lang="en-US" sz="1050" dirty="0"/>
          </a:p>
        </p:txBody>
      </p:sp>
      <p:sp>
        <p:nvSpPr>
          <p:cNvPr id="19" name="Text 17"/>
          <p:cNvSpPr txBox="1"/>
          <p:nvPr/>
        </p:nvSpPr>
        <p:spPr>
          <a:xfrm>
            <a:off x="4498848" y="3255264"/>
            <a:ext cx="3657600" cy="31089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5 of 10</a:t>
            </a:r>
            <a:endParaRPr lang="en-US" sz="1500" dirty="0"/>
          </a:p>
        </p:txBody>
      </p:sp>
      <p:sp>
        <p:nvSpPr>
          <p:cNvPr id="20" name="Text 18"/>
          <p:cNvSpPr txBox="1"/>
          <p:nvPr/>
        </p:nvSpPr>
        <p:spPr>
          <a:xfrm>
            <a:off x="4498848" y="3557016"/>
            <a:ext cx="3657600" cy="402336"/>
          </a:xfrm>
          <a:prstGeom prst="rect">
            <a:avLst/>
          </a:prstGeom>
          <a:noFill/>
          <a:ln/>
        </p:spPr>
        <p:txBody>
          <a:bodyPr wrap="square" lIns="0" tIns="0" rIns="0" bIns="0" rtlCol="0" anchor="ctr"/>
          <a:lstStyle/>
          <a:p>
            <a:pPr indent="0" marL="0">
              <a:lnSpc>
                <a:spcPts val="1400"/>
              </a:lnSpc>
              <a:buNone/>
            </a:pPr>
            <a:r>
              <a:rPr lang="en-US" sz="1050" dirty="0">
                <a:solidFill>
                  <a:srgbClr val="B9CFC4"/>
                </a:solidFill>
              </a:rPr>
              <a:t>rows that separate first from second place</a:t>
            </a:r>
            <a:endParaRPr lang="en-US" sz="1050" dirty="0"/>
          </a:p>
        </p:txBody>
      </p:sp>
      <p:sp>
        <p:nvSpPr>
          <p:cNvPr id="21" name="Text 19"/>
          <p:cNvSpPr txBox="1"/>
          <p:nvPr/>
        </p:nvSpPr>
        <p:spPr>
          <a:xfrm>
            <a:off x="566928" y="4041648"/>
            <a:ext cx="3657600" cy="31089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15.9× vs 0.4–2.0×</a:t>
            </a:r>
            <a:endParaRPr lang="en-US" sz="1500" dirty="0"/>
          </a:p>
        </p:txBody>
      </p:sp>
      <p:sp>
        <p:nvSpPr>
          <p:cNvPr id="22" name="Text 20"/>
          <p:cNvSpPr txBox="1"/>
          <p:nvPr/>
        </p:nvSpPr>
        <p:spPr>
          <a:xfrm>
            <a:off x="566928" y="4343400"/>
            <a:ext cx="3657600" cy="402336"/>
          </a:xfrm>
          <a:prstGeom prst="rect">
            <a:avLst/>
          </a:prstGeom>
          <a:noFill/>
          <a:ln/>
        </p:spPr>
        <p:txBody>
          <a:bodyPr wrap="square" lIns="0" tIns="0" rIns="0" bIns="0" rtlCol="0" anchor="ctr"/>
          <a:lstStyle/>
          <a:p>
            <a:pPr indent="0" marL="0">
              <a:lnSpc>
                <a:spcPts val="1400"/>
              </a:lnSpc>
              <a:buNone/>
            </a:pPr>
            <a:r>
              <a:rPr lang="en-US" sz="1050" dirty="0">
                <a:solidFill>
                  <a:srgbClr val="B9CFC4"/>
                </a:solidFill>
              </a:rPr>
              <a:t>construction against the three search levers</a:t>
            </a:r>
            <a:endParaRPr lang="en-US" sz="1050" dirty="0"/>
          </a:p>
        </p:txBody>
      </p:sp>
      <p:sp>
        <p:nvSpPr>
          <p:cNvPr id="23" name="Text 21"/>
          <p:cNvSpPr txBox="1"/>
          <p:nvPr/>
        </p:nvSpPr>
        <p:spPr>
          <a:xfrm>
            <a:off x="4498848" y="4041648"/>
            <a:ext cx="3657600" cy="31089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0.2327%</a:t>
            </a:r>
            <a:endParaRPr lang="en-US" sz="1500" dirty="0"/>
          </a:p>
        </p:txBody>
      </p:sp>
      <p:sp>
        <p:nvSpPr>
          <p:cNvPr id="24" name="Text 22"/>
          <p:cNvSpPr txBox="1"/>
          <p:nvPr/>
        </p:nvSpPr>
        <p:spPr>
          <a:xfrm>
            <a:off x="4498848" y="4343400"/>
            <a:ext cx="3657600" cy="402336"/>
          </a:xfrm>
          <a:prstGeom prst="rect">
            <a:avLst/>
          </a:prstGeom>
          <a:noFill/>
          <a:ln/>
        </p:spPr>
        <p:txBody>
          <a:bodyPr wrap="square" lIns="0" tIns="0" rIns="0" bIns="0" rtlCol="0" anchor="ctr"/>
          <a:lstStyle/>
          <a:p>
            <a:pPr indent="0" marL="0">
              <a:lnSpc>
                <a:spcPts val="1400"/>
              </a:lnSpc>
              <a:buNone/>
            </a:pPr>
            <a:r>
              <a:rPr lang="en-US" sz="1050" dirty="0">
                <a:solidFill>
                  <a:srgbClr val="B9CFC4"/>
                </a:solidFill>
              </a:rPr>
              <a:t>the highest accept rate measured anywhere</a:t>
            </a:r>
            <a:endParaRPr lang="en-US" sz="1050" dirty="0"/>
          </a:p>
        </p:txBody>
      </p:sp>
      <p:sp>
        <p:nvSpPr>
          <p:cNvPr id="25" name="Text 23"/>
          <p:cNvSpPr txBox="1"/>
          <p:nvPr/>
        </p:nvSpPr>
        <p:spPr>
          <a:xfrm>
            <a:off x="566928" y="4828032"/>
            <a:ext cx="3657600" cy="31089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269,607 HV</a:t>
            </a:r>
            <a:endParaRPr lang="en-US" sz="1500" dirty="0"/>
          </a:p>
        </p:txBody>
      </p:sp>
      <p:sp>
        <p:nvSpPr>
          <p:cNvPr id="26" name="Text 24"/>
          <p:cNvSpPr txBox="1"/>
          <p:nvPr/>
        </p:nvSpPr>
        <p:spPr>
          <a:xfrm>
            <a:off x="566928" y="5129784"/>
            <a:ext cx="3657600" cy="402336"/>
          </a:xfrm>
          <a:prstGeom prst="rect">
            <a:avLst/>
          </a:prstGeom>
          <a:noFill/>
          <a:ln/>
        </p:spPr>
        <p:txBody>
          <a:bodyPr wrap="square" lIns="0" tIns="0" rIns="0" bIns="0" rtlCol="0" anchor="ctr"/>
          <a:lstStyle/>
          <a:p>
            <a:pPr indent="0" marL="0">
              <a:lnSpc>
                <a:spcPts val="1400"/>
              </a:lnSpc>
              <a:buNone/>
            </a:pPr>
            <a:r>
              <a:rPr lang="en-US" sz="1050" dirty="0">
                <a:solidFill>
                  <a:srgbClr val="B9CFC4"/>
                </a:solidFill>
              </a:rPr>
              <a:t>construction's lead at ten times the budget</a:t>
            </a:r>
            <a:endParaRPr lang="en-US" sz="1050" dirty="0"/>
          </a:p>
        </p:txBody>
      </p:sp>
      <p:sp>
        <p:nvSpPr>
          <p:cNvPr id="27" name="Text 25"/>
          <p:cNvSpPr txBox="1"/>
          <p:nvPr/>
        </p:nvSpPr>
        <p:spPr>
          <a:xfrm>
            <a:off x="4498848" y="4828032"/>
            <a:ext cx="3657600" cy="31089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0.63%</a:t>
            </a:r>
            <a:endParaRPr lang="en-US" sz="1500" dirty="0"/>
          </a:p>
        </p:txBody>
      </p:sp>
      <p:sp>
        <p:nvSpPr>
          <p:cNvPr id="28" name="Text 26"/>
          <p:cNvSpPr txBox="1"/>
          <p:nvPr/>
        </p:nvSpPr>
        <p:spPr>
          <a:xfrm>
            <a:off x="4498848" y="5129784"/>
            <a:ext cx="3657600" cy="402336"/>
          </a:xfrm>
          <a:prstGeom prst="rect">
            <a:avLst/>
          </a:prstGeom>
          <a:noFill/>
          <a:ln/>
        </p:spPr>
        <p:txBody>
          <a:bodyPr wrap="square" lIns="0" tIns="0" rIns="0" bIns="0" rtlCol="0" anchor="ctr"/>
          <a:lstStyle/>
          <a:p>
            <a:pPr indent="0" marL="0">
              <a:lnSpc>
                <a:spcPts val="1400"/>
              </a:lnSpc>
              <a:buNone/>
            </a:pPr>
            <a:r>
              <a:rPr lang="en-US" sz="1050" dirty="0">
                <a:solidFill>
                  <a:srgbClr val="B9CFC4"/>
                </a:solidFill>
              </a:rPr>
              <a:t>small-graph's distance from a provable ceiling</a:t>
            </a:r>
            <a:endParaRPr lang="en-US" sz="1050" dirty="0"/>
          </a:p>
        </p:txBody>
      </p:sp>
      <p:sp>
        <p:nvSpPr>
          <p:cNvPr id="29" name="Shape 27"/>
          <p:cNvSpPr/>
          <p:nvPr/>
        </p:nvSpPr>
        <p:spPr>
          <a:xfrm>
            <a:off x="566928" y="5724144"/>
            <a:ext cx="11057839" cy="914"/>
          </a:xfrm>
          <a:prstGeom prst="line">
            <a:avLst/>
          </a:prstGeom>
          <a:noFill/>
          <a:ln w="12700">
            <a:solidFill>
              <a:srgbClr val="2A5247"/>
            </a:solidFill>
            <a:prstDash val="solid"/>
          </a:ln>
        </p:spPr>
      </p:sp>
      <p:sp>
        <p:nvSpPr>
          <p:cNvPr id="30" name="Text 28"/>
          <p:cNvSpPr txBox="1"/>
          <p:nvPr/>
        </p:nvSpPr>
        <p:spPr>
          <a:xfrm>
            <a:off x="566928" y="5870448"/>
            <a:ext cx="6949440" cy="237744"/>
          </a:xfrm>
          <a:prstGeom prst="rect">
            <a:avLst/>
          </a:prstGeom>
          <a:noFill/>
          <a:ln/>
        </p:spPr>
        <p:txBody>
          <a:bodyPr wrap="square" lIns="0" tIns="0" rIns="0" bIns="0" rtlCol="0" anchor="ctr"/>
          <a:lstStyle/>
          <a:p>
            <a:pPr indent="0" marL="0">
              <a:buNone/>
            </a:pPr>
            <a:r>
              <a:rPr lang="en-US" sz="1050" dirty="0">
                <a:solidFill>
                  <a:srgbClr val="8FB8A6"/>
                </a:solidFill>
              </a:rPr>
              <a:t>Code, raw CSVs and every figure in this talk regenerate from harness/</a:t>
            </a:r>
            <a:endParaRPr lang="en-US" sz="1050" dirty="0"/>
          </a:p>
        </p:txBody>
      </p:sp>
      <p:sp>
        <p:nvSpPr>
          <p:cNvPr id="31" name="Text 29"/>
          <p:cNvSpPr txBox="1"/>
          <p:nvPr/>
        </p:nvSpPr>
        <p:spPr>
          <a:xfrm>
            <a:off x="566928" y="6144768"/>
            <a:ext cx="8229600" cy="237744"/>
          </a:xfrm>
          <a:prstGeom prst="rect">
            <a:avLst/>
          </a:prstGeom>
          <a:noFill/>
          <a:ln/>
        </p:spPr>
        <p:txBody>
          <a:bodyPr wrap="square" lIns="0" tIns="0" rIns="0" bIns="0" rtlCol="0" anchor="ctr"/>
          <a:lstStyle/>
          <a:p>
            <a:pPr indent="0" marL="0">
              <a:buNone/>
            </a:pPr>
            <a:r>
              <a:rPr lang="en-US" sz="1150" dirty="0">
                <a:solidFill>
                  <a:srgbClr val="FFFFFF"/>
                </a:solidFill>
              </a:rPr>
              <a:t>Adrian Ymeri · adrian.ymeri@uni-pr.edu · University of Prishtina</a:t>
            </a:r>
            <a:endParaRPr lang="en-US" sz="1150" dirty="0"/>
          </a:p>
        </p:txBody>
      </p:sp>
    </p:spTree>
  </p:cSld>
  <p:clrMapOvr>
    <a:masterClrMapping/>
  </p:clrMapOvr>
</p:sld>
</file>

<file path=ppt/theme/theme1.xml><?xml version="1.0" encoding="utf-8"?>
<a:theme xmlns:a="http://schemas.openxmlformats.org/drawingml/2006/main" name="Torso">
  <a:themeElements>
    <a:clrScheme name="Torso">
      <a:dk1>
        <a:srgbClr val="11211C"/>
      </a:dk1>
      <a:lt1>
        <a:srgbClr val="FFFFFF"/>
      </a:lt1>
      <a:dk2>
        <a:srgbClr val="1F3A33"/>
      </a:dk2>
      <a:lt2>
        <a:srgbClr val="EFF3F1"/>
      </a:lt2>
      <a:accent1>
        <a:srgbClr val="3E8E72"/>
      </a:accent1>
      <a:accent2>
        <a:srgbClr val="C0603C"/>
      </a:accent2>
      <a:accent3>
        <a:srgbClr val="6B7A75"/>
      </a:accent3>
      <a:accent4>
        <a:srgbClr val="8FB8A6"/>
      </a:accent4>
      <a:accent5>
        <a:srgbClr val="2A5247"/>
      </a:accent5>
      <a:accent6>
        <a:srgbClr val="B9CFC4"/>
      </a:accent6>
      <a:hlink>
        <a:srgbClr val="3E8E72"/>
      </a:hlink>
      <a:folHlink>
        <a:srgbClr val="6B7A75"/>
      </a:folHlink>
    </a:clrScheme>
    <a:fontScheme name="Tors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University of Prishtina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Torso Decompositions: what a benchmark table does and does not prove</dc:title>
  <dc:subject>AlbShkenca 2026</dc:subject>
  <dc:creator>Adrian Ymeri</dc:creator>
  <cp:lastModifiedBy>Adrian Ymeri</cp:lastModifiedBy>
  <cp:revision>1</cp:revision>
  <dcterms:created xsi:type="dcterms:W3CDTF">2026-10-13T06:10:14Z</dcterms:created>
  <dcterms:modified xsi:type="dcterms:W3CDTF">2026-10-13T06:10:14Z</dcterms:modified>
</cp:coreProperties>
</file>