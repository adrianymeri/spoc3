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52c32a6a-cf2e-5db1-d714-4da7b2ae835f}">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Backup" id="{0526d0df-ceb3-b3d3-262a-99de321e1cb1}">
          <p14:sldIdLst>
            <p14:sldId id="273"/>
            <p14:sldId id="274"/>
            <p14:sldId id="275"/>
            <p14:sldId id="276"/>
            <p14:sldId id="277"/>
            <p14:sldId id="278"/>
            <p14:sldId id="279"/>
            <p14:sldId id="280"/>
            <p14:sldId id="281"/>
          </p14:sldIdLst>
        </p14:section>
        <p14:section name="Closing" id="{b9793ad6-9431-feb5-ac70-108f9186da42}">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Thank you. I am Adrian Ymeri, from the Department of Computer Engineering at the University of Prishtina. This talk is a controlled comparison of a Hill-Climbing method with the leading methods of ESA’s SpOC-3 torso decomposition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The aim, on the left, in one sentence: compare the methods under one protocol, and find out what really determines the score. Below it are the four contributions of the study. The talk follows the classic structure on the right, and the section number appears above every slide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SpOC-3 is the third Space Optimisation Competition of ESA’s Advanced Concepts Team, run together with GECCO 2024. Its graph problem comes from a story about planning the construction of a megastructure: the plan is a graph of building blocks and their interactions, and it has to be split into manageable parts. We remove part of the graph and keep a core, the torso; whatever we remove leaves edges between the vertices it connected. The torso should be as large and as sparse as possible, and these two goals conflict. On the right: three official graphs, up to twenty solutions per graph, a hypervolume score, and public leaderboards with fourteen, ten and ten entries.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Four questions structure the study. One: how does our Hill-Climbing compare with the three leading methods when all of them run under the same protocol? Two: which of the differences are reliable across random seeds? Three: which part of a local search actually determines the score? Four: does more time change the picture, and how far is everyone from the best possible score? Each question is answered by one results slide, named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This is ESA’s own ten-vertex example. Read the ordering from left to right. Vertex 0 is eliminated first; its later neighbours, 1 and 2, are not adjacent, so they are joined: that is the first red fill edge. Nine fill edges appear in total. We cut after the first six vertices, t = 6, and the last four vertices form the torso. The number under each vertex counts its later neighbours when it is eliminated; inside the torso the largest is 2, so the width is 2. The six vertices before the cut do not count towards the width, but they must still stay within the cap of 500. Our evaluator reproduces ESA’s stated answer for this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Formally, a solution is an ordering π and a threshold t. Eliminating in the order of π creates the fill edges; the last n − t vertices form the torso Γ(π, t); its width is the largest number of later neighbours of a torso vertex. Both the width and t are minimised. One hard rule: every elimination step, including those before the cut, may have at most 500 later neighbours; otherwise ESA scores the point as width 501. A submission is up to twenty points, and its score is the area they dominate up to the reference point (n, n): the hypervolume. ESA shows it with a minus sign; I quote the positive area, in HV.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Besides the three official graphs, seven synthetic graphs were generated to match them. They form three families: sparse grids with pendant vertices, rewired medium graphs, and dense graphs pinned by large cliques. Within a family the size is the same and only the structure differs. So the ten instances are really three independent structures, which is why the results are read per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Five methods. Spacekangaroos, first in ESA’s ranking, evolves a rule that scores the vertices and then sorts them; we ran the authors’ own GPU code, with one overflow fix. Team HRI, second, uses large-neighbourhood search; no code was published, so it was re-implemented from the team’s paper. fcmaes, fourth, runs CMA-ES over feature weights; it was ported from the fast-cma-es approach. Then our Hill-Climbing, and a baseline with no search at all: eight min-degree constructions. Min-degree means: always eliminate a vertex with the fewest current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Our method is deliberately simple. It starts from a min-degree ordering and splits the time over eight target widths. For each target width it tries random moves, one of four operators, and keeps a move only if it strictly reduces t at that width. Every ordering it evaluates, accepted or not, adds its points to a shared archive, and at the end the best twenty points are chosen exactly by dynamic programming. On the right: an exact delta evaluator, which re-evaluates only the part of the ordering that a move changes, gives 1.81 times more candidates per second on average. It was not used in the comparison runs reported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Every method had 1,200 seconds per run and three seeds, on ten instances. Each CPU method was pinned to one core; Spacekangaroos ran on one T4 GPU, as published. Every answer was re-scored by one evaluator, which gives identical results to ESA’s published evaluation code. The starting point needs a comment. In an earlier benchmark, Team HRI started from a random ordering, as its paper specifies, and our method from min-degree; the difference looked like 275,000 HV. With the same start it is 1,234 HV. So the two ordering-based searches always start from the same min-degree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the main comparison: the best of three seeds for every method and instance, in thousands of HV. The leaderboard methods win eight of the ten rows; Hill-Climbing wins synth-1 and synth-3. fcmaes clearly leads the dense family. Spacekangaroos wins small-graph but finds no feasible solution on the dense graphs within the budget. And the min-degree construction alone, in the last column, is within one percent of the best on the sparse graphs. A table always names a winner in every row; the question is whether those winners are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Here we read all three seeds instead of only the best one. A row counts as resolved when every seed of the winner beats every seed of every rival and the median agrees; with three seeds this is an exact rank test at p = 0.05. Five rows pass: synth-3, synth-4 and the three dense rows. Five do not. On the right, small-graph: Spacekangaroos wins the best of three on a single lucky seed; its other two seeds are below all three seeds of Team HRI, and the median names Team HRI. The best of three favours noisier methods, so it should always be reported together with the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Now the components. Each variant changes exactly one part of our Hill-Climbing: the moves, the acceptance rule, or the starting construction. The shaded band is how much the control itself moves when it is simply run a second time: 21,519 HV on the ten-instance total. The new move set and VNS stay inside the band, and change sign against the other run of the control. Simulated annealing reaches about twice the band against one run and about once against the other. Only the randomised construction, GRASP, clearly exceeds the band, by almost sixteen times, and all of that gain comes from the three dense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slide can be skipped if time is short. Thirteen new operators, from k-opt to structure-aware moves, each used on its own, and all seventeen together. None improves on the control by more than the band, and none wins a single instance against both runs of the control. The reason: moves are almost never accepted. The highest acceptance rate anywhere is 0.23 percent. The width is a maximum held by one vertex, so most moves change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Does more time help? Ten times the budget gives Hill-Climbing 33,043 HV, about a tenth of the construction’s lead, which stays above 269,607 HV at every budget. On the right: how good could any answer be? Eliminating t vertices can lower the treewidth by at most t, and this gives an upper bound on every score. The best known small-graph score is within 0.63 percent of it, so that instance is practically solved. On medium-graph the bound is loose. On large-graph a 500-vertex clique pins the treewidth to 499 or 500, so the 4.54 percent gap is real headroom.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What do the results mean? The construction does most of the work: min-degree alone reaches at least 99.3 percent of the best score on sparse graphs and about 90 percent on dense ones, and it would place seventh to ninth on all three ESA leaderboards. Changes to the search stay within the noise of re-running the control, and half of the table’s winners are not supported by every seed. The limitations are on the right: three seeds, one main budget, one dense structure, and re-implementations.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 answers to the four questions: under one protocol the leaderboard methods win eight of ten rows; only five winners are reliable across seeds; the starting construction, not the search, determines the score; and ten times more time recovers only a tenth of the gap. For anyone running such a comparison, three recommendations, and three directions for future work.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Every number on the reliability slide can be read off this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the band on the components slide. Per instance, the change between the two runs is no larger than the scatter of the seeds within a run; synth-4 moved 7,881 HV, but its own seeds spread 13,214 HV. On the ten-instance total, only 4.6 percent of reshuffles move the total as far as observed, so the two runs do differ in aggregate, and 21,519 HV is the noise floor for ten-instance totals.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fairness. If asked how we know the scoring is ESA’s: harness/esa_crosscheck.py runs ESA’s published evaluation file beside ours; every check is identical, and the three competition graphs are byte-identical to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argument fits on one line: put the eliminated set into every bag. A gap is two unknowns added together: how far the best answer is from the optimum, plus how far the bound is from it. Where the gap is small both are small. On large-graph a 500-clique forces treewidth to at least 499, and feasible answers inside the cap force it to at most 500: treewidth known to within one on a 2,426-vertex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the starting point. The six zeros are the argument: on six instances a random ordering is not a weak start, it is no start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first two paragraphs are a derivation,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the search operators. Sources: harness/delta_check.log for exactness, harness/speed.log for the speed-up (the author’s run: 1.70× sparse, 1.88× medium, 1.89× dense; an independent re-run on another machine gave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lead is measured against the construction’s mean over the three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errors were in the study’s own code or in code it vendored, and none was caught by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 these six figures are the ones most likely to be asked about. The backup slides are hidden and sit just before this slide. To open one during questions, type its number and press Enter: 18 every seed, 19 the control run twice, 20 protocol details, 21 the upper bound in detail, 22 why a random start fails, 23 sparse instances are one-dimensional, 24 k-opt and the delta evaluator, 25 the budget sweep in full, 26 four errors found during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0F17"/>
        </a:solidFill>
      </p:bgPr>
    </p:bg>
    <p:spTree>
      <p:nvGrpSpPr>
        <p:cNvPr id="1" name=""/>
        <p:cNvGrpSpPr/>
        <p:nvPr/>
      </p:nvGrpSpPr>
      <p:grpSpPr>
        <a:xfrm>
          <a:off x="0" y="0"/>
          <a:ext cx="0" cy="0"/>
          <a:chOff x="0" y="0"/>
          <a:chExt cx="0" cy="0"/>
        </a:xfrm>
      </p:grpSpPr>
      <p:sp>
        <p:nvSpPr>
          <p:cNvPr id="2" name="Text 0"/>
          <p:cNvSpPr/>
          <p:nvPr/>
        </p:nvSpPr>
        <p:spPr>
          <a:xfrm>
            <a:off x="640080" y="6446520"/>
            <a:ext cx="7772400" cy="219456"/>
          </a:xfrm>
          <a:prstGeom prst="rect">
            <a:avLst/>
          </a:prstGeom>
          <a:noFill/>
          <a:ln/>
        </p:spPr>
        <p:txBody>
          <a:bodyPr wrap="square" lIns="0" tIns="0" rIns="0" bIns="0" rtlCol="0" anchor="ctr"/>
          <a:lstStyle/>
          <a:p>
            <a:pPr indent="0" marL="0">
              <a:buNone/>
            </a:pPr>
            <a:r>
              <a:rPr lang="en-US" sz="1000" dirty="0">
                <a:solidFill>
                  <a:srgbClr val="7D8AA0"/>
                </a:solidFill>
                <a:latin typeface="Calibri" pitchFamily="34" charset="0"/>
                <a:ea typeface="Calibri" pitchFamily="34" charset="-122"/>
                <a:cs typeface="Calibri" pitchFamily="34" charset="-120"/>
              </a:rPr>
              <a:t>Bi-objective optimization of graph structures · AlbShkenca 2026</a:t>
            </a:r>
            <a:endParaRPr lang="en-US" sz="1000" dirty="0"/>
          </a:p>
        </p:txBody>
      </p:sp>
      <p:sp>
        <p:nvSpPr>
          <p:cNvPr id="3" name="Text 1"/>
          <p:cNvSpPr/>
          <p:nvPr>
            <p:ph idx="101" type="body" hasCustomPrompt="1"/>
          </p:nvPr>
        </p:nvSpPr>
        <p:spPr>
          <a:xfrm>
            <a:off x="640080" y="402336"/>
            <a:ext cx="10911535" cy="256032"/>
          </a:xfrm>
          <a:prstGeom prst="rect">
            <a:avLst/>
          </a:prstGeom>
          <a:noFill/>
          <a:ln/>
        </p:spPr>
        <p:txBody>
          <a:bodyPr wrap="square" rtlCol="0"/>
          <a:lstStyle>
            <a:lvl1pPr algn="l" indent="0" marL="0">
              <a:buNone/>
              <a:defRPr lang="en-US" sz="1050" b="1" spc="180" kern="0" dirty="0">
                <a:solidFill>
                  <a:srgbClr val="9AA6B6"/>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640080" y="676656"/>
            <a:ext cx="10911535" cy="868680"/>
          </a:xfrm>
          <a:prstGeom prst="rect">
            <a:avLst/>
          </a:prstGeom>
          <a:noFill/>
          <a:ln/>
        </p:spPr>
        <p:txBody>
          <a:bodyPr wrap="square" rtlCol="0"/>
          <a:lstStyle>
            <a:lvl1pPr algn="l" indent="0" marL="0">
              <a:buNone/>
              <a:defRPr lang="en-US" sz="2700" dirty="0">
                <a:solidFill>
                  <a:srgbClr val="E8ECF2"/>
                </a:solidFill>
                <a:latin typeface="Century Schoolbook" pitchFamily="34" charset="0"/>
                <a:ea typeface="Century Schoolbook" pitchFamily="34" charset="-122"/>
                <a:cs typeface="Century Schoolbook"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niversity of Prishtina">    </p:cNvPr>
          <p:cNvPicPr>
            <a:picLocks noChangeAspect="1"/>
          </p:cNvPicPr>
          <p:nvPr/>
        </p:nvPicPr>
        <p:blipFill>
          <a:blip r:embed="rId1"/>
          <a:stretch>
            <a:fillRect/>
          </a:stretch>
        </p:blipFill>
        <p:spPr>
          <a:xfrm>
            <a:off x="640080" y="502920"/>
            <a:ext cx="914400" cy="914400"/>
          </a:xfrm>
          <a:prstGeom prst="rect">
            <a:avLst/>
          </a:prstGeom>
        </p:spPr>
      </p:pic>
      <p:sp>
        <p:nvSpPr>
          <p:cNvPr id="3" name="Text 0"/>
          <p:cNvSpPr txBox="1"/>
          <p:nvPr/>
        </p:nvSpPr>
        <p:spPr>
          <a:xfrm>
            <a:off x="640080" y="1737360"/>
            <a:ext cx="7132320" cy="237744"/>
          </a:xfrm>
          <a:prstGeom prst="rect">
            <a:avLst/>
          </a:prstGeom>
          <a:noFill/>
          <a:ln/>
        </p:spPr>
        <p:txBody>
          <a:bodyPr wrap="square" lIns="0" tIns="0" rIns="0" bIns="0" rtlCol="0" anchor="t"/>
          <a:lstStyle/>
          <a:p>
            <a:pPr indent="0" marL="0">
              <a:buNone/>
            </a:pPr>
            <a:r>
              <a:rPr lang="en-US" sz="1200" b="1" spc="300" kern="0" dirty="0">
                <a:solidFill>
                  <a:srgbClr val="3DDC97"/>
                </a:solidFill>
                <a:latin typeface="Calibri" pitchFamily="34" charset="0"/>
                <a:ea typeface="Calibri" pitchFamily="34" charset="-122"/>
                <a:cs typeface="Calibri" pitchFamily="34" charset="-120"/>
              </a:rPr>
              <a:t>ALBSHKENCA 2026 · 4–5 DECEMBER · PRISHTINA</a:t>
            </a:r>
            <a:endParaRPr lang="en-US" sz="1200" dirty="0"/>
          </a:p>
        </p:txBody>
      </p:sp>
      <p:sp>
        <p:nvSpPr>
          <p:cNvPr id="4" name="Text 1"/>
          <p:cNvSpPr txBox="1"/>
          <p:nvPr/>
        </p:nvSpPr>
        <p:spPr>
          <a:xfrm>
            <a:off x="640080" y="2066544"/>
            <a:ext cx="7406640" cy="1399032"/>
          </a:xfrm>
          <a:prstGeom prst="rect">
            <a:avLst/>
          </a:prstGeom>
          <a:noFill/>
          <a:ln/>
        </p:spPr>
        <p:txBody>
          <a:bodyPr wrap="square" lIns="0" tIns="0" rIns="0" bIns="0" rtlCol="0" anchor="t"/>
          <a:lstStyle/>
          <a:p>
            <a:pPr indent="0" marL="0">
              <a:lnSpc>
                <a:spcPct val="98000"/>
              </a:lnSpc>
              <a:buNone/>
            </a:pPr>
            <a:r>
              <a:rPr lang="en-US" sz="3000" dirty="0">
                <a:solidFill>
                  <a:srgbClr val="FFFFFF"/>
                </a:solidFill>
                <a:latin typeface="Century Schoolbook" pitchFamily="34" charset="0"/>
                <a:ea typeface="Century Schoolbook" pitchFamily="34" charset="-122"/>
                <a:cs typeface="Century Schoolbook" pitchFamily="34" charset="-120"/>
              </a:rPr>
              <a:t>Bi-objective optimization of graph</a:t>
            </a:r>
            <a:endParaRPr lang="en-US" sz="3000" dirty="0"/>
          </a:p>
          <a:p>
            <a:pPr indent="0" marL="0">
              <a:lnSpc>
                <a:spcPct val="98000"/>
              </a:lnSpc>
              <a:buNone/>
            </a:pPr>
            <a:r>
              <a:rPr lang="en-US" sz="3000" dirty="0">
                <a:solidFill>
                  <a:srgbClr val="FFFFFF"/>
                </a:solidFill>
                <a:latin typeface="Century Schoolbook" pitchFamily="34" charset="0"/>
                <a:ea typeface="Century Schoolbook" pitchFamily="34" charset="-122"/>
                <a:cs typeface="Century Schoolbook" pitchFamily="34" charset="-120"/>
              </a:rPr>
              <a:t>structures through concurrent</a:t>
            </a:r>
            <a:endParaRPr lang="en-US" sz="3000" dirty="0"/>
          </a:p>
          <a:p>
            <a:pPr indent="0" marL="0">
              <a:lnSpc>
                <a:spcPct val="98000"/>
              </a:lnSpc>
              <a:buNone/>
            </a:pPr>
            <a:r>
              <a:rPr lang="en-US" sz="3000" dirty="0">
                <a:solidFill>
                  <a:srgbClr val="FFFFFF"/>
                </a:solidFill>
                <a:latin typeface="Century Schoolbook" pitchFamily="34" charset="0"/>
                <a:ea typeface="Century Schoolbook" pitchFamily="34" charset="-122"/>
                <a:cs typeface="Century Schoolbook" pitchFamily="34" charset="-120"/>
              </a:rPr>
              <a:t>decomposition and assembly</a:t>
            </a:r>
            <a:endParaRPr lang="en-US" sz="3000" dirty="0"/>
          </a:p>
        </p:txBody>
      </p:sp>
      <p:sp>
        <p:nvSpPr>
          <p:cNvPr id="5" name="Text 2"/>
          <p:cNvSpPr txBox="1"/>
          <p:nvPr/>
        </p:nvSpPr>
        <p:spPr>
          <a:xfrm>
            <a:off x="640080" y="3611880"/>
            <a:ext cx="7406640" cy="615696"/>
          </a:xfrm>
          <a:prstGeom prst="rect">
            <a:avLst/>
          </a:prstGeom>
          <a:noFill/>
          <a:ln/>
        </p:spPr>
        <p:txBody>
          <a:bodyPr wrap="square" lIns="0" tIns="0" rIns="0" bIns="0" rtlCol="0" anchor="t"/>
          <a:lstStyle/>
          <a:p>
            <a:pPr indent="0" marL="0">
              <a:buNone/>
            </a:pPr>
            <a:r>
              <a:rPr lang="en-US" sz="1900" dirty="0">
                <a:solidFill>
                  <a:srgbClr val="C3CCD8"/>
                </a:solidFill>
                <a:latin typeface="Calibri" pitchFamily="34" charset="0"/>
                <a:ea typeface="Calibri" pitchFamily="34" charset="-122"/>
                <a:cs typeface="Calibri" pitchFamily="34" charset="-120"/>
              </a:rPr>
              <a:t>A controlled comparison of Hill-Climbing</a:t>
            </a:r>
            <a:endParaRPr lang="en-US" sz="1900" dirty="0"/>
          </a:p>
          <a:p>
            <a:pPr indent="0" marL="0">
              <a:buNone/>
            </a:pPr>
            <a:r>
              <a:rPr lang="en-US" sz="1900" dirty="0">
                <a:solidFill>
                  <a:srgbClr val="C3CCD8"/>
                </a:solidFill>
                <a:latin typeface="Calibri" pitchFamily="34" charset="0"/>
                <a:ea typeface="Calibri" pitchFamily="34" charset="-122"/>
                <a:cs typeface="Calibri" pitchFamily="34" charset="-120"/>
              </a:rPr>
              <a:t>with the leading ESA SpOC-3 methods</a:t>
            </a:r>
            <a:endParaRPr lang="en-US" sz="1900" dirty="0"/>
          </a:p>
        </p:txBody>
      </p:sp>
      <p:sp>
        <p:nvSpPr>
          <p:cNvPr id="6" name="Shape 3"/>
          <p:cNvSpPr/>
          <p:nvPr/>
        </p:nvSpPr>
        <p:spPr>
          <a:xfrm>
            <a:off x="640080" y="4383024"/>
            <a:ext cx="822960" cy="0"/>
          </a:xfrm>
          <a:prstGeom prst="line">
            <a:avLst/>
          </a:prstGeom>
          <a:noFill/>
          <a:ln w="15875">
            <a:solidFill>
              <a:srgbClr val="3DDC97"/>
            </a:solidFill>
            <a:prstDash val="solid"/>
          </a:ln>
        </p:spPr>
      </p:sp>
      <p:sp>
        <p:nvSpPr>
          <p:cNvPr id="7" name="Text 4"/>
          <p:cNvSpPr txBox="1"/>
          <p:nvPr/>
        </p:nvSpPr>
        <p:spPr>
          <a:xfrm>
            <a:off x="640080" y="4538472"/>
            <a:ext cx="6949440" cy="329184"/>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MSc. Ass. Adrian Ymeri</a:t>
            </a:r>
            <a:endParaRPr lang="en-US" sz="1800" dirty="0"/>
          </a:p>
        </p:txBody>
      </p:sp>
      <p:sp>
        <p:nvSpPr>
          <p:cNvPr id="8" name="Text 5"/>
          <p:cNvSpPr txBox="1"/>
          <p:nvPr/>
        </p:nvSpPr>
        <p:spPr>
          <a:xfrm>
            <a:off x="640080" y="4922520"/>
            <a:ext cx="7132320" cy="630936"/>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Department of Computer Engineering</a:t>
            </a:r>
            <a:endParaRPr lang="en-US" sz="1300" dirty="0"/>
          </a:p>
          <a:p>
            <a:pPr indent="0" marL="0">
              <a:buNone/>
            </a:pPr>
            <a:r>
              <a:rPr lang="en-US" sz="1300" dirty="0">
                <a:solidFill>
                  <a:srgbClr val="9AA6B6"/>
                </a:solidFill>
                <a:latin typeface="Calibri" pitchFamily="34" charset="0"/>
                <a:ea typeface="Calibri" pitchFamily="34" charset="-122"/>
                <a:cs typeface="Calibri" pitchFamily="34" charset="-120"/>
              </a:rPr>
              <a:t>Faculty of Electrical and Computer Engineering</a:t>
            </a:r>
            <a:endParaRPr lang="en-US" sz="1300" dirty="0"/>
          </a:p>
          <a:p>
            <a:pPr indent="0" marL="0">
              <a:buNone/>
            </a:pPr>
            <a:r>
              <a:rPr lang="en-US" sz="1300" dirty="0">
                <a:solidFill>
                  <a:srgbClr val="9AA6B6"/>
                </a:solidFill>
                <a:latin typeface="Calibri" pitchFamily="34" charset="0"/>
                <a:ea typeface="Calibri" pitchFamily="34" charset="-122"/>
                <a:cs typeface="Calibri" pitchFamily="34" charset="-120"/>
              </a:rPr>
              <a:t>University of Prishtina “Hasan Prishtina”</a:t>
            </a:r>
            <a:endParaRPr lang="en-US" sz="1300" dirty="0"/>
          </a:p>
        </p:txBody>
      </p:sp>
      <p:sp>
        <p:nvSpPr>
          <p:cNvPr id="9" name="Text 6"/>
          <p:cNvSpPr txBox="1"/>
          <p:nvPr/>
        </p:nvSpPr>
        <p:spPr>
          <a:xfrm>
            <a:off x="640080" y="6272784"/>
            <a:ext cx="8686800" cy="256032"/>
          </a:xfrm>
          <a:prstGeom prst="rect">
            <a:avLst/>
          </a:prstGeom>
          <a:noFill/>
          <a:ln/>
        </p:spPr>
        <p:txBody>
          <a:bodyPr wrap="square" lIns="0" tIns="0" rIns="0" bIns="0" rtlCol="0" anchor="t"/>
          <a:lstStyle/>
          <a:p>
            <a:pPr indent="0" marL="0">
              <a:buNone/>
            </a:pPr>
            <a:r>
              <a:rPr lang="en-US" sz="1100" dirty="0">
                <a:solidFill>
                  <a:srgbClr val="7D8AA0"/>
                </a:solidFill>
                <a:latin typeface="Calibri" pitchFamily="34" charset="0"/>
                <a:ea typeface="Calibri" pitchFamily="34" charset="-122"/>
                <a:cs typeface="Calibri" pitchFamily="34" charset="-120"/>
              </a:rPr>
              <a:t>ESA SpOC-3 Torso Decompositions · 10 instances · 5 methods · 3 seeds × 1,200 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OVERVIEW</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Aim of the study and outline of the presentation</a:t>
            </a:r>
            <a:endParaRPr lang="en-US" sz="2700" dirty="0"/>
          </a:p>
        </p:txBody>
      </p:sp>
      <p:sp>
        <p:nvSpPr>
          <p:cNvPr id="4" name="Text 2"/>
          <p:cNvSpPr txBox="1"/>
          <p:nvPr/>
        </p:nvSpPr>
        <p:spPr>
          <a:xfrm>
            <a:off x="640080" y="1810512"/>
            <a:ext cx="4709160" cy="237744"/>
          </a:xfrm>
          <a:prstGeom prst="rect">
            <a:avLst/>
          </a:prstGeom>
          <a:noFill/>
          <a:ln/>
        </p:spPr>
        <p:txBody>
          <a:bodyPr wrap="square" lIns="0" tIns="0" rIns="0" bIns="0" rtlCol="0" anchor="t"/>
          <a:lstStyle/>
          <a:p>
            <a:pPr indent="0" marL="0">
              <a:buNone/>
            </a:pPr>
            <a:r>
              <a:rPr lang="en-US" sz="1050" b="1" spc="160" kern="0" dirty="0">
                <a:solidFill>
                  <a:srgbClr val="3DDC97"/>
                </a:solidFill>
                <a:latin typeface="Calibri" pitchFamily="34" charset="0"/>
                <a:ea typeface="Calibri" pitchFamily="34" charset="-122"/>
                <a:cs typeface="Calibri" pitchFamily="34" charset="-120"/>
              </a:rPr>
              <a:t>AIM OF THE STUDY</a:t>
            </a:r>
            <a:endParaRPr lang="en-US" sz="1050" dirty="0"/>
          </a:p>
        </p:txBody>
      </p:sp>
      <p:sp>
        <p:nvSpPr>
          <p:cNvPr id="5" name="Text 3"/>
          <p:cNvSpPr txBox="1"/>
          <p:nvPr/>
        </p:nvSpPr>
        <p:spPr>
          <a:xfrm>
            <a:off x="640080" y="2103120"/>
            <a:ext cx="4709160" cy="1082040"/>
          </a:xfrm>
          <a:prstGeom prst="rect">
            <a:avLst/>
          </a:prstGeom>
          <a:noFill/>
          <a:ln/>
        </p:spPr>
        <p:txBody>
          <a:bodyPr wrap="square" lIns="0" tIns="0" rIns="0" bIns="0" rtlCol="0" anchor="t"/>
          <a:lstStyle/>
          <a:p>
            <a:pP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To compare a Hill-Climbing search with the three leading ESA SpOC-3 methods under one controlled protocol, and to find what determines the score.</a:t>
            </a:r>
            <a:endParaRPr lang="en-US" sz="1700" dirty="0"/>
          </a:p>
        </p:txBody>
      </p:sp>
      <p:sp>
        <p:nvSpPr>
          <p:cNvPr id="6" name="Shape 4"/>
          <p:cNvSpPr/>
          <p:nvPr/>
        </p:nvSpPr>
        <p:spPr>
          <a:xfrm>
            <a:off x="640080" y="3368040"/>
            <a:ext cx="4709160" cy="2584704"/>
          </a:xfrm>
          <a:prstGeom prst="rect">
            <a:avLst/>
          </a:prstGeom>
          <a:solidFill>
            <a:srgbClr val="131B28"/>
          </a:solidFill>
          <a:ln/>
        </p:spPr>
      </p:sp>
      <p:sp>
        <p:nvSpPr>
          <p:cNvPr id="7" name="Shape 5"/>
          <p:cNvSpPr/>
          <p:nvPr/>
        </p:nvSpPr>
        <p:spPr>
          <a:xfrm>
            <a:off x="640080" y="3368040"/>
            <a:ext cx="54864" cy="2584704"/>
          </a:xfrm>
          <a:prstGeom prst="rect">
            <a:avLst/>
          </a:prstGeom>
          <a:solidFill>
            <a:srgbClr val="3DDC97"/>
          </a:solidFill>
          <a:ln/>
        </p:spPr>
      </p:sp>
      <p:sp>
        <p:nvSpPr>
          <p:cNvPr id="8" name="Text 6"/>
          <p:cNvSpPr txBox="1"/>
          <p:nvPr/>
        </p:nvSpPr>
        <p:spPr>
          <a:xfrm>
            <a:off x="914400" y="3523488"/>
            <a:ext cx="42519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CONTRIBUTIONS</a:t>
            </a:r>
            <a:endParaRPr lang="en-US" sz="1050" dirty="0"/>
          </a:p>
        </p:txBody>
      </p:sp>
      <p:sp>
        <p:nvSpPr>
          <p:cNvPr id="9" name="Text 7"/>
          <p:cNvSpPr txBox="1"/>
          <p:nvPr/>
        </p:nvSpPr>
        <p:spPr>
          <a:xfrm>
            <a:off x="914400" y="3816096"/>
            <a:ext cx="274320" cy="274320"/>
          </a:xfrm>
          <a:prstGeom prst="rect">
            <a:avLst/>
          </a:prstGeom>
          <a:noFill/>
          <a:ln/>
        </p:spPr>
        <p:txBody>
          <a:bodyPr wrap="square" lIns="0" tIns="0" rIns="0" bIns="0" rtlCol="0" anchor="t"/>
          <a:lstStyle/>
          <a:p>
            <a:pPr indent="0" marL="0">
              <a:buNone/>
            </a:pPr>
            <a:r>
              <a:rPr lang="en-US" sz="1400" dirty="0">
                <a:solidFill>
                  <a:srgbClr val="3DDC97"/>
                </a:solidFill>
                <a:latin typeface="Century Schoolbook" pitchFamily="34" charset="0"/>
                <a:ea typeface="Century Schoolbook" pitchFamily="34" charset="-122"/>
                <a:cs typeface="Century Schoolbook" pitchFamily="34" charset="-120"/>
              </a:rPr>
              <a:t>1</a:t>
            </a:r>
            <a:endParaRPr lang="en-US" sz="1400" dirty="0"/>
          </a:p>
        </p:txBody>
      </p:sp>
      <p:sp>
        <p:nvSpPr>
          <p:cNvPr id="10" name="Text 8"/>
          <p:cNvSpPr txBox="1"/>
          <p:nvPr/>
        </p:nvSpPr>
        <p:spPr>
          <a:xfrm>
            <a:off x="1207008" y="3843528"/>
            <a:ext cx="3886200" cy="417576"/>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Three leaderboard methods and Hill-Climbing, re-run under one controlled protocol.</a:t>
            </a:r>
            <a:endParaRPr lang="en-US" sz="1250" dirty="0"/>
          </a:p>
        </p:txBody>
      </p:sp>
      <p:sp>
        <p:nvSpPr>
          <p:cNvPr id="11" name="Text 9"/>
          <p:cNvSpPr txBox="1"/>
          <p:nvPr/>
        </p:nvSpPr>
        <p:spPr>
          <a:xfrm>
            <a:off x="914400" y="4325112"/>
            <a:ext cx="274320" cy="274320"/>
          </a:xfrm>
          <a:prstGeom prst="rect">
            <a:avLst/>
          </a:prstGeom>
          <a:noFill/>
          <a:ln/>
        </p:spPr>
        <p:txBody>
          <a:bodyPr wrap="square" lIns="0" tIns="0" rIns="0" bIns="0" rtlCol="0" anchor="t"/>
          <a:lstStyle/>
          <a:p>
            <a:pPr indent="0" marL="0">
              <a:buNone/>
            </a:pPr>
            <a:r>
              <a:rPr lang="en-US" sz="1400" dirty="0">
                <a:solidFill>
                  <a:srgbClr val="3DDC97"/>
                </a:solidFill>
                <a:latin typeface="Century Schoolbook" pitchFamily="34" charset="0"/>
                <a:ea typeface="Century Schoolbook" pitchFamily="34" charset="-122"/>
                <a:cs typeface="Century Schoolbook" pitchFamily="34" charset="-120"/>
              </a:rPr>
              <a:t>2</a:t>
            </a:r>
            <a:endParaRPr lang="en-US" sz="1400" dirty="0"/>
          </a:p>
        </p:txBody>
      </p:sp>
      <p:sp>
        <p:nvSpPr>
          <p:cNvPr id="12" name="Text 10"/>
          <p:cNvSpPr txBox="1"/>
          <p:nvPr/>
        </p:nvSpPr>
        <p:spPr>
          <a:xfrm>
            <a:off x="1207008" y="4352544"/>
            <a:ext cx="3886200" cy="417576"/>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A seed-level test of which differences in the results table are reliable.</a:t>
            </a:r>
            <a:endParaRPr lang="en-US" sz="1250" dirty="0"/>
          </a:p>
        </p:txBody>
      </p:sp>
      <p:sp>
        <p:nvSpPr>
          <p:cNvPr id="13" name="Text 11"/>
          <p:cNvSpPr txBox="1"/>
          <p:nvPr/>
        </p:nvSpPr>
        <p:spPr>
          <a:xfrm>
            <a:off x="914400" y="4834128"/>
            <a:ext cx="274320" cy="274320"/>
          </a:xfrm>
          <a:prstGeom prst="rect">
            <a:avLst/>
          </a:prstGeom>
          <a:noFill/>
          <a:ln/>
        </p:spPr>
        <p:txBody>
          <a:bodyPr wrap="square" lIns="0" tIns="0" rIns="0" bIns="0" rtlCol="0" anchor="t"/>
          <a:lstStyle/>
          <a:p>
            <a:pPr indent="0" marL="0">
              <a:buNone/>
            </a:pPr>
            <a:r>
              <a:rPr lang="en-US" sz="1400" dirty="0">
                <a:solidFill>
                  <a:srgbClr val="3DDC97"/>
                </a:solidFill>
                <a:latin typeface="Century Schoolbook" pitchFamily="34" charset="0"/>
                <a:ea typeface="Century Schoolbook" pitchFamily="34" charset="-122"/>
                <a:cs typeface="Century Schoolbook" pitchFamily="34" charset="-120"/>
              </a:rPr>
              <a:t>3</a:t>
            </a:r>
            <a:endParaRPr lang="en-US" sz="1400" dirty="0"/>
          </a:p>
        </p:txBody>
      </p:sp>
      <p:sp>
        <p:nvSpPr>
          <p:cNvPr id="14" name="Text 12"/>
          <p:cNvSpPr txBox="1"/>
          <p:nvPr/>
        </p:nvSpPr>
        <p:spPr>
          <a:xfrm>
            <a:off x="1207008" y="4861560"/>
            <a:ext cx="3886200" cy="417576"/>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One-factor-at-a-time ablations: construction, acceptance rule and 17 move operators.</a:t>
            </a:r>
            <a:endParaRPr lang="en-US" sz="1250" dirty="0"/>
          </a:p>
        </p:txBody>
      </p:sp>
      <p:sp>
        <p:nvSpPr>
          <p:cNvPr id="15" name="Text 13"/>
          <p:cNvSpPr txBox="1"/>
          <p:nvPr/>
        </p:nvSpPr>
        <p:spPr>
          <a:xfrm>
            <a:off x="914400" y="5343144"/>
            <a:ext cx="274320" cy="274320"/>
          </a:xfrm>
          <a:prstGeom prst="rect">
            <a:avLst/>
          </a:prstGeom>
          <a:noFill/>
          <a:ln/>
        </p:spPr>
        <p:txBody>
          <a:bodyPr wrap="square" lIns="0" tIns="0" rIns="0" bIns="0" rtlCol="0" anchor="t"/>
          <a:lstStyle/>
          <a:p>
            <a:pPr indent="0" marL="0">
              <a:buNone/>
            </a:pPr>
            <a:r>
              <a:rPr lang="en-US" sz="1400" dirty="0">
                <a:solidFill>
                  <a:srgbClr val="3DDC97"/>
                </a:solidFill>
                <a:latin typeface="Century Schoolbook" pitchFamily="34" charset="0"/>
                <a:ea typeface="Century Schoolbook" pitchFamily="34" charset="-122"/>
                <a:cs typeface="Century Schoolbook" pitchFamily="34" charset="-120"/>
              </a:rPr>
              <a:t>4</a:t>
            </a:r>
            <a:endParaRPr lang="en-US" sz="1400" dirty="0"/>
          </a:p>
        </p:txBody>
      </p:sp>
      <p:sp>
        <p:nvSpPr>
          <p:cNvPr id="16" name="Text 14"/>
          <p:cNvSpPr txBox="1"/>
          <p:nvPr/>
        </p:nvSpPr>
        <p:spPr>
          <a:xfrm>
            <a:off x="1207008" y="5370576"/>
            <a:ext cx="3886200" cy="417576"/>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A provable upper bound on the score of every instance.</a:t>
            </a:r>
            <a:endParaRPr lang="en-US" sz="1250" dirty="0"/>
          </a:p>
        </p:txBody>
      </p:sp>
      <p:sp>
        <p:nvSpPr>
          <p:cNvPr id="17" name="Shape 15"/>
          <p:cNvSpPr/>
          <p:nvPr/>
        </p:nvSpPr>
        <p:spPr>
          <a:xfrm>
            <a:off x="5824728" y="1984248"/>
            <a:ext cx="0" cy="3648456"/>
          </a:xfrm>
          <a:prstGeom prst="line">
            <a:avLst/>
          </a:prstGeom>
          <a:noFill/>
          <a:ln w="12700">
            <a:solidFill>
              <a:srgbClr val="2A3546"/>
            </a:solidFill>
            <a:prstDash val="solid"/>
          </a:ln>
        </p:spPr>
      </p:sp>
      <p:sp>
        <p:nvSpPr>
          <p:cNvPr id="18" name="Shape 16"/>
          <p:cNvSpPr/>
          <p:nvPr/>
        </p:nvSpPr>
        <p:spPr>
          <a:xfrm>
            <a:off x="5756148" y="1915668"/>
            <a:ext cx="137160" cy="137160"/>
          </a:xfrm>
          <a:prstGeom prst="ellipse">
            <a:avLst/>
          </a:prstGeom>
          <a:solidFill>
            <a:srgbClr val="0B0F17"/>
          </a:solidFill>
          <a:ln w="19050">
            <a:solidFill>
              <a:srgbClr val="3DDC97"/>
            </a:solidFill>
            <a:prstDash val="solid"/>
          </a:ln>
        </p:spPr>
      </p:sp>
      <p:sp>
        <p:nvSpPr>
          <p:cNvPr id="19" name="Text 17"/>
          <p:cNvSpPr txBox="1"/>
          <p:nvPr/>
        </p:nvSpPr>
        <p:spPr>
          <a:xfrm>
            <a:off x="6044184" y="1801368"/>
            <a:ext cx="365760"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1</a:t>
            </a:r>
            <a:endParaRPr lang="en-US" sz="1700" dirty="0"/>
          </a:p>
        </p:txBody>
      </p:sp>
      <p:sp>
        <p:nvSpPr>
          <p:cNvPr id="20" name="Text 18"/>
          <p:cNvSpPr txBox="1"/>
          <p:nvPr/>
        </p:nvSpPr>
        <p:spPr>
          <a:xfrm>
            <a:off x="6446520" y="1828800"/>
            <a:ext cx="510509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Introduction</a:t>
            </a:r>
            <a:endParaRPr lang="en-US" sz="1500" dirty="0"/>
          </a:p>
        </p:txBody>
      </p:sp>
      <p:sp>
        <p:nvSpPr>
          <p:cNvPr id="21" name="Text 19"/>
          <p:cNvSpPr txBox="1"/>
          <p:nvPr/>
        </p:nvSpPr>
        <p:spPr>
          <a:xfrm>
            <a:off x="6446520" y="2103120"/>
            <a:ext cx="510509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the ESA SpOC-3 challenge and four research questions</a:t>
            </a:r>
            <a:endParaRPr lang="en-US" sz="1200" dirty="0"/>
          </a:p>
        </p:txBody>
      </p:sp>
      <p:sp>
        <p:nvSpPr>
          <p:cNvPr id="22" name="Shape 20"/>
          <p:cNvSpPr/>
          <p:nvPr/>
        </p:nvSpPr>
        <p:spPr>
          <a:xfrm>
            <a:off x="5756148" y="2523744"/>
            <a:ext cx="137160" cy="137160"/>
          </a:xfrm>
          <a:prstGeom prst="ellipse">
            <a:avLst/>
          </a:prstGeom>
          <a:solidFill>
            <a:srgbClr val="0B0F17"/>
          </a:solidFill>
          <a:ln w="19050">
            <a:solidFill>
              <a:srgbClr val="3DDC97"/>
            </a:solidFill>
            <a:prstDash val="solid"/>
          </a:ln>
        </p:spPr>
      </p:sp>
      <p:sp>
        <p:nvSpPr>
          <p:cNvPr id="23" name="Text 21"/>
          <p:cNvSpPr txBox="1"/>
          <p:nvPr/>
        </p:nvSpPr>
        <p:spPr>
          <a:xfrm>
            <a:off x="6044184" y="2409444"/>
            <a:ext cx="365760"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2</a:t>
            </a:r>
            <a:endParaRPr lang="en-US" sz="1700" dirty="0"/>
          </a:p>
        </p:txBody>
      </p:sp>
      <p:sp>
        <p:nvSpPr>
          <p:cNvPr id="24" name="Text 22"/>
          <p:cNvSpPr txBox="1"/>
          <p:nvPr/>
        </p:nvSpPr>
        <p:spPr>
          <a:xfrm>
            <a:off x="6446520" y="2436876"/>
            <a:ext cx="510509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Problem definition</a:t>
            </a:r>
            <a:endParaRPr lang="en-US" sz="1500" dirty="0"/>
          </a:p>
        </p:txBody>
      </p:sp>
      <p:sp>
        <p:nvSpPr>
          <p:cNvPr id="25" name="Text 23"/>
          <p:cNvSpPr txBox="1"/>
          <p:nvPr/>
        </p:nvSpPr>
        <p:spPr>
          <a:xfrm>
            <a:off x="6446520" y="2711196"/>
            <a:ext cx="510509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torso decomposition, first by example, then formally</a:t>
            </a:r>
            <a:endParaRPr lang="en-US" sz="1200" dirty="0"/>
          </a:p>
        </p:txBody>
      </p:sp>
      <p:sp>
        <p:nvSpPr>
          <p:cNvPr id="26" name="Shape 24"/>
          <p:cNvSpPr/>
          <p:nvPr/>
        </p:nvSpPr>
        <p:spPr>
          <a:xfrm>
            <a:off x="5756148" y="3131820"/>
            <a:ext cx="137160" cy="137160"/>
          </a:xfrm>
          <a:prstGeom prst="ellipse">
            <a:avLst/>
          </a:prstGeom>
          <a:solidFill>
            <a:srgbClr val="0B0F17"/>
          </a:solidFill>
          <a:ln w="19050">
            <a:solidFill>
              <a:srgbClr val="3DDC97"/>
            </a:solidFill>
            <a:prstDash val="solid"/>
          </a:ln>
        </p:spPr>
      </p:sp>
      <p:sp>
        <p:nvSpPr>
          <p:cNvPr id="27" name="Text 25"/>
          <p:cNvSpPr txBox="1"/>
          <p:nvPr/>
        </p:nvSpPr>
        <p:spPr>
          <a:xfrm>
            <a:off x="6044184" y="3017520"/>
            <a:ext cx="365760"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3</a:t>
            </a:r>
            <a:endParaRPr lang="en-US" sz="1700" dirty="0"/>
          </a:p>
        </p:txBody>
      </p:sp>
      <p:sp>
        <p:nvSpPr>
          <p:cNvPr id="28" name="Text 26"/>
          <p:cNvSpPr txBox="1"/>
          <p:nvPr/>
        </p:nvSpPr>
        <p:spPr>
          <a:xfrm>
            <a:off x="6446520" y="3044952"/>
            <a:ext cx="510509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Benchmark instances</a:t>
            </a:r>
            <a:endParaRPr lang="en-US" sz="1500" dirty="0"/>
          </a:p>
        </p:txBody>
      </p:sp>
      <p:sp>
        <p:nvSpPr>
          <p:cNvPr id="29" name="Text 27"/>
          <p:cNvSpPr txBox="1"/>
          <p:nvPr/>
        </p:nvSpPr>
        <p:spPr>
          <a:xfrm>
            <a:off x="6446520" y="3319272"/>
            <a:ext cx="510509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ten graphs in three structural families</a:t>
            </a:r>
            <a:endParaRPr lang="en-US" sz="1200" dirty="0"/>
          </a:p>
        </p:txBody>
      </p:sp>
      <p:sp>
        <p:nvSpPr>
          <p:cNvPr id="30" name="Shape 28"/>
          <p:cNvSpPr/>
          <p:nvPr/>
        </p:nvSpPr>
        <p:spPr>
          <a:xfrm>
            <a:off x="5756148" y="3739896"/>
            <a:ext cx="137160" cy="137160"/>
          </a:xfrm>
          <a:prstGeom prst="ellipse">
            <a:avLst/>
          </a:prstGeom>
          <a:solidFill>
            <a:srgbClr val="0B0F17"/>
          </a:solidFill>
          <a:ln w="19050">
            <a:solidFill>
              <a:srgbClr val="3DDC97"/>
            </a:solidFill>
            <a:prstDash val="solid"/>
          </a:ln>
        </p:spPr>
      </p:sp>
      <p:sp>
        <p:nvSpPr>
          <p:cNvPr id="31" name="Text 29"/>
          <p:cNvSpPr txBox="1"/>
          <p:nvPr/>
        </p:nvSpPr>
        <p:spPr>
          <a:xfrm>
            <a:off x="6044184" y="3625596"/>
            <a:ext cx="365760"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4</a:t>
            </a:r>
            <a:endParaRPr lang="en-US" sz="1700" dirty="0"/>
          </a:p>
        </p:txBody>
      </p:sp>
      <p:sp>
        <p:nvSpPr>
          <p:cNvPr id="32" name="Text 30"/>
          <p:cNvSpPr txBox="1"/>
          <p:nvPr/>
        </p:nvSpPr>
        <p:spPr>
          <a:xfrm>
            <a:off x="6446520" y="3653028"/>
            <a:ext cx="510509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Methods</a:t>
            </a:r>
            <a:endParaRPr lang="en-US" sz="1500" dirty="0"/>
          </a:p>
        </p:txBody>
      </p:sp>
      <p:sp>
        <p:nvSpPr>
          <p:cNvPr id="33" name="Text 31"/>
          <p:cNvSpPr txBox="1"/>
          <p:nvPr/>
        </p:nvSpPr>
        <p:spPr>
          <a:xfrm>
            <a:off x="6446520" y="3927348"/>
            <a:ext cx="510509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three leaderboard methods, Hill-Climbing and a construction baseline</a:t>
            </a:r>
            <a:endParaRPr lang="en-US" sz="1200" dirty="0"/>
          </a:p>
        </p:txBody>
      </p:sp>
      <p:sp>
        <p:nvSpPr>
          <p:cNvPr id="34" name="Shape 32"/>
          <p:cNvSpPr/>
          <p:nvPr/>
        </p:nvSpPr>
        <p:spPr>
          <a:xfrm>
            <a:off x="5756148" y="4347972"/>
            <a:ext cx="137160" cy="137160"/>
          </a:xfrm>
          <a:prstGeom prst="ellipse">
            <a:avLst/>
          </a:prstGeom>
          <a:solidFill>
            <a:srgbClr val="0B0F17"/>
          </a:solidFill>
          <a:ln w="19050">
            <a:solidFill>
              <a:srgbClr val="3DDC97"/>
            </a:solidFill>
            <a:prstDash val="solid"/>
          </a:ln>
        </p:spPr>
      </p:sp>
      <p:sp>
        <p:nvSpPr>
          <p:cNvPr id="35" name="Text 33"/>
          <p:cNvSpPr txBox="1"/>
          <p:nvPr/>
        </p:nvSpPr>
        <p:spPr>
          <a:xfrm>
            <a:off x="6044184" y="4233672"/>
            <a:ext cx="365760"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5</a:t>
            </a:r>
            <a:endParaRPr lang="en-US" sz="1700" dirty="0"/>
          </a:p>
        </p:txBody>
      </p:sp>
      <p:sp>
        <p:nvSpPr>
          <p:cNvPr id="36" name="Text 34"/>
          <p:cNvSpPr txBox="1"/>
          <p:nvPr/>
        </p:nvSpPr>
        <p:spPr>
          <a:xfrm>
            <a:off x="6446520" y="4261104"/>
            <a:ext cx="510509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Experimental protocol</a:t>
            </a:r>
            <a:endParaRPr lang="en-US" sz="1500" dirty="0"/>
          </a:p>
        </p:txBody>
      </p:sp>
      <p:sp>
        <p:nvSpPr>
          <p:cNvPr id="37" name="Text 35"/>
          <p:cNvSpPr txBox="1"/>
          <p:nvPr/>
        </p:nvSpPr>
        <p:spPr>
          <a:xfrm>
            <a:off x="6446520" y="4535424"/>
            <a:ext cx="510509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equal time, equal starting point, one evaluator</a:t>
            </a:r>
            <a:endParaRPr lang="en-US" sz="1200" dirty="0"/>
          </a:p>
        </p:txBody>
      </p:sp>
      <p:sp>
        <p:nvSpPr>
          <p:cNvPr id="38" name="Shape 36"/>
          <p:cNvSpPr/>
          <p:nvPr/>
        </p:nvSpPr>
        <p:spPr>
          <a:xfrm>
            <a:off x="5756148" y="4956048"/>
            <a:ext cx="137160" cy="137160"/>
          </a:xfrm>
          <a:prstGeom prst="ellipse">
            <a:avLst/>
          </a:prstGeom>
          <a:solidFill>
            <a:srgbClr val="0B0F17"/>
          </a:solidFill>
          <a:ln w="19050">
            <a:solidFill>
              <a:srgbClr val="3DDC97"/>
            </a:solidFill>
            <a:prstDash val="solid"/>
          </a:ln>
        </p:spPr>
      </p:sp>
      <p:sp>
        <p:nvSpPr>
          <p:cNvPr id="39" name="Text 37"/>
          <p:cNvSpPr txBox="1"/>
          <p:nvPr/>
        </p:nvSpPr>
        <p:spPr>
          <a:xfrm>
            <a:off x="6044184" y="4841748"/>
            <a:ext cx="365760"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6</a:t>
            </a:r>
            <a:endParaRPr lang="en-US" sz="1700" dirty="0"/>
          </a:p>
        </p:txBody>
      </p:sp>
      <p:sp>
        <p:nvSpPr>
          <p:cNvPr id="40" name="Text 38"/>
          <p:cNvSpPr txBox="1"/>
          <p:nvPr/>
        </p:nvSpPr>
        <p:spPr>
          <a:xfrm>
            <a:off x="6446520" y="4869180"/>
            <a:ext cx="510509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Results</a:t>
            </a:r>
            <a:endParaRPr lang="en-US" sz="1500" dirty="0"/>
          </a:p>
        </p:txBody>
      </p:sp>
      <p:sp>
        <p:nvSpPr>
          <p:cNvPr id="41" name="Text 39"/>
          <p:cNvSpPr txBox="1"/>
          <p:nvPr/>
        </p:nvSpPr>
        <p:spPr>
          <a:xfrm>
            <a:off x="6446520" y="5143500"/>
            <a:ext cx="510509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comparison, reliability, components, operators, time and optimality</a:t>
            </a:r>
            <a:endParaRPr lang="en-US" sz="1200" dirty="0"/>
          </a:p>
        </p:txBody>
      </p:sp>
      <p:sp>
        <p:nvSpPr>
          <p:cNvPr id="42" name="Shape 40"/>
          <p:cNvSpPr/>
          <p:nvPr/>
        </p:nvSpPr>
        <p:spPr>
          <a:xfrm>
            <a:off x="5756148" y="5564124"/>
            <a:ext cx="137160" cy="137160"/>
          </a:xfrm>
          <a:prstGeom prst="ellipse">
            <a:avLst/>
          </a:prstGeom>
          <a:solidFill>
            <a:srgbClr val="0B0F17"/>
          </a:solidFill>
          <a:ln w="19050">
            <a:solidFill>
              <a:srgbClr val="3DDC97"/>
            </a:solidFill>
            <a:prstDash val="solid"/>
          </a:ln>
        </p:spPr>
      </p:sp>
      <p:sp>
        <p:nvSpPr>
          <p:cNvPr id="43" name="Text 41"/>
          <p:cNvSpPr txBox="1"/>
          <p:nvPr/>
        </p:nvSpPr>
        <p:spPr>
          <a:xfrm>
            <a:off x="6044184" y="5449824"/>
            <a:ext cx="365760"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7</a:t>
            </a:r>
            <a:endParaRPr lang="en-US" sz="1700" dirty="0"/>
          </a:p>
        </p:txBody>
      </p:sp>
      <p:sp>
        <p:nvSpPr>
          <p:cNvPr id="44" name="Text 42"/>
          <p:cNvSpPr txBox="1"/>
          <p:nvPr/>
        </p:nvSpPr>
        <p:spPr>
          <a:xfrm>
            <a:off x="6446520" y="5477256"/>
            <a:ext cx="510509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Discussion and conclusions</a:t>
            </a:r>
            <a:endParaRPr lang="en-US" sz="1500" dirty="0"/>
          </a:p>
        </p:txBody>
      </p:sp>
      <p:sp>
        <p:nvSpPr>
          <p:cNvPr id="45" name="Text 43"/>
          <p:cNvSpPr txBox="1"/>
          <p:nvPr/>
        </p:nvSpPr>
        <p:spPr>
          <a:xfrm>
            <a:off x="6446520" y="5751576"/>
            <a:ext cx="510509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what the evidence supports, limitations and future work</a:t>
            </a:r>
            <a:endParaRPr lang="en-US" sz="12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1 · INTRODUCTION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ESA SpOC-3 challenge and the torso problem</a:t>
            </a:r>
            <a:endParaRPr lang="en-US" sz="2700" dirty="0"/>
          </a:p>
        </p:txBody>
      </p:sp>
      <p:sp>
        <p:nvSpPr>
          <p:cNvPr id="4" name="Text 2"/>
          <p:cNvSpPr txBox="1"/>
          <p:nvPr/>
        </p:nvSpPr>
        <p:spPr>
          <a:xfrm>
            <a:off x="640080" y="1828800"/>
            <a:ext cx="5943600" cy="4011168"/>
          </a:xfrm>
          <a:prstGeom prst="rect">
            <a:avLst/>
          </a:prstGeom>
          <a:noFill/>
          <a:ln/>
        </p:spPr>
        <p:txBody>
          <a:bodyPr wrap="square" lIns="0" tIns="0" rIns="0" bIns="0" rtlCol="0" anchor="t"/>
          <a:lstStyle/>
          <a:p>
            <a:pPr marL="190500" indent="-190500">
              <a:lnSpc>
                <a:spcPct val="100000"/>
              </a:lnSpc>
              <a:spcAft>
                <a:spcPts val="1400"/>
              </a:spcAft>
              <a:buClr>
                <a:srgbClr val="3DDC97"/>
              </a:buClr>
              <a:buFont typeface="Arial"/>
              <a:buChar char="•"/>
            </a:pPr>
            <a:r>
              <a:rPr lang="en-US" sz="1600" dirty="0">
                <a:solidFill>
                  <a:srgbClr val="E8ECF2"/>
                </a:solidFill>
                <a:latin typeface="Calibri" pitchFamily="34" charset="0"/>
                <a:ea typeface="Calibri" pitchFamily="34" charset="-122"/>
                <a:cs typeface="Calibri" pitchFamily="34" charset="-120"/>
              </a:rPr>
              <a:t>SpOC-3 is the third Space Optimisation Competition of ESA’s Advanced Concepts Team, held together with GECCO 2024.</a:t>
            </a:r>
            <a:endParaRPr lang="en-US" sz="1600" dirty="0"/>
          </a:p>
          <a:p>
            <a:pPr marL="190500" indent="-190500">
              <a:lnSpc>
                <a:spcPct val="100000"/>
              </a:lnSpc>
              <a:spcAft>
                <a:spcPts val="1400"/>
              </a:spcAft>
              <a:buClr>
                <a:srgbClr val="3DDC97"/>
              </a:buClr>
              <a:buFont typeface="Arial"/>
              <a:buChar char="•"/>
            </a:pPr>
            <a:r>
              <a:rPr lang="en-US" sz="1600" dirty="0">
                <a:solidFill>
                  <a:srgbClr val="E8ECF2"/>
                </a:solidFill>
                <a:latin typeface="Calibri" pitchFamily="34" charset="0"/>
                <a:ea typeface="Calibri" pitchFamily="34" charset="-122"/>
                <a:cs typeface="Calibri" pitchFamily="34" charset="-120"/>
              </a:rPr>
              <a:t>Its graph problem plans the construction of a megastructure: building blocks are vertices, and their interactions are edges.</a:t>
            </a:r>
            <a:endParaRPr lang="en-US" sz="1600" dirty="0"/>
          </a:p>
          <a:p>
            <a:pPr marL="190500" indent="-190500">
              <a:lnSpc>
                <a:spcPct val="100000"/>
              </a:lnSpc>
              <a:spcAft>
                <a:spcPts val="1400"/>
              </a:spcAft>
              <a:buClr>
                <a:srgbClr val="3DDC97"/>
              </a:buClr>
              <a:buFont typeface="Arial"/>
              <a:buChar char="•"/>
            </a:pPr>
            <a:r>
              <a:rPr lang="en-US" sz="1600" dirty="0">
                <a:solidFill>
                  <a:srgbClr val="E8ECF2"/>
                </a:solidFill>
                <a:latin typeface="Calibri" pitchFamily="34" charset="0"/>
                <a:ea typeface="Calibri" pitchFamily="34" charset="-122"/>
                <a:cs typeface="Calibri" pitchFamily="34" charset="-120"/>
              </a:rPr>
              <a:t>A solution removes part of the graph and keeps a core, the torso; each removed part leaves edges between the vertices it connected.</a:t>
            </a:r>
            <a:endParaRPr lang="en-US" sz="1600" dirty="0"/>
          </a:p>
          <a:p>
            <a:pPr marL="190500" indent="-190500">
              <a:lnSpc>
                <a:spcPct val="100000"/>
              </a:lnSpc>
              <a:spcAft>
                <a:spcPts val="1400"/>
              </a:spcAft>
              <a:buClr>
                <a:srgbClr val="3DDC97"/>
              </a:buClr>
              <a:buFont typeface="Arial"/>
              <a:buChar char="•"/>
            </a:pPr>
            <a:r>
              <a:rPr lang="en-US" sz="1600" dirty="0">
                <a:solidFill>
                  <a:srgbClr val="E8ECF2"/>
                </a:solidFill>
                <a:latin typeface="Calibri" pitchFamily="34" charset="0"/>
                <a:ea typeface="Calibri" pitchFamily="34" charset="-122"/>
                <a:cs typeface="Calibri" pitchFamily="34" charset="-120"/>
              </a:rPr>
              <a:t>The torso should be as large and as sparse as possible: two objectives in conflict.</a:t>
            </a:r>
            <a:endParaRPr lang="en-US" sz="1600" dirty="0"/>
          </a:p>
          <a:p>
            <a:pPr marL="190500" indent="-190500">
              <a:lnSpc>
                <a:spcPct val="100000"/>
              </a:lnSpc>
              <a:buClr>
                <a:srgbClr val="3DDC97"/>
              </a:buClr>
              <a:buFont typeface="Arial"/>
              <a:buChar char="•"/>
            </a:pPr>
            <a:r>
              <a:rPr lang="en-US" sz="1600" dirty="0">
                <a:solidFill>
                  <a:srgbClr val="E8ECF2"/>
                </a:solidFill>
                <a:latin typeface="Calibri" pitchFamily="34" charset="0"/>
                <a:ea typeface="Calibri" pitchFamily="34" charset="-122"/>
                <a:cs typeface="Calibri" pitchFamily="34" charset="-120"/>
              </a:rPr>
              <a:t>Elimination orderings also underlie treewidth, sparse Cholesky factorisation and variable elimination in probabilistic inference.</a:t>
            </a:r>
            <a:endParaRPr lang="en-US" sz="1600" dirty="0"/>
          </a:p>
        </p:txBody>
      </p:sp>
      <p:sp>
        <p:nvSpPr>
          <p:cNvPr id="5" name="Shape 3"/>
          <p:cNvSpPr/>
          <p:nvPr/>
        </p:nvSpPr>
        <p:spPr>
          <a:xfrm>
            <a:off x="7086600" y="1810512"/>
            <a:ext cx="4465015" cy="3950208"/>
          </a:xfrm>
          <a:prstGeom prst="rect">
            <a:avLst/>
          </a:prstGeom>
          <a:solidFill>
            <a:srgbClr val="131B28"/>
          </a:solidFill>
          <a:ln/>
        </p:spPr>
      </p:sp>
      <p:sp>
        <p:nvSpPr>
          <p:cNvPr id="6" name="Shape 4"/>
          <p:cNvSpPr/>
          <p:nvPr/>
        </p:nvSpPr>
        <p:spPr>
          <a:xfrm>
            <a:off x="7086600" y="1810512"/>
            <a:ext cx="54864" cy="3950208"/>
          </a:xfrm>
          <a:prstGeom prst="rect">
            <a:avLst/>
          </a:prstGeom>
          <a:solidFill>
            <a:srgbClr val="3DDC97"/>
          </a:solidFill>
          <a:ln/>
        </p:spPr>
      </p:sp>
      <p:sp>
        <p:nvSpPr>
          <p:cNvPr id="7" name="Text 5"/>
          <p:cNvSpPr txBox="1"/>
          <p:nvPr/>
        </p:nvSpPr>
        <p:spPr>
          <a:xfrm>
            <a:off x="7360920" y="1993392"/>
            <a:ext cx="4007815" cy="237744"/>
          </a:xfrm>
          <a:prstGeom prst="rect">
            <a:avLst/>
          </a:prstGeom>
          <a:noFill/>
          <a:ln/>
        </p:spPr>
        <p:txBody>
          <a:bodyPr wrap="square" lIns="0" tIns="0" rIns="0" bIns="0" rtlCol="0" anchor="t"/>
          <a:lstStyle/>
          <a:p>
            <a:pPr indent="0" marL="0">
              <a:buNone/>
            </a:pPr>
            <a:r>
              <a:rPr lang="en-US" sz="1050" b="1" spc="160" kern="0" dirty="0">
                <a:solidFill>
                  <a:srgbClr val="3DDC97"/>
                </a:solidFill>
                <a:latin typeface="Calibri" pitchFamily="34" charset="0"/>
                <a:ea typeface="Calibri" pitchFamily="34" charset="-122"/>
                <a:cs typeface="Calibri" pitchFamily="34" charset="-120"/>
              </a:rPr>
              <a:t>THE CHALLENGE AT A GLANCE</a:t>
            </a:r>
            <a:endParaRPr lang="en-US" sz="1050" dirty="0"/>
          </a:p>
        </p:txBody>
      </p:sp>
      <p:sp>
        <p:nvSpPr>
          <p:cNvPr id="8" name="Text 6"/>
          <p:cNvSpPr txBox="1"/>
          <p:nvPr/>
        </p:nvSpPr>
        <p:spPr>
          <a:xfrm>
            <a:off x="7360920" y="2414016"/>
            <a:ext cx="1371600" cy="237744"/>
          </a:xfrm>
          <a:prstGeom prst="rect">
            <a:avLst/>
          </a:prstGeom>
          <a:noFill/>
          <a:ln/>
        </p:spPr>
        <p:txBody>
          <a:bodyPr wrap="square" lIns="0" tIns="0" rIns="0" bIns="0" rtlCol="0" anchor="t"/>
          <a:lstStyle/>
          <a:p>
            <a:pPr indent="0" marL="0">
              <a:buNone/>
            </a:pPr>
            <a:r>
              <a:rPr lang="en-US" sz="1200" b="1" dirty="0">
                <a:solidFill>
                  <a:srgbClr val="9AA6B6"/>
                </a:solidFill>
                <a:latin typeface="Calibri" pitchFamily="34" charset="0"/>
                <a:ea typeface="Calibri" pitchFamily="34" charset="-122"/>
                <a:cs typeface="Calibri" pitchFamily="34" charset="-120"/>
              </a:rPr>
              <a:t>Organiser</a:t>
            </a:r>
            <a:endParaRPr lang="en-US" sz="1200" dirty="0"/>
          </a:p>
        </p:txBody>
      </p:sp>
      <p:sp>
        <p:nvSpPr>
          <p:cNvPr id="9" name="Text 7"/>
          <p:cNvSpPr txBox="1"/>
          <p:nvPr/>
        </p:nvSpPr>
        <p:spPr>
          <a:xfrm>
            <a:off x="8778240" y="2414016"/>
            <a:ext cx="2544775" cy="42062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ESA Advanced Concepts Team</a:t>
            </a:r>
            <a:endParaRPr lang="en-US" sz="1300" dirty="0"/>
          </a:p>
        </p:txBody>
      </p:sp>
      <p:sp>
        <p:nvSpPr>
          <p:cNvPr id="10" name="Shape 8"/>
          <p:cNvSpPr/>
          <p:nvPr/>
        </p:nvSpPr>
        <p:spPr>
          <a:xfrm>
            <a:off x="7360920" y="2880360"/>
            <a:ext cx="3916375" cy="0"/>
          </a:xfrm>
          <a:prstGeom prst="line">
            <a:avLst/>
          </a:prstGeom>
          <a:noFill/>
          <a:ln w="6350">
            <a:solidFill>
              <a:srgbClr val="2A3546"/>
            </a:solidFill>
            <a:prstDash val="solid"/>
          </a:ln>
        </p:spPr>
      </p:sp>
      <p:sp>
        <p:nvSpPr>
          <p:cNvPr id="11" name="Text 9"/>
          <p:cNvSpPr txBox="1"/>
          <p:nvPr/>
        </p:nvSpPr>
        <p:spPr>
          <a:xfrm>
            <a:off x="7360920" y="2962656"/>
            <a:ext cx="1371600" cy="237744"/>
          </a:xfrm>
          <a:prstGeom prst="rect">
            <a:avLst/>
          </a:prstGeom>
          <a:noFill/>
          <a:ln/>
        </p:spPr>
        <p:txBody>
          <a:bodyPr wrap="square" lIns="0" tIns="0" rIns="0" bIns="0" rtlCol="0" anchor="t"/>
          <a:lstStyle/>
          <a:p>
            <a:pPr indent="0" marL="0">
              <a:buNone/>
            </a:pPr>
            <a:r>
              <a:rPr lang="en-US" sz="1200" b="1" dirty="0">
                <a:solidFill>
                  <a:srgbClr val="9AA6B6"/>
                </a:solidFill>
                <a:latin typeface="Calibri" pitchFamily="34" charset="0"/>
                <a:ea typeface="Calibri" pitchFamily="34" charset="-122"/>
                <a:cs typeface="Calibri" pitchFamily="34" charset="-120"/>
              </a:rPr>
              <a:t>Edition</a:t>
            </a:r>
            <a:endParaRPr lang="en-US" sz="1200" dirty="0"/>
          </a:p>
        </p:txBody>
      </p:sp>
      <p:sp>
        <p:nvSpPr>
          <p:cNvPr id="12" name="Text 10"/>
          <p:cNvSpPr txBox="1"/>
          <p:nvPr/>
        </p:nvSpPr>
        <p:spPr>
          <a:xfrm>
            <a:off x="8778240" y="2962656"/>
            <a:ext cx="2544775" cy="42062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SpOC-3, held with GECCO 2024</a:t>
            </a:r>
            <a:endParaRPr lang="en-US" sz="1300" dirty="0"/>
          </a:p>
        </p:txBody>
      </p:sp>
      <p:sp>
        <p:nvSpPr>
          <p:cNvPr id="13" name="Shape 11"/>
          <p:cNvSpPr/>
          <p:nvPr/>
        </p:nvSpPr>
        <p:spPr>
          <a:xfrm>
            <a:off x="7360920" y="3429000"/>
            <a:ext cx="3916375" cy="0"/>
          </a:xfrm>
          <a:prstGeom prst="line">
            <a:avLst/>
          </a:prstGeom>
          <a:noFill/>
          <a:ln w="6350">
            <a:solidFill>
              <a:srgbClr val="2A3546"/>
            </a:solidFill>
            <a:prstDash val="solid"/>
          </a:ln>
        </p:spPr>
      </p:sp>
      <p:sp>
        <p:nvSpPr>
          <p:cNvPr id="14" name="Text 12"/>
          <p:cNvSpPr txBox="1"/>
          <p:nvPr/>
        </p:nvSpPr>
        <p:spPr>
          <a:xfrm>
            <a:off x="7360920" y="3511296"/>
            <a:ext cx="1371600" cy="237744"/>
          </a:xfrm>
          <a:prstGeom prst="rect">
            <a:avLst/>
          </a:prstGeom>
          <a:noFill/>
          <a:ln/>
        </p:spPr>
        <p:txBody>
          <a:bodyPr wrap="square" lIns="0" tIns="0" rIns="0" bIns="0" rtlCol="0" anchor="t"/>
          <a:lstStyle/>
          <a:p>
            <a:pPr indent="0" marL="0">
              <a:buNone/>
            </a:pPr>
            <a:r>
              <a:rPr lang="en-US" sz="1200" b="1" dirty="0">
                <a:solidFill>
                  <a:srgbClr val="9AA6B6"/>
                </a:solidFill>
                <a:latin typeface="Calibri" pitchFamily="34" charset="0"/>
                <a:ea typeface="Calibri" pitchFamily="34" charset="-122"/>
                <a:cs typeface="Calibri" pitchFamily="34" charset="-120"/>
              </a:rPr>
              <a:t>Instances</a:t>
            </a:r>
            <a:endParaRPr lang="en-US" sz="1200" dirty="0"/>
          </a:p>
        </p:txBody>
      </p:sp>
      <p:sp>
        <p:nvSpPr>
          <p:cNvPr id="15" name="Text 13"/>
          <p:cNvSpPr txBox="1"/>
          <p:nvPr/>
        </p:nvSpPr>
        <p:spPr>
          <a:xfrm>
            <a:off x="8778240" y="3511296"/>
            <a:ext cx="2544775" cy="42062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3 official graphs, 1,357 to 2,426 vertices</a:t>
            </a:r>
            <a:endParaRPr lang="en-US" sz="1300" dirty="0"/>
          </a:p>
        </p:txBody>
      </p:sp>
      <p:sp>
        <p:nvSpPr>
          <p:cNvPr id="16" name="Shape 14"/>
          <p:cNvSpPr/>
          <p:nvPr/>
        </p:nvSpPr>
        <p:spPr>
          <a:xfrm>
            <a:off x="7360920" y="3977640"/>
            <a:ext cx="3916375" cy="0"/>
          </a:xfrm>
          <a:prstGeom prst="line">
            <a:avLst/>
          </a:prstGeom>
          <a:noFill/>
          <a:ln w="6350">
            <a:solidFill>
              <a:srgbClr val="2A3546"/>
            </a:solidFill>
            <a:prstDash val="solid"/>
          </a:ln>
        </p:spPr>
      </p:sp>
      <p:sp>
        <p:nvSpPr>
          <p:cNvPr id="17" name="Text 15"/>
          <p:cNvSpPr txBox="1"/>
          <p:nvPr/>
        </p:nvSpPr>
        <p:spPr>
          <a:xfrm>
            <a:off x="7360920" y="4059936"/>
            <a:ext cx="1371600" cy="237744"/>
          </a:xfrm>
          <a:prstGeom prst="rect">
            <a:avLst/>
          </a:prstGeom>
          <a:noFill/>
          <a:ln/>
        </p:spPr>
        <p:txBody>
          <a:bodyPr wrap="square" lIns="0" tIns="0" rIns="0" bIns="0" rtlCol="0" anchor="t"/>
          <a:lstStyle/>
          <a:p>
            <a:pPr indent="0" marL="0">
              <a:buNone/>
            </a:pPr>
            <a:r>
              <a:rPr lang="en-US" sz="1200" b="1" dirty="0">
                <a:solidFill>
                  <a:srgbClr val="9AA6B6"/>
                </a:solidFill>
                <a:latin typeface="Calibri" pitchFamily="34" charset="0"/>
                <a:ea typeface="Calibri" pitchFamily="34" charset="-122"/>
                <a:cs typeface="Calibri" pitchFamily="34" charset="-120"/>
              </a:rPr>
              <a:t>Submission</a:t>
            </a:r>
            <a:endParaRPr lang="en-US" sz="1200" dirty="0"/>
          </a:p>
        </p:txBody>
      </p:sp>
      <p:sp>
        <p:nvSpPr>
          <p:cNvPr id="18" name="Text 16"/>
          <p:cNvSpPr txBox="1"/>
          <p:nvPr/>
        </p:nvSpPr>
        <p:spPr>
          <a:xfrm>
            <a:off x="8778240" y="4059936"/>
            <a:ext cx="2544775" cy="42062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up to 20 solutions per graph</a:t>
            </a:r>
            <a:endParaRPr lang="en-US" sz="1300" dirty="0"/>
          </a:p>
        </p:txBody>
      </p:sp>
      <p:sp>
        <p:nvSpPr>
          <p:cNvPr id="19" name="Shape 17"/>
          <p:cNvSpPr/>
          <p:nvPr/>
        </p:nvSpPr>
        <p:spPr>
          <a:xfrm>
            <a:off x="7360920" y="4526280"/>
            <a:ext cx="3916375" cy="0"/>
          </a:xfrm>
          <a:prstGeom prst="line">
            <a:avLst/>
          </a:prstGeom>
          <a:noFill/>
          <a:ln w="6350">
            <a:solidFill>
              <a:srgbClr val="2A3546"/>
            </a:solidFill>
            <a:prstDash val="solid"/>
          </a:ln>
        </p:spPr>
      </p:sp>
      <p:sp>
        <p:nvSpPr>
          <p:cNvPr id="20" name="Text 18"/>
          <p:cNvSpPr txBox="1"/>
          <p:nvPr/>
        </p:nvSpPr>
        <p:spPr>
          <a:xfrm>
            <a:off x="7360920" y="4608576"/>
            <a:ext cx="1371600" cy="237744"/>
          </a:xfrm>
          <a:prstGeom prst="rect">
            <a:avLst/>
          </a:prstGeom>
          <a:noFill/>
          <a:ln/>
        </p:spPr>
        <p:txBody>
          <a:bodyPr wrap="square" lIns="0" tIns="0" rIns="0" bIns="0" rtlCol="0" anchor="t"/>
          <a:lstStyle/>
          <a:p>
            <a:pPr indent="0" marL="0">
              <a:buNone/>
            </a:pPr>
            <a:r>
              <a:rPr lang="en-US" sz="1200" b="1" dirty="0">
                <a:solidFill>
                  <a:srgbClr val="9AA6B6"/>
                </a:solidFill>
                <a:latin typeface="Calibri" pitchFamily="34" charset="0"/>
                <a:ea typeface="Calibri" pitchFamily="34" charset="-122"/>
                <a:cs typeface="Calibri" pitchFamily="34" charset="-120"/>
              </a:rPr>
              <a:t>Score</a:t>
            </a:r>
            <a:endParaRPr lang="en-US" sz="1200" dirty="0"/>
          </a:p>
        </p:txBody>
      </p:sp>
      <p:sp>
        <p:nvSpPr>
          <p:cNvPr id="21" name="Text 19"/>
          <p:cNvSpPr txBox="1"/>
          <p:nvPr/>
        </p:nvSpPr>
        <p:spPr>
          <a:xfrm>
            <a:off x="8778240" y="4608576"/>
            <a:ext cx="2544775" cy="42062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hypervolume of the solutions (larger is better)</a:t>
            </a:r>
            <a:endParaRPr lang="en-US" sz="1300" dirty="0"/>
          </a:p>
        </p:txBody>
      </p:sp>
      <p:sp>
        <p:nvSpPr>
          <p:cNvPr id="22" name="Shape 20"/>
          <p:cNvSpPr/>
          <p:nvPr/>
        </p:nvSpPr>
        <p:spPr>
          <a:xfrm>
            <a:off x="7360920" y="5074920"/>
            <a:ext cx="3916375" cy="0"/>
          </a:xfrm>
          <a:prstGeom prst="line">
            <a:avLst/>
          </a:prstGeom>
          <a:noFill/>
          <a:ln w="6350">
            <a:solidFill>
              <a:srgbClr val="2A3546"/>
            </a:solidFill>
            <a:prstDash val="solid"/>
          </a:ln>
        </p:spPr>
      </p:sp>
      <p:sp>
        <p:nvSpPr>
          <p:cNvPr id="23" name="Text 21"/>
          <p:cNvSpPr txBox="1"/>
          <p:nvPr/>
        </p:nvSpPr>
        <p:spPr>
          <a:xfrm>
            <a:off x="7360920" y="5157216"/>
            <a:ext cx="1371600" cy="237744"/>
          </a:xfrm>
          <a:prstGeom prst="rect">
            <a:avLst/>
          </a:prstGeom>
          <a:noFill/>
          <a:ln/>
        </p:spPr>
        <p:txBody>
          <a:bodyPr wrap="square" lIns="0" tIns="0" rIns="0" bIns="0" rtlCol="0" anchor="t"/>
          <a:lstStyle/>
          <a:p>
            <a:pPr indent="0" marL="0">
              <a:buNone/>
            </a:pPr>
            <a:r>
              <a:rPr lang="en-US" sz="1200" b="1" dirty="0">
                <a:solidFill>
                  <a:srgbClr val="9AA6B6"/>
                </a:solidFill>
                <a:latin typeface="Calibri" pitchFamily="34" charset="0"/>
                <a:ea typeface="Calibri" pitchFamily="34" charset="-122"/>
                <a:cs typeface="Calibri" pitchFamily="34" charset="-120"/>
              </a:rPr>
              <a:t>Leaderboards</a:t>
            </a:r>
            <a:endParaRPr lang="en-US" sz="1200" dirty="0"/>
          </a:p>
        </p:txBody>
      </p:sp>
      <p:sp>
        <p:nvSpPr>
          <p:cNvPr id="24" name="Text 22"/>
          <p:cNvSpPr txBox="1"/>
          <p:nvPr/>
        </p:nvSpPr>
        <p:spPr>
          <a:xfrm>
            <a:off x="8778240" y="5157216"/>
            <a:ext cx="2544775" cy="42062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14, 10 and 10 entries</a:t>
            </a:r>
            <a:endParaRPr lang="en-US" sz="1300" dirty="0"/>
          </a:p>
        </p:txBody>
      </p:sp>
      <p:sp>
        <p:nvSpPr>
          <p:cNvPr id="25" name="Text 23"/>
          <p:cNvSpPr txBox="1"/>
          <p:nvPr/>
        </p:nvSpPr>
        <p:spPr>
          <a:xfrm>
            <a:off x="7086600" y="5888736"/>
            <a:ext cx="4465015" cy="411480"/>
          </a:xfrm>
          <a:prstGeom prst="rect">
            <a:avLst/>
          </a:prstGeom>
          <a:noFill/>
          <a:ln/>
        </p:spPr>
        <p:txBody>
          <a:bodyPr wrap="square" lIns="0" tIns="0" rIns="0" bIns="0" rtlCol="0" anchor="t"/>
          <a:lstStyle/>
          <a:p>
            <a:pPr indent="0" marL="0">
              <a:buNone/>
            </a:pPr>
            <a:r>
              <a:rPr lang="en-US" sz="1000" i="1" dirty="0">
                <a:solidFill>
                  <a:srgbClr val="7D8AA0"/>
                </a:solidFill>
                <a:latin typeface="Calibri" pitchFamily="34" charset="0"/>
                <a:ea typeface="Calibri" pitchFamily="34" charset="-122"/>
                <a:cs typeface="Calibri" pitchFamily="34" charset="-120"/>
              </a:rPr>
              <a:t>Bannach et al., “The Space Optimization Competition: Third Edition”, GECCO ’24 Companion, 2024.</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1 · INTRODUCTION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Research questions</a:t>
            </a:r>
            <a:endParaRPr lang="en-US" sz="2700" dirty="0"/>
          </a:p>
        </p:txBody>
      </p:sp>
      <p:sp>
        <p:nvSpPr>
          <p:cNvPr id="4" name="Text 2"/>
          <p:cNvSpPr txBox="1"/>
          <p:nvPr/>
        </p:nvSpPr>
        <p:spPr>
          <a:xfrm>
            <a:off x="640080" y="1801368"/>
            <a:ext cx="1005840" cy="457200"/>
          </a:xfrm>
          <a:prstGeom prst="rect">
            <a:avLst/>
          </a:prstGeom>
          <a:noFill/>
          <a:ln/>
        </p:spPr>
        <p:txBody>
          <a:bodyPr wrap="square" lIns="0" tIns="0" rIns="0" bIns="0" rtlCol="0" anchor="t"/>
          <a:lstStyle/>
          <a:p>
            <a:pPr indent="0" marL="0">
              <a:buNone/>
            </a:pPr>
            <a:r>
              <a:rPr lang="en-US" sz="2400" dirty="0">
                <a:solidFill>
                  <a:srgbClr val="3DDC97"/>
                </a:solidFill>
                <a:latin typeface="Century Schoolbook" pitchFamily="34" charset="0"/>
                <a:ea typeface="Century Schoolbook" pitchFamily="34" charset="-122"/>
                <a:cs typeface="Century Schoolbook" pitchFamily="34" charset="-120"/>
              </a:rPr>
              <a:t>RQ1</a:t>
            </a:r>
            <a:endParaRPr lang="en-US" sz="2400" dirty="0"/>
          </a:p>
        </p:txBody>
      </p:sp>
      <p:sp>
        <p:nvSpPr>
          <p:cNvPr id="5" name="Text 3"/>
          <p:cNvSpPr txBox="1"/>
          <p:nvPr/>
        </p:nvSpPr>
        <p:spPr>
          <a:xfrm>
            <a:off x="1737360" y="1847088"/>
            <a:ext cx="8229600" cy="544373"/>
          </a:xfrm>
          <a:prstGeom prst="rect">
            <a:avLst/>
          </a:prstGeom>
          <a:noFill/>
          <a:ln/>
        </p:spPr>
        <p:txBody>
          <a:bodyPr wrap="square" lIns="0" tIns="0" rIns="0" bIns="0" rtlCol="0" anchor="t"/>
          <a:lstStyle/>
          <a:p>
            <a:pPr indent="0" marL="0">
              <a:lnSpc>
                <a:spcPct val="98000"/>
              </a:lnSpc>
              <a:buNone/>
            </a:pPr>
            <a:r>
              <a:rPr lang="en-US" sz="1700" dirty="0">
                <a:solidFill>
                  <a:srgbClr val="E8ECF2"/>
                </a:solidFill>
                <a:latin typeface="Century Schoolbook" pitchFamily="34" charset="0"/>
                <a:ea typeface="Century Schoolbook" pitchFamily="34" charset="-122"/>
                <a:cs typeface="Century Schoolbook" pitchFamily="34" charset="-120"/>
              </a:rPr>
              <a:t>How does Hill-Climbing compare with the three leading ESA SpOC-3 methods under one controlled protocol?</a:t>
            </a:r>
            <a:endParaRPr lang="en-US" sz="1700" dirty="0"/>
          </a:p>
        </p:txBody>
      </p:sp>
      <p:sp>
        <p:nvSpPr>
          <p:cNvPr id="6" name="Text 4"/>
          <p:cNvSpPr txBox="1"/>
          <p:nvPr/>
        </p:nvSpPr>
        <p:spPr>
          <a:xfrm>
            <a:off x="1737360" y="2418893"/>
            <a:ext cx="8229600" cy="432816"/>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All methods get the same time and the same evaluator; the two ordering-based searches also share their starting point.</a:t>
            </a:r>
            <a:endParaRPr lang="en-US" sz="1300" dirty="0"/>
          </a:p>
        </p:txBody>
      </p:sp>
      <p:sp>
        <p:nvSpPr>
          <p:cNvPr id="7" name="Text 5"/>
          <p:cNvSpPr txBox="1"/>
          <p:nvPr/>
        </p:nvSpPr>
        <p:spPr>
          <a:xfrm>
            <a:off x="10134295" y="1911096"/>
            <a:ext cx="1417320" cy="237744"/>
          </a:xfrm>
          <a:prstGeom prst="rect">
            <a:avLst/>
          </a:prstGeom>
          <a:noFill/>
          <a:ln/>
        </p:spPr>
        <p:txBody>
          <a:bodyPr wrap="square" lIns="0" tIns="0" rIns="0" bIns="0" rtlCol="0" anchor="t"/>
          <a:lstStyle/>
          <a:p>
            <a:pPr algn="r" indent="0" marL="0">
              <a:buNone/>
            </a:pPr>
            <a:r>
              <a:rPr lang="en-US" sz="1050" b="1" spc="160" kern="0" dirty="0">
                <a:solidFill>
                  <a:srgbClr val="4DA3FF"/>
                </a:solidFill>
                <a:latin typeface="Calibri" pitchFamily="34" charset="0"/>
                <a:ea typeface="Calibri" pitchFamily="34" charset="-122"/>
                <a:cs typeface="Calibri" pitchFamily="34" charset="-120"/>
              </a:rPr>
              <a:t>RESULTS I</a:t>
            </a:r>
            <a:endParaRPr lang="en-US" sz="1050" dirty="0"/>
          </a:p>
        </p:txBody>
      </p:sp>
      <p:sp>
        <p:nvSpPr>
          <p:cNvPr id="8" name="Shape 6"/>
          <p:cNvSpPr/>
          <p:nvPr/>
        </p:nvSpPr>
        <p:spPr>
          <a:xfrm>
            <a:off x="640080" y="2788920"/>
            <a:ext cx="10911535" cy="0"/>
          </a:xfrm>
          <a:prstGeom prst="line">
            <a:avLst/>
          </a:prstGeom>
          <a:noFill/>
          <a:ln w="6350">
            <a:solidFill>
              <a:srgbClr val="2A3546"/>
            </a:solidFill>
            <a:prstDash val="solid"/>
          </a:ln>
        </p:spPr>
      </p:sp>
      <p:sp>
        <p:nvSpPr>
          <p:cNvPr id="9" name="Text 7"/>
          <p:cNvSpPr txBox="1"/>
          <p:nvPr/>
        </p:nvSpPr>
        <p:spPr>
          <a:xfrm>
            <a:off x="640080" y="2898648"/>
            <a:ext cx="1005840" cy="457200"/>
          </a:xfrm>
          <a:prstGeom prst="rect">
            <a:avLst/>
          </a:prstGeom>
          <a:noFill/>
          <a:ln/>
        </p:spPr>
        <p:txBody>
          <a:bodyPr wrap="square" lIns="0" tIns="0" rIns="0" bIns="0" rtlCol="0" anchor="t"/>
          <a:lstStyle/>
          <a:p>
            <a:pPr indent="0" marL="0">
              <a:buNone/>
            </a:pPr>
            <a:r>
              <a:rPr lang="en-US" sz="2400" dirty="0">
                <a:solidFill>
                  <a:srgbClr val="3DDC97"/>
                </a:solidFill>
                <a:latin typeface="Century Schoolbook" pitchFamily="34" charset="0"/>
                <a:ea typeface="Century Schoolbook" pitchFamily="34" charset="-122"/>
                <a:cs typeface="Century Schoolbook" pitchFamily="34" charset="-120"/>
              </a:rPr>
              <a:t>RQ2</a:t>
            </a:r>
            <a:endParaRPr lang="en-US" sz="2400" dirty="0"/>
          </a:p>
        </p:txBody>
      </p:sp>
      <p:sp>
        <p:nvSpPr>
          <p:cNvPr id="10" name="Text 8"/>
          <p:cNvSpPr txBox="1"/>
          <p:nvPr/>
        </p:nvSpPr>
        <p:spPr>
          <a:xfrm>
            <a:off x="1737360" y="2944368"/>
            <a:ext cx="8229600" cy="290474"/>
          </a:xfrm>
          <a:prstGeom prst="rect">
            <a:avLst/>
          </a:prstGeom>
          <a:noFill/>
          <a:ln/>
        </p:spPr>
        <p:txBody>
          <a:bodyPr wrap="square" lIns="0" tIns="0" rIns="0" bIns="0" rtlCol="0" anchor="t"/>
          <a:lstStyle/>
          <a:p>
            <a:pPr indent="0" marL="0">
              <a:lnSpc>
                <a:spcPct val="98000"/>
              </a:lnSpc>
              <a:buNone/>
            </a:pPr>
            <a:r>
              <a:rPr lang="en-US" sz="1700" dirty="0">
                <a:solidFill>
                  <a:srgbClr val="E8ECF2"/>
                </a:solidFill>
                <a:latin typeface="Century Schoolbook" pitchFamily="34" charset="0"/>
                <a:ea typeface="Century Schoolbook" pitchFamily="34" charset="-122"/>
                <a:cs typeface="Century Schoolbook" pitchFamily="34" charset="-120"/>
              </a:rPr>
              <a:t>Which differences between the methods are reliable across random seeds?</a:t>
            </a:r>
            <a:endParaRPr lang="en-US" sz="1700" dirty="0"/>
          </a:p>
        </p:txBody>
      </p:sp>
      <p:sp>
        <p:nvSpPr>
          <p:cNvPr id="11" name="Text 9"/>
          <p:cNvSpPr txBox="1"/>
          <p:nvPr/>
        </p:nvSpPr>
        <p:spPr>
          <a:xfrm>
            <a:off x="1737360" y="3262274"/>
            <a:ext cx="8229600" cy="234696"/>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Every seed of every method is examined, not only the best of three.</a:t>
            </a:r>
            <a:endParaRPr lang="en-US" sz="1300" dirty="0"/>
          </a:p>
        </p:txBody>
      </p:sp>
      <p:sp>
        <p:nvSpPr>
          <p:cNvPr id="12" name="Text 10"/>
          <p:cNvSpPr txBox="1"/>
          <p:nvPr/>
        </p:nvSpPr>
        <p:spPr>
          <a:xfrm>
            <a:off x="10134295" y="3008376"/>
            <a:ext cx="1417320" cy="237744"/>
          </a:xfrm>
          <a:prstGeom prst="rect">
            <a:avLst/>
          </a:prstGeom>
          <a:noFill/>
          <a:ln/>
        </p:spPr>
        <p:txBody>
          <a:bodyPr wrap="square" lIns="0" tIns="0" rIns="0" bIns="0" rtlCol="0" anchor="t"/>
          <a:lstStyle/>
          <a:p>
            <a:pPr algn="r" indent="0" marL="0">
              <a:buNone/>
            </a:pPr>
            <a:r>
              <a:rPr lang="en-US" sz="1050" b="1" spc="160" kern="0" dirty="0">
                <a:solidFill>
                  <a:srgbClr val="4DA3FF"/>
                </a:solidFill>
                <a:latin typeface="Calibri" pitchFamily="34" charset="0"/>
                <a:ea typeface="Calibri" pitchFamily="34" charset="-122"/>
                <a:cs typeface="Calibri" pitchFamily="34" charset="-120"/>
              </a:rPr>
              <a:t>RESULTS II</a:t>
            </a:r>
            <a:endParaRPr lang="en-US" sz="1050" dirty="0"/>
          </a:p>
        </p:txBody>
      </p:sp>
      <p:sp>
        <p:nvSpPr>
          <p:cNvPr id="13" name="Shape 11"/>
          <p:cNvSpPr/>
          <p:nvPr/>
        </p:nvSpPr>
        <p:spPr>
          <a:xfrm>
            <a:off x="640080" y="3886200"/>
            <a:ext cx="10911535" cy="0"/>
          </a:xfrm>
          <a:prstGeom prst="line">
            <a:avLst/>
          </a:prstGeom>
          <a:noFill/>
          <a:ln w="6350">
            <a:solidFill>
              <a:srgbClr val="2A3546"/>
            </a:solidFill>
            <a:prstDash val="solid"/>
          </a:ln>
        </p:spPr>
      </p:sp>
      <p:sp>
        <p:nvSpPr>
          <p:cNvPr id="14" name="Text 12"/>
          <p:cNvSpPr txBox="1"/>
          <p:nvPr/>
        </p:nvSpPr>
        <p:spPr>
          <a:xfrm>
            <a:off x="640080" y="3995928"/>
            <a:ext cx="1005840" cy="457200"/>
          </a:xfrm>
          <a:prstGeom prst="rect">
            <a:avLst/>
          </a:prstGeom>
          <a:noFill/>
          <a:ln/>
        </p:spPr>
        <p:txBody>
          <a:bodyPr wrap="square" lIns="0" tIns="0" rIns="0" bIns="0" rtlCol="0" anchor="t"/>
          <a:lstStyle/>
          <a:p>
            <a:pPr indent="0" marL="0">
              <a:buNone/>
            </a:pPr>
            <a:r>
              <a:rPr lang="en-US" sz="2400" dirty="0">
                <a:solidFill>
                  <a:srgbClr val="3DDC97"/>
                </a:solidFill>
                <a:latin typeface="Century Schoolbook" pitchFamily="34" charset="0"/>
                <a:ea typeface="Century Schoolbook" pitchFamily="34" charset="-122"/>
                <a:cs typeface="Century Schoolbook" pitchFamily="34" charset="-120"/>
              </a:rPr>
              <a:t>RQ3</a:t>
            </a:r>
            <a:endParaRPr lang="en-US" sz="2400" dirty="0"/>
          </a:p>
        </p:txBody>
      </p:sp>
      <p:sp>
        <p:nvSpPr>
          <p:cNvPr id="15" name="Text 13"/>
          <p:cNvSpPr txBox="1"/>
          <p:nvPr/>
        </p:nvSpPr>
        <p:spPr>
          <a:xfrm>
            <a:off x="1737360" y="4041648"/>
            <a:ext cx="8229600" cy="544373"/>
          </a:xfrm>
          <a:prstGeom prst="rect">
            <a:avLst/>
          </a:prstGeom>
          <a:noFill/>
          <a:ln/>
        </p:spPr>
        <p:txBody>
          <a:bodyPr wrap="square" lIns="0" tIns="0" rIns="0" bIns="0" rtlCol="0" anchor="t"/>
          <a:lstStyle/>
          <a:p>
            <a:pPr indent="0" marL="0">
              <a:lnSpc>
                <a:spcPct val="98000"/>
              </a:lnSpc>
              <a:buNone/>
            </a:pPr>
            <a:r>
              <a:rPr lang="en-US" sz="1700" dirty="0">
                <a:solidFill>
                  <a:srgbClr val="E8ECF2"/>
                </a:solidFill>
                <a:latin typeface="Century Schoolbook" pitchFamily="34" charset="0"/>
                <a:ea typeface="Century Schoolbook" pitchFamily="34" charset="-122"/>
                <a:cs typeface="Century Schoolbook" pitchFamily="34" charset="-120"/>
              </a:rPr>
              <a:t>Which component of a local search determines the score: the construction, the acceptance rule or the moves?</a:t>
            </a:r>
            <a:endParaRPr lang="en-US" sz="1700" dirty="0"/>
          </a:p>
        </p:txBody>
      </p:sp>
      <p:sp>
        <p:nvSpPr>
          <p:cNvPr id="16" name="Text 14"/>
          <p:cNvSpPr txBox="1"/>
          <p:nvPr/>
        </p:nvSpPr>
        <p:spPr>
          <a:xfrm>
            <a:off x="1737360" y="4613453"/>
            <a:ext cx="8229600" cy="234696"/>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One component is replaced at a time against the same Hill-Climbing control, including 13 new move operators.</a:t>
            </a:r>
            <a:endParaRPr lang="en-US" sz="1300" dirty="0"/>
          </a:p>
        </p:txBody>
      </p:sp>
      <p:sp>
        <p:nvSpPr>
          <p:cNvPr id="17" name="Text 15"/>
          <p:cNvSpPr txBox="1"/>
          <p:nvPr/>
        </p:nvSpPr>
        <p:spPr>
          <a:xfrm>
            <a:off x="10134295" y="4105656"/>
            <a:ext cx="1417320" cy="237744"/>
          </a:xfrm>
          <a:prstGeom prst="rect">
            <a:avLst/>
          </a:prstGeom>
          <a:noFill/>
          <a:ln/>
        </p:spPr>
        <p:txBody>
          <a:bodyPr wrap="square" lIns="0" tIns="0" rIns="0" bIns="0" rtlCol="0" anchor="t"/>
          <a:lstStyle/>
          <a:p>
            <a:pPr algn="r" indent="0" marL="0">
              <a:buNone/>
            </a:pPr>
            <a:r>
              <a:rPr lang="en-US" sz="1050" b="1" spc="160" kern="0" dirty="0">
                <a:solidFill>
                  <a:srgbClr val="4DA3FF"/>
                </a:solidFill>
                <a:latin typeface="Calibri" pitchFamily="34" charset="0"/>
                <a:ea typeface="Calibri" pitchFamily="34" charset="-122"/>
                <a:cs typeface="Calibri" pitchFamily="34" charset="-120"/>
              </a:rPr>
              <a:t>RESULTS III</a:t>
            </a:r>
            <a:endParaRPr lang="en-US" sz="1050" dirty="0"/>
          </a:p>
        </p:txBody>
      </p:sp>
      <p:sp>
        <p:nvSpPr>
          <p:cNvPr id="18" name="Shape 16"/>
          <p:cNvSpPr/>
          <p:nvPr/>
        </p:nvSpPr>
        <p:spPr>
          <a:xfrm>
            <a:off x="640080" y="4983480"/>
            <a:ext cx="10911535" cy="0"/>
          </a:xfrm>
          <a:prstGeom prst="line">
            <a:avLst/>
          </a:prstGeom>
          <a:noFill/>
          <a:ln w="6350">
            <a:solidFill>
              <a:srgbClr val="2A3546"/>
            </a:solidFill>
            <a:prstDash val="solid"/>
          </a:ln>
        </p:spPr>
      </p:sp>
      <p:sp>
        <p:nvSpPr>
          <p:cNvPr id="19" name="Text 17"/>
          <p:cNvSpPr txBox="1"/>
          <p:nvPr/>
        </p:nvSpPr>
        <p:spPr>
          <a:xfrm>
            <a:off x="640080" y="5093208"/>
            <a:ext cx="1005840" cy="457200"/>
          </a:xfrm>
          <a:prstGeom prst="rect">
            <a:avLst/>
          </a:prstGeom>
          <a:noFill/>
          <a:ln/>
        </p:spPr>
        <p:txBody>
          <a:bodyPr wrap="square" lIns="0" tIns="0" rIns="0" bIns="0" rtlCol="0" anchor="t"/>
          <a:lstStyle/>
          <a:p>
            <a:pPr indent="0" marL="0">
              <a:buNone/>
            </a:pPr>
            <a:r>
              <a:rPr lang="en-US" sz="2400" dirty="0">
                <a:solidFill>
                  <a:srgbClr val="3DDC97"/>
                </a:solidFill>
                <a:latin typeface="Century Schoolbook" pitchFamily="34" charset="0"/>
                <a:ea typeface="Century Schoolbook" pitchFamily="34" charset="-122"/>
                <a:cs typeface="Century Schoolbook" pitchFamily="34" charset="-120"/>
              </a:rPr>
              <a:t>RQ4</a:t>
            </a:r>
            <a:endParaRPr lang="en-US" sz="2400" dirty="0"/>
          </a:p>
        </p:txBody>
      </p:sp>
      <p:sp>
        <p:nvSpPr>
          <p:cNvPr id="20" name="Text 18"/>
          <p:cNvSpPr txBox="1"/>
          <p:nvPr/>
        </p:nvSpPr>
        <p:spPr>
          <a:xfrm>
            <a:off x="1737360" y="5138928"/>
            <a:ext cx="8229600" cy="544373"/>
          </a:xfrm>
          <a:prstGeom prst="rect">
            <a:avLst/>
          </a:prstGeom>
          <a:noFill/>
          <a:ln/>
        </p:spPr>
        <p:txBody>
          <a:bodyPr wrap="square" lIns="0" tIns="0" rIns="0" bIns="0" rtlCol="0" anchor="t"/>
          <a:lstStyle/>
          <a:p>
            <a:pPr indent="0" marL="0">
              <a:lnSpc>
                <a:spcPct val="98000"/>
              </a:lnSpc>
              <a:buNone/>
            </a:pPr>
            <a:r>
              <a:rPr lang="en-US" sz="1700" dirty="0">
                <a:solidFill>
                  <a:srgbClr val="E8ECF2"/>
                </a:solidFill>
                <a:latin typeface="Century Schoolbook" pitchFamily="34" charset="0"/>
                <a:ea typeface="Century Schoolbook" pitchFamily="34" charset="-122"/>
                <a:cs typeface="Century Schoolbook" pitchFamily="34" charset="-120"/>
              </a:rPr>
              <a:t>Does more time change the picture, and how far are the results from the best possible score?</a:t>
            </a:r>
            <a:endParaRPr lang="en-US" sz="1700" dirty="0"/>
          </a:p>
        </p:txBody>
      </p:sp>
      <p:sp>
        <p:nvSpPr>
          <p:cNvPr id="21" name="Text 19"/>
          <p:cNvSpPr txBox="1"/>
          <p:nvPr/>
        </p:nvSpPr>
        <p:spPr>
          <a:xfrm>
            <a:off x="1737360" y="5710733"/>
            <a:ext cx="8229600" cy="234696"/>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Runs at 3× and 10× the time budget, and a provable upper bound on the score of each instance.</a:t>
            </a:r>
            <a:endParaRPr lang="en-US" sz="1300" dirty="0"/>
          </a:p>
        </p:txBody>
      </p:sp>
      <p:sp>
        <p:nvSpPr>
          <p:cNvPr id="22" name="Text 20"/>
          <p:cNvSpPr txBox="1"/>
          <p:nvPr/>
        </p:nvSpPr>
        <p:spPr>
          <a:xfrm>
            <a:off x="10134295" y="5202936"/>
            <a:ext cx="1417320" cy="237744"/>
          </a:xfrm>
          <a:prstGeom prst="rect">
            <a:avLst/>
          </a:prstGeom>
          <a:noFill/>
          <a:ln/>
        </p:spPr>
        <p:txBody>
          <a:bodyPr wrap="square" lIns="0" tIns="0" rIns="0" bIns="0" rtlCol="0" anchor="t"/>
          <a:lstStyle/>
          <a:p>
            <a:pPr algn="r" indent="0" marL="0">
              <a:buNone/>
            </a:pPr>
            <a:r>
              <a:rPr lang="en-US" sz="1050" b="1" spc="160" kern="0" dirty="0">
                <a:solidFill>
                  <a:srgbClr val="4DA3FF"/>
                </a:solidFill>
                <a:latin typeface="Calibri" pitchFamily="34" charset="0"/>
                <a:ea typeface="Calibri" pitchFamily="34" charset="-122"/>
                <a:cs typeface="Calibri" pitchFamily="34" charset="-120"/>
              </a:rPr>
              <a:t>RESULTS IV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2 · PROBLEM DEFINITION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problem by example</a:t>
            </a:r>
            <a:endParaRPr lang="en-US" sz="2700" dirty="0"/>
          </a:p>
        </p:txBody>
      </p:sp>
      <p:sp>
        <p:nvSpPr>
          <p:cNvPr id="4" name="Shape 2"/>
          <p:cNvSpPr/>
          <p:nvPr/>
        </p:nvSpPr>
        <p:spPr>
          <a:xfrm>
            <a:off x="640080" y="1783080"/>
            <a:ext cx="4709160" cy="3703320"/>
          </a:xfrm>
          <a:prstGeom prst="rect">
            <a:avLst/>
          </a:prstGeom>
          <a:solidFill>
            <a:srgbClr val="131B28"/>
          </a:solidFill>
          <a:ln/>
        </p:spPr>
      </p:sp>
      <p:sp>
        <p:nvSpPr>
          <p:cNvPr id="5" name="Text 3"/>
          <p:cNvSpPr txBox="1"/>
          <p:nvPr/>
        </p:nvSpPr>
        <p:spPr>
          <a:xfrm>
            <a:off x="896112" y="1920240"/>
            <a:ext cx="42519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STEP BY STEP</a:t>
            </a:r>
            <a:endParaRPr lang="en-US" sz="1050" dirty="0"/>
          </a:p>
        </p:txBody>
      </p:sp>
      <p:sp>
        <p:nvSpPr>
          <p:cNvPr id="6" name="Text 4"/>
          <p:cNvSpPr txBox="1"/>
          <p:nvPr/>
        </p:nvSpPr>
        <p:spPr>
          <a:xfrm>
            <a:off x="896112" y="2258568"/>
            <a:ext cx="320040" cy="274320"/>
          </a:xfrm>
          <a:prstGeom prst="rect">
            <a:avLst/>
          </a:prstGeom>
          <a:noFill/>
          <a:ln/>
        </p:spPr>
        <p:txBody>
          <a:bodyPr wrap="square" lIns="0" tIns="0" rIns="0" bIns="0" rtlCol="0" anchor="t"/>
          <a:lstStyle/>
          <a:p>
            <a:pPr indent="0" marL="0">
              <a:buNone/>
            </a:pPr>
            <a:r>
              <a:rPr lang="en-US" sz="1500" dirty="0">
                <a:solidFill>
                  <a:srgbClr val="3DDC97"/>
                </a:solidFill>
                <a:latin typeface="Century Schoolbook" pitchFamily="34" charset="0"/>
                <a:ea typeface="Century Schoolbook" pitchFamily="34" charset="-122"/>
                <a:cs typeface="Century Schoolbook" pitchFamily="34" charset="-120"/>
              </a:rPr>
              <a:t>1</a:t>
            </a:r>
            <a:endParaRPr lang="en-US" sz="1500" dirty="0"/>
          </a:p>
        </p:txBody>
      </p:sp>
      <p:sp>
        <p:nvSpPr>
          <p:cNvPr id="7" name="Text 5"/>
          <p:cNvSpPr txBox="1"/>
          <p:nvPr/>
        </p:nvSpPr>
        <p:spPr>
          <a:xfrm>
            <a:off x="1261872" y="2286000"/>
            <a:ext cx="3840480" cy="432816"/>
          </a:xfrm>
          <a:prstGeom prst="rect">
            <a:avLst/>
          </a:prstGeom>
          <a:noFill/>
          <a:ln/>
        </p:spPr>
        <p:txBody>
          <a:bodyPr wrap="square" lIns="0" tIns="0" rIns="0" bIns="0" rtlCol="0" anchor="t"/>
          <a:lstStyle/>
          <a:p>
            <a:pPr indent="0" marL="0">
              <a:buNone/>
            </a:pPr>
            <a:r>
              <a:rPr lang="en-US" sz="1300" b="1" dirty="0">
                <a:solidFill>
                  <a:srgbClr val="E8ECF2"/>
                </a:solidFill>
                <a:latin typeface="Calibri" pitchFamily="34" charset="0"/>
                <a:ea typeface="Calibri" pitchFamily="34" charset="-122"/>
                <a:cs typeface="Calibri" pitchFamily="34" charset="-120"/>
              </a:rPr>
              <a:t>Order.</a:t>
            </a:r>
            <a:r>
              <a:rPr lang="en-US" sz="1300" dirty="0">
                <a:solidFill>
                  <a:srgbClr val="E8ECF2"/>
                </a:solidFill>
                <a:latin typeface="Calibri" pitchFamily="34" charset="0"/>
                <a:ea typeface="Calibri" pitchFamily="34" charset="-122"/>
                <a:cs typeface="Calibri" pitchFamily="34" charset="-120"/>
              </a:rPr>
              <a:t> Arrange the vertices in a sequence: here 0, 1, 2, 4, 5, 3, 6, 8, 9, 7.</a:t>
            </a:r>
            <a:endParaRPr lang="en-US" sz="1300" dirty="0"/>
          </a:p>
        </p:txBody>
      </p:sp>
      <p:sp>
        <p:nvSpPr>
          <p:cNvPr id="8" name="Text 6"/>
          <p:cNvSpPr txBox="1"/>
          <p:nvPr/>
        </p:nvSpPr>
        <p:spPr>
          <a:xfrm>
            <a:off x="896112" y="2810256"/>
            <a:ext cx="320040" cy="274320"/>
          </a:xfrm>
          <a:prstGeom prst="rect">
            <a:avLst/>
          </a:prstGeom>
          <a:noFill/>
          <a:ln/>
        </p:spPr>
        <p:txBody>
          <a:bodyPr wrap="square" lIns="0" tIns="0" rIns="0" bIns="0" rtlCol="0" anchor="t"/>
          <a:lstStyle/>
          <a:p>
            <a:pPr indent="0" marL="0">
              <a:buNone/>
            </a:pPr>
            <a:r>
              <a:rPr lang="en-US" sz="1500" dirty="0">
                <a:solidFill>
                  <a:srgbClr val="3DDC97"/>
                </a:solidFill>
                <a:latin typeface="Century Schoolbook" pitchFamily="34" charset="0"/>
                <a:ea typeface="Century Schoolbook" pitchFamily="34" charset="-122"/>
                <a:cs typeface="Century Schoolbook" pitchFamily="34" charset="-120"/>
              </a:rPr>
              <a:t>2</a:t>
            </a:r>
            <a:endParaRPr lang="en-US" sz="1500" dirty="0"/>
          </a:p>
        </p:txBody>
      </p:sp>
      <p:sp>
        <p:nvSpPr>
          <p:cNvPr id="9" name="Text 7"/>
          <p:cNvSpPr txBox="1"/>
          <p:nvPr/>
        </p:nvSpPr>
        <p:spPr>
          <a:xfrm>
            <a:off x="1261872" y="2837688"/>
            <a:ext cx="3840480" cy="630936"/>
          </a:xfrm>
          <a:prstGeom prst="rect">
            <a:avLst/>
          </a:prstGeom>
          <a:noFill/>
          <a:ln/>
        </p:spPr>
        <p:txBody>
          <a:bodyPr wrap="square" lIns="0" tIns="0" rIns="0" bIns="0" rtlCol="0" anchor="t"/>
          <a:lstStyle/>
          <a:p>
            <a:pPr indent="0" marL="0">
              <a:buNone/>
            </a:pPr>
            <a:r>
              <a:rPr lang="en-US" sz="1300" b="1" dirty="0">
                <a:solidFill>
                  <a:srgbClr val="E8ECF2"/>
                </a:solidFill>
                <a:latin typeface="Calibri" pitchFamily="34" charset="0"/>
                <a:ea typeface="Calibri" pitchFamily="34" charset="-122"/>
                <a:cs typeface="Calibri" pitchFamily="34" charset="-120"/>
              </a:rPr>
              <a:t>Eliminate.</a:t>
            </a:r>
            <a:r>
              <a:rPr lang="en-US" sz="1300" dirty="0">
                <a:solidFill>
                  <a:srgbClr val="E8ECF2"/>
                </a:solidFill>
                <a:latin typeface="Calibri" pitchFamily="34" charset="0"/>
                <a:ea typeface="Calibri" pitchFamily="34" charset="-122"/>
                <a:cs typeface="Calibri" pitchFamily="34" charset="-120"/>
              </a:rPr>
              <a:t> Remove them in this order; each removed vertex joins its later neighbours to one another (red fill edges).</a:t>
            </a:r>
            <a:endParaRPr lang="en-US" sz="1300" dirty="0"/>
          </a:p>
        </p:txBody>
      </p:sp>
      <p:sp>
        <p:nvSpPr>
          <p:cNvPr id="10" name="Text 8"/>
          <p:cNvSpPr txBox="1"/>
          <p:nvPr/>
        </p:nvSpPr>
        <p:spPr>
          <a:xfrm>
            <a:off x="896112" y="3560064"/>
            <a:ext cx="320040" cy="274320"/>
          </a:xfrm>
          <a:prstGeom prst="rect">
            <a:avLst/>
          </a:prstGeom>
          <a:noFill/>
          <a:ln/>
        </p:spPr>
        <p:txBody>
          <a:bodyPr wrap="square" lIns="0" tIns="0" rIns="0" bIns="0" rtlCol="0" anchor="t"/>
          <a:lstStyle/>
          <a:p>
            <a:pPr indent="0" marL="0">
              <a:buNone/>
            </a:pPr>
            <a:r>
              <a:rPr lang="en-US" sz="1500" dirty="0">
                <a:solidFill>
                  <a:srgbClr val="3DDC97"/>
                </a:solidFill>
                <a:latin typeface="Century Schoolbook" pitchFamily="34" charset="0"/>
                <a:ea typeface="Century Schoolbook" pitchFamily="34" charset="-122"/>
                <a:cs typeface="Century Schoolbook" pitchFamily="34" charset="-120"/>
              </a:rPr>
              <a:t>3</a:t>
            </a:r>
            <a:endParaRPr lang="en-US" sz="1500" dirty="0"/>
          </a:p>
        </p:txBody>
      </p:sp>
      <p:sp>
        <p:nvSpPr>
          <p:cNvPr id="11" name="Text 9"/>
          <p:cNvSpPr txBox="1"/>
          <p:nvPr/>
        </p:nvSpPr>
        <p:spPr>
          <a:xfrm>
            <a:off x="1261872" y="3587496"/>
            <a:ext cx="3840480" cy="432816"/>
          </a:xfrm>
          <a:prstGeom prst="rect">
            <a:avLst/>
          </a:prstGeom>
          <a:noFill/>
          <a:ln/>
        </p:spPr>
        <p:txBody>
          <a:bodyPr wrap="square" lIns="0" tIns="0" rIns="0" bIns="0" rtlCol="0" anchor="t"/>
          <a:lstStyle/>
          <a:p>
            <a:pPr indent="0" marL="0">
              <a:buNone/>
            </a:pPr>
            <a:r>
              <a:rPr lang="en-US" sz="1300" b="1" dirty="0">
                <a:solidFill>
                  <a:srgbClr val="E8ECF2"/>
                </a:solidFill>
                <a:latin typeface="Calibri" pitchFamily="34" charset="0"/>
                <a:ea typeface="Calibri" pitchFamily="34" charset="-122"/>
                <a:cs typeface="Calibri" pitchFamily="34" charset="-120"/>
              </a:rPr>
              <a:t>Cut.</a:t>
            </a:r>
            <a:r>
              <a:rPr lang="en-US" sz="1300" dirty="0">
                <a:solidFill>
                  <a:srgbClr val="E8ECF2"/>
                </a:solidFill>
                <a:latin typeface="Calibri" pitchFamily="34" charset="0"/>
                <a:ea typeface="Calibri" pitchFamily="34" charset="-122"/>
                <a:cs typeface="Calibri" pitchFamily="34" charset="-120"/>
              </a:rPr>
              <a:t> Stop after the first </a:t>
            </a:r>
            <a:r>
              <a:rPr lang="en-US" sz="1300" i="1" dirty="0">
                <a:solidFill>
                  <a:srgbClr val="E8ECF2"/>
                </a:solidFill>
                <a:latin typeface="Calibri" pitchFamily="34" charset="0"/>
                <a:ea typeface="Calibri" pitchFamily="34" charset="-122"/>
                <a:cs typeface="Calibri" pitchFamily="34" charset="-120"/>
              </a:rPr>
              <a:t>t</a:t>
            </a:r>
            <a:r>
              <a:rPr lang="en-US" sz="1300" dirty="0">
                <a:solidFill>
                  <a:srgbClr val="E8ECF2"/>
                </a:solidFill>
                <a:latin typeface="Calibri" pitchFamily="34" charset="0"/>
                <a:ea typeface="Calibri" pitchFamily="34" charset="-122"/>
                <a:cs typeface="Calibri" pitchFamily="34" charset="-120"/>
              </a:rPr>
              <a:t> = 6 vertices; the remaining </a:t>
            </a:r>
            <a:r>
              <a:rPr lang="en-US" sz="1300" i="1" dirty="0">
                <a:solidFill>
                  <a:srgbClr val="E8ECF2"/>
                </a:solidFill>
                <a:latin typeface="Calibri" pitchFamily="34" charset="0"/>
                <a:ea typeface="Calibri" pitchFamily="34" charset="-122"/>
                <a:cs typeface="Calibri" pitchFamily="34" charset="-120"/>
              </a:rPr>
              <a:t>n</a:t>
            </a:r>
            <a:r>
              <a:rPr lang="en-US" sz="1300" dirty="0">
                <a:solidFill>
                  <a:srgbClr val="E8ECF2"/>
                </a:solidFill>
                <a:latin typeface="Calibri" pitchFamily="34" charset="0"/>
                <a:ea typeface="Calibri" pitchFamily="34" charset="-122"/>
                <a:cs typeface="Calibri" pitchFamily="34" charset="-120"/>
              </a:rPr>
              <a:t> − </a:t>
            </a:r>
            <a:r>
              <a:rPr lang="en-US" sz="1300" i="1" dirty="0">
                <a:solidFill>
                  <a:srgbClr val="E8ECF2"/>
                </a:solidFill>
                <a:latin typeface="Calibri" pitchFamily="34" charset="0"/>
                <a:ea typeface="Calibri" pitchFamily="34" charset="-122"/>
                <a:cs typeface="Calibri" pitchFamily="34" charset="-120"/>
              </a:rPr>
              <a:t>t</a:t>
            </a:r>
            <a:r>
              <a:rPr lang="en-US" sz="1300" dirty="0">
                <a:solidFill>
                  <a:srgbClr val="E8ECF2"/>
                </a:solidFill>
                <a:latin typeface="Calibri" pitchFamily="34" charset="0"/>
                <a:ea typeface="Calibri" pitchFamily="34" charset="-122"/>
                <a:cs typeface="Calibri" pitchFamily="34" charset="-120"/>
              </a:rPr>
              <a:t> = 4 vertices form the torso.</a:t>
            </a:r>
            <a:endParaRPr lang="en-US" sz="1300" dirty="0"/>
          </a:p>
        </p:txBody>
      </p:sp>
      <p:sp>
        <p:nvSpPr>
          <p:cNvPr id="12" name="Text 10"/>
          <p:cNvSpPr txBox="1"/>
          <p:nvPr/>
        </p:nvSpPr>
        <p:spPr>
          <a:xfrm>
            <a:off x="896112" y="4111752"/>
            <a:ext cx="320040" cy="274320"/>
          </a:xfrm>
          <a:prstGeom prst="rect">
            <a:avLst/>
          </a:prstGeom>
          <a:noFill/>
          <a:ln/>
        </p:spPr>
        <p:txBody>
          <a:bodyPr wrap="square" lIns="0" tIns="0" rIns="0" bIns="0" rtlCol="0" anchor="t"/>
          <a:lstStyle/>
          <a:p>
            <a:pPr indent="0" marL="0">
              <a:buNone/>
            </a:pPr>
            <a:r>
              <a:rPr lang="en-US" sz="1500" dirty="0">
                <a:solidFill>
                  <a:srgbClr val="3DDC97"/>
                </a:solidFill>
                <a:latin typeface="Century Schoolbook" pitchFamily="34" charset="0"/>
                <a:ea typeface="Century Schoolbook" pitchFamily="34" charset="-122"/>
                <a:cs typeface="Century Schoolbook" pitchFamily="34" charset="-120"/>
              </a:rPr>
              <a:t>4</a:t>
            </a:r>
            <a:endParaRPr lang="en-US" sz="1500" dirty="0"/>
          </a:p>
        </p:txBody>
      </p:sp>
      <p:sp>
        <p:nvSpPr>
          <p:cNvPr id="13" name="Text 11"/>
          <p:cNvSpPr txBox="1"/>
          <p:nvPr/>
        </p:nvSpPr>
        <p:spPr>
          <a:xfrm>
            <a:off x="1261872" y="4139184"/>
            <a:ext cx="3840480" cy="432816"/>
          </a:xfrm>
          <a:prstGeom prst="rect">
            <a:avLst/>
          </a:prstGeom>
          <a:noFill/>
          <a:ln/>
        </p:spPr>
        <p:txBody>
          <a:bodyPr wrap="square" lIns="0" tIns="0" rIns="0" bIns="0" rtlCol="0" anchor="t"/>
          <a:lstStyle/>
          <a:p>
            <a:pPr indent="0" marL="0">
              <a:buNone/>
            </a:pPr>
            <a:r>
              <a:rPr lang="en-US" sz="1300" b="1" dirty="0">
                <a:solidFill>
                  <a:srgbClr val="E8ECF2"/>
                </a:solidFill>
                <a:latin typeface="Calibri" pitchFamily="34" charset="0"/>
                <a:ea typeface="Calibri" pitchFamily="34" charset="-122"/>
                <a:cs typeface="Calibri" pitchFamily="34" charset="-120"/>
              </a:rPr>
              <a:t>Measure.</a:t>
            </a:r>
            <a:r>
              <a:rPr lang="en-US" sz="1300" dirty="0">
                <a:solidFill>
                  <a:srgbClr val="E8ECF2"/>
                </a:solidFill>
                <a:latin typeface="Calibri" pitchFamily="34" charset="0"/>
                <a:ea typeface="Calibri" pitchFamily="34" charset="-122"/>
                <a:cs typeface="Calibri" pitchFamily="34" charset="-120"/>
              </a:rPr>
              <a:t> The width is the largest number of later neighbours of any torso vertex: here 2.</a:t>
            </a:r>
            <a:endParaRPr lang="en-US" sz="1300" dirty="0"/>
          </a:p>
        </p:txBody>
      </p:sp>
      <p:sp>
        <p:nvSpPr>
          <p:cNvPr id="14" name="Text 12"/>
          <p:cNvSpPr txBox="1"/>
          <p:nvPr/>
        </p:nvSpPr>
        <p:spPr>
          <a:xfrm>
            <a:off x="896112" y="4663440"/>
            <a:ext cx="320040" cy="274320"/>
          </a:xfrm>
          <a:prstGeom prst="rect">
            <a:avLst/>
          </a:prstGeom>
          <a:noFill/>
          <a:ln/>
        </p:spPr>
        <p:txBody>
          <a:bodyPr wrap="square" lIns="0" tIns="0" rIns="0" bIns="0" rtlCol="0" anchor="t"/>
          <a:lstStyle/>
          <a:p>
            <a:pPr indent="0" marL="0">
              <a:buNone/>
            </a:pPr>
            <a:r>
              <a:rPr lang="en-US" sz="1500" dirty="0">
                <a:solidFill>
                  <a:srgbClr val="3DDC97"/>
                </a:solidFill>
                <a:latin typeface="Century Schoolbook" pitchFamily="34" charset="0"/>
                <a:ea typeface="Century Schoolbook" pitchFamily="34" charset="-122"/>
                <a:cs typeface="Century Schoolbook" pitchFamily="34" charset="-120"/>
              </a:rPr>
              <a:t>5</a:t>
            </a:r>
            <a:endParaRPr lang="en-US" sz="1500" dirty="0"/>
          </a:p>
        </p:txBody>
      </p:sp>
      <p:sp>
        <p:nvSpPr>
          <p:cNvPr id="15" name="Text 13"/>
          <p:cNvSpPr txBox="1"/>
          <p:nvPr/>
        </p:nvSpPr>
        <p:spPr>
          <a:xfrm>
            <a:off x="1261872" y="4690872"/>
            <a:ext cx="3840480" cy="630936"/>
          </a:xfrm>
          <a:prstGeom prst="rect">
            <a:avLst/>
          </a:prstGeom>
          <a:noFill/>
          <a:ln/>
        </p:spPr>
        <p:txBody>
          <a:bodyPr wrap="square" lIns="0" tIns="0" rIns="0" bIns="0" rtlCol="0" anchor="t"/>
          <a:lstStyle/>
          <a:p>
            <a:pPr indent="0" marL="0">
              <a:buNone/>
            </a:pPr>
            <a:r>
              <a:rPr lang="en-US" sz="1300" b="1" dirty="0">
                <a:solidFill>
                  <a:srgbClr val="E8ECF2"/>
                </a:solidFill>
                <a:latin typeface="Calibri" pitchFamily="34" charset="0"/>
                <a:ea typeface="Calibri" pitchFamily="34" charset="-122"/>
                <a:cs typeface="Calibri" pitchFamily="34" charset="-120"/>
              </a:rPr>
              <a:t>Trade off.</a:t>
            </a:r>
            <a:r>
              <a:rPr lang="en-US" sz="1300" dirty="0">
                <a:solidFill>
                  <a:srgbClr val="E8ECF2"/>
                </a:solidFill>
                <a:latin typeface="Calibri" pitchFamily="34" charset="0"/>
                <a:ea typeface="Calibri" pitchFamily="34" charset="-122"/>
                <a:cs typeface="Calibri" pitchFamily="34" charset="-120"/>
              </a:rPr>
              <a:t> A smaller </a:t>
            </a:r>
            <a:r>
              <a:rPr lang="en-US" sz="1300" i="1" dirty="0">
                <a:solidFill>
                  <a:srgbClr val="E8ECF2"/>
                </a:solidFill>
                <a:latin typeface="Calibri" pitchFamily="34" charset="0"/>
                <a:ea typeface="Calibri" pitchFamily="34" charset="-122"/>
                <a:cs typeface="Calibri" pitchFamily="34" charset="-120"/>
              </a:rPr>
              <a:t>t</a:t>
            </a:r>
            <a:r>
              <a:rPr lang="en-US" sz="1300" dirty="0">
                <a:solidFill>
                  <a:srgbClr val="E8ECF2"/>
                </a:solidFill>
                <a:latin typeface="Calibri" pitchFamily="34" charset="0"/>
                <a:ea typeface="Calibri" pitchFamily="34" charset="-122"/>
                <a:cs typeface="Calibri" pitchFamily="34" charset="-120"/>
              </a:rPr>
              <a:t> gives a larger torso but usually a larger width, so the answer is a set of trade-offs.</a:t>
            </a:r>
            <a:endParaRPr lang="en-US" sz="1300" dirty="0"/>
          </a:p>
        </p:txBody>
      </p:sp>
      <p:sp>
        <p:nvSpPr>
          <p:cNvPr id="16" name="Shape 14"/>
          <p:cNvSpPr/>
          <p:nvPr/>
        </p:nvSpPr>
        <p:spPr>
          <a:xfrm>
            <a:off x="9217152" y="1874520"/>
            <a:ext cx="2380183" cy="3611880"/>
          </a:xfrm>
          <a:prstGeom prst="rect">
            <a:avLst/>
          </a:prstGeom>
          <a:solidFill>
            <a:srgbClr val="3DDC97">
              <a:alpha val="8000"/>
            </a:srgbClr>
          </a:solidFill>
          <a:ln/>
        </p:spPr>
      </p:sp>
      <p:sp>
        <p:nvSpPr>
          <p:cNvPr id="17" name="Shape 15"/>
          <p:cNvSpPr/>
          <p:nvPr/>
        </p:nvSpPr>
        <p:spPr>
          <a:xfrm>
            <a:off x="9217152" y="1874520"/>
            <a:ext cx="0" cy="3611880"/>
          </a:xfrm>
          <a:prstGeom prst="line">
            <a:avLst/>
          </a:prstGeom>
          <a:noFill/>
          <a:ln w="12700">
            <a:solidFill>
              <a:srgbClr val="7D8AA0"/>
            </a:solidFill>
            <a:prstDash val="dash"/>
          </a:ln>
        </p:spPr>
      </p:sp>
      <p:sp>
        <p:nvSpPr>
          <p:cNvPr id="18" name="Text 16"/>
          <p:cNvSpPr txBox="1"/>
          <p:nvPr/>
        </p:nvSpPr>
        <p:spPr>
          <a:xfrm>
            <a:off x="5669280" y="1920240"/>
            <a:ext cx="3319272" cy="256032"/>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eliminated first: t = 6</a:t>
            </a:r>
            <a:endParaRPr lang="en-US" sz="1150" dirty="0"/>
          </a:p>
        </p:txBody>
      </p:sp>
      <p:sp>
        <p:nvSpPr>
          <p:cNvPr id="19" name="Text 17"/>
          <p:cNvSpPr txBox="1"/>
          <p:nvPr/>
        </p:nvSpPr>
        <p:spPr>
          <a:xfrm>
            <a:off x="9326880" y="1920240"/>
            <a:ext cx="2286000" cy="256032"/>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torso: n − t = 4</a:t>
            </a:r>
            <a:endParaRPr lang="en-US" sz="1150" dirty="0"/>
          </a:p>
        </p:txBody>
      </p:sp>
      <p:sp>
        <p:nvSpPr>
          <p:cNvPr id="20" name="Text 18"/>
          <p:cNvSpPr txBox="1"/>
          <p:nvPr/>
        </p:nvSpPr>
        <p:spPr>
          <a:xfrm>
            <a:off x="5669280" y="2212848"/>
            <a:ext cx="27432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elimination order →</a:t>
            </a:r>
            <a:endParaRPr lang="en-US" sz="1050" dirty="0"/>
          </a:p>
        </p:txBody>
      </p:sp>
      <p:sp>
        <p:nvSpPr>
          <p:cNvPr id="21" name="Shape 19"/>
          <p:cNvSpPr/>
          <p:nvPr/>
        </p:nvSpPr>
        <p:spPr>
          <a:xfrm>
            <a:off x="5897880" y="3456432"/>
            <a:ext cx="603504" cy="475488"/>
          </a:xfrm>
          <a:custGeom>
            <a:avLst/>
            <a:gdLst/>
            <a:ahLst/>
            <a:cxnLst/>
            <a:rect l="l" t="t" r="r" b="b"/>
            <a:pathLst>
              <a:path w="603504" h="475488">
                <a:moveTo>
                  <a:pt x="0" y="475488"/>
                </a:moveTo>
                <a:cubicBezTo>
                  <a:pt x="12070" y="0"/>
                  <a:pt x="591434" y="0"/>
                  <a:pt x="603504" y="475488"/>
                </a:cubicBezTo>
              </a:path>
            </a:pathLst>
          </a:custGeom>
          <a:ln w="15875">
            <a:solidFill>
              <a:srgbClr val="9AA6B6"/>
            </a:solidFill>
            <a:prstDash val="solid"/>
          </a:ln>
        </p:spPr>
      </p:sp>
      <p:sp>
        <p:nvSpPr>
          <p:cNvPr id="22" name="Shape 20"/>
          <p:cNvSpPr/>
          <p:nvPr/>
        </p:nvSpPr>
        <p:spPr>
          <a:xfrm>
            <a:off x="5897880" y="3224784"/>
            <a:ext cx="1207008" cy="707136"/>
          </a:xfrm>
          <a:custGeom>
            <a:avLst/>
            <a:gdLst/>
            <a:ahLst/>
            <a:cxnLst/>
            <a:rect l="l" t="t" r="r" b="b"/>
            <a:pathLst>
              <a:path w="1207008" h="707136">
                <a:moveTo>
                  <a:pt x="0" y="707136"/>
                </a:moveTo>
                <a:cubicBezTo>
                  <a:pt x="24140" y="0"/>
                  <a:pt x="1182868" y="0"/>
                  <a:pt x="1207008" y="707136"/>
                </a:cubicBezTo>
              </a:path>
            </a:pathLst>
          </a:custGeom>
          <a:ln w="15875">
            <a:solidFill>
              <a:srgbClr val="9AA6B6"/>
            </a:solidFill>
            <a:prstDash val="solid"/>
          </a:ln>
        </p:spPr>
      </p:sp>
      <p:sp>
        <p:nvSpPr>
          <p:cNvPr id="23" name="Shape 21"/>
          <p:cNvSpPr/>
          <p:nvPr/>
        </p:nvSpPr>
        <p:spPr>
          <a:xfrm>
            <a:off x="6501384" y="2529840"/>
            <a:ext cx="3017520" cy="1402080"/>
          </a:xfrm>
          <a:custGeom>
            <a:avLst/>
            <a:gdLst/>
            <a:ahLst/>
            <a:cxnLst/>
            <a:rect l="l" t="t" r="r" b="b"/>
            <a:pathLst>
              <a:path w="3017520" h="1402080">
                <a:moveTo>
                  <a:pt x="0" y="1402080"/>
                </a:moveTo>
                <a:cubicBezTo>
                  <a:pt x="60350" y="0"/>
                  <a:pt x="2957170" y="0"/>
                  <a:pt x="3017520" y="1402080"/>
                </a:cubicBezTo>
              </a:path>
            </a:pathLst>
          </a:custGeom>
          <a:ln w="15875">
            <a:solidFill>
              <a:srgbClr val="9AA6B6"/>
            </a:solidFill>
            <a:prstDash val="solid"/>
          </a:ln>
        </p:spPr>
      </p:sp>
      <p:sp>
        <p:nvSpPr>
          <p:cNvPr id="24" name="Shape 22"/>
          <p:cNvSpPr/>
          <p:nvPr/>
        </p:nvSpPr>
        <p:spPr>
          <a:xfrm>
            <a:off x="7104888" y="2529840"/>
            <a:ext cx="3017520" cy="1402080"/>
          </a:xfrm>
          <a:custGeom>
            <a:avLst/>
            <a:gdLst/>
            <a:ahLst/>
            <a:cxnLst/>
            <a:rect l="l" t="t" r="r" b="b"/>
            <a:pathLst>
              <a:path w="3017520" h="1402080">
                <a:moveTo>
                  <a:pt x="0" y="1402080"/>
                </a:moveTo>
                <a:cubicBezTo>
                  <a:pt x="60350" y="0"/>
                  <a:pt x="2957170" y="0"/>
                  <a:pt x="3017520" y="1402080"/>
                </a:cubicBezTo>
              </a:path>
            </a:pathLst>
          </a:custGeom>
          <a:ln w="15875">
            <a:solidFill>
              <a:srgbClr val="9AA6B6"/>
            </a:solidFill>
            <a:prstDash val="solid"/>
          </a:ln>
        </p:spPr>
      </p:sp>
      <p:sp>
        <p:nvSpPr>
          <p:cNvPr id="25" name="Shape 23"/>
          <p:cNvSpPr/>
          <p:nvPr/>
        </p:nvSpPr>
        <p:spPr>
          <a:xfrm>
            <a:off x="8915400" y="3224784"/>
            <a:ext cx="1207008" cy="707136"/>
          </a:xfrm>
          <a:custGeom>
            <a:avLst/>
            <a:gdLst/>
            <a:ahLst/>
            <a:cxnLst/>
            <a:rect l="l" t="t" r="r" b="b"/>
            <a:pathLst>
              <a:path w="1207008" h="707136">
                <a:moveTo>
                  <a:pt x="0" y="707136"/>
                </a:moveTo>
                <a:cubicBezTo>
                  <a:pt x="24140" y="0"/>
                  <a:pt x="1182868" y="0"/>
                  <a:pt x="1207008" y="707136"/>
                </a:cubicBezTo>
              </a:path>
            </a:pathLst>
          </a:custGeom>
          <a:ln w="15875">
            <a:solidFill>
              <a:srgbClr val="9AA6B6"/>
            </a:solidFill>
            <a:prstDash val="solid"/>
          </a:ln>
        </p:spPr>
      </p:sp>
      <p:sp>
        <p:nvSpPr>
          <p:cNvPr id="26" name="Shape 24"/>
          <p:cNvSpPr/>
          <p:nvPr/>
        </p:nvSpPr>
        <p:spPr>
          <a:xfrm>
            <a:off x="8915400" y="2993136"/>
            <a:ext cx="1810512" cy="938784"/>
          </a:xfrm>
          <a:custGeom>
            <a:avLst/>
            <a:gdLst/>
            <a:ahLst/>
            <a:cxnLst/>
            <a:rect l="l" t="t" r="r" b="b"/>
            <a:pathLst>
              <a:path w="1810512" h="938784">
                <a:moveTo>
                  <a:pt x="0" y="938784"/>
                </a:moveTo>
                <a:cubicBezTo>
                  <a:pt x="36210" y="0"/>
                  <a:pt x="1774302" y="0"/>
                  <a:pt x="1810512" y="938784"/>
                </a:cubicBezTo>
              </a:path>
            </a:pathLst>
          </a:custGeom>
          <a:ln w="15875">
            <a:solidFill>
              <a:srgbClr val="9AA6B6"/>
            </a:solidFill>
            <a:prstDash val="solid"/>
          </a:ln>
        </p:spPr>
      </p:sp>
      <p:sp>
        <p:nvSpPr>
          <p:cNvPr id="27" name="Shape 25"/>
          <p:cNvSpPr/>
          <p:nvPr/>
        </p:nvSpPr>
        <p:spPr>
          <a:xfrm>
            <a:off x="7708392" y="3456432"/>
            <a:ext cx="603504" cy="475488"/>
          </a:xfrm>
          <a:custGeom>
            <a:avLst/>
            <a:gdLst/>
            <a:ahLst/>
            <a:cxnLst/>
            <a:rect l="l" t="t" r="r" b="b"/>
            <a:pathLst>
              <a:path w="603504" h="475488">
                <a:moveTo>
                  <a:pt x="0" y="475488"/>
                </a:moveTo>
                <a:cubicBezTo>
                  <a:pt x="12070" y="0"/>
                  <a:pt x="591434" y="0"/>
                  <a:pt x="603504" y="475488"/>
                </a:cubicBezTo>
              </a:path>
            </a:pathLst>
          </a:custGeom>
          <a:ln w="15875">
            <a:solidFill>
              <a:srgbClr val="9AA6B6"/>
            </a:solidFill>
            <a:prstDash val="solid"/>
          </a:ln>
        </p:spPr>
      </p:sp>
      <p:sp>
        <p:nvSpPr>
          <p:cNvPr id="28" name="Shape 26"/>
          <p:cNvSpPr/>
          <p:nvPr/>
        </p:nvSpPr>
        <p:spPr>
          <a:xfrm>
            <a:off x="7708392" y="2993136"/>
            <a:ext cx="1810512" cy="938784"/>
          </a:xfrm>
          <a:custGeom>
            <a:avLst/>
            <a:gdLst/>
            <a:ahLst/>
            <a:cxnLst/>
            <a:rect l="l" t="t" r="r" b="b"/>
            <a:pathLst>
              <a:path w="1810512" h="938784">
                <a:moveTo>
                  <a:pt x="0" y="938784"/>
                </a:moveTo>
                <a:cubicBezTo>
                  <a:pt x="36210" y="0"/>
                  <a:pt x="1774302" y="0"/>
                  <a:pt x="1810512" y="938784"/>
                </a:cubicBezTo>
              </a:path>
            </a:pathLst>
          </a:custGeom>
          <a:ln w="15875">
            <a:solidFill>
              <a:srgbClr val="9AA6B6"/>
            </a:solidFill>
            <a:prstDash val="solid"/>
          </a:ln>
        </p:spPr>
      </p:sp>
      <p:sp>
        <p:nvSpPr>
          <p:cNvPr id="29" name="Shape 27"/>
          <p:cNvSpPr/>
          <p:nvPr/>
        </p:nvSpPr>
        <p:spPr>
          <a:xfrm>
            <a:off x="7708392" y="2298192"/>
            <a:ext cx="3621024" cy="1633728"/>
          </a:xfrm>
          <a:custGeom>
            <a:avLst/>
            <a:gdLst/>
            <a:ahLst/>
            <a:cxnLst/>
            <a:rect l="l" t="t" r="r" b="b"/>
            <a:pathLst>
              <a:path w="3621024" h="1633728">
                <a:moveTo>
                  <a:pt x="0" y="1633728"/>
                </a:moveTo>
                <a:cubicBezTo>
                  <a:pt x="72420" y="0"/>
                  <a:pt x="3548604" y="0"/>
                  <a:pt x="3621024" y="1633728"/>
                </a:cubicBezTo>
              </a:path>
            </a:pathLst>
          </a:custGeom>
          <a:ln w="15875">
            <a:solidFill>
              <a:srgbClr val="9AA6B6"/>
            </a:solidFill>
            <a:prstDash val="solid"/>
          </a:ln>
        </p:spPr>
      </p:sp>
      <p:sp>
        <p:nvSpPr>
          <p:cNvPr id="30" name="Shape 28"/>
          <p:cNvSpPr/>
          <p:nvPr/>
        </p:nvSpPr>
        <p:spPr>
          <a:xfrm>
            <a:off x="6501384" y="3931920"/>
            <a:ext cx="603504" cy="377952"/>
          </a:xfrm>
          <a:custGeom>
            <a:avLst/>
            <a:gdLst/>
            <a:ahLst/>
            <a:cxnLst/>
            <a:rect l="l" t="t" r="r" b="b"/>
            <a:pathLst>
              <a:path w="603504" h="377952">
                <a:moveTo>
                  <a:pt x="0" y="0"/>
                </a:moveTo>
                <a:cubicBezTo>
                  <a:pt x="12070" y="377952"/>
                  <a:pt x="591434" y="377952"/>
                  <a:pt x="603504" y="0"/>
                </a:cubicBezTo>
              </a:path>
            </a:pathLst>
          </a:custGeom>
          <a:ln w="19050">
            <a:solidFill>
              <a:srgbClr val="FF5A60"/>
            </a:solidFill>
            <a:prstDash val="dash"/>
          </a:ln>
        </p:spPr>
      </p:sp>
      <p:sp>
        <p:nvSpPr>
          <p:cNvPr id="31" name="Shape 29"/>
          <p:cNvSpPr/>
          <p:nvPr/>
        </p:nvSpPr>
        <p:spPr>
          <a:xfrm>
            <a:off x="7104888" y="3931920"/>
            <a:ext cx="2414016" cy="926592"/>
          </a:xfrm>
          <a:custGeom>
            <a:avLst/>
            <a:gdLst/>
            <a:ahLst/>
            <a:cxnLst/>
            <a:rect l="l" t="t" r="r" b="b"/>
            <a:pathLst>
              <a:path w="2414016" h="926592">
                <a:moveTo>
                  <a:pt x="0" y="0"/>
                </a:moveTo>
                <a:cubicBezTo>
                  <a:pt x="48280" y="926592"/>
                  <a:pt x="2365736" y="926592"/>
                  <a:pt x="2414016" y="0"/>
                </a:cubicBezTo>
              </a:path>
            </a:pathLst>
          </a:custGeom>
          <a:ln w="19050">
            <a:solidFill>
              <a:srgbClr val="FF5A60"/>
            </a:solidFill>
            <a:prstDash val="dash"/>
          </a:ln>
        </p:spPr>
      </p:sp>
      <p:sp>
        <p:nvSpPr>
          <p:cNvPr id="32" name="Shape 30"/>
          <p:cNvSpPr/>
          <p:nvPr/>
        </p:nvSpPr>
        <p:spPr>
          <a:xfrm>
            <a:off x="9518904" y="3931920"/>
            <a:ext cx="603504" cy="377952"/>
          </a:xfrm>
          <a:custGeom>
            <a:avLst/>
            <a:gdLst/>
            <a:ahLst/>
            <a:cxnLst/>
            <a:rect l="l" t="t" r="r" b="b"/>
            <a:pathLst>
              <a:path w="603504" h="377952">
                <a:moveTo>
                  <a:pt x="0" y="0"/>
                </a:moveTo>
                <a:cubicBezTo>
                  <a:pt x="12070" y="377952"/>
                  <a:pt x="591434" y="377952"/>
                  <a:pt x="603504" y="0"/>
                </a:cubicBezTo>
              </a:path>
            </a:pathLst>
          </a:custGeom>
          <a:ln w="19050">
            <a:solidFill>
              <a:srgbClr val="FF5A60"/>
            </a:solidFill>
            <a:prstDash val="dash"/>
          </a:ln>
        </p:spPr>
      </p:sp>
      <p:sp>
        <p:nvSpPr>
          <p:cNvPr id="33" name="Shape 31"/>
          <p:cNvSpPr/>
          <p:nvPr/>
        </p:nvSpPr>
        <p:spPr>
          <a:xfrm>
            <a:off x="8311896" y="3931920"/>
            <a:ext cx="1207008" cy="560832"/>
          </a:xfrm>
          <a:custGeom>
            <a:avLst/>
            <a:gdLst/>
            <a:ahLst/>
            <a:cxnLst/>
            <a:rect l="l" t="t" r="r" b="b"/>
            <a:pathLst>
              <a:path w="1207008" h="560832">
                <a:moveTo>
                  <a:pt x="0" y="0"/>
                </a:moveTo>
                <a:cubicBezTo>
                  <a:pt x="24140" y="560832"/>
                  <a:pt x="1182868" y="560832"/>
                  <a:pt x="1207008" y="0"/>
                </a:cubicBezTo>
              </a:path>
            </a:pathLst>
          </a:custGeom>
          <a:ln w="19050">
            <a:solidFill>
              <a:srgbClr val="FF5A60"/>
            </a:solidFill>
            <a:prstDash val="dash"/>
          </a:ln>
        </p:spPr>
      </p:sp>
      <p:sp>
        <p:nvSpPr>
          <p:cNvPr id="34" name="Shape 32"/>
          <p:cNvSpPr/>
          <p:nvPr/>
        </p:nvSpPr>
        <p:spPr>
          <a:xfrm>
            <a:off x="8311896" y="3931920"/>
            <a:ext cx="3017520" cy="1109472"/>
          </a:xfrm>
          <a:custGeom>
            <a:avLst/>
            <a:gdLst/>
            <a:ahLst/>
            <a:cxnLst/>
            <a:rect l="l" t="t" r="r" b="b"/>
            <a:pathLst>
              <a:path w="3017520" h="1109472">
                <a:moveTo>
                  <a:pt x="0" y="0"/>
                </a:moveTo>
                <a:cubicBezTo>
                  <a:pt x="60350" y="1109472"/>
                  <a:pt x="2957170" y="1109472"/>
                  <a:pt x="3017520" y="0"/>
                </a:cubicBezTo>
              </a:path>
            </a:pathLst>
          </a:custGeom>
          <a:ln w="19050">
            <a:solidFill>
              <a:srgbClr val="FF5A60"/>
            </a:solidFill>
            <a:prstDash val="dash"/>
          </a:ln>
        </p:spPr>
      </p:sp>
      <p:sp>
        <p:nvSpPr>
          <p:cNvPr id="35" name="Shape 33"/>
          <p:cNvSpPr/>
          <p:nvPr/>
        </p:nvSpPr>
        <p:spPr>
          <a:xfrm>
            <a:off x="9518904" y="3931920"/>
            <a:ext cx="1810512" cy="743712"/>
          </a:xfrm>
          <a:custGeom>
            <a:avLst/>
            <a:gdLst/>
            <a:ahLst/>
            <a:cxnLst/>
            <a:rect l="l" t="t" r="r" b="b"/>
            <a:pathLst>
              <a:path w="1810512" h="743712">
                <a:moveTo>
                  <a:pt x="0" y="0"/>
                </a:moveTo>
                <a:cubicBezTo>
                  <a:pt x="36210" y="743712"/>
                  <a:pt x="1774302" y="743712"/>
                  <a:pt x="1810512" y="0"/>
                </a:cubicBezTo>
              </a:path>
            </a:pathLst>
          </a:custGeom>
          <a:ln w="19050">
            <a:solidFill>
              <a:srgbClr val="FF5A60"/>
            </a:solidFill>
            <a:prstDash val="dash"/>
          </a:ln>
        </p:spPr>
      </p:sp>
      <p:sp>
        <p:nvSpPr>
          <p:cNvPr id="36" name="Shape 34"/>
          <p:cNvSpPr/>
          <p:nvPr/>
        </p:nvSpPr>
        <p:spPr>
          <a:xfrm>
            <a:off x="10122408" y="3931920"/>
            <a:ext cx="603504" cy="377952"/>
          </a:xfrm>
          <a:custGeom>
            <a:avLst/>
            <a:gdLst/>
            <a:ahLst/>
            <a:cxnLst/>
            <a:rect l="l" t="t" r="r" b="b"/>
            <a:pathLst>
              <a:path w="603504" h="377952">
                <a:moveTo>
                  <a:pt x="0" y="0"/>
                </a:moveTo>
                <a:cubicBezTo>
                  <a:pt x="12070" y="377952"/>
                  <a:pt x="591434" y="377952"/>
                  <a:pt x="603504" y="0"/>
                </a:cubicBezTo>
              </a:path>
            </a:pathLst>
          </a:custGeom>
          <a:ln w="19050">
            <a:solidFill>
              <a:srgbClr val="FF5A60"/>
            </a:solidFill>
            <a:prstDash val="dash"/>
          </a:ln>
        </p:spPr>
      </p:sp>
      <p:sp>
        <p:nvSpPr>
          <p:cNvPr id="37" name="Shape 35"/>
          <p:cNvSpPr/>
          <p:nvPr/>
        </p:nvSpPr>
        <p:spPr>
          <a:xfrm>
            <a:off x="10122408" y="3931920"/>
            <a:ext cx="1207008" cy="560832"/>
          </a:xfrm>
          <a:custGeom>
            <a:avLst/>
            <a:gdLst/>
            <a:ahLst/>
            <a:cxnLst/>
            <a:rect l="l" t="t" r="r" b="b"/>
            <a:pathLst>
              <a:path w="1207008" h="560832">
                <a:moveTo>
                  <a:pt x="0" y="0"/>
                </a:moveTo>
                <a:cubicBezTo>
                  <a:pt x="24140" y="560832"/>
                  <a:pt x="1182868" y="560832"/>
                  <a:pt x="1207008" y="0"/>
                </a:cubicBezTo>
              </a:path>
            </a:pathLst>
          </a:custGeom>
          <a:ln w="19050">
            <a:solidFill>
              <a:srgbClr val="FF5A60"/>
            </a:solidFill>
            <a:prstDash val="dash"/>
          </a:ln>
        </p:spPr>
      </p:sp>
      <p:sp>
        <p:nvSpPr>
          <p:cNvPr id="38" name="Shape 36"/>
          <p:cNvSpPr/>
          <p:nvPr/>
        </p:nvSpPr>
        <p:spPr>
          <a:xfrm>
            <a:off x="10725912" y="3931920"/>
            <a:ext cx="603504" cy="377952"/>
          </a:xfrm>
          <a:custGeom>
            <a:avLst/>
            <a:gdLst/>
            <a:ahLst/>
            <a:cxnLst/>
            <a:rect l="l" t="t" r="r" b="b"/>
            <a:pathLst>
              <a:path w="603504" h="377952">
                <a:moveTo>
                  <a:pt x="0" y="0"/>
                </a:moveTo>
                <a:cubicBezTo>
                  <a:pt x="12070" y="377952"/>
                  <a:pt x="591434" y="377952"/>
                  <a:pt x="603504" y="0"/>
                </a:cubicBezTo>
              </a:path>
            </a:pathLst>
          </a:custGeom>
          <a:ln w="19050">
            <a:solidFill>
              <a:srgbClr val="FF5A60"/>
            </a:solidFill>
            <a:prstDash val="dash"/>
          </a:ln>
        </p:spPr>
      </p:sp>
      <p:sp>
        <p:nvSpPr>
          <p:cNvPr id="39" name="Shape 37"/>
          <p:cNvSpPr/>
          <p:nvPr/>
        </p:nvSpPr>
        <p:spPr>
          <a:xfrm>
            <a:off x="5715000" y="3749040"/>
            <a:ext cx="365760" cy="365760"/>
          </a:xfrm>
          <a:prstGeom prst="ellipse">
            <a:avLst/>
          </a:prstGeom>
          <a:solidFill>
            <a:srgbClr val="0B0F17"/>
          </a:solidFill>
          <a:ln w="15875">
            <a:solidFill>
              <a:srgbClr val="9AA6B6"/>
            </a:solidFill>
            <a:prstDash val="solid"/>
          </a:ln>
        </p:spPr>
      </p:sp>
      <p:sp>
        <p:nvSpPr>
          <p:cNvPr id="40" name="Text 38"/>
          <p:cNvSpPr txBox="1"/>
          <p:nvPr/>
        </p:nvSpPr>
        <p:spPr>
          <a:xfrm>
            <a:off x="571500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0</a:t>
            </a:r>
            <a:endParaRPr lang="en-US" sz="1200" dirty="0"/>
          </a:p>
        </p:txBody>
      </p:sp>
      <p:sp>
        <p:nvSpPr>
          <p:cNvPr id="41" name="Text 39"/>
          <p:cNvSpPr txBox="1"/>
          <p:nvPr/>
        </p:nvSpPr>
        <p:spPr>
          <a:xfrm>
            <a:off x="5715000"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2" name="Shape 40"/>
          <p:cNvSpPr/>
          <p:nvPr/>
        </p:nvSpPr>
        <p:spPr>
          <a:xfrm>
            <a:off x="6318504" y="3749040"/>
            <a:ext cx="365760" cy="365760"/>
          </a:xfrm>
          <a:prstGeom prst="ellipse">
            <a:avLst/>
          </a:prstGeom>
          <a:solidFill>
            <a:srgbClr val="0B0F17"/>
          </a:solidFill>
          <a:ln w="15875">
            <a:solidFill>
              <a:srgbClr val="9AA6B6"/>
            </a:solidFill>
            <a:prstDash val="solid"/>
          </a:ln>
        </p:spPr>
      </p:sp>
      <p:sp>
        <p:nvSpPr>
          <p:cNvPr id="43" name="Text 41"/>
          <p:cNvSpPr txBox="1"/>
          <p:nvPr/>
        </p:nvSpPr>
        <p:spPr>
          <a:xfrm>
            <a:off x="6318504"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1</a:t>
            </a:r>
            <a:endParaRPr lang="en-US" sz="1200" dirty="0"/>
          </a:p>
        </p:txBody>
      </p:sp>
      <p:sp>
        <p:nvSpPr>
          <p:cNvPr id="44" name="Text 42"/>
          <p:cNvSpPr txBox="1"/>
          <p:nvPr/>
        </p:nvSpPr>
        <p:spPr>
          <a:xfrm>
            <a:off x="6318504"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5" name="Shape 43"/>
          <p:cNvSpPr/>
          <p:nvPr/>
        </p:nvSpPr>
        <p:spPr>
          <a:xfrm>
            <a:off x="6922008" y="3749040"/>
            <a:ext cx="365760" cy="365760"/>
          </a:xfrm>
          <a:prstGeom prst="ellipse">
            <a:avLst/>
          </a:prstGeom>
          <a:solidFill>
            <a:srgbClr val="0B0F17"/>
          </a:solidFill>
          <a:ln w="15875">
            <a:solidFill>
              <a:srgbClr val="9AA6B6"/>
            </a:solidFill>
            <a:prstDash val="solid"/>
          </a:ln>
        </p:spPr>
      </p:sp>
      <p:sp>
        <p:nvSpPr>
          <p:cNvPr id="46" name="Text 44"/>
          <p:cNvSpPr txBox="1"/>
          <p:nvPr/>
        </p:nvSpPr>
        <p:spPr>
          <a:xfrm>
            <a:off x="6922008"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2</a:t>
            </a:r>
            <a:endParaRPr lang="en-US" sz="1200" dirty="0"/>
          </a:p>
        </p:txBody>
      </p:sp>
      <p:sp>
        <p:nvSpPr>
          <p:cNvPr id="47" name="Text 45"/>
          <p:cNvSpPr txBox="1"/>
          <p:nvPr/>
        </p:nvSpPr>
        <p:spPr>
          <a:xfrm>
            <a:off x="6922008"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8" name="Shape 46"/>
          <p:cNvSpPr/>
          <p:nvPr/>
        </p:nvSpPr>
        <p:spPr>
          <a:xfrm>
            <a:off x="7525512" y="3749040"/>
            <a:ext cx="365760" cy="365760"/>
          </a:xfrm>
          <a:prstGeom prst="ellipse">
            <a:avLst/>
          </a:prstGeom>
          <a:solidFill>
            <a:srgbClr val="0B0F17"/>
          </a:solidFill>
          <a:ln w="15875">
            <a:solidFill>
              <a:srgbClr val="9AA6B6"/>
            </a:solidFill>
            <a:prstDash val="solid"/>
          </a:ln>
        </p:spPr>
      </p:sp>
      <p:sp>
        <p:nvSpPr>
          <p:cNvPr id="49" name="Text 47"/>
          <p:cNvSpPr txBox="1"/>
          <p:nvPr/>
        </p:nvSpPr>
        <p:spPr>
          <a:xfrm>
            <a:off x="752551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4</a:t>
            </a:r>
            <a:endParaRPr lang="en-US" sz="1200" dirty="0"/>
          </a:p>
        </p:txBody>
      </p:sp>
      <p:sp>
        <p:nvSpPr>
          <p:cNvPr id="50" name="Text 48"/>
          <p:cNvSpPr txBox="1"/>
          <p:nvPr/>
        </p:nvSpPr>
        <p:spPr>
          <a:xfrm>
            <a:off x="752551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3</a:t>
            </a:r>
            <a:endParaRPr lang="en-US" sz="1200" dirty="0"/>
          </a:p>
        </p:txBody>
      </p:sp>
      <p:sp>
        <p:nvSpPr>
          <p:cNvPr id="51" name="Shape 49"/>
          <p:cNvSpPr/>
          <p:nvPr/>
        </p:nvSpPr>
        <p:spPr>
          <a:xfrm>
            <a:off x="8129016" y="3749040"/>
            <a:ext cx="365760" cy="365760"/>
          </a:xfrm>
          <a:prstGeom prst="ellipse">
            <a:avLst/>
          </a:prstGeom>
          <a:solidFill>
            <a:srgbClr val="0B0F17"/>
          </a:solidFill>
          <a:ln w="15875">
            <a:solidFill>
              <a:srgbClr val="9AA6B6"/>
            </a:solidFill>
            <a:prstDash val="solid"/>
          </a:ln>
        </p:spPr>
      </p:sp>
      <p:sp>
        <p:nvSpPr>
          <p:cNvPr id="52" name="Text 50"/>
          <p:cNvSpPr txBox="1"/>
          <p:nvPr/>
        </p:nvSpPr>
        <p:spPr>
          <a:xfrm>
            <a:off x="8129016"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8129016"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4" name="Shape 52"/>
          <p:cNvSpPr/>
          <p:nvPr/>
        </p:nvSpPr>
        <p:spPr>
          <a:xfrm>
            <a:off x="8732520" y="3749040"/>
            <a:ext cx="365760" cy="365760"/>
          </a:xfrm>
          <a:prstGeom prst="ellipse">
            <a:avLst/>
          </a:prstGeom>
          <a:solidFill>
            <a:srgbClr val="0B0F17"/>
          </a:solidFill>
          <a:ln w="15875">
            <a:solidFill>
              <a:srgbClr val="9AA6B6"/>
            </a:solidFill>
            <a:prstDash val="solid"/>
          </a:ln>
        </p:spPr>
      </p:sp>
      <p:sp>
        <p:nvSpPr>
          <p:cNvPr id="55" name="Text 53"/>
          <p:cNvSpPr txBox="1"/>
          <p:nvPr/>
        </p:nvSpPr>
        <p:spPr>
          <a:xfrm>
            <a:off x="873252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3</a:t>
            </a:r>
            <a:endParaRPr lang="en-US" sz="1200" dirty="0"/>
          </a:p>
        </p:txBody>
      </p:sp>
      <p:sp>
        <p:nvSpPr>
          <p:cNvPr id="56" name="Text 54"/>
          <p:cNvSpPr txBox="1"/>
          <p:nvPr/>
        </p:nvSpPr>
        <p:spPr>
          <a:xfrm>
            <a:off x="8732520"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7" name="Shape 55"/>
          <p:cNvSpPr/>
          <p:nvPr/>
        </p:nvSpPr>
        <p:spPr>
          <a:xfrm>
            <a:off x="9336024" y="3749040"/>
            <a:ext cx="365760" cy="365760"/>
          </a:xfrm>
          <a:prstGeom prst="ellipse">
            <a:avLst/>
          </a:prstGeom>
          <a:solidFill>
            <a:srgbClr val="3DDC97"/>
          </a:solidFill>
          <a:ln w="15875">
            <a:solidFill>
              <a:srgbClr val="3DDC97"/>
            </a:solidFill>
            <a:prstDash val="solid"/>
          </a:ln>
        </p:spPr>
      </p:sp>
      <p:sp>
        <p:nvSpPr>
          <p:cNvPr id="58" name="Text 56"/>
          <p:cNvSpPr txBox="1"/>
          <p:nvPr/>
        </p:nvSpPr>
        <p:spPr>
          <a:xfrm>
            <a:off x="9336024"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6</a:t>
            </a:r>
            <a:endParaRPr lang="en-US" sz="1200" dirty="0"/>
          </a:p>
        </p:txBody>
      </p:sp>
      <p:sp>
        <p:nvSpPr>
          <p:cNvPr id="59" name="Text 57"/>
          <p:cNvSpPr txBox="1"/>
          <p:nvPr/>
        </p:nvSpPr>
        <p:spPr>
          <a:xfrm>
            <a:off x="9336024"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0" name="Shape 58"/>
          <p:cNvSpPr/>
          <p:nvPr/>
        </p:nvSpPr>
        <p:spPr>
          <a:xfrm>
            <a:off x="9939528" y="3749040"/>
            <a:ext cx="365760" cy="365760"/>
          </a:xfrm>
          <a:prstGeom prst="ellipse">
            <a:avLst/>
          </a:prstGeom>
          <a:solidFill>
            <a:srgbClr val="3DDC97"/>
          </a:solidFill>
          <a:ln w="15875">
            <a:solidFill>
              <a:srgbClr val="3DDC97"/>
            </a:solidFill>
            <a:prstDash val="solid"/>
          </a:ln>
        </p:spPr>
      </p:sp>
      <p:sp>
        <p:nvSpPr>
          <p:cNvPr id="61" name="Text 59"/>
          <p:cNvSpPr txBox="1"/>
          <p:nvPr/>
        </p:nvSpPr>
        <p:spPr>
          <a:xfrm>
            <a:off x="9939528"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8</a:t>
            </a:r>
            <a:endParaRPr lang="en-US" sz="1200" dirty="0"/>
          </a:p>
        </p:txBody>
      </p:sp>
      <p:sp>
        <p:nvSpPr>
          <p:cNvPr id="62" name="Text 60"/>
          <p:cNvSpPr txBox="1"/>
          <p:nvPr/>
        </p:nvSpPr>
        <p:spPr>
          <a:xfrm>
            <a:off x="9939528"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3" name="Shape 61"/>
          <p:cNvSpPr/>
          <p:nvPr/>
        </p:nvSpPr>
        <p:spPr>
          <a:xfrm>
            <a:off x="10543032" y="3749040"/>
            <a:ext cx="365760" cy="365760"/>
          </a:xfrm>
          <a:prstGeom prst="ellipse">
            <a:avLst/>
          </a:prstGeom>
          <a:solidFill>
            <a:srgbClr val="3DDC97"/>
          </a:solidFill>
          <a:ln w="15875">
            <a:solidFill>
              <a:srgbClr val="3DDC97"/>
            </a:solidFill>
            <a:prstDash val="solid"/>
          </a:ln>
        </p:spPr>
      </p:sp>
      <p:sp>
        <p:nvSpPr>
          <p:cNvPr id="64" name="Text 62"/>
          <p:cNvSpPr txBox="1"/>
          <p:nvPr/>
        </p:nvSpPr>
        <p:spPr>
          <a:xfrm>
            <a:off x="10543032"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9</a:t>
            </a:r>
            <a:endParaRPr lang="en-US" sz="1200" dirty="0"/>
          </a:p>
        </p:txBody>
      </p:sp>
      <p:sp>
        <p:nvSpPr>
          <p:cNvPr id="65" name="Text 63"/>
          <p:cNvSpPr txBox="1"/>
          <p:nvPr/>
        </p:nvSpPr>
        <p:spPr>
          <a:xfrm>
            <a:off x="10543032"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1</a:t>
            </a:r>
            <a:endParaRPr lang="en-US" sz="1200" dirty="0"/>
          </a:p>
        </p:txBody>
      </p:sp>
      <p:sp>
        <p:nvSpPr>
          <p:cNvPr id="66" name="Shape 64"/>
          <p:cNvSpPr/>
          <p:nvPr/>
        </p:nvSpPr>
        <p:spPr>
          <a:xfrm>
            <a:off x="11146536" y="3749040"/>
            <a:ext cx="365760" cy="365760"/>
          </a:xfrm>
          <a:prstGeom prst="ellipse">
            <a:avLst/>
          </a:prstGeom>
          <a:solidFill>
            <a:srgbClr val="3DDC97"/>
          </a:solidFill>
          <a:ln w="15875">
            <a:solidFill>
              <a:srgbClr val="3DDC97"/>
            </a:solidFill>
            <a:prstDash val="solid"/>
          </a:ln>
        </p:spPr>
      </p:sp>
      <p:sp>
        <p:nvSpPr>
          <p:cNvPr id="67" name="Text 65"/>
          <p:cNvSpPr txBox="1"/>
          <p:nvPr/>
        </p:nvSpPr>
        <p:spPr>
          <a:xfrm>
            <a:off x="11146536"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7</a:t>
            </a:r>
            <a:endParaRPr lang="en-US" sz="1200" dirty="0"/>
          </a:p>
        </p:txBody>
      </p:sp>
      <p:sp>
        <p:nvSpPr>
          <p:cNvPr id="68" name="Text 66"/>
          <p:cNvSpPr txBox="1"/>
          <p:nvPr/>
        </p:nvSpPr>
        <p:spPr>
          <a:xfrm>
            <a:off x="11146536"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0</a:t>
            </a:r>
            <a:endParaRPr lang="en-US" sz="1200" dirty="0"/>
          </a:p>
        </p:txBody>
      </p:sp>
      <p:sp>
        <p:nvSpPr>
          <p:cNvPr id="69" name="Text 67"/>
          <p:cNvSpPr txBox="1"/>
          <p:nvPr/>
        </p:nvSpPr>
        <p:spPr>
          <a:xfrm>
            <a:off x="5623560" y="5230368"/>
            <a:ext cx="164592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later neighbours</a:t>
            </a:r>
            <a:endParaRPr lang="en-US" sz="1050" dirty="0"/>
          </a:p>
        </p:txBody>
      </p:sp>
      <p:sp>
        <p:nvSpPr>
          <p:cNvPr id="70" name="Text 68"/>
          <p:cNvSpPr txBox="1"/>
          <p:nvPr/>
        </p:nvSpPr>
        <p:spPr>
          <a:xfrm>
            <a:off x="7269480" y="5230368"/>
            <a:ext cx="1837944" cy="219456"/>
          </a:xfrm>
          <a:prstGeom prst="rect">
            <a:avLst/>
          </a:prstGeom>
          <a:noFill/>
          <a:ln/>
        </p:spPr>
        <p:txBody>
          <a:bodyPr wrap="square" lIns="0" tIns="0" rIns="0" bIns="0" rtlCol="0" anchor="t"/>
          <a:lstStyle/>
          <a:p>
            <a:pPr algn="r" indent="0" marL="0">
              <a:buNone/>
            </a:pPr>
            <a:r>
              <a:rPr lang="en-US" sz="1050" dirty="0">
                <a:solidFill>
                  <a:srgbClr val="7D8AA0"/>
                </a:solidFill>
                <a:latin typeface="Calibri" pitchFamily="34" charset="0"/>
                <a:ea typeface="Calibri" pitchFamily="34" charset="-122"/>
                <a:cs typeface="Calibri" pitchFamily="34" charset="-120"/>
              </a:rPr>
              <a:t>outside the width, capped at 500</a:t>
            </a:r>
            <a:endParaRPr lang="en-US" sz="1050" dirty="0"/>
          </a:p>
        </p:txBody>
      </p:sp>
      <p:sp>
        <p:nvSpPr>
          <p:cNvPr id="71" name="Text 69"/>
          <p:cNvSpPr txBox="1"/>
          <p:nvPr/>
        </p:nvSpPr>
        <p:spPr>
          <a:xfrm>
            <a:off x="9326880" y="5230368"/>
            <a:ext cx="22860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width = 2</a:t>
            </a:r>
            <a:endParaRPr lang="en-US" sz="1200" dirty="0"/>
          </a:p>
        </p:txBody>
      </p:sp>
      <p:sp>
        <p:nvSpPr>
          <p:cNvPr id="72" name="Text 70"/>
          <p:cNvSpPr txBox="1"/>
          <p:nvPr/>
        </p:nvSpPr>
        <p:spPr>
          <a:xfrm>
            <a:off x="5669280" y="5623560"/>
            <a:ext cx="5882335" cy="64008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ESA’s own example, x = [0, 1, 2, 4, 5, 3, 6, 8, 9, 7, 6]: nine edges (above) and nine fill edges (below, red). Our evaluator reproduces ESA’s stated answer: a torso of four vertices with width 2.</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2 · PROBLEM DEFINITION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Formal definition and scoring</a:t>
            </a:r>
            <a:endParaRPr lang="en-US" sz="2700" dirty="0"/>
          </a:p>
        </p:txBody>
      </p:sp>
      <p:sp>
        <p:nvSpPr>
          <p:cNvPr id="4" name="Text 2"/>
          <p:cNvSpPr txBox="1"/>
          <p:nvPr/>
        </p:nvSpPr>
        <p:spPr>
          <a:xfrm>
            <a:off x="640080" y="1810512"/>
            <a:ext cx="5669280" cy="237744"/>
          </a:xfrm>
          <a:prstGeom prst="rect">
            <a:avLst/>
          </a:prstGeom>
          <a:noFill/>
          <a:ln/>
        </p:spPr>
        <p:txBody>
          <a:bodyPr wrap="square" lIns="0" tIns="0" rIns="0" bIns="0" rtlCol="0" anchor="t"/>
          <a:lstStyle/>
          <a:p>
            <a:pPr indent="0" marL="0">
              <a:buNone/>
            </a:pPr>
            <a:r>
              <a:rPr lang="en-US" sz="1050" b="1" spc="160" kern="0" dirty="0">
                <a:solidFill>
                  <a:srgbClr val="3DDC97"/>
                </a:solidFill>
                <a:latin typeface="Calibri" pitchFamily="34" charset="0"/>
                <a:ea typeface="Calibri" pitchFamily="34" charset="-122"/>
                <a:cs typeface="Calibri" pitchFamily="34" charset="-120"/>
              </a:rPr>
              <a:t>DEFINITION</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084832"/>
          <a:ext cx="5669280" cy="914400"/>
        </p:xfrm>
        <a:graphic>
          <a:graphicData uri="http://schemas.openxmlformats.org/drawingml/2006/table">
            <a:tbl>
              <a:tblPr/>
              <a:tblGrid>
                <a:gridCol w="1280160"/>
                <a:gridCol w="4389120"/>
              </a:tblGrid>
              <a:tr h="309372">
                <a:tc>
                  <a:txBody>
                    <a:bodyPr/>
                    <a:lstStyle/>
                    <a:p>
                      <a:pPr indent="0" marL="0">
                        <a:buNone/>
                      </a:pPr>
                      <a:r>
                        <a:rPr lang="en-US" sz="1250" b="1" dirty="0">
                          <a:solidFill>
                            <a:srgbClr val="9AA6B6"/>
                          </a:solidFill>
                          <a:latin typeface="Calibri" pitchFamily="34" charset="0"/>
                          <a:ea typeface="Calibri" pitchFamily="34" charset="-122"/>
                          <a:cs typeface="Calibri" pitchFamily="34" charset="-120"/>
                        </a:rPr>
                        <a:t>Input</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A connected graph </a:t>
                      </a:r>
                      <a:r>
                        <a:rPr lang="en-US" sz="1250" i="1" dirty="0">
                          <a:solidFill>
                            <a:srgbClr val="E8ECF2"/>
                          </a:solidFill>
                          <a:latin typeface="Calibri" pitchFamily="34" charset="0"/>
                          <a:ea typeface="Calibri" pitchFamily="34" charset="-122"/>
                          <a:cs typeface="Calibri" pitchFamily="34" charset="-120"/>
                        </a:rPr>
                        <a:t>G</a:t>
                      </a:r>
                      <a:r>
                        <a:rPr lang="en-US" sz="1250" dirty="0">
                          <a:solidFill>
                            <a:srgbClr val="E8ECF2"/>
                          </a:solidFill>
                          <a:latin typeface="Calibri" pitchFamily="34" charset="0"/>
                          <a:ea typeface="Calibri" pitchFamily="34" charset="-122"/>
                          <a:cs typeface="Calibri" pitchFamily="34" charset="-120"/>
                        </a:rPr>
                        <a:t> = (</a:t>
                      </a:r>
                      <a:r>
                        <a:rPr lang="en-US" sz="1250" i="1" dirty="0">
                          <a:solidFill>
                            <a:srgbClr val="E8ECF2"/>
                          </a:solidFill>
                          <a:latin typeface="Calibri" pitchFamily="34" charset="0"/>
                          <a:ea typeface="Calibri" pitchFamily="34" charset="-122"/>
                          <a:cs typeface="Calibri" pitchFamily="34" charset="-120"/>
                        </a:rPr>
                        <a:t>V</a:t>
                      </a:r>
                      <a:r>
                        <a:rPr lang="en-US" sz="1250" dirty="0">
                          <a:solidFill>
                            <a:srgbClr val="E8ECF2"/>
                          </a:solidFill>
                          <a:latin typeface="Calibri" pitchFamily="34" charset="0"/>
                          <a:ea typeface="Calibri" pitchFamily="34" charset="-122"/>
                          <a:cs typeface="Calibri" pitchFamily="34" charset="-120"/>
                        </a:rPr>
                        <a:t>, </a:t>
                      </a:r>
                      <a:r>
                        <a:rPr lang="en-US" sz="1250" i="1" dirty="0">
                          <a:solidFill>
                            <a:srgbClr val="E8ECF2"/>
                          </a:solidFill>
                          <a:latin typeface="Calibri" pitchFamily="34" charset="0"/>
                          <a:ea typeface="Calibri" pitchFamily="34" charset="-122"/>
                          <a:cs typeface="Calibri" pitchFamily="34" charset="-120"/>
                        </a:rPr>
                        <a:t>E</a:t>
                      </a:r>
                      <a:r>
                        <a:rPr lang="en-US" sz="1250" dirty="0">
                          <a:solidFill>
                            <a:srgbClr val="E8ECF2"/>
                          </a:solidFill>
                          <a:latin typeface="Calibri" pitchFamily="34" charset="0"/>
                          <a:ea typeface="Calibri" pitchFamily="34" charset="-122"/>
                          <a:cs typeface="Calibri" pitchFamily="34" charset="-120"/>
                        </a:rPr>
                        <a:t>) with </a:t>
                      </a:r>
                      <a:r>
                        <a:rPr lang="en-US" sz="1250" i="1" dirty="0">
                          <a:solidFill>
                            <a:srgbClr val="E8ECF2"/>
                          </a:solidFill>
                          <a:latin typeface="Calibri" pitchFamily="34" charset="0"/>
                          <a:ea typeface="Calibri" pitchFamily="34" charset="-122"/>
                          <a:cs typeface="Calibri" pitchFamily="34" charset="-120"/>
                        </a:rPr>
                        <a:t>n</a:t>
                      </a:r>
                      <a:r>
                        <a:rPr lang="en-US" sz="1250" dirty="0">
                          <a:solidFill>
                            <a:srgbClr val="E8ECF2"/>
                          </a:solidFill>
                          <a:latin typeface="Calibri" pitchFamily="34" charset="0"/>
                          <a:ea typeface="Calibri" pitchFamily="34" charset="-122"/>
                          <a:cs typeface="Calibri" pitchFamily="34" charset="-120"/>
                        </a:rPr>
                        <a:t> = |</a:t>
                      </a:r>
                      <a:r>
                        <a:rPr lang="en-US" sz="1250" i="1" dirty="0">
                          <a:solidFill>
                            <a:srgbClr val="E8ECF2"/>
                          </a:solidFill>
                          <a:latin typeface="Calibri" pitchFamily="34" charset="0"/>
                          <a:ea typeface="Calibri" pitchFamily="34" charset="-122"/>
                          <a:cs typeface="Calibri" pitchFamily="34" charset="-120"/>
                        </a:rPr>
                        <a:t>V</a:t>
                      </a:r>
                      <a:r>
                        <a:rPr lang="en-US" sz="1250" dirty="0">
                          <a:solidFill>
                            <a:srgbClr val="E8ECF2"/>
                          </a:solidFill>
                          <a:latin typeface="Calibri" pitchFamily="34" charset="0"/>
                          <a:ea typeface="Calibri" pitchFamily="34" charset="-122"/>
                          <a:cs typeface="Calibri" pitchFamily="34" charset="-120"/>
                        </a:rPr>
                        <a:t>| vertices.</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9372">
                <a:tc>
                  <a:txBody>
                    <a:bodyPr/>
                    <a:lstStyle/>
                    <a:p>
                      <a:pPr indent="0" marL="0">
                        <a:buNone/>
                      </a:pPr>
                      <a:r>
                        <a:rPr lang="en-US" sz="1250" b="1" dirty="0">
                          <a:solidFill>
                            <a:srgbClr val="9AA6B6"/>
                          </a:solidFill>
                          <a:latin typeface="Calibri" pitchFamily="34" charset="0"/>
                          <a:ea typeface="Calibri" pitchFamily="34" charset="-122"/>
                          <a:cs typeface="Calibri" pitchFamily="34" charset="-120"/>
                        </a:rPr>
                        <a:t>Solution</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A vector </a:t>
                      </a:r>
                      <a:r>
                        <a:rPr lang="en-US" sz="1250" i="1" dirty="0">
                          <a:solidFill>
                            <a:srgbClr val="E8ECF2"/>
                          </a:solidFill>
                          <a:latin typeface="Calibri" pitchFamily="34" charset="0"/>
                          <a:ea typeface="Calibri" pitchFamily="34" charset="-122"/>
                          <a:cs typeface="Calibri" pitchFamily="34" charset="-120"/>
                        </a:rPr>
                        <a:t>x</a:t>
                      </a:r>
                      <a:r>
                        <a:rPr lang="en-US" sz="1250" dirty="0">
                          <a:solidFill>
                            <a:srgbClr val="E8ECF2"/>
                          </a:solidFill>
                          <a:latin typeface="Calibri" pitchFamily="34" charset="0"/>
                          <a:ea typeface="Calibri" pitchFamily="34" charset="-122"/>
                          <a:cs typeface="Calibri" pitchFamily="34" charset="-120"/>
                        </a:rPr>
                        <a:t> = [</a:t>
                      </a:r>
                      <a:r>
                        <a:rPr lang="en-US" sz="1250" i="1" dirty="0">
                          <a:solidFill>
                            <a:srgbClr val="E8ECF2"/>
                          </a:solidFill>
                          <a:latin typeface="Calibri" pitchFamily="34" charset="0"/>
                          <a:ea typeface="Calibri" pitchFamily="34" charset="-122"/>
                          <a:cs typeface="Calibri" pitchFamily="34" charset="-120"/>
                        </a:rPr>
                        <a:t>π</a:t>
                      </a:r>
                      <a:r>
                        <a:rPr lang="en-US" sz="1250" baseline="-40000" dirty="0">
                          <a:solidFill>
                            <a:srgbClr val="E8ECF2"/>
                          </a:solidFill>
                          <a:latin typeface="Calibri" pitchFamily="34" charset="0"/>
                          <a:ea typeface="Calibri" pitchFamily="34" charset="-122"/>
                          <a:cs typeface="Calibri" pitchFamily="34" charset="-120"/>
                        </a:rPr>
                        <a:t>1</a:t>
                      </a:r>
                      <a:r>
                        <a:rPr lang="en-US" sz="1250" dirty="0">
                          <a:solidFill>
                            <a:srgbClr val="E8ECF2"/>
                          </a:solidFill>
                          <a:latin typeface="Calibri" pitchFamily="34" charset="0"/>
                          <a:ea typeface="Calibri" pitchFamily="34" charset="-122"/>
                          <a:cs typeface="Calibri" pitchFamily="34" charset="-120"/>
                        </a:rPr>
                        <a:t>, …, </a:t>
                      </a:r>
                      <a:r>
                        <a:rPr lang="en-US" sz="1250" i="1" dirty="0">
                          <a:solidFill>
                            <a:srgbClr val="E8ECF2"/>
                          </a:solidFill>
                          <a:latin typeface="Calibri" pitchFamily="34" charset="0"/>
                          <a:ea typeface="Calibri" pitchFamily="34" charset="-122"/>
                          <a:cs typeface="Calibri" pitchFamily="34" charset="-120"/>
                        </a:rPr>
                        <a:t>π</a:t>
                      </a:r>
                      <a:r>
                        <a:rPr lang="en-US" sz="1250" baseline="-40000" dirty="0">
                          <a:solidFill>
                            <a:srgbClr val="E8ECF2"/>
                          </a:solidFill>
                          <a:latin typeface="Calibri" pitchFamily="34" charset="0"/>
                          <a:ea typeface="Calibri" pitchFamily="34" charset="-122"/>
                          <a:cs typeface="Calibri" pitchFamily="34" charset="-120"/>
                        </a:rPr>
                        <a:t>n</a:t>
                      </a:r>
                      <a:r>
                        <a:rPr lang="en-US" sz="1250" dirty="0">
                          <a:solidFill>
                            <a:srgbClr val="E8ECF2"/>
                          </a:solidFill>
                          <a:latin typeface="Calibri" pitchFamily="34" charset="0"/>
                          <a:ea typeface="Calibri" pitchFamily="34" charset="-122"/>
                          <a:cs typeface="Calibri" pitchFamily="34" charset="-120"/>
                        </a:rPr>
                        <a:t>, </a:t>
                      </a:r>
                      <a:r>
                        <a:rPr lang="en-US" sz="1250" i="1" dirty="0">
                          <a:solidFill>
                            <a:srgbClr val="E8ECF2"/>
                          </a:solidFill>
                          <a:latin typeface="Calibri" pitchFamily="34" charset="0"/>
                          <a:ea typeface="Calibri" pitchFamily="34" charset="-122"/>
                          <a:cs typeface="Calibri" pitchFamily="34" charset="-120"/>
                        </a:rPr>
                        <a:t>t</a:t>
                      </a:r>
                      <a:r>
                        <a:rPr lang="en-US" sz="1250" dirty="0">
                          <a:solidFill>
                            <a:srgbClr val="E8ECF2"/>
                          </a:solidFill>
                          <a:latin typeface="Calibri" pitchFamily="34" charset="0"/>
                          <a:ea typeface="Calibri" pitchFamily="34" charset="-122"/>
                          <a:cs typeface="Calibri" pitchFamily="34" charset="-120"/>
                        </a:rPr>
                        <a:t>]: an ordering </a:t>
                      </a:r>
                      <a:r>
                        <a:rPr lang="en-US" sz="1250" i="1" dirty="0">
                          <a:solidFill>
                            <a:srgbClr val="E8ECF2"/>
                          </a:solidFill>
                          <a:latin typeface="Calibri" pitchFamily="34" charset="0"/>
                          <a:ea typeface="Calibri" pitchFamily="34" charset="-122"/>
                          <a:cs typeface="Calibri" pitchFamily="34" charset="-120"/>
                        </a:rPr>
                        <a:t>π</a:t>
                      </a:r>
                      <a:r>
                        <a:rPr lang="en-US" sz="1250" dirty="0">
                          <a:solidFill>
                            <a:srgbClr val="E8ECF2"/>
                          </a:solidFill>
                          <a:latin typeface="Calibri" pitchFamily="34" charset="0"/>
                          <a:ea typeface="Calibri" pitchFamily="34" charset="-122"/>
                          <a:cs typeface="Calibri" pitchFamily="34" charset="-120"/>
                        </a:rPr>
                        <a:t> of </a:t>
                      </a:r>
                      <a:r>
                        <a:rPr lang="en-US" sz="1250" i="1" dirty="0">
                          <a:solidFill>
                            <a:srgbClr val="E8ECF2"/>
                          </a:solidFill>
                          <a:latin typeface="Calibri" pitchFamily="34" charset="0"/>
                          <a:ea typeface="Calibri" pitchFamily="34" charset="-122"/>
                          <a:cs typeface="Calibri" pitchFamily="34" charset="-120"/>
                        </a:rPr>
                        <a:t>V</a:t>
                      </a:r>
                      <a:r>
                        <a:rPr lang="en-US" sz="1250" dirty="0">
                          <a:solidFill>
                            <a:srgbClr val="E8ECF2"/>
                          </a:solidFill>
                          <a:latin typeface="Calibri" pitchFamily="34" charset="0"/>
                          <a:ea typeface="Calibri" pitchFamily="34" charset="-122"/>
                          <a:cs typeface="Calibri" pitchFamily="34" charset="-120"/>
                        </a:rPr>
                        <a:t> and a threshold </a:t>
                      </a:r>
                      <a:r>
                        <a:rPr lang="en-US" sz="1250" i="1" dirty="0">
                          <a:solidFill>
                            <a:srgbClr val="E8ECF2"/>
                          </a:solidFill>
                          <a:latin typeface="Calibri" pitchFamily="34" charset="0"/>
                          <a:ea typeface="Calibri" pitchFamily="34" charset="-122"/>
                          <a:cs typeface="Calibri" pitchFamily="34" charset="-120"/>
                        </a:rPr>
                        <a:t>t</a:t>
                      </a:r>
                      <a:r>
                        <a:rPr lang="en-US" sz="1250" dirty="0">
                          <a:solidFill>
                            <a:srgbClr val="E8ECF2"/>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9372">
                <a:tc>
                  <a:txBody>
                    <a:bodyPr/>
                    <a:lstStyle/>
                    <a:p>
                      <a:pPr indent="0" marL="0">
                        <a:buNone/>
                      </a:pPr>
                      <a:r>
                        <a:rPr lang="en-US" sz="1250" b="1" dirty="0">
                          <a:solidFill>
                            <a:srgbClr val="9AA6B6"/>
                          </a:solidFill>
                          <a:latin typeface="Calibri" pitchFamily="34" charset="0"/>
                          <a:ea typeface="Calibri" pitchFamily="34" charset="-122"/>
                          <a:cs typeface="Calibri" pitchFamily="34" charset="-120"/>
                        </a:rPr>
                        <a:t>Elimination</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In the order </a:t>
                      </a:r>
                      <a:r>
                        <a:rPr lang="en-US" sz="1250" i="1" dirty="0">
                          <a:solidFill>
                            <a:srgbClr val="E8ECF2"/>
                          </a:solidFill>
                          <a:latin typeface="Calibri" pitchFamily="34" charset="0"/>
                          <a:ea typeface="Calibri" pitchFamily="34" charset="-122"/>
                          <a:cs typeface="Calibri" pitchFamily="34" charset="-120"/>
                        </a:rPr>
                        <a:t>π</a:t>
                      </a:r>
                      <a:r>
                        <a:rPr lang="en-US" sz="1250" dirty="0">
                          <a:solidFill>
                            <a:srgbClr val="E8ECF2"/>
                          </a:solidFill>
                          <a:latin typeface="Calibri" pitchFamily="34" charset="0"/>
                          <a:ea typeface="Calibri" pitchFamily="34" charset="-122"/>
                          <a:cs typeface="Calibri" pitchFamily="34" charset="-120"/>
                        </a:rPr>
                        <a:t>, each vertex joins its later neighbours pairwise (fill edges).</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9372">
                <a:tc>
                  <a:txBody>
                    <a:bodyPr/>
                    <a:lstStyle/>
                    <a:p>
                      <a:pPr indent="0" marL="0">
                        <a:buNone/>
                      </a:pPr>
                      <a:r>
                        <a:rPr lang="en-US" sz="1250" b="1" dirty="0">
                          <a:solidFill>
                            <a:srgbClr val="9AA6B6"/>
                          </a:solidFill>
                          <a:latin typeface="Calibri" pitchFamily="34" charset="0"/>
                          <a:ea typeface="Calibri" pitchFamily="34" charset="-122"/>
                          <a:cs typeface="Calibri" pitchFamily="34" charset="-120"/>
                        </a:rPr>
                        <a:t>Torso</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E8ECF2"/>
                          </a:solidFill>
                          <a:latin typeface="Calibri" pitchFamily="34" charset="0"/>
                          <a:ea typeface="Calibri" pitchFamily="34" charset="-122"/>
                          <a:cs typeface="Calibri" pitchFamily="34" charset="-120"/>
                        </a:rPr>
                        <a:t>Γ</a:t>
                      </a:r>
                      <a:r>
                        <a:rPr lang="en-US" sz="1250" dirty="0">
                          <a:solidFill>
                            <a:srgbClr val="E8ECF2"/>
                          </a:solidFill>
                          <a:latin typeface="Calibri" pitchFamily="34" charset="0"/>
                          <a:ea typeface="Calibri" pitchFamily="34" charset="-122"/>
                          <a:cs typeface="Calibri" pitchFamily="34" charset="-120"/>
                        </a:rPr>
                        <a:t>(</a:t>
                      </a:r>
                      <a:r>
                        <a:rPr lang="en-US" sz="1250" i="1" dirty="0">
                          <a:solidFill>
                            <a:srgbClr val="E8ECF2"/>
                          </a:solidFill>
                          <a:latin typeface="Calibri" pitchFamily="34" charset="0"/>
                          <a:ea typeface="Calibri" pitchFamily="34" charset="-122"/>
                          <a:cs typeface="Calibri" pitchFamily="34" charset="-120"/>
                        </a:rPr>
                        <a:t>π</a:t>
                      </a:r>
                      <a:r>
                        <a:rPr lang="en-US" sz="1250" dirty="0">
                          <a:solidFill>
                            <a:srgbClr val="E8ECF2"/>
                          </a:solidFill>
                          <a:latin typeface="Calibri" pitchFamily="34" charset="0"/>
                          <a:ea typeface="Calibri" pitchFamily="34" charset="-122"/>
                          <a:cs typeface="Calibri" pitchFamily="34" charset="-120"/>
                        </a:rPr>
                        <a:t>, </a:t>
                      </a:r>
                      <a:r>
                        <a:rPr lang="en-US" sz="1250" i="1" dirty="0">
                          <a:solidFill>
                            <a:srgbClr val="E8ECF2"/>
                          </a:solidFill>
                          <a:latin typeface="Calibri" pitchFamily="34" charset="0"/>
                          <a:ea typeface="Calibri" pitchFamily="34" charset="-122"/>
                          <a:cs typeface="Calibri" pitchFamily="34" charset="-120"/>
                        </a:rPr>
                        <a:t>t</a:t>
                      </a:r>
                      <a:r>
                        <a:rPr lang="en-US" sz="1250" dirty="0">
                          <a:solidFill>
                            <a:srgbClr val="E8ECF2"/>
                          </a:solidFill>
                          <a:latin typeface="Calibri" pitchFamily="34" charset="0"/>
                          <a:ea typeface="Calibri" pitchFamily="34" charset="-122"/>
                          <a:cs typeface="Calibri" pitchFamily="34" charset="-120"/>
                        </a:rPr>
                        <a:t>): the last </a:t>
                      </a:r>
                      <a:r>
                        <a:rPr lang="en-US" sz="1250" i="1" dirty="0">
                          <a:solidFill>
                            <a:srgbClr val="E8ECF2"/>
                          </a:solidFill>
                          <a:latin typeface="Calibri" pitchFamily="34" charset="0"/>
                          <a:ea typeface="Calibri" pitchFamily="34" charset="-122"/>
                          <a:cs typeface="Calibri" pitchFamily="34" charset="-120"/>
                        </a:rPr>
                        <a:t>n</a:t>
                      </a:r>
                      <a:r>
                        <a:rPr lang="en-US" sz="1250" dirty="0">
                          <a:solidFill>
                            <a:srgbClr val="E8ECF2"/>
                          </a:solidFill>
                          <a:latin typeface="Calibri" pitchFamily="34" charset="0"/>
                          <a:ea typeface="Calibri" pitchFamily="34" charset="-122"/>
                          <a:cs typeface="Calibri" pitchFamily="34" charset="-120"/>
                        </a:rPr>
                        <a:t> − </a:t>
                      </a:r>
                      <a:r>
                        <a:rPr lang="en-US" sz="1250" i="1" dirty="0">
                          <a:solidFill>
                            <a:srgbClr val="E8ECF2"/>
                          </a:solidFill>
                          <a:latin typeface="Calibri" pitchFamily="34" charset="0"/>
                          <a:ea typeface="Calibri" pitchFamily="34" charset="-122"/>
                          <a:cs typeface="Calibri" pitchFamily="34" charset="-120"/>
                        </a:rPr>
                        <a:t>t</a:t>
                      </a:r>
                      <a:r>
                        <a:rPr lang="en-US" sz="1250" dirty="0">
                          <a:solidFill>
                            <a:srgbClr val="E8ECF2"/>
                          </a:solidFill>
                          <a:latin typeface="Calibri" pitchFamily="34" charset="0"/>
                          <a:ea typeface="Calibri" pitchFamily="34" charset="-122"/>
                          <a:cs typeface="Calibri" pitchFamily="34" charset="-120"/>
                        </a:rPr>
                        <a:t> vertices, with all edges among them.</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9372">
                <a:tc>
                  <a:txBody>
                    <a:bodyPr/>
                    <a:lstStyle/>
                    <a:p>
                      <a:pPr indent="0" marL="0">
                        <a:buNone/>
                      </a:pPr>
                      <a:r>
                        <a:rPr lang="en-US" sz="1250" b="1" dirty="0">
                          <a:solidFill>
                            <a:srgbClr val="9AA6B6"/>
                          </a:solidFill>
                          <a:latin typeface="Calibri" pitchFamily="34" charset="0"/>
                          <a:ea typeface="Calibri" pitchFamily="34" charset="-122"/>
                          <a:cs typeface="Calibri" pitchFamily="34" charset="-120"/>
                        </a:rPr>
                        <a:t>Width</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E8ECF2"/>
                          </a:solidFill>
                          <a:latin typeface="Calibri" pitchFamily="34" charset="0"/>
                          <a:ea typeface="Calibri" pitchFamily="34" charset="-122"/>
                          <a:cs typeface="Calibri" pitchFamily="34" charset="-120"/>
                        </a:rPr>
                        <a:t>w</a:t>
                      </a:r>
                      <a:r>
                        <a:rPr lang="en-US" sz="1250" dirty="0">
                          <a:solidFill>
                            <a:srgbClr val="E8ECF2"/>
                          </a:solidFill>
                          <a:latin typeface="Calibri" pitchFamily="34" charset="0"/>
                          <a:ea typeface="Calibri" pitchFamily="34" charset="-122"/>
                          <a:cs typeface="Calibri" pitchFamily="34" charset="-120"/>
                        </a:rPr>
                        <a:t>(</a:t>
                      </a:r>
                      <a:r>
                        <a:rPr lang="en-US" sz="1250" i="1" dirty="0">
                          <a:solidFill>
                            <a:srgbClr val="E8ECF2"/>
                          </a:solidFill>
                          <a:latin typeface="Calibri" pitchFamily="34" charset="0"/>
                          <a:ea typeface="Calibri" pitchFamily="34" charset="-122"/>
                          <a:cs typeface="Calibri" pitchFamily="34" charset="-120"/>
                        </a:rPr>
                        <a:t>π</a:t>
                      </a:r>
                      <a:r>
                        <a:rPr lang="en-US" sz="1250" dirty="0">
                          <a:solidFill>
                            <a:srgbClr val="E8ECF2"/>
                          </a:solidFill>
                          <a:latin typeface="Calibri" pitchFamily="34" charset="0"/>
                          <a:ea typeface="Calibri" pitchFamily="34" charset="-122"/>
                          <a:cs typeface="Calibri" pitchFamily="34" charset="-120"/>
                        </a:rPr>
                        <a:t>, </a:t>
                      </a:r>
                      <a:r>
                        <a:rPr lang="en-US" sz="1250" i="1" dirty="0">
                          <a:solidFill>
                            <a:srgbClr val="E8ECF2"/>
                          </a:solidFill>
                          <a:latin typeface="Calibri" pitchFamily="34" charset="0"/>
                          <a:ea typeface="Calibri" pitchFamily="34" charset="-122"/>
                          <a:cs typeface="Calibri" pitchFamily="34" charset="-120"/>
                        </a:rPr>
                        <a:t>t</a:t>
                      </a:r>
                      <a:r>
                        <a:rPr lang="en-US" sz="1250" dirty="0">
                          <a:solidFill>
                            <a:srgbClr val="E8ECF2"/>
                          </a:solidFill>
                          <a:latin typeface="Calibri" pitchFamily="34" charset="0"/>
                          <a:ea typeface="Calibri" pitchFamily="34" charset="-122"/>
                          <a:cs typeface="Calibri" pitchFamily="34" charset="-120"/>
                        </a:rPr>
                        <a:t>): the largest number of later neighbours of a torso vertex.</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9372">
                <a:tc>
                  <a:txBody>
                    <a:bodyPr/>
                    <a:lstStyle/>
                    <a:p>
                      <a:pPr indent="0" marL="0">
                        <a:buNone/>
                      </a:pPr>
                      <a:r>
                        <a:rPr lang="en-US" sz="1250" b="1" dirty="0">
                          <a:solidFill>
                            <a:srgbClr val="9AA6B6"/>
                          </a:solidFill>
                          <a:latin typeface="Calibri" pitchFamily="34" charset="0"/>
                          <a:ea typeface="Calibri" pitchFamily="34" charset="-122"/>
                          <a:cs typeface="Calibri" pitchFamily="34" charset="-120"/>
                        </a:rPr>
                        <a:t>Objectives</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Minimise both </a:t>
                      </a:r>
                      <a:r>
                        <a:rPr lang="en-US" sz="1250" i="1" dirty="0">
                          <a:solidFill>
                            <a:srgbClr val="E8ECF2"/>
                          </a:solidFill>
                          <a:latin typeface="Calibri" pitchFamily="34" charset="0"/>
                          <a:ea typeface="Calibri" pitchFamily="34" charset="-122"/>
                          <a:cs typeface="Calibri" pitchFamily="34" charset="-120"/>
                        </a:rPr>
                        <a:t>w</a:t>
                      </a:r>
                      <a:r>
                        <a:rPr lang="en-US" sz="1250" dirty="0">
                          <a:solidFill>
                            <a:srgbClr val="E8ECF2"/>
                          </a:solidFill>
                          <a:latin typeface="Calibri" pitchFamily="34" charset="0"/>
                          <a:ea typeface="Calibri" pitchFamily="34" charset="-122"/>
                          <a:cs typeface="Calibri" pitchFamily="34" charset="-120"/>
                        </a:rPr>
                        <a:t> and </a:t>
                      </a:r>
                      <a:r>
                        <a:rPr lang="en-US" sz="1250" i="1" dirty="0">
                          <a:solidFill>
                            <a:srgbClr val="E8ECF2"/>
                          </a:solidFill>
                          <a:latin typeface="Calibri" pitchFamily="34" charset="0"/>
                          <a:ea typeface="Calibri" pitchFamily="34" charset="-122"/>
                          <a:cs typeface="Calibri" pitchFamily="34" charset="-120"/>
                        </a:rPr>
                        <a:t>t</a:t>
                      </a:r>
                      <a:r>
                        <a:rPr lang="en-US" sz="1250" dirty="0">
                          <a:solidFill>
                            <a:srgbClr val="E8ECF2"/>
                          </a:solidFill>
                          <a:latin typeface="Calibri" pitchFamily="34" charset="0"/>
                          <a:ea typeface="Calibri" pitchFamily="34" charset="-122"/>
                          <a:cs typeface="Calibri" pitchFamily="34" charset="-120"/>
                        </a:rPr>
                        <a:t>: a narrow torso that is as large as possible.</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9372">
                <a:tc>
                  <a:txBody>
                    <a:bodyPr/>
                    <a:lstStyle/>
                    <a:p>
                      <a:pPr indent="0" marL="0">
                        <a:buNone/>
                      </a:pPr>
                      <a:r>
                        <a:rPr lang="en-US" sz="1250" b="1" dirty="0">
                          <a:solidFill>
                            <a:srgbClr val="9AA6B6"/>
                          </a:solidFill>
                          <a:latin typeface="Calibri" pitchFamily="34" charset="0"/>
                          <a:ea typeface="Calibri" pitchFamily="34" charset="-122"/>
                          <a:cs typeface="Calibri" pitchFamily="34" charset="-120"/>
                        </a:rPr>
                        <a:t>Constraint</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Every elimination step has at most 500 later neighbours; otherwise ESA scores </a:t>
                      </a:r>
                      <a:r>
                        <a:rPr lang="en-US" sz="1250" i="1" dirty="0">
                          <a:solidFill>
                            <a:srgbClr val="E8ECF2"/>
                          </a:solidFill>
                          <a:latin typeface="Calibri" pitchFamily="34" charset="0"/>
                          <a:ea typeface="Calibri" pitchFamily="34" charset="-122"/>
                          <a:cs typeface="Calibri" pitchFamily="34" charset="-120"/>
                        </a:rPr>
                        <a:t>w</a:t>
                      </a:r>
                      <a:r>
                        <a:rPr lang="en-US" sz="1250" dirty="0">
                          <a:solidFill>
                            <a:srgbClr val="E8ECF2"/>
                          </a:solidFill>
                          <a:latin typeface="Calibri" pitchFamily="34" charset="0"/>
                          <a:ea typeface="Calibri" pitchFamily="34" charset="-122"/>
                          <a:cs typeface="Calibri" pitchFamily="34" charset="-120"/>
                        </a:rPr>
                        <a:t> = 501.</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9372">
                <a:tc>
                  <a:txBody>
                    <a:bodyPr/>
                    <a:lstStyle/>
                    <a:p>
                      <a:pPr indent="0" marL="0">
                        <a:buNone/>
                      </a:pPr>
                      <a:r>
                        <a:rPr lang="en-US" sz="1250" b="1" dirty="0">
                          <a:solidFill>
                            <a:srgbClr val="9AA6B6"/>
                          </a:solidFill>
                          <a:latin typeface="Calibri" pitchFamily="34" charset="0"/>
                          <a:ea typeface="Calibri" pitchFamily="34" charset="-122"/>
                          <a:cs typeface="Calibri" pitchFamily="34" charset="-120"/>
                        </a:rPr>
                        <a:t>Score</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Hypervolume of up to 20 points (</a:t>
                      </a:r>
                      <a:r>
                        <a:rPr lang="en-US" sz="1250" i="1" dirty="0">
                          <a:solidFill>
                            <a:srgbClr val="E8ECF2"/>
                          </a:solidFill>
                          <a:latin typeface="Calibri" pitchFamily="34" charset="0"/>
                          <a:ea typeface="Calibri" pitchFamily="34" charset="-122"/>
                          <a:cs typeface="Calibri" pitchFamily="34" charset="-120"/>
                        </a:rPr>
                        <a:t>w</a:t>
                      </a:r>
                      <a:r>
                        <a:rPr lang="en-US" sz="1250" dirty="0">
                          <a:solidFill>
                            <a:srgbClr val="E8ECF2"/>
                          </a:solidFill>
                          <a:latin typeface="Calibri" pitchFamily="34" charset="0"/>
                          <a:ea typeface="Calibri" pitchFamily="34" charset="-122"/>
                          <a:cs typeface="Calibri" pitchFamily="34" charset="-120"/>
                        </a:rPr>
                        <a:t>, </a:t>
                      </a:r>
                      <a:r>
                        <a:rPr lang="en-US" sz="1250" i="1" dirty="0">
                          <a:solidFill>
                            <a:srgbClr val="E8ECF2"/>
                          </a:solidFill>
                          <a:latin typeface="Calibri" pitchFamily="34" charset="0"/>
                          <a:ea typeface="Calibri" pitchFamily="34" charset="-122"/>
                          <a:cs typeface="Calibri" pitchFamily="34" charset="-120"/>
                        </a:rPr>
                        <a:t>t</a:t>
                      </a:r>
                      <a:r>
                        <a:rPr lang="en-US" sz="1250" dirty="0">
                          <a:solidFill>
                            <a:srgbClr val="E8ECF2"/>
                          </a:solidFill>
                          <a:latin typeface="Calibri" pitchFamily="34" charset="0"/>
                          <a:ea typeface="Calibri" pitchFamily="34" charset="-122"/>
                          <a:cs typeface="Calibri" pitchFamily="34" charset="-120"/>
                        </a:rPr>
                        <a:t>) against the reference point (</a:t>
                      </a:r>
                      <a:r>
                        <a:rPr lang="en-US" sz="1250" i="1" dirty="0">
                          <a:solidFill>
                            <a:srgbClr val="E8ECF2"/>
                          </a:solidFill>
                          <a:latin typeface="Calibri" pitchFamily="34" charset="0"/>
                          <a:ea typeface="Calibri" pitchFamily="34" charset="-122"/>
                          <a:cs typeface="Calibri" pitchFamily="34" charset="-120"/>
                        </a:rPr>
                        <a:t>n</a:t>
                      </a:r>
                      <a:r>
                        <a:rPr lang="en-US" sz="1250" dirty="0">
                          <a:solidFill>
                            <a:srgbClr val="E8ECF2"/>
                          </a:solidFill>
                          <a:latin typeface="Calibri" pitchFamily="34" charset="0"/>
                          <a:ea typeface="Calibri" pitchFamily="34" charset="-122"/>
                          <a:cs typeface="Calibri" pitchFamily="34" charset="-120"/>
                        </a:rPr>
                        <a:t>, </a:t>
                      </a:r>
                      <a:r>
                        <a:rPr lang="en-US" sz="1250" i="1" dirty="0">
                          <a:solidFill>
                            <a:srgbClr val="E8ECF2"/>
                          </a:solidFill>
                          <a:latin typeface="Calibri" pitchFamily="34" charset="0"/>
                          <a:ea typeface="Calibri" pitchFamily="34" charset="-122"/>
                          <a:cs typeface="Calibri" pitchFamily="34" charset="-120"/>
                        </a:rPr>
                        <a:t>n</a:t>
                      </a:r>
                      <a:r>
                        <a:rPr lang="en-US" sz="1250" dirty="0">
                          <a:solidFill>
                            <a:srgbClr val="E8ECF2"/>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0" marR="45720" marT="59436" marB="59436" anchor="t">
                    <a:lnL w="0" cap="flat" cmpd="sng" algn="ctr">
                      <a:noFill/>
                    </a:lnL>
                    <a:lnR w="0" cap="flat" cmpd="sng" algn="ctr">
                      <a:noFill/>
                    </a:lnR>
                    <a:lnT w="0" cap="flat" cmpd="sng" algn="ctr">
                      <a:noFill/>
                    </a:lnT>
                    <a:lnB w="0" cap="flat" cmpd="sng" algn="ctr">
                      <a:noFill/>
                    </a:lnB>
                  </a:tcPr>
                </a:tc>
              </a:tr>
              <a:tr h="309372">
                <a:tc gridSpan="2">
                  <a:txBody>
                    <a:bodyPr/>
                    <a:lstStyle/>
                    <a:p>
                      <a:pPr indent="0" marL="0">
                        <a:buNone/>
                      </a:pPr>
                      <a:r>
                        <a:rPr lang="en-US" sz="1100" i="1" dirty="0">
                          <a:solidFill>
                            <a:srgbClr val="9AA6B6"/>
                          </a:solidFill>
                          <a:latin typeface="Calibri" pitchFamily="34" charset="0"/>
                          <a:ea typeface="Calibri" pitchFamily="34" charset="-122"/>
                          <a:cs typeface="Calibri" pitchFamily="34" charset="-120"/>
                        </a:rPr>
                        <a:t>Equivalently (Bannach et al., 2024): two torso vertices are adjacent when </a:t>
                      </a:r>
                      <a:r>
                        <a:rPr lang="en-US" sz="1100" i="1" dirty="0">
                          <a:solidFill>
                            <a:srgbClr val="9AA6B6"/>
                          </a:solidFill>
                          <a:latin typeface="Calibri" pitchFamily="34" charset="0"/>
                          <a:ea typeface="Calibri" pitchFamily="34" charset="-122"/>
                          <a:cs typeface="Calibri" pitchFamily="34" charset="-120"/>
                        </a:rPr>
                        <a:t>G</a:t>
                      </a:r>
                      <a:r>
                        <a:rPr lang="en-US" sz="1100" i="1" dirty="0">
                          <a:solidFill>
                            <a:srgbClr val="9AA6B6"/>
                          </a:solidFill>
                          <a:latin typeface="Calibri" pitchFamily="34" charset="0"/>
                          <a:ea typeface="Calibri" pitchFamily="34" charset="-122"/>
                          <a:cs typeface="Calibri" pitchFamily="34" charset="-120"/>
                        </a:rPr>
                        <a:t> has a path between them whose inner vertices are all eliminated.</a:t>
                      </a:r>
                      <a:endParaRPr lang="en-US" sz="1100" dirty="0">
                        <a:latin typeface="Calibri" charset="0"/>
                        <a:ea typeface="Calibri" charset="0"/>
                        <a:cs typeface="Calibri" charset="0"/>
                      </a:endParaRPr>
                    </a:p>
                  </a:txBody>
                  <a:tcPr marL="0" marR="0" marT="132588" marB="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6" name="Shape 3"/>
          <p:cNvSpPr/>
          <p:nvPr/>
        </p:nvSpPr>
        <p:spPr>
          <a:xfrm>
            <a:off x="7120890" y="2148840"/>
            <a:ext cx="4126230" cy="2926080"/>
          </a:xfrm>
          <a:custGeom>
            <a:avLst/>
            <a:gdLst/>
            <a:ahLst/>
            <a:cxnLst/>
            <a:rect l="l" t="t" r="r" b="b"/>
            <a:pathLst>
              <a:path w="4126230" h="2926080">
                <a:moveTo>
                  <a:pt x="0" y="0"/>
                </a:moveTo>
                <a:lnTo>
                  <a:pt x="4126230" y="0"/>
                </a:lnTo>
                <a:lnTo>
                  <a:pt x="4126230" y="2926080"/>
                </a:lnTo>
                <a:lnTo>
                  <a:pt x="1563624" y="2926080"/>
                </a:lnTo>
                <a:lnTo>
                  <a:pt x="1563624" y="2545690"/>
                </a:lnTo>
                <a:lnTo>
                  <a:pt x="955548" y="2545690"/>
                </a:lnTo>
                <a:lnTo>
                  <a:pt x="955548" y="2106778"/>
                </a:lnTo>
                <a:lnTo>
                  <a:pt x="521208" y="2106778"/>
                </a:lnTo>
                <a:lnTo>
                  <a:pt x="521208" y="1580083"/>
                </a:lnTo>
                <a:lnTo>
                  <a:pt x="217170" y="1580083"/>
                </a:lnTo>
                <a:lnTo>
                  <a:pt x="217170" y="877824"/>
                </a:lnTo>
                <a:lnTo>
                  <a:pt x="0" y="877824"/>
                </a:lnTo>
                <a:close/>
              </a:path>
            </a:pathLst>
          </a:custGeom>
          <a:solidFill>
            <a:srgbClr val="3DDC97">
              <a:alpha val="22000"/>
            </a:srgbClr>
          </a:solidFill>
          <a:ln/>
        </p:spPr>
      </p:sp>
      <p:sp>
        <p:nvSpPr>
          <p:cNvPr id="7" name="Shape 4"/>
          <p:cNvSpPr/>
          <p:nvPr/>
        </p:nvSpPr>
        <p:spPr>
          <a:xfrm>
            <a:off x="6903720" y="5074920"/>
            <a:ext cx="4480560" cy="0"/>
          </a:xfrm>
          <a:prstGeom prst="line">
            <a:avLst/>
          </a:prstGeom>
          <a:noFill/>
          <a:ln w="12700">
            <a:solidFill>
              <a:srgbClr val="9AA6B6"/>
            </a:solidFill>
            <a:prstDash val="solid"/>
            <a:tailEnd type="triangle"/>
          </a:ln>
        </p:spPr>
      </p:sp>
      <p:sp>
        <p:nvSpPr>
          <p:cNvPr id="8" name="Shape 5"/>
          <p:cNvSpPr/>
          <p:nvPr/>
        </p:nvSpPr>
        <p:spPr>
          <a:xfrm>
            <a:off x="6903720" y="2011680"/>
            <a:ext cx="0" cy="3063240"/>
          </a:xfrm>
          <a:prstGeom prst="line">
            <a:avLst/>
          </a:prstGeom>
          <a:noFill/>
          <a:ln w="12700">
            <a:solidFill>
              <a:srgbClr val="9AA6B6"/>
            </a:solidFill>
            <a:prstDash val="solid"/>
            <a:headEnd type="triangle"/>
          </a:ln>
        </p:spPr>
      </p:sp>
      <p:sp>
        <p:nvSpPr>
          <p:cNvPr id="9" name="Shape 6"/>
          <p:cNvSpPr/>
          <p:nvPr/>
        </p:nvSpPr>
        <p:spPr>
          <a:xfrm>
            <a:off x="7120890" y="2148840"/>
            <a:ext cx="0" cy="877824"/>
          </a:xfrm>
          <a:prstGeom prst="line">
            <a:avLst/>
          </a:prstGeom>
          <a:noFill/>
          <a:ln w="22225">
            <a:solidFill>
              <a:srgbClr val="3DDC97"/>
            </a:solidFill>
            <a:prstDash val="solid"/>
          </a:ln>
        </p:spPr>
      </p:sp>
      <p:sp>
        <p:nvSpPr>
          <p:cNvPr id="10" name="Shape 7"/>
          <p:cNvSpPr/>
          <p:nvPr/>
        </p:nvSpPr>
        <p:spPr>
          <a:xfrm>
            <a:off x="7120890" y="3026664"/>
            <a:ext cx="217170" cy="0"/>
          </a:xfrm>
          <a:prstGeom prst="line">
            <a:avLst/>
          </a:prstGeom>
          <a:noFill/>
          <a:ln w="22225">
            <a:solidFill>
              <a:srgbClr val="3DDC97"/>
            </a:solidFill>
            <a:prstDash val="solid"/>
          </a:ln>
        </p:spPr>
      </p:sp>
      <p:sp>
        <p:nvSpPr>
          <p:cNvPr id="11" name="Shape 8"/>
          <p:cNvSpPr/>
          <p:nvPr/>
        </p:nvSpPr>
        <p:spPr>
          <a:xfrm>
            <a:off x="7338060" y="3026664"/>
            <a:ext cx="0" cy="702259"/>
          </a:xfrm>
          <a:prstGeom prst="line">
            <a:avLst/>
          </a:prstGeom>
          <a:noFill/>
          <a:ln w="22225">
            <a:solidFill>
              <a:srgbClr val="3DDC97"/>
            </a:solidFill>
            <a:prstDash val="solid"/>
          </a:ln>
        </p:spPr>
      </p:sp>
      <p:sp>
        <p:nvSpPr>
          <p:cNvPr id="12" name="Shape 9"/>
          <p:cNvSpPr/>
          <p:nvPr/>
        </p:nvSpPr>
        <p:spPr>
          <a:xfrm>
            <a:off x="7338060" y="3728923"/>
            <a:ext cx="304038" cy="0"/>
          </a:xfrm>
          <a:prstGeom prst="line">
            <a:avLst/>
          </a:prstGeom>
          <a:noFill/>
          <a:ln w="22225">
            <a:solidFill>
              <a:srgbClr val="3DDC97"/>
            </a:solidFill>
            <a:prstDash val="solid"/>
          </a:ln>
        </p:spPr>
      </p:sp>
      <p:sp>
        <p:nvSpPr>
          <p:cNvPr id="13" name="Shape 10"/>
          <p:cNvSpPr/>
          <p:nvPr/>
        </p:nvSpPr>
        <p:spPr>
          <a:xfrm>
            <a:off x="7642098" y="3728923"/>
            <a:ext cx="0" cy="526694"/>
          </a:xfrm>
          <a:prstGeom prst="line">
            <a:avLst/>
          </a:prstGeom>
          <a:noFill/>
          <a:ln w="22225">
            <a:solidFill>
              <a:srgbClr val="3DDC97"/>
            </a:solidFill>
            <a:prstDash val="solid"/>
          </a:ln>
        </p:spPr>
      </p:sp>
      <p:sp>
        <p:nvSpPr>
          <p:cNvPr id="14" name="Shape 11"/>
          <p:cNvSpPr/>
          <p:nvPr/>
        </p:nvSpPr>
        <p:spPr>
          <a:xfrm>
            <a:off x="7642098" y="4255618"/>
            <a:ext cx="434340" cy="0"/>
          </a:xfrm>
          <a:prstGeom prst="line">
            <a:avLst/>
          </a:prstGeom>
          <a:noFill/>
          <a:ln w="22225">
            <a:solidFill>
              <a:srgbClr val="3DDC97"/>
            </a:solidFill>
            <a:prstDash val="solid"/>
          </a:ln>
        </p:spPr>
      </p:sp>
      <p:sp>
        <p:nvSpPr>
          <p:cNvPr id="15" name="Shape 12"/>
          <p:cNvSpPr/>
          <p:nvPr/>
        </p:nvSpPr>
        <p:spPr>
          <a:xfrm>
            <a:off x="8076438" y="4255618"/>
            <a:ext cx="0" cy="438912"/>
          </a:xfrm>
          <a:prstGeom prst="line">
            <a:avLst/>
          </a:prstGeom>
          <a:noFill/>
          <a:ln w="22225">
            <a:solidFill>
              <a:srgbClr val="3DDC97"/>
            </a:solidFill>
            <a:prstDash val="solid"/>
          </a:ln>
        </p:spPr>
      </p:sp>
      <p:sp>
        <p:nvSpPr>
          <p:cNvPr id="16" name="Shape 13"/>
          <p:cNvSpPr/>
          <p:nvPr/>
        </p:nvSpPr>
        <p:spPr>
          <a:xfrm>
            <a:off x="8076438" y="4694530"/>
            <a:ext cx="608076" cy="0"/>
          </a:xfrm>
          <a:prstGeom prst="line">
            <a:avLst/>
          </a:prstGeom>
          <a:noFill/>
          <a:ln w="22225">
            <a:solidFill>
              <a:srgbClr val="3DDC97"/>
            </a:solidFill>
            <a:prstDash val="solid"/>
          </a:ln>
        </p:spPr>
      </p:sp>
      <p:sp>
        <p:nvSpPr>
          <p:cNvPr id="17" name="Shape 14"/>
          <p:cNvSpPr/>
          <p:nvPr/>
        </p:nvSpPr>
        <p:spPr>
          <a:xfrm>
            <a:off x="8684514" y="4694530"/>
            <a:ext cx="0" cy="380390"/>
          </a:xfrm>
          <a:prstGeom prst="line">
            <a:avLst/>
          </a:prstGeom>
          <a:noFill/>
          <a:ln w="22225">
            <a:solidFill>
              <a:srgbClr val="3DDC97"/>
            </a:solidFill>
            <a:prstDash val="solid"/>
          </a:ln>
        </p:spPr>
      </p:sp>
      <p:sp>
        <p:nvSpPr>
          <p:cNvPr id="18" name="Shape 15"/>
          <p:cNvSpPr/>
          <p:nvPr/>
        </p:nvSpPr>
        <p:spPr>
          <a:xfrm>
            <a:off x="8684514" y="5074920"/>
            <a:ext cx="2562606" cy="0"/>
          </a:xfrm>
          <a:prstGeom prst="line">
            <a:avLst/>
          </a:prstGeom>
          <a:noFill/>
          <a:ln w="22225">
            <a:solidFill>
              <a:srgbClr val="3DDC97"/>
            </a:solidFill>
            <a:prstDash val="solid"/>
          </a:ln>
        </p:spPr>
      </p:sp>
      <p:sp>
        <p:nvSpPr>
          <p:cNvPr id="19" name="Shape 16"/>
          <p:cNvSpPr/>
          <p:nvPr/>
        </p:nvSpPr>
        <p:spPr>
          <a:xfrm>
            <a:off x="7052310" y="2958084"/>
            <a:ext cx="137160" cy="137160"/>
          </a:xfrm>
          <a:prstGeom prst="ellipse">
            <a:avLst/>
          </a:prstGeom>
          <a:solidFill>
            <a:srgbClr val="3DDC97"/>
          </a:solidFill>
          <a:ln/>
        </p:spPr>
      </p:sp>
      <p:sp>
        <p:nvSpPr>
          <p:cNvPr id="20" name="Shape 17"/>
          <p:cNvSpPr/>
          <p:nvPr/>
        </p:nvSpPr>
        <p:spPr>
          <a:xfrm>
            <a:off x="7269480" y="3660343"/>
            <a:ext cx="137160" cy="137160"/>
          </a:xfrm>
          <a:prstGeom prst="ellipse">
            <a:avLst/>
          </a:prstGeom>
          <a:solidFill>
            <a:srgbClr val="3DDC97"/>
          </a:solidFill>
          <a:ln/>
        </p:spPr>
      </p:sp>
      <p:sp>
        <p:nvSpPr>
          <p:cNvPr id="21" name="Shape 18"/>
          <p:cNvSpPr/>
          <p:nvPr/>
        </p:nvSpPr>
        <p:spPr>
          <a:xfrm>
            <a:off x="7573518" y="4187038"/>
            <a:ext cx="137160" cy="137160"/>
          </a:xfrm>
          <a:prstGeom prst="ellipse">
            <a:avLst/>
          </a:prstGeom>
          <a:solidFill>
            <a:srgbClr val="3DDC97"/>
          </a:solidFill>
          <a:ln/>
        </p:spPr>
      </p:sp>
      <p:sp>
        <p:nvSpPr>
          <p:cNvPr id="22" name="Shape 19"/>
          <p:cNvSpPr/>
          <p:nvPr/>
        </p:nvSpPr>
        <p:spPr>
          <a:xfrm>
            <a:off x="8007858" y="4625950"/>
            <a:ext cx="137160" cy="137160"/>
          </a:xfrm>
          <a:prstGeom prst="ellipse">
            <a:avLst/>
          </a:prstGeom>
          <a:solidFill>
            <a:srgbClr val="3DDC97"/>
          </a:solidFill>
          <a:ln/>
        </p:spPr>
      </p:sp>
      <p:sp>
        <p:nvSpPr>
          <p:cNvPr id="23" name="Shape 20"/>
          <p:cNvSpPr/>
          <p:nvPr/>
        </p:nvSpPr>
        <p:spPr>
          <a:xfrm>
            <a:off x="8615934" y="5006340"/>
            <a:ext cx="137160" cy="137160"/>
          </a:xfrm>
          <a:prstGeom prst="ellipse">
            <a:avLst/>
          </a:prstGeom>
          <a:solidFill>
            <a:srgbClr val="3DDC97"/>
          </a:solidFill>
          <a:ln/>
        </p:spPr>
      </p:sp>
      <p:sp>
        <p:nvSpPr>
          <p:cNvPr id="24" name="Shape 21"/>
          <p:cNvSpPr/>
          <p:nvPr/>
        </p:nvSpPr>
        <p:spPr>
          <a:xfrm>
            <a:off x="11192256" y="2093976"/>
            <a:ext cx="109728" cy="109728"/>
          </a:xfrm>
          <a:prstGeom prst="ellipse">
            <a:avLst/>
          </a:prstGeom>
          <a:solidFill>
            <a:srgbClr val="E8ECF2"/>
          </a:solidFill>
          <a:ln/>
        </p:spPr>
      </p:sp>
      <p:sp>
        <p:nvSpPr>
          <p:cNvPr id="25" name="Text 22"/>
          <p:cNvSpPr txBox="1"/>
          <p:nvPr/>
        </p:nvSpPr>
        <p:spPr>
          <a:xfrm>
            <a:off x="10698480" y="1801368"/>
            <a:ext cx="822960" cy="237744"/>
          </a:xfrm>
          <a:prstGeom prst="rect">
            <a:avLst/>
          </a:prstGeom>
          <a:noFill/>
          <a:ln/>
        </p:spPr>
        <p:txBody>
          <a:bodyPr wrap="square" lIns="0" tIns="0" rIns="0" bIns="0" rtlCol="0" anchor="t"/>
          <a:lstStyle/>
          <a:p>
            <a:pPr algn="r" indent="0" marL="0">
              <a:buNone/>
            </a:pPr>
            <a:r>
              <a:rPr lang="en-US" sz="1200" dirty="0">
                <a:solidFill>
                  <a:srgbClr val="E8ECF2"/>
                </a:solidFill>
                <a:latin typeface="Calibri" pitchFamily="34" charset="0"/>
                <a:ea typeface="Calibri" pitchFamily="34" charset="-122"/>
                <a:cs typeface="Calibri" pitchFamily="34" charset="-120"/>
              </a:rPr>
              <a:t>(n, n)</a:t>
            </a:r>
            <a:endParaRPr lang="en-US" sz="1200" dirty="0"/>
          </a:p>
        </p:txBody>
      </p:sp>
      <p:sp>
        <p:nvSpPr>
          <p:cNvPr id="26" name="Text 23"/>
          <p:cNvSpPr txBox="1"/>
          <p:nvPr/>
        </p:nvSpPr>
        <p:spPr>
          <a:xfrm>
            <a:off x="8858250" y="2968142"/>
            <a:ext cx="2286000" cy="640080"/>
          </a:xfrm>
          <a:prstGeom prst="rect">
            <a:avLst/>
          </a:prstGeom>
          <a:noFill/>
          <a:ln/>
        </p:spPr>
        <p:txBody>
          <a:bodyPr wrap="square" lIns="0" tIns="0" rIns="0" bIns="0" rtlCol="0" anchor="t"/>
          <a:lstStyle/>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dominated area</a:t>
            </a:r>
            <a:endParaRPr lang="en-US" sz="1500" dirty="0"/>
          </a:p>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 score</a:t>
            </a:r>
            <a:endParaRPr lang="en-US" sz="1500" dirty="0"/>
          </a:p>
        </p:txBody>
      </p:sp>
      <p:sp>
        <p:nvSpPr>
          <p:cNvPr id="27" name="Text 24"/>
          <p:cNvSpPr txBox="1"/>
          <p:nvPr/>
        </p:nvSpPr>
        <p:spPr>
          <a:xfrm>
            <a:off x="8869680" y="5148072"/>
            <a:ext cx="2560320" cy="237744"/>
          </a:xfrm>
          <a:prstGeom prst="rect">
            <a:avLst/>
          </a:prstGeom>
          <a:noFill/>
          <a:ln/>
        </p:spPr>
        <p:txBody>
          <a:bodyPr wrap="square" lIns="0" tIns="0" rIns="0" bIns="0" rtlCol="0" anchor="t"/>
          <a:lstStyle/>
          <a:p>
            <a:pPr algn="r" indent="0" marL="0">
              <a:buNone/>
            </a:pPr>
            <a:r>
              <a:rPr lang="en-US" sz="1200" dirty="0">
                <a:solidFill>
                  <a:srgbClr val="9AA6B6"/>
                </a:solidFill>
                <a:latin typeface="Calibri" pitchFamily="34" charset="0"/>
                <a:ea typeface="Calibri" pitchFamily="34" charset="-122"/>
                <a:cs typeface="Calibri" pitchFamily="34" charset="-120"/>
              </a:rPr>
              <a:t>torso width  w →</a:t>
            </a:r>
            <a:endParaRPr lang="en-US" sz="1200" dirty="0"/>
          </a:p>
        </p:txBody>
      </p:sp>
      <p:sp>
        <p:nvSpPr>
          <p:cNvPr id="28" name="Text 25"/>
          <p:cNvSpPr txBox="1"/>
          <p:nvPr/>
        </p:nvSpPr>
        <p:spPr>
          <a:xfrm>
            <a:off x="7013448" y="1837944"/>
            <a:ext cx="2926080" cy="237744"/>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eliminated vertices  t</a:t>
            </a:r>
            <a:endParaRPr lang="en-US" sz="1200" dirty="0"/>
          </a:p>
        </p:txBody>
      </p:sp>
      <p:sp>
        <p:nvSpPr>
          <p:cNvPr id="29" name="Text 26"/>
          <p:cNvSpPr txBox="1"/>
          <p:nvPr/>
        </p:nvSpPr>
        <p:spPr>
          <a:xfrm>
            <a:off x="6903720" y="5148072"/>
            <a:ext cx="1371600" cy="219456"/>
          </a:xfrm>
          <a:prstGeom prst="rect">
            <a:avLst/>
          </a:prstGeom>
          <a:noFill/>
          <a:ln/>
        </p:spPr>
        <p:txBody>
          <a:bodyPr wrap="square" lIns="0" tIns="0" rIns="0" bIns="0" rtlCol="0" anchor="t"/>
          <a:lstStyle/>
          <a:p>
            <a:pPr indent="0" marL="0">
              <a:buNone/>
            </a:pPr>
            <a:r>
              <a:rPr lang="en-US" sz="1000" i="1" dirty="0">
                <a:solidFill>
                  <a:srgbClr val="7D8AA0"/>
                </a:solidFill>
                <a:latin typeface="Calibri" pitchFamily="34" charset="0"/>
                <a:ea typeface="Calibri" pitchFamily="34" charset="-122"/>
                <a:cs typeface="Calibri" pitchFamily="34" charset="-120"/>
              </a:rPr>
              <a:t>illustration</a:t>
            </a:r>
            <a:endParaRPr lang="en-US" sz="1000" dirty="0"/>
          </a:p>
        </p:txBody>
      </p:sp>
      <p:sp>
        <p:nvSpPr>
          <p:cNvPr id="30" name="Text 27"/>
          <p:cNvSpPr txBox="1"/>
          <p:nvPr/>
        </p:nvSpPr>
        <p:spPr>
          <a:xfrm>
            <a:off x="6720840" y="5504688"/>
            <a:ext cx="4830775"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Each solution is one point (</a:t>
            </a:r>
            <a:r>
              <a:rPr lang="en-US" sz="1150" i="1" dirty="0">
                <a:solidFill>
                  <a:srgbClr val="9AA6B6"/>
                </a:solidFill>
                <a:latin typeface="Calibri" pitchFamily="34" charset="0"/>
                <a:ea typeface="Calibri" pitchFamily="34" charset="-122"/>
                <a:cs typeface="Calibri" pitchFamily="34" charset="-120"/>
              </a:rPr>
              <a:t>w</a:t>
            </a:r>
            <a:r>
              <a:rPr lang="en-US" sz="1150" dirty="0">
                <a:solidFill>
                  <a:srgbClr val="9AA6B6"/>
                </a:solidFill>
                <a:latin typeface="Calibri" pitchFamily="34" charset="0"/>
                <a:ea typeface="Calibri" pitchFamily="34" charset="-122"/>
                <a:cs typeface="Calibri" pitchFamily="34" charset="-120"/>
              </a:rPr>
              <a:t>, </a:t>
            </a:r>
            <a:r>
              <a:rPr lang="en-US" sz="1150" i="1" dirty="0">
                <a:solidFill>
                  <a:srgbClr val="9AA6B6"/>
                </a:solidFill>
                <a:latin typeface="Calibri" pitchFamily="34" charset="0"/>
                <a:ea typeface="Calibri" pitchFamily="34" charset="-122"/>
                <a:cs typeface="Calibri" pitchFamily="34" charset="-120"/>
              </a:rPr>
              <a:t>t</a:t>
            </a:r>
            <a:r>
              <a:rPr lang="en-US" sz="1150" dirty="0">
                <a:solidFill>
                  <a:srgbClr val="9AA6B6"/>
                </a:solidFill>
                <a:latin typeface="Calibri" pitchFamily="34" charset="0"/>
                <a:ea typeface="Calibri" pitchFamily="34" charset="-122"/>
                <a:cs typeface="Calibri" pitchFamily="34" charset="-120"/>
              </a:rPr>
              <a:t>). The score is the area the points dominate up to (</a:t>
            </a:r>
            <a:r>
              <a:rPr lang="en-US" sz="1150" i="1" dirty="0">
                <a:solidFill>
                  <a:srgbClr val="9AA6B6"/>
                </a:solidFill>
                <a:latin typeface="Calibri" pitchFamily="34" charset="0"/>
                <a:ea typeface="Calibri" pitchFamily="34" charset="-122"/>
                <a:cs typeface="Calibri" pitchFamily="34" charset="-120"/>
              </a:rPr>
              <a:t>n</a:t>
            </a:r>
            <a:r>
              <a:rPr lang="en-US" sz="1150" dirty="0">
                <a:solidFill>
                  <a:srgbClr val="9AA6B6"/>
                </a:solidFill>
                <a:latin typeface="Calibri" pitchFamily="34" charset="0"/>
                <a:ea typeface="Calibri" pitchFamily="34" charset="-122"/>
                <a:cs typeface="Calibri" pitchFamily="34" charset="-120"/>
              </a:rPr>
              <a:t>, </a:t>
            </a:r>
            <a:r>
              <a:rPr lang="en-US" sz="1150" i="1" dirty="0">
                <a:solidFill>
                  <a:srgbClr val="9AA6B6"/>
                </a:solidFill>
                <a:latin typeface="Calibri" pitchFamily="34" charset="0"/>
                <a:ea typeface="Calibri" pitchFamily="34" charset="-122"/>
                <a:cs typeface="Calibri" pitchFamily="34" charset="-120"/>
              </a:rPr>
              <a:t>n</a:t>
            </a:r>
            <a:r>
              <a:rPr lang="en-US" sz="1150" dirty="0">
                <a:solidFill>
                  <a:srgbClr val="9AA6B6"/>
                </a:solidFill>
                <a:latin typeface="Calibri" pitchFamily="34" charset="0"/>
                <a:ea typeface="Calibri" pitchFamily="34" charset="-122"/>
                <a:cs typeface="Calibri" pitchFamily="34" charset="-120"/>
              </a:rPr>
              <a:t>). ESA lists it with a minus sign; this talk reports the positive area, in HV.</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3 · BENCHMARK INSTANCES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Benchmark instances: three structural families</a:t>
            </a:r>
            <a:endParaRPr lang="en-US" sz="2700" dirty="0"/>
          </a:p>
        </p:txBody>
      </p:sp>
      <p:sp>
        <p:nvSpPr>
          <p:cNvPr id="4" name="Text 2"/>
          <p:cNvSpPr txBox="1"/>
          <p:nvPr/>
        </p:nvSpPr>
        <p:spPr>
          <a:xfrm>
            <a:off x="640080" y="1764792"/>
            <a:ext cx="10911535" cy="292608"/>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The three official ESA graphs and seven synthetic graphs generated to match them (n: vertices; tw: treewidth).</a:t>
            </a:r>
            <a:endParaRPr lang="en-US" sz="1400" dirty="0"/>
          </a:p>
        </p:txBody>
      </p:sp>
      <p:sp>
        <p:nvSpPr>
          <p:cNvPr id="5" name="Shape 3"/>
          <p:cNvSpPr/>
          <p:nvPr/>
        </p:nvSpPr>
        <p:spPr>
          <a:xfrm>
            <a:off x="960120" y="2651760"/>
            <a:ext cx="0" cy="365760"/>
          </a:xfrm>
          <a:prstGeom prst="line">
            <a:avLst/>
          </a:prstGeom>
          <a:noFill/>
          <a:ln w="12700">
            <a:solidFill>
              <a:srgbClr val="7D8AA0"/>
            </a:solidFill>
            <a:prstDash val="solid"/>
          </a:ln>
        </p:spPr>
      </p:sp>
      <p:sp>
        <p:nvSpPr>
          <p:cNvPr id="6" name="Shape 4"/>
          <p:cNvSpPr/>
          <p:nvPr/>
        </p:nvSpPr>
        <p:spPr>
          <a:xfrm>
            <a:off x="1271016" y="2651760"/>
            <a:ext cx="310896" cy="0"/>
          </a:xfrm>
          <a:prstGeom prst="line">
            <a:avLst/>
          </a:prstGeom>
          <a:noFill/>
          <a:ln w="12700">
            <a:solidFill>
              <a:srgbClr val="7D8AA0"/>
            </a:solidFill>
            <a:prstDash val="solid"/>
          </a:ln>
        </p:spPr>
      </p:sp>
      <p:sp>
        <p:nvSpPr>
          <p:cNvPr id="7" name="Shape 5"/>
          <p:cNvSpPr/>
          <p:nvPr/>
        </p:nvSpPr>
        <p:spPr>
          <a:xfrm>
            <a:off x="1271016" y="2651760"/>
            <a:ext cx="0" cy="365760"/>
          </a:xfrm>
          <a:prstGeom prst="line">
            <a:avLst/>
          </a:prstGeom>
          <a:noFill/>
          <a:ln w="12700">
            <a:solidFill>
              <a:srgbClr val="7D8AA0"/>
            </a:solidFill>
            <a:prstDash val="solid"/>
          </a:ln>
        </p:spPr>
      </p:sp>
      <p:sp>
        <p:nvSpPr>
          <p:cNvPr id="8" name="Shape 6"/>
          <p:cNvSpPr/>
          <p:nvPr/>
        </p:nvSpPr>
        <p:spPr>
          <a:xfrm>
            <a:off x="1581912" y="2651760"/>
            <a:ext cx="310896" cy="0"/>
          </a:xfrm>
          <a:prstGeom prst="line">
            <a:avLst/>
          </a:prstGeom>
          <a:noFill/>
          <a:ln w="12700">
            <a:solidFill>
              <a:srgbClr val="7D8AA0"/>
            </a:solidFill>
            <a:prstDash val="solid"/>
          </a:ln>
        </p:spPr>
      </p:sp>
      <p:sp>
        <p:nvSpPr>
          <p:cNvPr id="9" name="Shape 7"/>
          <p:cNvSpPr/>
          <p:nvPr/>
        </p:nvSpPr>
        <p:spPr>
          <a:xfrm>
            <a:off x="1581912" y="2651760"/>
            <a:ext cx="0" cy="365760"/>
          </a:xfrm>
          <a:prstGeom prst="line">
            <a:avLst/>
          </a:prstGeom>
          <a:noFill/>
          <a:ln w="12700">
            <a:solidFill>
              <a:srgbClr val="7D8AA0"/>
            </a:solidFill>
            <a:prstDash val="solid"/>
          </a:ln>
        </p:spPr>
      </p:sp>
      <p:sp>
        <p:nvSpPr>
          <p:cNvPr id="10" name="Shape 8"/>
          <p:cNvSpPr/>
          <p:nvPr/>
        </p:nvSpPr>
        <p:spPr>
          <a:xfrm>
            <a:off x="1892808" y="2651760"/>
            <a:ext cx="310896" cy="0"/>
          </a:xfrm>
          <a:prstGeom prst="line">
            <a:avLst/>
          </a:prstGeom>
          <a:noFill/>
          <a:ln w="12700">
            <a:solidFill>
              <a:srgbClr val="7D8AA0"/>
            </a:solidFill>
            <a:prstDash val="solid"/>
          </a:ln>
        </p:spPr>
      </p:sp>
      <p:sp>
        <p:nvSpPr>
          <p:cNvPr id="11" name="Shape 9"/>
          <p:cNvSpPr/>
          <p:nvPr/>
        </p:nvSpPr>
        <p:spPr>
          <a:xfrm>
            <a:off x="1892808" y="2651760"/>
            <a:ext cx="0" cy="365760"/>
          </a:xfrm>
          <a:prstGeom prst="line">
            <a:avLst/>
          </a:prstGeom>
          <a:noFill/>
          <a:ln w="12700">
            <a:solidFill>
              <a:srgbClr val="7D8AA0"/>
            </a:solidFill>
            <a:prstDash val="solid"/>
          </a:ln>
        </p:spPr>
      </p:sp>
      <p:sp>
        <p:nvSpPr>
          <p:cNvPr id="12" name="Shape 10"/>
          <p:cNvSpPr/>
          <p:nvPr/>
        </p:nvSpPr>
        <p:spPr>
          <a:xfrm>
            <a:off x="2203704" y="2651760"/>
            <a:ext cx="310896" cy="0"/>
          </a:xfrm>
          <a:prstGeom prst="line">
            <a:avLst/>
          </a:prstGeom>
          <a:noFill/>
          <a:ln w="12700">
            <a:solidFill>
              <a:srgbClr val="7D8AA0"/>
            </a:solidFill>
            <a:prstDash val="solid"/>
          </a:ln>
        </p:spPr>
      </p:sp>
      <p:sp>
        <p:nvSpPr>
          <p:cNvPr id="13" name="Shape 11"/>
          <p:cNvSpPr/>
          <p:nvPr/>
        </p:nvSpPr>
        <p:spPr>
          <a:xfrm>
            <a:off x="2203704" y="2651760"/>
            <a:ext cx="0" cy="365760"/>
          </a:xfrm>
          <a:prstGeom prst="line">
            <a:avLst/>
          </a:prstGeom>
          <a:noFill/>
          <a:ln w="12700">
            <a:solidFill>
              <a:srgbClr val="7D8AA0"/>
            </a:solidFill>
            <a:prstDash val="solid"/>
          </a:ln>
        </p:spPr>
      </p:sp>
      <p:sp>
        <p:nvSpPr>
          <p:cNvPr id="14" name="Shape 12"/>
          <p:cNvSpPr/>
          <p:nvPr/>
        </p:nvSpPr>
        <p:spPr>
          <a:xfrm>
            <a:off x="2514600" y="2651760"/>
            <a:ext cx="310896" cy="0"/>
          </a:xfrm>
          <a:prstGeom prst="line">
            <a:avLst/>
          </a:prstGeom>
          <a:noFill/>
          <a:ln w="12700">
            <a:solidFill>
              <a:srgbClr val="7D8AA0"/>
            </a:solidFill>
            <a:prstDash val="solid"/>
          </a:ln>
        </p:spPr>
      </p:sp>
      <p:sp>
        <p:nvSpPr>
          <p:cNvPr id="15" name="Shape 13"/>
          <p:cNvSpPr/>
          <p:nvPr/>
        </p:nvSpPr>
        <p:spPr>
          <a:xfrm>
            <a:off x="2514600" y="2651760"/>
            <a:ext cx="0" cy="365760"/>
          </a:xfrm>
          <a:prstGeom prst="line">
            <a:avLst/>
          </a:prstGeom>
          <a:noFill/>
          <a:ln w="12700">
            <a:solidFill>
              <a:srgbClr val="7D8AA0"/>
            </a:solidFill>
            <a:prstDash val="solid"/>
          </a:ln>
        </p:spPr>
      </p:sp>
      <p:sp>
        <p:nvSpPr>
          <p:cNvPr id="16" name="Shape 14"/>
          <p:cNvSpPr/>
          <p:nvPr/>
        </p:nvSpPr>
        <p:spPr>
          <a:xfrm>
            <a:off x="2825496" y="2651760"/>
            <a:ext cx="310896" cy="0"/>
          </a:xfrm>
          <a:prstGeom prst="line">
            <a:avLst/>
          </a:prstGeom>
          <a:noFill/>
          <a:ln w="12700">
            <a:solidFill>
              <a:srgbClr val="7D8AA0"/>
            </a:solidFill>
            <a:prstDash val="solid"/>
          </a:ln>
        </p:spPr>
      </p:sp>
      <p:sp>
        <p:nvSpPr>
          <p:cNvPr id="17" name="Shape 15"/>
          <p:cNvSpPr/>
          <p:nvPr/>
        </p:nvSpPr>
        <p:spPr>
          <a:xfrm>
            <a:off x="2825496" y="2651760"/>
            <a:ext cx="0" cy="365760"/>
          </a:xfrm>
          <a:prstGeom prst="line">
            <a:avLst/>
          </a:prstGeom>
          <a:noFill/>
          <a:ln w="12700">
            <a:solidFill>
              <a:srgbClr val="7D8AA0"/>
            </a:solidFill>
            <a:prstDash val="solid"/>
          </a:ln>
        </p:spPr>
      </p:sp>
      <p:sp>
        <p:nvSpPr>
          <p:cNvPr id="18" name="Shape 16"/>
          <p:cNvSpPr/>
          <p:nvPr/>
        </p:nvSpPr>
        <p:spPr>
          <a:xfrm>
            <a:off x="3136392" y="2651760"/>
            <a:ext cx="310896" cy="0"/>
          </a:xfrm>
          <a:prstGeom prst="line">
            <a:avLst/>
          </a:prstGeom>
          <a:noFill/>
          <a:ln w="12700">
            <a:solidFill>
              <a:srgbClr val="7D8AA0"/>
            </a:solidFill>
            <a:prstDash val="solid"/>
          </a:ln>
        </p:spPr>
      </p:sp>
      <p:sp>
        <p:nvSpPr>
          <p:cNvPr id="19" name="Shape 17"/>
          <p:cNvSpPr/>
          <p:nvPr/>
        </p:nvSpPr>
        <p:spPr>
          <a:xfrm>
            <a:off x="3136392" y="2651760"/>
            <a:ext cx="0" cy="365760"/>
          </a:xfrm>
          <a:prstGeom prst="line">
            <a:avLst/>
          </a:prstGeom>
          <a:noFill/>
          <a:ln w="12700">
            <a:solidFill>
              <a:srgbClr val="7D8AA0"/>
            </a:solidFill>
            <a:prstDash val="solid"/>
          </a:ln>
        </p:spPr>
      </p:sp>
      <p:sp>
        <p:nvSpPr>
          <p:cNvPr id="20" name="Shape 18"/>
          <p:cNvSpPr/>
          <p:nvPr/>
        </p:nvSpPr>
        <p:spPr>
          <a:xfrm>
            <a:off x="960120" y="3017520"/>
            <a:ext cx="310896" cy="0"/>
          </a:xfrm>
          <a:prstGeom prst="line">
            <a:avLst/>
          </a:prstGeom>
          <a:noFill/>
          <a:ln w="12700">
            <a:solidFill>
              <a:srgbClr val="7D8AA0"/>
            </a:solidFill>
            <a:prstDash val="solid"/>
          </a:ln>
        </p:spPr>
      </p:sp>
      <p:sp>
        <p:nvSpPr>
          <p:cNvPr id="21" name="Shape 19"/>
          <p:cNvSpPr/>
          <p:nvPr/>
        </p:nvSpPr>
        <p:spPr>
          <a:xfrm>
            <a:off x="960120" y="3017520"/>
            <a:ext cx="0" cy="365760"/>
          </a:xfrm>
          <a:prstGeom prst="line">
            <a:avLst/>
          </a:prstGeom>
          <a:noFill/>
          <a:ln w="12700">
            <a:solidFill>
              <a:srgbClr val="7D8AA0"/>
            </a:solidFill>
            <a:prstDash val="solid"/>
          </a:ln>
        </p:spPr>
      </p:sp>
      <p:sp>
        <p:nvSpPr>
          <p:cNvPr id="22" name="Shape 20"/>
          <p:cNvSpPr/>
          <p:nvPr/>
        </p:nvSpPr>
        <p:spPr>
          <a:xfrm>
            <a:off x="1271016" y="3017520"/>
            <a:ext cx="310896" cy="0"/>
          </a:xfrm>
          <a:prstGeom prst="line">
            <a:avLst/>
          </a:prstGeom>
          <a:noFill/>
          <a:ln w="12700">
            <a:solidFill>
              <a:srgbClr val="7D8AA0"/>
            </a:solidFill>
            <a:prstDash val="solid"/>
          </a:ln>
        </p:spPr>
      </p:sp>
      <p:sp>
        <p:nvSpPr>
          <p:cNvPr id="23" name="Shape 21"/>
          <p:cNvSpPr/>
          <p:nvPr/>
        </p:nvSpPr>
        <p:spPr>
          <a:xfrm>
            <a:off x="1271016" y="3017520"/>
            <a:ext cx="0" cy="365760"/>
          </a:xfrm>
          <a:prstGeom prst="line">
            <a:avLst/>
          </a:prstGeom>
          <a:noFill/>
          <a:ln w="12700">
            <a:solidFill>
              <a:srgbClr val="7D8AA0"/>
            </a:solidFill>
            <a:prstDash val="solid"/>
          </a:ln>
        </p:spPr>
      </p:sp>
      <p:sp>
        <p:nvSpPr>
          <p:cNvPr id="24" name="Shape 22"/>
          <p:cNvSpPr/>
          <p:nvPr/>
        </p:nvSpPr>
        <p:spPr>
          <a:xfrm>
            <a:off x="1581912" y="3017520"/>
            <a:ext cx="310896" cy="0"/>
          </a:xfrm>
          <a:prstGeom prst="line">
            <a:avLst/>
          </a:prstGeom>
          <a:noFill/>
          <a:ln w="12700">
            <a:solidFill>
              <a:srgbClr val="7D8AA0"/>
            </a:solidFill>
            <a:prstDash val="solid"/>
          </a:ln>
        </p:spPr>
      </p:sp>
      <p:sp>
        <p:nvSpPr>
          <p:cNvPr id="25" name="Shape 23"/>
          <p:cNvSpPr/>
          <p:nvPr/>
        </p:nvSpPr>
        <p:spPr>
          <a:xfrm>
            <a:off x="1581912" y="3017520"/>
            <a:ext cx="0" cy="365760"/>
          </a:xfrm>
          <a:prstGeom prst="line">
            <a:avLst/>
          </a:prstGeom>
          <a:noFill/>
          <a:ln w="12700">
            <a:solidFill>
              <a:srgbClr val="7D8AA0"/>
            </a:solidFill>
            <a:prstDash val="solid"/>
          </a:ln>
        </p:spPr>
      </p:sp>
      <p:sp>
        <p:nvSpPr>
          <p:cNvPr id="26" name="Shape 24"/>
          <p:cNvSpPr/>
          <p:nvPr/>
        </p:nvSpPr>
        <p:spPr>
          <a:xfrm>
            <a:off x="1892808" y="3017520"/>
            <a:ext cx="310896" cy="0"/>
          </a:xfrm>
          <a:prstGeom prst="line">
            <a:avLst/>
          </a:prstGeom>
          <a:noFill/>
          <a:ln w="12700">
            <a:solidFill>
              <a:srgbClr val="7D8AA0"/>
            </a:solidFill>
            <a:prstDash val="solid"/>
          </a:ln>
        </p:spPr>
      </p:sp>
      <p:sp>
        <p:nvSpPr>
          <p:cNvPr id="27" name="Shape 25"/>
          <p:cNvSpPr/>
          <p:nvPr/>
        </p:nvSpPr>
        <p:spPr>
          <a:xfrm>
            <a:off x="1892808" y="3017520"/>
            <a:ext cx="0" cy="365760"/>
          </a:xfrm>
          <a:prstGeom prst="line">
            <a:avLst/>
          </a:prstGeom>
          <a:noFill/>
          <a:ln w="12700">
            <a:solidFill>
              <a:srgbClr val="7D8AA0"/>
            </a:solidFill>
            <a:prstDash val="solid"/>
          </a:ln>
        </p:spPr>
      </p:sp>
      <p:sp>
        <p:nvSpPr>
          <p:cNvPr id="28" name="Shape 26"/>
          <p:cNvSpPr/>
          <p:nvPr/>
        </p:nvSpPr>
        <p:spPr>
          <a:xfrm>
            <a:off x="2203704" y="3017520"/>
            <a:ext cx="310896" cy="0"/>
          </a:xfrm>
          <a:prstGeom prst="line">
            <a:avLst/>
          </a:prstGeom>
          <a:noFill/>
          <a:ln w="12700">
            <a:solidFill>
              <a:srgbClr val="7D8AA0"/>
            </a:solidFill>
            <a:prstDash val="solid"/>
          </a:ln>
        </p:spPr>
      </p:sp>
      <p:sp>
        <p:nvSpPr>
          <p:cNvPr id="29" name="Shape 27"/>
          <p:cNvSpPr/>
          <p:nvPr/>
        </p:nvSpPr>
        <p:spPr>
          <a:xfrm>
            <a:off x="2203704" y="3017520"/>
            <a:ext cx="0" cy="365760"/>
          </a:xfrm>
          <a:prstGeom prst="line">
            <a:avLst/>
          </a:prstGeom>
          <a:noFill/>
          <a:ln w="12700">
            <a:solidFill>
              <a:srgbClr val="7D8AA0"/>
            </a:solidFill>
            <a:prstDash val="solid"/>
          </a:ln>
        </p:spPr>
      </p:sp>
      <p:sp>
        <p:nvSpPr>
          <p:cNvPr id="30" name="Shape 28"/>
          <p:cNvSpPr/>
          <p:nvPr/>
        </p:nvSpPr>
        <p:spPr>
          <a:xfrm>
            <a:off x="2514600" y="3017520"/>
            <a:ext cx="310896" cy="0"/>
          </a:xfrm>
          <a:prstGeom prst="line">
            <a:avLst/>
          </a:prstGeom>
          <a:noFill/>
          <a:ln w="12700">
            <a:solidFill>
              <a:srgbClr val="7D8AA0"/>
            </a:solidFill>
            <a:prstDash val="solid"/>
          </a:ln>
        </p:spPr>
      </p:sp>
      <p:sp>
        <p:nvSpPr>
          <p:cNvPr id="31" name="Shape 29"/>
          <p:cNvSpPr/>
          <p:nvPr/>
        </p:nvSpPr>
        <p:spPr>
          <a:xfrm>
            <a:off x="2514600" y="3017520"/>
            <a:ext cx="0" cy="365760"/>
          </a:xfrm>
          <a:prstGeom prst="line">
            <a:avLst/>
          </a:prstGeom>
          <a:noFill/>
          <a:ln w="12700">
            <a:solidFill>
              <a:srgbClr val="7D8AA0"/>
            </a:solidFill>
            <a:prstDash val="solid"/>
          </a:ln>
        </p:spPr>
      </p:sp>
      <p:sp>
        <p:nvSpPr>
          <p:cNvPr id="32" name="Shape 30"/>
          <p:cNvSpPr/>
          <p:nvPr/>
        </p:nvSpPr>
        <p:spPr>
          <a:xfrm>
            <a:off x="2825496" y="3017520"/>
            <a:ext cx="310896" cy="0"/>
          </a:xfrm>
          <a:prstGeom prst="line">
            <a:avLst/>
          </a:prstGeom>
          <a:noFill/>
          <a:ln w="12700">
            <a:solidFill>
              <a:srgbClr val="7D8AA0"/>
            </a:solidFill>
            <a:prstDash val="solid"/>
          </a:ln>
        </p:spPr>
      </p:sp>
      <p:sp>
        <p:nvSpPr>
          <p:cNvPr id="33" name="Shape 31"/>
          <p:cNvSpPr/>
          <p:nvPr/>
        </p:nvSpPr>
        <p:spPr>
          <a:xfrm>
            <a:off x="3136392" y="3017520"/>
            <a:ext cx="310896" cy="0"/>
          </a:xfrm>
          <a:prstGeom prst="line">
            <a:avLst/>
          </a:prstGeom>
          <a:noFill/>
          <a:ln w="12700">
            <a:solidFill>
              <a:srgbClr val="7D8AA0"/>
            </a:solidFill>
            <a:prstDash val="solid"/>
          </a:ln>
        </p:spPr>
      </p:sp>
      <p:sp>
        <p:nvSpPr>
          <p:cNvPr id="34" name="Shape 32"/>
          <p:cNvSpPr/>
          <p:nvPr/>
        </p:nvSpPr>
        <p:spPr>
          <a:xfrm>
            <a:off x="3136392" y="3017520"/>
            <a:ext cx="0" cy="365760"/>
          </a:xfrm>
          <a:prstGeom prst="line">
            <a:avLst/>
          </a:prstGeom>
          <a:noFill/>
          <a:ln w="12700">
            <a:solidFill>
              <a:srgbClr val="7D8AA0"/>
            </a:solidFill>
            <a:prstDash val="solid"/>
          </a:ln>
        </p:spPr>
      </p:sp>
      <p:sp>
        <p:nvSpPr>
          <p:cNvPr id="35" name="Shape 33"/>
          <p:cNvSpPr/>
          <p:nvPr/>
        </p:nvSpPr>
        <p:spPr>
          <a:xfrm>
            <a:off x="3447288" y="3017520"/>
            <a:ext cx="0" cy="365760"/>
          </a:xfrm>
          <a:prstGeom prst="line">
            <a:avLst/>
          </a:prstGeom>
          <a:noFill/>
          <a:ln w="12700">
            <a:solidFill>
              <a:srgbClr val="7D8AA0"/>
            </a:solidFill>
            <a:prstDash val="solid"/>
          </a:ln>
        </p:spPr>
      </p:sp>
      <p:sp>
        <p:nvSpPr>
          <p:cNvPr id="36" name="Shape 34"/>
          <p:cNvSpPr/>
          <p:nvPr/>
        </p:nvSpPr>
        <p:spPr>
          <a:xfrm>
            <a:off x="960120" y="3383280"/>
            <a:ext cx="310896" cy="0"/>
          </a:xfrm>
          <a:prstGeom prst="line">
            <a:avLst/>
          </a:prstGeom>
          <a:noFill/>
          <a:ln w="12700">
            <a:solidFill>
              <a:srgbClr val="7D8AA0"/>
            </a:solidFill>
            <a:prstDash val="solid"/>
          </a:ln>
        </p:spPr>
      </p:sp>
      <p:sp>
        <p:nvSpPr>
          <p:cNvPr id="37" name="Shape 35"/>
          <p:cNvSpPr/>
          <p:nvPr/>
        </p:nvSpPr>
        <p:spPr>
          <a:xfrm>
            <a:off x="1271016" y="3383280"/>
            <a:ext cx="310896" cy="0"/>
          </a:xfrm>
          <a:prstGeom prst="line">
            <a:avLst/>
          </a:prstGeom>
          <a:noFill/>
          <a:ln w="12700">
            <a:solidFill>
              <a:srgbClr val="7D8AA0"/>
            </a:solidFill>
            <a:prstDash val="solid"/>
          </a:ln>
        </p:spPr>
      </p:sp>
      <p:sp>
        <p:nvSpPr>
          <p:cNvPr id="38" name="Shape 36"/>
          <p:cNvSpPr/>
          <p:nvPr/>
        </p:nvSpPr>
        <p:spPr>
          <a:xfrm>
            <a:off x="1581912" y="3383280"/>
            <a:ext cx="310896" cy="0"/>
          </a:xfrm>
          <a:prstGeom prst="line">
            <a:avLst/>
          </a:prstGeom>
          <a:noFill/>
          <a:ln w="12700">
            <a:solidFill>
              <a:srgbClr val="7D8AA0"/>
            </a:solidFill>
            <a:prstDash val="solid"/>
          </a:ln>
        </p:spPr>
      </p:sp>
      <p:sp>
        <p:nvSpPr>
          <p:cNvPr id="39" name="Shape 37"/>
          <p:cNvSpPr/>
          <p:nvPr/>
        </p:nvSpPr>
        <p:spPr>
          <a:xfrm>
            <a:off x="1892808" y="3383280"/>
            <a:ext cx="310896" cy="0"/>
          </a:xfrm>
          <a:prstGeom prst="line">
            <a:avLst/>
          </a:prstGeom>
          <a:noFill/>
          <a:ln w="12700">
            <a:solidFill>
              <a:srgbClr val="7D8AA0"/>
            </a:solidFill>
            <a:prstDash val="solid"/>
          </a:ln>
        </p:spPr>
      </p:sp>
      <p:sp>
        <p:nvSpPr>
          <p:cNvPr id="40" name="Shape 38"/>
          <p:cNvSpPr/>
          <p:nvPr/>
        </p:nvSpPr>
        <p:spPr>
          <a:xfrm>
            <a:off x="2203704" y="3383280"/>
            <a:ext cx="310896" cy="0"/>
          </a:xfrm>
          <a:prstGeom prst="line">
            <a:avLst/>
          </a:prstGeom>
          <a:noFill/>
          <a:ln w="12700">
            <a:solidFill>
              <a:srgbClr val="7D8AA0"/>
            </a:solidFill>
            <a:prstDash val="solid"/>
          </a:ln>
        </p:spPr>
      </p:sp>
      <p:sp>
        <p:nvSpPr>
          <p:cNvPr id="41" name="Shape 39"/>
          <p:cNvSpPr/>
          <p:nvPr/>
        </p:nvSpPr>
        <p:spPr>
          <a:xfrm>
            <a:off x="2514600" y="3383280"/>
            <a:ext cx="310896" cy="0"/>
          </a:xfrm>
          <a:prstGeom prst="line">
            <a:avLst/>
          </a:prstGeom>
          <a:noFill/>
          <a:ln w="12700">
            <a:solidFill>
              <a:srgbClr val="7D8AA0"/>
            </a:solidFill>
            <a:prstDash val="solid"/>
          </a:ln>
        </p:spPr>
      </p:sp>
      <p:sp>
        <p:nvSpPr>
          <p:cNvPr id="42" name="Shape 40"/>
          <p:cNvSpPr/>
          <p:nvPr/>
        </p:nvSpPr>
        <p:spPr>
          <a:xfrm>
            <a:off x="2825496" y="3383280"/>
            <a:ext cx="310896" cy="0"/>
          </a:xfrm>
          <a:prstGeom prst="line">
            <a:avLst/>
          </a:prstGeom>
          <a:noFill/>
          <a:ln w="12700">
            <a:solidFill>
              <a:srgbClr val="7D8AA0"/>
            </a:solidFill>
            <a:prstDash val="solid"/>
          </a:ln>
        </p:spPr>
      </p:sp>
      <p:sp>
        <p:nvSpPr>
          <p:cNvPr id="43" name="Shape 41"/>
          <p:cNvSpPr/>
          <p:nvPr/>
        </p:nvSpPr>
        <p:spPr>
          <a:xfrm>
            <a:off x="1271016" y="2377440"/>
            <a:ext cx="0" cy="274320"/>
          </a:xfrm>
          <a:prstGeom prst="line">
            <a:avLst/>
          </a:prstGeom>
          <a:noFill/>
          <a:ln w="12700">
            <a:solidFill>
              <a:srgbClr val="7D8AA0"/>
            </a:solidFill>
            <a:prstDash val="solid"/>
          </a:ln>
        </p:spPr>
      </p:sp>
      <p:sp>
        <p:nvSpPr>
          <p:cNvPr id="44" name="Shape 42"/>
          <p:cNvSpPr/>
          <p:nvPr/>
        </p:nvSpPr>
        <p:spPr>
          <a:xfrm>
            <a:off x="1229868" y="2336292"/>
            <a:ext cx="82296" cy="82296"/>
          </a:xfrm>
          <a:prstGeom prst="ellipse">
            <a:avLst/>
          </a:prstGeom>
          <a:solidFill>
            <a:srgbClr val="9AA6B6"/>
          </a:solidFill>
          <a:ln/>
        </p:spPr>
      </p:sp>
      <p:sp>
        <p:nvSpPr>
          <p:cNvPr id="45" name="Shape 43"/>
          <p:cNvSpPr/>
          <p:nvPr/>
        </p:nvSpPr>
        <p:spPr>
          <a:xfrm>
            <a:off x="2203704" y="2377440"/>
            <a:ext cx="0" cy="274320"/>
          </a:xfrm>
          <a:prstGeom prst="line">
            <a:avLst/>
          </a:prstGeom>
          <a:noFill/>
          <a:ln w="12700">
            <a:solidFill>
              <a:srgbClr val="7D8AA0"/>
            </a:solidFill>
            <a:prstDash val="solid"/>
          </a:ln>
        </p:spPr>
      </p:sp>
      <p:sp>
        <p:nvSpPr>
          <p:cNvPr id="46" name="Shape 44"/>
          <p:cNvSpPr/>
          <p:nvPr/>
        </p:nvSpPr>
        <p:spPr>
          <a:xfrm>
            <a:off x="2162556" y="2336292"/>
            <a:ext cx="82296" cy="82296"/>
          </a:xfrm>
          <a:prstGeom prst="ellipse">
            <a:avLst/>
          </a:prstGeom>
          <a:solidFill>
            <a:srgbClr val="9AA6B6"/>
          </a:solidFill>
          <a:ln/>
        </p:spPr>
      </p:sp>
      <p:sp>
        <p:nvSpPr>
          <p:cNvPr id="47" name="Shape 45"/>
          <p:cNvSpPr/>
          <p:nvPr/>
        </p:nvSpPr>
        <p:spPr>
          <a:xfrm>
            <a:off x="3136392" y="2377440"/>
            <a:ext cx="0" cy="274320"/>
          </a:xfrm>
          <a:prstGeom prst="line">
            <a:avLst/>
          </a:prstGeom>
          <a:noFill/>
          <a:ln w="12700">
            <a:solidFill>
              <a:srgbClr val="7D8AA0"/>
            </a:solidFill>
            <a:prstDash val="solid"/>
          </a:ln>
        </p:spPr>
      </p:sp>
      <p:sp>
        <p:nvSpPr>
          <p:cNvPr id="48" name="Shape 46"/>
          <p:cNvSpPr/>
          <p:nvPr/>
        </p:nvSpPr>
        <p:spPr>
          <a:xfrm>
            <a:off x="3095244" y="2336292"/>
            <a:ext cx="82296" cy="82296"/>
          </a:xfrm>
          <a:prstGeom prst="ellipse">
            <a:avLst/>
          </a:prstGeom>
          <a:solidFill>
            <a:srgbClr val="9AA6B6"/>
          </a:solidFill>
          <a:ln/>
        </p:spPr>
      </p:sp>
      <p:sp>
        <p:nvSpPr>
          <p:cNvPr id="49" name="Shape 47"/>
          <p:cNvSpPr/>
          <p:nvPr/>
        </p:nvSpPr>
        <p:spPr>
          <a:xfrm>
            <a:off x="1581912" y="3383280"/>
            <a:ext cx="0" cy="274320"/>
          </a:xfrm>
          <a:prstGeom prst="line">
            <a:avLst/>
          </a:prstGeom>
          <a:noFill/>
          <a:ln w="12700">
            <a:solidFill>
              <a:srgbClr val="7D8AA0"/>
            </a:solidFill>
            <a:prstDash val="solid"/>
          </a:ln>
        </p:spPr>
      </p:sp>
      <p:sp>
        <p:nvSpPr>
          <p:cNvPr id="50" name="Shape 48"/>
          <p:cNvSpPr/>
          <p:nvPr/>
        </p:nvSpPr>
        <p:spPr>
          <a:xfrm>
            <a:off x="1540764" y="3616452"/>
            <a:ext cx="82296" cy="82296"/>
          </a:xfrm>
          <a:prstGeom prst="ellipse">
            <a:avLst/>
          </a:prstGeom>
          <a:solidFill>
            <a:srgbClr val="9AA6B6"/>
          </a:solidFill>
          <a:ln/>
        </p:spPr>
      </p:sp>
      <p:sp>
        <p:nvSpPr>
          <p:cNvPr id="51" name="Shape 49"/>
          <p:cNvSpPr/>
          <p:nvPr/>
        </p:nvSpPr>
        <p:spPr>
          <a:xfrm>
            <a:off x="2514600" y="3383280"/>
            <a:ext cx="0" cy="274320"/>
          </a:xfrm>
          <a:prstGeom prst="line">
            <a:avLst/>
          </a:prstGeom>
          <a:noFill/>
          <a:ln w="12700">
            <a:solidFill>
              <a:srgbClr val="7D8AA0"/>
            </a:solidFill>
            <a:prstDash val="solid"/>
          </a:ln>
        </p:spPr>
      </p:sp>
      <p:sp>
        <p:nvSpPr>
          <p:cNvPr id="52" name="Shape 50"/>
          <p:cNvSpPr/>
          <p:nvPr/>
        </p:nvSpPr>
        <p:spPr>
          <a:xfrm>
            <a:off x="2473452" y="3616452"/>
            <a:ext cx="82296" cy="82296"/>
          </a:xfrm>
          <a:prstGeom prst="ellipse">
            <a:avLst/>
          </a:prstGeom>
          <a:solidFill>
            <a:srgbClr val="9AA6B6"/>
          </a:solidFill>
          <a:ln/>
        </p:spPr>
      </p:sp>
      <p:sp>
        <p:nvSpPr>
          <p:cNvPr id="53" name="Shape 51"/>
          <p:cNvSpPr/>
          <p:nvPr/>
        </p:nvSpPr>
        <p:spPr>
          <a:xfrm>
            <a:off x="3447288" y="3383280"/>
            <a:ext cx="0" cy="274320"/>
          </a:xfrm>
          <a:prstGeom prst="line">
            <a:avLst/>
          </a:prstGeom>
          <a:noFill/>
          <a:ln w="12700">
            <a:solidFill>
              <a:srgbClr val="7D8AA0"/>
            </a:solidFill>
            <a:prstDash val="solid"/>
          </a:ln>
        </p:spPr>
      </p:sp>
      <p:sp>
        <p:nvSpPr>
          <p:cNvPr id="54" name="Shape 52"/>
          <p:cNvSpPr/>
          <p:nvPr/>
        </p:nvSpPr>
        <p:spPr>
          <a:xfrm>
            <a:off x="3406140" y="3616452"/>
            <a:ext cx="82296" cy="82296"/>
          </a:xfrm>
          <a:prstGeom prst="ellipse">
            <a:avLst/>
          </a:prstGeom>
          <a:solidFill>
            <a:srgbClr val="9AA6B6"/>
          </a:solidFill>
          <a:ln/>
        </p:spPr>
      </p:sp>
      <p:sp>
        <p:nvSpPr>
          <p:cNvPr id="55" name="Shape 53"/>
          <p:cNvSpPr/>
          <p:nvPr/>
        </p:nvSpPr>
        <p:spPr>
          <a:xfrm>
            <a:off x="704088" y="3017520"/>
            <a:ext cx="256032" cy="0"/>
          </a:xfrm>
          <a:prstGeom prst="line">
            <a:avLst/>
          </a:prstGeom>
          <a:noFill/>
          <a:ln w="12700">
            <a:solidFill>
              <a:srgbClr val="7D8AA0"/>
            </a:solidFill>
            <a:prstDash val="solid"/>
          </a:ln>
        </p:spPr>
      </p:sp>
      <p:sp>
        <p:nvSpPr>
          <p:cNvPr id="56" name="Shape 54"/>
          <p:cNvSpPr/>
          <p:nvPr/>
        </p:nvSpPr>
        <p:spPr>
          <a:xfrm>
            <a:off x="662940" y="2976372"/>
            <a:ext cx="82296" cy="82296"/>
          </a:xfrm>
          <a:prstGeom prst="ellipse">
            <a:avLst/>
          </a:prstGeom>
          <a:solidFill>
            <a:srgbClr val="9AA6B6"/>
          </a:solidFill>
          <a:ln/>
        </p:spPr>
      </p:sp>
      <p:sp>
        <p:nvSpPr>
          <p:cNvPr id="57" name="Shape 55"/>
          <p:cNvSpPr/>
          <p:nvPr/>
        </p:nvSpPr>
        <p:spPr>
          <a:xfrm>
            <a:off x="3447288" y="3017520"/>
            <a:ext cx="256032" cy="0"/>
          </a:xfrm>
          <a:prstGeom prst="line">
            <a:avLst/>
          </a:prstGeom>
          <a:noFill/>
          <a:ln w="12700">
            <a:solidFill>
              <a:srgbClr val="7D8AA0"/>
            </a:solidFill>
            <a:prstDash val="solid"/>
          </a:ln>
        </p:spPr>
      </p:sp>
      <p:sp>
        <p:nvSpPr>
          <p:cNvPr id="58" name="Shape 56"/>
          <p:cNvSpPr/>
          <p:nvPr/>
        </p:nvSpPr>
        <p:spPr>
          <a:xfrm>
            <a:off x="3662172" y="2976372"/>
            <a:ext cx="82296" cy="82296"/>
          </a:xfrm>
          <a:prstGeom prst="ellipse">
            <a:avLst/>
          </a:prstGeom>
          <a:solidFill>
            <a:srgbClr val="9AA6B6"/>
          </a:solidFill>
          <a:ln/>
        </p:spPr>
      </p:sp>
      <p:sp>
        <p:nvSpPr>
          <p:cNvPr id="59" name="Shape 57"/>
          <p:cNvSpPr/>
          <p:nvPr/>
        </p:nvSpPr>
        <p:spPr>
          <a:xfrm>
            <a:off x="914400" y="2606040"/>
            <a:ext cx="91440" cy="91440"/>
          </a:xfrm>
          <a:prstGeom prst="ellipse">
            <a:avLst/>
          </a:prstGeom>
          <a:solidFill>
            <a:srgbClr val="E8ECF2"/>
          </a:solidFill>
          <a:ln/>
        </p:spPr>
      </p:sp>
      <p:sp>
        <p:nvSpPr>
          <p:cNvPr id="60" name="Shape 58"/>
          <p:cNvSpPr/>
          <p:nvPr/>
        </p:nvSpPr>
        <p:spPr>
          <a:xfrm>
            <a:off x="1225296" y="2606040"/>
            <a:ext cx="91440" cy="91440"/>
          </a:xfrm>
          <a:prstGeom prst="ellipse">
            <a:avLst/>
          </a:prstGeom>
          <a:solidFill>
            <a:srgbClr val="E8ECF2"/>
          </a:solidFill>
          <a:ln/>
        </p:spPr>
      </p:sp>
      <p:sp>
        <p:nvSpPr>
          <p:cNvPr id="61" name="Shape 59"/>
          <p:cNvSpPr/>
          <p:nvPr/>
        </p:nvSpPr>
        <p:spPr>
          <a:xfrm>
            <a:off x="1536192" y="2606040"/>
            <a:ext cx="91440" cy="91440"/>
          </a:xfrm>
          <a:prstGeom prst="ellipse">
            <a:avLst/>
          </a:prstGeom>
          <a:solidFill>
            <a:srgbClr val="E8ECF2"/>
          </a:solidFill>
          <a:ln/>
        </p:spPr>
      </p:sp>
      <p:sp>
        <p:nvSpPr>
          <p:cNvPr id="62" name="Shape 60"/>
          <p:cNvSpPr/>
          <p:nvPr/>
        </p:nvSpPr>
        <p:spPr>
          <a:xfrm>
            <a:off x="1847088" y="2606040"/>
            <a:ext cx="91440" cy="91440"/>
          </a:xfrm>
          <a:prstGeom prst="ellipse">
            <a:avLst/>
          </a:prstGeom>
          <a:solidFill>
            <a:srgbClr val="E8ECF2"/>
          </a:solidFill>
          <a:ln/>
        </p:spPr>
      </p:sp>
      <p:sp>
        <p:nvSpPr>
          <p:cNvPr id="63" name="Shape 61"/>
          <p:cNvSpPr/>
          <p:nvPr/>
        </p:nvSpPr>
        <p:spPr>
          <a:xfrm>
            <a:off x="2157984" y="2606040"/>
            <a:ext cx="91440" cy="91440"/>
          </a:xfrm>
          <a:prstGeom prst="ellipse">
            <a:avLst/>
          </a:prstGeom>
          <a:solidFill>
            <a:srgbClr val="E8ECF2"/>
          </a:solidFill>
          <a:ln/>
        </p:spPr>
      </p:sp>
      <p:sp>
        <p:nvSpPr>
          <p:cNvPr id="64" name="Shape 62"/>
          <p:cNvSpPr/>
          <p:nvPr/>
        </p:nvSpPr>
        <p:spPr>
          <a:xfrm>
            <a:off x="2468880" y="2606040"/>
            <a:ext cx="91440" cy="91440"/>
          </a:xfrm>
          <a:prstGeom prst="ellipse">
            <a:avLst/>
          </a:prstGeom>
          <a:solidFill>
            <a:srgbClr val="E8ECF2"/>
          </a:solidFill>
          <a:ln/>
        </p:spPr>
      </p:sp>
      <p:sp>
        <p:nvSpPr>
          <p:cNvPr id="65" name="Shape 63"/>
          <p:cNvSpPr/>
          <p:nvPr/>
        </p:nvSpPr>
        <p:spPr>
          <a:xfrm>
            <a:off x="2779776" y="2606040"/>
            <a:ext cx="91440" cy="91440"/>
          </a:xfrm>
          <a:prstGeom prst="ellipse">
            <a:avLst/>
          </a:prstGeom>
          <a:solidFill>
            <a:srgbClr val="E8ECF2"/>
          </a:solidFill>
          <a:ln/>
        </p:spPr>
      </p:sp>
      <p:sp>
        <p:nvSpPr>
          <p:cNvPr id="66" name="Shape 64"/>
          <p:cNvSpPr/>
          <p:nvPr/>
        </p:nvSpPr>
        <p:spPr>
          <a:xfrm>
            <a:off x="3090672" y="2606040"/>
            <a:ext cx="91440" cy="91440"/>
          </a:xfrm>
          <a:prstGeom prst="ellipse">
            <a:avLst/>
          </a:prstGeom>
          <a:solidFill>
            <a:srgbClr val="E8ECF2"/>
          </a:solidFill>
          <a:ln/>
        </p:spPr>
      </p:sp>
      <p:sp>
        <p:nvSpPr>
          <p:cNvPr id="67" name="Shape 65"/>
          <p:cNvSpPr/>
          <p:nvPr/>
        </p:nvSpPr>
        <p:spPr>
          <a:xfrm>
            <a:off x="3401568" y="2606040"/>
            <a:ext cx="91440" cy="91440"/>
          </a:xfrm>
          <a:prstGeom prst="ellipse">
            <a:avLst/>
          </a:prstGeom>
          <a:solidFill>
            <a:srgbClr val="E8ECF2"/>
          </a:solidFill>
          <a:ln/>
        </p:spPr>
      </p:sp>
      <p:sp>
        <p:nvSpPr>
          <p:cNvPr id="68" name="Shape 66"/>
          <p:cNvSpPr/>
          <p:nvPr/>
        </p:nvSpPr>
        <p:spPr>
          <a:xfrm>
            <a:off x="914400" y="2971800"/>
            <a:ext cx="91440" cy="91440"/>
          </a:xfrm>
          <a:prstGeom prst="ellipse">
            <a:avLst/>
          </a:prstGeom>
          <a:solidFill>
            <a:srgbClr val="E8ECF2"/>
          </a:solidFill>
          <a:ln/>
        </p:spPr>
      </p:sp>
      <p:sp>
        <p:nvSpPr>
          <p:cNvPr id="69" name="Shape 67"/>
          <p:cNvSpPr/>
          <p:nvPr/>
        </p:nvSpPr>
        <p:spPr>
          <a:xfrm>
            <a:off x="1225296" y="2971800"/>
            <a:ext cx="91440" cy="91440"/>
          </a:xfrm>
          <a:prstGeom prst="ellipse">
            <a:avLst/>
          </a:prstGeom>
          <a:solidFill>
            <a:srgbClr val="E8ECF2"/>
          </a:solidFill>
          <a:ln/>
        </p:spPr>
      </p:sp>
      <p:sp>
        <p:nvSpPr>
          <p:cNvPr id="70" name="Shape 68"/>
          <p:cNvSpPr/>
          <p:nvPr/>
        </p:nvSpPr>
        <p:spPr>
          <a:xfrm>
            <a:off x="1536192" y="2971800"/>
            <a:ext cx="91440" cy="91440"/>
          </a:xfrm>
          <a:prstGeom prst="ellipse">
            <a:avLst/>
          </a:prstGeom>
          <a:solidFill>
            <a:srgbClr val="E8ECF2"/>
          </a:solidFill>
          <a:ln/>
        </p:spPr>
      </p:sp>
      <p:sp>
        <p:nvSpPr>
          <p:cNvPr id="71" name="Shape 69"/>
          <p:cNvSpPr/>
          <p:nvPr/>
        </p:nvSpPr>
        <p:spPr>
          <a:xfrm>
            <a:off x="1847088" y="2971800"/>
            <a:ext cx="91440" cy="91440"/>
          </a:xfrm>
          <a:prstGeom prst="ellipse">
            <a:avLst/>
          </a:prstGeom>
          <a:solidFill>
            <a:srgbClr val="E8ECF2"/>
          </a:solidFill>
          <a:ln/>
        </p:spPr>
      </p:sp>
      <p:sp>
        <p:nvSpPr>
          <p:cNvPr id="72" name="Shape 70"/>
          <p:cNvSpPr/>
          <p:nvPr/>
        </p:nvSpPr>
        <p:spPr>
          <a:xfrm>
            <a:off x="2157984" y="2971800"/>
            <a:ext cx="91440" cy="91440"/>
          </a:xfrm>
          <a:prstGeom prst="ellipse">
            <a:avLst/>
          </a:prstGeom>
          <a:solidFill>
            <a:srgbClr val="E8ECF2"/>
          </a:solidFill>
          <a:ln/>
        </p:spPr>
      </p:sp>
      <p:sp>
        <p:nvSpPr>
          <p:cNvPr id="73" name="Shape 71"/>
          <p:cNvSpPr/>
          <p:nvPr/>
        </p:nvSpPr>
        <p:spPr>
          <a:xfrm>
            <a:off x="2468880" y="2971800"/>
            <a:ext cx="91440" cy="91440"/>
          </a:xfrm>
          <a:prstGeom prst="ellipse">
            <a:avLst/>
          </a:prstGeom>
          <a:solidFill>
            <a:srgbClr val="E8ECF2"/>
          </a:solidFill>
          <a:ln/>
        </p:spPr>
      </p:sp>
      <p:sp>
        <p:nvSpPr>
          <p:cNvPr id="74" name="Shape 72"/>
          <p:cNvSpPr/>
          <p:nvPr/>
        </p:nvSpPr>
        <p:spPr>
          <a:xfrm>
            <a:off x="2779776" y="2971800"/>
            <a:ext cx="91440" cy="91440"/>
          </a:xfrm>
          <a:prstGeom prst="ellipse">
            <a:avLst/>
          </a:prstGeom>
          <a:solidFill>
            <a:srgbClr val="E8ECF2"/>
          </a:solidFill>
          <a:ln/>
        </p:spPr>
      </p:sp>
      <p:sp>
        <p:nvSpPr>
          <p:cNvPr id="75" name="Shape 73"/>
          <p:cNvSpPr/>
          <p:nvPr/>
        </p:nvSpPr>
        <p:spPr>
          <a:xfrm>
            <a:off x="3090672" y="2971800"/>
            <a:ext cx="91440" cy="91440"/>
          </a:xfrm>
          <a:prstGeom prst="ellipse">
            <a:avLst/>
          </a:prstGeom>
          <a:solidFill>
            <a:srgbClr val="E8ECF2"/>
          </a:solidFill>
          <a:ln/>
        </p:spPr>
      </p:sp>
      <p:sp>
        <p:nvSpPr>
          <p:cNvPr id="76" name="Shape 74"/>
          <p:cNvSpPr/>
          <p:nvPr/>
        </p:nvSpPr>
        <p:spPr>
          <a:xfrm>
            <a:off x="3401568" y="2971800"/>
            <a:ext cx="91440" cy="91440"/>
          </a:xfrm>
          <a:prstGeom prst="ellipse">
            <a:avLst/>
          </a:prstGeom>
          <a:solidFill>
            <a:srgbClr val="E8ECF2"/>
          </a:solidFill>
          <a:ln/>
        </p:spPr>
      </p:sp>
      <p:sp>
        <p:nvSpPr>
          <p:cNvPr id="77" name="Shape 75"/>
          <p:cNvSpPr/>
          <p:nvPr/>
        </p:nvSpPr>
        <p:spPr>
          <a:xfrm>
            <a:off x="914400" y="3337560"/>
            <a:ext cx="91440" cy="91440"/>
          </a:xfrm>
          <a:prstGeom prst="ellipse">
            <a:avLst/>
          </a:prstGeom>
          <a:solidFill>
            <a:srgbClr val="E8ECF2"/>
          </a:solidFill>
          <a:ln/>
        </p:spPr>
      </p:sp>
      <p:sp>
        <p:nvSpPr>
          <p:cNvPr id="78" name="Shape 76"/>
          <p:cNvSpPr/>
          <p:nvPr/>
        </p:nvSpPr>
        <p:spPr>
          <a:xfrm>
            <a:off x="1225296" y="3337560"/>
            <a:ext cx="91440" cy="91440"/>
          </a:xfrm>
          <a:prstGeom prst="ellipse">
            <a:avLst/>
          </a:prstGeom>
          <a:solidFill>
            <a:srgbClr val="E8ECF2"/>
          </a:solidFill>
          <a:ln/>
        </p:spPr>
      </p:sp>
      <p:sp>
        <p:nvSpPr>
          <p:cNvPr id="79" name="Shape 77"/>
          <p:cNvSpPr/>
          <p:nvPr/>
        </p:nvSpPr>
        <p:spPr>
          <a:xfrm>
            <a:off x="1536192" y="3337560"/>
            <a:ext cx="91440" cy="91440"/>
          </a:xfrm>
          <a:prstGeom prst="ellipse">
            <a:avLst/>
          </a:prstGeom>
          <a:solidFill>
            <a:srgbClr val="E8ECF2"/>
          </a:solidFill>
          <a:ln/>
        </p:spPr>
      </p:sp>
      <p:sp>
        <p:nvSpPr>
          <p:cNvPr id="80" name="Shape 78"/>
          <p:cNvSpPr/>
          <p:nvPr/>
        </p:nvSpPr>
        <p:spPr>
          <a:xfrm>
            <a:off x="1847088" y="3337560"/>
            <a:ext cx="91440" cy="91440"/>
          </a:xfrm>
          <a:prstGeom prst="ellipse">
            <a:avLst/>
          </a:prstGeom>
          <a:solidFill>
            <a:srgbClr val="E8ECF2"/>
          </a:solidFill>
          <a:ln/>
        </p:spPr>
      </p:sp>
      <p:sp>
        <p:nvSpPr>
          <p:cNvPr id="81" name="Shape 79"/>
          <p:cNvSpPr/>
          <p:nvPr/>
        </p:nvSpPr>
        <p:spPr>
          <a:xfrm>
            <a:off x="2157984" y="3337560"/>
            <a:ext cx="91440" cy="91440"/>
          </a:xfrm>
          <a:prstGeom prst="ellipse">
            <a:avLst/>
          </a:prstGeom>
          <a:solidFill>
            <a:srgbClr val="E8ECF2"/>
          </a:solidFill>
          <a:ln/>
        </p:spPr>
      </p:sp>
      <p:sp>
        <p:nvSpPr>
          <p:cNvPr id="82" name="Shape 80"/>
          <p:cNvSpPr/>
          <p:nvPr/>
        </p:nvSpPr>
        <p:spPr>
          <a:xfrm>
            <a:off x="2468880" y="3337560"/>
            <a:ext cx="91440" cy="91440"/>
          </a:xfrm>
          <a:prstGeom prst="ellipse">
            <a:avLst/>
          </a:prstGeom>
          <a:solidFill>
            <a:srgbClr val="E8ECF2"/>
          </a:solidFill>
          <a:ln/>
        </p:spPr>
      </p:sp>
      <p:sp>
        <p:nvSpPr>
          <p:cNvPr id="83" name="Shape 81"/>
          <p:cNvSpPr/>
          <p:nvPr/>
        </p:nvSpPr>
        <p:spPr>
          <a:xfrm>
            <a:off x="2779776" y="3337560"/>
            <a:ext cx="91440" cy="91440"/>
          </a:xfrm>
          <a:prstGeom prst="ellipse">
            <a:avLst/>
          </a:prstGeom>
          <a:solidFill>
            <a:srgbClr val="E8ECF2"/>
          </a:solidFill>
          <a:ln/>
        </p:spPr>
      </p:sp>
      <p:sp>
        <p:nvSpPr>
          <p:cNvPr id="84" name="Shape 82"/>
          <p:cNvSpPr/>
          <p:nvPr/>
        </p:nvSpPr>
        <p:spPr>
          <a:xfrm>
            <a:off x="3090672" y="3337560"/>
            <a:ext cx="91440" cy="91440"/>
          </a:xfrm>
          <a:prstGeom prst="ellipse">
            <a:avLst/>
          </a:prstGeom>
          <a:solidFill>
            <a:srgbClr val="E8ECF2"/>
          </a:solidFill>
          <a:ln/>
        </p:spPr>
      </p:sp>
      <p:sp>
        <p:nvSpPr>
          <p:cNvPr id="85" name="Shape 83"/>
          <p:cNvSpPr/>
          <p:nvPr/>
        </p:nvSpPr>
        <p:spPr>
          <a:xfrm>
            <a:off x="3401568" y="3337560"/>
            <a:ext cx="91440" cy="91440"/>
          </a:xfrm>
          <a:prstGeom prst="ellipse">
            <a:avLst/>
          </a:prstGeom>
          <a:solidFill>
            <a:srgbClr val="E8ECF2"/>
          </a:solidFill>
          <a:ln/>
        </p:spPr>
      </p:sp>
      <p:sp>
        <p:nvSpPr>
          <p:cNvPr id="86" name="Shape 84"/>
          <p:cNvSpPr/>
          <p:nvPr/>
        </p:nvSpPr>
        <p:spPr>
          <a:xfrm flipV="1">
            <a:off x="5497523" y="2542736"/>
            <a:ext cx="1120754" cy="0"/>
          </a:xfrm>
          <a:prstGeom prst="line">
            <a:avLst/>
          </a:prstGeom>
          <a:noFill/>
          <a:ln w="11430">
            <a:solidFill>
              <a:srgbClr val="7D8AA0"/>
            </a:solidFill>
            <a:prstDash val="solid"/>
          </a:ln>
        </p:spPr>
      </p:sp>
      <p:sp>
        <p:nvSpPr>
          <p:cNvPr id="87" name="Shape 85"/>
          <p:cNvSpPr/>
          <p:nvPr/>
        </p:nvSpPr>
        <p:spPr>
          <a:xfrm flipV="1">
            <a:off x="5930873" y="3263143"/>
            <a:ext cx="814431" cy="470212"/>
          </a:xfrm>
          <a:prstGeom prst="line">
            <a:avLst/>
          </a:prstGeom>
          <a:noFill/>
          <a:ln w="11430">
            <a:solidFill>
              <a:srgbClr val="7D8AA0"/>
            </a:solidFill>
            <a:prstDash val="solid"/>
          </a:ln>
        </p:spPr>
      </p:sp>
      <p:sp>
        <p:nvSpPr>
          <p:cNvPr id="88" name="Shape 86"/>
          <p:cNvSpPr/>
          <p:nvPr/>
        </p:nvSpPr>
        <p:spPr>
          <a:xfrm>
            <a:off x="5930873" y="2292541"/>
            <a:ext cx="254054" cy="1440813"/>
          </a:xfrm>
          <a:prstGeom prst="line">
            <a:avLst/>
          </a:prstGeom>
          <a:noFill/>
          <a:ln w="11430">
            <a:solidFill>
              <a:srgbClr val="7D8AA0"/>
            </a:solidFill>
            <a:prstDash val="solid"/>
          </a:ln>
        </p:spPr>
      </p:sp>
      <p:sp>
        <p:nvSpPr>
          <p:cNvPr id="89" name="Shape 87"/>
          <p:cNvSpPr/>
          <p:nvPr/>
        </p:nvSpPr>
        <p:spPr>
          <a:xfrm flipV="1">
            <a:off x="5930873" y="3646463"/>
            <a:ext cx="492787" cy="86892"/>
          </a:xfrm>
          <a:prstGeom prst="line">
            <a:avLst/>
          </a:prstGeom>
          <a:noFill/>
          <a:ln w="11430">
            <a:solidFill>
              <a:srgbClr val="7D8AA0"/>
            </a:solidFill>
            <a:prstDash val="solid"/>
          </a:ln>
        </p:spPr>
      </p:sp>
      <p:sp>
        <p:nvSpPr>
          <p:cNvPr id="90" name="Shape 88"/>
          <p:cNvSpPr/>
          <p:nvPr/>
        </p:nvSpPr>
        <p:spPr>
          <a:xfrm flipV="1">
            <a:off x="5692140" y="2292541"/>
            <a:ext cx="492787" cy="1353921"/>
          </a:xfrm>
          <a:prstGeom prst="line">
            <a:avLst/>
          </a:prstGeom>
          <a:noFill/>
          <a:ln w="11430">
            <a:solidFill>
              <a:srgbClr val="7D8AA0"/>
            </a:solidFill>
            <a:prstDash val="solid"/>
          </a:ln>
        </p:spPr>
      </p:sp>
      <p:sp>
        <p:nvSpPr>
          <p:cNvPr id="91" name="Shape 89"/>
          <p:cNvSpPr/>
          <p:nvPr/>
        </p:nvSpPr>
        <p:spPr>
          <a:xfrm flipV="1">
            <a:off x="5497523" y="2379433"/>
            <a:ext cx="926137" cy="163303"/>
          </a:xfrm>
          <a:prstGeom prst="line">
            <a:avLst/>
          </a:prstGeom>
          <a:noFill/>
          <a:ln w="11430">
            <a:solidFill>
              <a:srgbClr val="7D8AA0"/>
            </a:solidFill>
            <a:prstDash val="solid"/>
          </a:ln>
        </p:spPr>
      </p:sp>
      <p:sp>
        <p:nvSpPr>
          <p:cNvPr id="92" name="Shape 90"/>
          <p:cNvSpPr/>
          <p:nvPr/>
        </p:nvSpPr>
        <p:spPr>
          <a:xfrm flipV="1">
            <a:off x="5326380" y="2762753"/>
            <a:ext cx="1418924" cy="250195"/>
          </a:xfrm>
          <a:prstGeom prst="line">
            <a:avLst/>
          </a:prstGeom>
          <a:noFill/>
          <a:ln w="11430">
            <a:solidFill>
              <a:srgbClr val="7D8AA0"/>
            </a:solidFill>
            <a:prstDash val="solid"/>
          </a:ln>
        </p:spPr>
      </p:sp>
      <p:sp>
        <p:nvSpPr>
          <p:cNvPr id="93" name="Shape 91"/>
          <p:cNvSpPr/>
          <p:nvPr/>
        </p:nvSpPr>
        <p:spPr>
          <a:xfrm>
            <a:off x="5370496" y="3263143"/>
            <a:ext cx="560377" cy="470212"/>
          </a:xfrm>
          <a:prstGeom prst="line">
            <a:avLst/>
          </a:prstGeom>
          <a:noFill/>
          <a:ln w="11430">
            <a:solidFill>
              <a:srgbClr val="7D8AA0"/>
            </a:solidFill>
            <a:prstDash val="solid"/>
          </a:ln>
        </p:spPr>
      </p:sp>
      <p:sp>
        <p:nvSpPr>
          <p:cNvPr id="94" name="Shape 92"/>
          <p:cNvSpPr/>
          <p:nvPr/>
        </p:nvSpPr>
        <p:spPr>
          <a:xfrm>
            <a:off x="5370496" y="2762753"/>
            <a:ext cx="0" cy="500389"/>
          </a:xfrm>
          <a:prstGeom prst="line">
            <a:avLst/>
          </a:prstGeom>
          <a:noFill/>
          <a:ln w="11430">
            <a:solidFill>
              <a:srgbClr val="7D8AA0"/>
            </a:solidFill>
            <a:prstDash val="solid"/>
          </a:ln>
        </p:spPr>
      </p:sp>
      <p:sp>
        <p:nvSpPr>
          <p:cNvPr id="95" name="Shape 93"/>
          <p:cNvSpPr/>
          <p:nvPr/>
        </p:nvSpPr>
        <p:spPr>
          <a:xfrm>
            <a:off x="6184927" y="2292541"/>
            <a:ext cx="0" cy="1440813"/>
          </a:xfrm>
          <a:prstGeom prst="line">
            <a:avLst/>
          </a:prstGeom>
          <a:noFill/>
          <a:ln w="11430">
            <a:solidFill>
              <a:srgbClr val="7D8AA0"/>
            </a:solidFill>
            <a:prstDash val="solid"/>
          </a:ln>
        </p:spPr>
      </p:sp>
      <p:sp>
        <p:nvSpPr>
          <p:cNvPr id="96" name="Shape 94"/>
          <p:cNvSpPr/>
          <p:nvPr/>
        </p:nvSpPr>
        <p:spPr>
          <a:xfrm>
            <a:off x="6184927" y="2292541"/>
            <a:ext cx="433350" cy="1190619"/>
          </a:xfrm>
          <a:prstGeom prst="line">
            <a:avLst/>
          </a:prstGeom>
          <a:noFill/>
          <a:ln w="11430">
            <a:solidFill>
              <a:srgbClr val="7D8AA0"/>
            </a:solidFill>
            <a:prstDash val="solid"/>
          </a:ln>
        </p:spPr>
      </p:sp>
      <p:sp>
        <p:nvSpPr>
          <p:cNvPr id="97" name="Shape 95"/>
          <p:cNvSpPr/>
          <p:nvPr/>
        </p:nvSpPr>
        <p:spPr>
          <a:xfrm flipV="1">
            <a:off x="5930873" y="3012948"/>
            <a:ext cx="858547" cy="720407"/>
          </a:xfrm>
          <a:prstGeom prst="line">
            <a:avLst/>
          </a:prstGeom>
          <a:noFill/>
          <a:ln w="11430">
            <a:solidFill>
              <a:srgbClr val="7D8AA0"/>
            </a:solidFill>
            <a:prstDash val="solid"/>
          </a:ln>
        </p:spPr>
      </p:sp>
      <p:sp>
        <p:nvSpPr>
          <p:cNvPr id="98" name="Shape 96"/>
          <p:cNvSpPr/>
          <p:nvPr/>
        </p:nvSpPr>
        <p:spPr>
          <a:xfrm>
            <a:off x="5326380" y="3012948"/>
            <a:ext cx="171143" cy="470212"/>
          </a:xfrm>
          <a:prstGeom prst="line">
            <a:avLst/>
          </a:prstGeom>
          <a:noFill/>
          <a:ln w="11430">
            <a:solidFill>
              <a:srgbClr val="7D8AA0"/>
            </a:solidFill>
            <a:prstDash val="solid"/>
          </a:ln>
        </p:spPr>
      </p:sp>
      <p:sp>
        <p:nvSpPr>
          <p:cNvPr id="99" name="Shape 97"/>
          <p:cNvSpPr/>
          <p:nvPr/>
        </p:nvSpPr>
        <p:spPr>
          <a:xfrm flipV="1">
            <a:off x="5370496" y="2542736"/>
            <a:ext cx="127027" cy="220017"/>
          </a:xfrm>
          <a:prstGeom prst="line">
            <a:avLst/>
          </a:prstGeom>
          <a:noFill/>
          <a:ln w="11430">
            <a:solidFill>
              <a:srgbClr val="7D8AA0"/>
            </a:solidFill>
            <a:prstDash val="solid"/>
          </a:ln>
        </p:spPr>
      </p:sp>
      <p:sp>
        <p:nvSpPr>
          <p:cNvPr id="100" name="Shape 98"/>
          <p:cNvSpPr/>
          <p:nvPr/>
        </p:nvSpPr>
        <p:spPr>
          <a:xfrm flipV="1">
            <a:off x="5692140" y="2292541"/>
            <a:ext cx="238733" cy="1353921"/>
          </a:xfrm>
          <a:prstGeom prst="line">
            <a:avLst/>
          </a:prstGeom>
          <a:noFill/>
          <a:ln w="11430">
            <a:solidFill>
              <a:srgbClr val="7D8AA0"/>
            </a:solidFill>
            <a:prstDash val="solid"/>
          </a:ln>
        </p:spPr>
      </p:sp>
      <p:sp>
        <p:nvSpPr>
          <p:cNvPr id="101" name="Shape 99"/>
          <p:cNvSpPr/>
          <p:nvPr/>
        </p:nvSpPr>
        <p:spPr>
          <a:xfrm>
            <a:off x="6423660" y="2379433"/>
            <a:ext cx="365760" cy="633515"/>
          </a:xfrm>
          <a:prstGeom prst="line">
            <a:avLst/>
          </a:prstGeom>
          <a:noFill/>
          <a:ln w="11430">
            <a:solidFill>
              <a:srgbClr val="7D8AA0"/>
            </a:solidFill>
            <a:prstDash val="solid"/>
          </a:ln>
        </p:spPr>
      </p:sp>
      <p:sp>
        <p:nvSpPr>
          <p:cNvPr id="102" name="Shape 100"/>
          <p:cNvSpPr/>
          <p:nvPr/>
        </p:nvSpPr>
        <p:spPr>
          <a:xfrm flipV="1">
            <a:off x="5497523" y="3263143"/>
            <a:ext cx="1247781" cy="220017"/>
          </a:xfrm>
          <a:prstGeom prst="line">
            <a:avLst/>
          </a:prstGeom>
          <a:noFill/>
          <a:ln w="11430">
            <a:solidFill>
              <a:srgbClr val="7D8AA0"/>
            </a:solidFill>
            <a:prstDash val="solid"/>
          </a:ln>
        </p:spPr>
      </p:sp>
      <p:sp>
        <p:nvSpPr>
          <p:cNvPr id="103" name="Shape 101"/>
          <p:cNvSpPr/>
          <p:nvPr/>
        </p:nvSpPr>
        <p:spPr>
          <a:xfrm>
            <a:off x="6423660" y="2379433"/>
            <a:ext cx="321644" cy="883709"/>
          </a:xfrm>
          <a:prstGeom prst="line">
            <a:avLst/>
          </a:prstGeom>
          <a:noFill/>
          <a:ln w="11430">
            <a:solidFill>
              <a:srgbClr val="7D8AA0"/>
            </a:solidFill>
            <a:prstDash val="solid"/>
          </a:ln>
        </p:spPr>
      </p:sp>
      <p:sp>
        <p:nvSpPr>
          <p:cNvPr id="104" name="Shape 102"/>
          <p:cNvSpPr/>
          <p:nvPr/>
        </p:nvSpPr>
        <p:spPr>
          <a:xfrm flipV="1">
            <a:off x="5497523" y="2292541"/>
            <a:ext cx="687404" cy="250195"/>
          </a:xfrm>
          <a:prstGeom prst="line">
            <a:avLst/>
          </a:prstGeom>
          <a:noFill/>
          <a:ln w="11430">
            <a:solidFill>
              <a:srgbClr val="7D8AA0"/>
            </a:solidFill>
            <a:prstDash val="solid"/>
          </a:ln>
        </p:spPr>
      </p:sp>
      <p:sp>
        <p:nvSpPr>
          <p:cNvPr id="105" name="Shape 103"/>
          <p:cNvSpPr/>
          <p:nvPr/>
        </p:nvSpPr>
        <p:spPr>
          <a:xfrm flipV="1">
            <a:off x="5692140" y="2379433"/>
            <a:ext cx="731520" cy="1267030"/>
          </a:xfrm>
          <a:prstGeom prst="line">
            <a:avLst/>
          </a:prstGeom>
          <a:noFill/>
          <a:ln w="11430">
            <a:solidFill>
              <a:srgbClr val="7D8AA0"/>
            </a:solidFill>
            <a:prstDash val="solid"/>
          </a:ln>
        </p:spPr>
      </p:sp>
      <p:sp>
        <p:nvSpPr>
          <p:cNvPr id="106" name="Shape 104"/>
          <p:cNvSpPr/>
          <p:nvPr/>
        </p:nvSpPr>
        <p:spPr>
          <a:xfrm>
            <a:off x="5930873" y="2292541"/>
            <a:ext cx="254054" cy="0"/>
          </a:xfrm>
          <a:prstGeom prst="line">
            <a:avLst/>
          </a:prstGeom>
          <a:noFill/>
          <a:ln w="11430">
            <a:solidFill>
              <a:srgbClr val="7D8AA0"/>
            </a:solidFill>
            <a:prstDash val="solid"/>
          </a:ln>
        </p:spPr>
      </p:sp>
      <p:sp>
        <p:nvSpPr>
          <p:cNvPr id="107" name="Shape 105"/>
          <p:cNvSpPr/>
          <p:nvPr/>
        </p:nvSpPr>
        <p:spPr>
          <a:xfrm flipV="1">
            <a:off x="5370496" y="2379433"/>
            <a:ext cx="321644" cy="383320"/>
          </a:xfrm>
          <a:prstGeom prst="line">
            <a:avLst/>
          </a:prstGeom>
          <a:noFill/>
          <a:ln w="11430">
            <a:solidFill>
              <a:srgbClr val="7D8AA0"/>
            </a:solidFill>
            <a:prstDash val="solid"/>
          </a:ln>
        </p:spPr>
      </p:sp>
      <p:sp>
        <p:nvSpPr>
          <p:cNvPr id="108" name="Shape 106"/>
          <p:cNvSpPr/>
          <p:nvPr/>
        </p:nvSpPr>
        <p:spPr>
          <a:xfrm flipV="1">
            <a:off x="5930873" y="2379433"/>
            <a:ext cx="492787" cy="1353921"/>
          </a:xfrm>
          <a:prstGeom prst="line">
            <a:avLst/>
          </a:prstGeom>
          <a:noFill/>
          <a:ln w="11430">
            <a:solidFill>
              <a:srgbClr val="7D8AA0"/>
            </a:solidFill>
            <a:prstDash val="solid"/>
          </a:ln>
        </p:spPr>
      </p:sp>
      <p:sp>
        <p:nvSpPr>
          <p:cNvPr id="109" name="Shape 107"/>
          <p:cNvSpPr/>
          <p:nvPr/>
        </p:nvSpPr>
        <p:spPr>
          <a:xfrm>
            <a:off x="5930873" y="2292541"/>
            <a:ext cx="254054" cy="0"/>
          </a:xfrm>
          <a:prstGeom prst="line">
            <a:avLst/>
          </a:prstGeom>
          <a:noFill/>
          <a:ln w="11430">
            <a:solidFill>
              <a:srgbClr val="7D8AA0"/>
            </a:solidFill>
            <a:prstDash val="solid"/>
          </a:ln>
        </p:spPr>
      </p:sp>
      <p:sp>
        <p:nvSpPr>
          <p:cNvPr id="110" name="Shape 108"/>
          <p:cNvSpPr/>
          <p:nvPr/>
        </p:nvSpPr>
        <p:spPr>
          <a:xfrm flipV="1">
            <a:off x="5370496" y="2542736"/>
            <a:ext cx="127027" cy="720407"/>
          </a:xfrm>
          <a:prstGeom prst="line">
            <a:avLst/>
          </a:prstGeom>
          <a:noFill/>
          <a:ln w="11430">
            <a:solidFill>
              <a:srgbClr val="7D8AA0"/>
            </a:solidFill>
            <a:prstDash val="solid"/>
          </a:ln>
        </p:spPr>
      </p:sp>
      <p:sp>
        <p:nvSpPr>
          <p:cNvPr id="111" name="Shape 109"/>
          <p:cNvSpPr/>
          <p:nvPr/>
        </p:nvSpPr>
        <p:spPr>
          <a:xfrm>
            <a:off x="5930873" y="2292541"/>
            <a:ext cx="0" cy="1440813"/>
          </a:xfrm>
          <a:prstGeom prst="line">
            <a:avLst/>
          </a:prstGeom>
          <a:noFill/>
          <a:ln w="11430">
            <a:solidFill>
              <a:srgbClr val="7D8AA0"/>
            </a:solidFill>
            <a:prstDash val="solid"/>
          </a:ln>
        </p:spPr>
      </p:sp>
      <p:sp>
        <p:nvSpPr>
          <p:cNvPr id="112" name="Shape 110"/>
          <p:cNvSpPr/>
          <p:nvPr/>
        </p:nvSpPr>
        <p:spPr>
          <a:xfrm>
            <a:off x="5326380" y="3012948"/>
            <a:ext cx="1097280" cy="633515"/>
          </a:xfrm>
          <a:prstGeom prst="line">
            <a:avLst/>
          </a:prstGeom>
          <a:noFill/>
          <a:ln w="11430">
            <a:solidFill>
              <a:srgbClr val="7D8AA0"/>
            </a:solidFill>
            <a:prstDash val="solid"/>
          </a:ln>
        </p:spPr>
      </p:sp>
      <p:sp>
        <p:nvSpPr>
          <p:cNvPr id="113" name="Shape 111"/>
          <p:cNvSpPr/>
          <p:nvPr/>
        </p:nvSpPr>
        <p:spPr>
          <a:xfrm flipV="1">
            <a:off x="5692140" y="3646463"/>
            <a:ext cx="731520" cy="0"/>
          </a:xfrm>
          <a:prstGeom prst="line">
            <a:avLst/>
          </a:prstGeom>
          <a:noFill/>
          <a:ln w="11430">
            <a:solidFill>
              <a:srgbClr val="7D8AA0"/>
            </a:solidFill>
            <a:prstDash val="solid"/>
          </a:ln>
        </p:spPr>
      </p:sp>
      <p:sp>
        <p:nvSpPr>
          <p:cNvPr id="114" name="Shape 112"/>
          <p:cNvSpPr/>
          <p:nvPr/>
        </p:nvSpPr>
        <p:spPr>
          <a:xfrm flipV="1">
            <a:off x="5326380" y="2379433"/>
            <a:ext cx="1097280" cy="633515"/>
          </a:xfrm>
          <a:prstGeom prst="line">
            <a:avLst/>
          </a:prstGeom>
          <a:noFill/>
          <a:ln w="11430">
            <a:solidFill>
              <a:srgbClr val="7D8AA0"/>
            </a:solidFill>
            <a:prstDash val="solid"/>
          </a:ln>
        </p:spPr>
      </p:sp>
      <p:sp>
        <p:nvSpPr>
          <p:cNvPr id="115" name="Shape 113"/>
          <p:cNvSpPr/>
          <p:nvPr/>
        </p:nvSpPr>
        <p:spPr>
          <a:xfrm>
            <a:off x="5497523" y="3483160"/>
            <a:ext cx="926137" cy="163303"/>
          </a:xfrm>
          <a:prstGeom prst="line">
            <a:avLst/>
          </a:prstGeom>
          <a:noFill/>
          <a:ln w="11430">
            <a:solidFill>
              <a:srgbClr val="7D8AA0"/>
            </a:solidFill>
            <a:prstDash val="solid"/>
          </a:ln>
        </p:spPr>
      </p:sp>
      <p:sp>
        <p:nvSpPr>
          <p:cNvPr id="116" name="Shape 114"/>
          <p:cNvSpPr/>
          <p:nvPr/>
        </p:nvSpPr>
        <p:spPr>
          <a:xfrm>
            <a:off x="6618277" y="2542736"/>
            <a:ext cx="171143" cy="470212"/>
          </a:xfrm>
          <a:prstGeom prst="line">
            <a:avLst/>
          </a:prstGeom>
          <a:noFill/>
          <a:ln w="11430">
            <a:solidFill>
              <a:srgbClr val="7D8AA0"/>
            </a:solidFill>
            <a:prstDash val="solid"/>
          </a:ln>
        </p:spPr>
      </p:sp>
      <p:sp>
        <p:nvSpPr>
          <p:cNvPr id="117" name="Shape 115"/>
          <p:cNvSpPr/>
          <p:nvPr/>
        </p:nvSpPr>
        <p:spPr>
          <a:xfrm>
            <a:off x="5692140" y="2379433"/>
            <a:ext cx="731520" cy="1267030"/>
          </a:xfrm>
          <a:prstGeom prst="line">
            <a:avLst/>
          </a:prstGeom>
          <a:noFill/>
          <a:ln w="11430">
            <a:solidFill>
              <a:srgbClr val="7D8AA0"/>
            </a:solidFill>
            <a:prstDash val="solid"/>
          </a:ln>
        </p:spPr>
      </p:sp>
      <p:sp>
        <p:nvSpPr>
          <p:cNvPr id="118" name="Shape 116"/>
          <p:cNvSpPr/>
          <p:nvPr/>
        </p:nvSpPr>
        <p:spPr>
          <a:xfrm flipV="1">
            <a:off x="5692140" y="2292541"/>
            <a:ext cx="492787" cy="1353921"/>
          </a:xfrm>
          <a:prstGeom prst="line">
            <a:avLst/>
          </a:prstGeom>
          <a:noFill/>
          <a:ln w="11430">
            <a:solidFill>
              <a:srgbClr val="7D8AA0"/>
            </a:solidFill>
            <a:prstDash val="solid"/>
          </a:ln>
        </p:spPr>
      </p:sp>
      <p:sp>
        <p:nvSpPr>
          <p:cNvPr id="119" name="Shape 117"/>
          <p:cNvSpPr/>
          <p:nvPr/>
        </p:nvSpPr>
        <p:spPr>
          <a:xfrm flipV="1">
            <a:off x="5692140" y="3263143"/>
            <a:ext cx="1053164" cy="383320"/>
          </a:xfrm>
          <a:prstGeom prst="line">
            <a:avLst/>
          </a:prstGeom>
          <a:noFill/>
          <a:ln w="11430">
            <a:solidFill>
              <a:srgbClr val="7D8AA0"/>
            </a:solidFill>
            <a:prstDash val="solid"/>
          </a:ln>
        </p:spPr>
      </p:sp>
      <p:sp>
        <p:nvSpPr>
          <p:cNvPr id="120" name="Shape 118"/>
          <p:cNvSpPr/>
          <p:nvPr/>
        </p:nvSpPr>
        <p:spPr>
          <a:xfrm flipV="1">
            <a:off x="5370496" y="2379433"/>
            <a:ext cx="1053164" cy="883709"/>
          </a:xfrm>
          <a:prstGeom prst="line">
            <a:avLst/>
          </a:prstGeom>
          <a:noFill/>
          <a:ln w="11430">
            <a:solidFill>
              <a:srgbClr val="7D8AA0"/>
            </a:solidFill>
            <a:prstDash val="solid"/>
          </a:ln>
        </p:spPr>
      </p:sp>
      <p:sp>
        <p:nvSpPr>
          <p:cNvPr id="121" name="Shape 119"/>
          <p:cNvSpPr/>
          <p:nvPr/>
        </p:nvSpPr>
        <p:spPr>
          <a:xfrm>
            <a:off x="5370496" y="2762753"/>
            <a:ext cx="1418924" cy="250195"/>
          </a:xfrm>
          <a:prstGeom prst="line">
            <a:avLst/>
          </a:prstGeom>
          <a:noFill/>
          <a:ln w="11430">
            <a:solidFill>
              <a:srgbClr val="7D8AA0"/>
            </a:solidFill>
            <a:prstDash val="solid"/>
          </a:ln>
        </p:spPr>
      </p:sp>
      <p:sp>
        <p:nvSpPr>
          <p:cNvPr id="122" name="Shape 120"/>
          <p:cNvSpPr/>
          <p:nvPr/>
        </p:nvSpPr>
        <p:spPr>
          <a:xfrm flipV="1">
            <a:off x="5930873" y="3263143"/>
            <a:ext cx="814431" cy="470212"/>
          </a:xfrm>
          <a:prstGeom prst="line">
            <a:avLst/>
          </a:prstGeom>
          <a:noFill/>
          <a:ln w="11430">
            <a:solidFill>
              <a:srgbClr val="7D8AA0"/>
            </a:solidFill>
            <a:prstDash val="solid"/>
          </a:ln>
        </p:spPr>
      </p:sp>
      <p:sp>
        <p:nvSpPr>
          <p:cNvPr id="123" name="Shape 121"/>
          <p:cNvSpPr/>
          <p:nvPr/>
        </p:nvSpPr>
        <p:spPr>
          <a:xfrm flipV="1">
            <a:off x="5370496" y="2762753"/>
            <a:ext cx="1374808" cy="500389"/>
          </a:xfrm>
          <a:prstGeom prst="line">
            <a:avLst/>
          </a:prstGeom>
          <a:noFill/>
          <a:ln w="11430">
            <a:solidFill>
              <a:srgbClr val="7D8AA0"/>
            </a:solidFill>
            <a:prstDash val="solid"/>
          </a:ln>
        </p:spPr>
      </p:sp>
      <p:sp>
        <p:nvSpPr>
          <p:cNvPr id="124" name="Shape 122"/>
          <p:cNvSpPr/>
          <p:nvPr/>
        </p:nvSpPr>
        <p:spPr>
          <a:xfrm>
            <a:off x="6743700" y="2967228"/>
            <a:ext cx="91440" cy="91440"/>
          </a:xfrm>
          <a:prstGeom prst="ellipse">
            <a:avLst/>
          </a:prstGeom>
          <a:solidFill>
            <a:srgbClr val="E8ECF2"/>
          </a:solidFill>
          <a:ln/>
        </p:spPr>
      </p:sp>
      <p:sp>
        <p:nvSpPr>
          <p:cNvPr id="125" name="Shape 123"/>
          <p:cNvSpPr/>
          <p:nvPr/>
        </p:nvSpPr>
        <p:spPr>
          <a:xfrm>
            <a:off x="6699584" y="3217423"/>
            <a:ext cx="91440" cy="91440"/>
          </a:xfrm>
          <a:prstGeom prst="ellipse">
            <a:avLst/>
          </a:prstGeom>
          <a:solidFill>
            <a:srgbClr val="E8ECF2"/>
          </a:solidFill>
          <a:ln/>
        </p:spPr>
      </p:sp>
      <p:sp>
        <p:nvSpPr>
          <p:cNvPr id="126" name="Shape 124"/>
          <p:cNvSpPr/>
          <p:nvPr/>
        </p:nvSpPr>
        <p:spPr>
          <a:xfrm>
            <a:off x="6572557" y="3437440"/>
            <a:ext cx="91440" cy="91440"/>
          </a:xfrm>
          <a:prstGeom prst="ellipse">
            <a:avLst/>
          </a:prstGeom>
          <a:solidFill>
            <a:srgbClr val="E8ECF2"/>
          </a:solidFill>
          <a:ln/>
        </p:spPr>
      </p:sp>
      <p:sp>
        <p:nvSpPr>
          <p:cNvPr id="127" name="Shape 125"/>
          <p:cNvSpPr/>
          <p:nvPr/>
        </p:nvSpPr>
        <p:spPr>
          <a:xfrm>
            <a:off x="6377940" y="3600743"/>
            <a:ext cx="91440" cy="91440"/>
          </a:xfrm>
          <a:prstGeom prst="ellipse">
            <a:avLst/>
          </a:prstGeom>
          <a:solidFill>
            <a:srgbClr val="E8ECF2"/>
          </a:solidFill>
          <a:ln/>
        </p:spPr>
      </p:sp>
      <p:sp>
        <p:nvSpPr>
          <p:cNvPr id="128" name="Shape 126"/>
          <p:cNvSpPr/>
          <p:nvPr/>
        </p:nvSpPr>
        <p:spPr>
          <a:xfrm>
            <a:off x="6139207" y="3687635"/>
            <a:ext cx="91440" cy="91440"/>
          </a:xfrm>
          <a:prstGeom prst="ellipse">
            <a:avLst/>
          </a:prstGeom>
          <a:solidFill>
            <a:srgbClr val="E8ECF2"/>
          </a:solidFill>
          <a:ln/>
        </p:spPr>
      </p:sp>
      <p:sp>
        <p:nvSpPr>
          <p:cNvPr id="129" name="Shape 127"/>
          <p:cNvSpPr/>
          <p:nvPr/>
        </p:nvSpPr>
        <p:spPr>
          <a:xfrm>
            <a:off x="5885153" y="3687635"/>
            <a:ext cx="91440" cy="91440"/>
          </a:xfrm>
          <a:prstGeom prst="ellipse">
            <a:avLst/>
          </a:prstGeom>
          <a:solidFill>
            <a:srgbClr val="E8ECF2"/>
          </a:solidFill>
          <a:ln/>
        </p:spPr>
      </p:sp>
      <p:sp>
        <p:nvSpPr>
          <p:cNvPr id="130" name="Shape 128"/>
          <p:cNvSpPr/>
          <p:nvPr/>
        </p:nvSpPr>
        <p:spPr>
          <a:xfrm>
            <a:off x="5646420" y="3600743"/>
            <a:ext cx="91440" cy="91440"/>
          </a:xfrm>
          <a:prstGeom prst="ellipse">
            <a:avLst/>
          </a:prstGeom>
          <a:solidFill>
            <a:srgbClr val="E8ECF2"/>
          </a:solidFill>
          <a:ln/>
        </p:spPr>
      </p:sp>
      <p:sp>
        <p:nvSpPr>
          <p:cNvPr id="131" name="Shape 129"/>
          <p:cNvSpPr/>
          <p:nvPr/>
        </p:nvSpPr>
        <p:spPr>
          <a:xfrm>
            <a:off x="5451803" y="3437440"/>
            <a:ext cx="91440" cy="91440"/>
          </a:xfrm>
          <a:prstGeom prst="ellipse">
            <a:avLst/>
          </a:prstGeom>
          <a:solidFill>
            <a:srgbClr val="E8ECF2"/>
          </a:solidFill>
          <a:ln/>
        </p:spPr>
      </p:sp>
      <p:sp>
        <p:nvSpPr>
          <p:cNvPr id="132" name="Shape 130"/>
          <p:cNvSpPr/>
          <p:nvPr/>
        </p:nvSpPr>
        <p:spPr>
          <a:xfrm>
            <a:off x="5324776" y="3217423"/>
            <a:ext cx="91440" cy="91440"/>
          </a:xfrm>
          <a:prstGeom prst="ellipse">
            <a:avLst/>
          </a:prstGeom>
          <a:solidFill>
            <a:srgbClr val="E8ECF2"/>
          </a:solidFill>
          <a:ln/>
        </p:spPr>
      </p:sp>
      <p:sp>
        <p:nvSpPr>
          <p:cNvPr id="133" name="Shape 131"/>
          <p:cNvSpPr/>
          <p:nvPr/>
        </p:nvSpPr>
        <p:spPr>
          <a:xfrm>
            <a:off x="5280660" y="2967228"/>
            <a:ext cx="91440" cy="91440"/>
          </a:xfrm>
          <a:prstGeom prst="ellipse">
            <a:avLst/>
          </a:prstGeom>
          <a:solidFill>
            <a:srgbClr val="E8ECF2"/>
          </a:solidFill>
          <a:ln/>
        </p:spPr>
      </p:sp>
      <p:sp>
        <p:nvSpPr>
          <p:cNvPr id="134" name="Shape 132"/>
          <p:cNvSpPr/>
          <p:nvPr/>
        </p:nvSpPr>
        <p:spPr>
          <a:xfrm>
            <a:off x="5324776" y="2717033"/>
            <a:ext cx="91440" cy="91440"/>
          </a:xfrm>
          <a:prstGeom prst="ellipse">
            <a:avLst/>
          </a:prstGeom>
          <a:solidFill>
            <a:srgbClr val="E8ECF2"/>
          </a:solidFill>
          <a:ln/>
        </p:spPr>
      </p:sp>
      <p:sp>
        <p:nvSpPr>
          <p:cNvPr id="135" name="Shape 133"/>
          <p:cNvSpPr/>
          <p:nvPr/>
        </p:nvSpPr>
        <p:spPr>
          <a:xfrm>
            <a:off x="5451803" y="2497016"/>
            <a:ext cx="91440" cy="91440"/>
          </a:xfrm>
          <a:prstGeom prst="ellipse">
            <a:avLst/>
          </a:prstGeom>
          <a:solidFill>
            <a:srgbClr val="E8ECF2"/>
          </a:solidFill>
          <a:ln/>
        </p:spPr>
      </p:sp>
      <p:sp>
        <p:nvSpPr>
          <p:cNvPr id="136" name="Shape 134"/>
          <p:cNvSpPr/>
          <p:nvPr/>
        </p:nvSpPr>
        <p:spPr>
          <a:xfrm>
            <a:off x="5646420" y="2333713"/>
            <a:ext cx="91440" cy="91440"/>
          </a:xfrm>
          <a:prstGeom prst="ellipse">
            <a:avLst/>
          </a:prstGeom>
          <a:solidFill>
            <a:srgbClr val="E8ECF2"/>
          </a:solidFill>
          <a:ln/>
        </p:spPr>
      </p:sp>
      <p:sp>
        <p:nvSpPr>
          <p:cNvPr id="137" name="Shape 135"/>
          <p:cNvSpPr/>
          <p:nvPr/>
        </p:nvSpPr>
        <p:spPr>
          <a:xfrm>
            <a:off x="5885153" y="2246821"/>
            <a:ext cx="91440" cy="91440"/>
          </a:xfrm>
          <a:prstGeom prst="ellipse">
            <a:avLst/>
          </a:prstGeom>
          <a:solidFill>
            <a:srgbClr val="E8ECF2"/>
          </a:solidFill>
          <a:ln/>
        </p:spPr>
      </p:sp>
      <p:sp>
        <p:nvSpPr>
          <p:cNvPr id="138" name="Shape 136"/>
          <p:cNvSpPr/>
          <p:nvPr/>
        </p:nvSpPr>
        <p:spPr>
          <a:xfrm>
            <a:off x="6139207" y="2246821"/>
            <a:ext cx="91440" cy="91440"/>
          </a:xfrm>
          <a:prstGeom prst="ellipse">
            <a:avLst/>
          </a:prstGeom>
          <a:solidFill>
            <a:srgbClr val="E8ECF2"/>
          </a:solidFill>
          <a:ln/>
        </p:spPr>
      </p:sp>
      <p:sp>
        <p:nvSpPr>
          <p:cNvPr id="139" name="Shape 137"/>
          <p:cNvSpPr/>
          <p:nvPr/>
        </p:nvSpPr>
        <p:spPr>
          <a:xfrm>
            <a:off x="6377940" y="2333713"/>
            <a:ext cx="91440" cy="91440"/>
          </a:xfrm>
          <a:prstGeom prst="ellipse">
            <a:avLst/>
          </a:prstGeom>
          <a:solidFill>
            <a:srgbClr val="E8ECF2"/>
          </a:solidFill>
          <a:ln/>
        </p:spPr>
      </p:sp>
      <p:sp>
        <p:nvSpPr>
          <p:cNvPr id="140" name="Shape 138"/>
          <p:cNvSpPr/>
          <p:nvPr/>
        </p:nvSpPr>
        <p:spPr>
          <a:xfrm>
            <a:off x="6572557" y="2497016"/>
            <a:ext cx="91440" cy="91440"/>
          </a:xfrm>
          <a:prstGeom prst="ellipse">
            <a:avLst/>
          </a:prstGeom>
          <a:solidFill>
            <a:srgbClr val="E8ECF2"/>
          </a:solidFill>
          <a:ln/>
        </p:spPr>
      </p:sp>
      <p:sp>
        <p:nvSpPr>
          <p:cNvPr id="141" name="Shape 139"/>
          <p:cNvSpPr/>
          <p:nvPr/>
        </p:nvSpPr>
        <p:spPr>
          <a:xfrm>
            <a:off x="6699584" y="2717033"/>
            <a:ext cx="91440" cy="91440"/>
          </a:xfrm>
          <a:prstGeom prst="ellipse">
            <a:avLst/>
          </a:prstGeom>
          <a:solidFill>
            <a:srgbClr val="E8ECF2"/>
          </a:solidFill>
          <a:ln/>
        </p:spPr>
      </p:sp>
      <p:sp>
        <p:nvSpPr>
          <p:cNvPr id="142" name="Shape 140"/>
          <p:cNvSpPr/>
          <p:nvPr/>
        </p:nvSpPr>
        <p:spPr>
          <a:xfrm>
            <a:off x="9761220" y="2409444"/>
            <a:ext cx="387925" cy="141193"/>
          </a:xfrm>
          <a:prstGeom prst="line">
            <a:avLst/>
          </a:prstGeom>
          <a:noFill/>
          <a:ln w="9525">
            <a:solidFill>
              <a:srgbClr val="9AA6B6">
                <a:alpha val="70000"/>
              </a:srgbClr>
            </a:solidFill>
            <a:prstDash val="solid"/>
          </a:ln>
        </p:spPr>
      </p:sp>
      <p:sp>
        <p:nvSpPr>
          <p:cNvPr id="143" name="Shape 141"/>
          <p:cNvSpPr/>
          <p:nvPr/>
        </p:nvSpPr>
        <p:spPr>
          <a:xfrm>
            <a:off x="9761220" y="2409444"/>
            <a:ext cx="594335" cy="498707"/>
          </a:xfrm>
          <a:prstGeom prst="line">
            <a:avLst/>
          </a:prstGeom>
          <a:noFill/>
          <a:ln w="9525">
            <a:solidFill>
              <a:srgbClr val="9AA6B6">
                <a:alpha val="70000"/>
              </a:srgbClr>
            </a:solidFill>
            <a:prstDash val="solid"/>
          </a:ln>
        </p:spPr>
      </p:sp>
      <p:sp>
        <p:nvSpPr>
          <p:cNvPr id="144" name="Shape 142"/>
          <p:cNvSpPr/>
          <p:nvPr/>
        </p:nvSpPr>
        <p:spPr>
          <a:xfrm>
            <a:off x="9761220" y="2409444"/>
            <a:ext cx="522650" cy="905256"/>
          </a:xfrm>
          <a:prstGeom prst="line">
            <a:avLst/>
          </a:prstGeom>
          <a:noFill/>
          <a:ln w="9525">
            <a:solidFill>
              <a:srgbClr val="9AA6B6">
                <a:alpha val="70000"/>
              </a:srgbClr>
            </a:solidFill>
            <a:prstDash val="solid"/>
          </a:ln>
        </p:spPr>
      </p:sp>
      <p:sp>
        <p:nvSpPr>
          <p:cNvPr id="145" name="Shape 143"/>
          <p:cNvSpPr/>
          <p:nvPr/>
        </p:nvSpPr>
        <p:spPr>
          <a:xfrm>
            <a:off x="9761220" y="2409444"/>
            <a:ext cx="206411" cy="1170612"/>
          </a:xfrm>
          <a:prstGeom prst="line">
            <a:avLst/>
          </a:prstGeom>
          <a:noFill/>
          <a:ln w="9525">
            <a:solidFill>
              <a:srgbClr val="9AA6B6">
                <a:alpha val="70000"/>
              </a:srgbClr>
            </a:solidFill>
            <a:prstDash val="solid"/>
          </a:ln>
        </p:spPr>
      </p:sp>
      <p:sp>
        <p:nvSpPr>
          <p:cNvPr id="146" name="Shape 144"/>
          <p:cNvSpPr/>
          <p:nvPr/>
        </p:nvSpPr>
        <p:spPr>
          <a:xfrm flipV="1">
            <a:off x="9554809" y="2409444"/>
            <a:ext cx="206411" cy="1170612"/>
          </a:xfrm>
          <a:prstGeom prst="line">
            <a:avLst/>
          </a:prstGeom>
          <a:noFill/>
          <a:ln w="9525">
            <a:solidFill>
              <a:srgbClr val="9AA6B6">
                <a:alpha val="70000"/>
              </a:srgbClr>
            </a:solidFill>
            <a:prstDash val="solid"/>
          </a:ln>
        </p:spPr>
      </p:sp>
      <p:sp>
        <p:nvSpPr>
          <p:cNvPr id="147" name="Shape 145"/>
          <p:cNvSpPr/>
          <p:nvPr/>
        </p:nvSpPr>
        <p:spPr>
          <a:xfrm flipV="1">
            <a:off x="9238570" y="2409444"/>
            <a:ext cx="522650" cy="905256"/>
          </a:xfrm>
          <a:prstGeom prst="line">
            <a:avLst/>
          </a:prstGeom>
          <a:noFill/>
          <a:ln w="9525">
            <a:solidFill>
              <a:srgbClr val="9AA6B6">
                <a:alpha val="70000"/>
              </a:srgbClr>
            </a:solidFill>
            <a:prstDash val="solid"/>
          </a:ln>
        </p:spPr>
      </p:sp>
      <p:sp>
        <p:nvSpPr>
          <p:cNvPr id="148" name="Shape 146"/>
          <p:cNvSpPr/>
          <p:nvPr/>
        </p:nvSpPr>
        <p:spPr>
          <a:xfrm flipV="1">
            <a:off x="9166885" y="2409444"/>
            <a:ext cx="594335" cy="498707"/>
          </a:xfrm>
          <a:prstGeom prst="line">
            <a:avLst/>
          </a:prstGeom>
          <a:noFill/>
          <a:ln w="9525">
            <a:solidFill>
              <a:srgbClr val="9AA6B6">
                <a:alpha val="70000"/>
              </a:srgbClr>
            </a:solidFill>
            <a:prstDash val="solid"/>
          </a:ln>
        </p:spPr>
      </p:sp>
      <p:sp>
        <p:nvSpPr>
          <p:cNvPr id="149" name="Shape 147"/>
          <p:cNvSpPr/>
          <p:nvPr/>
        </p:nvSpPr>
        <p:spPr>
          <a:xfrm flipV="1">
            <a:off x="9373295" y="2409444"/>
            <a:ext cx="387925" cy="141193"/>
          </a:xfrm>
          <a:prstGeom prst="line">
            <a:avLst/>
          </a:prstGeom>
          <a:noFill/>
          <a:ln w="9525">
            <a:solidFill>
              <a:srgbClr val="9AA6B6">
                <a:alpha val="70000"/>
              </a:srgbClr>
            </a:solidFill>
            <a:prstDash val="solid"/>
          </a:ln>
        </p:spPr>
      </p:sp>
      <p:sp>
        <p:nvSpPr>
          <p:cNvPr id="150" name="Shape 148"/>
          <p:cNvSpPr/>
          <p:nvPr/>
        </p:nvSpPr>
        <p:spPr>
          <a:xfrm>
            <a:off x="10149145" y="2550637"/>
            <a:ext cx="206411" cy="357514"/>
          </a:xfrm>
          <a:prstGeom prst="line">
            <a:avLst/>
          </a:prstGeom>
          <a:noFill/>
          <a:ln w="9525">
            <a:solidFill>
              <a:srgbClr val="9AA6B6">
                <a:alpha val="70000"/>
              </a:srgbClr>
            </a:solidFill>
            <a:prstDash val="solid"/>
          </a:ln>
        </p:spPr>
      </p:sp>
      <p:sp>
        <p:nvSpPr>
          <p:cNvPr id="151" name="Shape 149"/>
          <p:cNvSpPr/>
          <p:nvPr/>
        </p:nvSpPr>
        <p:spPr>
          <a:xfrm>
            <a:off x="10149145" y="2550637"/>
            <a:ext cx="134725" cy="764063"/>
          </a:xfrm>
          <a:prstGeom prst="line">
            <a:avLst/>
          </a:prstGeom>
          <a:noFill/>
          <a:ln w="9525">
            <a:solidFill>
              <a:srgbClr val="9AA6B6">
                <a:alpha val="70000"/>
              </a:srgbClr>
            </a:solidFill>
            <a:prstDash val="solid"/>
          </a:ln>
        </p:spPr>
      </p:sp>
      <p:sp>
        <p:nvSpPr>
          <p:cNvPr id="152" name="Shape 150"/>
          <p:cNvSpPr/>
          <p:nvPr/>
        </p:nvSpPr>
        <p:spPr>
          <a:xfrm flipV="1">
            <a:off x="9967631" y="2550637"/>
            <a:ext cx="181514" cy="1029419"/>
          </a:xfrm>
          <a:prstGeom prst="line">
            <a:avLst/>
          </a:prstGeom>
          <a:noFill/>
          <a:ln w="9525">
            <a:solidFill>
              <a:srgbClr val="9AA6B6">
                <a:alpha val="70000"/>
              </a:srgbClr>
            </a:solidFill>
            <a:prstDash val="solid"/>
          </a:ln>
        </p:spPr>
      </p:sp>
      <p:sp>
        <p:nvSpPr>
          <p:cNvPr id="153" name="Shape 151"/>
          <p:cNvSpPr/>
          <p:nvPr/>
        </p:nvSpPr>
        <p:spPr>
          <a:xfrm flipV="1">
            <a:off x="9554809" y="2550637"/>
            <a:ext cx="594335" cy="1029419"/>
          </a:xfrm>
          <a:prstGeom prst="line">
            <a:avLst/>
          </a:prstGeom>
          <a:noFill/>
          <a:ln w="9525">
            <a:solidFill>
              <a:srgbClr val="9AA6B6">
                <a:alpha val="70000"/>
              </a:srgbClr>
            </a:solidFill>
            <a:prstDash val="solid"/>
          </a:ln>
        </p:spPr>
      </p:sp>
      <p:sp>
        <p:nvSpPr>
          <p:cNvPr id="154" name="Shape 152"/>
          <p:cNvSpPr/>
          <p:nvPr/>
        </p:nvSpPr>
        <p:spPr>
          <a:xfrm flipV="1">
            <a:off x="9238570" y="2550637"/>
            <a:ext cx="910575" cy="764063"/>
          </a:xfrm>
          <a:prstGeom prst="line">
            <a:avLst/>
          </a:prstGeom>
          <a:noFill/>
          <a:ln w="9525">
            <a:solidFill>
              <a:srgbClr val="9AA6B6">
                <a:alpha val="70000"/>
              </a:srgbClr>
            </a:solidFill>
            <a:prstDash val="solid"/>
          </a:ln>
        </p:spPr>
      </p:sp>
      <p:sp>
        <p:nvSpPr>
          <p:cNvPr id="155" name="Shape 153"/>
          <p:cNvSpPr/>
          <p:nvPr/>
        </p:nvSpPr>
        <p:spPr>
          <a:xfrm flipV="1">
            <a:off x="9166885" y="2550637"/>
            <a:ext cx="982260" cy="357514"/>
          </a:xfrm>
          <a:prstGeom prst="line">
            <a:avLst/>
          </a:prstGeom>
          <a:noFill/>
          <a:ln w="9525">
            <a:solidFill>
              <a:srgbClr val="9AA6B6">
                <a:alpha val="70000"/>
              </a:srgbClr>
            </a:solidFill>
            <a:prstDash val="solid"/>
          </a:ln>
        </p:spPr>
      </p:sp>
      <p:sp>
        <p:nvSpPr>
          <p:cNvPr id="156" name="Shape 154"/>
          <p:cNvSpPr/>
          <p:nvPr/>
        </p:nvSpPr>
        <p:spPr>
          <a:xfrm flipV="1">
            <a:off x="9373295" y="2550637"/>
            <a:ext cx="775850" cy="0"/>
          </a:xfrm>
          <a:prstGeom prst="line">
            <a:avLst/>
          </a:prstGeom>
          <a:noFill/>
          <a:ln w="9525">
            <a:solidFill>
              <a:srgbClr val="9AA6B6">
                <a:alpha val="70000"/>
              </a:srgbClr>
            </a:solidFill>
            <a:prstDash val="solid"/>
          </a:ln>
        </p:spPr>
      </p:sp>
      <p:sp>
        <p:nvSpPr>
          <p:cNvPr id="157" name="Shape 155"/>
          <p:cNvSpPr/>
          <p:nvPr/>
        </p:nvSpPr>
        <p:spPr>
          <a:xfrm flipV="1">
            <a:off x="10283870" y="2908151"/>
            <a:ext cx="71686" cy="406549"/>
          </a:xfrm>
          <a:prstGeom prst="line">
            <a:avLst/>
          </a:prstGeom>
          <a:noFill/>
          <a:ln w="9525">
            <a:solidFill>
              <a:srgbClr val="9AA6B6">
                <a:alpha val="70000"/>
              </a:srgbClr>
            </a:solidFill>
            <a:prstDash val="solid"/>
          </a:ln>
        </p:spPr>
      </p:sp>
      <p:sp>
        <p:nvSpPr>
          <p:cNvPr id="158" name="Shape 156"/>
          <p:cNvSpPr/>
          <p:nvPr/>
        </p:nvSpPr>
        <p:spPr>
          <a:xfrm flipV="1">
            <a:off x="9967631" y="2908151"/>
            <a:ext cx="387925" cy="671906"/>
          </a:xfrm>
          <a:prstGeom prst="line">
            <a:avLst/>
          </a:prstGeom>
          <a:noFill/>
          <a:ln w="9525">
            <a:solidFill>
              <a:srgbClr val="9AA6B6">
                <a:alpha val="70000"/>
              </a:srgbClr>
            </a:solidFill>
            <a:prstDash val="solid"/>
          </a:ln>
        </p:spPr>
      </p:sp>
      <p:sp>
        <p:nvSpPr>
          <p:cNvPr id="159" name="Shape 157"/>
          <p:cNvSpPr/>
          <p:nvPr/>
        </p:nvSpPr>
        <p:spPr>
          <a:xfrm flipV="1">
            <a:off x="9554809" y="2908151"/>
            <a:ext cx="800746" cy="671906"/>
          </a:xfrm>
          <a:prstGeom prst="line">
            <a:avLst/>
          </a:prstGeom>
          <a:noFill/>
          <a:ln w="9525">
            <a:solidFill>
              <a:srgbClr val="9AA6B6">
                <a:alpha val="70000"/>
              </a:srgbClr>
            </a:solidFill>
            <a:prstDash val="solid"/>
          </a:ln>
        </p:spPr>
      </p:sp>
      <p:sp>
        <p:nvSpPr>
          <p:cNvPr id="160" name="Shape 158"/>
          <p:cNvSpPr/>
          <p:nvPr/>
        </p:nvSpPr>
        <p:spPr>
          <a:xfrm flipV="1">
            <a:off x="9238570" y="2908151"/>
            <a:ext cx="1116985" cy="406549"/>
          </a:xfrm>
          <a:prstGeom prst="line">
            <a:avLst/>
          </a:prstGeom>
          <a:noFill/>
          <a:ln w="9525">
            <a:solidFill>
              <a:srgbClr val="9AA6B6">
                <a:alpha val="70000"/>
              </a:srgbClr>
            </a:solidFill>
            <a:prstDash val="solid"/>
          </a:ln>
        </p:spPr>
      </p:sp>
      <p:sp>
        <p:nvSpPr>
          <p:cNvPr id="161" name="Shape 159"/>
          <p:cNvSpPr/>
          <p:nvPr/>
        </p:nvSpPr>
        <p:spPr>
          <a:xfrm flipV="1">
            <a:off x="9166885" y="2908151"/>
            <a:ext cx="1188671" cy="0"/>
          </a:xfrm>
          <a:prstGeom prst="line">
            <a:avLst/>
          </a:prstGeom>
          <a:noFill/>
          <a:ln w="9525">
            <a:solidFill>
              <a:srgbClr val="9AA6B6">
                <a:alpha val="70000"/>
              </a:srgbClr>
            </a:solidFill>
            <a:prstDash val="solid"/>
          </a:ln>
        </p:spPr>
      </p:sp>
      <p:sp>
        <p:nvSpPr>
          <p:cNvPr id="162" name="Shape 160"/>
          <p:cNvSpPr/>
          <p:nvPr/>
        </p:nvSpPr>
        <p:spPr>
          <a:xfrm>
            <a:off x="9373295" y="2550637"/>
            <a:ext cx="982260" cy="357514"/>
          </a:xfrm>
          <a:prstGeom prst="line">
            <a:avLst/>
          </a:prstGeom>
          <a:noFill/>
          <a:ln w="9525">
            <a:solidFill>
              <a:srgbClr val="9AA6B6">
                <a:alpha val="70000"/>
              </a:srgbClr>
            </a:solidFill>
            <a:prstDash val="solid"/>
          </a:ln>
        </p:spPr>
      </p:sp>
      <p:sp>
        <p:nvSpPr>
          <p:cNvPr id="163" name="Shape 161"/>
          <p:cNvSpPr/>
          <p:nvPr/>
        </p:nvSpPr>
        <p:spPr>
          <a:xfrm flipV="1">
            <a:off x="9967631" y="3314700"/>
            <a:ext cx="316239" cy="265356"/>
          </a:xfrm>
          <a:prstGeom prst="line">
            <a:avLst/>
          </a:prstGeom>
          <a:noFill/>
          <a:ln w="9525">
            <a:solidFill>
              <a:srgbClr val="9AA6B6">
                <a:alpha val="70000"/>
              </a:srgbClr>
            </a:solidFill>
            <a:prstDash val="solid"/>
          </a:ln>
        </p:spPr>
      </p:sp>
      <p:sp>
        <p:nvSpPr>
          <p:cNvPr id="164" name="Shape 162"/>
          <p:cNvSpPr/>
          <p:nvPr/>
        </p:nvSpPr>
        <p:spPr>
          <a:xfrm flipV="1">
            <a:off x="9554809" y="3314700"/>
            <a:ext cx="729060" cy="265356"/>
          </a:xfrm>
          <a:prstGeom prst="line">
            <a:avLst/>
          </a:prstGeom>
          <a:noFill/>
          <a:ln w="9525">
            <a:solidFill>
              <a:srgbClr val="9AA6B6">
                <a:alpha val="70000"/>
              </a:srgbClr>
            </a:solidFill>
            <a:prstDash val="solid"/>
          </a:ln>
        </p:spPr>
      </p:sp>
      <p:sp>
        <p:nvSpPr>
          <p:cNvPr id="165" name="Shape 163"/>
          <p:cNvSpPr/>
          <p:nvPr/>
        </p:nvSpPr>
        <p:spPr>
          <a:xfrm>
            <a:off x="9238570" y="3314700"/>
            <a:ext cx="1045300" cy="0"/>
          </a:xfrm>
          <a:prstGeom prst="line">
            <a:avLst/>
          </a:prstGeom>
          <a:noFill/>
          <a:ln w="9525">
            <a:solidFill>
              <a:srgbClr val="9AA6B6">
                <a:alpha val="70000"/>
              </a:srgbClr>
            </a:solidFill>
            <a:prstDash val="solid"/>
          </a:ln>
        </p:spPr>
      </p:sp>
      <p:sp>
        <p:nvSpPr>
          <p:cNvPr id="166" name="Shape 164"/>
          <p:cNvSpPr/>
          <p:nvPr/>
        </p:nvSpPr>
        <p:spPr>
          <a:xfrm>
            <a:off x="9166885" y="2908151"/>
            <a:ext cx="1116985" cy="406549"/>
          </a:xfrm>
          <a:prstGeom prst="line">
            <a:avLst/>
          </a:prstGeom>
          <a:noFill/>
          <a:ln w="9525">
            <a:solidFill>
              <a:srgbClr val="9AA6B6">
                <a:alpha val="70000"/>
              </a:srgbClr>
            </a:solidFill>
            <a:prstDash val="solid"/>
          </a:ln>
        </p:spPr>
      </p:sp>
      <p:sp>
        <p:nvSpPr>
          <p:cNvPr id="167" name="Shape 165"/>
          <p:cNvSpPr/>
          <p:nvPr/>
        </p:nvSpPr>
        <p:spPr>
          <a:xfrm>
            <a:off x="9373295" y="2550637"/>
            <a:ext cx="910575" cy="764063"/>
          </a:xfrm>
          <a:prstGeom prst="line">
            <a:avLst/>
          </a:prstGeom>
          <a:noFill/>
          <a:ln w="9525">
            <a:solidFill>
              <a:srgbClr val="9AA6B6">
                <a:alpha val="70000"/>
              </a:srgbClr>
            </a:solidFill>
            <a:prstDash val="solid"/>
          </a:ln>
        </p:spPr>
      </p:sp>
      <p:sp>
        <p:nvSpPr>
          <p:cNvPr id="168" name="Shape 166"/>
          <p:cNvSpPr/>
          <p:nvPr/>
        </p:nvSpPr>
        <p:spPr>
          <a:xfrm>
            <a:off x="9554809" y="3580056"/>
            <a:ext cx="412821" cy="0"/>
          </a:xfrm>
          <a:prstGeom prst="line">
            <a:avLst/>
          </a:prstGeom>
          <a:noFill/>
          <a:ln w="9525">
            <a:solidFill>
              <a:srgbClr val="9AA6B6">
                <a:alpha val="70000"/>
              </a:srgbClr>
            </a:solidFill>
            <a:prstDash val="solid"/>
          </a:ln>
        </p:spPr>
      </p:sp>
      <p:sp>
        <p:nvSpPr>
          <p:cNvPr id="169" name="Shape 167"/>
          <p:cNvSpPr/>
          <p:nvPr/>
        </p:nvSpPr>
        <p:spPr>
          <a:xfrm>
            <a:off x="9238570" y="3314700"/>
            <a:ext cx="729060" cy="265356"/>
          </a:xfrm>
          <a:prstGeom prst="line">
            <a:avLst/>
          </a:prstGeom>
          <a:noFill/>
          <a:ln w="9525">
            <a:solidFill>
              <a:srgbClr val="9AA6B6">
                <a:alpha val="70000"/>
              </a:srgbClr>
            </a:solidFill>
            <a:prstDash val="solid"/>
          </a:ln>
        </p:spPr>
      </p:sp>
      <p:sp>
        <p:nvSpPr>
          <p:cNvPr id="170" name="Shape 168"/>
          <p:cNvSpPr/>
          <p:nvPr/>
        </p:nvSpPr>
        <p:spPr>
          <a:xfrm>
            <a:off x="9166885" y="2908151"/>
            <a:ext cx="800746" cy="671906"/>
          </a:xfrm>
          <a:prstGeom prst="line">
            <a:avLst/>
          </a:prstGeom>
          <a:noFill/>
          <a:ln w="9525">
            <a:solidFill>
              <a:srgbClr val="9AA6B6">
                <a:alpha val="70000"/>
              </a:srgbClr>
            </a:solidFill>
            <a:prstDash val="solid"/>
          </a:ln>
        </p:spPr>
      </p:sp>
      <p:sp>
        <p:nvSpPr>
          <p:cNvPr id="171" name="Shape 169"/>
          <p:cNvSpPr/>
          <p:nvPr/>
        </p:nvSpPr>
        <p:spPr>
          <a:xfrm>
            <a:off x="9373295" y="2550637"/>
            <a:ext cx="594335" cy="1029419"/>
          </a:xfrm>
          <a:prstGeom prst="line">
            <a:avLst/>
          </a:prstGeom>
          <a:noFill/>
          <a:ln w="9525">
            <a:solidFill>
              <a:srgbClr val="9AA6B6">
                <a:alpha val="70000"/>
              </a:srgbClr>
            </a:solidFill>
            <a:prstDash val="solid"/>
          </a:ln>
        </p:spPr>
      </p:sp>
      <p:sp>
        <p:nvSpPr>
          <p:cNvPr id="172" name="Shape 170"/>
          <p:cNvSpPr/>
          <p:nvPr/>
        </p:nvSpPr>
        <p:spPr>
          <a:xfrm>
            <a:off x="9238570" y="3314700"/>
            <a:ext cx="316239" cy="265356"/>
          </a:xfrm>
          <a:prstGeom prst="line">
            <a:avLst/>
          </a:prstGeom>
          <a:noFill/>
          <a:ln w="9525">
            <a:solidFill>
              <a:srgbClr val="9AA6B6">
                <a:alpha val="70000"/>
              </a:srgbClr>
            </a:solidFill>
            <a:prstDash val="solid"/>
          </a:ln>
        </p:spPr>
      </p:sp>
      <p:sp>
        <p:nvSpPr>
          <p:cNvPr id="173" name="Shape 171"/>
          <p:cNvSpPr/>
          <p:nvPr/>
        </p:nvSpPr>
        <p:spPr>
          <a:xfrm>
            <a:off x="9166885" y="2908151"/>
            <a:ext cx="387925" cy="671906"/>
          </a:xfrm>
          <a:prstGeom prst="line">
            <a:avLst/>
          </a:prstGeom>
          <a:noFill/>
          <a:ln w="9525">
            <a:solidFill>
              <a:srgbClr val="9AA6B6">
                <a:alpha val="70000"/>
              </a:srgbClr>
            </a:solidFill>
            <a:prstDash val="solid"/>
          </a:ln>
        </p:spPr>
      </p:sp>
      <p:sp>
        <p:nvSpPr>
          <p:cNvPr id="174" name="Shape 172"/>
          <p:cNvSpPr/>
          <p:nvPr/>
        </p:nvSpPr>
        <p:spPr>
          <a:xfrm>
            <a:off x="9373295" y="2550637"/>
            <a:ext cx="181514" cy="1029419"/>
          </a:xfrm>
          <a:prstGeom prst="line">
            <a:avLst/>
          </a:prstGeom>
          <a:noFill/>
          <a:ln w="9525">
            <a:solidFill>
              <a:srgbClr val="9AA6B6">
                <a:alpha val="70000"/>
              </a:srgbClr>
            </a:solidFill>
            <a:prstDash val="solid"/>
          </a:ln>
        </p:spPr>
      </p:sp>
      <p:sp>
        <p:nvSpPr>
          <p:cNvPr id="175" name="Shape 173"/>
          <p:cNvSpPr/>
          <p:nvPr/>
        </p:nvSpPr>
        <p:spPr>
          <a:xfrm>
            <a:off x="9166885" y="2908151"/>
            <a:ext cx="71686" cy="406549"/>
          </a:xfrm>
          <a:prstGeom prst="line">
            <a:avLst/>
          </a:prstGeom>
          <a:noFill/>
          <a:ln w="9525">
            <a:solidFill>
              <a:srgbClr val="9AA6B6">
                <a:alpha val="70000"/>
              </a:srgbClr>
            </a:solidFill>
            <a:prstDash val="solid"/>
          </a:ln>
        </p:spPr>
      </p:sp>
      <p:sp>
        <p:nvSpPr>
          <p:cNvPr id="176" name="Shape 174"/>
          <p:cNvSpPr/>
          <p:nvPr/>
        </p:nvSpPr>
        <p:spPr>
          <a:xfrm flipV="1">
            <a:off x="9238570" y="2550637"/>
            <a:ext cx="134725" cy="764063"/>
          </a:xfrm>
          <a:prstGeom prst="line">
            <a:avLst/>
          </a:prstGeom>
          <a:noFill/>
          <a:ln w="9525">
            <a:solidFill>
              <a:srgbClr val="9AA6B6">
                <a:alpha val="70000"/>
              </a:srgbClr>
            </a:solidFill>
            <a:prstDash val="solid"/>
          </a:ln>
        </p:spPr>
      </p:sp>
      <p:sp>
        <p:nvSpPr>
          <p:cNvPr id="177" name="Shape 175"/>
          <p:cNvSpPr/>
          <p:nvPr/>
        </p:nvSpPr>
        <p:spPr>
          <a:xfrm flipV="1">
            <a:off x="9166885" y="2550637"/>
            <a:ext cx="206411" cy="357514"/>
          </a:xfrm>
          <a:prstGeom prst="line">
            <a:avLst/>
          </a:prstGeom>
          <a:noFill/>
          <a:ln w="9525">
            <a:solidFill>
              <a:srgbClr val="9AA6B6">
                <a:alpha val="70000"/>
              </a:srgbClr>
            </a:solidFill>
            <a:prstDash val="solid"/>
          </a:ln>
        </p:spPr>
      </p:sp>
      <p:sp>
        <p:nvSpPr>
          <p:cNvPr id="178" name="Shape 176"/>
          <p:cNvSpPr/>
          <p:nvPr/>
        </p:nvSpPr>
        <p:spPr>
          <a:xfrm>
            <a:off x="9377172" y="2226564"/>
            <a:ext cx="384048" cy="182880"/>
          </a:xfrm>
          <a:prstGeom prst="line">
            <a:avLst/>
          </a:prstGeom>
          <a:noFill/>
          <a:ln w="11430">
            <a:solidFill>
              <a:srgbClr val="7D8AA0"/>
            </a:solidFill>
            <a:prstDash val="solid"/>
          </a:ln>
        </p:spPr>
      </p:sp>
      <p:sp>
        <p:nvSpPr>
          <p:cNvPr id="179" name="Shape 177"/>
          <p:cNvSpPr/>
          <p:nvPr/>
        </p:nvSpPr>
        <p:spPr>
          <a:xfrm>
            <a:off x="9336024" y="2185416"/>
            <a:ext cx="82296" cy="82296"/>
          </a:xfrm>
          <a:prstGeom prst="ellipse">
            <a:avLst/>
          </a:prstGeom>
          <a:solidFill>
            <a:srgbClr val="9AA6B6"/>
          </a:solidFill>
          <a:ln/>
        </p:spPr>
      </p:sp>
      <p:sp>
        <p:nvSpPr>
          <p:cNvPr id="180" name="Shape 178"/>
          <p:cNvSpPr/>
          <p:nvPr/>
        </p:nvSpPr>
        <p:spPr>
          <a:xfrm flipV="1">
            <a:off x="10355555" y="2816711"/>
            <a:ext cx="384048" cy="91440"/>
          </a:xfrm>
          <a:prstGeom prst="line">
            <a:avLst/>
          </a:prstGeom>
          <a:noFill/>
          <a:ln w="11430">
            <a:solidFill>
              <a:srgbClr val="7D8AA0"/>
            </a:solidFill>
            <a:prstDash val="solid"/>
          </a:ln>
        </p:spPr>
      </p:sp>
      <p:sp>
        <p:nvSpPr>
          <p:cNvPr id="181" name="Shape 179"/>
          <p:cNvSpPr/>
          <p:nvPr/>
        </p:nvSpPr>
        <p:spPr>
          <a:xfrm>
            <a:off x="10698455" y="2775563"/>
            <a:ext cx="82296" cy="82296"/>
          </a:xfrm>
          <a:prstGeom prst="ellipse">
            <a:avLst/>
          </a:prstGeom>
          <a:solidFill>
            <a:srgbClr val="9AA6B6"/>
          </a:solidFill>
          <a:ln/>
        </p:spPr>
      </p:sp>
      <p:sp>
        <p:nvSpPr>
          <p:cNvPr id="182" name="Shape 180"/>
          <p:cNvSpPr/>
          <p:nvPr/>
        </p:nvSpPr>
        <p:spPr>
          <a:xfrm>
            <a:off x="9967631" y="3580056"/>
            <a:ext cx="347472" cy="201168"/>
          </a:xfrm>
          <a:prstGeom prst="line">
            <a:avLst/>
          </a:prstGeom>
          <a:noFill/>
          <a:ln w="11430">
            <a:solidFill>
              <a:srgbClr val="7D8AA0"/>
            </a:solidFill>
            <a:prstDash val="solid"/>
          </a:ln>
        </p:spPr>
      </p:sp>
      <p:sp>
        <p:nvSpPr>
          <p:cNvPr id="183" name="Shape 181"/>
          <p:cNvSpPr/>
          <p:nvPr/>
        </p:nvSpPr>
        <p:spPr>
          <a:xfrm>
            <a:off x="10273955" y="3740076"/>
            <a:ext cx="82296" cy="82296"/>
          </a:xfrm>
          <a:prstGeom prst="ellipse">
            <a:avLst/>
          </a:prstGeom>
          <a:solidFill>
            <a:srgbClr val="9AA6B6"/>
          </a:solidFill>
          <a:ln/>
        </p:spPr>
      </p:sp>
      <p:sp>
        <p:nvSpPr>
          <p:cNvPr id="184" name="Shape 182"/>
          <p:cNvSpPr/>
          <p:nvPr/>
        </p:nvSpPr>
        <p:spPr>
          <a:xfrm flipV="1">
            <a:off x="8854522" y="3314700"/>
            <a:ext cx="384048" cy="182880"/>
          </a:xfrm>
          <a:prstGeom prst="line">
            <a:avLst/>
          </a:prstGeom>
          <a:noFill/>
          <a:ln w="11430">
            <a:solidFill>
              <a:srgbClr val="7D8AA0"/>
            </a:solidFill>
            <a:prstDash val="solid"/>
          </a:ln>
        </p:spPr>
      </p:sp>
      <p:sp>
        <p:nvSpPr>
          <p:cNvPr id="185" name="Shape 183"/>
          <p:cNvSpPr/>
          <p:nvPr/>
        </p:nvSpPr>
        <p:spPr>
          <a:xfrm>
            <a:off x="8813374" y="3456432"/>
            <a:ext cx="82296" cy="82296"/>
          </a:xfrm>
          <a:prstGeom prst="ellipse">
            <a:avLst/>
          </a:prstGeom>
          <a:solidFill>
            <a:srgbClr val="9AA6B6"/>
          </a:solidFill>
          <a:ln/>
        </p:spPr>
      </p:sp>
      <p:sp>
        <p:nvSpPr>
          <p:cNvPr id="186" name="Shape 184"/>
          <p:cNvSpPr/>
          <p:nvPr/>
        </p:nvSpPr>
        <p:spPr>
          <a:xfrm>
            <a:off x="8755405" y="2862431"/>
            <a:ext cx="411480" cy="45720"/>
          </a:xfrm>
          <a:prstGeom prst="line">
            <a:avLst/>
          </a:prstGeom>
          <a:noFill/>
          <a:ln w="11430">
            <a:solidFill>
              <a:srgbClr val="7D8AA0"/>
            </a:solidFill>
            <a:prstDash val="solid"/>
          </a:ln>
        </p:spPr>
      </p:sp>
      <p:sp>
        <p:nvSpPr>
          <p:cNvPr id="187" name="Shape 185"/>
          <p:cNvSpPr/>
          <p:nvPr/>
        </p:nvSpPr>
        <p:spPr>
          <a:xfrm>
            <a:off x="8714257" y="2821283"/>
            <a:ext cx="82296" cy="82296"/>
          </a:xfrm>
          <a:prstGeom prst="ellipse">
            <a:avLst/>
          </a:prstGeom>
          <a:solidFill>
            <a:srgbClr val="9AA6B6"/>
          </a:solidFill>
          <a:ln/>
        </p:spPr>
      </p:sp>
      <p:sp>
        <p:nvSpPr>
          <p:cNvPr id="188" name="Shape 186"/>
          <p:cNvSpPr/>
          <p:nvPr/>
        </p:nvSpPr>
        <p:spPr>
          <a:xfrm>
            <a:off x="9710928" y="2359152"/>
            <a:ext cx="100584" cy="100584"/>
          </a:xfrm>
          <a:prstGeom prst="ellipse">
            <a:avLst/>
          </a:prstGeom>
          <a:solidFill>
            <a:srgbClr val="E8ECF2"/>
          </a:solidFill>
          <a:ln/>
        </p:spPr>
      </p:sp>
      <p:sp>
        <p:nvSpPr>
          <p:cNvPr id="189" name="Shape 187"/>
          <p:cNvSpPr/>
          <p:nvPr/>
        </p:nvSpPr>
        <p:spPr>
          <a:xfrm>
            <a:off x="10098853" y="2500345"/>
            <a:ext cx="100584" cy="100584"/>
          </a:xfrm>
          <a:prstGeom prst="ellipse">
            <a:avLst/>
          </a:prstGeom>
          <a:solidFill>
            <a:srgbClr val="E8ECF2"/>
          </a:solidFill>
          <a:ln/>
        </p:spPr>
      </p:sp>
      <p:sp>
        <p:nvSpPr>
          <p:cNvPr id="190" name="Shape 188"/>
          <p:cNvSpPr/>
          <p:nvPr/>
        </p:nvSpPr>
        <p:spPr>
          <a:xfrm>
            <a:off x="10305263" y="2857859"/>
            <a:ext cx="100584" cy="100584"/>
          </a:xfrm>
          <a:prstGeom prst="ellipse">
            <a:avLst/>
          </a:prstGeom>
          <a:solidFill>
            <a:srgbClr val="E8ECF2"/>
          </a:solidFill>
          <a:ln/>
        </p:spPr>
      </p:sp>
      <p:sp>
        <p:nvSpPr>
          <p:cNvPr id="191" name="Shape 189"/>
          <p:cNvSpPr/>
          <p:nvPr/>
        </p:nvSpPr>
        <p:spPr>
          <a:xfrm>
            <a:off x="10233578" y="3264408"/>
            <a:ext cx="100584" cy="100584"/>
          </a:xfrm>
          <a:prstGeom prst="ellipse">
            <a:avLst/>
          </a:prstGeom>
          <a:solidFill>
            <a:srgbClr val="E8ECF2"/>
          </a:solidFill>
          <a:ln/>
        </p:spPr>
      </p:sp>
      <p:sp>
        <p:nvSpPr>
          <p:cNvPr id="192" name="Shape 190"/>
          <p:cNvSpPr/>
          <p:nvPr/>
        </p:nvSpPr>
        <p:spPr>
          <a:xfrm>
            <a:off x="9917339" y="3529764"/>
            <a:ext cx="100584" cy="100584"/>
          </a:xfrm>
          <a:prstGeom prst="ellipse">
            <a:avLst/>
          </a:prstGeom>
          <a:solidFill>
            <a:srgbClr val="E8ECF2"/>
          </a:solidFill>
          <a:ln/>
        </p:spPr>
      </p:sp>
      <p:sp>
        <p:nvSpPr>
          <p:cNvPr id="193" name="Shape 191"/>
          <p:cNvSpPr/>
          <p:nvPr/>
        </p:nvSpPr>
        <p:spPr>
          <a:xfrm>
            <a:off x="9504517" y="3529764"/>
            <a:ext cx="100584" cy="100584"/>
          </a:xfrm>
          <a:prstGeom prst="ellipse">
            <a:avLst/>
          </a:prstGeom>
          <a:solidFill>
            <a:srgbClr val="E8ECF2"/>
          </a:solidFill>
          <a:ln/>
        </p:spPr>
      </p:sp>
      <p:sp>
        <p:nvSpPr>
          <p:cNvPr id="194" name="Shape 192"/>
          <p:cNvSpPr/>
          <p:nvPr/>
        </p:nvSpPr>
        <p:spPr>
          <a:xfrm>
            <a:off x="9188278" y="3264408"/>
            <a:ext cx="100584" cy="100584"/>
          </a:xfrm>
          <a:prstGeom prst="ellipse">
            <a:avLst/>
          </a:prstGeom>
          <a:solidFill>
            <a:srgbClr val="E8ECF2"/>
          </a:solidFill>
          <a:ln/>
        </p:spPr>
      </p:sp>
      <p:sp>
        <p:nvSpPr>
          <p:cNvPr id="195" name="Shape 193"/>
          <p:cNvSpPr/>
          <p:nvPr/>
        </p:nvSpPr>
        <p:spPr>
          <a:xfrm>
            <a:off x="9116593" y="2857859"/>
            <a:ext cx="100584" cy="100584"/>
          </a:xfrm>
          <a:prstGeom prst="ellipse">
            <a:avLst/>
          </a:prstGeom>
          <a:solidFill>
            <a:srgbClr val="E8ECF2"/>
          </a:solidFill>
          <a:ln/>
        </p:spPr>
      </p:sp>
      <p:sp>
        <p:nvSpPr>
          <p:cNvPr id="196" name="Shape 194"/>
          <p:cNvSpPr/>
          <p:nvPr/>
        </p:nvSpPr>
        <p:spPr>
          <a:xfrm>
            <a:off x="9323003" y="2500345"/>
            <a:ext cx="100584" cy="100584"/>
          </a:xfrm>
          <a:prstGeom prst="ellipse">
            <a:avLst/>
          </a:prstGeom>
          <a:solidFill>
            <a:srgbClr val="E8ECF2"/>
          </a:solidFill>
          <a:ln/>
        </p:spPr>
      </p:sp>
      <p:sp>
        <p:nvSpPr>
          <p:cNvPr id="197" name="Text 195"/>
          <p:cNvSpPr txBox="1"/>
          <p:nvPr/>
        </p:nvSpPr>
        <p:spPr>
          <a:xfrm>
            <a:off x="640080" y="3950208"/>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Sparse</a:t>
            </a:r>
            <a:endParaRPr lang="en-US" sz="2000" dirty="0"/>
          </a:p>
        </p:txBody>
      </p:sp>
      <p:sp>
        <p:nvSpPr>
          <p:cNvPr id="198" name="Text 196"/>
          <p:cNvSpPr txBox="1"/>
          <p:nvPr/>
        </p:nvSpPr>
        <p:spPr>
          <a:xfrm>
            <a:off x="640080" y="4352544"/>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1,357 · 2,280–2,282 edges · tw ≥ 5</a:t>
            </a:r>
            <a:endParaRPr lang="en-US" sz="1250" dirty="0"/>
          </a:p>
        </p:txBody>
      </p:sp>
      <p:sp>
        <p:nvSpPr>
          <p:cNvPr id="199" name="Text 197"/>
          <p:cNvSpPr txBox="1"/>
          <p:nvPr/>
        </p:nvSpPr>
        <p:spPr>
          <a:xfrm>
            <a:off x="640080" y="4681728"/>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small-graph (ESA): a grid with 207 pendant vertices. synth-1, 2, 3 match it: 10 × 115 grids, 100 edges removed, 207 pendants.</a:t>
            </a:r>
            <a:endParaRPr lang="en-US" sz="1300" dirty="0"/>
          </a:p>
        </p:txBody>
      </p:sp>
      <p:sp>
        <p:nvSpPr>
          <p:cNvPr id="200" name="Text 198"/>
          <p:cNvSpPr txBox="1"/>
          <p:nvPr/>
        </p:nvSpPr>
        <p:spPr>
          <a:xfrm>
            <a:off x="4343400" y="3950208"/>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Medium, rewired</a:t>
            </a:r>
            <a:endParaRPr lang="en-US" sz="2000" dirty="0"/>
          </a:p>
        </p:txBody>
      </p:sp>
      <p:sp>
        <p:nvSpPr>
          <p:cNvPr id="201" name="Text 199"/>
          <p:cNvSpPr txBox="1"/>
          <p:nvPr/>
        </p:nvSpPr>
        <p:spPr>
          <a:xfrm>
            <a:off x="4343400" y="4352544"/>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1,399 · 13,799 edges · tw ≥ 63–73</a:t>
            </a:r>
            <a:endParaRPr lang="en-US" sz="1250" dirty="0"/>
          </a:p>
        </p:txBody>
      </p:sp>
      <p:sp>
        <p:nvSpPr>
          <p:cNvPr id="202" name="Text 200"/>
          <p:cNvSpPr txBox="1"/>
          <p:nvPr/>
        </p:nvSpPr>
        <p:spPr>
          <a:xfrm>
            <a:off x="4343400" y="4681728"/>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medium-graph (ESA). synth-4 and synth-5 rewire its edges while keeping the degree of every vertex.</a:t>
            </a:r>
            <a:endParaRPr lang="en-US" sz="1300" dirty="0"/>
          </a:p>
        </p:txBody>
      </p:sp>
      <p:sp>
        <p:nvSpPr>
          <p:cNvPr id="203" name="Text 201"/>
          <p:cNvSpPr txBox="1"/>
          <p:nvPr/>
        </p:nvSpPr>
        <p:spPr>
          <a:xfrm>
            <a:off x="8046720" y="3950208"/>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Dense, clique-pinned</a:t>
            </a:r>
            <a:endParaRPr lang="en-US" sz="2000" dirty="0"/>
          </a:p>
        </p:txBody>
      </p:sp>
      <p:sp>
        <p:nvSpPr>
          <p:cNvPr id="204" name="Text 202"/>
          <p:cNvSpPr txBox="1"/>
          <p:nvPr/>
        </p:nvSpPr>
        <p:spPr>
          <a:xfrm>
            <a:off x="8046720" y="4352544"/>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2,426 · 253,895 edges · tw 499–500</a:t>
            </a:r>
            <a:endParaRPr lang="en-US" sz="1250" dirty="0"/>
          </a:p>
        </p:txBody>
      </p:sp>
      <p:sp>
        <p:nvSpPr>
          <p:cNvPr id="205" name="Text 203"/>
          <p:cNvSpPr txBox="1"/>
          <p:nvPr/>
        </p:nvSpPr>
        <p:spPr>
          <a:xfrm>
            <a:off x="8046720" y="4681728"/>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large-graph (ESA), with cliques of 500, 400 and 300 vertices. synth-6 and synth-7 rewire it and keep the cliques.</a:t>
            </a:r>
            <a:endParaRPr lang="en-US" sz="1300" dirty="0"/>
          </a:p>
        </p:txBody>
      </p:sp>
      <p:sp>
        <p:nvSpPr>
          <p:cNvPr id="206" name="Text 204"/>
          <p:cNvSpPr txBox="1"/>
          <p:nvPr/>
        </p:nvSpPr>
        <p:spPr>
          <a:xfrm>
            <a:off x="640080" y="5650992"/>
            <a:ext cx="10911535" cy="64008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Within a family the size is identical and only the structure differs. The ten instances are therefore three independent structures, and results are read per family.</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4 · METHODS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Methods compared</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1600200"/>
                <a:gridCol w="914400"/>
                <a:gridCol w="4069080"/>
                <a:gridCol w="3017520"/>
                <a:gridCol w="1310335"/>
              </a:tblGrid>
              <a:tr h="365760">
                <a:tc>
                  <a:txBody>
                    <a:bodyPr/>
                    <a:lstStyle/>
                    <a:p>
                      <a:pPr indent="0" marL="0">
                        <a:buNone/>
                      </a:pPr>
                      <a:r>
                        <a:rPr lang="en-US" sz="1100" b="1" dirty="0">
                          <a:solidFill>
                            <a:srgbClr val="9AA6B6"/>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73152" marR="73152" marT="36576" marB="36576"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indent="0" marL="0">
                        <a:buNone/>
                      </a:pPr>
                      <a:r>
                        <a:rPr lang="en-US" sz="1100" b="1" dirty="0">
                          <a:solidFill>
                            <a:srgbClr val="9AA6B6"/>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73152" marR="73152" marT="36576" marB="36576"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indent="0" marL="0">
                        <a:buNone/>
                      </a:pPr>
                      <a:r>
                        <a:rPr lang="en-US" sz="1100" b="1" dirty="0">
                          <a:solidFill>
                            <a:srgbClr val="9AA6B6"/>
                          </a:solidFill>
                          <a:latin typeface="Calibri" pitchFamily="34" charset="0"/>
                          <a:ea typeface="Calibri" pitchFamily="34" charset="-122"/>
                          <a:cs typeface="Calibri" pitchFamily="34" charset="-120"/>
                        </a:rPr>
                        <a:t>Idea</a:t>
                      </a:r>
                      <a:endParaRPr lang="en-US" sz="1100" dirty="0">
                        <a:latin typeface="Calibri" charset="0"/>
                        <a:ea typeface="Calibri" charset="0"/>
                        <a:cs typeface="Calibri" charset="0"/>
                      </a:endParaRPr>
                    </a:p>
                  </a:txBody>
                  <a:tcPr marL="73152" marR="73152" marT="36576" marB="36576"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indent="0" marL="0">
                        <a:buNone/>
                      </a:pPr>
                      <a:r>
                        <a:rPr lang="en-US" sz="1100" b="1" dirty="0">
                          <a:solidFill>
                            <a:srgbClr val="9AA6B6"/>
                          </a:solidFill>
                          <a:latin typeface="Calibri" pitchFamily="34" charset="0"/>
                          <a:ea typeface="Calibri" pitchFamily="34" charset="-122"/>
                          <a:cs typeface="Calibri" pitchFamily="34" charset="-120"/>
                        </a:rPr>
                        <a:t>Implementation in this study</a:t>
                      </a:r>
                      <a:endParaRPr lang="en-US" sz="1100" dirty="0">
                        <a:latin typeface="Calibri" charset="0"/>
                        <a:ea typeface="Calibri" charset="0"/>
                        <a:cs typeface="Calibri" charset="0"/>
                      </a:endParaRPr>
                    </a:p>
                  </a:txBody>
                  <a:tcPr marL="73152" marR="73152" marT="36576" marB="36576"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indent="0" marL="0">
                        <a:buNone/>
                      </a:pPr>
                      <a:r>
                        <a:rPr lang="en-US" sz="1100" b="1" dirty="0">
                          <a:solidFill>
                            <a:srgbClr val="9AA6B6"/>
                          </a:solidFill>
                          <a:latin typeface="Calibri" pitchFamily="34" charset="0"/>
                          <a:ea typeface="Calibri" pitchFamily="34" charset="-122"/>
                          <a:cs typeface="Calibri" pitchFamily="34" charset="-120"/>
                        </a:rPr>
                        <a:t>Hardware</a:t>
                      </a:r>
                      <a:endParaRPr lang="en-US" sz="1100" dirty="0">
                        <a:latin typeface="Calibri" charset="0"/>
                        <a:ea typeface="Calibri" charset="0"/>
                        <a:cs typeface="Calibri" charset="0"/>
                      </a:endParaRPr>
                    </a:p>
                  </a:txBody>
                  <a:tcPr marL="73152" marR="73152" marT="36576" marB="36576"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640080">
                <a:tc>
                  <a:txBody>
                    <a:bodyPr/>
                    <a:lstStyle/>
                    <a:p>
                      <a:pPr indent="0" marL="0">
                        <a:buNone/>
                      </a:pPr>
                      <a:r>
                        <a:rPr lang="en-US" sz="1250" b="1"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4DA3FF"/>
                          </a:solidFill>
                          <a:latin typeface="Calibri" pitchFamily="34" charset="0"/>
                          <a:ea typeface="Calibri" pitchFamily="34" charset="-122"/>
                          <a:cs typeface="Calibri" pitchFamily="34" charset="-120"/>
                        </a:rPr>
                        <a:t>ESA #1</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Neuro-evolution of a vertex-scoring rule; the ordering sorts the vertices by their scores.</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The authors’ published GPU code, with one 32-bit overflow fixed</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9AA6B6"/>
                          </a:solidFill>
                          <a:latin typeface="Calibri" pitchFamily="34" charset="0"/>
                          <a:ea typeface="Calibri" pitchFamily="34" charset="-122"/>
                          <a:cs typeface="Calibri" pitchFamily="34" charset="-120"/>
                        </a:rPr>
                        <a:t>1 NVIDIA T4 GPU</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640080">
                <a:tc>
                  <a:txBody>
                    <a:bodyPr/>
                    <a:lstStyle/>
                    <a:p>
                      <a:pPr indent="0" marL="0">
                        <a:buNone/>
                      </a:pPr>
                      <a:r>
                        <a:rPr lang="en-US" sz="1250" b="1"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4DA3FF"/>
                          </a:solidFill>
                          <a:latin typeface="Calibri" pitchFamily="34" charset="0"/>
                          <a:ea typeface="Calibri" pitchFamily="34" charset="-122"/>
                          <a:cs typeface="Calibri" pitchFamily="34" charset="-120"/>
                        </a:rPr>
                        <a:t>ESA #2</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Large-neighbourhood search: remove a vertex and its neighbours, then reinsert each at the median of its neighbours.</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Re-implemented from the team’s paper; no code was published</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9AA6B6"/>
                          </a:solidFill>
                          <a:latin typeface="Calibri" pitchFamily="34" charset="0"/>
                          <a:ea typeface="Calibri" pitchFamily="34" charset="-122"/>
                          <a:cs typeface="Calibri" pitchFamily="34" charset="-120"/>
                        </a:rPr>
                        <a:t>1 CPU core</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640080">
                <a:tc>
                  <a:txBody>
                    <a:bodyPr/>
                    <a:lstStyle/>
                    <a:p>
                      <a:pPr indent="0" marL="0">
                        <a:buNone/>
                      </a:pPr>
                      <a:r>
                        <a:rPr lang="en-US" sz="1250" b="1"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4DA3FF"/>
                          </a:solidFill>
                          <a:latin typeface="Calibri" pitchFamily="34" charset="0"/>
                          <a:ea typeface="Calibri" pitchFamily="34" charset="-122"/>
                          <a:cs typeface="Calibri" pitchFamily="34" charset="-120"/>
                        </a:rPr>
                        <a:t>ESA #4</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CMA-ES over the weights of vertex features; the ordering sorts the vertices by weighted score.</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Ported from the fast-cma-es approach</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9AA6B6"/>
                          </a:solidFill>
                          <a:latin typeface="Calibri" pitchFamily="34" charset="0"/>
                          <a:ea typeface="Calibri" pitchFamily="34" charset="-122"/>
                          <a:cs typeface="Calibri" pitchFamily="34" charset="-120"/>
                        </a:rPr>
                        <a:t>1 CPU core</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640080">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Hill-Climbing</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9AA6B6"/>
                          </a:solidFill>
                          <a:latin typeface="Calibri" pitchFamily="34" charset="0"/>
                          <a:ea typeface="Calibri" pitchFamily="34" charset="-122"/>
                          <a:cs typeface="Calibri" pitchFamily="34" charset="-120"/>
                        </a:rPr>
                        <a:t>this study</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Local search over orderings, from a min-degree start (next slide).</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This study</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9AA6B6"/>
                          </a:solidFill>
                          <a:latin typeface="Calibri" pitchFamily="34" charset="0"/>
                          <a:ea typeface="Calibri" pitchFamily="34" charset="-122"/>
                          <a:cs typeface="Calibri" pitchFamily="34" charset="-120"/>
                        </a:rPr>
                        <a:t>1 CPU core</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640080">
                <a:tc>
                  <a:txBody>
                    <a:bodyPr/>
                    <a:lstStyle/>
                    <a:p>
                      <a:pPr indent="0" marL="0">
                        <a:buNone/>
                      </a:pPr>
                      <a:r>
                        <a:rPr lang="en-US" sz="1250" b="1" dirty="0">
                          <a:solidFill>
                            <a:srgbClr val="E8ECF2"/>
                          </a:solidFill>
                          <a:latin typeface="Calibri" pitchFamily="34" charset="0"/>
                          <a:ea typeface="Calibri" pitchFamily="34" charset="-122"/>
                          <a:cs typeface="Calibri" pitchFamily="34" charset="-120"/>
                        </a:rPr>
                        <a:t>min-degree ×8</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9AA6B6"/>
                          </a:solidFill>
                          <a:latin typeface="Calibri" pitchFamily="34" charset="0"/>
                          <a:ea typeface="Calibri" pitchFamily="34" charset="-122"/>
                          <a:cs typeface="Calibri" pitchFamily="34" charset="-120"/>
                        </a:rPr>
                        <a:t>baseline</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No search: eight greedy min-degree constructions, merged into one front.</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00" dirty="0">
                          <a:solidFill>
                            <a:srgbClr val="E8ECF2"/>
                          </a:solidFill>
                          <a:latin typeface="Calibri" pitchFamily="34" charset="0"/>
                          <a:ea typeface="Calibri" pitchFamily="34" charset="-122"/>
                          <a:cs typeface="Calibri" pitchFamily="34" charset="-120"/>
                        </a:rPr>
                        <a:t>This study; the starting point of Hill-Climbing</a:t>
                      </a:r>
                      <a:endParaRPr lang="en-US" sz="120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9AA6B6"/>
                          </a:solidFill>
                          <a:latin typeface="Calibri" pitchFamily="34" charset="0"/>
                          <a:ea typeface="Calibri" pitchFamily="34" charset="-122"/>
                          <a:cs typeface="Calibri" pitchFamily="34" charset="-120"/>
                        </a:rPr>
                        <a:t>1 CPU core</a:t>
                      </a:r>
                      <a:endParaRPr lang="en-US" sz="1250" dirty="0">
                        <a:latin typeface="Calibri" charset="0"/>
                        <a:ea typeface="Calibri" charset="0"/>
                        <a:cs typeface="Calibri" charset="0"/>
                      </a:endParaRPr>
                    </a:p>
                  </a:txBody>
                  <a:tcPr marL="73152" marR="73152" marT="36576" marB="36576"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10911535" cy="566928"/>
          </a:xfrm>
          <a:prstGeom prst="rect">
            <a:avLst/>
          </a:prstGeom>
          <a:noFill/>
          <a:ln/>
        </p:spPr>
        <p:txBody>
          <a:bodyPr wrap="square" lIns="0" tIns="0" rIns="0" bIns="0" rtlCol="0" anchor="t"/>
          <a:lstStyle/>
          <a:p>
            <a:pPr indent="0" marL="0">
              <a:buNone/>
            </a:pPr>
            <a:r>
              <a:rPr lang="en-US" sz="1100" i="1" dirty="0">
                <a:solidFill>
                  <a:srgbClr val="7D8AA0"/>
                </a:solidFill>
                <a:latin typeface="Calibri" pitchFamily="34" charset="0"/>
                <a:ea typeface="Calibri" pitchFamily="34" charset="-122"/>
                <a:cs typeface="Calibri" pitchFamily="34" charset="-120"/>
              </a:rPr>
              <a:t>ESA #: overall rank in ESA’s SpOC-3 torso ranking. Min-degree: always eliminate a vertex with the fewest current neighbours, a classical greedy heuristic. Each method runs on the hardware it was designed for.</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4 · METHODS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Hill-Climbing method of this study</a:t>
            </a:r>
            <a:endParaRPr lang="en-US" sz="2700" dirty="0"/>
          </a:p>
        </p:txBody>
      </p:sp>
      <p:sp>
        <p:nvSpPr>
          <p:cNvPr id="4" name="Shape 2"/>
          <p:cNvSpPr/>
          <p:nvPr/>
        </p:nvSpPr>
        <p:spPr>
          <a:xfrm>
            <a:off x="640080" y="1810512"/>
            <a:ext cx="1962851" cy="2020824"/>
          </a:xfrm>
          <a:prstGeom prst="rect">
            <a:avLst/>
          </a:prstGeom>
          <a:solidFill>
            <a:srgbClr val="131B28"/>
          </a:solidFill>
          <a:ln/>
        </p:spPr>
      </p:sp>
      <p:sp>
        <p:nvSpPr>
          <p:cNvPr id="5" name="Shape 3"/>
          <p:cNvSpPr/>
          <p:nvPr/>
        </p:nvSpPr>
        <p:spPr>
          <a:xfrm>
            <a:off x="640080" y="1810512"/>
            <a:ext cx="1962851" cy="45720"/>
          </a:xfrm>
          <a:prstGeom prst="rect">
            <a:avLst/>
          </a:prstGeom>
          <a:solidFill>
            <a:srgbClr val="3DDC97"/>
          </a:solidFill>
          <a:ln/>
        </p:spPr>
      </p:sp>
      <p:sp>
        <p:nvSpPr>
          <p:cNvPr id="6" name="Text 4"/>
          <p:cNvSpPr txBox="1"/>
          <p:nvPr/>
        </p:nvSpPr>
        <p:spPr>
          <a:xfrm>
            <a:off x="804672" y="1965960"/>
            <a:ext cx="274320" cy="292608"/>
          </a:xfrm>
          <a:prstGeom prst="rect">
            <a:avLst/>
          </a:prstGeom>
          <a:noFill/>
          <a:ln/>
        </p:spPr>
        <p:txBody>
          <a:bodyPr wrap="square" lIns="0" tIns="0" rIns="0" bIns="0" rtlCol="0" anchor="t"/>
          <a:lstStyle/>
          <a:p>
            <a:pPr indent="0" marL="0">
              <a:buNone/>
            </a:pPr>
            <a:r>
              <a:rPr lang="en-US" sz="1600" dirty="0">
                <a:solidFill>
                  <a:srgbClr val="3DDC97"/>
                </a:solidFill>
                <a:latin typeface="Century Schoolbook" pitchFamily="34" charset="0"/>
                <a:ea typeface="Century Schoolbook" pitchFamily="34" charset="-122"/>
                <a:cs typeface="Century Schoolbook" pitchFamily="34" charset="-120"/>
              </a:rPr>
              <a:t>1</a:t>
            </a:r>
            <a:endParaRPr lang="en-US" sz="1600" dirty="0"/>
          </a:p>
        </p:txBody>
      </p:sp>
      <p:sp>
        <p:nvSpPr>
          <p:cNvPr id="7" name="Text 5"/>
          <p:cNvSpPr txBox="1"/>
          <p:nvPr/>
        </p:nvSpPr>
        <p:spPr>
          <a:xfrm>
            <a:off x="1078992" y="1993392"/>
            <a:ext cx="1450787" cy="42062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Start</a:t>
            </a:r>
            <a:endParaRPr lang="en-US" sz="1250" dirty="0"/>
          </a:p>
        </p:txBody>
      </p:sp>
      <p:sp>
        <p:nvSpPr>
          <p:cNvPr id="8" name="Text 6"/>
          <p:cNvSpPr txBox="1"/>
          <p:nvPr/>
        </p:nvSpPr>
        <p:spPr>
          <a:xfrm>
            <a:off x="804672" y="2523744"/>
            <a:ext cx="1688531" cy="123444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A fresh min-degree ordering, with ties broken at random.</a:t>
            </a:r>
            <a:endParaRPr lang="en-US" sz="1150" dirty="0"/>
          </a:p>
        </p:txBody>
      </p:sp>
      <p:sp>
        <p:nvSpPr>
          <p:cNvPr id="9" name="Shape 7"/>
          <p:cNvSpPr/>
          <p:nvPr/>
        </p:nvSpPr>
        <p:spPr>
          <a:xfrm>
            <a:off x="2639507" y="2820924"/>
            <a:ext cx="201168" cy="0"/>
          </a:xfrm>
          <a:prstGeom prst="line">
            <a:avLst/>
          </a:prstGeom>
          <a:noFill/>
          <a:ln w="15875">
            <a:solidFill>
              <a:srgbClr val="9AA6B6"/>
            </a:solidFill>
            <a:prstDash val="solid"/>
            <a:tailEnd type="triangle"/>
          </a:ln>
        </p:spPr>
      </p:sp>
      <p:sp>
        <p:nvSpPr>
          <p:cNvPr id="10" name="Shape 8"/>
          <p:cNvSpPr/>
          <p:nvPr/>
        </p:nvSpPr>
        <p:spPr>
          <a:xfrm>
            <a:off x="2877251" y="1810512"/>
            <a:ext cx="1962851" cy="2020824"/>
          </a:xfrm>
          <a:prstGeom prst="rect">
            <a:avLst/>
          </a:prstGeom>
          <a:solidFill>
            <a:srgbClr val="131B28"/>
          </a:solidFill>
          <a:ln/>
        </p:spPr>
      </p:sp>
      <p:sp>
        <p:nvSpPr>
          <p:cNvPr id="11" name="Shape 9"/>
          <p:cNvSpPr/>
          <p:nvPr/>
        </p:nvSpPr>
        <p:spPr>
          <a:xfrm>
            <a:off x="2877251" y="1810512"/>
            <a:ext cx="1962851" cy="45720"/>
          </a:xfrm>
          <a:prstGeom prst="rect">
            <a:avLst/>
          </a:prstGeom>
          <a:solidFill>
            <a:srgbClr val="3DDC97"/>
          </a:solidFill>
          <a:ln/>
        </p:spPr>
      </p:sp>
      <p:sp>
        <p:nvSpPr>
          <p:cNvPr id="12" name="Text 10"/>
          <p:cNvSpPr txBox="1"/>
          <p:nvPr/>
        </p:nvSpPr>
        <p:spPr>
          <a:xfrm>
            <a:off x="3041843" y="1965960"/>
            <a:ext cx="274320" cy="292608"/>
          </a:xfrm>
          <a:prstGeom prst="rect">
            <a:avLst/>
          </a:prstGeom>
          <a:noFill/>
          <a:ln/>
        </p:spPr>
        <p:txBody>
          <a:bodyPr wrap="square" lIns="0" tIns="0" rIns="0" bIns="0" rtlCol="0" anchor="t"/>
          <a:lstStyle/>
          <a:p>
            <a:pPr indent="0" marL="0">
              <a:buNone/>
            </a:pPr>
            <a:r>
              <a:rPr lang="en-US" sz="1600" dirty="0">
                <a:solidFill>
                  <a:srgbClr val="3DDC97"/>
                </a:solidFill>
                <a:latin typeface="Century Schoolbook" pitchFamily="34" charset="0"/>
                <a:ea typeface="Century Schoolbook" pitchFamily="34" charset="-122"/>
                <a:cs typeface="Century Schoolbook" pitchFamily="34" charset="-120"/>
              </a:rPr>
              <a:t>2</a:t>
            </a:r>
            <a:endParaRPr lang="en-US" sz="1600" dirty="0"/>
          </a:p>
        </p:txBody>
      </p:sp>
      <p:sp>
        <p:nvSpPr>
          <p:cNvPr id="13" name="Text 11"/>
          <p:cNvSpPr txBox="1"/>
          <p:nvPr/>
        </p:nvSpPr>
        <p:spPr>
          <a:xfrm>
            <a:off x="3316163" y="1993392"/>
            <a:ext cx="1450787" cy="42062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Target width </a:t>
            </a:r>
            <a:r>
              <a:rPr lang="en-US" sz="1250" b="1" i="1" dirty="0">
                <a:solidFill>
                  <a:srgbClr val="E8ECF2"/>
                </a:solidFill>
                <a:latin typeface="Calibri" pitchFamily="34" charset="0"/>
                <a:ea typeface="Calibri" pitchFamily="34" charset="-122"/>
                <a:cs typeface="Calibri" pitchFamily="34" charset="-120"/>
              </a:rPr>
              <a:t>W</a:t>
            </a:r>
            <a:endParaRPr lang="en-US" sz="1250" dirty="0"/>
          </a:p>
        </p:txBody>
      </p:sp>
      <p:sp>
        <p:nvSpPr>
          <p:cNvPr id="14" name="Text 12"/>
          <p:cNvSpPr txBox="1"/>
          <p:nvPr/>
        </p:nvSpPr>
        <p:spPr>
          <a:xfrm>
            <a:off x="3041843" y="2523744"/>
            <a:ext cx="1688531" cy="123444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Eight targets spread over the widths min-degree reaches; equal time for each.</a:t>
            </a:r>
            <a:endParaRPr lang="en-US" sz="1150" dirty="0"/>
          </a:p>
        </p:txBody>
      </p:sp>
      <p:sp>
        <p:nvSpPr>
          <p:cNvPr id="15" name="Shape 13"/>
          <p:cNvSpPr/>
          <p:nvPr/>
        </p:nvSpPr>
        <p:spPr>
          <a:xfrm>
            <a:off x="4876678" y="2820924"/>
            <a:ext cx="201168" cy="0"/>
          </a:xfrm>
          <a:prstGeom prst="line">
            <a:avLst/>
          </a:prstGeom>
          <a:noFill/>
          <a:ln w="15875">
            <a:solidFill>
              <a:srgbClr val="9AA6B6"/>
            </a:solidFill>
            <a:prstDash val="solid"/>
            <a:tailEnd type="triangle"/>
          </a:ln>
        </p:spPr>
      </p:sp>
      <p:sp>
        <p:nvSpPr>
          <p:cNvPr id="16" name="Shape 14"/>
          <p:cNvSpPr/>
          <p:nvPr/>
        </p:nvSpPr>
        <p:spPr>
          <a:xfrm>
            <a:off x="5114422" y="1810512"/>
            <a:ext cx="1962851" cy="2020824"/>
          </a:xfrm>
          <a:prstGeom prst="rect">
            <a:avLst/>
          </a:prstGeom>
          <a:solidFill>
            <a:srgbClr val="131B28"/>
          </a:solidFill>
          <a:ln/>
        </p:spPr>
      </p:sp>
      <p:sp>
        <p:nvSpPr>
          <p:cNvPr id="17" name="Shape 15"/>
          <p:cNvSpPr/>
          <p:nvPr/>
        </p:nvSpPr>
        <p:spPr>
          <a:xfrm>
            <a:off x="5114422" y="1810512"/>
            <a:ext cx="1962851" cy="45720"/>
          </a:xfrm>
          <a:prstGeom prst="rect">
            <a:avLst/>
          </a:prstGeom>
          <a:solidFill>
            <a:srgbClr val="3DDC97"/>
          </a:solidFill>
          <a:ln/>
        </p:spPr>
      </p:sp>
      <p:sp>
        <p:nvSpPr>
          <p:cNvPr id="18" name="Text 16"/>
          <p:cNvSpPr txBox="1"/>
          <p:nvPr/>
        </p:nvSpPr>
        <p:spPr>
          <a:xfrm>
            <a:off x="5279014" y="1965960"/>
            <a:ext cx="274320" cy="292608"/>
          </a:xfrm>
          <a:prstGeom prst="rect">
            <a:avLst/>
          </a:prstGeom>
          <a:noFill/>
          <a:ln/>
        </p:spPr>
        <p:txBody>
          <a:bodyPr wrap="square" lIns="0" tIns="0" rIns="0" bIns="0" rtlCol="0" anchor="t"/>
          <a:lstStyle/>
          <a:p>
            <a:pPr indent="0" marL="0">
              <a:buNone/>
            </a:pPr>
            <a:r>
              <a:rPr lang="en-US" sz="1600" dirty="0">
                <a:solidFill>
                  <a:srgbClr val="3DDC97"/>
                </a:solidFill>
                <a:latin typeface="Century Schoolbook" pitchFamily="34" charset="0"/>
                <a:ea typeface="Century Schoolbook" pitchFamily="34" charset="-122"/>
                <a:cs typeface="Century Schoolbook" pitchFamily="34" charset="-120"/>
              </a:rPr>
              <a:t>3</a:t>
            </a:r>
            <a:endParaRPr lang="en-US" sz="1600" dirty="0"/>
          </a:p>
        </p:txBody>
      </p:sp>
      <p:sp>
        <p:nvSpPr>
          <p:cNvPr id="19" name="Text 17"/>
          <p:cNvSpPr txBox="1"/>
          <p:nvPr/>
        </p:nvSpPr>
        <p:spPr>
          <a:xfrm>
            <a:off x="5553334" y="1993392"/>
            <a:ext cx="1450787" cy="42062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Move</a:t>
            </a:r>
            <a:endParaRPr lang="en-US" sz="1250" dirty="0"/>
          </a:p>
        </p:txBody>
      </p:sp>
      <p:sp>
        <p:nvSpPr>
          <p:cNvPr id="20" name="Text 18"/>
          <p:cNvSpPr txBox="1"/>
          <p:nvPr/>
        </p:nvSpPr>
        <p:spPr>
          <a:xfrm>
            <a:off x="5279014" y="2523744"/>
            <a:ext cx="1688531" cy="123444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One of four operators at random: swap two consecutive vertices, swap any two, move one vertex, reverse a segment of 2–10.</a:t>
            </a:r>
            <a:endParaRPr lang="en-US" sz="1150" dirty="0"/>
          </a:p>
        </p:txBody>
      </p:sp>
      <p:sp>
        <p:nvSpPr>
          <p:cNvPr id="21" name="Shape 19"/>
          <p:cNvSpPr/>
          <p:nvPr/>
        </p:nvSpPr>
        <p:spPr>
          <a:xfrm>
            <a:off x="7113849" y="2820924"/>
            <a:ext cx="201168" cy="0"/>
          </a:xfrm>
          <a:prstGeom prst="line">
            <a:avLst/>
          </a:prstGeom>
          <a:noFill/>
          <a:ln w="15875">
            <a:solidFill>
              <a:srgbClr val="9AA6B6"/>
            </a:solidFill>
            <a:prstDash val="solid"/>
            <a:tailEnd type="triangle"/>
          </a:ln>
        </p:spPr>
      </p:sp>
      <p:sp>
        <p:nvSpPr>
          <p:cNvPr id="22" name="Shape 20"/>
          <p:cNvSpPr/>
          <p:nvPr/>
        </p:nvSpPr>
        <p:spPr>
          <a:xfrm>
            <a:off x="7351593" y="1810512"/>
            <a:ext cx="1962851" cy="2020824"/>
          </a:xfrm>
          <a:prstGeom prst="rect">
            <a:avLst/>
          </a:prstGeom>
          <a:solidFill>
            <a:srgbClr val="131B28"/>
          </a:solidFill>
          <a:ln/>
        </p:spPr>
      </p:sp>
      <p:sp>
        <p:nvSpPr>
          <p:cNvPr id="23" name="Shape 21"/>
          <p:cNvSpPr/>
          <p:nvPr/>
        </p:nvSpPr>
        <p:spPr>
          <a:xfrm>
            <a:off x="7351593" y="1810512"/>
            <a:ext cx="1962851" cy="45720"/>
          </a:xfrm>
          <a:prstGeom prst="rect">
            <a:avLst/>
          </a:prstGeom>
          <a:solidFill>
            <a:srgbClr val="F2C14E"/>
          </a:solidFill>
          <a:ln/>
        </p:spPr>
      </p:sp>
      <p:sp>
        <p:nvSpPr>
          <p:cNvPr id="24" name="Text 22"/>
          <p:cNvSpPr txBox="1"/>
          <p:nvPr/>
        </p:nvSpPr>
        <p:spPr>
          <a:xfrm>
            <a:off x="7516185" y="1965960"/>
            <a:ext cx="274320" cy="292608"/>
          </a:xfrm>
          <a:prstGeom prst="rect">
            <a:avLst/>
          </a:prstGeom>
          <a:noFill/>
          <a:ln/>
        </p:spPr>
        <p:txBody>
          <a:bodyPr wrap="square" lIns="0" tIns="0" rIns="0" bIns="0" rtlCol="0" anchor="t"/>
          <a:lstStyle/>
          <a:p>
            <a:pPr indent="0" marL="0">
              <a:buNone/>
            </a:pPr>
            <a:r>
              <a:rPr lang="en-US" sz="1600" dirty="0">
                <a:solidFill>
                  <a:srgbClr val="F2C14E"/>
                </a:solidFill>
                <a:latin typeface="Century Schoolbook" pitchFamily="34" charset="0"/>
                <a:ea typeface="Century Schoolbook" pitchFamily="34" charset="-122"/>
                <a:cs typeface="Century Schoolbook" pitchFamily="34" charset="-120"/>
              </a:rPr>
              <a:t>4</a:t>
            </a:r>
            <a:endParaRPr lang="en-US" sz="1600" dirty="0"/>
          </a:p>
        </p:txBody>
      </p:sp>
      <p:sp>
        <p:nvSpPr>
          <p:cNvPr id="25" name="Text 23"/>
          <p:cNvSpPr txBox="1"/>
          <p:nvPr/>
        </p:nvSpPr>
        <p:spPr>
          <a:xfrm>
            <a:off x="7790505" y="1993392"/>
            <a:ext cx="1450787" cy="42062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Accept</a:t>
            </a:r>
            <a:endParaRPr lang="en-US" sz="1250" dirty="0"/>
          </a:p>
        </p:txBody>
      </p:sp>
      <p:sp>
        <p:nvSpPr>
          <p:cNvPr id="26" name="Text 24"/>
          <p:cNvSpPr txBox="1"/>
          <p:nvPr/>
        </p:nvSpPr>
        <p:spPr>
          <a:xfrm>
            <a:off x="7516185" y="2523744"/>
            <a:ext cx="1688531" cy="123444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Keep the move only if it strictly lowers </a:t>
            </a:r>
            <a:r>
              <a:rPr lang="en-US" sz="1150" i="1" dirty="0">
                <a:solidFill>
                  <a:srgbClr val="E8ECF2"/>
                </a:solidFill>
                <a:latin typeface="Calibri" pitchFamily="34" charset="0"/>
                <a:ea typeface="Calibri" pitchFamily="34" charset="-122"/>
                <a:cs typeface="Calibri" pitchFamily="34" charset="-120"/>
              </a:rPr>
              <a:t>t</a:t>
            </a:r>
            <a:r>
              <a:rPr lang="en-US" sz="1150" dirty="0">
                <a:solidFill>
                  <a:srgbClr val="E8ECF2"/>
                </a:solidFill>
                <a:latin typeface="Calibri" pitchFamily="34" charset="0"/>
                <a:ea typeface="Calibri" pitchFamily="34" charset="-122"/>
                <a:cs typeface="Calibri" pitchFamily="34" charset="-120"/>
              </a:rPr>
              <a:t>, the number of vertices eliminated to reach width </a:t>
            </a:r>
            <a:r>
              <a:rPr lang="en-US" sz="1150" i="1" dirty="0">
                <a:solidFill>
                  <a:srgbClr val="E8ECF2"/>
                </a:solidFill>
                <a:latin typeface="Calibri" pitchFamily="34" charset="0"/>
                <a:ea typeface="Calibri" pitchFamily="34" charset="-122"/>
                <a:cs typeface="Calibri" pitchFamily="34" charset="-120"/>
              </a:rPr>
              <a:t>W</a:t>
            </a:r>
            <a:r>
              <a:rPr lang="en-US" sz="1150" dirty="0">
                <a:solidFill>
                  <a:srgbClr val="E8ECF2"/>
                </a:solidFill>
                <a:latin typeface="Calibri" pitchFamily="34" charset="0"/>
                <a:ea typeface="Calibri" pitchFamily="34" charset="-122"/>
                <a:cs typeface="Calibri" pitchFamily="34" charset="-120"/>
              </a:rPr>
              <a:t>.</a:t>
            </a:r>
            <a:endParaRPr lang="en-US" sz="1150" dirty="0"/>
          </a:p>
        </p:txBody>
      </p:sp>
      <p:sp>
        <p:nvSpPr>
          <p:cNvPr id="27" name="Shape 25"/>
          <p:cNvSpPr/>
          <p:nvPr/>
        </p:nvSpPr>
        <p:spPr>
          <a:xfrm>
            <a:off x="9351020" y="2820924"/>
            <a:ext cx="201168" cy="0"/>
          </a:xfrm>
          <a:prstGeom prst="line">
            <a:avLst/>
          </a:prstGeom>
          <a:noFill/>
          <a:ln w="15875">
            <a:solidFill>
              <a:srgbClr val="9AA6B6"/>
            </a:solidFill>
            <a:prstDash val="solid"/>
            <a:tailEnd type="triangle"/>
          </a:ln>
        </p:spPr>
      </p:sp>
      <p:sp>
        <p:nvSpPr>
          <p:cNvPr id="28" name="Shape 26"/>
          <p:cNvSpPr/>
          <p:nvPr/>
        </p:nvSpPr>
        <p:spPr>
          <a:xfrm>
            <a:off x="9588764" y="1810512"/>
            <a:ext cx="1962851" cy="2020824"/>
          </a:xfrm>
          <a:prstGeom prst="rect">
            <a:avLst/>
          </a:prstGeom>
          <a:solidFill>
            <a:srgbClr val="131B28"/>
          </a:solidFill>
          <a:ln/>
        </p:spPr>
      </p:sp>
      <p:sp>
        <p:nvSpPr>
          <p:cNvPr id="29" name="Shape 27"/>
          <p:cNvSpPr/>
          <p:nvPr/>
        </p:nvSpPr>
        <p:spPr>
          <a:xfrm>
            <a:off x="9588764" y="1810512"/>
            <a:ext cx="1962851" cy="45720"/>
          </a:xfrm>
          <a:prstGeom prst="rect">
            <a:avLst/>
          </a:prstGeom>
          <a:solidFill>
            <a:srgbClr val="3DDC97"/>
          </a:solidFill>
          <a:ln/>
        </p:spPr>
      </p:sp>
      <p:sp>
        <p:nvSpPr>
          <p:cNvPr id="30" name="Text 28"/>
          <p:cNvSpPr txBox="1"/>
          <p:nvPr/>
        </p:nvSpPr>
        <p:spPr>
          <a:xfrm>
            <a:off x="9753356" y="1965960"/>
            <a:ext cx="274320" cy="292608"/>
          </a:xfrm>
          <a:prstGeom prst="rect">
            <a:avLst/>
          </a:prstGeom>
          <a:noFill/>
          <a:ln/>
        </p:spPr>
        <p:txBody>
          <a:bodyPr wrap="square" lIns="0" tIns="0" rIns="0" bIns="0" rtlCol="0" anchor="t"/>
          <a:lstStyle/>
          <a:p>
            <a:pPr indent="0" marL="0">
              <a:buNone/>
            </a:pPr>
            <a:r>
              <a:rPr lang="en-US" sz="1600" dirty="0">
                <a:solidFill>
                  <a:srgbClr val="3DDC97"/>
                </a:solidFill>
                <a:latin typeface="Century Schoolbook" pitchFamily="34" charset="0"/>
                <a:ea typeface="Century Schoolbook" pitchFamily="34" charset="-122"/>
                <a:cs typeface="Century Schoolbook" pitchFamily="34" charset="-120"/>
              </a:rPr>
              <a:t>5</a:t>
            </a:r>
            <a:endParaRPr lang="en-US" sz="1600" dirty="0"/>
          </a:p>
        </p:txBody>
      </p:sp>
      <p:sp>
        <p:nvSpPr>
          <p:cNvPr id="31" name="Text 29"/>
          <p:cNvSpPr txBox="1"/>
          <p:nvPr/>
        </p:nvSpPr>
        <p:spPr>
          <a:xfrm>
            <a:off x="10027676" y="1993392"/>
            <a:ext cx="1450787" cy="42062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Archive</a:t>
            </a:r>
            <a:endParaRPr lang="en-US" sz="1250" dirty="0"/>
          </a:p>
        </p:txBody>
      </p:sp>
      <p:sp>
        <p:nvSpPr>
          <p:cNvPr id="32" name="Text 30"/>
          <p:cNvSpPr txBox="1"/>
          <p:nvPr/>
        </p:nvSpPr>
        <p:spPr>
          <a:xfrm>
            <a:off x="9753356" y="2523744"/>
            <a:ext cx="1688531" cy="123444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Every evaluated ordering adds its points to a shared front; the best 20 are chosen exactly by dynamic programming.</a:t>
            </a:r>
            <a:endParaRPr lang="en-US" sz="1150" dirty="0"/>
          </a:p>
        </p:txBody>
      </p:sp>
      <p:sp>
        <p:nvSpPr>
          <p:cNvPr id="33" name="Shape 31"/>
          <p:cNvSpPr/>
          <p:nvPr/>
        </p:nvSpPr>
        <p:spPr>
          <a:xfrm>
            <a:off x="8333019" y="3831336"/>
            <a:ext cx="0" cy="237744"/>
          </a:xfrm>
          <a:prstGeom prst="line">
            <a:avLst/>
          </a:prstGeom>
          <a:noFill/>
          <a:ln w="15875">
            <a:solidFill>
              <a:srgbClr val="F2C14E"/>
            </a:solidFill>
            <a:prstDash val="solid"/>
          </a:ln>
        </p:spPr>
      </p:sp>
      <p:sp>
        <p:nvSpPr>
          <p:cNvPr id="34" name="Shape 32"/>
          <p:cNvSpPr/>
          <p:nvPr/>
        </p:nvSpPr>
        <p:spPr>
          <a:xfrm>
            <a:off x="6095848" y="4069080"/>
            <a:ext cx="2237171" cy="0"/>
          </a:xfrm>
          <a:prstGeom prst="line">
            <a:avLst/>
          </a:prstGeom>
          <a:noFill/>
          <a:ln w="15875">
            <a:solidFill>
              <a:srgbClr val="F2C14E"/>
            </a:solidFill>
            <a:prstDash val="solid"/>
          </a:ln>
        </p:spPr>
      </p:sp>
      <p:sp>
        <p:nvSpPr>
          <p:cNvPr id="35" name="Shape 33"/>
          <p:cNvSpPr/>
          <p:nvPr/>
        </p:nvSpPr>
        <p:spPr>
          <a:xfrm>
            <a:off x="6095848" y="3840480"/>
            <a:ext cx="0" cy="228600"/>
          </a:xfrm>
          <a:prstGeom prst="line">
            <a:avLst/>
          </a:prstGeom>
          <a:noFill/>
          <a:ln w="15875">
            <a:solidFill>
              <a:srgbClr val="F2C14E"/>
            </a:solidFill>
            <a:prstDash val="solid"/>
            <a:headEnd type="triangle"/>
          </a:ln>
        </p:spPr>
      </p:sp>
      <p:sp>
        <p:nvSpPr>
          <p:cNvPr id="36" name="Text 34"/>
          <p:cNvSpPr txBox="1"/>
          <p:nvPr/>
        </p:nvSpPr>
        <p:spPr>
          <a:xfrm>
            <a:off x="5364328" y="4114800"/>
            <a:ext cx="3700211" cy="237744"/>
          </a:xfrm>
          <a:prstGeom prst="rect">
            <a:avLst/>
          </a:prstGeom>
          <a:noFill/>
          <a:ln/>
        </p:spPr>
        <p:txBody>
          <a:bodyPr wrap="square" lIns="0" tIns="0" rIns="0" bIns="0" rtlCol="0" anchor="t"/>
          <a:lstStyle/>
          <a:p>
            <a:pPr algn="ctr" indent="0" marL="0">
              <a:buNone/>
            </a:pPr>
            <a:r>
              <a:rPr lang="en-US" sz="1100" i="1" dirty="0">
                <a:solidFill>
                  <a:srgbClr val="F2C14E"/>
                </a:solidFill>
                <a:latin typeface="Calibri" pitchFamily="34" charset="0"/>
                <a:ea typeface="Calibri" pitchFamily="34" charset="-122"/>
                <a:cs typeface="Calibri" pitchFamily="34" charset="-120"/>
              </a:rPr>
              <a:t>repeat until the time for </a:t>
            </a:r>
            <a:r>
              <a:rPr lang="en-US" sz="1100" i="1" dirty="0">
                <a:solidFill>
                  <a:srgbClr val="F2C14E"/>
                </a:solidFill>
                <a:latin typeface="Calibri" pitchFamily="34" charset="0"/>
                <a:ea typeface="Calibri" pitchFamily="34" charset="-122"/>
                <a:cs typeface="Calibri" pitchFamily="34" charset="-120"/>
              </a:rPr>
              <a:t>W</a:t>
            </a:r>
            <a:r>
              <a:rPr lang="en-US" sz="1100" i="1" dirty="0">
                <a:solidFill>
                  <a:srgbClr val="F2C14E"/>
                </a:solidFill>
                <a:latin typeface="Calibri" pitchFamily="34" charset="0"/>
                <a:ea typeface="Calibri" pitchFamily="34" charset="-122"/>
                <a:cs typeface="Calibri" pitchFamily="34" charset="-120"/>
              </a:rPr>
              <a:t> is spent</a:t>
            </a:r>
            <a:endParaRPr lang="en-US" sz="1100" dirty="0"/>
          </a:p>
        </p:txBody>
      </p:sp>
      <p:sp>
        <p:nvSpPr>
          <p:cNvPr id="37" name="Text 35"/>
          <p:cNvSpPr txBox="1"/>
          <p:nvPr/>
        </p:nvSpPr>
        <p:spPr>
          <a:xfrm>
            <a:off x="640080" y="4608576"/>
            <a:ext cx="6309360" cy="1376172"/>
          </a:xfrm>
          <a:prstGeom prst="rect">
            <a:avLst/>
          </a:prstGeom>
          <a:noFill/>
          <a:ln/>
        </p:spPr>
        <p:txBody>
          <a:bodyPr wrap="square" lIns="0" tIns="0" rIns="0" bIns="0" rtlCol="0" anchor="t"/>
          <a:lstStyle/>
          <a:p>
            <a:pPr marL="190500" indent="-190500">
              <a:lnSpc>
                <a:spcPct val="100000"/>
              </a:lnSpc>
              <a:spcAft>
                <a:spcPts val="900"/>
              </a:spcAft>
              <a:buClr>
                <a:srgbClr val="3DDC97"/>
              </a:buClr>
              <a:buFont typeface="Arial"/>
              <a:buChar char="•"/>
            </a:pPr>
            <a:r>
              <a:rPr lang="en-US" sz="1350" dirty="0">
                <a:solidFill>
                  <a:srgbClr val="E8ECF2"/>
                </a:solidFill>
                <a:latin typeface="Calibri" pitchFamily="34" charset="0"/>
                <a:ea typeface="Calibri" pitchFamily="34" charset="-122"/>
                <a:cs typeface="Calibri" pitchFamily="34" charset="-120"/>
              </a:rPr>
              <a:t>Each climb optimises one objective: at a fixed target width </a:t>
            </a:r>
            <a:r>
              <a:rPr lang="en-US" sz="1350" i="1" dirty="0">
                <a:solidFill>
                  <a:srgbClr val="E8ECF2"/>
                </a:solidFill>
                <a:latin typeface="Calibri" pitchFamily="34" charset="0"/>
                <a:ea typeface="Calibri" pitchFamily="34" charset="-122"/>
                <a:cs typeface="Calibri" pitchFamily="34" charset="-120"/>
              </a:rPr>
              <a:t>W</a:t>
            </a:r>
            <a:r>
              <a:rPr lang="en-US" sz="1350" dirty="0">
                <a:solidFill>
                  <a:srgbClr val="E8ECF2"/>
                </a:solidFill>
                <a:latin typeface="Calibri" pitchFamily="34" charset="0"/>
                <a:ea typeface="Calibri" pitchFamily="34" charset="-122"/>
                <a:cs typeface="Calibri" pitchFamily="34" charset="-120"/>
              </a:rPr>
              <a:t> it minimises </a:t>
            </a:r>
            <a:r>
              <a:rPr lang="en-US" sz="1350" i="1" dirty="0">
                <a:solidFill>
                  <a:srgbClr val="E8ECF2"/>
                </a:solidFill>
                <a:latin typeface="Calibri" pitchFamily="34" charset="0"/>
                <a:ea typeface="Calibri" pitchFamily="34" charset="-122"/>
                <a:cs typeface="Calibri" pitchFamily="34" charset="-120"/>
              </a:rPr>
              <a:t>t</a:t>
            </a:r>
            <a:r>
              <a:rPr lang="en-US" sz="1350" dirty="0">
                <a:solidFill>
                  <a:srgbClr val="E8ECF2"/>
                </a:solidFill>
                <a:latin typeface="Calibri" pitchFamily="34" charset="0"/>
                <a:ea typeface="Calibri" pitchFamily="34" charset="-122"/>
                <a:cs typeface="Calibri" pitchFamily="34" charset="-120"/>
              </a:rPr>
              <a:t>.</a:t>
            </a:r>
            <a:endParaRPr lang="en-US" sz="1350" dirty="0"/>
          </a:p>
          <a:p>
            <a:pPr marL="190500" indent="-190500">
              <a:lnSpc>
                <a:spcPct val="100000"/>
              </a:lnSpc>
              <a:spcAft>
                <a:spcPts val="900"/>
              </a:spcAft>
              <a:buClr>
                <a:srgbClr val="3DDC97"/>
              </a:buClr>
              <a:buFont typeface="Arial"/>
              <a:buChar char="•"/>
            </a:pPr>
            <a:r>
              <a:rPr lang="en-US" sz="1350" dirty="0">
                <a:solidFill>
                  <a:srgbClr val="E8ECF2"/>
                </a:solidFill>
                <a:latin typeface="Calibri" pitchFamily="34" charset="0"/>
                <a:ea typeface="Calibri" pitchFamily="34" charset="-122"/>
                <a:cs typeface="Calibri" pitchFamily="34" charset="-120"/>
              </a:rPr>
              <a:t>One ordering yields a whole staircase of points, one per threshold, so even rejected moves feed the archive.</a:t>
            </a:r>
            <a:endParaRPr lang="en-US" sz="1350" dirty="0"/>
          </a:p>
          <a:p>
            <a:pPr marL="190500" indent="-190500">
              <a:lnSpc>
                <a:spcPct val="100000"/>
              </a:lnSpc>
              <a:buClr>
                <a:srgbClr val="3DDC97"/>
              </a:buClr>
              <a:buFont typeface="Arial"/>
              <a:buChar char="•"/>
            </a:pPr>
            <a:r>
              <a:rPr lang="en-US" sz="1350" dirty="0">
                <a:solidFill>
                  <a:srgbClr val="E8ECF2"/>
                </a:solidFill>
                <a:latin typeface="Calibri" pitchFamily="34" charset="0"/>
                <a:ea typeface="Calibri" pitchFamily="34" charset="-122"/>
                <a:cs typeface="Calibri" pitchFamily="34" charset="-120"/>
              </a:rPr>
              <a:t>The design is deliberately simple, so that it can serve as the control for every ablation in Results III.</a:t>
            </a:r>
            <a:endParaRPr lang="en-US" sz="1350" dirty="0"/>
          </a:p>
        </p:txBody>
      </p:sp>
      <p:sp>
        <p:nvSpPr>
          <p:cNvPr id="38" name="Shape 36"/>
          <p:cNvSpPr/>
          <p:nvPr/>
        </p:nvSpPr>
        <p:spPr>
          <a:xfrm>
            <a:off x="7269480" y="4535424"/>
            <a:ext cx="4282135" cy="1627632"/>
          </a:xfrm>
          <a:prstGeom prst="rect">
            <a:avLst/>
          </a:prstGeom>
          <a:solidFill>
            <a:srgbClr val="131B28"/>
          </a:solidFill>
          <a:ln/>
        </p:spPr>
      </p:sp>
      <p:sp>
        <p:nvSpPr>
          <p:cNvPr id="39" name="Shape 37"/>
          <p:cNvSpPr/>
          <p:nvPr/>
        </p:nvSpPr>
        <p:spPr>
          <a:xfrm>
            <a:off x="7269480" y="4535424"/>
            <a:ext cx="54864" cy="1627632"/>
          </a:xfrm>
          <a:prstGeom prst="rect">
            <a:avLst/>
          </a:prstGeom>
          <a:solidFill>
            <a:srgbClr val="4DA3FF"/>
          </a:solidFill>
          <a:ln/>
        </p:spPr>
      </p:sp>
      <p:sp>
        <p:nvSpPr>
          <p:cNvPr id="40" name="Text 38"/>
          <p:cNvSpPr txBox="1"/>
          <p:nvPr/>
        </p:nvSpPr>
        <p:spPr>
          <a:xfrm>
            <a:off x="7525512" y="4663440"/>
            <a:ext cx="3916375"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EXACT DELTA EVALUATOR</a:t>
            </a:r>
            <a:endParaRPr lang="en-US" sz="1050" dirty="0"/>
          </a:p>
        </p:txBody>
      </p:sp>
      <p:sp>
        <p:nvSpPr>
          <p:cNvPr id="41" name="Text 39"/>
          <p:cNvSpPr txBox="1"/>
          <p:nvPr/>
        </p:nvSpPr>
        <p:spPr>
          <a:xfrm>
            <a:off x="7525512" y="4992624"/>
            <a:ext cx="1325880" cy="548640"/>
          </a:xfrm>
          <a:prstGeom prst="rect">
            <a:avLst/>
          </a:prstGeom>
          <a:noFill/>
          <a:ln/>
        </p:spPr>
        <p:txBody>
          <a:bodyPr wrap="square" lIns="0" tIns="0" rIns="0" bIns="0" rtlCol="0" anchor="t"/>
          <a:lstStyle/>
          <a:p>
            <a:pPr indent="0" marL="0">
              <a:buNone/>
            </a:pPr>
            <a:r>
              <a:rPr lang="en-US" sz="3000" dirty="0">
                <a:solidFill>
                  <a:srgbClr val="4DA3FF"/>
                </a:solidFill>
                <a:latin typeface="Century Schoolbook" pitchFamily="34" charset="0"/>
                <a:ea typeface="Century Schoolbook" pitchFamily="34" charset="-122"/>
                <a:cs typeface="Century Schoolbook" pitchFamily="34" charset="-120"/>
              </a:rPr>
              <a:t>1.81×</a:t>
            </a:r>
            <a:endParaRPr lang="en-US" sz="3000" dirty="0"/>
          </a:p>
        </p:txBody>
      </p:sp>
      <p:sp>
        <p:nvSpPr>
          <p:cNvPr id="42" name="Text 40"/>
          <p:cNvSpPr txBox="1"/>
          <p:nvPr/>
        </p:nvSpPr>
        <p:spPr>
          <a:xfrm>
            <a:off x="8897112" y="4974336"/>
            <a:ext cx="2499055" cy="1170432"/>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more candidates per second (geometric mean, ten instances), by re-evaluating only the window a move changes. Identical results on 600 of 600 checks; not used in the comparison runs.</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5 · EXPERIMENTAL PROTOCOL</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Experimental protocol</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897880" cy="914400"/>
        </p:xfrm>
        <a:graphic>
          <a:graphicData uri="http://schemas.openxmlformats.org/drawingml/2006/table">
            <a:tbl>
              <a:tblPr/>
              <a:tblGrid>
                <a:gridCol w="1572768"/>
                <a:gridCol w="4325112"/>
              </a:tblGrid>
              <a:tr h="406908">
                <a:tc>
                  <a:txBody>
                    <a:bodyPr/>
                    <a:lstStyle/>
                    <a:p>
                      <a:pPr indent="0" marL="0">
                        <a:buNone/>
                      </a:pPr>
                      <a:r>
                        <a:rPr lang="en-US" sz="1350" b="1" dirty="0">
                          <a:solidFill>
                            <a:srgbClr val="3DDC97"/>
                          </a:solidFill>
                          <a:latin typeface="Calibri" pitchFamily="34" charset="0"/>
                          <a:ea typeface="Calibri" pitchFamily="34" charset="-122"/>
                          <a:cs typeface="Calibri" pitchFamily="34" charset="-120"/>
                        </a:rPr>
                        <a:t>Runs</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350" dirty="0">
                          <a:solidFill>
                            <a:srgbClr val="E8ECF2"/>
                          </a:solidFill>
                          <a:latin typeface="Calibri" pitchFamily="34" charset="0"/>
                          <a:ea typeface="Calibri" pitchFamily="34" charset="-122"/>
                          <a:cs typeface="Calibri" pitchFamily="34" charset="-120"/>
                        </a:rPr>
                        <a:t>1,200 s of wall-clock time per run, three seeds per method and instance, ten instances.</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6908">
                <a:tc>
                  <a:txBody>
                    <a:bodyPr/>
                    <a:lstStyle/>
                    <a:p>
                      <a:pPr indent="0" marL="0">
                        <a:buNone/>
                      </a:pPr>
                      <a:r>
                        <a:rPr lang="en-US" sz="1350" b="1" dirty="0">
                          <a:solidFill>
                            <a:srgbClr val="3DDC97"/>
                          </a:solidFill>
                          <a:latin typeface="Calibri" pitchFamily="34" charset="0"/>
                          <a:ea typeface="Calibri" pitchFamily="34" charset="-122"/>
                          <a:cs typeface="Calibri" pitchFamily="34" charset="-120"/>
                        </a:rPr>
                        <a:t>Hardware</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350" dirty="0">
                          <a:solidFill>
                            <a:srgbClr val="E8ECF2"/>
                          </a:solidFill>
                          <a:latin typeface="Calibri" pitchFamily="34" charset="0"/>
                          <a:ea typeface="Calibri" pitchFamily="34" charset="-122"/>
                          <a:cs typeface="Calibri" pitchFamily="34" charset="-120"/>
                        </a:rPr>
                        <a:t>Each CPU method pinned to one core; Spacekangaroos on one NVIDIA T4 GPU.</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6908">
                <a:tc>
                  <a:txBody>
                    <a:bodyPr/>
                    <a:lstStyle/>
                    <a:p>
                      <a:pPr indent="0" marL="0">
                        <a:buNone/>
                      </a:pPr>
                      <a:r>
                        <a:rPr lang="en-US" sz="1350" b="1" dirty="0">
                          <a:solidFill>
                            <a:srgbClr val="3DDC97"/>
                          </a:solidFill>
                          <a:latin typeface="Calibri" pitchFamily="34" charset="0"/>
                          <a:ea typeface="Calibri" pitchFamily="34" charset="-122"/>
                          <a:cs typeface="Calibri" pitchFamily="34" charset="-120"/>
                        </a:rPr>
                        <a:t>Start</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350" dirty="0">
                          <a:solidFill>
                            <a:srgbClr val="E8ECF2"/>
                          </a:solidFill>
                          <a:latin typeface="Calibri" pitchFamily="34" charset="0"/>
                          <a:ea typeface="Calibri" pitchFamily="34" charset="-122"/>
                          <a:cs typeface="Calibri" pitchFamily="34" charset="-120"/>
                        </a:rPr>
                        <a:t>Team HRI and Hill-Climbing start from the same min-degree construction, built inside each run.</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6908">
                <a:tc>
                  <a:txBody>
                    <a:bodyPr/>
                    <a:lstStyle/>
                    <a:p>
                      <a:pPr indent="0" marL="0">
                        <a:buNone/>
                      </a:pPr>
                      <a:r>
                        <a:rPr lang="en-US" sz="1350" b="1" dirty="0">
                          <a:solidFill>
                            <a:srgbClr val="3DDC97"/>
                          </a:solidFill>
                          <a:latin typeface="Calibri" pitchFamily="34" charset="0"/>
                          <a:ea typeface="Calibri" pitchFamily="34" charset="-122"/>
                          <a:cs typeface="Calibri" pitchFamily="34" charset="-120"/>
                        </a:rPr>
                        <a:t>Evaluation</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350" dirty="0">
                          <a:solidFill>
                            <a:srgbClr val="E8ECF2"/>
                          </a:solidFill>
                          <a:latin typeface="Calibri" pitchFamily="34" charset="0"/>
                          <a:ea typeface="Calibri" pitchFamily="34" charset="-122"/>
                          <a:cs typeface="Calibri" pitchFamily="34" charset="-120"/>
                        </a:rPr>
                        <a:t>Every result is re-scored by one evaluator, which matches ESA’s published evaluation code on all checks.</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6908">
                <a:tc>
                  <a:txBody>
                    <a:bodyPr/>
                    <a:lstStyle/>
                    <a:p>
                      <a:pPr indent="0" marL="0">
                        <a:buNone/>
                      </a:pPr>
                      <a:r>
                        <a:rPr lang="en-US" sz="1350" b="1" dirty="0">
                          <a:solidFill>
                            <a:srgbClr val="3DDC97"/>
                          </a:solidFill>
                          <a:latin typeface="Calibri" pitchFamily="34" charset="0"/>
                          <a:ea typeface="Calibri" pitchFamily="34" charset="-122"/>
                          <a:cs typeface="Calibri" pitchFamily="34" charset="-120"/>
                        </a:rPr>
                        <a:t>Reporting</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350" dirty="0">
                          <a:solidFill>
                            <a:srgbClr val="E8ECF2"/>
                          </a:solidFill>
                          <a:latin typeface="Calibri" pitchFamily="34" charset="0"/>
                          <a:ea typeface="Calibri" pitchFamily="34" charset="-122"/>
                          <a:cs typeface="Calibri" pitchFamily="34" charset="-120"/>
                        </a:rPr>
                        <a:t>Best of three seeds in the results table; all seeds in the reliability test.</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6908">
                <a:tc>
                  <a:txBody>
                    <a:bodyPr/>
                    <a:lstStyle/>
                    <a:p>
                      <a:pPr indent="0" marL="0">
                        <a:buNone/>
                      </a:pPr>
                      <a:r>
                        <a:rPr lang="en-US" sz="1350" b="1" dirty="0">
                          <a:solidFill>
                            <a:srgbClr val="3DDC97"/>
                          </a:solidFill>
                          <a:latin typeface="Calibri" pitchFamily="34" charset="0"/>
                          <a:ea typeface="Calibri" pitchFamily="34" charset="-122"/>
                          <a:cs typeface="Calibri" pitchFamily="34" charset="-120"/>
                        </a:rPr>
                        <a:t>Reference</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1350" dirty="0">
                          <a:solidFill>
                            <a:srgbClr val="E8ECF2"/>
                          </a:solidFill>
                          <a:latin typeface="Calibri" pitchFamily="34" charset="0"/>
                          <a:ea typeface="Calibri" pitchFamily="34" charset="-122"/>
                          <a:cs typeface="Calibri" pitchFamily="34" charset="-120"/>
                        </a:rPr>
                        <a:t>A provable upper bound on the score of each instance.</a:t>
                      </a:r>
                      <a:endParaRPr lang="en-US" sz="1350" dirty="0">
                        <a:latin typeface="Calibri" charset="0"/>
                        <a:ea typeface="Calibri" charset="0"/>
                        <a:cs typeface="Calibri" charset="0"/>
                      </a:endParaRPr>
                    </a:p>
                  </a:txBody>
                  <a:tcPr marL="0" marR="45720" marT="100584" marB="100584" anchor="t">
                    <a:lnL w="0" cap="flat" cmpd="sng" algn="ctr">
                      <a:noFill/>
                    </a:lnL>
                    <a:lnR w="0" cap="flat" cmpd="sng" algn="ctr">
                      <a:noFill/>
                    </a:lnR>
                    <a:lnT w="0" cap="flat" cmpd="sng" algn="ctr">
                      <a:noFill/>
                    </a:lnT>
                    <a:lnB w="0" cap="flat" cmpd="sng" algn="ctr">
                      <a:noFill/>
                    </a:lnB>
                  </a:tcPr>
                </a:tc>
              </a:tr>
            </a:tbl>
          </a:graphicData>
        </a:graphic>
      </p:graphicFrame>
      <p:sp>
        <p:nvSpPr>
          <p:cNvPr id="5" name="Text 2"/>
          <p:cNvSpPr txBox="1"/>
          <p:nvPr/>
        </p:nvSpPr>
        <p:spPr>
          <a:xfrm>
            <a:off x="7086600" y="1810512"/>
            <a:ext cx="446501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WHY THE START MUST BE EQUAL  ·  synth-1, 8 s</a:t>
            </a:r>
            <a:endParaRPr lang="en-US" sz="1050" dirty="0"/>
          </a:p>
        </p:txBody>
      </p:sp>
      <p:sp>
        <p:nvSpPr>
          <p:cNvPr id="6" name="Text 3"/>
          <p:cNvSpPr txBox="1"/>
          <p:nvPr/>
        </p:nvSpPr>
        <p:spPr>
          <a:xfrm>
            <a:off x="7086600" y="2121408"/>
            <a:ext cx="4465015" cy="6400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An earlier benchmark started Team HRI from a random ordering, as its paper specifies, and Hill-Climbing from min-degree.</a:t>
            </a:r>
            <a:endParaRPr lang="en-US" sz="1300" dirty="0"/>
          </a:p>
        </p:txBody>
      </p:sp>
      <p:sp>
        <p:nvSpPr>
          <p:cNvPr id="7" name="Text 4"/>
          <p:cNvSpPr txBox="1"/>
          <p:nvPr/>
        </p:nvSpPr>
        <p:spPr>
          <a:xfrm>
            <a:off x="7086600" y="3273552"/>
            <a:ext cx="150876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different starts</a:t>
            </a:r>
            <a:endParaRPr lang="en-US" sz="1250" dirty="0"/>
          </a:p>
        </p:txBody>
      </p:sp>
      <p:sp>
        <p:nvSpPr>
          <p:cNvPr id="8" name="Shape 5"/>
          <p:cNvSpPr/>
          <p:nvPr/>
        </p:nvSpPr>
        <p:spPr>
          <a:xfrm>
            <a:off x="8686800" y="3401568"/>
            <a:ext cx="2773375" cy="0"/>
          </a:xfrm>
          <a:prstGeom prst="line">
            <a:avLst/>
          </a:prstGeom>
          <a:noFill/>
          <a:ln w="9525">
            <a:solidFill>
              <a:srgbClr val="1C2533"/>
            </a:solidFill>
            <a:prstDash val="solid"/>
          </a:ln>
        </p:spPr>
      </p:sp>
      <p:sp>
        <p:nvSpPr>
          <p:cNvPr id="9" name="Shape 6"/>
          <p:cNvSpPr/>
          <p:nvPr/>
        </p:nvSpPr>
        <p:spPr>
          <a:xfrm>
            <a:off x="9051474" y="3401568"/>
            <a:ext cx="2313037" cy="0"/>
          </a:xfrm>
          <a:prstGeom prst="line">
            <a:avLst/>
          </a:prstGeom>
          <a:noFill/>
          <a:ln w="28575">
            <a:solidFill>
              <a:srgbClr val="F2C14E"/>
            </a:solidFill>
            <a:prstDash val="solid"/>
          </a:ln>
        </p:spPr>
      </p:sp>
      <p:sp>
        <p:nvSpPr>
          <p:cNvPr id="10" name="Shape 7"/>
          <p:cNvSpPr/>
          <p:nvPr/>
        </p:nvSpPr>
        <p:spPr>
          <a:xfrm>
            <a:off x="11286787" y="3323844"/>
            <a:ext cx="155448" cy="155448"/>
          </a:xfrm>
          <a:prstGeom prst="ellipse">
            <a:avLst/>
          </a:prstGeom>
          <a:solidFill>
            <a:srgbClr val="E8ECF2"/>
          </a:solidFill>
          <a:ln/>
        </p:spPr>
      </p:sp>
      <p:sp>
        <p:nvSpPr>
          <p:cNvPr id="11" name="Shape 8"/>
          <p:cNvSpPr/>
          <p:nvPr/>
        </p:nvSpPr>
        <p:spPr>
          <a:xfrm>
            <a:off x="8973750" y="3323844"/>
            <a:ext cx="155448" cy="155448"/>
          </a:xfrm>
          <a:prstGeom prst="ellipse">
            <a:avLst/>
          </a:prstGeom>
          <a:solidFill>
            <a:srgbClr val="0B0F17"/>
          </a:solidFill>
          <a:ln w="19050">
            <a:solidFill>
              <a:srgbClr val="E8ECF2"/>
            </a:solidFill>
            <a:prstDash val="solid"/>
          </a:ln>
        </p:spPr>
      </p:sp>
      <p:sp>
        <p:nvSpPr>
          <p:cNvPr id="12" name="Text 9"/>
          <p:cNvSpPr txBox="1"/>
          <p:nvPr/>
        </p:nvSpPr>
        <p:spPr>
          <a:xfrm>
            <a:off x="9280074" y="3063240"/>
            <a:ext cx="1828800" cy="219456"/>
          </a:xfrm>
          <a:prstGeom prst="rect">
            <a:avLst/>
          </a:prstGeom>
          <a:noFill/>
          <a:ln/>
        </p:spPr>
        <p:txBody>
          <a:bodyPr wrap="square" lIns="0" tIns="0" rIns="0" bIns="0" rtlCol="0" anchor="t"/>
          <a:lstStyle/>
          <a:p>
            <a:pPr algn="l" indent="0" marL="0">
              <a:buNone/>
            </a:pPr>
            <a:r>
              <a:rPr lang="en-US" sz="1150" b="1" dirty="0">
                <a:solidFill>
                  <a:srgbClr val="F2C14E"/>
                </a:solidFill>
                <a:latin typeface="Calibri" pitchFamily="34" charset="0"/>
                <a:ea typeface="Calibri" pitchFamily="34" charset="-122"/>
                <a:cs typeface="Calibri" pitchFamily="34" charset="-120"/>
              </a:rPr>
              <a:t>275,225 HV apart</a:t>
            </a:r>
            <a:endParaRPr lang="en-US" sz="1150" dirty="0"/>
          </a:p>
        </p:txBody>
      </p:sp>
      <p:sp>
        <p:nvSpPr>
          <p:cNvPr id="13" name="Text 10"/>
          <p:cNvSpPr txBox="1"/>
          <p:nvPr/>
        </p:nvSpPr>
        <p:spPr>
          <a:xfrm>
            <a:off x="7086600" y="3986784"/>
            <a:ext cx="150876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same start</a:t>
            </a:r>
            <a:endParaRPr lang="en-US" sz="1250" dirty="0"/>
          </a:p>
        </p:txBody>
      </p:sp>
      <p:sp>
        <p:nvSpPr>
          <p:cNvPr id="14" name="Shape 11"/>
          <p:cNvSpPr/>
          <p:nvPr/>
        </p:nvSpPr>
        <p:spPr>
          <a:xfrm>
            <a:off x="8686800" y="4114800"/>
            <a:ext cx="2773375" cy="0"/>
          </a:xfrm>
          <a:prstGeom prst="line">
            <a:avLst/>
          </a:prstGeom>
          <a:noFill/>
          <a:ln w="9525">
            <a:solidFill>
              <a:srgbClr val="1C2533"/>
            </a:solidFill>
            <a:prstDash val="solid"/>
          </a:ln>
        </p:spPr>
      </p:sp>
      <p:sp>
        <p:nvSpPr>
          <p:cNvPr id="15" name="Shape 12"/>
          <p:cNvSpPr/>
          <p:nvPr/>
        </p:nvSpPr>
        <p:spPr>
          <a:xfrm>
            <a:off x="11364931" y="4114800"/>
            <a:ext cx="10371" cy="0"/>
          </a:xfrm>
          <a:prstGeom prst="line">
            <a:avLst/>
          </a:prstGeom>
          <a:noFill/>
          <a:ln w="28575">
            <a:solidFill>
              <a:srgbClr val="F2C14E"/>
            </a:solidFill>
            <a:prstDash val="solid"/>
          </a:ln>
        </p:spPr>
      </p:sp>
      <p:sp>
        <p:nvSpPr>
          <p:cNvPr id="16" name="Shape 13"/>
          <p:cNvSpPr/>
          <p:nvPr/>
        </p:nvSpPr>
        <p:spPr>
          <a:xfrm>
            <a:off x="11297578" y="4037076"/>
            <a:ext cx="155448" cy="155448"/>
          </a:xfrm>
          <a:prstGeom prst="ellipse">
            <a:avLst/>
          </a:prstGeom>
          <a:solidFill>
            <a:srgbClr val="E8ECF2"/>
          </a:solidFill>
          <a:ln/>
        </p:spPr>
      </p:sp>
      <p:sp>
        <p:nvSpPr>
          <p:cNvPr id="17" name="Shape 14"/>
          <p:cNvSpPr/>
          <p:nvPr/>
        </p:nvSpPr>
        <p:spPr>
          <a:xfrm>
            <a:off x="11236915" y="3986784"/>
            <a:ext cx="256032" cy="256032"/>
          </a:xfrm>
          <a:prstGeom prst="ellipse">
            <a:avLst/>
          </a:prstGeom>
          <a:ln w="19050">
            <a:solidFill>
              <a:srgbClr val="E8ECF2"/>
            </a:solidFill>
            <a:prstDash val="solid"/>
          </a:ln>
        </p:spPr>
      </p:sp>
      <p:sp>
        <p:nvSpPr>
          <p:cNvPr id="18" name="Text 15"/>
          <p:cNvSpPr txBox="1"/>
          <p:nvPr/>
        </p:nvSpPr>
        <p:spPr>
          <a:xfrm>
            <a:off x="9409342" y="3776472"/>
            <a:ext cx="1828800" cy="219456"/>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1,234 HV apart</a:t>
            </a:r>
            <a:endParaRPr lang="en-US" sz="1150" dirty="0"/>
          </a:p>
        </p:txBody>
      </p:sp>
      <p:sp>
        <p:nvSpPr>
          <p:cNvPr id="19" name="Text 16"/>
          <p:cNvSpPr txBox="1"/>
          <p:nvPr/>
        </p:nvSpPr>
        <p:spPr>
          <a:xfrm>
            <a:off x="8321040" y="4315968"/>
            <a:ext cx="73152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1.50M HV</a:t>
            </a:r>
            <a:endParaRPr lang="en-US" sz="1000" dirty="0"/>
          </a:p>
        </p:txBody>
      </p:sp>
      <p:sp>
        <p:nvSpPr>
          <p:cNvPr id="20" name="Text 17"/>
          <p:cNvSpPr txBox="1"/>
          <p:nvPr/>
        </p:nvSpPr>
        <p:spPr>
          <a:xfrm>
            <a:off x="10728655" y="4315968"/>
            <a:ext cx="731520" cy="182880"/>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1.83M HV</a:t>
            </a:r>
            <a:endParaRPr lang="en-US" sz="1000" dirty="0"/>
          </a:p>
        </p:txBody>
      </p:sp>
      <p:sp>
        <p:nvSpPr>
          <p:cNvPr id="21" name="Shape 18"/>
          <p:cNvSpPr/>
          <p:nvPr/>
        </p:nvSpPr>
        <p:spPr>
          <a:xfrm>
            <a:off x="8673084" y="4704588"/>
            <a:ext cx="118872" cy="118872"/>
          </a:xfrm>
          <a:prstGeom prst="ellipse">
            <a:avLst/>
          </a:prstGeom>
          <a:solidFill>
            <a:srgbClr val="0B0F17"/>
          </a:solidFill>
          <a:ln w="19050">
            <a:solidFill>
              <a:srgbClr val="E8ECF2"/>
            </a:solidFill>
            <a:prstDash val="solid"/>
          </a:ln>
        </p:spPr>
      </p:sp>
      <p:sp>
        <p:nvSpPr>
          <p:cNvPr id="22" name="Text 19"/>
          <p:cNvSpPr txBox="1"/>
          <p:nvPr/>
        </p:nvSpPr>
        <p:spPr>
          <a:xfrm>
            <a:off x="8851392" y="4663440"/>
            <a:ext cx="118872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Team HRI</a:t>
            </a:r>
            <a:endParaRPr lang="en-US" sz="1100" dirty="0"/>
          </a:p>
        </p:txBody>
      </p:sp>
      <p:sp>
        <p:nvSpPr>
          <p:cNvPr id="23" name="Shape 20"/>
          <p:cNvSpPr/>
          <p:nvPr/>
        </p:nvSpPr>
        <p:spPr>
          <a:xfrm>
            <a:off x="9953244" y="4704588"/>
            <a:ext cx="118872" cy="118872"/>
          </a:xfrm>
          <a:prstGeom prst="ellipse">
            <a:avLst/>
          </a:prstGeom>
          <a:solidFill>
            <a:srgbClr val="E8ECF2"/>
          </a:solidFill>
          <a:ln/>
        </p:spPr>
      </p:sp>
      <p:sp>
        <p:nvSpPr>
          <p:cNvPr id="24" name="Text 21"/>
          <p:cNvSpPr txBox="1"/>
          <p:nvPr/>
        </p:nvSpPr>
        <p:spPr>
          <a:xfrm>
            <a:off x="10131552" y="4663440"/>
            <a:ext cx="137160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Hill-Climbing</a:t>
            </a:r>
            <a:endParaRPr lang="en-US" sz="1100" dirty="0"/>
          </a:p>
        </p:txBody>
      </p:sp>
      <p:sp>
        <p:nvSpPr>
          <p:cNvPr id="25" name="Text 22"/>
          <p:cNvSpPr txBox="1"/>
          <p:nvPr/>
        </p:nvSpPr>
        <p:spPr>
          <a:xfrm>
            <a:off x="7086600" y="5120640"/>
            <a:ext cx="4465015" cy="777240"/>
          </a:xfrm>
          <a:prstGeom prst="rect">
            <a:avLst/>
          </a:prstGeom>
          <a:noFill/>
          <a:ln/>
        </p:spPr>
        <p:txBody>
          <a:bodyPr wrap="square" lIns="0" tIns="0" rIns="0" bIns="0" rtlCol="0" anchor="t"/>
          <a:lstStyle/>
          <a:p>
            <a:pPr indent="0" marL="0">
              <a:buNone/>
            </a:pPr>
            <a:r>
              <a:rPr lang="en-US" sz="1600" i="1" dirty="0">
                <a:solidFill>
                  <a:srgbClr val="E8ECF2"/>
                </a:solidFill>
                <a:latin typeface="Century Schoolbook" pitchFamily="34" charset="0"/>
                <a:ea typeface="Century Schoolbook" pitchFamily="34" charset="-122"/>
                <a:cs typeface="Century Schoolbook" pitchFamily="34" charset="-120"/>
              </a:rPr>
              <a:t>Almost the whole apparent gap came from the starting point, not from the search.</a:t>
            </a:r>
            <a:endParaRPr lang="en-US" sz="16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6 · RESULTS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Results I: comparison of the five methods</a:t>
            </a:r>
            <a:endParaRPr lang="en-US" sz="2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726680" cy="914400"/>
        </p:xfrm>
        <a:graphic>
          <a:graphicData uri="http://schemas.openxmlformats.org/drawingml/2006/table">
            <a:tbl>
              <a:tblPr/>
              <a:tblGrid>
                <a:gridCol w="1417320"/>
                <a:gridCol w="1261872"/>
                <a:gridCol w="1261872"/>
                <a:gridCol w="1261872"/>
                <a:gridCol w="1261872"/>
                <a:gridCol w="1261872"/>
              </a:tblGrid>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fcmaes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Team HRI</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Spacekangaroos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Hill-Climbing</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min-degree ×8</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#4</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#2</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#1</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this study</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no search</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SPARSE</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1,808.0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1,818.7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1,803.8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1,820.2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MEDIUM, REWIRED</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1,663.1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1,682.4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1,615.2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1,606.4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1,586.3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1,592.3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1,484.0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1,554.1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1,582.9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1,473.4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1,562.1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DENSE, CLIQUE-PINNED</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5,329.4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4,836.8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5,167.2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4,797.9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5,203.6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870448"/>
            <a:ext cx="7726680"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×1,000 (larger is better), best of 3 seeds, 1,200 s each. Bold: best in row. —: no feasible point in any seed.</a:t>
            </a:r>
            <a:endParaRPr lang="en-US" sz="1050" dirty="0"/>
          </a:p>
        </p:txBody>
      </p:sp>
      <p:sp>
        <p:nvSpPr>
          <p:cNvPr id="6" name="Text 3"/>
          <p:cNvSpPr txBox="1"/>
          <p:nvPr/>
        </p:nvSpPr>
        <p:spPr>
          <a:xfrm>
            <a:off x="8686800" y="1810512"/>
            <a:ext cx="2864815" cy="3124200"/>
          </a:xfrm>
          <a:prstGeom prst="rect">
            <a:avLst/>
          </a:prstGeom>
          <a:noFill/>
          <a:ln/>
        </p:spPr>
        <p:txBody>
          <a:bodyPr wrap="square" lIns="0" tIns="0" rIns="0" bIns="0" rtlCol="0" anchor="t"/>
          <a:lstStyle/>
          <a:p>
            <a:pPr marL="190500" indent="-190500">
              <a:lnSpc>
                <a:spcPct val="100000"/>
              </a:lnSpc>
              <a:spcAft>
                <a:spcPts val="1200"/>
              </a:spcAft>
              <a:buClr>
                <a:srgbClr val="3DDC97"/>
              </a:buClr>
              <a:buFont typeface="Arial"/>
              <a:buChar char="•"/>
            </a:pPr>
            <a:r>
              <a:rPr lang="en-US" sz="1300" dirty="0">
                <a:solidFill>
                  <a:srgbClr val="E8ECF2"/>
                </a:solidFill>
                <a:latin typeface="Calibri" pitchFamily="34" charset="0"/>
                <a:ea typeface="Calibri" pitchFamily="34" charset="-122"/>
                <a:cs typeface="Calibri" pitchFamily="34" charset="-120"/>
              </a:rPr>
              <a:t>Leaderboard methods win 8 of the 10 instances; Hill-Climbing wins synth-1 and synth-3.</a:t>
            </a:r>
            <a:endParaRPr lang="en-US" sz="1300" dirty="0"/>
          </a:p>
          <a:p>
            <a:pPr marL="190500" indent="-190500">
              <a:lnSpc>
                <a:spcPct val="100000"/>
              </a:lnSpc>
              <a:spcAft>
                <a:spcPts val="1200"/>
              </a:spcAft>
              <a:buClr>
                <a:srgbClr val="3DDC97"/>
              </a:buClr>
              <a:buFont typeface="Arial"/>
              <a:buChar char="•"/>
            </a:pPr>
            <a:r>
              <a:rPr lang="en-US" sz="1300" dirty="0">
                <a:solidFill>
                  <a:srgbClr val="E8ECF2"/>
                </a:solidFill>
                <a:latin typeface="Calibri" pitchFamily="34" charset="0"/>
                <a:ea typeface="Calibri" pitchFamily="34" charset="-122"/>
                <a:cs typeface="Calibri" pitchFamily="34" charset="-120"/>
              </a:rPr>
              <a:t>fcmaes leads all three dense instances, by 369,276 to 492,606 HV.</a:t>
            </a:r>
            <a:endParaRPr lang="en-US" sz="1300" dirty="0"/>
          </a:p>
          <a:p>
            <a:pPr marL="190500" indent="-190500">
              <a:lnSpc>
                <a:spcPct val="100000"/>
              </a:lnSpc>
              <a:spcAft>
                <a:spcPts val="1200"/>
              </a:spcAft>
              <a:buClr>
                <a:srgbClr val="3DDC97"/>
              </a:buClr>
              <a:buFont typeface="Arial"/>
              <a:buChar char="•"/>
            </a:pPr>
            <a:r>
              <a:rPr lang="en-US" sz="1300" dirty="0">
                <a:solidFill>
                  <a:srgbClr val="E8ECF2"/>
                </a:solidFill>
                <a:latin typeface="Calibri" pitchFamily="34" charset="0"/>
                <a:ea typeface="Calibri" pitchFamily="34" charset="-122"/>
                <a:cs typeface="Calibri" pitchFamily="34" charset="-120"/>
              </a:rPr>
              <a:t>Spacekangaroos wins small-graph but finds no feasible point on the dense instances within 1,200 s.</a:t>
            </a:r>
            <a:endParaRPr lang="en-US" sz="1300" dirty="0"/>
          </a:p>
          <a:p>
            <a:pPr marL="190500" indent="-190500">
              <a:lnSpc>
                <a:spcPct val="100000"/>
              </a:lnSpc>
              <a:buClr>
                <a:srgbClr val="3DDC97"/>
              </a:buClr>
              <a:buFont typeface="Arial"/>
              <a:buChar char="•"/>
            </a:pPr>
            <a:r>
              <a:rPr lang="en-US" sz="1300" dirty="0">
                <a:solidFill>
                  <a:srgbClr val="E8ECF2"/>
                </a:solidFill>
                <a:latin typeface="Calibri" pitchFamily="34" charset="0"/>
                <a:ea typeface="Calibri" pitchFamily="34" charset="-122"/>
                <a:cs typeface="Calibri" pitchFamily="34" charset="-120"/>
              </a:rPr>
              <a:t>The construction alone, min-degree ×8, reaches at least 99.3% of the best score on every sparse instance.</a:t>
            </a:r>
            <a:endParaRPr lang="en-US" sz="1300" dirty="0"/>
          </a:p>
        </p:txBody>
      </p:sp>
      <p:sp>
        <p:nvSpPr>
          <p:cNvPr id="7" name="Text 4"/>
          <p:cNvSpPr txBox="1"/>
          <p:nvPr/>
        </p:nvSpPr>
        <p:spPr>
          <a:xfrm>
            <a:off x="8686800" y="5559552"/>
            <a:ext cx="2864815" cy="731520"/>
          </a:xfrm>
          <a:prstGeom prst="rect">
            <a:avLst/>
          </a:prstGeom>
          <a:noFill/>
          <a:ln/>
        </p:spPr>
        <p:txBody>
          <a:bodyPr wrap="square" lIns="0" tIns="0" rIns="0" bIns="0" rtlCol="0" anchor="t"/>
          <a:lstStyle/>
          <a:p>
            <a:pPr indent="0" marL="0">
              <a:buNone/>
            </a:pPr>
            <a:r>
              <a:rPr lang="en-US" sz="1500" i="1" dirty="0">
                <a:solidFill>
                  <a:srgbClr val="F2C14E"/>
                </a:solidFill>
                <a:latin typeface="Century Schoolbook" pitchFamily="34" charset="0"/>
                <a:ea typeface="Century Schoolbook" pitchFamily="34" charset="-122"/>
                <a:cs typeface="Century Schoolbook" pitchFamily="34" charset="-120"/>
              </a:rPr>
              <a:t>Are these winners reliable? The next slide reads every seed.</a:t>
            </a:r>
            <a:endParaRPr lang="en-US" sz="15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6 · RESULTS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Results II: reliability of the winners across seeds</a:t>
            </a:r>
            <a:endParaRPr lang="en-US" sz="27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903720" cy="914400"/>
        </p:xfrm>
        <a:graphic>
          <a:graphicData uri="http://schemas.openxmlformats.org/drawingml/2006/table">
            <a:tbl>
              <a:tblPr/>
              <a:tblGrid>
                <a:gridCol w="1463040"/>
                <a:gridCol w="1554480"/>
                <a:gridCol w="1554480"/>
                <a:gridCol w="1005840"/>
                <a:gridCol w="1325880"/>
              </a:tblGrid>
              <a:tr h="329184">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instance</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best of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median of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seed gap</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−9,960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Hill-Climbing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−2,515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 *</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−61,095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+2,128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−31,077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+425,344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+233,811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+121,598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6903720" cy="804672"/>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Seed gap: the winner’s worst seed minus the best seed of any rival. Resolved: a positive gap and the same winner by median, i.e. every seed of the winner beats every seed of every rival (exact rank test, p = 0.05 with three seeds). * synth-3: Hill-Climbing beats its own starting construction by only 24–71 HV.</a:t>
            </a:r>
            <a:endParaRPr lang="en-US" sz="1050" dirty="0"/>
          </a:p>
        </p:txBody>
      </p:sp>
      <p:sp>
        <p:nvSpPr>
          <p:cNvPr id="6" name="Text 3"/>
          <p:cNvSpPr txBox="1"/>
          <p:nvPr/>
        </p:nvSpPr>
        <p:spPr>
          <a:xfrm>
            <a:off x="8001000" y="1810512"/>
            <a:ext cx="355061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SMALL-GRAPH: EVERY SEED</a:t>
            </a:r>
            <a:endParaRPr lang="en-US" sz="1050" dirty="0"/>
          </a:p>
        </p:txBody>
      </p:sp>
      <p:sp>
        <p:nvSpPr>
          <p:cNvPr id="7" name="Text 4"/>
          <p:cNvSpPr txBox="1"/>
          <p:nvPr/>
        </p:nvSpPr>
        <p:spPr>
          <a:xfrm>
            <a:off x="8001000" y="22585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Spacekangaroos</a:t>
            </a:r>
            <a:endParaRPr lang="en-US" sz="1150" dirty="0"/>
          </a:p>
        </p:txBody>
      </p:sp>
      <p:sp>
        <p:nvSpPr>
          <p:cNvPr id="8" name="Shape 5"/>
          <p:cNvSpPr/>
          <p:nvPr/>
        </p:nvSpPr>
        <p:spPr>
          <a:xfrm>
            <a:off x="9326880" y="2377440"/>
            <a:ext cx="2179015" cy="0"/>
          </a:xfrm>
          <a:prstGeom prst="line">
            <a:avLst/>
          </a:prstGeom>
          <a:noFill/>
          <a:ln w="7620">
            <a:solidFill>
              <a:srgbClr val="1C2533"/>
            </a:solidFill>
            <a:prstDash val="solid"/>
          </a:ln>
        </p:spPr>
      </p:sp>
      <p:sp>
        <p:nvSpPr>
          <p:cNvPr id="9" name="Shape 6"/>
          <p:cNvSpPr/>
          <p:nvPr/>
        </p:nvSpPr>
        <p:spPr>
          <a:xfrm>
            <a:off x="9916256" y="2240280"/>
            <a:ext cx="0" cy="274320"/>
          </a:xfrm>
          <a:prstGeom prst="line">
            <a:avLst/>
          </a:prstGeom>
          <a:noFill/>
          <a:ln w="19050">
            <a:solidFill>
              <a:srgbClr val="F2C14E"/>
            </a:solidFill>
            <a:prstDash val="solid"/>
          </a:ln>
        </p:spPr>
      </p:sp>
      <p:sp>
        <p:nvSpPr>
          <p:cNvPr id="10" name="Shape 7"/>
          <p:cNvSpPr/>
          <p:nvPr/>
        </p:nvSpPr>
        <p:spPr>
          <a:xfrm>
            <a:off x="11303402" y="2318004"/>
            <a:ext cx="118872" cy="118872"/>
          </a:xfrm>
          <a:prstGeom prst="ellipse">
            <a:avLst/>
          </a:prstGeom>
          <a:solidFill>
            <a:srgbClr val="4DA3FF">
              <a:alpha val="90000"/>
            </a:srgbClr>
          </a:solidFill>
          <a:ln/>
        </p:spPr>
      </p:sp>
      <p:sp>
        <p:nvSpPr>
          <p:cNvPr id="11" name="Shape 8"/>
          <p:cNvSpPr/>
          <p:nvPr/>
        </p:nvSpPr>
        <p:spPr>
          <a:xfrm>
            <a:off x="9856820" y="2318004"/>
            <a:ext cx="118872" cy="118872"/>
          </a:xfrm>
          <a:prstGeom prst="ellipse">
            <a:avLst/>
          </a:prstGeom>
          <a:solidFill>
            <a:srgbClr val="E8ECF2">
              <a:alpha val="90000"/>
            </a:srgbClr>
          </a:solidFill>
          <a:ln/>
        </p:spPr>
      </p:sp>
      <p:sp>
        <p:nvSpPr>
          <p:cNvPr id="12" name="Shape 9"/>
          <p:cNvSpPr/>
          <p:nvPr/>
        </p:nvSpPr>
        <p:spPr>
          <a:xfrm>
            <a:off x="9733753" y="2318004"/>
            <a:ext cx="118872" cy="118872"/>
          </a:xfrm>
          <a:prstGeom prst="ellipse">
            <a:avLst/>
          </a:prstGeom>
          <a:solidFill>
            <a:srgbClr val="E8ECF2">
              <a:alpha val="90000"/>
            </a:srgbClr>
          </a:solidFill>
          <a:ln/>
        </p:spPr>
      </p:sp>
      <p:sp>
        <p:nvSpPr>
          <p:cNvPr id="13" name="Text 10"/>
          <p:cNvSpPr txBox="1"/>
          <p:nvPr/>
        </p:nvSpPr>
        <p:spPr>
          <a:xfrm>
            <a:off x="8001000" y="27157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Team HRI</a:t>
            </a:r>
            <a:endParaRPr lang="en-US" sz="1150" dirty="0"/>
          </a:p>
        </p:txBody>
      </p:sp>
      <p:sp>
        <p:nvSpPr>
          <p:cNvPr id="14" name="Shape 11"/>
          <p:cNvSpPr/>
          <p:nvPr/>
        </p:nvSpPr>
        <p:spPr>
          <a:xfrm>
            <a:off x="9326880" y="2834640"/>
            <a:ext cx="2179015" cy="0"/>
          </a:xfrm>
          <a:prstGeom prst="line">
            <a:avLst/>
          </a:prstGeom>
          <a:noFill/>
          <a:ln w="7620">
            <a:solidFill>
              <a:srgbClr val="1C2533"/>
            </a:solidFill>
            <a:prstDash val="solid"/>
          </a:ln>
        </p:spPr>
      </p:sp>
      <p:sp>
        <p:nvSpPr>
          <p:cNvPr id="15" name="Shape 12"/>
          <p:cNvSpPr/>
          <p:nvPr/>
        </p:nvSpPr>
        <p:spPr>
          <a:xfrm>
            <a:off x="10602457" y="2697480"/>
            <a:ext cx="0" cy="274320"/>
          </a:xfrm>
          <a:prstGeom prst="line">
            <a:avLst/>
          </a:prstGeom>
          <a:noFill/>
          <a:ln w="19050">
            <a:solidFill>
              <a:srgbClr val="F2C14E"/>
            </a:solidFill>
            <a:prstDash val="solid"/>
          </a:ln>
        </p:spPr>
      </p:sp>
      <p:sp>
        <p:nvSpPr>
          <p:cNvPr id="16" name="Shape 13"/>
          <p:cNvSpPr/>
          <p:nvPr/>
        </p:nvSpPr>
        <p:spPr>
          <a:xfrm>
            <a:off x="10677362" y="2775204"/>
            <a:ext cx="118872" cy="118872"/>
          </a:xfrm>
          <a:prstGeom prst="ellipse">
            <a:avLst/>
          </a:prstGeom>
          <a:solidFill>
            <a:srgbClr val="E8ECF2">
              <a:alpha val="90000"/>
            </a:srgbClr>
          </a:solidFill>
          <a:ln/>
        </p:spPr>
      </p:sp>
      <p:sp>
        <p:nvSpPr>
          <p:cNvPr id="17" name="Shape 14"/>
          <p:cNvSpPr/>
          <p:nvPr/>
        </p:nvSpPr>
        <p:spPr>
          <a:xfrm>
            <a:off x="10543021" y="2775204"/>
            <a:ext cx="118872" cy="118872"/>
          </a:xfrm>
          <a:prstGeom prst="ellipse">
            <a:avLst/>
          </a:prstGeom>
          <a:solidFill>
            <a:srgbClr val="E8ECF2">
              <a:alpha val="90000"/>
            </a:srgbClr>
          </a:solidFill>
          <a:ln/>
        </p:spPr>
      </p:sp>
      <p:sp>
        <p:nvSpPr>
          <p:cNvPr id="18" name="Shape 15"/>
          <p:cNvSpPr/>
          <p:nvPr/>
        </p:nvSpPr>
        <p:spPr>
          <a:xfrm>
            <a:off x="10492051" y="2775204"/>
            <a:ext cx="118872" cy="118872"/>
          </a:xfrm>
          <a:prstGeom prst="ellipse">
            <a:avLst/>
          </a:prstGeom>
          <a:solidFill>
            <a:srgbClr val="E8ECF2">
              <a:alpha val="90000"/>
            </a:srgbClr>
          </a:solidFill>
          <a:ln/>
        </p:spPr>
      </p:sp>
      <p:sp>
        <p:nvSpPr>
          <p:cNvPr id="19" name="Text 16"/>
          <p:cNvSpPr txBox="1"/>
          <p:nvPr/>
        </p:nvSpPr>
        <p:spPr>
          <a:xfrm>
            <a:off x="8001000" y="31729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Hill-Climbing</a:t>
            </a:r>
            <a:endParaRPr lang="en-US" sz="1150" dirty="0"/>
          </a:p>
        </p:txBody>
      </p:sp>
      <p:sp>
        <p:nvSpPr>
          <p:cNvPr id="20" name="Shape 17"/>
          <p:cNvSpPr/>
          <p:nvPr/>
        </p:nvSpPr>
        <p:spPr>
          <a:xfrm>
            <a:off x="9326880" y="3291840"/>
            <a:ext cx="2179015" cy="0"/>
          </a:xfrm>
          <a:prstGeom prst="line">
            <a:avLst/>
          </a:prstGeom>
          <a:noFill/>
          <a:ln w="7620">
            <a:solidFill>
              <a:srgbClr val="1C2533"/>
            </a:solidFill>
            <a:prstDash val="solid"/>
          </a:ln>
        </p:spPr>
      </p:sp>
      <p:sp>
        <p:nvSpPr>
          <p:cNvPr id="21" name="Shape 18"/>
          <p:cNvSpPr/>
          <p:nvPr/>
        </p:nvSpPr>
        <p:spPr>
          <a:xfrm>
            <a:off x="10136621" y="3154680"/>
            <a:ext cx="0" cy="274320"/>
          </a:xfrm>
          <a:prstGeom prst="line">
            <a:avLst/>
          </a:prstGeom>
          <a:noFill/>
          <a:ln w="19050">
            <a:solidFill>
              <a:srgbClr val="F2C14E"/>
            </a:solidFill>
            <a:prstDash val="solid"/>
          </a:ln>
        </p:spPr>
      </p:sp>
      <p:sp>
        <p:nvSpPr>
          <p:cNvPr id="22" name="Shape 19"/>
          <p:cNvSpPr/>
          <p:nvPr/>
        </p:nvSpPr>
        <p:spPr>
          <a:xfrm>
            <a:off x="10075574" y="3232404"/>
            <a:ext cx="118872" cy="118872"/>
          </a:xfrm>
          <a:prstGeom prst="ellipse">
            <a:avLst/>
          </a:prstGeom>
          <a:solidFill>
            <a:srgbClr val="E8ECF2">
              <a:alpha val="90000"/>
            </a:srgbClr>
          </a:solidFill>
          <a:ln/>
        </p:spPr>
      </p:sp>
      <p:sp>
        <p:nvSpPr>
          <p:cNvPr id="23" name="Shape 20"/>
          <p:cNvSpPr/>
          <p:nvPr/>
        </p:nvSpPr>
        <p:spPr>
          <a:xfrm>
            <a:off x="10161503" y="3232404"/>
            <a:ext cx="118872" cy="118872"/>
          </a:xfrm>
          <a:prstGeom prst="ellipse">
            <a:avLst/>
          </a:prstGeom>
          <a:solidFill>
            <a:srgbClr val="E8ECF2">
              <a:alpha val="90000"/>
            </a:srgbClr>
          </a:solidFill>
          <a:ln/>
        </p:spPr>
      </p:sp>
      <p:sp>
        <p:nvSpPr>
          <p:cNvPr id="24" name="Shape 21"/>
          <p:cNvSpPr/>
          <p:nvPr/>
        </p:nvSpPr>
        <p:spPr>
          <a:xfrm>
            <a:off x="10077185" y="3232404"/>
            <a:ext cx="118872" cy="118872"/>
          </a:xfrm>
          <a:prstGeom prst="ellipse">
            <a:avLst/>
          </a:prstGeom>
          <a:solidFill>
            <a:srgbClr val="E8ECF2">
              <a:alpha val="90000"/>
            </a:srgbClr>
          </a:solidFill>
          <a:ln/>
        </p:spPr>
      </p:sp>
      <p:sp>
        <p:nvSpPr>
          <p:cNvPr id="25" name="Text 22"/>
          <p:cNvSpPr txBox="1"/>
          <p:nvPr/>
        </p:nvSpPr>
        <p:spPr>
          <a:xfrm>
            <a:off x="8001000" y="36301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fcmaes</a:t>
            </a:r>
            <a:endParaRPr lang="en-US" sz="1150" dirty="0"/>
          </a:p>
        </p:txBody>
      </p:sp>
      <p:sp>
        <p:nvSpPr>
          <p:cNvPr id="26" name="Shape 23"/>
          <p:cNvSpPr/>
          <p:nvPr/>
        </p:nvSpPr>
        <p:spPr>
          <a:xfrm>
            <a:off x="9326880" y="3749040"/>
            <a:ext cx="2179015" cy="0"/>
          </a:xfrm>
          <a:prstGeom prst="line">
            <a:avLst/>
          </a:prstGeom>
          <a:noFill/>
          <a:ln w="7620">
            <a:solidFill>
              <a:srgbClr val="1C2533"/>
            </a:solidFill>
            <a:prstDash val="solid"/>
          </a:ln>
        </p:spPr>
      </p:sp>
      <p:sp>
        <p:nvSpPr>
          <p:cNvPr id="27" name="Shape 24"/>
          <p:cNvSpPr/>
          <p:nvPr/>
        </p:nvSpPr>
        <p:spPr>
          <a:xfrm>
            <a:off x="9489738" y="3611880"/>
            <a:ext cx="0" cy="274320"/>
          </a:xfrm>
          <a:prstGeom prst="line">
            <a:avLst/>
          </a:prstGeom>
          <a:noFill/>
          <a:ln w="19050">
            <a:solidFill>
              <a:srgbClr val="F2C14E"/>
            </a:solidFill>
            <a:prstDash val="solid"/>
          </a:ln>
        </p:spPr>
      </p:sp>
      <p:sp>
        <p:nvSpPr>
          <p:cNvPr id="28" name="Shape 25"/>
          <p:cNvSpPr/>
          <p:nvPr/>
        </p:nvSpPr>
        <p:spPr>
          <a:xfrm>
            <a:off x="9430302" y="3689604"/>
            <a:ext cx="118872" cy="118872"/>
          </a:xfrm>
          <a:prstGeom prst="ellipse">
            <a:avLst/>
          </a:prstGeom>
          <a:solidFill>
            <a:srgbClr val="E8ECF2">
              <a:alpha val="90000"/>
            </a:srgbClr>
          </a:solidFill>
          <a:ln/>
        </p:spPr>
      </p:sp>
      <p:sp>
        <p:nvSpPr>
          <p:cNvPr id="29" name="Shape 26"/>
          <p:cNvSpPr/>
          <p:nvPr/>
        </p:nvSpPr>
        <p:spPr>
          <a:xfrm>
            <a:off x="9460145" y="3689604"/>
            <a:ext cx="118872" cy="118872"/>
          </a:xfrm>
          <a:prstGeom prst="ellipse">
            <a:avLst/>
          </a:prstGeom>
          <a:solidFill>
            <a:srgbClr val="E8ECF2">
              <a:alpha val="90000"/>
            </a:srgbClr>
          </a:solidFill>
          <a:ln/>
        </p:spPr>
      </p:sp>
      <p:sp>
        <p:nvSpPr>
          <p:cNvPr id="30" name="Shape 27"/>
          <p:cNvSpPr/>
          <p:nvPr/>
        </p:nvSpPr>
        <p:spPr>
          <a:xfrm>
            <a:off x="9376205" y="3689604"/>
            <a:ext cx="118872" cy="118872"/>
          </a:xfrm>
          <a:prstGeom prst="ellipse">
            <a:avLst/>
          </a:prstGeom>
          <a:solidFill>
            <a:srgbClr val="E8ECF2">
              <a:alpha val="90000"/>
            </a:srgbClr>
          </a:solidFill>
          <a:ln/>
        </p:spPr>
      </p:sp>
      <p:sp>
        <p:nvSpPr>
          <p:cNvPr id="31" name="Shape 28"/>
          <p:cNvSpPr/>
          <p:nvPr/>
        </p:nvSpPr>
        <p:spPr>
          <a:xfrm>
            <a:off x="11253110" y="2267712"/>
            <a:ext cx="219456" cy="219456"/>
          </a:xfrm>
          <a:prstGeom prst="ellipse">
            <a:avLst/>
          </a:prstGeom>
          <a:ln w="15875">
            <a:solidFill>
              <a:srgbClr val="4DA3FF"/>
            </a:solidFill>
            <a:prstDash val="solid"/>
          </a:ln>
        </p:spPr>
      </p:sp>
      <p:sp>
        <p:nvSpPr>
          <p:cNvPr id="32" name="Text 29"/>
          <p:cNvSpPr txBox="1"/>
          <p:nvPr/>
        </p:nvSpPr>
        <p:spPr>
          <a:xfrm>
            <a:off x="10265558" y="1993392"/>
            <a:ext cx="1051560" cy="201168"/>
          </a:xfrm>
          <a:prstGeom prst="rect">
            <a:avLst/>
          </a:prstGeom>
          <a:noFill/>
          <a:ln/>
        </p:spPr>
        <p:txBody>
          <a:bodyPr wrap="square" lIns="0" tIns="0" rIns="0" bIns="0" rtlCol="0" anchor="t"/>
          <a:lstStyle/>
          <a:p>
            <a:pPr algn="r" indent="0" marL="0">
              <a:buNone/>
            </a:pPr>
            <a:r>
              <a:rPr lang="en-US" sz="1000" b="1" dirty="0">
                <a:solidFill>
                  <a:srgbClr val="4DA3FF"/>
                </a:solidFill>
                <a:latin typeface="Calibri" pitchFamily="34" charset="0"/>
                <a:ea typeface="Calibri" pitchFamily="34" charset="-122"/>
                <a:cs typeface="Calibri" pitchFamily="34" charset="-120"/>
              </a:rPr>
              <a:t>best of 3</a:t>
            </a:r>
            <a:endParaRPr lang="en-US" sz="1000" dirty="0"/>
          </a:p>
        </p:txBody>
      </p:sp>
      <p:sp>
        <p:nvSpPr>
          <p:cNvPr id="33" name="Text 30"/>
          <p:cNvSpPr txBox="1"/>
          <p:nvPr/>
        </p:nvSpPr>
        <p:spPr>
          <a:xfrm>
            <a:off x="9385799"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1,810</a:t>
            </a:r>
            <a:endParaRPr lang="en-US" sz="1000" dirty="0"/>
          </a:p>
        </p:txBody>
      </p:sp>
      <p:sp>
        <p:nvSpPr>
          <p:cNvPr id="34" name="Text 31"/>
          <p:cNvSpPr txBox="1"/>
          <p:nvPr/>
        </p:nvSpPr>
        <p:spPr>
          <a:xfrm>
            <a:off x="9859498"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1,815</a:t>
            </a:r>
            <a:endParaRPr lang="en-US" sz="1000" dirty="0"/>
          </a:p>
        </p:txBody>
      </p:sp>
      <p:sp>
        <p:nvSpPr>
          <p:cNvPr id="35" name="Text 32"/>
          <p:cNvSpPr txBox="1"/>
          <p:nvPr/>
        </p:nvSpPr>
        <p:spPr>
          <a:xfrm>
            <a:off x="10333197"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1,820</a:t>
            </a:r>
            <a:endParaRPr lang="en-US" sz="1000" dirty="0"/>
          </a:p>
        </p:txBody>
      </p:sp>
      <p:sp>
        <p:nvSpPr>
          <p:cNvPr id="36" name="Text 33"/>
          <p:cNvSpPr txBox="1"/>
          <p:nvPr/>
        </p:nvSpPr>
        <p:spPr>
          <a:xfrm>
            <a:off x="10806896"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1,825</a:t>
            </a:r>
            <a:endParaRPr lang="en-US" sz="1000" dirty="0"/>
          </a:p>
        </p:txBody>
      </p:sp>
      <p:sp>
        <p:nvSpPr>
          <p:cNvPr id="37" name="Text 34"/>
          <p:cNvSpPr txBox="1"/>
          <p:nvPr/>
        </p:nvSpPr>
        <p:spPr>
          <a:xfrm>
            <a:off x="9326880" y="4041648"/>
            <a:ext cx="2179015"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hypervolume ×1,000</a:t>
            </a:r>
            <a:endParaRPr lang="en-US" sz="1000" dirty="0"/>
          </a:p>
        </p:txBody>
      </p:sp>
      <p:sp>
        <p:nvSpPr>
          <p:cNvPr id="38" name="Shape 35"/>
          <p:cNvSpPr/>
          <p:nvPr/>
        </p:nvSpPr>
        <p:spPr>
          <a:xfrm>
            <a:off x="8019288" y="4343400"/>
            <a:ext cx="137160" cy="0"/>
          </a:xfrm>
          <a:prstGeom prst="line">
            <a:avLst/>
          </a:prstGeom>
          <a:noFill/>
          <a:ln w="19050">
            <a:solidFill>
              <a:srgbClr val="F2C14E"/>
            </a:solidFill>
            <a:prstDash val="solid"/>
          </a:ln>
        </p:spPr>
      </p:sp>
      <p:sp>
        <p:nvSpPr>
          <p:cNvPr id="39" name="Text 36"/>
          <p:cNvSpPr txBox="1"/>
          <p:nvPr/>
        </p:nvSpPr>
        <p:spPr>
          <a:xfrm>
            <a:off x="8202168" y="4242816"/>
            <a:ext cx="1280160" cy="201168"/>
          </a:xfrm>
          <a:prstGeom prst="rect">
            <a:avLst/>
          </a:prstGeom>
          <a:noFill/>
          <a:ln/>
        </p:spPr>
        <p:txBody>
          <a:bodyPr wrap="square" lIns="0" tIns="0" rIns="0" bIns="0" rtlCol="0" anchor="t"/>
          <a:lstStyle/>
          <a:p>
            <a:pPr indent="0" marL="0">
              <a:buNone/>
            </a:pPr>
            <a:r>
              <a:rPr lang="en-US" sz="1000" dirty="0">
                <a:solidFill>
                  <a:srgbClr val="F2C14E"/>
                </a:solidFill>
                <a:latin typeface="Calibri" pitchFamily="34" charset="0"/>
                <a:ea typeface="Calibri" pitchFamily="34" charset="-122"/>
                <a:cs typeface="Calibri" pitchFamily="34" charset="-120"/>
              </a:rPr>
              <a:t>medians</a:t>
            </a:r>
            <a:endParaRPr lang="en-US" sz="1000" dirty="0"/>
          </a:p>
        </p:txBody>
      </p:sp>
      <p:sp>
        <p:nvSpPr>
          <p:cNvPr id="40" name="Text 37"/>
          <p:cNvSpPr txBox="1"/>
          <p:nvPr/>
        </p:nvSpPr>
        <p:spPr>
          <a:xfrm>
            <a:off x="8001000" y="4553712"/>
            <a:ext cx="3550615" cy="585216"/>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The best of three crowns Spacekangaroos on a single seed; its other two seeds lie below all three of Team HRI. The median crowns Team HRI.</a:t>
            </a:r>
            <a:endParaRPr lang="en-US" sz="1200" dirty="0"/>
          </a:p>
        </p:txBody>
      </p:sp>
      <p:sp>
        <p:nvSpPr>
          <p:cNvPr id="41" name="Text 38"/>
          <p:cNvSpPr txBox="1"/>
          <p:nvPr/>
        </p:nvSpPr>
        <p:spPr>
          <a:xfrm>
            <a:off x="8001000" y="5440680"/>
            <a:ext cx="3550615" cy="237744"/>
          </a:xfrm>
          <a:prstGeom prst="rect">
            <a:avLst/>
          </a:prstGeom>
          <a:noFill/>
          <a:ln/>
        </p:spPr>
        <p:txBody>
          <a:bodyPr wrap="square" lIns="0" tIns="0" rIns="0" bIns="0" rtlCol="0" anchor="t"/>
          <a:lstStyle/>
          <a:p>
            <a:pPr indent="0" marL="0">
              <a:buNone/>
            </a:pPr>
            <a:r>
              <a:rPr lang="en-US" sz="1050" b="1" spc="160" kern="0" dirty="0">
                <a:solidFill>
                  <a:srgbClr val="3DDC97"/>
                </a:solidFill>
                <a:latin typeface="Calibri" pitchFamily="34" charset="0"/>
                <a:ea typeface="Calibri" pitchFamily="34" charset="-122"/>
                <a:cs typeface="Calibri" pitchFamily="34" charset="-120"/>
              </a:rPr>
              <a:t>READING THE TABLE</a:t>
            </a:r>
            <a:endParaRPr lang="en-US" sz="1050" dirty="0"/>
          </a:p>
        </p:txBody>
      </p:sp>
      <p:sp>
        <p:nvSpPr>
          <p:cNvPr id="42" name="Text 39"/>
          <p:cNvSpPr txBox="1"/>
          <p:nvPr/>
        </p:nvSpPr>
        <p:spPr>
          <a:xfrm>
            <a:off x="8001000" y="5687568"/>
            <a:ext cx="3550615" cy="566928"/>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Resolved: synth-3, synth-4 and the three dense instances. On the other five, the seeds of the winner and of a rival overlap.</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6 · RESULTS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Results III: which component of the search matters</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Each variant changes exactly one component of the Hill-Climbing control: the move set, the acceptance rule or the starting construction. Bars show the change in hypervolume summed over the ten instances.</a:t>
            </a:r>
            <a:endParaRPr lang="en-US" sz="1400" dirty="0"/>
          </a:p>
        </p:txBody>
      </p:sp>
      <p:sp>
        <p:nvSpPr>
          <p:cNvPr id="5" name="Shape 3"/>
          <p:cNvSpPr/>
          <p:nvPr/>
        </p:nvSpPr>
        <p:spPr>
          <a:xfrm>
            <a:off x="3476369" y="2542032"/>
            <a:ext cx="536198" cy="2916936"/>
          </a:xfrm>
          <a:prstGeom prst="rect">
            <a:avLst/>
          </a:prstGeom>
          <a:solidFill>
            <a:srgbClr val="F2C14E">
              <a:alpha val="10000"/>
            </a:srgbClr>
          </a:solidFill>
          <a:ln/>
        </p:spPr>
      </p:sp>
      <p:sp>
        <p:nvSpPr>
          <p:cNvPr id="6" name="Shape 4"/>
          <p:cNvSpPr/>
          <p:nvPr/>
        </p:nvSpPr>
        <p:spPr>
          <a:xfrm>
            <a:off x="3476369" y="2542032"/>
            <a:ext cx="0" cy="2916936"/>
          </a:xfrm>
          <a:prstGeom prst="line">
            <a:avLst/>
          </a:prstGeom>
          <a:noFill/>
          <a:ln w="9525">
            <a:solidFill>
              <a:srgbClr val="F2C14E"/>
            </a:solidFill>
            <a:prstDash val="dash"/>
          </a:ln>
        </p:spPr>
      </p:sp>
      <p:sp>
        <p:nvSpPr>
          <p:cNvPr id="7" name="Shape 5"/>
          <p:cNvSpPr/>
          <p:nvPr/>
        </p:nvSpPr>
        <p:spPr>
          <a:xfrm>
            <a:off x="4012567" y="2542032"/>
            <a:ext cx="0" cy="2916936"/>
          </a:xfrm>
          <a:prstGeom prst="line">
            <a:avLst/>
          </a:prstGeom>
          <a:noFill/>
          <a:ln w="9525">
            <a:solidFill>
              <a:srgbClr val="F2C14E"/>
            </a:solidFill>
            <a:prstDash val="dash"/>
          </a:ln>
        </p:spPr>
      </p:sp>
      <p:sp>
        <p:nvSpPr>
          <p:cNvPr id="8" name="Text 6"/>
          <p:cNvSpPr txBox="1"/>
          <p:nvPr/>
        </p:nvSpPr>
        <p:spPr>
          <a:xfrm>
            <a:off x="3293489" y="2304288"/>
            <a:ext cx="329184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control run twice: ±21,519 HV</a:t>
            </a:r>
            <a:endParaRPr lang="en-US" sz="1050" dirty="0"/>
          </a:p>
        </p:txBody>
      </p:sp>
      <p:sp>
        <p:nvSpPr>
          <p:cNvPr id="9" name="Shape 7"/>
          <p:cNvSpPr/>
          <p:nvPr/>
        </p:nvSpPr>
        <p:spPr>
          <a:xfrm>
            <a:off x="3744468" y="2542032"/>
            <a:ext cx="0" cy="2916936"/>
          </a:xfrm>
          <a:prstGeom prst="line">
            <a:avLst/>
          </a:prstGeom>
          <a:noFill/>
          <a:ln w="9525">
            <a:solidFill>
              <a:srgbClr val="9AA6B6"/>
            </a:solidFill>
            <a:prstDash val="solid"/>
          </a:ln>
        </p:spPr>
      </p:sp>
      <p:sp>
        <p:nvSpPr>
          <p:cNvPr id="10" name="Text 8"/>
          <p:cNvSpPr txBox="1"/>
          <p:nvPr/>
        </p:nvSpPr>
        <p:spPr>
          <a:xfrm>
            <a:off x="3424428" y="550468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11" name="Text 9"/>
          <p:cNvSpPr txBox="1"/>
          <p:nvPr/>
        </p:nvSpPr>
        <p:spPr>
          <a:xfrm>
            <a:off x="4670298" y="550468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100k</a:t>
            </a:r>
            <a:endParaRPr lang="en-US" sz="1000" dirty="0"/>
          </a:p>
        </p:txBody>
      </p:sp>
      <p:sp>
        <p:nvSpPr>
          <p:cNvPr id="12" name="Text 10"/>
          <p:cNvSpPr txBox="1"/>
          <p:nvPr/>
        </p:nvSpPr>
        <p:spPr>
          <a:xfrm>
            <a:off x="5916168" y="550468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200k</a:t>
            </a:r>
            <a:endParaRPr lang="en-US" sz="1000" dirty="0"/>
          </a:p>
        </p:txBody>
      </p:sp>
      <p:sp>
        <p:nvSpPr>
          <p:cNvPr id="13" name="Text 11"/>
          <p:cNvSpPr txBox="1"/>
          <p:nvPr/>
        </p:nvSpPr>
        <p:spPr>
          <a:xfrm>
            <a:off x="7162038" y="550468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300k</a:t>
            </a:r>
            <a:endParaRPr lang="en-US" sz="1000" dirty="0"/>
          </a:p>
        </p:txBody>
      </p:sp>
      <p:sp>
        <p:nvSpPr>
          <p:cNvPr id="14" name="Text 12"/>
          <p:cNvSpPr txBox="1"/>
          <p:nvPr/>
        </p:nvSpPr>
        <p:spPr>
          <a:xfrm>
            <a:off x="640080" y="2679192"/>
            <a:ext cx="251460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MOVE SET</a:t>
            </a:r>
            <a:endParaRPr lang="en-US" sz="1000" dirty="0"/>
          </a:p>
        </p:txBody>
      </p:sp>
      <p:sp>
        <p:nvSpPr>
          <p:cNvPr id="15" name="Text 13"/>
          <p:cNvSpPr txBox="1"/>
          <p:nvPr/>
        </p:nvSpPr>
        <p:spPr>
          <a:xfrm>
            <a:off x="640080" y="2880360"/>
            <a:ext cx="256032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bottleneck-aware moves</a:t>
            </a:r>
            <a:endParaRPr lang="en-US" sz="1350" dirty="0"/>
          </a:p>
        </p:txBody>
      </p:sp>
      <p:sp>
        <p:nvSpPr>
          <p:cNvPr id="16" name="Shape 14"/>
          <p:cNvSpPr/>
          <p:nvPr/>
        </p:nvSpPr>
        <p:spPr>
          <a:xfrm>
            <a:off x="3744468" y="2843784"/>
            <a:ext cx="119130" cy="219456"/>
          </a:xfrm>
          <a:prstGeom prst="rect">
            <a:avLst/>
          </a:prstGeom>
          <a:solidFill>
            <a:srgbClr val="9AA6B6">
              <a:alpha val="85000"/>
            </a:srgbClr>
          </a:solidFill>
          <a:ln/>
        </p:spPr>
      </p:sp>
      <p:sp>
        <p:nvSpPr>
          <p:cNvPr id="17" name="Shape 15"/>
          <p:cNvSpPr/>
          <p:nvPr/>
        </p:nvSpPr>
        <p:spPr>
          <a:xfrm>
            <a:off x="3517775" y="2875788"/>
            <a:ext cx="155448" cy="155448"/>
          </a:xfrm>
          <a:prstGeom prst="ellipse">
            <a:avLst/>
          </a:prstGeom>
          <a:ln w="19050">
            <a:solidFill>
              <a:srgbClr val="E8ECF2"/>
            </a:solidFill>
            <a:prstDash val="solid"/>
          </a:ln>
        </p:spPr>
      </p:sp>
      <p:sp>
        <p:nvSpPr>
          <p:cNvPr id="18" name="Text 16"/>
          <p:cNvSpPr txBox="1"/>
          <p:nvPr/>
        </p:nvSpPr>
        <p:spPr>
          <a:xfrm>
            <a:off x="4122295" y="2834640"/>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+9,562  ·  0.4×</a:t>
            </a:r>
            <a:endParaRPr lang="en-US" sz="1200" dirty="0"/>
          </a:p>
        </p:txBody>
      </p:sp>
      <p:sp>
        <p:nvSpPr>
          <p:cNvPr id="19" name="Text 17"/>
          <p:cNvSpPr txBox="1"/>
          <p:nvPr/>
        </p:nvSpPr>
        <p:spPr>
          <a:xfrm>
            <a:off x="640080" y="3374136"/>
            <a:ext cx="251460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ACCEPTANCE RULE</a:t>
            </a:r>
            <a:endParaRPr lang="en-US" sz="1000" dirty="0"/>
          </a:p>
        </p:txBody>
      </p:sp>
      <p:sp>
        <p:nvSpPr>
          <p:cNvPr id="20" name="Text 18"/>
          <p:cNvSpPr txBox="1"/>
          <p:nvPr/>
        </p:nvSpPr>
        <p:spPr>
          <a:xfrm>
            <a:off x="640080" y="3575304"/>
            <a:ext cx="256032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VNS shake ladder</a:t>
            </a:r>
            <a:endParaRPr lang="en-US" sz="1350" dirty="0"/>
          </a:p>
        </p:txBody>
      </p:sp>
      <p:sp>
        <p:nvSpPr>
          <p:cNvPr id="21" name="Shape 19"/>
          <p:cNvSpPr/>
          <p:nvPr/>
        </p:nvSpPr>
        <p:spPr>
          <a:xfrm>
            <a:off x="3744468" y="3538728"/>
            <a:ext cx="244477" cy="219456"/>
          </a:xfrm>
          <a:prstGeom prst="rect">
            <a:avLst/>
          </a:prstGeom>
          <a:solidFill>
            <a:srgbClr val="9AA6B6">
              <a:alpha val="85000"/>
            </a:srgbClr>
          </a:solidFill>
          <a:ln/>
        </p:spPr>
      </p:sp>
      <p:sp>
        <p:nvSpPr>
          <p:cNvPr id="22" name="Shape 20"/>
          <p:cNvSpPr/>
          <p:nvPr/>
        </p:nvSpPr>
        <p:spPr>
          <a:xfrm>
            <a:off x="3643122" y="3570732"/>
            <a:ext cx="155448" cy="155448"/>
          </a:xfrm>
          <a:prstGeom prst="ellipse">
            <a:avLst/>
          </a:prstGeom>
          <a:ln w="19050">
            <a:solidFill>
              <a:srgbClr val="E8ECF2"/>
            </a:solidFill>
            <a:prstDash val="solid"/>
          </a:ln>
        </p:spPr>
      </p:sp>
      <p:sp>
        <p:nvSpPr>
          <p:cNvPr id="23" name="Text 21"/>
          <p:cNvSpPr txBox="1"/>
          <p:nvPr/>
        </p:nvSpPr>
        <p:spPr>
          <a:xfrm>
            <a:off x="4122295" y="3529584"/>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+19,623  ·  0.9×</a:t>
            </a:r>
            <a:endParaRPr lang="en-US" sz="1200" dirty="0"/>
          </a:p>
        </p:txBody>
      </p:sp>
      <p:sp>
        <p:nvSpPr>
          <p:cNvPr id="24" name="Text 22"/>
          <p:cNvSpPr txBox="1"/>
          <p:nvPr/>
        </p:nvSpPr>
        <p:spPr>
          <a:xfrm>
            <a:off x="640080" y="4069080"/>
            <a:ext cx="251460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ACCEPTANCE RULE</a:t>
            </a:r>
            <a:endParaRPr lang="en-US" sz="1000" dirty="0"/>
          </a:p>
        </p:txBody>
      </p:sp>
      <p:sp>
        <p:nvSpPr>
          <p:cNvPr id="25" name="Text 23"/>
          <p:cNvSpPr txBox="1"/>
          <p:nvPr/>
        </p:nvSpPr>
        <p:spPr>
          <a:xfrm>
            <a:off x="640080" y="4270248"/>
            <a:ext cx="256032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simulated annealing</a:t>
            </a:r>
            <a:endParaRPr lang="en-US" sz="1350" dirty="0"/>
          </a:p>
        </p:txBody>
      </p:sp>
      <p:sp>
        <p:nvSpPr>
          <p:cNvPr id="26" name="Shape 24"/>
          <p:cNvSpPr/>
          <p:nvPr/>
        </p:nvSpPr>
        <p:spPr>
          <a:xfrm>
            <a:off x="3744468" y="4233672"/>
            <a:ext cx="529096" cy="219456"/>
          </a:xfrm>
          <a:prstGeom prst="rect">
            <a:avLst/>
          </a:prstGeom>
          <a:solidFill>
            <a:srgbClr val="9AA6B6">
              <a:alpha val="85000"/>
            </a:srgbClr>
          </a:solidFill>
          <a:ln/>
        </p:spPr>
      </p:sp>
      <p:sp>
        <p:nvSpPr>
          <p:cNvPr id="27" name="Shape 25"/>
          <p:cNvSpPr/>
          <p:nvPr/>
        </p:nvSpPr>
        <p:spPr>
          <a:xfrm>
            <a:off x="3927741" y="4265676"/>
            <a:ext cx="155448" cy="155448"/>
          </a:xfrm>
          <a:prstGeom prst="ellipse">
            <a:avLst/>
          </a:prstGeom>
          <a:ln w="19050">
            <a:solidFill>
              <a:srgbClr val="E8ECF2"/>
            </a:solidFill>
            <a:prstDash val="solid"/>
          </a:ln>
        </p:spPr>
      </p:sp>
      <p:sp>
        <p:nvSpPr>
          <p:cNvPr id="28" name="Text 26"/>
          <p:cNvSpPr txBox="1"/>
          <p:nvPr/>
        </p:nvSpPr>
        <p:spPr>
          <a:xfrm>
            <a:off x="4383292" y="4224528"/>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+42,468  ·  2.0×</a:t>
            </a:r>
            <a:endParaRPr lang="en-US" sz="1200" dirty="0"/>
          </a:p>
        </p:txBody>
      </p:sp>
      <p:sp>
        <p:nvSpPr>
          <p:cNvPr id="29" name="Text 27"/>
          <p:cNvSpPr txBox="1"/>
          <p:nvPr/>
        </p:nvSpPr>
        <p:spPr>
          <a:xfrm>
            <a:off x="640080" y="4764024"/>
            <a:ext cx="251460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CONSTRUCTION</a:t>
            </a:r>
            <a:endParaRPr lang="en-US" sz="1000" dirty="0"/>
          </a:p>
        </p:txBody>
      </p:sp>
      <p:sp>
        <p:nvSpPr>
          <p:cNvPr id="30" name="Text 28"/>
          <p:cNvSpPr txBox="1"/>
          <p:nvPr/>
        </p:nvSpPr>
        <p:spPr>
          <a:xfrm>
            <a:off x="640080" y="4965192"/>
            <a:ext cx="256032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GRASP, randomised greedy</a:t>
            </a:r>
            <a:endParaRPr lang="en-US" sz="1350" dirty="0"/>
          </a:p>
        </p:txBody>
      </p:sp>
      <p:sp>
        <p:nvSpPr>
          <p:cNvPr id="31" name="Shape 29"/>
          <p:cNvSpPr/>
          <p:nvPr/>
        </p:nvSpPr>
        <p:spPr>
          <a:xfrm>
            <a:off x="3744468" y="4928616"/>
            <a:ext cx="4251693" cy="219456"/>
          </a:xfrm>
          <a:prstGeom prst="rect">
            <a:avLst/>
          </a:prstGeom>
          <a:solidFill>
            <a:srgbClr val="3DDC97"/>
          </a:solidFill>
          <a:ln/>
        </p:spPr>
      </p:sp>
      <p:sp>
        <p:nvSpPr>
          <p:cNvPr id="32" name="Shape 30"/>
          <p:cNvSpPr/>
          <p:nvPr/>
        </p:nvSpPr>
        <p:spPr>
          <a:xfrm>
            <a:off x="7650339" y="4960620"/>
            <a:ext cx="155448" cy="155448"/>
          </a:xfrm>
          <a:prstGeom prst="ellipse">
            <a:avLst/>
          </a:prstGeom>
          <a:ln w="19050">
            <a:solidFill>
              <a:srgbClr val="0B0F17"/>
            </a:solidFill>
            <a:prstDash val="solid"/>
          </a:ln>
        </p:spPr>
      </p:sp>
      <p:sp>
        <p:nvSpPr>
          <p:cNvPr id="33" name="Text 31"/>
          <p:cNvSpPr txBox="1"/>
          <p:nvPr/>
        </p:nvSpPr>
        <p:spPr>
          <a:xfrm>
            <a:off x="5442063" y="4919472"/>
            <a:ext cx="2103120" cy="237744"/>
          </a:xfrm>
          <a:prstGeom prst="rect">
            <a:avLst/>
          </a:prstGeom>
          <a:noFill/>
          <a:ln/>
        </p:spPr>
        <p:txBody>
          <a:bodyPr wrap="square" lIns="0" tIns="0" rIns="0" bIns="0" rtlCol="0" anchor="t"/>
          <a:lstStyle/>
          <a:p>
            <a:pPr algn="r" indent="0" marL="0">
              <a:buNone/>
            </a:pPr>
            <a:r>
              <a:rPr lang="en-US" sz="1200" b="1" dirty="0">
                <a:solidFill>
                  <a:srgbClr val="0B0F17"/>
                </a:solidFill>
                <a:latin typeface="Calibri" pitchFamily="34" charset="0"/>
                <a:ea typeface="Calibri" pitchFamily="34" charset="-122"/>
                <a:cs typeface="Calibri" pitchFamily="34" charset="-120"/>
              </a:rPr>
              <a:t>+341,263  ·  15.9×</a:t>
            </a:r>
            <a:endParaRPr lang="en-US" sz="1200" dirty="0"/>
          </a:p>
        </p:txBody>
      </p:sp>
      <p:sp>
        <p:nvSpPr>
          <p:cNvPr id="34" name="Shape 32"/>
          <p:cNvSpPr/>
          <p:nvPr/>
        </p:nvSpPr>
        <p:spPr>
          <a:xfrm>
            <a:off x="3246120" y="5852160"/>
            <a:ext cx="274320" cy="118872"/>
          </a:xfrm>
          <a:prstGeom prst="rect">
            <a:avLst/>
          </a:prstGeom>
          <a:solidFill>
            <a:srgbClr val="9AA6B6"/>
          </a:solidFill>
          <a:ln/>
        </p:spPr>
      </p:sp>
      <p:sp>
        <p:nvSpPr>
          <p:cNvPr id="35" name="Text 33"/>
          <p:cNvSpPr txBox="1"/>
          <p:nvPr/>
        </p:nvSpPr>
        <p:spPr>
          <a:xfrm>
            <a:off x="3593592" y="5797296"/>
            <a:ext cx="210312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change against the control</a:t>
            </a:r>
            <a:endParaRPr lang="en-US" sz="1050" dirty="0"/>
          </a:p>
        </p:txBody>
      </p:sp>
      <p:sp>
        <p:nvSpPr>
          <p:cNvPr id="36" name="Shape 34"/>
          <p:cNvSpPr/>
          <p:nvPr/>
        </p:nvSpPr>
        <p:spPr>
          <a:xfrm>
            <a:off x="5742432" y="5843016"/>
            <a:ext cx="128016" cy="128016"/>
          </a:xfrm>
          <a:prstGeom prst="ellipse">
            <a:avLst/>
          </a:prstGeom>
          <a:ln w="15875">
            <a:solidFill>
              <a:srgbClr val="E8ECF2"/>
            </a:solidFill>
            <a:prstDash val="solid"/>
          </a:ln>
        </p:spPr>
      </p:sp>
      <p:sp>
        <p:nvSpPr>
          <p:cNvPr id="37" name="Text 35"/>
          <p:cNvSpPr txBox="1"/>
          <p:nvPr/>
        </p:nvSpPr>
        <p:spPr>
          <a:xfrm>
            <a:off x="5943600" y="5797296"/>
            <a:ext cx="23774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the control’s other run</a:t>
            </a:r>
            <a:endParaRPr lang="en-US" sz="1050" dirty="0"/>
          </a:p>
        </p:txBody>
      </p:sp>
      <p:sp>
        <p:nvSpPr>
          <p:cNvPr id="38" name="Text 36"/>
          <p:cNvSpPr txBox="1"/>
          <p:nvPr/>
        </p:nvSpPr>
        <p:spPr>
          <a:xfrm>
            <a:off x="3246120" y="6071616"/>
            <a:ext cx="4937760" cy="219456"/>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0.4× = change ÷ 21,519 HV</a:t>
            </a:r>
            <a:endParaRPr lang="en-US" sz="1050" dirty="0"/>
          </a:p>
        </p:txBody>
      </p:sp>
      <p:sp>
        <p:nvSpPr>
          <p:cNvPr id="39" name="Text 37"/>
          <p:cNvSpPr txBox="1"/>
          <p:nvPr/>
        </p:nvSpPr>
        <p:spPr>
          <a:xfrm>
            <a:off x="8823960" y="2514600"/>
            <a:ext cx="272765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WHERE THE CONSTRUCTION EFFECT COMES FROM</a:t>
            </a:r>
            <a:endParaRPr lang="en-US" sz="1050" dirty="0"/>
          </a:p>
        </p:txBody>
      </p:sp>
      <p:sp>
        <p:nvSpPr>
          <p:cNvPr id="40" name="Text 38"/>
          <p:cNvSpPr txBox="1"/>
          <p:nvPr/>
        </p:nvSpPr>
        <p:spPr>
          <a:xfrm>
            <a:off x="8823960" y="2971800"/>
            <a:ext cx="2727655" cy="457200"/>
          </a:xfrm>
          <a:prstGeom prst="rect">
            <a:avLst/>
          </a:prstGeom>
          <a:noFill/>
          <a:ln/>
        </p:spPr>
        <p:txBody>
          <a:bodyPr wrap="square" lIns="0" tIns="0" rIns="0" bIns="0" rtlCol="0" anchor="t"/>
          <a:lstStyle/>
          <a:p>
            <a:pPr indent="0" marL="0">
              <a:buNone/>
            </a:pPr>
            <a:r>
              <a:rPr lang="en-US" sz="2500" dirty="0">
                <a:solidFill>
                  <a:srgbClr val="3DDC97"/>
                </a:solidFill>
                <a:latin typeface="Century Schoolbook" pitchFamily="34" charset="0"/>
                <a:ea typeface="Century Schoolbook" pitchFamily="34" charset="-122"/>
                <a:cs typeface="Century Schoolbook" pitchFamily="34" charset="-120"/>
              </a:rPr>
              <a:t>+343,623 HV</a:t>
            </a:r>
            <a:endParaRPr lang="en-US" sz="2500" dirty="0"/>
          </a:p>
        </p:txBody>
      </p:sp>
      <p:sp>
        <p:nvSpPr>
          <p:cNvPr id="41" name="Text 39"/>
          <p:cNvSpPr txBox="1"/>
          <p:nvPr/>
        </p:nvSpPr>
        <p:spPr>
          <a:xfrm>
            <a:off x="8823960" y="345643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on the three dense instances</a:t>
            </a:r>
            <a:endParaRPr lang="en-US" sz="1250" dirty="0"/>
          </a:p>
        </p:txBody>
      </p:sp>
      <p:sp>
        <p:nvSpPr>
          <p:cNvPr id="42" name="Text 40"/>
          <p:cNvSpPr txBox="1"/>
          <p:nvPr/>
        </p:nvSpPr>
        <p:spPr>
          <a:xfrm>
            <a:off x="8823960" y="3931920"/>
            <a:ext cx="2727655" cy="457200"/>
          </a:xfrm>
          <a:prstGeom prst="rect">
            <a:avLst/>
          </a:prstGeom>
          <a:noFill/>
          <a:ln/>
        </p:spPr>
        <p:txBody>
          <a:bodyPr wrap="square" lIns="0" tIns="0" rIns="0" bIns="0" rtlCol="0" anchor="t"/>
          <a:lstStyle/>
          <a:p>
            <a:pPr indent="0" marL="0">
              <a:buNone/>
            </a:pPr>
            <a:r>
              <a:rPr lang="en-US" sz="2500" dirty="0">
                <a:solidFill>
                  <a:srgbClr val="FF5A60"/>
                </a:solidFill>
                <a:latin typeface="Century Schoolbook" pitchFamily="34" charset="0"/>
                <a:ea typeface="Century Schoolbook" pitchFamily="34" charset="-122"/>
                <a:cs typeface="Century Schoolbook" pitchFamily="34" charset="-120"/>
              </a:rPr>
              <a:t>−2,360 HV</a:t>
            </a:r>
            <a:endParaRPr lang="en-US" sz="2500" dirty="0"/>
          </a:p>
        </p:txBody>
      </p:sp>
      <p:sp>
        <p:nvSpPr>
          <p:cNvPr id="43" name="Text 41"/>
          <p:cNvSpPr txBox="1"/>
          <p:nvPr/>
        </p:nvSpPr>
        <p:spPr>
          <a:xfrm>
            <a:off x="8823960" y="441655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on the other seven</a:t>
            </a:r>
            <a:endParaRPr lang="en-US" sz="1250" dirty="0"/>
          </a:p>
        </p:txBody>
      </p:sp>
      <p:sp>
        <p:nvSpPr>
          <p:cNvPr id="44" name="Text 42"/>
          <p:cNvSpPr txBox="1"/>
          <p:nvPr/>
        </p:nvSpPr>
        <p:spPr>
          <a:xfrm>
            <a:off x="8823960" y="4983480"/>
            <a:ext cx="2727655" cy="118872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The construction effect is a result about dense graphs: on sparse and medium graphs it disappears.</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6 · RESULTS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Results III (continued): 17 move operators</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Thirteen new move operators in five families were each used alone, in place of the control’s four, and all seventeen were also run together.</a:t>
            </a:r>
            <a:endParaRPr lang="en-US" sz="1400" dirty="0"/>
          </a:p>
        </p:txBody>
      </p:sp>
      <p:sp>
        <p:nvSpPr>
          <p:cNvPr id="5" name="Shape 3"/>
          <p:cNvSpPr/>
          <p:nvPr/>
        </p:nvSpPr>
        <p:spPr>
          <a:xfrm>
            <a:off x="4101399" y="2532888"/>
            <a:ext cx="3269405" cy="3291840"/>
          </a:xfrm>
          <a:prstGeom prst="rect">
            <a:avLst/>
          </a:prstGeom>
          <a:solidFill>
            <a:srgbClr val="F2C14E">
              <a:alpha val="10000"/>
            </a:srgbClr>
          </a:solidFill>
          <a:ln/>
        </p:spPr>
      </p:sp>
      <p:sp>
        <p:nvSpPr>
          <p:cNvPr id="6" name="Shape 4"/>
          <p:cNvSpPr/>
          <p:nvPr/>
        </p:nvSpPr>
        <p:spPr>
          <a:xfrm>
            <a:off x="4101399" y="2532888"/>
            <a:ext cx="0" cy="3291840"/>
          </a:xfrm>
          <a:prstGeom prst="line">
            <a:avLst/>
          </a:prstGeom>
          <a:noFill/>
          <a:ln w="9525">
            <a:solidFill>
              <a:srgbClr val="F2C14E"/>
            </a:solidFill>
            <a:prstDash val="dash"/>
          </a:ln>
        </p:spPr>
      </p:sp>
      <p:sp>
        <p:nvSpPr>
          <p:cNvPr id="7" name="Shape 5"/>
          <p:cNvSpPr/>
          <p:nvPr/>
        </p:nvSpPr>
        <p:spPr>
          <a:xfrm>
            <a:off x="7370804" y="2532888"/>
            <a:ext cx="0" cy="3291840"/>
          </a:xfrm>
          <a:prstGeom prst="line">
            <a:avLst/>
          </a:prstGeom>
          <a:noFill/>
          <a:ln w="9525">
            <a:solidFill>
              <a:srgbClr val="F2C14E"/>
            </a:solidFill>
            <a:prstDash val="dash"/>
          </a:ln>
        </p:spPr>
      </p:sp>
      <p:sp>
        <p:nvSpPr>
          <p:cNvPr id="8" name="Text 6"/>
          <p:cNvSpPr txBox="1"/>
          <p:nvPr/>
        </p:nvSpPr>
        <p:spPr>
          <a:xfrm>
            <a:off x="4101399" y="2276856"/>
            <a:ext cx="310896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control run twice  ±21,519 HV</a:t>
            </a:r>
            <a:endParaRPr lang="en-US" sz="1050" dirty="0"/>
          </a:p>
        </p:txBody>
      </p:sp>
      <p:sp>
        <p:nvSpPr>
          <p:cNvPr id="9" name="Shape 7"/>
          <p:cNvSpPr/>
          <p:nvPr/>
        </p:nvSpPr>
        <p:spPr>
          <a:xfrm>
            <a:off x="5736102" y="2532888"/>
            <a:ext cx="0" cy="3273552"/>
          </a:xfrm>
          <a:prstGeom prst="line">
            <a:avLst/>
          </a:prstGeom>
          <a:noFill/>
          <a:ln w="9525">
            <a:solidFill>
              <a:srgbClr val="9AA6B6"/>
            </a:solidFill>
            <a:prstDash val="solid"/>
          </a:ln>
        </p:spPr>
      </p:sp>
      <p:sp>
        <p:nvSpPr>
          <p:cNvPr id="10" name="Text 8"/>
          <p:cNvSpPr txBox="1"/>
          <p:nvPr/>
        </p:nvSpPr>
        <p:spPr>
          <a:xfrm>
            <a:off x="640080" y="26151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k_opt_aimed</a:t>
            </a:r>
            <a:endParaRPr lang="en-US" sz="1050" dirty="0"/>
          </a:p>
        </p:txBody>
      </p:sp>
      <p:sp>
        <p:nvSpPr>
          <p:cNvPr id="11" name="Shape 9"/>
          <p:cNvSpPr/>
          <p:nvPr/>
        </p:nvSpPr>
        <p:spPr>
          <a:xfrm>
            <a:off x="4965203" y="2720340"/>
            <a:ext cx="1634702" cy="0"/>
          </a:xfrm>
          <a:prstGeom prst="line">
            <a:avLst/>
          </a:prstGeom>
          <a:noFill/>
          <a:ln w="9525">
            <a:solidFill>
              <a:srgbClr val="7D8AA0"/>
            </a:solidFill>
            <a:prstDash val="solid"/>
          </a:ln>
        </p:spPr>
      </p:sp>
      <p:sp>
        <p:nvSpPr>
          <p:cNvPr id="12" name="Shape 10"/>
          <p:cNvSpPr/>
          <p:nvPr/>
        </p:nvSpPr>
        <p:spPr>
          <a:xfrm>
            <a:off x="4910339" y="2665476"/>
            <a:ext cx="109728" cy="109728"/>
          </a:xfrm>
          <a:prstGeom prst="ellipse">
            <a:avLst/>
          </a:prstGeom>
          <a:ln w="13970">
            <a:solidFill>
              <a:srgbClr val="E8ECF2"/>
            </a:solidFill>
            <a:prstDash val="solid"/>
          </a:ln>
        </p:spPr>
      </p:sp>
      <p:sp>
        <p:nvSpPr>
          <p:cNvPr id="13" name="Shape 11"/>
          <p:cNvSpPr/>
          <p:nvPr/>
        </p:nvSpPr>
        <p:spPr>
          <a:xfrm>
            <a:off x="6540470" y="2660904"/>
            <a:ext cx="118872" cy="118872"/>
          </a:xfrm>
          <a:prstGeom prst="ellipse">
            <a:avLst/>
          </a:prstGeom>
          <a:solidFill>
            <a:srgbClr val="4DA3FF"/>
          </a:solidFill>
          <a:ln/>
        </p:spPr>
      </p:sp>
      <p:sp>
        <p:nvSpPr>
          <p:cNvPr id="14" name="Text 12"/>
          <p:cNvSpPr txBox="1"/>
          <p:nvPr/>
        </p:nvSpPr>
        <p:spPr>
          <a:xfrm>
            <a:off x="640080" y="28437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a:t>
            </a:r>
            <a:endParaRPr lang="en-US" sz="1050" dirty="0"/>
          </a:p>
        </p:txBody>
      </p:sp>
      <p:sp>
        <p:nvSpPr>
          <p:cNvPr id="15" name="Shape 13"/>
          <p:cNvSpPr/>
          <p:nvPr/>
        </p:nvSpPr>
        <p:spPr>
          <a:xfrm>
            <a:off x="4394854" y="2948940"/>
            <a:ext cx="1634702" cy="0"/>
          </a:xfrm>
          <a:prstGeom prst="line">
            <a:avLst/>
          </a:prstGeom>
          <a:noFill/>
          <a:ln w="9525">
            <a:solidFill>
              <a:srgbClr val="7D8AA0"/>
            </a:solidFill>
            <a:prstDash val="solid"/>
          </a:ln>
        </p:spPr>
      </p:sp>
      <p:sp>
        <p:nvSpPr>
          <p:cNvPr id="16" name="Shape 14"/>
          <p:cNvSpPr/>
          <p:nvPr/>
        </p:nvSpPr>
        <p:spPr>
          <a:xfrm>
            <a:off x="4339990" y="2894076"/>
            <a:ext cx="109728" cy="109728"/>
          </a:xfrm>
          <a:prstGeom prst="ellipse">
            <a:avLst/>
          </a:prstGeom>
          <a:ln w="13970">
            <a:solidFill>
              <a:srgbClr val="E8ECF2"/>
            </a:solidFill>
            <a:prstDash val="solid"/>
          </a:ln>
        </p:spPr>
      </p:sp>
      <p:sp>
        <p:nvSpPr>
          <p:cNvPr id="17" name="Shape 15"/>
          <p:cNvSpPr/>
          <p:nvPr/>
        </p:nvSpPr>
        <p:spPr>
          <a:xfrm>
            <a:off x="5970120" y="2889504"/>
            <a:ext cx="118872" cy="118872"/>
          </a:xfrm>
          <a:prstGeom prst="ellipse">
            <a:avLst/>
          </a:prstGeom>
          <a:solidFill>
            <a:srgbClr val="4DA3FF"/>
          </a:solidFill>
          <a:ln/>
        </p:spPr>
      </p:sp>
      <p:sp>
        <p:nvSpPr>
          <p:cNvPr id="18" name="Text 16"/>
          <p:cNvSpPr txBox="1"/>
          <p:nvPr/>
        </p:nvSpPr>
        <p:spPr>
          <a:xfrm>
            <a:off x="640080" y="30723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corner_shuffle</a:t>
            </a:r>
            <a:endParaRPr lang="en-US" sz="1050" dirty="0"/>
          </a:p>
        </p:txBody>
      </p:sp>
      <p:sp>
        <p:nvSpPr>
          <p:cNvPr id="19" name="Shape 17"/>
          <p:cNvSpPr/>
          <p:nvPr/>
        </p:nvSpPr>
        <p:spPr>
          <a:xfrm>
            <a:off x="4374571" y="3177540"/>
            <a:ext cx="1634702" cy="0"/>
          </a:xfrm>
          <a:prstGeom prst="line">
            <a:avLst/>
          </a:prstGeom>
          <a:noFill/>
          <a:ln w="9525">
            <a:solidFill>
              <a:srgbClr val="7D8AA0"/>
            </a:solidFill>
            <a:prstDash val="solid"/>
          </a:ln>
        </p:spPr>
      </p:sp>
      <p:sp>
        <p:nvSpPr>
          <p:cNvPr id="20" name="Shape 18"/>
          <p:cNvSpPr/>
          <p:nvPr/>
        </p:nvSpPr>
        <p:spPr>
          <a:xfrm>
            <a:off x="4319707" y="3122676"/>
            <a:ext cx="109728" cy="109728"/>
          </a:xfrm>
          <a:prstGeom prst="ellipse">
            <a:avLst/>
          </a:prstGeom>
          <a:ln w="13970">
            <a:solidFill>
              <a:srgbClr val="E8ECF2"/>
            </a:solidFill>
            <a:prstDash val="solid"/>
          </a:ln>
        </p:spPr>
      </p:sp>
      <p:sp>
        <p:nvSpPr>
          <p:cNvPr id="21" name="Shape 19"/>
          <p:cNvSpPr/>
          <p:nvPr/>
        </p:nvSpPr>
        <p:spPr>
          <a:xfrm>
            <a:off x="5949838" y="3118104"/>
            <a:ext cx="118872" cy="118872"/>
          </a:xfrm>
          <a:prstGeom prst="ellipse">
            <a:avLst/>
          </a:prstGeom>
          <a:solidFill>
            <a:srgbClr val="4DA3FF"/>
          </a:solidFill>
          <a:ln/>
        </p:spPr>
      </p:sp>
      <p:sp>
        <p:nvSpPr>
          <p:cNvPr id="22" name="Text 20"/>
          <p:cNvSpPr txBox="1"/>
          <p:nvPr/>
        </p:nvSpPr>
        <p:spPr>
          <a:xfrm>
            <a:off x="640080" y="33009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a:t>
            </a:r>
            <a:endParaRPr lang="en-US" sz="1050" dirty="0"/>
          </a:p>
        </p:txBody>
      </p:sp>
      <p:sp>
        <p:nvSpPr>
          <p:cNvPr id="23" name="Shape 21"/>
          <p:cNvSpPr/>
          <p:nvPr/>
        </p:nvSpPr>
        <p:spPr>
          <a:xfrm>
            <a:off x="4332334" y="3406140"/>
            <a:ext cx="1634702" cy="0"/>
          </a:xfrm>
          <a:prstGeom prst="line">
            <a:avLst/>
          </a:prstGeom>
          <a:noFill/>
          <a:ln w="9525">
            <a:solidFill>
              <a:srgbClr val="7D8AA0"/>
            </a:solidFill>
            <a:prstDash val="solid"/>
          </a:ln>
        </p:spPr>
      </p:sp>
      <p:sp>
        <p:nvSpPr>
          <p:cNvPr id="24" name="Shape 22"/>
          <p:cNvSpPr/>
          <p:nvPr/>
        </p:nvSpPr>
        <p:spPr>
          <a:xfrm>
            <a:off x="4277470" y="3351276"/>
            <a:ext cx="109728" cy="109728"/>
          </a:xfrm>
          <a:prstGeom prst="ellipse">
            <a:avLst/>
          </a:prstGeom>
          <a:ln w="13970">
            <a:solidFill>
              <a:srgbClr val="E8ECF2"/>
            </a:solidFill>
            <a:prstDash val="solid"/>
          </a:ln>
        </p:spPr>
      </p:sp>
      <p:sp>
        <p:nvSpPr>
          <p:cNvPr id="25" name="Shape 23"/>
          <p:cNvSpPr/>
          <p:nvPr/>
        </p:nvSpPr>
        <p:spPr>
          <a:xfrm>
            <a:off x="5907601" y="3346704"/>
            <a:ext cx="118872" cy="118872"/>
          </a:xfrm>
          <a:prstGeom prst="ellipse">
            <a:avLst/>
          </a:prstGeom>
          <a:solidFill>
            <a:srgbClr val="4DA3FF"/>
          </a:solidFill>
          <a:ln/>
        </p:spPr>
      </p:sp>
      <p:sp>
        <p:nvSpPr>
          <p:cNvPr id="26" name="Text 24"/>
          <p:cNvSpPr txBox="1"/>
          <p:nvPr/>
        </p:nvSpPr>
        <p:spPr>
          <a:xfrm>
            <a:off x="640080" y="35295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min_fill_aimed</a:t>
            </a:r>
            <a:endParaRPr lang="en-US" sz="1050" dirty="0"/>
          </a:p>
        </p:txBody>
      </p:sp>
      <p:sp>
        <p:nvSpPr>
          <p:cNvPr id="27" name="Shape 25"/>
          <p:cNvSpPr/>
          <p:nvPr/>
        </p:nvSpPr>
        <p:spPr>
          <a:xfrm>
            <a:off x="4045413" y="3634740"/>
            <a:ext cx="1634702" cy="0"/>
          </a:xfrm>
          <a:prstGeom prst="line">
            <a:avLst/>
          </a:prstGeom>
          <a:noFill/>
          <a:ln w="9525">
            <a:solidFill>
              <a:srgbClr val="7D8AA0"/>
            </a:solidFill>
            <a:prstDash val="solid"/>
          </a:ln>
        </p:spPr>
      </p:sp>
      <p:sp>
        <p:nvSpPr>
          <p:cNvPr id="28" name="Shape 26"/>
          <p:cNvSpPr/>
          <p:nvPr/>
        </p:nvSpPr>
        <p:spPr>
          <a:xfrm>
            <a:off x="3990549" y="3579876"/>
            <a:ext cx="109728" cy="109728"/>
          </a:xfrm>
          <a:prstGeom prst="ellipse">
            <a:avLst/>
          </a:prstGeom>
          <a:ln w="13970">
            <a:solidFill>
              <a:srgbClr val="E8ECF2"/>
            </a:solidFill>
            <a:prstDash val="solid"/>
          </a:ln>
        </p:spPr>
      </p:sp>
      <p:sp>
        <p:nvSpPr>
          <p:cNvPr id="29" name="Shape 27"/>
          <p:cNvSpPr/>
          <p:nvPr/>
        </p:nvSpPr>
        <p:spPr>
          <a:xfrm>
            <a:off x="5620679" y="3575304"/>
            <a:ext cx="118872" cy="118872"/>
          </a:xfrm>
          <a:prstGeom prst="ellipse">
            <a:avLst/>
          </a:prstGeom>
          <a:solidFill>
            <a:srgbClr val="4DA3FF"/>
          </a:solidFill>
          <a:ln/>
        </p:spPr>
      </p:sp>
      <p:sp>
        <p:nvSpPr>
          <p:cNvPr id="30" name="Text 28"/>
          <p:cNvSpPr txBox="1"/>
          <p:nvPr/>
        </p:nvSpPr>
        <p:spPr>
          <a:xfrm>
            <a:off x="640080" y="3758184"/>
            <a:ext cx="2011680" cy="210312"/>
          </a:xfrm>
          <a:prstGeom prst="rect">
            <a:avLst/>
          </a:prstGeom>
          <a:noFill/>
          <a:ln/>
        </p:spPr>
        <p:txBody>
          <a:bodyPr wrap="square" lIns="0" tIns="0" rIns="0" bIns="0" rtlCol="0" anchor="t"/>
          <a:lstStyle/>
          <a:p>
            <a:pPr indent="0" marL="0">
              <a:buNone/>
            </a:pPr>
            <a:r>
              <a:rPr lang="en-US" sz="1050" i="1" dirty="0">
                <a:solidFill>
                  <a:srgbClr val="F2C14E"/>
                </a:solidFill>
                <a:latin typeface="Calibri" pitchFamily="34" charset="0"/>
                <a:ea typeface="Calibri" pitchFamily="34" charset="-122"/>
                <a:cs typeface="Calibri" pitchFamily="34" charset="-120"/>
              </a:rPr>
              <a:t>all 17 together</a:t>
            </a:r>
            <a:endParaRPr lang="en-US" sz="1050" dirty="0"/>
          </a:p>
        </p:txBody>
      </p:sp>
      <p:sp>
        <p:nvSpPr>
          <p:cNvPr id="31" name="Shape 29"/>
          <p:cNvSpPr/>
          <p:nvPr/>
        </p:nvSpPr>
        <p:spPr>
          <a:xfrm>
            <a:off x="4045337" y="3863340"/>
            <a:ext cx="1634702" cy="0"/>
          </a:xfrm>
          <a:prstGeom prst="line">
            <a:avLst/>
          </a:prstGeom>
          <a:noFill/>
          <a:ln w="9525">
            <a:solidFill>
              <a:srgbClr val="7D8AA0"/>
            </a:solidFill>
            <a:prstDash val="solid"/>
          </a:ln>
        </p:spPr>
      </p:sp>
      <p:sp>
        <p:nvSpPr>
          <p:cNvPr id="32" name="Shape 30"/>
          <p:cNvSpPr/>
          <p:nvPr/>
        </p:nvSpPr>
        <p:spPr>
          <a:xfrm>
            <a:off x="3990473" y="3808476"/>
            <a:ext cx="109728" cy="109728"/>
          </a:xfrm>
          <a:prstGeom prst="ellipse">
            <a:avLst/>
          </a:prstGeom>
          <a:ln w="13970">
            <a:solidFill>
              <a:srgbClr val="E8ECF2"/>
            </a:solidFill>
            <a:prstDash val="solid"/>
          </a:ln>
        </p:spPr>
      </p:sp>
      <p:sp>
        <p:nvSpPr>
          <p:cNvPr id="33" name="Shape 31"/>
          <p:cNvSpPr/>
          <p:nvPr/>
        </p:nvSpPr>
        <p:spPr>
          <a:xfrm>
            <a:off x="5620603" y="3803904"/>
            <a:ext cx="118872" cy="118872"/>
          </a:xfrm>
          <a:prstGeom prst="ellipse">
            <a:avLst/>
          </a:prstGeom>
          <a:solidFill>
            <a:srgbClr val="4DA3FF"/>
          </a:solidFill>
          <a:ln/>
        </p:spPr>
      </p:sp>
      <p:sp>
        <p:nvSpPr>
          <p:cNvPr id="34" name="Text 32"/>
          <p:cNvSpPr txBox="1"/>
          <p:nvPr/>
        </p:nvSpPr>
        <p:spPr>
          <a:xfrm>
            <a:off x="640080" y="39867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simplicial_pull</a:t>
            </a:r>
            <a:endParaRPr lang="en-US" sz="1050" dirty="0"/>
          </a:p>
        </p:txBody>
      </p:sp>
      <p:sp>
        <p:nvSpPr>
          <p:cNvPr id="35" name="Shape 33"/>
          <p:cNvSpPr/>
          <p:nvPr/>
        </p:nvSpPr>
        <p:spPr>
          <a:xfrm>
            <a:off x="4038879" y="4091940"/>
            <a:ext cx="1634702" cy="0"/>
          </a:xfrm>
          <a:prstGeom prst="line">
            <a:avLst/>
          </a:prstGeom>
          <a:noFill/>
          <a:ln w="9525">
            <a:solidFill>
              <a:srgbClr val="7D8AA0"/>
            </a:solidFill>
            <a:prstDash val="solid"/>
          </a:ln>
        </p:spPr>
      </p:sp>
      <p:sp>
        <p:nvSpPr>
          <p:cNvPr id="36" name="Shape 34"/>
          <p:cNvSpPr/>
          <p:nvPr/>
        </p:nvSpPr>
        <p:spPr>
          <a:xfrm>
            <a:off x="3984015" y="4037076"/>
            <a:ext cx="109728" cy="109728"/>
          </a:xfrm>
          <a:prstGeom prst="ellipse">
            <a:avLst/>
          </a:prstGeom>
          <a:ln w="13970">
            <a:solidFill>
              <a:srgbClr val="E8ECF2"/>
            </a:solidFill>
            <a:prstDash val="solid"/>
          </a:ln>
        </p:spPr>
      </p:sp>
      <p:sp>
        <p:nvSpPr>
          <p:cNvPr id="37" name="Shape 35"/>
          <p:cNvSpPr/>
          <p:nvPr/>
        </p:nvSpPr>
        <p:spPr>
          <a:xfrm>
            <a:off x="5614146" y="4032504"/>
            <a:ext cx="118872" cy="118872"/>
          </a:xfrm>
          <a:prstGeom prst="ellipse">
            <a:avLst/>
          </a:prstGeom>
          <a:solidFill>
            <a:srgbClr val="4DA3FF"/>
          </a:solidFill>
          <a:ln/>
        </p:spPr>
      </p:sp>
      <p:sp>
        <p:nvSpPr>
          <p:cNvPr id="38" name="Text 36"/>
          <p:cNvSpPr txBox="1"/>
          <p:nvPr/>
        </p:nvSpPr>
        <p:spPr>
          <a:xfrm>
            <a:off x="640080" y="42153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k_opt_rotate</a:t>
            </a:r>
            <a:endParaRPr lang="en-US" sz="1050" dirty="0"/>
          </a:p>
        </p:txBody>
      </p:sp>
      <p:sp>
        <p:nvSpPr>
          <p:cNvPr id="39" name="Shape 37"/>
          <p:cNvSpPr/>
          <p:nvPr/>
        </p:nvSpPr>
        <p:spPr>
          <a:xfrm>
            <a:off x="3995427" y="4320540"/>
            <a:ext cx="1634702" cy="0"/>
          </a:xfrm>
          <a:prstGeom prst="line">
            <a:avLst/>
          </a:prstGeom>
          <a:noFill/>
          <a:ln w="9525">
            <a:solidFill>
              <a:srgbClr val="7D8AA0"/>
            </a:solidFill>
            <a:prstDash val="solid"/>
          </a:ln>
        </p:spPr>
      </p:sp>
      <p:sp>
        <p:nvSpPr>
          <p:cNvPr id="40" name="Shape 38"/>
          <p:cNvSpPr/>
          <p:nvPr/>
        </p:nvSpPr>
        <p:spPr>
          <a:xfrm>
            <a:off x="3940563" y="4265676"/>
            <a:ext cx="109728" cy="109728"/>
          </a:xfrm>
          <a:prstGeom prst="ellipse">
            <a:avLst/>
          </a:prstGeom>
          <a:ln w="13970">
            <a:solidFill>
              <a:srgbClr val="E8ECF2"/>
            </a:solidFill>
            <a:prstDash val="solid"/>
          </a:ln>
        </p:spPr>
      </p:sp>
      <p:sp>
        <p:nvSpPr>
          <p:cNvPr id="41" name="Shape 39"/>
          <p:cNvSpPr/>
          <p:nvPr/>
        </p:nvSpPr>
        <p:spPr>
          <a:xfrm>
            <a:off x="5570694" y="4261104"/>
            <a:ext cx="118872" cy="118872"/>
          </a:xfrm>
          <a:prstGeom prst="ellipse">
            <a:avLst/>
          </a:prstGeom>
          <a:solidFill>
            <a:srgbClr val="4DA3FF"/>
          </a:solidFill>
          <a:ln/>
        </p:spPr>
      </p:sp>
      <p:sp>
        <p:nvSpPr>
          <p:cNvPr id="42" name="Text 40"/>
          <p:cNvSpPr txBox="1"/>
          <p:nvPr/>
        </p:nvSpPr>
        <p:spPr>
          <a:xfrm>
            <a:off x="640080" y="44439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three_opt_aimed</a:t>
            </a:r>
            <a:endParaRPr lang="en-US" sz="1050" dirty="0"/>
          </a:p>
        </p:txBody>
      </p:sp>
      <p:sp>
        <p:nvSpPr>
          <p:cNvPr id="43" name="Shape 41"/>
          <p:cNvSpPr/>
          <p:nvPr/>
        </p:nvSpPr>
        <p:spPr>
          <a:xfrm>
            <a:off x="3979854" y="4549140"/>
            <a:ext cx="1634702" cy="0"/>
          </a:xfrm>
          <a:prstGeom prst="line">
            <a:avLst/>
          </a:prstGeom>
          <a:noFill/>
          <a:ln w="9525">
            <a:solidFill>
              <a:srgbClr val="7D8AA0"/>
            </a:solidFill>
            <a:prstDash val="solid"/>
          </a:ln>
        </p:spPr>
      </p:sp>
      <p:sp>
        <p:nvSpPr>
          <p:cNvPr id="44" name="Shape 42"/>
          <p:cNvSpPr/>
          <p:nvPr/>
        </p:nvSpPr>
        <p:spPr>
          <a:xfrm>
            <a:off x="3924990" y="4494276"/>
            <a:ext cx="109728" cy="109728"/>
          </a:xfrm>
          <a:prstGeom prst="ellipse">
            <a:avLst/>
          </a:prstGeom>
          <a:ln w="13970">
            <a:solidFill>
              <a:srgbClr val="E8ECF2"/>
            </a:solidFill>
            <a:prstDash val="solid"/>
          </a:ln>
        </p:spPr>
      </p:sp>
      <p:sp>
        <p:nvSpPr>
          <p:cNvPr id="45" name="Shape 43"/>
          <p:cNvSpPr/>
          <p:nvPr/>
        </p:nvSpPr>
        <p:spPr>
          <a:xfrm>
            <a:off x="5555121" y="4489704"/>
            <a:ext cx="118872" cy="118872"/>
          </a:xfrm>
          <a:prstGeom prst="ellipse">
            <a:avLst/>
          </a:prstGeom>
          <a:solidFill>
            <a:srgbClr val="4DA3FF"/>
          </a:solidFill>
          <a:ln/>
        </p:spPr>
      </p:sp>
      <p:sp>
        <p:nvSpPr>
          <p:cNvPr id="46" name="Text 44"/>
          <p:cNvSpPr txBox="1"/>
          <p:nvPr/>
        </p:nvSpPr>
        <p:spPr>
          <a:xfrm>
            <a:off x="640080" y="46725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min_fill_window</a:t>
            </a:r>
            <a:endParaRPr lang="en-US" sz="1050" dirty="0"/>
          </a:p>
        </p:txBody>
      </p:sp>
      <p:sp>
        <p:nvSpPr>
          <p:cNvPr id="47" name="Shape 45"/>
          <p:cNvSpPr/>
          <p:nvPr/>
        </p:nvSpPr>
        <p:spPr>
          <a:xfrm>
            <a:off x="3883530" y="4777740"/>
            <a:ext cx="1634702" cy="0"/>
          </a:xfrm>
          <a:prstGeom prst="line">
            <a:avLst/>
          </a:prstGeom>
          <a:noFill/>
          <a:ln w="9525">
            <a:solidFill>
              <a:srgbClr val="7D8AA0"/>
            </a:solidFill>
            <a:prstDash val="solid"/>
          </a:ln>
        </p:spPr>
      </p:sp>
      <p:sp>
        <p:nvSpPr>
          <p:cNvPr id="48" name="Shape 46"/>
          <p:cNvSpPr/>
          <p:nvPr/>
        </p:nvSpPr>
        <p:spPr>
          <a:xfrm>
            <a:off x="3828666" y="4722876"/>
            <a:ext cx="109728" cy="109728"/>
          </a:xfrm>
          <a:prstGeom prst="ellipse">
            <a:avLst/>
          </a:prstGeom>
          <a:ln w="13970">
            <a:solidFill>
              <a:srgbClr val="E8ECF2"/>
            </a:solidFill>
            <a:prstDash val="solid"/>
          </a:ln>
        </p:spPr>
      </p:sp>
      <p:sp>
        <p:nvSpPr>
          <p:cNvPr id="49" name="Shape 47"/>
          <p:cNvSpPr/>
          <p:nvPr/>
        </p:nvSpPr>
        <p:spPr>
          <a:xfrm>
            <a:off x="5458796" y="4718304"/>
            <a:ext cx="118872" cy="118872"/>
          </a:xfrm>
          <a:prstGeom prst="ellipse">
            <a:avLst/>
          </a:prstGeom>
          <a:solidFill>
            <a:srgbClr val="4DA3FF"/>
          </a:solidFill>
          <a:ln/>
        </p:spPr>
      </p:sp>
      <p:sp>
        <p:nvSpPr>
          <p:cNvPr id="50" name="Text 48"/>
          <p:cNvSpPr txBox="1"/>
          <p:nvPr/>
        </p:nvSpPr>
        <p:spPr>
          <a:xfrm>
            <a:off x="640080" y="49011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degeneracy_window</a:t>
            </a:r>
            <a:endParaRPr lang="en-US" sz="1050" dirty="0"/>
          </a:p>
        </p:txBody>
      </p:sp>
      <p:sp>
        <p:nvSpPr>
          <p:cNvPr id="51" name="Shape 49"/>
          <p:cNvSpPr/>
          <p:nvPr/>
        </p:nvSpPr>
        <p:spPr>
          <a:xfrm>
            <a:off x="3697490" y="5006340"/>
            <a:ext cx="1634702" cy="0"/>
          </a:xfrm>
          <a:prstGeom prst="line">
            <a:avLst/>
          </a:prstGeom>
          <a:noFill/>
          <a:ln w="9525">
            <a:solidFill>
              <a:srgbClr val="7D8AA0"/>
            </a:solidFill>
            <a:prstDash val="solid"/>
          </a:ln>
        </p:spPr>
      </p:sp>
      <p:sp>
        <p:nvSpPr>
          <p:cNvPr id="52" name="Shape 50"/>
          <p:cNvSpPr/>
          <p:nvPr/>
        </p:nvSpPr>
        <p:spPr>
          <a:xfrm>
            <a:off x="3642626" y="4951476"/>
            <a:ext cx="109728" cy="109728"/>
          </a:xfrm>
          <a:prstGeom prst="ellipse">
            <a:avLst/>
          </a:prstGeom>
          <a:ln w="13970">
            <a:solidFill>
              <a:srgbClr val="E8ECF2"/>
            </a:solidFill>
            <a:prstDash val="solid"/>
          </a:ln>
        </p:spPr>
      </p:sp>
      <p:sp>
        <p:nvSpPr>
          <p:cNvPr id="53" name="Shape 51"/>
          <p:cNvSpPr/>
          <p:nvPr/>
        </p:nvSpPr>
        <p:spPr>
          <a:xfrm>
            <a:off x="5272757" y="4946904"/>
            <a:ext cx="118872" cy="118872"/>
          </a:xfrm>
          <a:prstGeom prst="ellipse">
            <a:avLst/>
          </a:prstGeom>
          <a:solidFill>
            <a:srgbClr val="4DA3FF"/>
          </a:solidFill>
          <a:ln/>
        </p:spPr>
      </p:sp>
      <p:sp>
        <p:nvSpPr>
          <p:cNvPr id="54" name="Text 52"/>
          <p:cNvSpPr txBox="1"/>
          <p:nvPr/>
        </p:nvSpPr>
        <p:spPr>
          <a:xfrm>
            <a:off x="640080" y="51297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degeneracy_aimed</a:t>
            </a:r>
            <a:endParaRPr lang="en-US" sz="1050" dirty="0"/>
          </a:p>
        </p:txBody>
      </p:sp>
      <p:sp>
        <p:nvSpPr>
          <p:cNvPr id="55" name="Shape 53"/>
          <p:cNvSpPr/>
          <p:nvPr/>
        </p:nvSpPr>
        <p:spPr>
          <a:xfrm>
            <a:off x="3606332" y="5234940"/>
            <a:ext cx="1634702" cy="0"/>
          </a:xfrm>
          <a:prstGeom prst="line">
            <a:avLst/>
          </a:prstGeom>
          <a:noFill/>
          <a:ln w="9525">
            <a:solidFill>
              <a:srgbClr val="7D8AA0"/>
            </a:solidFill>
            <a:prstDash val="solid"/>
          </a:ln>
        </p:spPr>
      </p:sp>
      <p:sp>
        <p:nvSpPr>
          <p:cNvPr id="56" name="Shape 54"/>
          <p:cNvSpPr/>
          <p:nvPr/>
        </p:nvSpPr>
        <p:spPr>
          <a:xfrm>
            <a:off x="3551468" y="5180076"/>
            <a:ext cx="109728" cy="109728"/>
          </a:xfrm>
          <a:prstGeom prst="ellipse">
            <a:avLst/>
          </a:prstGeom>
          <a:ln w="13970">
            <a:solidFill>
              <a:srgbClr val="E8ECF2"/>
            </a:solidFill>
            <a:prstDash val="solid"/>
          </a:ln>
        </p:spPr>
      </p:sp>
      <p:sp>
        <p:nvSpPr>
          <p:cNvPr id="57" name="Shape 55"/>
          <p:cNvSpPr/>
          <p:nvPr/>
        </p:nvSpPr>
        <p:spPr>
          <a:xfrm>
            <a:off x="5181598" y="5175504"/>
            <a:ext cx="118872" cy="118872"/>
          </a:xfrm>
          <a:prstGeom prst="ellipse">
            <a:avLst/>
          </a:prstGeom>
          <a:solidFill>
            <a:srgbClr val="4DA3FF"/>
          </a:solidFill>
          <a:ln/>
        </p:spPr>
      </p:sp>
      <p:sp>
        <p:nvSpPr>
          <p:cNvPr id="58" name="Text 56"/>
          <p:cNvSpPr txBox="1"/>
          <p:nvPr/>
        </p:nvSpPr>
        <p:spPr>
          <a:xfrm>
            <a:off x="640080" y="53583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or_opt_aimed</a:t>
            </a:r>
            <a:endParaRPr lang="en-US" sz="1050" dirty="0"/>
          </a:p>
        </p:txBody>
      </p:sp>
      <p:sp>
        <p:nvSpPr>
          <p:cNvPr id="59" name="Shape 57"/>
          <p:cNvSpPr/>
          <p:nvPr/>
        </p:nvSpPr>
        <p:spPr>
          <a:xfrm>
            <a:off x="3204778" y="5463540"/>
            <a:ext cx="1634702" cy="0"/>
          </a:xfrm>
          <a:prstGeom prst="line">
            <a:avLst/>
          </a:prstGeom>
          <a:noFill/>
          <a:ln w="9525">
            <a:solidFill>
              <a:srgbClr val="7D8AA0"/>
            </a:solidFill>
            <a:prstDash val="solid"/>
          </a:ln>
        </p:spPr>
      </p:sp>
      <p:sp>
        <p:nvSpPr>
          <p:cNvPr id="60" name="Shape 58"/>
          <p:cNvSpPr/>
          <p:nvPr/>
        </p:nvSpPr>
        <p:spPr>
          <a:xfrm>
            <a:off x="3149914" y="5408676"/>
            <a:ext cx="109728" cy="109728"/>
          </a:xfrm>
          <a:prstGeom prst="ellipse">
            <a:avLst/>
          </a:prstGeom>
          <a:ln w="13970">
            <a:solidFill>
              <a:srgbClr val="E8ECF2"/>
            </a:solidFill>
            <a:prstDash val="solid"/>
          </a:ln>
        </p:spPr>
      </p:sp>
      <p:sp>
        <p:nvSpPr>
          <p:cNvPr id="61" name="Shape 59"/>
          <p:cNvSpPr/>
          <p:nvPr/>
        </p:nvSpPr>
        <p:spPr>
          <a:xfrm>
            <a:off x="4780044" y="5404104"/>
            <a:ext cx="118872" cy="118872"/>
          </a:xfrm>
          <a:prstGeom prst="ellipse">
            <a:avLst/>
          </a:prstGeom>
          <a:solidFill>
            <a:srgbClr val="4DA3FF"/>
          </a:solidFill>
          <a:ln/>
        </p:spPr>
      </p:sp>
      <p:sp>
        <p:nvSpPr>
          <p:cNvPr id="62" name="Text 60"/>
          <p:cNvSpPr txBox="1"/>
          <p:nvPr/>
        </p:nvSpPr>
        <p:spPr>
          <a:xfrm>
            <a:off x="640080" y="558698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corner_earlier</a:t>
            </a:r>
            <a:endParaRPr lang="en-US" sz="1050" dirty="0"/>
          </a:p>
        </p:txBody>
      </p:sp>
      <p:sp>
        <p:nvSpPr>
          <p:cNvPr id="63" name="Shape 61"/>
          <p:cNvSpPr/>
          <p:nvPr/>
        </p:nvSpPr>
        <p:spPr>
          <a:xfrm>
            <a:off x="3018207" y="5692140"/>
            <a:ext cx="1634702" cy="0"/>
          </a:xfrm>
          <a:prstGeom prst="line">
            <a:avLst/>
          </a:prstGeom>
          <a:noFill/>
          <a:ln w="9525">
            <a:solidFill>
              <a:srgbClr val="7D8AA0"/>
            </a:solidFill>
            <a:prstDash val="solid"/>
          </a:ln>
        </p:spPr>
      </p:sp>
      <p:sp>
        <p:nvSpPr>
          <p:cNvPr id="64" name="Shape 62"/>
          <p:cNvSpPr/>
          <p:nvPr/>
        </p:nvSpPr>
        <p:spPr>
          <a:xfrm>
            <a:off x="2963343" y="5637276"/>
            <a:ext cx="109728" cy="109728"/>
          </a:xfrm>
          <a:prstGeom prst="ellipse">
            <a:avLst/>
          </a:prstGeom>
          <a:ln w="13970">
            <a:solidFill>
              <a:srgbClr val="E8ECF2"/>
            </a:solidFill>
            <a:prstDash val="solid"/>
          </a:ln>
        </p:spPr>
      </p:sp>
      <p:sp>
        <p:nvSpPr>
          <p:cNvPr id="65" name="Shape 63"/>
          <p:cNvSpPr/>
          <p:nvPr/>
        </p:nvSpPr>
        <p:spPr>
          <a:xfrm>
            <a:off x="4593473" y="5632704"/>
            <a:ext cx="118872" cy="118872"/>
          </a:xfrm>
          <a:prstGeom prst="ellipse">
            <a:avLst/>
          </a:prstGeom>
          <a:solidFill>
            <a:srgbClr val="4DA3FF"/>
          </a:solidFill>
          <a:ln/>
        </p:spPr>
      </p:sp>
      <p:sp>
        <p:nvSpPr>
          <p:cNvPr id="66" name="Text 64"/>
          <p:cNvSpPr txBox="1"/>
          <p:nvPr/>
        </p:nvSpPr>
        <p:spPr>
          <a:xfrm>
            <a:off x="2377440" y="5852160"/>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−40k</a:t>
            </a:r>
            <a:endParaRPr lang="en-US" sz="1000" dirty="0"/>
          </a:p>
        </p:txBody>
      </p:sp>
      <p:sp>
        <p:nvSpPr>
          <p:cNvPr id="67" name="Text 65"/>
          <p:cNvSpPr txBox="1"/>
          <p:nvPr/>
        </p:nvSpPr>
        <p:spPr>
          <a:xfrm>
            <a:off x="3896751" y="5852160"/>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68" name="Text 66"/>
          <p:cNvSpPr txBox="1"/>
          <p:nvPr/>
        </p:nvSpPr>
        <p:spPr>
          <a:xfrm>
            <a:off x="5416062" y="5852160"/>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69" name="Text 67"/>
          <p:cNvSpPr txBox="1"/>
          <p:nvPr/>
        </p:nvSpPr>
        <p:spPr>
          <a:xfrm>
            <a:off x="6935372" y="5852160"/>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70" name="Shape 68"/>
          <p:cNvSpPr/>
          <p:nvPr/>
        </p:nvSpPr>
        <p:spPr>
          <a:xfrm>
            <a:off x="2692908" y="6158484"/>
            <a:ext cx="118872" cy="118872"/>
          </a:xfrm>
          <a:prstGeom prst="ellipse">
            <a:avLst/>
          </a:prstGeom>
          <a:solidFill>
            <a:srgbClr val="4DA3FF"/>
          </a:solidFill>
          <a:ln/>
        </p:spPr>
      </p:sp>
      <p:sp>
        <p:nvSpPr>
          <p:cNvPr id="71" name="Text 69"/>
          <p:cNvSpPr txBox="1"/>
          <p:nvPr/>
        </p:nvSpPr>
        <p:spPr>
          <a:xfrm>
            <a:off x="2880360" y="6117336"/>
            <a:ext cx="22860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control run 2</a:t>
            </a:r>
            <a:endParaRPr lang="en-US" sz="1050" dirty="0"/>
          </a:p>
        </p:txBody>
      </p:sp>
      <p:sp>
        <p:nvSpPr>
          <p:cNvPr id="72" name="Shape 70"/>
          <p:cNvSpPr/>
          <p:nvPr/>
        </p:nvSpPr>
        <p:spPr>
          <a:xfrm>
            <a:off x="5244084" y="6158484"/>
            <a:ext cx="118872" cy="118872"/>
          </a:xfrm>
          <a:prstGeom prst="ellipse">
            <a:avLst/>
          </a:prstGeom>
          <a:ln w="13970">
            <a:solidFill>
              <a:srgbClr val="E8ECF2"/>
            </a:solidFill>
            <a:prstDash val="solid"/>
          </a:ln>
        </p:spPr>
      </p:sp>
      <p:sp>
        <p:nvSpPr>
          <p:cNvPr id="73" name="Text 71"/>
          <p:cNvSpPr txBox="1"/>
          <p:nvPr/>
        </p:nvSpPr>
        <p:spPr>
          <a:xfrm>
            <a:off x="5440680" y="6117336"/>
            <a:ext cx="21945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control run 1</a:t>
            </a:r>
            <a:endParaRPr lang="en-US" sz="1050" dirty="0"/>
          </a:p>
        </p:txBody>
      </p:sp>
      <p:sp>
        <p:nvSpPr>
          <p:cNvPr id="74" name="Text 72"/>
          <p:cNvSpPr txBox="1"/>
          <p:nvPr/>
        </p:nvSpPr>
        <p:spPr>
          <a:xfrm>
            <a:off x="8229600" y="2514600"/>
            <a:ext cx="3322015" cy="914400"/>
          </a:xfrm>
          <a:prstGeom prst="rect">
            <a:avLst/>
          </a:prstGeom>
          <a:noFill/>
          <a:ln/>
        </p:spPr>
        <p:txBody>
          <a:bodyPr wrap="square" lIns="0" tIns="0" rIns="0" bIns="0" rtlCol="0" anchor="t"/>
          <a:lstStyle/>
          <a:p>
            <a:pPr indent="0" marL="0">
              <a:buNone/>
            </a:pPr>
            <a:r>
              <a:rPr lang="en-US" sz="5400" dirty="0">
                <a:solidFill>
                  <a:srgbClr val="4DA3FF"/>
                </a:solidFill>
                <a:latin typeface="Century Schoolbook" pitchFamily="34" charset="0"/>
                <a:ea typeface="Century Schoolbook" pitchFamily="34" charset="-122"/>
                <a:cs typeface="Century Schoolbook" pitchFamily="34" charset="-120"/>
              </a:rPr>
              <a:t>0.23%</a:t>
            </a:r>
            <a:endParaRPr lang="en-US" sz="5400" dirty="0"/>
          </a:p>
        </p:txBody>
      </p:sp>
      <p:sp>
        <p:nvSpPr>
          <p:cNvPr id="75" name="Text 73"/>
          <p:cNvSpPr txBox="1"/>
          <p:nvPr/>
        </p:nvSpPr>
        <p:spPr>
          <a:xfrm>
            <a:off x="8229600" y="3474720"/>
            <a:ext cx="3322015" cy="5029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highest acceptance rate of any operator (swap_any on synth-4)</a:t>
            </a:r>
            <a:endParaRPr lang="en-US" sz="1250" dirty="0"/>
          </a:p>
        </p:txBody>
      </p:sp>
      <p:sp>
        <p:nvSpPr>
          <p:cNvPr id="76" name="Text 74"/>
          <p:cNvSpPr txBox="1"/>
          <p:nvPr/>
        </p:nvSpPr>
        <p:spPr>
          <a:xfrm>
            <a:off x="8229600" y="4206240"/>
            <a:ext cx="3322015" cy="201168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No operator improves on the control by more than the control’s own re-run, and seed by seed none wins a single instance against both runs of the control. The width is a maximum held by one vertex, so most moves change nothing: around a min-degree ordering the landscape is flat.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6 · RESULTS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Results IV: longer time budgets and the upper bound</a:t>
            </a:r>
            <a:endParaRPr lang="en-US" sz="2700" dirty="0"/>
          </a:p>
        </p:txBody>
      </p:sp>
      <p:sp>
        <p:nvSpPr>
          <p:cNvPr id="4" name="Shape 2"/>
          <p:cNvSpPr/>
          <p:nvPr/>
        </p:nvSpPr>
        <p:spPr>
          <a:xfrm>
            <a:off x="1645920" y="4931923"/>
            <a:ext cx="3703320" cy="0"/>
          </a:xfrm>
          <a:prstGeom prst="line">
            <a:avLst/>
          </a:prstGeom>
          <a:noFill/>
          <a:ln w="7620">
            <a:solidFill>
              <a:srgbClr val="1C2533"/>
            </a:solidFill>
            <a:prstDash val="solid"/>
          </a:ln>
        </p:spPr>
      </p:sp>
      <p:sp>
        <p:nvSpPr>
          <p:cNvPr id="5" name="Text 3"/>
          <p:cNvSpPr txBox="1"/>
          <p:nvPr/>
        </p:nvSpPr>
        <p:spPr>
          <a:xfrm>
            <a:off x="685800" y="4831339"/>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26.4M</a:t>
            </a:r>
            <a:endParaRPr lang="en-US" sz="1000" dirty="0"/>
          </a:p>
        </p:txBody>
      </p:sp>
      <p:sp>
        <p:nvSpPr>
          <p:cNvPr id="6" name="Shape 4"/>
          <p:cNvSpPr/>
          <p:nvPr/>
        </p:nvSpPr>
        <p:spPr>
          <a:xfrm>
            <a:off x="1645920" y="4280170"/>
            <a:ext cx="3703320" cy="0"/>
          </a:xfrm>
          <a:prstGeom prst="line">
            <a:avLst/>
          </a:prstGeom>
          <a:noFill/>
          <a:ln w="7620">
            <a:solidFill>
              <a:srgbClr val="1C2533"/>
            </a:solidFill>
            <a:prstDash val="solid"/>
          </a:ln>
        </p:spPr>
      </p:sp>
      <p:sp>
        <p:nvSpPr>
          <p:cNvPr id="7" name="Text 5"/>
          <p:cNvSpPr txBox="1"/>
          <p:nvPr/>
        </p:nvSpPr>
        <p:spPr>
          <a:xfrm>
            <a:off x="685800" y="4179586"/>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26.5M</a:t>
            </a:r>
            <a:endParaRPr lang="en-US" sz="1000" dirty="0"/>
          </a:p>
        </p:txBody>
      </p:sp>
      <p:sp>
        <p:nvSpPr>
          <p:cNvPr id="8" name="Shape 6"/>
          <p:cNvSpPr/>
          <p:nvPr/>
        </p:nvSpPr>
        <p:spPr>
          <a:xfrm>
            <a:off x="1645920" y="3628417"/>
            <a:ext cx="3703320" cy="0"/>
          </a:xfrm>
          <a:prstGeom prst="line">
            <a:avLst/>
          </a:prstGeom>
          <a:noFill/>
          <a:ln w="7620">
            <a:solidFill>
              <a:srgbClr val="1C2533"/>
            </a:solidFill>
            <a:prstDash val="solid"/>
          </a:ln>
        </p:spPr>
      </p:sp>
      <p:sp>
        <p:nvSpPr>
          <p:cNvPr id="9" name="Text 7"/>
          <p:cNvSpPr txBox="1"/>
          <p:nvPr/>
        </p:nvSpPr>
        <p:spPr>
          <a:xfrm>
            <a:off x="685800" y="3527833"/>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26.6M</a:t>
            </a:r>
            <a:endParaRPr lang="en-US" sz="1000" dirty="0"/>
          </a:p>
        </p:txBody>
      </p:sp>
      <p:sp>
        <p:nvSpPr>
          <p:cNvPr id="10" name="Shape 8"/>
          <p:cNvSpPr/>
          <p:nvPr/>
        </p:nvSpPr>
        <p:spPr>
          <a:xfrm>
            <a:off x="1645920" y="2976664"/>
            <a:ext cx="3703320" cy="0"/>
          </a:xfrm>
          <a:prstGeom prst="line">
            <a:avLst/>
          </a:prstGeom>
          <a:noFill/>
          <a:ln w="7620">
            <a:solidFill>
              <a:srgbClr val="1C2533"/>
            </a:solidFill>
            <a:prstDash val="solid"/>
          </a:ln>
        </p:spPr>
      </p:sp>
      <p:sp>
        <p:nvSpPr>
          <p:cNvPr id="11" name="Text 9"/>
          <p:cNvSpPr txBox="1"/>
          <p:nvPr/>
        </p:nvSpPr>
        <p:spPr>
          <a:xfrm>
            <a:off x="685800" y="2876080"/>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26.7M</a:t>
            </a:r>
            <a:endParaRPr lang="en-US" sz="1000" dirty="0"/>
          </a:p>
        </p:txBody>
      </p:sp>
      <p:sp>
        <p:nvSpPr>
          <p:cNvPr id="12" name="Shape 10"/>
          <p:cNvSpPr/>
          <p:nvPr/>
        </p:nvSpPr>
        <p:spPr>
          <a:xfrm>
            <a:off x="1645920" y="2324911"/>
            <a:ext cx="3703320" cy="0"/>
          </a:xfrm>
          <a:prstGeom prst="line">
            <a:avLst/>
          </a:prstGeom>
          <a:noFill/>
          <a:ln w="7620">
            <a:solidFill>
              <a:srgbClr val="1C2533"/>
            </a:solidFill>
            <a:prstDash val="solid"/>
          </a:ln>
        </p:spPr>
      </p:sp>
      <p:sp>
        <p:nvSpPr>
          <p:cNvPr id="13" name="Text 11"/>
          <p:cNvSpPr txBox="1"/>
          <p:nvPr/>
        </p:nvSpPr>
        <p:spPr>
          <a:xfrm>
            <a:off x="685800" y="2224327"/>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26.8M</a:t>
            </a:r>
            <a:endParaRPr lang="en-US" sz="1000" dirty="0"/>
          </a:p>
        </p:txBody>
      </p:sp>
      <p:sp>
        <p:nvSpPr>
          <p:cNvPr id="14" name="Text 12"/>
          <p:cNvSpPr txBox="1"/>
          <p:nvPr/>
        </p:nvSpPr>
        <p:spPr>
          <a:xfrm>
            <a:off x="685800" y="1792224"/>
            <a:ext cx="32004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ten-instance hypervolume</a:t>
            </a:r>
            <a:endParaRPr lang="en-US" sz="1050" dirty="0"/>
          </a:p>
        </p:txBody>
      </p:sp>
      <p:sp>
        <p:nvSpPr>
          <p:cNvPr id="15" name="Text 13"/>
          <p:cNvSpPr txBox="1"/>
          <p:nvPr/>
        </p:nvSpPr>
        <p:spPr>
          <a:xfrm>
            <a:off x="1325880" y="533095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 s</a:t>
            </a:r>
            <a:endParaRPr lang="en-US" sz="1050" dirty="0"/>
          </a:p>
        </p:txBody>
      </p:sp>
      <p:sp>
        <p:nvSpPr>
          <p:cNvPr id="16" name="Text 14"/>
          <p:cNvSpPr txBox="1"/>
          <p:nvPr/>
        </p:nvSpPr>
        <p:spPr>
          <a:xfrm>
            <a:off x="2961929" y="533095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3,600 s</a:t>
            </a:r>
            <a:endParaRPr lang="en-US" sz="1050" dirty="0"/>
          </a:p>
        </p:txBody>
      </p:sp>
      <p:sp>
        <p:nvSpPr>
          <p:cNvPr id="17" name="Text 15"/>
          <p:cNvSpPr txBox="1"/>
          <p:nvPr/>
        </p:nvSpPr>
        <p:spPr>
          <a:xfrm>
            <a:off x="4754880" y="533095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12,000 s</a:t>
            </a:r>
            <a:endParaRPr lang="en-US" sz="1050" dirty="0"/>
          </a:p>
        </p:txBody>
      </p:sp>
      <p:sp>
        <p:nvSpPr>
          <p:cNvPr id="18" name="Shape 16"/>
          <p:cNvSpPr/>
          <p:nvPr/>
        </p:nvSpPr>
        <p:spPr>
          <a:xfrm>
            <a:off x="1783080" y="2444181"/>
            <a:ext cx="1636049" cy="127880"/>
          </a:xfrm>
          <a:prstGeom prst="line">
            <a:avLst/>
          </a:prstGeom>
          <a:noFill/>
          <a:ln w="28575">
            <a:solidFill>
              <a:srgbClr val="3DDC97"/>
            </a:solidFill>
            <a:prstDash val="solid"/>
          </a:ln>
        </p:spPr>
      </p:sp>
      <p:sp>
        <p:nvSpPr>
          <p:cNvPr id="19" name="Shape 17"/>
          <p:cNvSpPr/>
          <p:nvPr/>
        </p:nvSpPr>
        <p:spPr>
          <a:xfrm>
            <a:off x="3419129" y="2572062"/>
            <a:ext cx="1792951" cy="455660"/>
          </a:xfrm>
          <a:prstGeom prst="line">
            <a:avLst/>
          </a:prstGeom>
          <a:noFill/>
          <a:ln w="28575">
            <a:solidFill>
              <a:srgbClr val="3DDC97"/>
            </a:solidFill>
            <a:prstDash val="solid"/>
          </a:ln>
        </p:spPr>
      </p:sp>
      <p:sp>
        <p:nvSpPr>
          <p:cNvPr id="20" name="Shape 18"/>
          <p:cNvSpPr/>
          <p:nvPr/>
        </p:nvSpPr>
        <p:spPr>
          <a:xfrm>
            <a:off x="1728216" y="2389317"/>
            <a:ext cx="109728" cy="109728"/>
          </a:xfrm>
          <a:prstGeom prst="ellipse">
            <a:avLst/>
          </a:prstGeom>
          <a:solidFill>
            <a:srgbClr val="3DDC97"/>
          </a:solidFill>
          <a:ln/>
        </p:spPr>
      </p:sp>
      <p:sp>
        <p:nvSpPr>
          <p:cNvPr id="21" name="Shape 19"/>
          <p:cNvSpPr/>
          <p:nvPr/>
        </p:nvSpPr>
        <p:spPr>
          <a:xfrm>
            <a:off x="3364265" y="2517198"/>
            <a:ext cx="109728" cy="109728"/>
          </a:xfrm>
          <a:prstGeom prst="ellipse">
            <a:avLst/>
          </a:prstGeom>
          <a:solidFill>
            <a:srgbClr val="3DDC97"/>
          </a:solidFill>
          <a:ln/>
        </p:spPr>
      </p:sp>
      <p:sp>
        <p:nvSpPr>
          <p:cNvPr id="22" name="Shape 20"/>
          <p:cNvSpPr/>
          <p:nvPr/>
        </p:nvSpPr>
        <p:spPr>
          <a:xfrm>
            <a:off x="5157216" y="2972858"/>
            <a:ext cx="109728" cy="109728"/>
          </a:xfrm>
          <a:prstGeom prst="ellipse">
            <a:avLst/>
          </a:prstGeom>
          <a:solidFill>
            <a:srgbClr val="3DDC97"/>
          </a:solidFill>
          <a:ln/>
        </p:spPr>
      </p:sp>
      <p:sp>
        <p:nvSpPr>
          <p:cNvPr id="23" name="Shape 21"/>
          <p:cNvSpPr/>
          <p:nvPr/>
        </p:nvSpPr>
        <p:spPr>
          <a:xfrm flipV="1">
            <a:off x="1783080" y="4901317"/>
            <a:ext cx="1636049" cy="98936"/>
          </a:xfrm>
          <a:prstGeom prst="line">
            <a:avLst/>
          </a:prstGeom>
          <a:noFill/>
          <a:ln w="25400">
            <a:solidFill>
              <a:srgbClr val="E8ECF2"/>
            </a:solidFill>
            <a:prstDash val="solid"/>
          </a:ln>
        </p:spPr>
      </p:sp>
      <p:sp>
        <p:nvSpPr>
          <p:cNvPr id="24" name="Shape 22"/>
          <p:cNvSpPr/>
          <p:nvPr/>
        </p:nvSpPr>
        <p:spPr>
          <a:xfrm flipV="1">
            <a:off x="3419129" y="4784894"/>
            <a:ext cx="1792951" cy="116423"/>
          </a:xfrm>
          <a:prstGeom prst="line">
            <a:avLst/>
          </a:prstGeom>
          <a:noFill/>
          <a:ln w="25400">
            <a:solidFill>
              <a:srgbClr val="E8ECF2"/>
            </a:solidFill>
            <a:prstDash val="solid"/>
          </a:ln>
        </p:spPr>
      </p:sp>
      <p:sp>
        <p:nvSpPr>
          <p:cNvPr id="25" name="Shape 23"/>
          <p:cNvSpPr/>
          <p:nvPr/>
        </p:nvSpPr>
        <p:spPr>
          <a:xfrm>
            <a:off x="1728216" y="4945389"/>
            <a:ext cx="109728" cy="109728"/>
          </a:xfrm>
          <a:prstGeom prst="ellipse">
            <a:avLst/>
          </a:prstGeom>
          <a:solidFill>
            <a:srgbClr val="E8ECF2"/>
          </a:solidFill>
          <a:ln/>
        </p:spPr>
      </p:sp>
      <p:sp>
        <p:nvSpPr>
          <p:cNvPr id="26" name="Shape 24"/>
          <p:cNvSpPr/>
          <p:nvPr/>
        </p:nvSpPr>
        <p:spPr>
          <a:xfrm>
            <a:off x="3364265" y="4846453"/>
            <a:ext cx="109728" cy="109728"/>
          </a:xfrm>
          <a:prstGeom prst="ellipse">
            <a:avLst/>
          </a:prstGeom>
          <a:solidFill>
            <a:srgbClr val="E8ECF2"/>
          </a:solidFill>
          <a:ln/>
        </p:spPr>
      </p:sp>
      <p:sp>
        <p:nvSpPr>
          <p:cNvPr id="27" name="Shape 25"/>
          <p:cNvSpPr/>
          <p:nvPr/>
        </p:nvSpPr>
        <p:spPr>
          <a:xfrm>
            <a:off x="5157216" y="4730030"/>
            <a:ext cx="109728" cy="109728"/>
          </a:xfrm>
          <a:prstGeom prst="ellipse">
            <a:avLst/>
          </a:prstGeom>
          <a:solidFill>
            <a:srgbClr val="E8ECF2"/>
          </a:solidFill>
          <a:ln/>
        </p:spPr>
      </p:sp>
      <p:sp>
        <p:nvSpPr>
          <p:cNvPr id="28" name="Shape 26"/>
          <p:cNvSpPr/>
          <p:nvPr/>
        </p:nvSpPr>
        <p:spPr>
          <a:xfrm flipV="1">
            <a:off x="1783080" y="4973786"/>
            <a:ext cx="1636049" cy="14195"/>
          </a:xfrm>
          <a:prstGeom prst="line">
            <a:avLst/>
          </a:prstGeom>
          <a:noFill/>
          <a:ln w="15875">
            <a:solidFill>
              <a:srgbClr val="9AA6B6"/>
            </a:solidFill>
            <a:prstDash val="solid"/>
          </a:ln>
        </p:spPr>
      </p:sp>
      <p:sp>
        <p:nvSpPr>
          <p:cNvPr id="29" name="Shape 27"/>
          <p:cNvSpPr/>
          <p:nvPr/>
        </p:nvSpPr>
        <p:spPr>
          <a:xfrm flipV="1">
            <a:off x="3419129" y="4951756"/>
            <a:ext cx="1792951" cy="22029"/>
          </a:xfrm>
          <a:prstGeom prst="line">
            <a:avLst/>
          </a:prstGeom>
          <a:noFill/>
          <a:ln w="15875">
            <a:solidFill>
              <a:srgbClr val="9AA6B6"/>
            </a:solidFill>
            <a:prstDash val="solid"/>
          </a:ln>
        </p:spPr>
      </p:sp>
      <p:sp>
        <p:nvSpPr>
          <p:cNvPr id="30" name="Shape 28"/>
          <p:cNvSpPr/>
          <p:nvPr/>
        </p:nvSpPr>
        <p:spPr>
          <a:xfrm>
            <a:off x="1728216" y="4933117"/>
            <a:ext cx="109728" cy="109728"/>
          </a:xfrm>
          <a:prstGeom prst="ellipse">
            <a:avLst/>
          </a:prstGeom>
          <a:solidFill>
            <a:srgbClr val="9AA6B6"/>
          </a:solidFill>
          <a:ln/>
        </p:spPr>
      </p:sp>
      <p:sp>
        <p:nvSpPr>
          <p:cNvPr id="31" name="Shape 29"/>
          <p:cNvSpPr/>
          <p:nvPr/>
        </p:nvSpPr>
        <p:spPr>
          <a:xfrm>
            <a:off x="3364265" y="4918922"/>
            <a:ext cx="109728" cy="109728"/>
          </a:xfrm>
          <a:prstGeom prst="ellipse">
            <a:avLst/>
          </a:prstGeom>
          <a:solidFill>
            <a:srgbClr val="9AA6B6"/>
          </a:solidFill>
          <a:ln/>
        </p:spPr>
      </p:sp>
      <p:sp>
        <p:nvSpPr>
          <p:cNvPr id="32" name="Shape 30"/>
          <p:cNvSpPr/>
          <p:nvPr/>
        </p:nvSpPr>
        <p:spPr>
          <a:xfrm>
            <a:off x="5157216" y="4896892"/>
            <a:ext cx="109728" cy="109728"/>
          </a:xfrm>
          <a:prstGeom prst="ellipse">
            <a:avLst/>
          </a:prstGeom>
          <a:solidFill>
            <a:srgbClr val="9AA6B6"/>
          </a:solidFill>
          <a:ln/>
        </p:spPr>
      </p:sp>
      <p:sp>
        <p:nvSpPr>
          <p:cNvPr id="33" name="Shape 31"/>
          <p:cNvSpPr/>
          <p:nvPr/>
        </p:nvSpPr>
        <p:spPr>
          <a:xfrm>
            <a:off x="1783080" y="4979801"/>
            <a:ext cx="1636049" cy="24486"/>
          </a:xfrm>
          <a:prstGeom prst="line">
            <a:avLst/>
          </a:prstGeom>
          <a:noFill/>
          <a:ln w="15875">
            <a:solidFill>
              <a:srgbClr val="7D8AA0"/>
            </a:solidFill>
            <a:prstDash val="dash"/>
          </a:ln>
        </p:spPr>
      </p:sp>
      <p:sp>
        <p:nvSpPr>
          <p:cNvPr id="34" name="Shape 32"/>
          <p:cNvSpPr/>
          <p:nvPr/>
        </p:nvSpPr>
        <p:spPr>
          <a:xfrm flipV="1">
            <a:off x="3419129" y="4921052"/>
            <a:ext cx="1792951" cy="83235"/>
          </a:xfrm>
          <a:prstGeom prst="line">
            <a:avLst/>
          </a:prstGeom>
          <a:noFill/>
          <a:ln w="15875">
            <a:solidFill>
              <a:srgbClr val="7D8AA0"/>
            </a:solidFill>
            <a:prstDash val="dash"/>
          </a:ln>
        </p:spPr>
      </p:sp>
      <p:sp>
        <p:nvSpPr>
          <p:cNvPr id="35" name="Shape 33"/>
          <p:cNvSpPr/>
          <p:nvPr/>
        </p:nvSpPr>
        <p:spPr>
          <a:xfrm>
            <a:off x="1728216" y="4924937"/>
            <a:ext cx="109728" cy="109728"/>
          </a:xfrm>
          <a:prstGeom prst="ellipse">
            <a:avLst/>
          </a:prstGeom>
          <a:solidFill>
            <a:srgbClr val="7D8AA0"/>
          </a:solidFill>
          <a:ln/>
        </p:spPr>
      </p:sp>
      <p:sp>
        <p:nvSpPr>
          <p:cNvPr id="36" name="Shape 34"/>
          <p:cNvSpPr/>
          <p:nvPr/>
        </p:nvSpPr>
        <p:spPr>
          <a:xfrm>
            <a:off x="3364265" y="4949424"/>
            <a:ext cx="109728" cy="109728"/>
          </a:xfrm>
          <a:prstGeom prst="ellipse">
            <a:avLst/>
          </a:prstGeom>
          <a:solidFill>
            <a:srgbClr val="7D8AA0"/>
          </a:solidFill>
          <a:ln/>
        </p:spPr>
      </p:sp>
      <p:sp>
        <p:nvSpPr>
          <p:cNvPr id="37" name="Shape 35"/>
          <p:cNvSpPr/>
          <p:nvPr/>
        </p:nvSpPr>
        <p:spPr>
          <a:xfrm>
            <a:off x="5157216" y="4866188"/>
            <a:ext cx="109728" cy="109728"/>
          </a:xfrm>
          <a:prstGeom prst="ellipse">
            <a:avLst/>
          </a:prstGeom>
          <a:solidFill>
            <a:srgbClr val="7D8AA0"/>
          </a:solidFill>
          <a:ln/>
        </p:spPr>
      </p:sp>
      <p:sp>
        <p:nvSpPr>
          <p:cNvPr id="38" name="Text 36"/>
          <p:cNvSpPr txBox="1"/>
          <p:nvPr/>
        </p:nvSpPr>
        <p:spPr>
          <a:xfrm>
            <a:off x="5376672" y="2908850"/>
            <a:ext cx="2011680" cy="237744"/>
          </a:xfrm>
          <a:prstGeom prst="rect">
            <a:avLst/>
          </a:prstGeom>
          <a:noFill/>
          <a:ln/>
        </p:spPr>
        <p:txBody>
          <a:bodyPr wrap="square" lIns="0" tIns="0" rIns="0" bIns="0" rtlCol="0" anchor="t"/>
          <a:lstStyle/>
          <a:p>
            <a:pPr indent="0" marL="0">
              <a:buNone/>
            </a:pPr>
            <a:r>
              <a:rPr lang="en-US" sz="1100" b="1" dirty="0">
                <a:solidFill>
                  <a:srgbClr val="3DDC97"/>
                </a:solidFill>
                <a:latin typeface="Calibri" pitchFamily="34" charset="0"/>
                <a:ea typeface="Calibri" pitchFamily="34" charset="-122"/>
                <a:cs typeface="Calibri" pitchFamily="34" charset="-120"/>
              </a:rPr>
              <a:t>construction (GRASP)</a:t>
            </a:r>
            <a:endParaRPr lang="en-US" sz="1100" dirty="0"/>
          </a:p>
        </p:txBody>
      </p:sp>
      <p:sp>
        <p:nvSpPr>
          <p:cNvPr id="39" name="Text 37"/>
          <p:cNvSpPr txBox="1"/>
          <p:nvPr/>
        </p:nvSpPr>
        <p:spPr>
          <a:xfrm>
            <a:off x="5376672" y="4492286"/>
            <a:ext cx="2011680" cy="219456"/>
          </a:xfrm>
          <a:prstGeom prst="rect">
            <a:avLst/>
          </a:prstGeom>
          <a:noFill/>
          <a:ln/>
        </p:spPr>
        <p:txBody>
          <a:bodyPr wrap="square" lIns="0" tIns="0" rIns="0" bIns="0" rtlCol="0" anchor="t"/>
          <a:lstStyle/>
          <a:p>
            <a:pPr indent="0" marL="0">
              <a:buNone/>
            </a:pPr>
            <a:r>
              <a:rPr lang="en-US" sz="1100" b="1" dirty="0">
                <a:solidFill>
                  <a:srgbClr val="E8ECF2"/>
                </a:solidFill>
                <a:latin typeface="Calibri" pitchFamily="34" charset="0"/>
                <a:ea typeface="Calibri" pitchFamily="34" charset="-122"/>
                <a:cs typeface="Calibri" pitchFamily="34" charset="-120"/>
              </a:rPr>
              <a:t>Hill-Climbing</a:t>
            </a:r>
            <a:endParaRPr lang="en-US" sz="1100" dirty="0"/>
          </a:p>
        </p:txBody>
      </p:sp>
      <p:sp>
        <p:nvSpPr>
          <p:cNvPr id="40" name="Text 38"/>
          <p:cNvSpPr txBox="1"/>
          <p:nvPr/>
        </p:nvSpPr>
        <p:spPr>
          <a:xfrm>
            <a:off x="5376672" y="4951756"/>
            <a:ext cx="2103120" cy="219456"/>
          </a:xfrm>
          <a:prstGeom prst="rect">
            <a:avLst/>
          </a:prstGeom>
          <a:noFill/>
          <a:ln/>
        </p:spPr>
        <p:txBody>
          <a:bodyPr wrap="square" lIns="0" tIns="0" rIns="0" bIns="0" rtlCol="0" anchor="t"/>
          <a:lstStyle/>
          <a:p>
            <a:pPr indent="0" marL="0">
              <a:buNone/>
            </a:pPr>
            <a:r>
              <a:rPr lang="en-US" sz="1000" dirty="0">
                <a:solidFill>
                  <a:srgbClr val="7D8AA0"/>
                </a:solidFill>
                <a:latin typeface="Calibri" pitchFamily="34" charset="0"/>
                <a:ea typeface="Calibri" pitchFamily="34" charset="-122"/>
                <a:cs typeface="Calibri" pitchFamily="34" charset="-120"/>
              </a:rPr>
              <a:t>bottleneck move set</a:t>
            </a:r>
            <a:endParaRPr lang="en-US" sz="1000" dirty="0"/>
          </a:p>
        </p:txBody>
      </p:sp>
      <p:sp>
        <p:nvSpPr>
          <p:cNvPr id="41" name="Text 39"/>
          <p:cNvSpPr txBox="1"/>
          <p:nvPr/>
        </p:nvSpPr>
        <p:spPr>
          <a:xfrm>
            <a:off x="5376672" y="5143780"/>
            <a:ext cx="2103120" cy="219456"/>
          </a:xfrm>
          <a:prstGeom prst="rect">
            <a:avLst/>
          </a:prstGeom>
          <a:noFill/>
          <a:ln/>
        </p:spPr>
        <p:txBody>
          <a:bodyPr wrap="square" lIns="0" tIns="0" rIns="0" bIns="0" rtlCol="0" anchor="t"/>
          <a:lstStyle/>
          <a:p>
            <a:pPr indent="0" marL="0">
              <a:buNone/>
            </a:pPr>
            <a:r>
              <a:rPr lang="en-US" sz="1000" dirty="0">
                <a:solidFill>
                  <a:srgbClr val="9AA6B6"/>
                </a:solidFill>
                <a:latin typeface="Calibri" pitchFamily="34" charset="0"/>
                <a:ea typeface="Calibri" pitchFamily="34" charset="-122"/>
                <a:cs typeface="Calibri" pitchFamily="34" charset="-120"/>
              </a:rPr>
              <a:t>all 17 operators</a:t>
            </a:r>
            <a:endParaRPr lang="en-US" sz="1000" dirty="0"/>
          </a:p>
        </p:txBody>
      </p:sp>
      <p:sp>
        <p:nvSpPr>
          <p:cNvPr id="42" name="Shape 40"/>
          <p:cNvSpPr/>
          <p:nvPr/>
        </p:nvSpPr>
        <p:spPr>
          <a:xfrm>
            <a:off x="4919472" y="3082586"/>
            <a:ext cx="0" cy="1647444"/>
          </a:xfrm>
          <a:prstGeom prst="line">
            <a:avLst/>
          </a:prstGeom>
          <a:noFill/>
          <a:ln w="15875">
            <a:solidFill>
              <a:srgbClr val="F2C14E"/>
            </a:solidFill>
            <a:prstDash val="solid"/>
            <a:headEnd type="triangle"/>
            <a:tailEnd type="triangle"/>
          </a:ln>
        </p:spPr>
      </p:sp>
      <p:sp>
        <p:nvSpPr>
          <p:cNvPr id="43" name="Text 41"/>
          <p:cNvSpPr txBox="1"/>
          <p:nvPr/>
        </p:nvSpPr>
        <p:spPr>
          <a:xfrm>
            <a:off x="2816352" y="3677708"/>
            <a:ext cx="2011680" cy="457200"/>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lead ≥ 269,607 HV</a:t>
            </a:r>
            <a:endParaRPr lang="en-US" sz="1150" dirty="0"/>
          </a:p>
          <a:p>
            <a:pPr algn="r" indent="0" marL="0">
              <a:buNone/>
            </a:pPr>
            <a:r>
              <a:rPr lang="en-US" sz="1150" b="1" dirty="0">
                <a:solidFill>
                  <a:srgbClr val="F2C14E"/>
                </a:solidFill>
                <a:latin typeface="Calibri" pitchFamily="34" charset="0"/>
                <a:ea typeface="Calibri" pitchFamily="34" charset="-122"/>
                <a:cs typeface="Calibri" pitchFamily="34" charset="-120"/>
              </a:rPr>
              <a:t>at every budget</a:t>
            </a:r>
            <a:endParaRPr lang="en-US" sz="1150" dirty="0"/>
          </a:p>
        </p:txBody>
      </p:sp>
      <p:sp>
        <p:nvSpPr>
          <p:cNvPr id="44" name="Text 42"/>
          <p:cNvSpPr txBox="1"/>
          <p:nvPr/>
        </p:nvSpPr>
        <p:spPr>
          <a:xfrm>
            <a:off x="1828800" y="4247096"/>
            <a:ext cx="2377440" cy="457200"/>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+33,043 HV over 10×</a:t>
            </a:r>
            <a:endParaRPr lang="en-US" sz="1100" dirty="0"/>
          </a:p>
          <a:p>
            <a:pPr indent="0" marL="0">
              <a:buNone/>
            </a:pPr>
            <a:r>
              <a:rPr lang="en-US" sz="1100" dirty="0">
                <a:solidFill>
                  <a:srgbClr val="E8ECF2"/>
                </a:solidFill>
                <a:latin typeface="Calibri" pitchFamily="34" charset="0"/>
                <a:ea typeface="Calibri" pitchFamily="34" charset="-122"/>
                <a:cs typeface="Calibri" pitchFamily="34" charset="-120"/>
              </a:rPr>
              <a:t>≈ 1.5× the control’s re-run</a:t>
            </a:r>
            <a:endParaRPr lang="en-US" sz="1100" dirty="0"/>
          </a:p>
        </p:txBody>
      </p:sp>
      <p:sp>
        <p:nvSpPr>
          <p:cNvPr id="45" name="Text 43"/>
          <p:cNvSpPr txBox="1"/>
          <p:nvPr/>
        </p:nvSpPr>
        <p:spPr>
          <a:xfrm>
            <a:off x="1874520" y="2060133"/>
            <a:ext cx="3108960" cy="237744"/>
          </a:xfrm>
          <a:prstGeom prst="rect">
            <a:avLst/>
          </a:prstGeom>
          <a:noFill/>
          <a:ln/>
        </p:spPr>
        <p:txBody>
          <a:bodyPr wrap="square" lIns="0" tIns="0" rIns="0" bIns="0" rtlCol="0" anchor="t"/>
          <a:lstStyle/>
          <a:p>
            <a:pPr indent="0" marL="0">
              <a:buNone/>
            </a:pPr>
            <a:r>
              <a:rPr lang="en-US" sz="1050" i="1" dirty="0">
                <a:solidFill>
                  <a:srgbClr val="3DDC97"/>
                </a:solidFill>
                <a:latin typeface="Calibri" pitchFamily="34" charset="0"/>
                <a:ea typeface="Calibri" pitchFamily="34" charset="-122"/>
                <a:cs typeface="Calibri" pitchFamily="34" charset="-120"/>
              </a:rPr>
              <a:t>new constructions drawn at each budget</a:t>
            </a:r>
            <a:endParaRPr lang="en-US" sz="1050" dirty="0"/>
          </a:p>
        </p:txBody>
      </p:sp>
      <p:sp>
        <p:nvSpPr>
          <p:cNvPr id="46" name="Text 44"/>
          <p:cNvSpPr txBox="1"/>
          <p:nvPr/>
        </p:nvSpPr>
        <p:spPr>
          <a:xfrm>
            <a:off x="640080" y="5669280"/>
            <a:ext cx="6583680" cy="47244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Ten times the budget adds 33,043 HV to Hill-Climbing: about a tenth of the construction’s lead.</a:t>
            </a:r>
            <a:endParaRPr lang="en-US" sz="1400" dirty="0"/>
          </a:p>
        </p:txBody>
      </p:sp>
      <p:sp>
        <p:nvSpPr>
          <p:cNvPr id="47" name="Shape 45"/>
          <p:cNvSpPr/>
          <p:nvPr/>
        </p:nvSpPr>
        <p:spPr>
          <a:xfrm>
            <a:off x="7498080" y="1783080"/>
            <a:ext cx="9144" cy="4526280"/>
          </a:xfrm>
          <a:prstGeom prst="rect">
            <a:avLst/>
          </a:prstGeom>
          <a:solidFill>
            <a:srgbClr val="2A3546"/>
          </a:solidFill>
          <a:ln/>
        </p:spPr>
      </p:sp>
      <p:sp>
        <p:nvSpPr>
          <p:cNvPr id="48" name="Text 46"/>
          <p:cNvSpPr txBox="1"/>
          <p:nvPr/>
        </p:nvSpPr>
        <p:spPr>
          <a:xfrm>
            <a:off x="7726680" y="1810512"/>
            <a:ext cx="3824935"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PROVABLE UPPER BOUND</a:t>
            </a:r>
            <a:endParaRPr lang="en-US" sz="1050" dirty="0"/>
          </a:p>
        </p:txBody>
      </p:sp>
      <p:sp>
        <p:nvSpPr>
          <p:cNvPr id="49" name="Text 47"/>
          <p:cNvSpPr txBox="1"/>
          <p:nvPr/>
        </p:nvSpPr>
        <p:spPr>
          <a:xfrm>
            <a:off x="7726680" y="2103120"/>
            <a:ext cx="3824935" cy="594360"/>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Eliminating </a:t>
            </a:r>
            <a:r>
              <a:rPr lang="en-US" sz="1200" i="1" dirty="0">
                <a:solidFill>
                  <a:srgbClr val="E8ECF2"/>
                </a:solidFill>
                <a:latin typeface="Calibri" pitchFamily="34" charset="0"/>
                <a:ea typeface="Calibri" pitchFamily="34" charset="-122"/>
                <a:cs typeface="Calibri" pitchFamily="34" charset="-120"/>
              </a:rPr>
              <a:t>t</a:t>
            </a:r>
            <a:r>
              <a:rPr lang="en-US" sz="1200" dirty="0">
                <a:solidFill>
                  <a:srgbClr val="E8ECF2"/>
                </a:solidFill>
                <a:latin typeface="Calibri" pitchFamily="34" charset="0"/>
                <a:ea typeface="Calibri" pitchFamily="34" charset="-122"/>
                <a:cs typeface="Calibri" pitchFamily="34" charset="-120"/>
              </a:rPr>
              <a:t> vertices first lowers the treewidth by at most </a:t>
            </a:r>
            <a:r>
              <a:rPr lang="en-US" sz="1200" i="1" dirty="0">
                <a:solidFill>
                  <a:srgbClr val="E8ECF2"/>
                </a:solidFill>
                <a:latin typeface="Calibri" pitchFamily="34" charset="0"/>
                <a:ea typeface="Calibri" pitchFamily="34" charset="-122"/>
                <a:cs typeface="Calibri" pitchFamily="34" charset="-120"/>
              </a:rPr>
              <a:t>t</a:t>
            </a:r>
            <a:r>
              <a:rPr lang="en-US" sz="1200" dirty="0">
                <a:solidFill>
                  <a:srgbClr val="E8ECF2"/>
                </a:solidFill>
                <a:latin typeface="Calibri" pitchFamily="34" charset="0"/>
                <a:ea typeface="Calibri" pitchFamily="34" charset="-122"/>
                <a:cs typeface="Calibri" pitchFamily="34" charset="-120"/>
              </a:rPr>
              <a:t>, so every point obeys </a:t>
            </a:r>
            <a:r>
              <a:rPr lang="en-US" sz="1200" i="1" dirty="0">
                <a:solidFill>
                  <a:srgbClr val="E8ECF2"/>
                </a:solidFill>
                <a:latin typeface="Calibri" pitchFamily="34" charset="0"/>
                <a:ea typeface="Calibri" pitchFamily="34" charset="-122"/>
                <a:cs typeface="Calibri" pitchFamily="34" charset="-120"/>
              </a:rPr>
              <a:t>w</a:t>
            </a:r>
            <a:r>
              <a:rPr lang="en-US" sz="1200" dirty="0">
                <a:solidFill>
                  <a:srgbClr val="E8ECF2"/>
                </a:solidFill>
                <a:latin typeface="Calibri" pitchFamily="34" charset="0"/>
                <a:ea typeface="Calibri" pitchFamily="34" charset="-122"/>
                <a:cs typeface="Calibri" pitchFamily="34" charset="-120"/>
              </a:rPr>
              <a:t> ≥ tw(</a:t>
            </a:r>
            <a:r>
              <a:rPr lang="en-US" sz="1200" i="1" dirty="0">
                <a:solidFill>
                  <a:srgbClr val="E8ECF2"/>
                </a:solidFill>
                <a:latin typeface="Calibri" pitchFamily="34" charset="0"/>
                <a:ea typeface="Calibri" pitchFamily="34" charset="-122"/>
                <a:cs typeface="Calibri" pitchFamily="34" charset="-120"/>
              </a:rPr>
              <a:t>G</a:t>
            </a:r>
            <a:r>
              <a:rPr lang="en-US" sz="1200" dirty="0">
                <a:solidFill>
                  <a:srgbClr val="E8ECF2"/>
                </a:solidFill>
                <a:latin typeface="Calibri" pitchFamily="34" charset="0"/>
                <a:ea typeface="Calibri" pitchFamily="34" charset="-122"/>
                <a:cs typeface="Calibri" pitchFamily="34" charset="-120"/>
              </a:rPr>
              <a:t>) − </a:t>
            </a:r>
            <a:r>
              <a:rPr lang="en-US" sz="1200" i="1" dirty="0">
                <a:solidFill>
                  <a:srgbClr val="E8ECF2"/>
                </a:solidFill>
                <a:latin typeface="Calibri" pitchFamily="34" charset="0"/>
                <a:ea typeface="Calibri" pitchFamily="34" charset="-122"/>
                <a:cs typeface="Calibri" pitchFamily="34" charset="-120"/>
              </a:rPr>
              <a:t>t</a:t>
            </a:r>
            <a:r>
              <a:rPr lang="en-US" sz="1200" dirty="0">
                <a:solidFill>
                  <a:srgbClr val="E8ECF2"/>
                </a:solidFill>
                <a:latin typeface="Calibri" pitchFamily="34" charset="0"/>
                <a:ea typeface="Calibri" pitchFamily="34" charset="-122"/>
                <a:cs typeface="Calibri" pitchFamily="34" charset="-120"/>
              </a:rPr>
              <a:t>. A lower bound on tw(</a:t>
            </a:r>
            <a:r>
              <a:rPr lang="en-US" sz="1200" i="1" dirty="0">
                <a:solidFill>
                  <a:srgbClr val="E8ECF2"/>
                </a:solidFill>
                <a:latin typeface="Calibri" pitchFamily="34" charset="0"/>
                <a:ea typeface="Calibri" pitchFamily="34" charset="-122"/>
                <a:cs typeface="Calibri" pitchFamily="34" charset="-120"/>
              </a:rPr>
              <a:t>G</a:t>
            </a:r>
            <a:r>
              <a:rPr lang="en-US" sz="1200" dirty="0">
                <a:solidFill>
                  <a:srgbClr val="E8ECF2"/>
                </a:solidFill>
                <a:latin typeface="Calibri" pitchFamily="34" charset="0"/>
                <a:ea typeface="Calibri" pitchFamily="34" charset="-122"/>
                <a:cs typeface="Calibri" pitchFamily="34" charset="-120"/>
              </a:rPr>
              <a:t>) then caps the score of any submission.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26680" y="2834640"/>
          <a:ext cx="3824935" cy="914400"/>
        </p:xfrm>
        <a:graphic>
          <a:graphicData uri="http://schemas.openxmlformats.org/drawingml/2006/table">
            <a:tbl>
              <a:tblPr/>
              <a:tblGrid>
                <a:gridCol w="1207008"/>
                <a:gridCol w="932688"/>
                <a:gridCol w="978408"/>
                <a:gridCol w="706831"/>
              </a:tblGrid>
              <a:tr h="329184">
                <a:tc>
                  <a:txBody>
                    <a:bodyPr/>
                    <a:lstStyle/>
                    <a:p>
                      <a:pPr algn="l" indent="0" marL="0">
                        <a:buNone/>
                      </a:pPr>
                      <a:r>
                        <a:rPr lang="en-US" sz="1050" b="1" dirty="0">
                          <a:solidFill>
                            <a:srgbClr val="9AA6B6"/>
                          </a:solidFill>
                          <a:latin typeface="Calibri" pitchFamily="34" charset="0"/>
                          <a:ea typeface="Calibri" pitchFamily="34" charset="-122"/>
                          <a:cs typeface="Calibri" pitchFamily="34" charset="-120"/>
                        </a:rPr>
                        <a:t>instance</a:t>
                      </a:r>
                      <a:endParaRPr lang="en-US" sz="1050" dirty="0">
                        <a:latin typeface="Calibri" charset="0"/>
                        <a:ea typeface="Calibri" charset="0"/>
                        <a:cs typeface="Calibri" charset="0"/>
                      </a:endParaRPr>
                    </a:p>
                  </a:txBody>
                  <a:tcPr marL="45720" marR="45720" marT="18288" marB="18288"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9AA6B6"/>
                          </a:solidFill>
                          <a:latin typeface="Calibri" pitchFamily="34" charset="0"/>
                          <a:ea typeface="Calibri" pitchFamily="34" charset="-122"/>
                          <a:cs typeface="Calibri" pitchFamily="34" charset="-120"/>
                        </a:rPr>
                        <a:t>upper bound</a:t>
                      </a:r>
                      <a:endParaRPr lang="en-US" sz="1050" dirty="0">
                        <a:latin typeface="Calibri" charset="0"/>
                        <a:ea typeface="Calibri" charset="0"/>
                        <a:cs typeface="Calibri" charset="0"/>
                      </a:endParaRPr>
                    </a:p>
                  </a:txBody>
                  <a:tcPr marL="45720" marR="45720" marT="18288" marB="18288"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9AA6B6"/>
                          </a:solidFill>
                          <a:latin typeface="Calibri" pitchFamily="34" charset="0"/>
                          <a:ea typeface="Calibri" pitchFamily="34" charset="-122"/>
                          <a:cs typeface="Calibri" pitchFamily="34" charset="-120"/>
                        </a:rPr>
                        <a:t>best known</a:t>
                      </a:r>
                      <a:endParaRPr lang="en-US" sz="1050" dirty="0">
                        <a:latin typeface="Calibri" charset="0"/>
                        <a:ea typeface="Calibri" charset="0"/>
                        <a:cs typeface="Calibri" charset="0"/>
                      </a:endParaRPr>
                    </a:p>
                  </a:txBody>
                  <a:tcPr marL="45720" marR="45720" marT="18288" marB="18288"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9AA6B6"/>
                          </a:solidFill>
                          <a:latin typeface="Calibri" pitchFamily="34" charset="0"/>
                          <a:ea typeface="Calibri" pitchFamily="34" charset="-122"/>
                          <a:cs typeface="Calibri" pitchFamily="34" charset="-120"/>
                        </a:rPr>
                        <a:t>gap</a:t>
                      </a:r>
                      <a:endParaRPr lang="en-US" sz="1050" dirty="0">
                        <a:latin typeface="Calibri" charset="0"/>
                        <a:ea typeface="Calibri" charset="0"/>
                        <a:cs typeface="Calibri" charset="0"/>
                      </a:endParaRPr>
                    </a:p>
                  </a:txBody>
                  <a:tcPr marL="45720" marR="45720" marT="18288" marB="18288"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algn="l" indent="0" marL="0">
                        <a:buNone/>
                      </a:pPr>
                      <a:r>
                        <a:rPr lang="en-US" sz="1200" dirty="0">
                          <a:solidFill>
                            <a:srgbClr val="E8ECF2"/>
                          </a:solidFill>
                          <a:latin typeface="Calibri" pitchFamily="34" charset="0"/>
                          <a:ea typeface="Calibri" pitchFamily="34" charset="-122"/>
                          <a:cs typeface="Calibri" pitchFamily="34" charset="-120"/>
                        </a:rPr>
                        <a:t>small-graph</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200" dirty="0">
                          <a:solidFill>
                            <a:srgbClr val="E8ECF2"/>
                          </a:solidFill>
                          <a:latin typeface="Calibri" pitchFamily="34" charset="0"/>
                          <a:ea typeface="Calibri" pitchFamily="34" charset="-122"/>
                          <a:cs typeface="Calibri" pitchFamily="34" charset="-120"/>
                        </a:rPr>
                        <a:t>1,841,434</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200" dirty="0">
                          <a:solidFill>
                            <a:srgbClr val="E8ECF2"/>
                          </a:solidFill>
                          <a:latin typeface="Calibri" pitchFamily="34" charset="0"/>
                          <a:ea typeface="Calibri" pitchFamily="34" charset="-122"/>
                          <a:cs typeface="Calibri" pitchFamily="34" charset="-120"/>
                        </a:rPr>
                        <a:t>1,829,919</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29184">
                <a:tc>
                  <a:txBody>
                    <a:bodyPr/>
                    <a:lstStyle/>
                    <a:p>
                      <a:pPr algn="l" indent="0" marL="0">
                        <a:buNone/>
                      </a:pPr>
                      <a:r>
                        <a:rPr lang="en-US" sz="1200" dirty="0">
                          <a:solidFill>
                            <a:srgbClr val="E8ECF2"/>
                          </a:solidFill>
                          <a:latin typeface="Calibri" pitchFamily="34" charset="0"/>
                          <a:ea typeface="Calibri" pitchFamily="34" charset="-122"/>
                          <a:cs typeface="Calibri" pitchFamily="34" charset="-120"/>
                        </a:rPr>
                        <a:t>medium-graph</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200" dirty="0">
                          <a:solidFill>
                            <a:srgbClr val="E8ECF2"/>
                          </a:solidFill>
                          <a:latin typeface="Calibri" pitchFamily="34" charset="0"/>
                          <a:ea typeface="Calibri" pitchFamily="34" charset="-122"/>
                          <a:cs typeface="Calibri" pitchFamily="34" charset="-120"/>
                        </a:rPr>
                        <a:t>1,955,110</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200" dirty="0">
                          <a:solidFill>
                            <a:srgbClr val="E8ECF2"/>
                          </a:solidFill>
                          <a:latin typeface="Calibri" pitchFamily="34" charset="0"/>
                          <a:ea typeface="Calibri" pitchFamily="34" charset="-122"/>
                          <a:cs typeface="Calibri" pitchFamily="34" charset="-120"/>
                        </a:rPr>
                        <a:t>1,745,122</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200" b="1" dirty="0">
                          <a:solidFill>
                            <a:srgbClr val="F2C14E"/>
                          </a:solidFill>
                          <a:latin typeface="Calibri" pitchFamily="34" charset="0"/>
                          <a:ea typeface="Calibri" pitchFamily="34" charset="-122"/>
                          <a:cs typeface="Calibri" pitchFamily="34" charset="-120"/>
                        </a:rPr>
                        <a:t>10.74%</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29184">
                <a:tc>
                  <a:txBody>
                    <a:bodyPr/>
                    <a:lstStyle/>
                    <a:p>
                      <a:pPr algn="l" indent="0" marL="0">
                        <a:buNone/>
                      </a:pPr>
                      <a:r>
                        <a:rPr lang="en-US" sz="1200" dirty="0">
                          <a:solidFill>
                            <a:srgbClr val="E8ECF2"/>
                          </a:solidFill>
                          <a:latin typeface="Calibri" pitchFamily="34" charset="0"/>
                          <a:ea typeface="Calibri" pitchFamily="34" charset="-122"/>
                          <a:cs typeface="Calibri" pitchFamily="34" charset="-120"/>
                        </a:rPr>
                        <a:t>large-graph</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00" dirty="0">
                          <a:solidFill>
                            <a:srgbClr val="E8ECF2"/>
                          </a:solidFill>
                          <a:latin typeface="Calibri" pitchFamily="34" charset="0"/>
                          <a:ea typeface="Calibri" pitchFamily="34" charset="-122"/>
                          <a:cs typeface="Calibri" pitchFamily="34" charset="-120"/>
                        </a:rPr>
                        <a:t>5,754,421</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00" dirty="0">
                          <a:solidFill>
                            <a:srgbClr val="E8ECF2"/>
                          </a:solidFill>
                          <a:latin typeface="Calibri" pitchFamily="34" charset="0"/>
                          <a:ea typeface="Calibri" pitchFamily="34" charset="-122"/>
                          <a:cs typeface="Calibri" pitchFamily="34" charset="-120"/>
                        </a:rPr>
                        <a:t>5,493,062</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00" b="1" dirty="0">
                          <a:solidFill>
                            <a:srgbClr val="FF5A60"/>
                          </a:solidFill>
                          <a:latin typeface="Calibri" pitchFamily="34" charset="0"/>
                          <a:ea typeface="Calibri" pitchFamily="34" charset="-122"/>
                          <a:cs typeface="Calibri" pitchFamily="34" charset="-120"/>
                        </a:rPr>
                        <a:t>4.54%</a:t>
                      </a:r>
                      <a:endParaRPr lang="en-US" sz="1200" dirty="0">
                        <a:latin typeface="Calibri" charset="0"/>
                        <a:ea typeface="Calibri" charset="0"/>
                        <a:cs typeface="Calibri" charset="0"/>
                      </a:endParaRPr>
                    </a:p>
                  </a:txBody>
                  <a:tcPr marL="45720" marR="45720" marT="18288" marB="18288"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1" name="Text 48"/>
          <p:cNvSpPr txBox="1"/>
          <p:nvPr/>
        </p:nvSpPr>
        <p:spPr>
          <a:xfrm>
            <a:off x="7726680" y="4462272"/>
            <a:ext cx="9144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sparse</a:t>
            </a:r>
            <a:endParaRPr lang="en-US" sz="1200" dirty="0"/>
          </a:p>
        </p:txBody>
      </p:sp>
      <p:sp>
        <p:nvSpPr>
          <p:cNvPr id="52" name="Text 49"/>
          <p:cNvSpPr txBox="1"/>
          <p:nvPr/>
        </p:nvSpPr>
        <p:spPr>
          <a:xfrm>
            <a:off x="8686800" y="4462272"/>
            <a:ext cx="2864815" cy="219456"/>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within 0.63%: practically solved</a:t>
            </a:r>
            <a:endParaRPr lang="en-US" sz="1200" dirty="0"/>
          </a:p>
        </p:txBody>
      </p:sp>
      <p:sp>
        <p:nvSpPr>
          <p:cNvPr id="53" name="Text 50"/>
          <p:cNvSpPr txBox="1"/>
          <p:nvPr/>
        </p:nvSpPr>
        <p:spPr>
          <a:xfrm>
            <a:off x="7726680" y="4754880"/>
            <a:ext cx="91440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medium</a:t>
            </a:r>
            <a:endParaRPr lang="en-US" sz="1200" dirty="0"/>
          </a:p>
        </p:txBody>
      </p:sp>
      <p:sp>
        <p:nvSpPr>
          <p:cNvPr id="54" name="Text 51"/>
          <p:cNvSpPr txBox="1"/>
          <p:nvPr/>
        </p:nvSpPr>
        <p:spPr>
          <a:xfrm>
            <a:off x="8686800" y="4754880"/>
            <a:ext cx="2864815" cy="219456"/>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a loose bound: only tw ≥ 63 is known</a:t>
            </a:r>
            <a:endParaRPr lang="en-US" sz="1200" dirty="0"/>
          </a:p>
        </p:txBody>
      </p:sp>
      <p:sp>
        <p:nvSpPr>
          <p:cNvPr id="55" name="Text 52"/>
          <p:cNvSpPr txBox="1"/>
          <p:nvPr/>
        </p:nvSpPr>
        <p:spPr>
          <a:xfrm>
            <a:off x="7726680" y="5047488"/>
            <a:ext cx="914400" cy="237744"/>
          </a:xfrm>
          <a:prstGeom prst="rect">
            <a:avLst/>
          </a:prstGeom>
          <a:noFill/>
          <a:ln/>
        </p:spPr>
        <p:txBody>
          <a:bodyPr wrap="square" lIns="0" tIns="0" rIns="0" bIns="0" rtlCol="0" anchor="t"/>
          <a:lstStyle/>
          <a:p>
            <a:pPr indent="0" marL="0">
              <a:buNone/>
            </a:pPr>
            <a:r>
              <a:rPr lang="en-US" sz="1200" b="1" dirty="0">
                <a:solidFill>
                  <a:srgbClr val="FF5A60"/>
                </a:solidFill>
                <a:latin typeface="Calibri" pitchFamily="34" charset="0"/>
                <a:ea typeface="Calibri" pitchFamily="34" charset="-122"/>
                <a:cs typeface="Calibri" pitchFamily="34" charset="-120"/>
              </a:rPr>
              <a:t>dense</a:t>
            </a:r>
            <a:endParaRPr lang="en-US" sz="1200" dirty="0"/>
          </a:p>
        </p:txBody>
      </p:sp>
      <p:sp>
        <p:nvSpPr>
          <p:cNvPr id="56" name="Text 53"/>
          <p:cNvSpPr txBox="1"/>
          <p:nvPr/>
        </p:nvSpPr>
        <p:spPr>
          <a:xfrm>
            <a:off x="8686800" y="5047488"/>
            <a:ext cx="2864815" cy="219456"/>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real headroom: tw is pinned to 499–500</a:t>
            </a:r>
            <a:endParaRPr lang="en-US" sz="1200" dirty="0"/>
          </a:p>
        </p:txBody>
      </p:sp>
      <p:sp>
        <p:nvSpPr>
          <p:cNvPr id="57" name="Text 54"/>
          <p:cNvSpPr txBox="1"/>
          <p:nvPr/>
        </p:nvSpPr>
        <p:spPr>
          <a:xfrm>
            <a:off x="7726680" y="5897880"/>
            <a:ext cx="3824935" cy="365760"/>
          </a:xfrm>
          <a:prstGeom prst="rect">
            <a:avLst/>
          </a:prstGeom>
          <a:noFill/>
          <a:ln/>
        </p:spPr>
        <p:txBody>
          <a:bodyPr wrap="square" lIns="0" tIns="0" rIns="0" bIns="0" rtlCol="0" anchor="t"/>
          <a:lstStyle/>
          <a:p>
            <a:pPr indent="0" marL="0">
              <a:buNone/>
            </a:pPr>
            <a:r>
              <a:rPr lang="en-US" sz="1000" i="1" dirty="0">
                <a:solidFill>
                  <a:srgbClr val="7D8AA0"/>
                </a:solidFill>
                <a:latin typeface="Calibri" pitchFamily="34" charset="0"/>
                <a:ea typeface="Calibri" pitchFamily="34" charset="-122"/>
                <a:cs typeface="Calibri" pitchFamily="34" charset="-120"/>
              </a:rPr>
              <a:t>Hypervolume. Best known: top of ESA’s leaderboard, read 13 Oct 2026.</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7 · DISCUSSION AND CONCLUSIONS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Discussion and limitations</a:t>
            </a:r>
            <a:endParaRPr lang="en-US" sz="2700" dirty="0"/>
          </a:p>
        </p:txBody>
      </p:sp>
      <p:sp>
        <p:nvSpPr>
          <p:cNvPr id="4" name="Text 2"/>
          <p:cNvSpPr txBox="1"/>
          <p:nvPr/>
        </p:nvSpPr>
        <p:spPr>
          <a:xfrm>
            <a:off x="640080" y="1810512"/>
            <a:ext cx="5806440" cy="237744"/>
          </a:xfrm>
          <a:prstGeom prst="rect">
            <a:avLst/>
          </a:prstGeom>
          <a:noFill/>
          <a:ln/>
        </p:spPr>
        <p:txBody>
          <a:bodyPr wrap="square" lIns="0" tIns="0" rIns="0" bIns="0" rtlCol="0" anchor="t"/>
          <a:lstStyle/>
          <a:p>
            <a:pPr indent="0" marL="0">
              <a:buNone/>
            </a:pPr>
            <a:r>
              <a:rPr lang="en-US" sz="1050" b="1" spc="160" kern="0" dirty="0">
                <a:solidFill>
                  <a:srgbClr val="3DDC97"/>
                </a:solidFill>
                <a:latin typeface="Calibri" pitchFamily="34" charset="0"/>
                <a:ea typeface="Calibri" pitchFamily="34" charset="-122"/>
                <a:cs typeface="Calibri" pitchFamily="34" charset="-120"/>
              </a:rPr>
              <a:t>DISCUSSION</a:t>
            </a:r>
            <a:endParaRPr lang="en-US" sz="1050" dirty="0"/>
          </a:p>
        </p:txBody>
      </p:sp>
      <p:sp>
        <p:nvSpPr>
          <p:cNvPr id="5" name="Text 3"/>
          <p:cNvSpPr txBox="1"/>
          <p:nvPr/>
        </p:nvSpPr>
        <p:spPr>
          <a:xfrm>
            <a:off x="640080" y="2121408"/>
            <a:ext cx="5806440" cy="2737104"/>
          </a:xfrm>
          <a:prstGeom prst="rect">
            <a:avLst/>
          </a:prstGeom>
          <a:noFill/>
          <a:ln/>
        </p:spPr>
        <p:txBody>
          <a:bodyPr wrap="square" lIns="0" tIns="0" rIns="0" bIns="0" rtlCol="0" anchor="t"/>
          <a:lstStyle/>
          <a:p>
            <a:pPr marL="190500" indent="-190500">
              <a:lnSpc>
                <a:spcPct val="100000"/>
              </a:lnSpc>
              <a:spcAft>
                <a:spcPts val="1300"/>
              </a:spcAft>
              <a:buClr>
                <a:srgbClr val="3DDC97"/>
              </a:buClr>
              <a:buFont typeface="Arial"/>
              <a:buChar char="•"/>
            </a:pPr>
            <a:r>
              <a:rPr lang="en-US" sz="1400" dirty="0">
                <a:solidFill>
                  <a:srgbClr val="E8ECF2"/>
                </a:solidFill>
                <a:latin typeface="Calibri" pitchFamily="34" charset="0"/>
                <a:ea typeface="Calibri" pitchFamily="34" charset="-122"/>
                <a:cs typeface="Calibri" pitchFamily="34" charset="-120"/>
              </a:rPr>
              <a:t>The construction does most of the work: min-degree ×8 alone reaches 99.3–100% of the best score on sparse instances, 95.5–97.6% on medium and 89.9–92.8% on dense ones.</a:t>
            </a:r>
            <a:endParaRPr lang="en-US" sz="1400" dirty="0"/>
          </a:p>
          <a:p>
            <a:pPr marL="190500" indent="-190500">
              <a:lnSpc>
                <a:spcPct val="100000"/>
              </a:lnSpc>
              <a:spcAft>
                <a:spcPts val="1300"/>
              </a:spcAft>
              <a:buClr>
                <a:srgbClr val="3DDC97"/>
              </a:buClr>
              <a:buFont typeface="Arial"/>
              <a:buChar char="•"/>
            </a:pPr>
            <a:r>
              <a:rPr lang="en-US" sz="1400" dirty="0">
                <a:solidFill>
                  <a:srgbClr val="E8ECF2"/>
                </a:solidFill>
                <a:latin typeface="Calibri" pitchFamily="34" charset="0"/>
                <a:ea typeface="Calibri" pitchFamily="34" charset="-122"/>
                <a:cs typeface="Calibri" pitchFamily="34" charset="-120"/>
              </a:rPr>
              <a:t>Without any search, it would place 9th of 15, 9th of 11 and 7th of 11 (tied) on ESA’s three leaderboards.</a:t>
            </a:r>
            <a:endParaRPr lang="en-US" sz="1400" dirty="0"/>
          </a:p>
          <a:p>
            <a:pPr marL="190500" indent="-190500">
              <a:lnSpc>
                <a:spcPct val="100000"/>
              </a:lnSpc>
              <a:spcAft>
                <a:spcPts val="1300"/>
              </a:spcAft>
              <a:buClr>
                <a:srgbClr val="3DDC97"/>
              </a:buClr>
              <a:buFont typeface="Arial"/>
              <a:buChar char="•"/>
            </a:pPr>
            <a:r>
              <a:rPr lang="en-US" sz="1400" dirty="0">
                <a:solidFill>
                  <a:srgbClr val="E8ECF2"/>
                </a:solidFill>
                <a:latin typeface="Calibri" pitchFamily="34" charset="0"/>
                <a:ea typeface="Calibri" pitchFamily="34" charset="-122"/>
                <a:cs typeface="Calibri" pitchFamily="34" charset="-120"/>
              </a:rPr>
              <a:t>Changing the moves or the acceptance rule shifts the total by at most twice the control’s re-run; the one large effect, a randomised construction (15.9×), comes from the dense family.</a:t>
            </a:r>
            <a:endParaRPr lang="en-US" sz="1400" dirty="0"/>
          </a:p>
          <a:p>
            <a:pPr marL="190500" indent="-190500">
              <a:lnSpc>
                <a:spcPct val="100000"/>
              </a:lnSpc>
              <a:buClr>
                <a:srgbClr val="3DDC97"/>
              </a:buClr>
              <a:buFont typeface="Arial"/>
              <a:buChar char="•"/>
            </a:pPr>
            <a:r>
              <a:rPr lang="en-US" sz="1400" dirty="0">
                <a:solidFill>
                  <a:srgbClr val="E8ECF2"/>
                </a:solidFill>
                <a:latin typeface="Calibri" pitchFamily="34" charset="0"/>
                <a:ea typeface="Calibri" pitchFamily="34" charset="-122"/>
                <a:cs typeface="Calibri" pitchFamily="34" charset="-120"/>
              </a:rPr>
              <a:t>A best-of-3 table names a winner on every row, but only half of those winners are supported by every seed.</a:t>
            </a:r>
            <a:endParaRPr lang="en-US" sz="1400" dirty="0"/>
          </a:p>
        </p:txBody>
      </p:sp>
      <p:sp>
        <p:nvSpPr>
          <p:cNvPr id="6" name="Shape 4"/>
          <p:cNvSpPr/>
          <p:nvPr/>
        </p:nvSpPr>
        <p:spPr>
          <a:xfrm>
            <a:off x="6766560" y="1783080"/>
            <a:ext cx="4785055" cy="2788920"/>
          </a:xfrm>
          <a:prstGeom prst="rect">
            <a:avLst/>
          </a:prstGeom>
          <a:solidFill>
            <a:srgbClr val="131B28"/>
          </a:solidFill>
          <a:ln/>
        </p:spPr>
      </p:sp>
      <p:sp>
        <p:nvSpPr>
          <p:cNvPr id="7" name="Shape 5"/>
          <p:cNvSpPr/>
          <p:nvPr/>
        </p:nvSpPr>
        <p:spPr>
          <a:xfrm>
            <a:off x="6766560" y="1783080"/>
            <a:ext cx="54864" cy="2788920"/>
          </a:xfrm>
          <a:prstGeom prst="rect">
            <a:avLst/>
          </a:prstGeom>
          <a:solidFill>
            <a:srgbClr val="F2C14E"/>
          </a:solidFill>
          <a:ln/>
        </p:spPr>
      </p:sp>
      <p:sp>
        <p:nvSpPr>
          <p:cNvPr id="8" name="Text 6"/>
          <p:cNvSpPr txBox="1"/>
          <p:nvPr/>
        </p:nvSpPr>
        <p:spPr>
          <a:xfrm>
            <a:off x="7040880" y="1920240"/>
            <a:ext cx="432785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LIMITATIONS</a:t>
            </a:r>
            <a:endParaRPr lang="en-US" sz="1050" dirty="0"/>
          </a:p>
        </p:txBody>
      </p:sp>
      <p:sp>
        <p:nvSpPr>
          <p:cNvPr id="9" name="Text 7"/>
          <p:cNvSpPr txBox="1"/>
          <p:nvPr/>
        </p:nvSpPr>
        <p:spPr>
          <a:xfrm>
            <a:off x="7040880" y="2286000"/>
            <a:ext cx="4236415" cy="2194560"/>
          </a:xfrm>
          <a:prstGeom prst="rect">
            <a:avLst/>
          </a:prstGeom>
          <a:noFill/>
          <a:ln/>
        </p:spPr>
        <p:txBody>
          <a:bodyPr wrap="square" lIns="0" tIns="0" rIns="0" bIns="0" rtlCol="0" anchor="t"/>
          <a:lstStyle/>
          <a:p>
            <a:pPr marL="190500" indent="-190500">
              <a:lnSpc>
                <a:spcPct val="100000"/>
              </a:lnSpc>
              <a:spcAft>
                <a:spcPts val="1200"/>
              </a:spcAft>
              <a:buClr>
                <a:srgbClr val="F2C14E"/>
              </a:buClr>
              <a:buFont typeface="Arial"/>
              <a:buChar char="•"/>
            </a:pPr>
            <a:r>
              <a:rPr lang="en-US" sz="1350" dirty="0">
                <a:solidFill>
                  <a:srgbClr val="E8ECF2"/>
                </a:solidFill>
                <a:latin typeface="Calibri" pitchFamily="34" charset="0"/>
                <a:ea typeface="Calibri" pitchFamily="34" charset="-122"/>
                <a:cs typeface="Calibri" pitchFamily="34" charset="-120"/>
              </a:rPr>
              <a:t>Three seeds per method and instance: the minimum for an exact rank test at p = 0.05.</a:t>
            </a:r>
            <a:endParaRPr lang="en-US" sz="1350" dirty="0"/>
          </a:p>
          <a:p>
            <a:pPr marL="190500" indent="-190500">
              <a:lnSpc>
                <a:spcPct val="100000"/>
              </a:lnSpc>
              <a:spcAft>
                <a:spcPts val="1200"/>
              </a:spcAft>
              <a:buClr>
                <a:srgbClr val="F2C14E"/>
              </a:buClr>
              <a:buFont typeface="Arial"/>
              <a:buChar char="•"/>
            </a:pPr>
            <a:r>
              <a:rPr lang="en-US" sz="1350" dirty="0">
                <a:solidFill>
                  <a:srgbClr val="E8ECF2"/>
                </a:solidFill>
                <a:latin typeface="Calibri" pitchFamily="34" charset="0"/>
                <a:ea typeface="Calibri" pitchFamily="34" charset="-122"/>
                <a:cs typeface="Calibri" pitchFamily="34" charset="-120"/>
              </a:rPr>
              <a:t>One main budget of 1,200 s; longer budgets were run for the Hill-Climbing variants only.</a:t>
            </a:r>
            <a:endParaRPr lang="en-US" sz="1350" dirty="0"/>
          </a:p>
          <a:p>
            <a:pPr marL="190500" indent="-190500">
              <a:lnSpc>
                <a:spcPct val="100000"/>
              </a:lnSpc>
              <a:spcAft>
                <a:spcPts val="1200"/>
              </a:spcAft>
              <a:buClr>
                <a:srgbClr val="F2C14E"/>
              </a:buClr>
              <a:buFont typeface="Arial"/>
              <a:buChar char="•"/>
            </a:pPr>
            <a:r>
              <a:rPr lang="en-US" sz="1350" dirty="0">
                <a:solidFill>
                  <a:srgbClr val="E8ECF2"/>
                </a:solidFill>
                <a:latin typeface="Calibri" pitchFamily="34" charset="0"/>
                <a:ea typeface="Calibri" pitchFamily="34" charset="-122"/>
                <a:cs typeface="Calibri" pitchFamily="34" charset="-120"/>
              </a:rPr>
              <a:t>The dense family consists of three variants of one graph.</a:t>
            </a:r>
            <a:endParaRPr lang="en-US" sz="1350" dirty="0"/>
          </a:p>
          <a:p>
            <a:pPr marL="190500" indent="-190500">
              <a:lnSpc>
                <a:spcPct val="100000"/>
              </a:lnSpc>
              <a:buClr>
                <a:srgbClr val="F2C14E"/>
              </a:buClr>
              <a:buFont typeface="Arial"/>
              <a:buChar char="•"/>
            </a:pPr>
            <a:r>
              <a:rPr lang="en-US" sz="1350" dirty="0">
                <a:solidFill>
                  <a:srgbClr val="E8ECF2"/>
                </a:solidFill>
                <a:latin typeface="Calibri" pitchFamily="34" charset="0"/>
                <a:ea typeface="Calibri" pitchFamily="34" charset="-122"/>
                <a:cs typeface="Calibri" pitchFamily="34" charset="-120"/>
              </a:rPr>
              <a:t>Team HRI and fcmaes are re-implementations, and Spacekangaroos runs on different hardware (GPU).</a:t>
            </a:r>
            <a:endParaRPr lang="en-US" sz="1350" dirty="0"/>
          </a:p>
        </p:txBody>
      </p:sp>
      <p:sp>
        <p:nvSpPr>
          <p:cNvPr id="10" name="Shape 8"/>
          <p:cNvSpPr/>
          <p:nvPr/>
        </p:nvSpPr>
        <p:spPr>
          <a:xfrm>
            <a:off x="640080" y="5440680"/>
            <a:ext cx="10911535" cy="566928"/>
          </a:xfrm>
          <a:prstGeom prst="rect">
            <a:avLst/>
          </a:prstGeom>
          <a:solidFill>
            <a:srgbClr val="131B28"/>
          </a:solidFill>
          <a:ln/>
        </p:spPr>
      </p:sp>
      <p:sp>
        <p:nvSpPr>
          <p:cNvPr id="11" name="Text 9"/>
          <p:cNvSpPr txBox="1"/>
          <p:nvPr/>
        </p:nvSpPr>
        <p:spPr>
          <a:xfrm>
            <a:off x="914400" y="5440680"/>
            <a:ext cx="10362895" cy="566928"/>
          </a:xfrm>
          <a:prstGeom prst="rect">
            <a:avLst/>
          </a:prstGeom>
          <a:noFill/>
          <a:ln/>
        </p:spPr>
        <p:txBody>
          <a:bodyPr wrap="square" lIns="0" tIns="0" rIns="0" bIns="0" rtlCol="0" anchor="ctr"/>
          <a:lstStyle/>
          <a:p>
            <a:pPr indent="0" marL="0">
              <a:buNone/>
            </a:pPr>
            <a:r>
              <a:rPr lang="en-US" sz="1600" i="1" dirty="0">
                <a:solidFill>
                  <a:srgbClr val="FFFFFF"/>
                </a:solidFill>
                <a:latin typeface="Century Schoolbook" pitchFamily="34" charset="0"/>
                <a:ea typeface="Century Schoolbook" pitchFamily="34" charset="-122"/>
                <a:cs typeface="Century Schoolbook" pitchFamily="34" charset="-120"/>
              </a:rPr>
              <a:t>On these instances, what is built matters more than how it is searched.</a:t>
            </a:r>
            <a:endParaRPr lang="en-US" sz="16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7 · DISCUSSION AND CONCLUSIONS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Conclusions and future work</a:t>
            </a:r>
            <a:endParaRPr lang="en-US" sz="2700" dirty="0"/>
          </a:p>
        </p:txBody>
      </p:sp>
      <p:sp>
        <p:nvSpPr>
          <p:cNvPr id="4" name="Text 2"/>
          <p:cNvSpPr txBox="1"/>
          <p:nvPr/>
        </p:nvSpPr>
        <p:spPr>
          <a:xfrm>
            <a:off x="640080" y="1810512"/>
            <a:ext cx="6309360" cy="237744"/>
          </a:xfrm>
          <a:prstGeom prst="rect">
            <a:avLst/>
          </a:prstGeom>
          <a:noFill/>
          <a:ln/>
        </p:spPr>
        <p:txBody>
          <a:bodyPr wrap="square" lIns="0" tIns="0" rIns="0" bIns="0" rtlCol="0" anchor="t"/>
          <a:lstStyle/>
          <a:p>
            <a:pPr indent="0" marL="0">
              <a:buNone/>
            </a:pPr>
            <a:r>
              <a:rPr lang="en-US" sz="1050" b="1" spc="160" kern="0" dirty="0">
                <a:solidFill>
                  <a:srgbClr val="3DDC97"/>
                </a:solidFill>
                <a:latin typeface="Calibri" pitchFamily="34" charset="0"/>
                <a:ea typeface="Calibri" pitchFamily="34" charset="-122"/>
                <a:cs typeface="Calibri" pitchFamily="34" charset="-120"/>
              </a:rPr>
              <a:t>ANSWERS TO THE RESEARCH QUESTIONS</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6309360" cy="914400"/>
        </p:xfrm>
        <a:graphic>
          <a:graphicData uri="http://schemas.openxmlformats.org/drawingml/2006/table">
            <a:tbl>
              <a:tblPr/>
              <a:tblGrid>
                <a:gridCol w="777240"/>
                <a:gridCol w="5532120"/>
              </a:tblGrid>
              <a:tr h="469392">
                <a:tc>
                  <a:txBody>
                    <a:bodyPr/>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RQ1</a:t>
                      </a:r>
                      <a:endParaRPr lang="en-US" sz="1700" dirty="0">
                        <a:latin typeface="Century Schoolbook" charset="0"/>
                        <a:ea typeface="Century Schoolbook" charset="0"/>
                        <a:cs typeface="Century Schoolbook" charset="0"/>
                      </a:endParaRPr>
                    </a:p>
                  </a:txBody>
                  <a:tcPr marL="0" marR="45720" marT="128016" marB="12801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400" dirty="0">
                          <a:solidFill>
                            <a:srgbClr val="E8ECF2"/>
                          </a:solidFill>
                          <a:latin typeface="Calibri" pitchFamily="34" charset="0"/>
                          <a:ea typeface="Calibri" pitchFamily="34" charset="-122"/>
                          <a:cs typeface="Calibri" pitchFamily="34" charset="-120"/>
                        </a:rPr>
                        <a:t>Under one protocol, the leaderboard methods win 8 of 10 instances and Hill-Climbing wins 2; fcmaes leads clearly on dense graphs.</a:t>
                      </a:r>
                      <a:endParaRPr lang="en-US" sz="1400" dirty="0">
                        <a:latin typeface="Calibri" charset="0"/>
                        <a:ea typeface="Calibri" charset="0"/>
                        <a:cs typeface="Calibri" charset="0"/>
                      </a:endParaRPr>
                    </a:p>
                  </a:txBody>
                  <a:tcPr marL="0" marR="45720" marT="128016" marB="12801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69392">
                <a:tc>
                  <a:txBody>
                    <a:bodyPr/>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RQ2</a:t>
                      </a:r>
                      <a:endParaRPr lang="en-US" sz="1700" dirty="0">
                        <a:latin typeface="Century Schoolbook" charset="0"/>
                        <a:ea typeface="Century Schoolbook" charset="0"/>
                        <a:cs typeface="Century Schoolbook" charset="0"/>
                      </a:endParaRPr>
                    </a:p>
                  </a:txBody>
                  <a:tcPr marL="0" marR="45720" marT="128016" marB="12801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400" dirty="0">
                          <a:solidFill>
                            <a:srgbClr val="E8ECF2"/>
                          </a:solidFill>
                          <a:latin typeface="Calibri" pitchFamily="34" charset="0"/>
                          <a:ea typeface="Calibri" pitchFamily="34" charset="-122"/>
                          <a:cs typeface="Calibri" pitchFamily="34" charset="-120"/>
                        </a:rPr>
                        <a:t>Only 5 of the 10 winners hold for every seed; best-of-3 tables overstate certainty.</a:t>
                      </a:r>
                      <a:endParaRPr lang="en-US" sz="1400" dirty="0">
                        <a:latin typeface="Calibri" charset="0"/>
                        <a:ea typeface="Calibri" charset="0"/>
                        <a:cs typeface="Calibri" charset="0"/>
                      </a:endParaRPr>
                    </a:p>
                  </a:txBody>
                  <a:tcPr marL="0" marR="45720" marT="128016" marB="12801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69392">
                <a:tc>
                  <a:txBody>
                    <a:bodyPr/>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RQ3</a:t>
                      </a:r>
                      <a:endParaRPr lang="en-US" sz="1700" dirty="0">
                        <a:latin typeface="Century Schoolbook" charset="0"/>
                        <a:ea typeface="Century Schoolbook" charset="0"/>
                        <a:cs typeface="Century Schoolbook" charset="0"/>
                      </a:endParaRPr>
                    </a:p>
                  </a:txBody>
                  <a:tcPr marL="0" marR="45720" marT="128016" marB="12801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indent="0" marL="0">
                        <a:buNone/>
                      </a:pPr>
                      <a:r>
                        <a:rPr lang="en-US" sz="1400" dirty="0">
                          <a:solidFill>
                            <a:srgbClr val="E8ECF2"/>
                          </a:solidFill>
                          <a:latin typeface="Calibri" pitchFamily="34" charset="0"/>
                          <a:ea typeface="Calibri" pitchFamily="34" charset="-122"/>
                          <a:cs typeface="Calibri" pitchFamily="34" charset="-120"/>
                        </a:rPr>
                        <a:t>The starting construction determines the score (15.9× the control’s re-run); the acceptance rule and the move operators change it by at most 2.0×.</a:t>
                      </a:r>
                      <a:endParaRPr lang="en-US" sz="1400" dirty="0">
                        <a:latin typeface="Calibri" charset="0"/>
                        <a:ea typeface="Calibri" charset="0"/>
                        <a:cs typeface="Calibri" charset="0"/>
                      </a:endParaRPr>
                    </a:p>
                  </a:txBody>
                  <a:tcPr marL="0" marR="45720" marT="128016" marB="128016" anchor="t">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69392">
                <a:tc>
                  <a:txBody>
                    <a:bodyPr/>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RQ4</a:t>
                      </a:r>
                      <a:endParaRPr lang="en-US" sz="1700" dirty="0">
                        <a:latin typeface="Century Schoolbook" charset="0"/>
                        <a:ea typeface="Century Schoolbook" charset="0"/>
                        <a:cs typeface="Century Schoolbook" charset="0"/>
                      </a:endParaRPr>
                    </a:p>
                  </a:txBody>
                  <a:tcPr marL="0" marR="45720" marT="128016" marB="128016"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E8ECF2"/>
                          </a:solidFill>
                          <a:latin typeface="Calibri" pitchFamily="34" charset="0"/>
                          <a:ea typeface="Calibri" pitchFamily="34" charset="-122"/>
                          <a:cs typeface="Calibri" pitchFamily="34" charset="-120"/>
                        </a:rPr>
                        <a:t>Ten times the budget recovers about a tenth of the construction’s lead; the best known scores lie within 0.63% (sparse) and 4.54% (dense) of the upper bound.</a:t>
                      </a:r>
                      <a:endParaRPr lang="en-US" sz="1400" dirty="0">
                        <a:latin typeface="Calibri" charset="0"/>
                        <a:ea typeface="Calibri" charset="0"/>
                        <a:cs typeface="Calibri" charset="0"/>
                      </a:endParaRPr>
                    </a:p>
                  </a:txBody>
                  <a:tcPr marL="0" marR="45720" marT="128016" marB="128016" anchor="t">
                    <a:lnL w="0" cap="flat" cmpd="sng" algn="ctr">
                      <a:noFill/>
                    </a:lnL>
                    <a:lnR w="0" cap="flat" cmpd="sng" algn="ctr">
                      <a:noFill/>
                    </a:lnR>
                    <a:lnT w="0" cap="flat" cmpd="sng" algn="ctr">
                      <a:noFill/>
                    </a:lnT>
                    <a:lnB w="0" cap="flat" cmpd="sng" algn="ctr">
                      <a:noFill/>
                    </a:lnB>
                  </a:tcPr>
                </a:tc>
              </a:tr>
            </a:tbl>
          </a:graphicData>
        </a:graphic>
      </p:graphicFrame>
      <p:sp>
        <p:nvSpPr>
          <p:cNvPr id="6" name="Shape 3"/>
          <p:cNvSpPr/>
          <p:nvPr/>
        </p:nvSpPr>
        <p:spPr>
          <a:xfrm>
            <a:off x="7269480" y="1783080"/>
            <a:ext cx="4282135" cy="1905000"/>
          </a:xfrm>
          <a:prstGeom prst="rect">
            <a:avLst/>
          </a:prstGeom>
          <a:solidFill>
            <a:srgbClr val="131B28"/>
          </a:solidFill>
          <a:ln/>
        </p:spPr>
      </p:sp>
      <p:sp>
        <p:nvSpPr>
          <p:cNvPr id="7" name="Shape 4"/>
          <p:cNvSpPr/>
          <p:nvPr/>
        </p:nvSpPr>
        <p:spPr>
          <a:xfrm>
            <a:off x="7269480" y="1783080"/>
            <a:ext cx="54864" cy="1905000"/>
          </a:xfrm>
          <a:prstGeom prst="rect">
            <a:avLst/>
          </a:prstGeom>
          <a:solidFill>
            <a:srgbClr val="4DA3FF"/>
          </a:solidFill>
          <a:ln/>
        </p:spPr>
      </p:sp>
      <p:sp>
        <p:nvSpPr>
          <p:cNvPr id="8" name="Text 5"/>
          <p:cNvSpPr txBox="1"/>
          <p:nvPr/>
        </p:nvSpPr>
        <p:spPr>
          <a:xfrm>
            <a:off x="7543800" y="1920240"/>
            <a:ext cx="3824935"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RECOMMENDATIONS FOR BENCHMARK STUDIES</a:t>
            </a:r>
            <a:endParaRPr lang="en-US" sz="1050" dirty="0"/>
          </a:p>
        </p:txBody>
      </p:sp>
      <p:sp>
        <p:nvSpPr>
          <p:cNvPr id="9" name="Text 6"/>
          <p:cNvSpPr txBox="1"/>
          <p:nvPr/>
        </p:nvSpPr>
        <p:spPr>
          <a:xfrm>
            <a:off x="7543800" y="2240280"/>
            <a:ext cx="3733495" cy="1356360"/>
          </a:xfrm>
          <a:prstGeom prst="rect">
            <a:avLst/>
          </a:prstGeom>
          <a:noFill/>
          <a:ln/>
        </p:spPr>
        <p:txBody>
          <a:bodyPr wrap="square" lIns="0" tIns="0" rIns="0" bIns="0" rtlCol="0" anchor="t"/>
          <a:lstStyle/>
          <a:p>
            <a:pPr marL="190500" indent="-190500">
              <a:lnSpc>
                <a:spcPct val="100000"/>
              </a:lnSpc>
              <a:spcAft>
                <a:spcPts val="1000"/>
              </a:spcAft>
              <a:buClr>
                <a:srgbClr val="4DA3FF"/>
              </a:buClr>
              <a:buFont typeface="Arial"/>
              <a:buChar char="•"/>
            </a:pPr>
            <a:r>
              <a:rPr lang="en-US" sz="1300" dirty="0">
                <a:solidFill>
                  <a:srgbClr val="E8ECF2"/>
                </a:solidFill>
                <a:latin typeface="Calibri" pitchFamily="34" charset="0"/>
                <a:ea typeface="Calibri" pitchFamily="34" charset="-122"/>
                <a:cs typeface="Calibri" pitchFamily="34" charset="-120"/>
              </a:rPr>
              <a:t>Run the control twice and report the difference.</a:t>
            </a:r>
            <a:endParaRPr lang="en-US" sz="1300" dirty="0"/>
          </a:p>
          <a:p>
            <a:pPr marL="190500" indent="-190500">
              <a:lnSpc>
                <a:spcPct val="100000"/>
              </a:lnSpc>
              <a:spcAft>
                <a:spcPts val="1000"/>
              </a:spcAft>
              <a:buClr>
                <a:srgbClr val="4DA3FF"/>
              </a:buClr>
              <a:buFont typeface="Arial"/>
              <a:buChar char="•"/>
            </a:pPr>
            <a:r>
              <a:rPr lang="en-US" sz="1300" dirty="0">
                <a:solidFill>
                  <a:srgbClr val="E8ECF2"/>
                </a:solidFill>
                <a:latin typeface="Calibri" pitchFamily="34" charset="0"/>
                <a:ea typeface="Calibri" pitchFamily="34" charset="-122"/>
                <a:cs typeface="Calibri" pitchFamily="34" charset="-120"/>
              </a:rPr>
              <a:t>Judge each row on all of its seeds, not on the best one.</a:t>
            </a:r>
            <a:endParaRPr lang="en-US" sz="1300" dirty="0"/>
          </a:p>
          <a:p>
            <a:pPr marL="190500" indent="-190500">
              <a:lnSpc>
                <a:spcPct val="100000"/>
              </a:lnSpc>
              <a:buClr>
                <a:srgbClr val="4DA3FF"/>
              </a:buClr>
              <a:buFont typeface="Arial"/>
              <a:buChar char="•"/>
            </a:pPr>
            <a:r>
              <a:rPr lang="en-US" sz="1300" dirty="0">
                <a:solidFill>
                  <a:srgbClr val="E8ECF2"/>
                </a:solidFill>
                <a:latin typeface="Calibri" pitchFamily="34" charset="0"/>
                <a:ea typeface="Calibri" pitchFamily="34" charset="-122"/>
                <a:cs typeface="Calibri" pitchFamily="34" charset="-120"/>
              </a:rPr>
              <a:t>Report which instances an effect comes from.</a:t>
            </a:r>
            <a:endParaRPr lang="en-US" sz="1300" dirty="0"/>
          </a:p>
        </p:txBody>
      </p:sp>
      <p:sp>
        <p:nvSpPr>
          <p:cNvPr id="10" name="Shape 7"/>
          <p:cNvSpPr/>
          <p:nvPr/>
        </p:nvSpPr>
        <p:spPr>
          <a:xfrm>
            <a:off x="7269480" y="3889248"/>
            <a:ext cx="4282135" cy="2103120"/>
          </a:xfrm>
          <a:prstGeom prst="rect">
            <a:avLst/>
          </a:prstGeom>
          <a:solidFill>
            <a:srgbClr val="131B28"/>
          </a:solidFill>
          <a:ln/>
        </p:spPr>
      </p:sp>
      <p:sp>
        <p:nvSpPr>
          <p:cNvPr id="11" name="Shape 8"/>
          <p:cNvSpPr/>
          <p:nvPr/>
        </p:nvSpPr>
        <p:spPr>
          <a:xfrm>
            <a:off x="7269480" y="3889248"/>
            <a:ext cx="54864" cy="2103120"/>
          </a:xfrm>
          <a:prstGeom prst="rect">
            <a:avLst/>
          </a:prstGeom>
          <a:solidFill>
            <a:srgbClr val="F2C14E"/>
          </a:solidFill>
          <a:ln/>
        </p:spPr>
      </p:sp>
      <p:sp>
        <p:nvSpPr>
          <p:cNvPr id="12" name="Text 9"/>
          <p:cNvSpPr txBox="1"/>
          <p:nvPr/>
        </p:nvSpPr>
        <p:spPr>
          <a:xfrm>
            <a:off x="7543800" y="4026408"/>
            <a:ext cx="382493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FUTURE WORK</a:t>
            </a:r>
            <a:endParaRPr lang="en-US" sz="1050" dirty="0"/>
          </a:p>
        </p:txBody>
      </p:sp>
      <p:sp>
        <p:nvSpPr>
          <p:cNvPr id="13" name="Text 10"/>
          <p:cNvSpPr txBox="1"/>
          <p:nvPr/>
        </p:nvSpPr>
        <p:spPr>
          <a:xfrm>
            <a:off x="7543800" y="4346448"/>
            <a:ext cx="3733495" cy="1554480"/>
          </a:xfrm>
          <a:prstGeom prst="rect">
            <a:avLst/>
          </a:prstGeom>
          <a:noFill/>
          <a:ln/>
        </p:spPr>
        <p:txBody>
          <a:bodyPr wrap="square" lIns="0" tIns="0" rIns="0" bIns="0" rtlCol="0" anchor="t"/>
          <a:lstStyle/>
          <a:p>
            <a:pPr marL="190500" indent="-190500">
              <a:lnSpc>
                <a:spcPct val="100000"/>
              </a:lnSpc>
              <a:spcAft>
                <a:spcPts val="1000"/>
              </a:spcAft>
              <a:buClr>
                <a:srgbClr val="F2C14E"/>
              </a:buClr>
              <a:buFont typeface="Arial"/>
              <a:buChar char="•"/>
            </a:pPr>
            <a:r>
              <a:rPr lang="en-US" sz="1300" dirty="0">
                <a:solidFill>
                  <a:srgbClr val="E8ECF2"/>
                </a:solidFill>
                <a:latin typeface="Calibri" pitchFamily="34" charset="0"/>
                <a:ea typeface="Calibri" pitchFamily="34" charset="-122"/>
                <a:cs typeface="Calibri" pitchFamily="34" charset="-120"/>
              </a:rPr>
              <a:t>Constructions designed for dense, clique-pinned graphs.</a:t>
            </a:r>
            <a:endParaRPr lang="en-US" sz="1300" dirty="0"/>
          </a:p>
          <a:p>
            <a:pPr marL="190500" indent="-190500">
              <a:lnSpc>
                <a:spcPct val="100000"/>
              </a:lnSpc>
              <a:spcAft>
                <a:spcPts val="1000"/>
              </a:spcAft>
              <a:buClr>
                <a:srgbClr val="F2C14E"/>
              </a:buClr>
              <a:buFont typeface="Arial"/>
              <a:buChar char="•"/>
            </a:pPr>
            <a:r>
              <a:rPr lang="en-US" sz="1300" dirty="0">
                <a:solidFill>
                  <a:srgbClr val="E8ECF2"/>
                </a:solidFill>
                <a:latin typeface="Calibri" pitchFamily="34" charset="0"/>
                <a:ea typeface="Calibri" pitchFamily="34" charset="-122"/>
                <a:cs typeface="Calibri" pitchFamily="34" charset="-120"/>
              </a:rPr>
              <a:t>Tighter treewidth lower bounds for the medium family.</a:t>
            </a:r>
            <a:endParaRPr lang="en-US" sz="1300" dirty="0"/>
          </a:p>
          <a:p>
            <a:pPr marL="190500" indent="-190500">
              <a:lnSpc>
                <a:spcPct val="100000"/>
              </a:lnSpc>
              <a:buClr>
                <a:srgbClr val="F2C14E"/>
              </a:buClr>
              <a:buFont typeface="Arial"/>
              <a:buChar char="•"/>
            </a:pPr>
            <a:r>
              <a:rPr lang="en-US" sz="1300" dirty="0">
                <a:solidFill>
                  <a:srgbClr val="E8ECF2"/>
                </a:solidFill>
                <a:latin typeface="Calibri" pitchFamily="34" charset="0"/>
                <a:ea typeface="Calibri" pitchFamily="34" charset="-122"/>
                <a:cs typeface="Calibri" pitchFamily="34" charset="-120"/>
              </a:rPr>
              <a:t>More seeds and several budgets for the leaderboard methods.</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Every seed behind the results table</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25880"/>
                <a:gridCol w="722376"/>
                <a:gridCol w="722376"/>
                <a:gridCol w="722376"/>
                <a:gridCol w="722376"/>
                <a:gridCol w="722376"/>
                <a:gridCol w="722376"/>
                <a:gridCol w="722376"/>
                <a:gridCol w="722376"/>
                <a:gridCol w="722376"/>
                <a:gridCol w="722376"/>
                <a:gridCol w="722376"/>
                <a:gridCol w="722376"/>
                <a:gridCol w="914400"/>
              </a:tblGrid>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fcmaes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Team HRI</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Spacekangaroos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Hill-Climbing</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min-degree ×8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small-graph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1,808.0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1,803.8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1,802.8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medium-graph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1,659.2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1,663.1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1,658.2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1,674.3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1,682.4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1,547.0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1,615.2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1,612.5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1,606.4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1,588.4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1,470.1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1,484.0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1,482.6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1,550.8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1,578.8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1,582.9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1,473.4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large-graph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5,329.4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5,290.1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4,829.5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4,836.8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4,834.2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4,800.4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5,167.2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5,056.0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5,031.7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4,797.9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4,930.1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4,921.6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5,203.6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×1,000, every run. Bold: the best-of-3 value shown in the results table. —: no feasible point. Source: harness/benchmark-*.csv.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Two full runs of the Hill-Climbing control</a:t>
            </a:r>
            <a:endParaRPr lang="en-US" sz="2700" dirty="0"/>
          </a:p>
        </p:txBody>
      </p:sp>
      <p:sp>
        <p:nvSpPr>
          <p:cNvPr id="4"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Hill-Climbing stops on wall-clock time, so two full runs are two independent samples of the same method, not a repeat.</a:t>
            </a:r>
            <a:endParaRPr lang="en-US" sz="1500" dirty="0"/>
          </a:p>
        </p:txBody>
      </p:sp>
      <p:sp>
        <p:nvSpPr>
          <p:cNvPr id="5" name="Text 3"/>
          <p:cNvSpPr txBox="1"/>
          <p:nvPr/>
        </p:nvSpPr>
        <p:spPr>
          <a:xfrm>
            <a:off x="640080" y="2286000"/>
            <a:ext cx="5394960"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Per instance: within the scatter of the seeds</a:t>
            </a:r>
            <a:endParaRPr lang="en-US" sz="1350" dirty="0"/>
          </a:p>
        </p:txBody>
      </p:sp>
      <p:sp>
        <p:nvSpPr>
          <p:cNvPr id="6" name="Shape 4"/>
          <p:cNvSpPr/>
          <p:nvPr/>
        </p:nvSpPr>
        <p:spPr>
          <a:xfrm>
            <a:off x="1874520" y="2596896"/>
            <a:ext cx="0" cy="2679192"/>
          </a:xfrm>
          <a:prstGeom prst="line">
            <a:avLst/>
          </a:prstGeom>
          <a:noFill/>
          <a:ln w="7620">
            <a:solidFill>
              <a:srgbClr val="1C2533"/>
            </a:solidFill>
            <a:prstDash val="solid"/>
          </a:ln>
        </p:spPr>
      </p:sp>
      <p:sp>
        <p:nvSpPr>
          <p:cNvPr id="7" name="Text 5"/>
          <p:cNvSpPr txBox="1"/>
          <p:nvPr/>
        </p:nvSpPr>
        <p:spPr>
          <a:xfrm>
            <a:off x="1600200" y="5312664"/>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p>
        </p:txBody>
      </p:sp>
      <p:sp>
        <p:nvSpPr>
          <p:cNvPr id="8" name="Shape 6"/>
          <p:cNvSpPr/>
          <p:nvPr/>
        </p:nvSpPr>
        <p:spPr>
          <a:xfrm>
            <a:off x="2788920" y="2596896"/>
            <a:ext cx="0" cy="2679192"/>
          </a:xfrm>
          <a:prstGeom prst="line">
            <a:avLst/>
          </a:prstGeom>
          <a:noFill/>
          <a:ln w="7620">
            <a:solidFill>
              <a:srgbClr val="1C2533"/>
            </a:solidFill>
            <a:prstDash val="solid"/>
          </a:ln>
        </p:spPr>
      </p:sp>
      <p:sp>
        <p:nvSpPr>
          <p:cNvPr id="9" name="Text 7"/>
          <p:cNvSpPr txBox="1"/>
          <p:nvPr/>
        </p:nvSpPr>
        <p:spPr>
          <a:xfrm>
            <a:off x="2514600" y="5312664"/>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a:t>
            </a:r>
            <a:endParaRPr lang="en-US" sz="1000" dirty="0"/>
          </a:p>
        </p:txBody>
      </p:sp>
      <p:sp>
        <p:nvSpPr>
          <p:cNvPr id="10" name="Shape 8"/>
          <p:cNvSpPr/>
          <p:nvPr/>
        </p:nvSpPr>
        <p:spPr>
          <a:xfrm>
            <a:off x="3703320" y="2596896"/>
            <a:ext cx="0" cy="2679192"/>
          </a:xfrm>
          <a:prstGeom prst="line">
            <a:avLst/>
          </a:prstGeom>
          <a:noFill/>
          <a:ln w="7620">
            <a:solidFill>
              <a:srgbClr val="1C2533"/>
            </a:solidFill>
            <a:prstDash val="solid"/>
          </a:ln>
        </p:spPr>
      </p:sp>
      <p:sp>
        <p:nvSpPr>
          <p:cNvPr id="11" name="Text 9"/>
          <p:cNvSpPr txBox="1"/>
          <p:nvPr/>
        </p:nvSpPr>
        <p:spPr>
          <a:xfrm>
            <a:off x="3429000" y="5312664"/>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a:t>
            </a:r>
            <a:endParaRPr lang="en-US" sz="1000" dirty="0"/>
          </a:p>
        </p:txBody>
      </p:sp>
      <p:sp>
        <p:nvSpPr>
          <p:cNvPr id="12" name="Shape 10"/>
          <p:cNvSpPr/>
          <p:nvPr/>
        </p:nvSpPr>
        <p:spPr>
          <a:xfrm>
            <a:off x="4617720" y="2596896"/>
            <a:ext cx="0" cy="2679192"/>
          </a:xfrm>
          <a:prstGeom prst="line">
            <a:avLst/>
          </a:prstGeom>
          <a:noFill/>
          <a:ln w="7620">
            <a:solidFill>
              <a:srgbClr val="1C2533"/>
            </a:solidFill>
            <a:prstDash val="solid"/>
          </a:ln>
        </p:spPr>
      </p:sp>
      <p:sp>
        <p:nvSpPr>
          <p:cNvPr id="13" name="Text 11"/>
          <p:cNvSpPr txBox="1"/>
          <p:nvPr/>
        </p:nvSpPr>
        <p:spPr>
          <a:xfrm>
            <a:off x="4343400" y="5312664"/>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1k</a:t>
            </a:r>
            <a:endParaRPr lang="en-US" sz="1000" dirty="0"/>
          </a:p>
        </p:txBody>
      </p:sp>
      <p:sp>
        <p:nvSpPr>
          <p:cNvPr id="14" name="Shape 12"/>
          <p:cNvSpPr/>
          <p:nvPr/>
        </p:nvSpPr>
        <p:spPr>
          <a:xfrm>
            <a:off x="5532120" y="2596896"/>
            <a:ext cx="0" cy="2679192"/>
          </a:xfrm>
          <a:prstGeom prst="line">
            <a:avLst/>
          </a:prstGeom>
          <a:noFill/>
          <a:ln w="7620">
            <a:solidFill>
              <a:srgbClr val="1C2533"/>
            </a:solidFill>
            <a:prstDash val="solid"/>
          </a:ln>
        </p:spPr>
      </p:sp>
      <p:sp>
        <p:nvSpPr>
          <p:cNvPr id="15" name="Text 13"/>
          <p:cNvSpPr txBox="1"/>
          <p:nvPr/>
        </p:nvSpPr>
        <p:spPr>
          <a:xfrm>
            <a:off x="5257800" y="5312664"/>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a:t>
            </a:r>
            <a:endParaRPr lang="en-US" sz="1000" dirty="0"/>
          </a:p>
        </p:txBody>
      </p:sp>
      <p:sp>
        <p:nvSpPr>
          <p:cNvPr id="16" name="Text 14"/>
          <p:cNvSpPr txBox="1"/>
          <p:nvPr/>
        </p:nvSpPr>
        <p:spPr>
          <a:xfrm>
            <a:off x="640080" y="269062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small-graph</a:t>
            </a:r>
            <a:endParaRPr lang="en-US" sz="1100" dirty="0"/>
          </a:p>
        </p:txBody>
      </p:sp>
      <p:sp>
        <p:nvSpPr>
          <p:cNvPr id="17" name="Shape 15"/>
          <p:cNvSpPr/>
          <p:nvPr/>
        </p:nvSpPr>
        <p:spPr>
          <a:xfrm>
            <a:off x="1874520" y="2759202"/>
            <a:ext cx="2704436" cy="82296"/>
          </a:xfrm>
          <a:prstGeom prst="rect">
            <a:avLst/>
          </a:prstGeom>
          <a:solidFill>
            <a:srgbClr val="9AA6B6">
              <a:alpha val="45000"/>
            </a:srgbClr>
          </a:solidFill>
          <a:ln/>
        </p:spPr>
      </p:sp>
      <p:sp>
        <p:nvSpPr>
          <p:cNvPr id="18" name="Shape 16"/>
          <p:cNvSpPr/>
          <p:nvPr/>
        </p:nvSpPr>
        <p:spPr>
          <a:xfrm>
            <a:off x="4524092" y="2745486"/>
            <a:ext cx="109728" cy="109728"/>
          </a:xfrm>
          <a:prstGeom prst="ellipse">
            <a:avLst/>
          </a:prstGeom>
          <a:solidFill>
            <a:srgbClr val="4DA3FF"/>
          </a:solidFill>
          <a:ln/>
        </p:spPr>
      </p:sp>
      <p:sp>
        <p:nvSpPr>
          <p:cNvPr id="19" name="Text 17"/>
          <p:cNvSpPr txBox="1"/>
          <p:nvPr/>
        </p:nvSpPr>
        <p:spPr>
          <a:xfrm>
            <a:off x="640080" y="295122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synth-1</a:t>
            </a:r>
            <a:endParaRPr lang="en-US" sz="1100" dirty="0"/>
          </a:p>
        </p:txBody>
      </p:sp>
      <p:sp>
        <p:nvSpPr>
          <p:cNvPr id="20" name="Shape 18"/>
          <p:cNvSpPr/>
          <p:nvPr/>
        </p:nvSpPr>
        <p:spPr>
          <a:xfrm>
            <a:off x="1874520" y="3019806"/>
            <a:ext cx="3124936" cy="82296"/>
          </a:xfrm>
          <a:prstGeom prst="rect">
            <a:avLst/>
          </a:prstGeom>
          <a:solidFill>
            <a:srgbClr val="9AA6B6">
              <a:alpha val="45000"/>
            </a:srgbClr>
          </a:solidFill>
          <a:ln/>
        </p:spPr>
      </p:sp>
      <p:sp>
        <p:nvSpPr>
          <p:cNvPr id="21" name="Shape 19"/>
          <p:cNvSpPr/>
          <p:nvPr/>
        </p:nvSpPr>
        <p:spPr>
          <a:xfrm>
            <a:off x="4674310" y="3006090"/>
            <a:ext cx="109728" cy="109728"/>
          </a:xfrm>
          <a:prstGeom prst="ellipse">
            <a:avLst/>
          </a:prstGeom>
          <a:solidFill>
            <a:srgbClr val="4DA3FF"/>
          </a:solidFill>
          <a:ln/>
        </p:spPr>
      </p:sp>
      <p:sp>
        <p:nvSpPr>
          <p:cNvPr id="22" name="Text 20"/>
          <p:cNvSpPr txBox="1"/>
          <p:nvPr/>
        </p:nvSpPr>
        <p:spPr>
          <a:xfrm>
            <a:off x="640080" y="321183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synth-2</a:t>
            </a:r>
            <a:endParaRPr lang="en-US" sz="1100" dirty="0"/>
          </a:p>
        </p:txBody>
      </p:sp>
      <p:sp>
        <p:nvSpPr>
          <p:cNvPr id="23" name="Shape 21"/>
          <p:cNvSpPr/>
          <p:nvPr/>
        </p:nvSpPr>
        <p:spPr>
          <a:xfrm>
            <a:off x="1874520" y="3280410"/>
            <a:ext cx="2834348" cy="82296"/>
          </a:xfrm>
          <a:prstGeom prst="rect">
            <a:avLst/>
          </a:prstGeom>
          <a:solidFill>
            <a:srgbClr val="9AA6B6">
              <a:alpha val="45000"/>
            </a:srgbClr>
          </a:solidFill>
          <a:ln/>
        </p:spPr>
      </p:sp>
      <p:sp>
        <p:nvSpPr>
          <p:cNvPr id="24" name="Shape 22"/>
          <p:cNvSpPr/>
          <p:nvPr/>
        </p:nvSpPr>
        <p:spPr>
          <a:xfrm>
            <a:off x="3340082" y="3266694"/>
            <a:ext cx="109728" cy="109728"/>
          </a:xfrm>
          <a:prstGeom prst="ellipse">
            <a:avLst/>
          </a:prstGeom>
          <a:solidFill>
            <a:srgbClr val="4DA3FF"/>
          </a:solidFill>
          <a:ln/>
        </p:spPr>
      </p:sp>
      <p:sp>
        <p:nvSpPr>
          <p:cNvPr id="25" name="Text 23"/>
          <p:cNvSpPr txBox="1"/>
          <p:nvPr/>
        </p:nvSpPr>
        <p:spPr>
          <a:xfrm>
            <a:off x="640080" y="347243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synth-3</a:t>
            </a:r>
            <a:endParaRPr lang="en-US" sz="1100" dirty="0"/>
          </a:p>
        </p:txBody>
      </p:sp>
      <p:sp>
        <p:nvSpPr>
          <p:cNvPr id="26" name="Shape 24"/>
          <p:cNvSpPr/>
          <p:nvPr/>
        </p:nvSpPr>
        <p:spPr>
          <a:xfrm>
            <a:off x="1874520" y="3541014"/>
            <a:ext cx="1768905" cy="82296"/>
          </a:xfrm>
          <a:prstGeom prst="rect">
            <a:avLst/>
          </a:prstGeom>
          <a:solidFill>
            <a:srgbClr val="9AA6B6">
              <a:alpha val="45000"/>
            </a:srgbClr>
          </a:solidFill>
          <a:ln/>
        </p:spPr>
      </p:sp>
      <p:sp>
        <p:nvSpPr>
          <p:cNvPr id="27" name="Shape 25"/>
          <p:cNvSpPr/>
          <p:nvPr/>
        </p:nvSpPr>
        <p:spPr>
          <a:xfrm>
            <a:off x="3559841" y="3527298"/>
            <a:ext cx="109728" cy="109728"/>
          </a:xfrm>
          <a:prstGeom prst="ellipse">
            <a:avLst/>
          </a:prstGeom>
          <a:solidFill>
            <a:srgbClr val="4DA3FF"/>
          </a:solidFill>
          <a:ln/>
        </p:spPr>
      </p:sp>
      <p:sp>
        <p:nvSpPr>
          <p:cNvPr id="28" name="Text 26"/>
          <p:cNvSpPr txBox="1"/>
          <p:nvPr/>
        </p:nvSpPr>
        <p:spPr>
          <a:xfrm>
            <a:off x="640080" y="373303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medium-graph</a:t>
            </a:r>
            <a:endParaRPr lang="en-US" sz="1100" dirty="0"/>
          </a:p>
        </p:txBody>
      </p:sp>
      <p:sp>
        <p:nvSpPr>
          <p:cNvPr id="29" name="Shape 27"/>
          <p:cNvSpPr/>
          <p:nvPr/>
        </p:nvSpPr>
        <p:spPr>
          <a:xfrm>
            <a:off x="1874520" y="3801618"/>
            <a:ext cx="3500160" cy="82296"/>
          </a:xfrm>
          <a:prstGeom prst="rect">
            <a:avLst/>
          </a:prstGeom>
          <a:solidFill>
            <a:srgbClr val="9AA6B6">
              <a:alpha val="45000"/>
            </a:srgbClr>
          </a:solidFill>
          <a:ln/>
        </p:spPr>
      </p:sp>
      <p:sp>
        <p:nvSpPr>
          <p:cNvPr id="30" name="Shape 28"/>
          <p:cNvSpPr/>
          <p:nvPr/>
        </p:nvSpPr>
        <p:spPr>
          <a:xfrm>
            <a:off x="5238832" y="3787902"/>
            <a:ext cx="109728" cy="109728"/>
          </a:xfrm>
          <a:prstGeom prst="ellipse">
            <a:avLst/>
          </a:prstGeom>
          <a:solidFill>
            <a:srgbClr val="4DA3FF"/>
          </a:solidFill>
          <a:ln/>
        </p:spPr>
      </p:sp>
      <p:sp>
        <p:nvSpPr>
          <p:cNvPr id="31" name="Text 29"/>
          <p:cNvSpPr txBox="1"/>
          <p:nvPr/>
        </p:nvSpPr>
        <p:spPr>
          <a:xfrm>
            <a:off x="640080" y="399364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synth-4</a:t>
            </a:r>
            <a:endParaRPr lang="en-US" sz="1100" dirty="0"/>
          </a:p>
        </p:txBody>
      </p:sp>
      <p:sp>
        <p:nvSpPr>
          <p:cNvPr id="32" name="Shape 30"/>
          <p:cNvSpPr/>
          <p:nvPr/>
        </p:nvSpPr>
        <p:spPr>
          <a:xfrm>
            <a:off x="1874520" y="4062222"/>
            <a:ext cx="3768274" cy="82296"/>
          </a:xfrm>
          <a:prstGeom prst="rect">
            <a:avLst/>
          </a:prstGeom>
          <a:solidFill>
            <a:srgbClr val="9AA6B6">
              <a:alpha val="45000"/>
            </a:srgbClr>
          </a:solidFill>
          <a:ln/>
        </p:spPr>
      </p:sp>
      <p:sp>
        <p:nvSpPr>
          <p:cNvPr id="33" name="Shape 31"/>
          <p:cNvSpPr/>
          <p:nvPr/>
        </p:nvSpPr>
        <p:spPr>
          <a:xfrm>
            <a:off x="5382690" y="4048506"/>
            <a:ext cx="109728" cy="109728"/>
          </a:xfrm>
          <a:prstGeom prst="ellipse">
            <a:avLst/>
          </a:prstGeom>
          <a:solidFill>
            <a:srgbClr val="4DA3FF"/>
          </a:solidFill>
          <a:ln/>
        </p:spPr>
      </p:sp>
      <p:sp>
        <p:nvSpPr>
          <p:cNvPr id="34" name="Text 32"/>
          <p:cNvSpPr txBox="1"/>
          <p:nvPr/>
        </p:nvSpPr>
        <p:spPr>
          <a:xfrm>
            <a:off x="640080" y="425424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synth-5</a:t>
            </a:r>
            <a:endParaRPr lang="en-US" sz="1100" dirty="0"/>
          </a:p>
        </p:txBody>
      </p:sp>
      <p:sp>
        <p:nvSpPr>
          <p:cNvPr id="35" name="Shape 33"/>
          <p:cNvSpPr/>
          <p:nvPr/>
        </p:nvSpPr>
        <p:spPr>
          <a:xfrm>
            <a:off x="1874520" y="4322826"/>
            <a:ext cx="3677505" cy="82296"/>
          </a:xfrm>
          <a:prstGeom prst="rect">
            <a:avLst/>
          </a:prstGeom>
          <a:solidFill>
            <a:srgbClr val="9AA6B6">
              <a:alpha val="45000"/>
            </a:srgbClr>
          </a:solidFill>
          <a:ln/>
        </p:spPr>
      </p:sp>
      <p:sp>
        <p:nvSpPr>
          <p:cNvPr id="36" name="Shape 34"/>
          <p:cNvSpPr/>
          <p:nvPr/>
        </p:nvSpPr>
        <p:spPr>
          <a:xfrm>
            <a:off x="4956559" y="4309110"/>
            <a:ext cx="109728" cy="109728"/>
          </a:xfrm>
          <a:prstGeom prst="ellipse">
            <a:avLst/>
          </a:prstGeom>
          <a:solidFill>
            <a:srgbClr val="4DA3FF"/>
          </a:solidFill>
          <a:ln/>
        </p:spPr>
      </p:sp>
      <p:sp>
        <p:nvSpPr>
          <p:cNvPr id="37" name="Text 35"/>
          <p:cNvSpPr txBox="1"/>
          <p:nvPr/>
        </p:nvSpPr>
        <p:spPr>
          <a:xfrm>
            <a:off x="640080" y="451485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large-graph</a:t>
            </a:r>
            <a:endParaRPr lang="en-US" sz="1100" dirty="0"/>
          </a:p>
        </p:txBody>
      </p:sp>
      <p:sp>
        <p:nvSpPr>
          <p:cNvPr id="38" name="Shape 36"/>
          <p:cNvSpPr/>
          <p:nvPr/>
        </p:nvSpPr>
        <p:spPr>
          <a:xfrm>
            <a:off x="1874520" y="4583430"/>
            <a:ext cx="3551064" cy="82296"/>
          </a:xfrm>
          <a:prstGeom prst="rect">
            <a:avLst/>
          </a:prstGeom>
          <a:solidFill>
            <a:srgbClr val="9AA6B6">
              <a:alpha val="45000"/>
            </a:srgbClr>
          </a:solidFill>
          <a:ln/>
        </p:spPr>
      </p:sp>
      <p:sp>
        <p:nvSpPr>
          <p:cNvPr id="39" name="Shape 37"/>
          <p:cNvSpPr/>
          <p:nvPr/>
        </p:nvSpPr>
        <p:spPr>
          <a:xfrm>
            <a:off x="5266510" y="4569714"/>
            <a:ext cx="109728" cy="109728"/>
          </a:xfrm>
          <a:prstGeom prst="ellipse">
            <a:avLst/>
          </a:prstGeom>
          <a:solidFill>
            <a:srgbClr val="4DA3FF"/>
          </a:solidFill>
          <a:ln/>
        </p:spPr>
      </p:sp>
      <p:sp>
        <p:nvSpPr>
          <p:cNvPr id="40" name="Text 38"/>
          <p:cNvSpPr txBox="1"/>
          <p:nvPr/>
        </p:nvSpPr>
        <p:spPr>
          <a:xfrm>
            <a:off x="640080" y="477545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synth-6</a:t>
            </a:r>
            <a:endParaRPr lang="en-US" sz="1100" dirty="0"/>
          </a:p>
        </p:txBody>
      </p:sp>
      <p:sp>
        <p:nvSpPr>
          <p:cNvPr id="41" name="Shape 39"/>
          <p:cNvSpPr/>
          <p:nvPr/>
        </p:nvSpPr>
        <p:spPr>
          <a:xfrm>
            <a:off x="1874520" y="4844034"/>
            <a:ext cx="2285714" cy="82296"/>
          </a:xfrm>
          <a:prstGeom prst="rect">
            <a:avLst/>
          </a:prstGeom>
          <a:solidFill>
            <a:srgbClr val="9AA6B6">
              <a:alpha val="45000"/>
            </a:srgbClr>
          </a:solidFill>
          <a:ln/>
        </p:spPr>
      </p:sp>
      <p:sp>
        <p:nvSpPr>
          <p:cNvPr id="42" name="Shape 40"/>
          <p:cNvSpPr/>
          <p:nvPr/>
        </p:nvSpPr>
        <p:spPr>
          <a:xfrm>
            <a:off x="1819656" y="4830318"/>
            <a:ext cx="109728" cy="109728"/>
          </a:xfrm>
          <a:prstGeom prst="ellipse">
            <a:avLst/>
          </a:prstGeom>
          <a:solidFill>
            <a:srgbClr val="4DA3FF"/>
          </a:solidFill>
          <a:ln/>
        </p:spPr>
      </p:sp>
      <p:sp>
        <p:nvSpPr>
          <p:cNvPr id="43" name="Text 41"/>
          <p:cNvSpPr txBox="1"/>
          <p:nvPr/>
        </p:nvSpPr>
        <p:spPr>
          <a:xfrm>
            <a:off x="640080" y="503605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synth-7</a:t>
            </a:r>
            <a:endParaRPr lang="en-US" sz="1100" dirty="0"/>
          </a:p>
        </p:txBody>
      </p:sp>
      <p:sp>
        <p:nvSpPr>
          <p:cNvPr id="44" name="Shape 42"/>
          <p:cNvSpPr/>
          <p:nvPr/>
        </p:nvSpPr>
        <p:spPr>
          <a:xfrm>
            <a:off x="1874520" y="5104638"/>
            <a:ext cx="1942050" cy="82296"/>
          </a:xfrm>
          <a:prstGeom prst="rect">
            <a:avLst/>
          </a:prstGeom>
          <a:solidFill>
            <a:srgbClr val="9AA6B6">
              <a:alpha val="45000"/>
            </a:srgbClr>
          </a:solidFill>
          <a:ln/>
        </p:spPr>
      </p:sp>
      <p:sp>
        <p:nvSpPr>
          <p:cNvPr id="45" name="Shape 43"/>
          <p:cNvSpPr/>
          <p:nvPr/>
        </p:nvSpPr>
        <p:spPr>
          <a:xfrm>
            <a:off x="3097932" y="5090922"/>
            <a:ext cx="109728" cy="109728"/>
          </a:xfrm>
          <a:prstGeom prst="ellipse">
            <a:avLst/>
          </a:prstGeom>
          <a:solidFill>
            <a:srgbClr val="4DA3FF"/>
          </a:solidFill>
          <a:ln/>
        </p:spPr>
      </p:sp>
      <p:sp>
        <p:nvSpPr>
          <p:cNvPr id="46" name="Text 44"/>
          <p:cNvSpPr txBox="1"/>
          <p:nvPr/>
        </p:nvSpPr>
        <p:spPr>
          <a:xfrm>
            <a:off x="640080" y="5312664"/>
            <a:ext cx="105156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HV, log scale</a:t>
            </a:r>
            <a:endParaRPr lang="en-US" sz="1000" dirty="0"/>
          </a:p>
        </p:txBody>
      </p:sp>
      <p:sp>
        <p:nvSpPr>
          <p:cNvPr id="47" name="Shape 45"/>
          <p:cNvSpPr/>
          <p:nvPr/>
        </p:nvSpPr>
        <p:spPr>
          <a:xfrm>
            <a:off x="1874520" y="5623560"/>
            <a:ext cx="109728" cy="109728"/>
          </a:xfrm>
          <a:prstGeom prst="ellipse">
            <a:avLst/>
          </a:prstGeom>
          <a:solidFill>
            <a:srgbClr val="4DA3FF"/>
          </a:solidFill>
          <a:ln/>
        </p:spPr>
      </p:sp>
      <p:sp>
        <p:nvSpPr>
          <p:cNvPr id="48" name="Text 46"/>
          <p:cNvSpPr txBox="1"/>
          <p:nvPr/>
        </p:nvSpPr>
        <p:spPr>
          <a:xfrm>
            <a:off x="2039112" y="5577840"/>
            <a:ext cx="19202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change between the runs</a:t>
            </a:r>
            <a:endParaRPr lang="en-US" sz="1050" dirty="0"/>
          </a:p>
        </p:txBody>
      </p:sp>
      <p:sp>
        <p:nvSpPr>
          <p:cNvPr id="49" name="Shape 47"/>
          <p:cNvSpPr/>
          <p:nvPr/>
        </p:nvSpPr>
        <p:spPr>
          <a:xfrm>
            <a:off x="3931920" y="5641848"/>
            <a:ext cx="228600" cy="82296"/>
          </a:xfrm>
          <a:prstGeom prst="rect">
            <a:avLst/>
          </a:prstGeom>
          <a:solidFill>
            <a:srgbClr val="9AA6B6">
              <a:alpha val="45000"/>
            </a:srgbClr>
          </a:solidFill>
          <a:ln/>
        </p:spPr>
      </p:sp>
      <p:sp>
        <p:nvSpPr>
          <p:cNvPr id="50" name="Text 48"/>
          <p:cNvSpPr txBox="1"/>
          <p:nvPr/>
        </p:nvSpPr>
        <p:spPr>
          <a:xfrm>
            <a:off x="4206240" y="5577840"/>
            <a:ext cx="31089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larger seed spread of the two runs</a:t>
            </a:r>
            <a:endParaRPr lang="en-US" sz="1050" dirty="0"/>
          </a:p>
        </p:txBody>
      </p:sp>
      <p:sp>
        <p:nvSpPr>
          <p:cNvPr id="51" name="Text 49"/>
          <p:cNvSpPr txBox="1"/>
          <p:nvPr/>
        </p:nvSpPr>
        <p:spPr>
          <a:xfrm>
            <a:off x="6583680" y="2286000"/>
            <a:ext cx="4967935"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Ten-instance total: the two runs differ</a:t>
            </a:r>
            <a:endParaRPr lang="en-US" sz="1350" dirty="0"/>
          </a:p>
        </p:txBody>
      </p:sp>
      <p:sp>
        <p:nvSpPr>
          <p:cNvPr id="52" name="Shape 50"/>
          <p:cNvSpPr/>
          <p:nvPr/>
        </p:nvSpPr>
        <p:spPr>
          <a:xfrm>
            <a:off x="6675120" y="2973771"/>
            <a:ext cx="247548" cy="2101149"/>
          </a:xfrm>
          <a:prstGeom prst="rect">
            <a:avLst/>
          </a:prstGeom>
          <a:solidFill>
            <a:srgbClr val="7D8AA0">
              <a:alpha val="75000"/>
            </a:srgbClr>
          </a:solidFill>
          <a:ln/>
        </p:spPr>
      </p:sp>
      <p:sp>
        <p:nvSpPr>
          <p:cNvPr id="53" name="Shape 51"/>
          <p:cNvSpPr/>
          <p:nvPr/>
        </p:nvSpPr>
        <p:spPr>
          <a:xfrm>
            <a:off x="6940956" y="2949400"/>
            <a:ext cx="247548" cy="2125520"/>
          </a:xfrm>
          <a:prstGeom prst="rect">
            <a:avLst/>
          </a:prstGeom>
          <a:solidFill>
            <a:srgbClr val="7D8AA0">
              <a:alpha val="75000"/>
            </a:srgbClr>
          </a:solidFill>
          <a:ln/>
        </p:spPr>
      </p:sp>
      <p:sp>
        <p:nvSpPr>
          <p:cNvPr id="54" name="Shape 52"/>
          <p:cNvSpPr/>
          <p:nvPr/>
        </p:nvSpPr>
        <p:spPr>
          <a:xfrm>
            <a:off x="7206793" y="2834640"/>
            <a:ext cx="247548" cy="2240280"/>
          </a:xfrm>
          <a:prstGeom prst="rect">
            <a:avLst/>
          </a:prstGeom>
          <a:solidFill>
            <a:srgbClr val="7D8AA0">
              <a:alpha val="75000"/>
            </a:srgbClr>
          </a:solidFill>
          <a:ln/>
        </p:spPr>
      </p:sp>
      <p:sp>
        <p:nvSpPr>
          <p:cNvPr id="55" name="Shape 53"/>
          <p:cNvSpPr/>
          <p:nvPr/>
        </p:nvSpPr>
        <p:spPr>
          <a:xfrm>
            <a:off x="7472629" y="2967951"/>
            <a:ext cx="247548" cy="2106969"/>
          </a:xfrm>
          <a:prstGeom prst="rect">
            <a:avLst/>
          </a:prstGeom>
          <a:solidFill>
            <a:srgbClr val="7D8AA0">
              <a:alpha val="75000"/>
            </a:srgbClr>
          </a:solidFill>
          <a:ln/>
        </p:spPr>
      </p:sp>
      <p:sp>
        <p:nvSpPr>
          <p:cNvPr id="56" name="Shape 54"/>
          <p:cNvSpPr/>
          <p:nvPr/>
        </p:nvSpPr>
        <p:spPr>
          <a:xfrm>
            <a:off x="7738466" y="3267128"/>
            <a:ext cx="247548" cy="1807792"/>
          </a:xfrm>
          <a:prstGeom prst="rect">
            <a:avLst/>
          </a:prstGeom>
          <a:solidFill>
            <a:srgbClr val="7D8AA0">
              <a:alpha val="75000"/>
            </a:srgbClr>
          </a:solidFill>
          <a:ln/>
        </p:spPr>
      </p:sp>
      <p:sp>
        <p:nvSpPr>
          <p:cNvPr id="57" name="Shape 55"/>
          <p:cNvSpPr/>
          <p:nvPr/>
        </p:nvSpPr>
        <p:spPr>
          <a:xfrm>
            <a:off x="8004302" y="3424082"/>
            <a:ext cx="247548" cy="1650838"/>
          </a:xfrm>
          <a:prstGeom prst="rect">
            <a:avLst/>
          </a:prstGeom>
          <a:solidFill>
            <a:srgbClr val="7D8AA0">
              <a:alpha val="75000"/>
            </a:srgbClr>
          </a:solidFill>
          <a:ln/>
        </p:spPr>
      </p:sp>
      <p:sp>
        <p:nvSpPr>
          <p:cNvPr id="58" name="Shape 56"/>
          <p:cNvSpPr/>
          <p:nvPr/>
        </p:nvSpPr>
        <p:spPr>
          <a:xfrm>
            <a:off x="8270138" y="3513926"/>
            <a:ext cx="247548" cy="1560994"/>
          </a:xfrm>
          <a:prstGeom prst="rect">
            <a:avLst/>
          </a:prstGeom>
          <a:solidFill>
            <a:srgbClr val="7D8AA0">
              <a:alpha val="75000"/>
            </a:srgbClr>
          </a:solidFill>
          <a:ln/>
        </p:spPr>
      </p:sp>
      <p:sp>
        <p:nvSpPr>
          <p:cNvPr id="59" name="Shape 57"/>
          <p:cNvSpPr/>
          <p:nvPr/>
        </p:nvSpPr>
        <p:spPr>
          <a:xfrm>
            <a:off x="8535975" y="3638507"/>
            <a:ext cx="247548" cy="1436413"/>
          </a:xfrm>
          <a:prstGeom prst="rect">
            <a:avLst/>
          </a:prstGeom>
          <a:solidFill>
            <a:srgbClr val="7D8AA0">
              <a:alpha val="75000"/>
            </a:srgbClr>
          </a:solidFill>
          <a:ln/>
        </p:spPr>
      </p:sp>
      <p:sp>
        <p:nvSpPr>
          <p:cNvPr id="60" name="Shape 58"/>
          <p:cNvSpPr/>
          <p:nvPr/>
        </p:nvSpPr>
        <p:spPr>
          <a:xfrm>
            <a:off x="8801811" y="4013160"/>
            <a:ext cx="247548" cy="1061760"/>
          </a:xfrm>
          <a:prstGeom prst="rect">
            <a:avLst/>
          </a:prstGeom>
          <a:solidFill>
            <a:srgbClr val="7D8AA0">
              <a:alpha val="75000"/>
            </a:srgbClr>
          </a:solidFill>
          <a:ln/>
        </p:spPr>
      </p:sp>
      <p:sp>
        <p:nvSpPr>
          <p:cNvPr id="61" name="Shape 59"/>
          <p:cNvSpPr/>
          <p:nvPr/>
        </p:nvSpPr>
        <p:spPr>
          <a:xfrm>
            <a:off x="9067648" y="4331252"/>
            <a:ext cx="247548" cy="743668"/>
          </a:xfrm>
          <a:prstGeom prst="rect">
            <a:avLst/>
          </a:prstGeom>
          <a:solidFill>
            <a:srgbClr val="7D8AA0">
              <a:alpha val="75000"/>
            </a:srgbClr>
          </a:solidFill>
          <a:ln/>
        </p:spPr>
      </p:sp>
      <p:sp>
        <p:nvSpPr>
          <p:cNvPr id="62" name="Shape 60"/>
          <p:cNvSpPr/>
          <p:nvPr/>
        </p:nvSpPr>
        <p:spPr>
          <a:xfrm>
            <a:off x="9333484" y="4469655"/>
            <a:ext cx="201903" cy="605265"/>
          </a:xfrm>
          <a:prstGeom prst="rect">
            <a:avLst/>
          </a:prstGeom>
          <a:solidFill>
            <a:srgbClr val="7D8AA0">
              <a:alpha val="75000"/>
            </a:srgbClr>
          </a:solidFill>
          <a:ln/>
        </p:spPr>
      </p:sp>
      <p:sp>
        <p:nvSpPr>
          <p:cNvPr id="63" name="Shape 61"/>
          <p:cNvSpPr/>
          <p:nvPr/>
        </p:nvSpPr>
        <p:spPr>
          <a:xfrm>
            <a:off x="9535387" y="4469655"/>
            <a:ext cx="45646" cy="605265"/>
          </a:xfrm>
          <a:prstGeom prst="rect">
            <a:avLst/>
          </a:prstGeom>
          <a:solidFill>
            <a:srgbClr val="F2C14E">
              <a:alpha val="80000"/>
            </a:srgbClr>
          </a:solidFill>
          <a:ln/>
        </p:spPr>
      </p:sp>
      <p:sp>
        <p:nvSpPr>
          <p:cNvPr id="64" name="Shape 62"/>
          <p:cNvSpPr/>
          <p:nvPr/>
        </p:nvSpPr>
        <p:spPr>
          <a:xfrm>
            <a:off x="9599320" y="4652435"/>
            <a:ext cx="247548" cy="422485"/>
          </a:xfrm>
          <a:prstGeom prst="rect">
            <a:avLst/>
          </a:prstGeom>
          <a:solidFill>
            <a:srgbClr val="F2C14E">
              <a:alpha val="80000"/>
            </a:srgbClr>
          </a:solidFill>
          <a:ln/>
        </p:spPr>
      </p:sp>
      <p:sp>
        <p:nvSpPr>
          <p:cNvPr id="65" name="Shape 63"/>
          <p:cNvSpPr/>
          <p:nvPr/>
        </p:nvSpPr>
        <p:spPr>
          <a:xfrm>
            <a:off x="9865157" y="4862859"/>
            <a:ext cx="247548" cy="212061"/>
          </a:xfrm>
          <a:prstGeom prst="rect">
            <a:avLst/>
          </a:prstGeom>
          <a:solidFill>
            <a:srgbClr val="F2C14E">
              <a:alpha val="80000"/>
            </a:srgbClr>
          </a:solidFill>
          <a:ln/>
        </p:spPr>
      </p:sp>
      <p:sp>
        <p:nvSpPr>
          <p:cNvPr id="66" name="Shape 64"/>
          <p:cNvSpPr/>
          <p:nvPr/>
        </p:nvSpPr>
        <p:spPr>
          <a:xfrm>
            <a:off x="10130993" y="5001990"/>
            <a:ext cx="247548" cy="72930"/>
          </a:xfrm>
          <a:prstGeom prst="rect">
            <a:avLst/>
          </a:prstGeom>
          <a:solidFill>
            <a:srgbClr val="F2C14E">
              <a:alpha val="80000"/>
            </a:srgbClr>
          </a:solidFill>
          <a:ln/>
        </p:spPr>
      </p:sp>
      <p:sp>
        <p:nvSpPr>
          <p:cNvPr id="67" name="Shape 65"/>
          <p:cNvSpPr/>
          <p:nvPr/>
        </p:nvSpPr>
        <p:spPr>
          <a:xfrm>
            <a:off x="10396830" y="5047821"/>
            <a:ext cx="247548" cy="27099"/>
          </a:xfrm>
          <a:prstGeom prst="rect">
            <a:avLst/>
          </a:prstGeom>
          <a:solidFill>
            <a:srgbClr val="F2C14E">
              <a:alpha val="80000"/>
            </a:srgbClr>
          </a:solidFill>
          <a:ln/>
        </p:spPr>
      </p:sp>
      <p:sp>
        <p:nvSpPr>
          <p:cNvPr id="68" name="Shape 66"/>
          <p:cNvSpPr/>
          <p:nvPr/>
        </p:nvSpPr>
        <p:spPr>
          <a:xfrm>
            <a:off x="10662666" y="5065281"/>
            <a:ext cx="247548" cy="9639"/>
          </a:xfrm>
          <a:prstGeom prst="rect">
            <a:avLst/>
          </a:prstGeom>
          <a:solidFill>
            <a:srgbClr val="F2C14E">
              <a:alpha val="80000"/>
            </a:srgbClr>
          </a:solidFill>
          <a:ln/>
        </p:spPr>
      </p:sp>
      <p:sp>
        <p:nvSpPr>
          <p:cNvPr id="69" name="Shape 67"/>
          <p:cNvSpPr/>
          <p:nvPr/>
        </p:nvSpPr>
        <p:spPr>
          <a:xfrm>
            <a:off x="10928502" y="5072919"/>
            <a:ext cx="247548" cy="2001"/>
          </a:xfrm>
          <a:prstGeom prst="rect">
            <a:avLst/>
          </a:prstGeom>
          <a:solidFill>
            <a:srgbClr val="F2C14E">
              <a:alpha val="80000"/>
            </a:srgbClr>
          </a:solidFill>
          <a:ln/>
        </p:spPr>
      </p:sp>
      <p:sp>
        <p:nvSpPr>
          <p:cNvPr id="70" name="Shape 68"/>
          <p:cNvSpPr/>
          <p:nvPr/>
        </p:nvSpPr>
        <p:spPr>
          <a:xfrm>
            <a:off x="11194339" y="5074738"/>
            <a:ext cx="247548" cy="182"/>
          </a:xfrm>
          <a:prstGeom prst="rect">
            <a:avLst/>
          </a:prstGeom>
          <a:solidFill>
            <a:srgbClr val="F2C14E">
              <a:alpha val="80000"/>
            </a:srgbClr>
          </a:solidFill>
          <a:ln/>
        </p:spPr>
      </p:sp>
      <p:sp>
        <p:nvSpPr>
          <p:cNvPr id="71" name="Shape 69"/>
          <p:cNvSpPr/>
          <p:nvPr/>
        </p:nvSpPr>
        <p:spPr>
          <a:xfrm>
            <a:off x="6675120" y="5074920"/>
            <a:ext cx="4785055" cy="0"/>
          </a:xfrm>
          <a:prstGeom prst="line">
            <a:avLst/>
          </a:prstGeom>
          <a:noFill/>
          <a:ln w="9525">
            <a:solidFill>
              <a:srgbClr val="9AA6B6"/>
            </a:solidFill>
            <a:prstDash val="solid"/>
          </a:ln>
        </p:spPr>
      </p:sp>
      <p:sp>
        <p:nvSpPr>
          <p:cNvPr id="72" name="Text 70"/>
          <p:cNvSpPr txBox="1"/>
          <p:nvPr/>
        </p:nvSpPr>
        <p:spPr>
          <a:xfrm>
            <a:off x="6309360"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73" name="Text 71"/>
          <p:cNvSpPr txBox="1"/>
          <p:nvPr/>
        </p:nvSpPr>
        <p:spPr>
          <a:xfrm>
            <a:off x="7638542"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 HV</a:t>
            </a:r>
            <a:endParaRPr lang="en-US" sz="1000" dirty="0"/>
          </a:p>
        </p:txBody>
      </p:sp>
      <p:sp>
        <p:nvSpPr>
          <p:cNvPr id="74" name="Text 72"/>
          <p:cNvSpPr txBox="1"/>
          <p:nvPr/>
        </p:nvSpPr>
        <p:spPr>
          <a:xfrm>
            <a:off x="8967724"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 HV</a:t>
            </a:r>
            <a:endParaRPr lang="en-US" sz="1000" dirty="0"/>
          </a:p>
        </p:txBody>
      </p:sp>
      <p:sp>
        <p:nvSpPr>
          <p:cNvPr id="75" name="Text 73"/>
          <p:cNvSpPr txBox="1"/>
          <p:nvPr/>
        </p:nvSpPr>
        <p:spPr>
          <a:xfrm>
            <a:off x="10296906"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30k HV</a:t>
            </a:r>
            <a:endParaRPr lang="en-US" sz="1000" dirty="0"/>
          </a:p>
        </p:txBody>
      </p:sp>
      <p:sp>
        <p:nvSpPr>
          <p:cNvPr id="76" name="Shape 74"/>
          <p:cNvSpPr/>
          <p:nvPr/>
        </p:nvSpPr>
        <p:spPr>
          <a:xfrm>
            <a:off x="9535387" y="2697480"/>
            <a:ext cx="0" cy="2377440"/>
          </a:xfrm>
          <a:prstGeom prst="line">
            <a:avLst/>
          </a:prstGeom>
          <a:noFill/>
          <a:ln w="22225">
            <a:solidFill>
              <a:srgbClr val="F2C14E"/>
            </a:solidFill>
            <a:prstDash val="solid"/>
          </a:ln>
        </p:spPr>
      </p:sp>
      <p:sp>
        <p:nvSpPr>
          <p:cNvPr id="77" name="Text 75"/>
          <p:cNvSpPr txBox="1"/>
          <p:nvPr/>
        </p:nvSpPr>
        <p:spPr>
          <a:xfrm>
            <a:off x="9608539" y="2679192"/>
            <a:ext cx="210312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observed: 21,519 HV</a:t>
            </a:r>
            <a:endParaRPr lang="en-US" sz="1200" dirty="0"/>
          </a:p>
        </p:txBody>
      </p:sp>
      <p:sp>
        <p:nvSpPr>
          <p:cNvPr id="78" name="Text 76"/>
          <p:cNvSpPr txBox="1"/>
          <p:nvPr/>
        </p:nvSpPr>
        <p:spPr>
          <a:xfrm>
            <a:off x="9608539" y="2944368"/>
            <a:ext cx="1833348" cy="566928"/>
          </a:xfrm>
          <a:prstGeom prst="rect">
            <a:avLst/>
          </a:prstGeom>
          <a:noFill/>
          <a:ln/>
        </p:spPr>
        <p:txBody>
          <a:bodyPr wrap="square" lIns="0" tIns="0" rIns="0" bIns="0" rtlCol="0" anchor="t"/>
          <a:lstStyle/>
          <a:p>
            <a:pPr indent="0" marL="0">
              <a:buNone/>
            </a:pPr>
            <a:r>
              <a:rPr lang="en-US" sz="1100" dirty="0">
                <a:solidFill>
                  <a:srgbClr val="F2C14E"/>
                </a:solidFill>
                <a:latin typeface="Calibri" pitchFamily="34" charset="0"/>
                <a:ea typeface="Calibri" pitchFamily="34" charset="-122"/>
                <a:cs typeface="Calibri" pitchFamily="34" charset="-120"/>
              </a:rPr>
              <a:t>only 4.6% of 100,000 reshuffles move the total this far</a:t>
            </a:r>
            <a:endParaRPr lang="en-US" sz="1100" dirty="0"/>
          </a:p>
        </p:txBody>
      </p:sp>
      <p:sp>
        <p:nvSpPr>
          <p:cNvPr id="79" name="Text 77"/>
          <p:cNvSpPr txBox="1"/>
          <p:nvPr/>
        </p:nvSpPr>
        <p:spPr>
          <a:xfrm>
            <a:off x="6583680" y="5376672"/>
            <a:ext cx="4967935"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|change in the ten-instance total| when each instance’s six seeds are reshuffled between the two runs</a:t>
            </a:r>
            <a:endParaRPr lang="en-US" sz="1050" dirty="0"/>
          </a:p>
        </p:txBody>
      </p:sp>
      <p:sp>
        <p:nvSpPr>
          <p:cNvPr id="80" name="Text 78"/>
          <p:cNvSpPr txBox="1"/>
          <p:nvPr/>
        </p:nvSpPr>
        <p:spPr>
          <a:xfrm>
            <a:off x="640080" y="5925312"/>
            <a:ext cx="10911535" cy="475488"/>
          </a:xfrm>
          <a:prstGeom prst="rect">
            <a:avLst/>
          </a:prstGeom>
          <a:noFill/>
          <a:ln/>
        </p:spPr>
        <p:txBody>
          <a:bodyPr wrap="square" lIns="0" tIns="0" rIns="0" bIns="0" rtlCol="0" anchor="t"/>
          <a:lstStyle/>
          <a:p>
            <a:pPr indent="0" marL="0">
              <a:buNone/>
            </a:pPr>
            <a:r>
              <a:rPr lang="en-US" sz="1300" i="1" dirty="0">
                <a:solidFill>
                  <a:srgbClr val="E8ECF2"/>
                </a:solidFill>
                <a:latin typeface="Century Schoolbook" pitchFamily="34" charset="0"/>
                <a:ea typeface="Century Schoolbook" pitchFamily="34" charset="-122"/>
                <a:cs typeface="Century Schoolbook" pitchFamily="34" charset="-120"/>
              </a:rPr>
              <a:t>Noise depends on the method and the instance: three-seed spreads range from 9 HV to 281,976 HV, so no single threshold can judge every row.</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Protocol details, and what the protocol does not control</a:t>
            </a:r>
            <a:endParaRPr lang="en-US" sz="2700" dirty="0"/>
          </a:p>
        </p:txBody>
      </p:sp>
      <p:sp>
        <p:nvSpPr>
          <p:cNvPr id="4" name="Text 2"/>
          <p:cNvSpPr txBox="1"/>
          <p:nvPr/>
        </p:nvSpPr>
        <p:spPr>
          <a:xfrm>
            <a:off x="640080" y="1810512"/>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Budget</a:t>
            </a:r>
            <a:endParaRPr lang="en-US" sz="1400" dirty="0"/>
          </a:p>
        </p:txBody>
      </p:sp>
      <p:sp>
        <p:nvSpPr>
          <p:cNvPr id="5" name="Text 3"/>
          <p:cNvSpPr txBox="1"/>
          <p:nvPr/>
        </p:nvSpPr>
        <p:spPr>
          <a:xfrm>
            <a:off x="2834640" y="181051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1,200 s wall-clock per run, three seeds, ten instances. Four runs fell outside 1,150–1,400 s after machine stalls; none of them supplies a best-of-3 value.</a:t>
            </a:r>
            <a:endParaRPr lang="en-US" sz="1300" dirty="0"/>
          </a:p>
        </p:txBody>
      </p:sp>
      <p:sp>
        <p:nvSpPr>
          <p:cNvPr id="6" name="Shape 4"/>
          <p:cNvSpPr/>
          <p:nvPr/>
        </p:nvSpPr>
        <p:spPr>
          <a:xfrm>
            <a:off x="640080" y="2432304"/>
            <a:ext cx="10911535" cy="0"/>
          </a:xfrm>
          <a:prstGeom prst="line">
            <a:avLst/>
          </a:prstGeom>
          <a:noFill/>
          <a:ln w="6350">
            <a:solidFill>
              <a:srgbClr val="2A3546"/>
            </a:solidFill>
            <a:prstDash val="solid"/>
          </a:ln>
        </p:spPr>
      </p:sp>
      <p:sp>
        <p:nvSpPr>
          <p:cNvPr id="7" name="Text 5"/>
          <p:cNvSpPr txBox="1"/>
          <p:nvPr/>
        </p:nvSpPr>
        <p:spPr>
          <a:xfrm>
            <a:off x="640080" y="2523744"/>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Hardware</a:t>
            </a:r>
            <a:endParaRPr lang="en-US" sz="1400" dirty="0"/>
          </a:p>
        </p:txBody>
      </p:sp>
      <p:sp>
        <p:nvSpPr>
          <p:cNvPr id="8" name="Text 6"/>
          <p:cNvSpPr txBox="1"/>
          <p:nvPr/>
        </p:nvSpPr>
        <p:spPr>
          <a:xfrm>
            <a:off x="2834640" y="2523744"/>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Team HRI and Hill-Climbing on one pinned CPU core each. Spacekangaroos with its own CUDA code on a Kaggle T4, batch 1,024 (512 at n = 2,426).</a:t>
            </a:r>
            <a:endParaRPr lang="en-US" sz="1300" dirty="0"/>
          </a:p>
        </p:txBody>
      </p:sp>
      <p:sp>
        <p:nvSpPr>
          <p:cNvPr id="9" name="Shape 7"/>
          <p:cNvSpPr/>
          <p:nvPr/>
        </p:nvSpPr>
        <p:spPr>
          <a:xfrm>
            <a:off x="640080" y="3145536"/>
            <a:ext cx="10911535" cy="0"/>
          </a:xfrm>
          <a:prstGeom prst="line">
            <a:avLst/>
          </a:prstGeom>
          <a:noFill/>
          <a:ln w="6350">
            <a:solidFill>
              <a:srgbClr val="2A3546"/>
            </a:solidFill>
            <a:prstDash val="solid"/>
          </a:ln>
        </p:spPr>
      </p:sp>
      <p:sp>
        <p:nvSpPr>
          <p:cNvPr id="10" name="Text 8"/>
          <p:cNvSpPr txBox="1"/>
          <p:nvPr/>
        </p:nvSpPr>
        <p:spPr>
          <a:xfrm>
            <a:off x="640080" y="3236976"/>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Implementations</a:t>
            </a:r>
            <a:endParaRPr lang="en-US" sz="1400" dirty="0"/>
          </a:p>
        </p:txBody>
      </p:sp>
      <p:sp>
        <p:nvSpPr>
          <p:cNvPr id="11" name="Text 9"/>
          <p:cNvSpPr txBox="1"/>
          <p:nvPr/>
        </p:nvSpPr>
        <p:spPr>
          <a:xfrm>
            <a:off x="2834640" y="3236976"/>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ported from the fast-cma-es approach; Team HRI re-implemented from its paper, as no code was published; Spacekangaroos run as published, plus a 32-bit overflow fix.</a:t>
            </a:r>
            <a:endParaRPr lang="en-US" sz="1300" dirty="0"/>
          </a:p>
        </p:txBody>
      </p:sp>
      <p:sp>
        <p:nvSpPr>
          <p:cNvPr id="12" name="Shape 10"/>
          <p:cNvSpPr/>
          <p:nvPr/>
        </p:nvSpPr>
        <p:spPr>
          <a:xfrm>
            <a:off x="640080" y="3858768"/>
            <a:ext cx="10911535" cy="0"/>
          </a:xfrm>
          <a:prstGeom prst="line">
            <a:avLst/>
          </a:prstGeom>
          <a:noFill/>
          <a:ln w="6350">
            <a:solidFill>
              <a:srgbClr val="2A3546"/>
            </a:solidFill>
            <a:prstDash val="solid"/>
          </a:ln>
        </p:spPr>
      </p:sp>
      <p:sp>
        <p:nvSpPr>
          <p:cNvPr id="13" name="Text 11"/>
          <p:cNvSpPr txBox="1"/>
          <p:nvPr/>
        </p:nvSpPr>
        <p:spPr>
          <a:xfrm>
            <a:off x="640080" y="3950208"/>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Starts</a:t>
            </a:r>
            <a:endParaRPr lang="en-US" sz="1400" dirty="0"/>
          </a:p>
        </p:txBody>
      </p:sp>
      <p:sp>
        <p:nvSpPr>
          <p:cNvPr id="14" name="Text 12"/>
          <p:cNvSpPr txBox="1"/>
          <p:nvPr/>
        </p:nvSpPr>
        <p:spPr>
          <a:xfrm>
            <a:off x="2834640" y="3950208"/>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Both ordering-based searches start from the same min-degree construction, computed afresh inside every run.</a:t>
            </a:r>
            <a:endParaRPr lang="en-US" sz="1300" dirty="0"/>
          </a:p>
        </p:txBody>
      </p:sp>
      <p:sp>
        <p:nvSpPr>
          <p:cNvPr id="15" name="Shape 13"/>
          <p:cNvSpPr/>
          <p:nvPr/>
        </p:nvSpPr>
        <p:spPr>
          <a:xfrm>
            <a:off x="640080" y="4572000"/>
            <a:ext cx="10911535" cy="0"/>
          </a:xfrm>
          <a:prstGeom prst="line">
            <a:avLst/>
          </a:prstGeom>
          <a:noFill/>
          <a:ln w="6350">
            <a:solidFill>
              <a:srgbClr val="2A3546"/>
            </a:solidFill>
            <a:prstDash val="solid"/>
          </a:ln>
        </p:spPr>
      </p:sp>
      <p:sp>
        <p:nvSpPr>
          <p:cNvPr id="16" name="Text 14"/>
          <p:cNvSpPr txBox="1"/>
          <p:nvPr/>
        </p:nvSpPr>
        <p:spPr>
          <a:xfrm>
            <a:off x="640080" y="4663440"/>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Scoring</a:t>
            </a:r>
            <a:endParaRPr lang="en-US" sz="1400" dirty="0"/>
          </a:p>
        </p:txBody>
      </p:sp>
      <p:sp>
        <p:nvSpPr>
          <p:cNvPr id="17" name="Text 15"/>
          <p:cNvSpPr txBox="1"/>
          <p:nvPr/>
        </p:nvSpPr>
        <p:spPr>
          <a:xfrm>
            <a:off x="2834640" y="4663440"/>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Every answer re-scored by esa_eval.py. ESA’s own evaluation code, run beside it, agrees on all ten instances: 220 orderings, 2,000 hypervolumes, the min-degree ×8 column. ESA scores an over-cap vector as width 501; this harness discards the submission.</a:t>
            </a:r>
            <a:endParaRPr lang="en-US" sz="1300" dirty="0"/>
          </a:p>
        </p:txBody>
      </p:sp>
      <p:sp>
        <p:nvSpPr>
          <p:cNvPr id="18" name="Shape 16"/>
          <p:cNvSpPr/>
          <p:nvPr/>
        </p:nvSpPr>
        <p:spPr>
          <a:xfrm>
            <a:off x="640080" y="5285232"/>
            <a:ext cx="10911535" cy="0"/>
          </a:xfrm>
          <a:prstGeom prst="line">
            <a:avLst/>
          </a:prstGeom>
          <a:noFill/>
          <a:ln w="6350">
            <a:solidFill>
              <a:srgbClr val="2A3546"/>
            </a:solidFill>
            <a:prstDash val="solid"/>
          </a:ln>
        </p:spPr>
      </p:sp>
      <p:sp>
        <p:nvSpPr>
          <p:cNvPr id="19" name="Text 17"/>
          <p:cNvSpPr txBox="1"/>
          <p:nvPr/>
        </p:nvSpPr>
        <p:spPr>
          <a:xfrm>
            <a:off x="640080" y="5376672"/>
            <a:ext cx="2011680" cy="548640"/>
          </a:xfrm>
          <a:prstGeom prst="rect">
            <a:avLst/>
          </a:prstGeom>
          <a:noFill/>
          <a:ln/>
        </p:spPr>
        <p:txBody>
          <a:bodyPr wrap="square" lIns="0" tIns="0" rIns="0" bIns="0" rtlCol="0" anchor="t"/>
          <a:lstStyle/>
          <a:p>
            <a:pPr indent="0" marL="0">
              <a:buNone/>
            </a:pPr>
            <a:r>
              <a:rPr lang="en-US" sz="1400" b="1" dirty="0">
                <a:solidFill>
                  <a:srgbClr val="F2C14E"/>
                </a:solidFill>
                <a:latin typeface="Calibri" pitchFamily="34" charset="0"/>
                <a:ea typeface="Calibri" pitchFamily="34" charset="-122"/>
                <a:cs typeface="Calibri" pitchFamily="34" charset="-120"/>
              </a:rPr>
              <a:t>Not controlled</a:t>
            </a:r>
            <a:endParaRPr lang="en-US" sz="1400" dirty="0"/>
          </a:p>
        </p:txBody>
      </p:sp>
      <p:sp>
        <p:nvSpPr>
          <p:cNvPr id="20" name="Text 18"/>
          <p:cNvSpPr txBox="1"/>
          <p:nvPr/>
        </p:nvSpPr>
        <p:spPr>
          <a:xfrm>
            <a:off x="2834640" y="537667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Best of three favours noisy methods, hence the seed-level verdicts. Three seeds per cell. The dense family is three variants of one graph.</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upper bound in detail</a:t>
            </a:r>
            <a:endParaRPr lang="en-US" sz="2700" dirty="0"/>
          </a:p>
        </p:txBody>
      </p:sp>
      <p:sp>
        <p:nvSpPr>
          <p:cNvPr id="4" name="Shape 2"/>
          <p:cNvSpPr/>
          <p:nvPr/>
        </p:nvSpPr>
        <p:spPr>
          <a:xfrm>
            <a:off x="640080" y="1783080"/>
            <a:ext cx="5166360" cy="2514600"/>
          </a:xfrm>
          <a:prstGeom prst="rect">
            <a:avLst/>
          </a:prstGeom>
          <a:solidFill>
            <a:srgbClr val="131B28"/>
          </a:solidFill>
          <a:ln/>
        </p:spPr>
      </p:sp>
      <p:sp>
        <p:nvSpPr>
          <p:cNvPr id="5" name="Text 3"/>
          <p:cNvSpPr txBox="1"/>
          <p:nvPr/>
        </p:nvSpPr>
        <p:spPr>
          <a:xfrm>
            <a:off x="868680" y="1920240"/>
            <a:ext cx="2743200"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LEMMA</a:t>
            </a:r>
            <a:endParaRPr lang="en-US" sz="1050" dirty="0"/>
          </a:p>
        </p:txBody>
      </p:sp>
      <p:sp>
        <p:nvSpPr>
          <p:cNvPr id="6" name="Text 4"/>
          <p:cNvSpPr txBox="1"/>
          <p:nvPr/>
        </p:nvSpPr>
        <p:spPr>
          <a:xfrm>
            <a:off x="868680" y="2212848"/>
            <a:ext cx="4709160" cy="114300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Eliminate any set </a:t>
            </a:r>
            <a:r>
              <a:rPr lang="en-US" sz="1450" i="1" dirty="0">
                <a:solidFill>
                  <a:srgbClr val="E8ECF2"/>
                </a:solidFill>
                <a:latin typeface="Century Schoolbook" pitchFamily="34" charset="0"/>
                <a:ea typeface="Century Schoolbook" pitchFamily="34" charset="-122"/>
                <a:cs typeface="Century Schoolbook" pitchFamily="34" charset="-120"/>
              </a:rPr>
              <a:t>S</a:t>
            </a:r>
            <a:r>
              <a:rPr lang="en-US" sz="1450" dirty="0">
                <a:solidFill>
                  <a:srgbClr val="E8ECF2"/>
                </a:solidFill>
                <a:latin typeface="Century Schoolbook" pitchFamily="34" charset="0"/>
                <a:ea typeface="Century Schoolbook" pitchFamily="34" charset="-122"/>
                <a:cs typeface="Century Schoolbook" pitchFamily="34" charset="-120"/>
              </a:rPr>
              <a:t> of </a:t>
            </a:r>
            <a:r>
              <a:rPr lang="en-US" sz="1450" i="1" dirty="0">
                <a:solidFill>
                  <a:srgbClr val="E8ECF2"/>
                </a:solidFill>
                <a:latin typeface="Century Schoolbook" pitchFamily="34" charset="0"/>
                <a:ea typeface="Century Schoolbook" pitchFamily="34" charset="-122"/>
                <a:cs typeface="Century Schoolbook" pitchFamily="34" charset="-120"/>
              </a:rPr>
              <a:t>t</a:t>
            </a:r>
            <a:r>
              <a:rPr lang="en-US" sz="1450" dirty="0">
                <a:solidFill>
                  <a:srgbClr val="E8ECF2"/>
                </a:solidFill>
                <a:latin typeface="Century Schoolbook" pitchFamily="34" charset="0"/>
                <a:ea typeface="Century Schoolbook" pitchFamily="34" charset="-122"/>
                <a:cs typeface="Century Schoolbook" pitchFamily="34" charset="-120"/>
              </a:rPr>
              <a:t> vertices first. Adding </a:t>
            </a:r>
            <a:r>
              <a:rPr lang="en-US" sz="1450" i="1" dirty="0">
                <a:solidFill>
                  <a:srgbClr val="E8ECF2"/>
                </a:solidFill>
                <a:latin typeface="Century Schoolbook" pitchFamily="34" charset="0"/>
                <a:ea typeface="Century Schoolbook" pitchFamily="34" charset="-122"/>
                <a:cs typeface="Century Schoolbook" pitchFamily="34" charset="-120"/>
              </a:rPr>
              <a:t>S</a:t>
            </a:r>
            <a:r>
              <a:rPr lang="en-US" sz="1450" dirty="0">
                <a:solidFill>
                  <a:srgbClr val="E8ECF2"/>
                </a:solidFill>
                <a:latin typeface="Century Schoolbook" pitchFamily="34" charset="0"/>
                <a:ea typeface="Century Schoolbook" pitchFamily="34" charset="-122"/>
                <a:cs typeface="Century Schoolbook" pitchFamily="34" charset="-120"/>
              </a:rPr>
              <a:t> to every bag of a tree decomposition of the torso gives a tree decomposition of </a:t>
            </a:r>
            <a:r>
              <a:rPr lang="en-US" sz="1450" i="1" dirty="0">
                <a:solidFill>
                  <a:srgbClr val="E8ECF2"/>
                </a:solidFill>
                <a:latin typeface="Century Schoolbook" pitchFamily="34" charset="0"/>
                <a:ea typeface="Century Schoolbook" pitchFamily="34" charset="-122"/>
                <a:cs typeface="Century Schoolbook" pitchFamily="34" charset="-120"/>
              </a:rPr>
              <a:t>G</a:t>
            </a:r>
            <a:r>
              <a:rPr lang="en-US" sz="1450" dirty="0">
                <a:solidFill>
                  <a:srgbClr val="E8ECF2"/>
                </a:solidFill>
                <a:latin typeface="Century Schoolbook" pitchFamily="34" charset="0"/>
                <a:ea typeface="Century Schoolbook" pitchFamily="34" charset="-122"/>
                <a:cs typeface="Century Schoolbook" pitchFamily="34" charset="-120"/>
              </a:rPr>
              <a:t>, so</a:t>
            </a:r>
            <a:endParaRPr lang="en-US" sz="1450" dirty="0"/>
          </a:p>
        </p:txBody>
      </p:sp>
      <p:sp>
        <p:nvSpPr>
          <p:cNvPr id="7" name="Text 5"/>
          <p:cNvSpPr txBox="1"/>
          <p:nvPr/>
        </p:nvSpPr>
        <p:spPr>
          <a:xfrm>
            <a:off x="868680" y="3493008"/>
            <a:ext cx="4709160" cy="457200"/>
          </a:xfrm>
          <a:prstGeom prst="rect">
            <a:avLst/>
          </a:prstGeom>
          <a:noFill/>
          <a:ln/>
        </p:spPr>
        <p:txBody>
          <a:bodyPr wrap="square" lIns="0" tIns="0" rIns="0" bIns="0" rtlCol="0" anchor="t"/>
          <a:lstStyle/>
          <a:p>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tw(</a:t>
            </a:r>
            <a:r>
              <a:rPr lang="en-US" sz="1700" i="1" dirty="0">
                <a:solidFill>
                  <a:srgbClr val="FFFFFF"/>
                </a:solidFill>
                <a:latin typeface="Century Schoolbook" pitchFamily="34" charset="0"/>
                <a:ea typeface="Century Schoolbook" pitchFamily="34" charset="-122"/>
                <a:cs typeface="Century Schoolbook" pitchFamily="34" charset="-120"/>
              </a:rPr>
              <a:t>G</a:t>
            </a:r>
            <a:r>
              <a:rPr lang="en-US" sz="1700" dirty="0">
                <a:solidFill>
                  <a:srgbClr val="FFFFFF"/>
                </a:solidFill>
                <a:latin typeface="Century Schoolbook" pitchFamily="34" charset="0"/>
                <a:ea typeface="Century Schoolbook" pitchFamily="34" charset="-122"/>
                <a:cs typeface="Century Schoolbook" pitchFamily="34" charset="-120"/>
              </a:rPr>
              <a:t>) ≤ tw(torso) + </a:t>
            </a:r>
            <a:r>
              <a:rPr lang="en-US" sz="1700" i="1" dirty="0">
                <a:solidFill>
                  <a:srgbClr val="FFFFFF"/>
                </a:solidFill>
                <a:latin typeface="Century Schoolbook" pitchFamily="34" charset="0"/>
                <a:ea typeface="Century Schoolbook" pitchFamily="34" charset="-122"/>
                <a:cs typeface="Century Schoolbook" pitchFamily="34" charset="-120"/>
              </a:rPr>
              <a:t>t</a:t>
            </a:r>
            <a:r>
              <a:rPr lang="en-US" sz="1700" dirty="0">
                <a:solidFill>
                  <a:srgbClr val="FFFFFF"/>
                </a:solidFill>
                <a:latin typeface="Century Schoolbook" pitchFamily="34" charset="0"/>
                <a:ea typeface="Century Schoolbook" pitchFamily="34" charset="-122"/>
                <a:cs typeface="Century Schoolbook" pitchFamily="34" charset="-120"/>
              </a:rPr>
              <a:t>   ⟹   </a:t>
            </a:r>
            <a:r>
              <a:rPr lang="en-US" sz="1700" i="1" dirty="0">
                <a:solidFill>
                  <a:srgbClr val="FFFFFF"/>
                </a:solidFill>
                <a:latin typeface="Century Schoolbook" pitchFamily="34" charset="0"/>
                <a:ea typeface="Century Schoolbook" pitchFamily="34" charset="-122"/>
                <a:cs typeface="Century Schoolbook" pitchFamily="34" charset="-120"/>
              </a:rPr>
              <a:t>w</a:t>
            </a:r>
            <a:r>
              <a:rPr lang="en-US" sz="1700" dirty="0">
                <a:solidFill>
                  <a:srgbClr val="FFFFFF"/>
                </a:solidFill>
                <a:latin typeface="Century Schoolbook" pitchFamily="34" charset="0"/>
                <a:ea typeface="Century Schoolbook" pitchFamily="34" charset="-122"/>
                <a:cs typeface="Century Schoolbook" pitchFamily="34" charset="-120"/>
              </a:rPr>
              <a:t> ≥ tw(</a:t>
            </a:r>
            <a:r>
              <a:rPr lang="en-US" sz="1700" i="1" dirty="0">
                <a:solidFill>
                  <a:srgbClr val="FFFFFF"/>
                </a:solidFill>
                <a:latin typeface="Century Schoolbook" pitchFamily="34" charset="0"/>
                <a:ea typeface="Century Schoolbook" pitchFamily="34" charset="-122"/>
                <a:cs typeface="Century Schoolbook" pitchFamily="34" charset="-120"/>
              </a:rPr>
              <a:t>G</a:t>
            </a:r>
            <a:r>
              <a:rPr lang="en-US" sz="1700" dirty="0">
                <a:solidFill>
                  <a:srgbClr val="FFFFFF"/>
                </a:solidFill>
                <a:latin typeface="Century Schoolbook" pitchFamily="34" charset="0"/>
                <a:ea typeface="Century Schoolbook" pitchFamily="34" charset="-122"/>
                <a:cs typeface="Century Schoolbook" pitchFamily="34" charset="-120"/>
              </a:rPr>
              <a:t>) − </a:t>
            </a:r>
            <a:r>
              <a:rPr lang="en-US" sz="1700" i="1" dirty="0">
                <a:solidFill>
                  <a:srgbClr val="FFFFFF"/>
                </a:solidFill>
                <a:latin typeface="Century Schoolbook" pitchFamily="34" charset="0"/>
                <a:ea typeface="Century Schoolbook" pitchFamily="34" charset="-122"/>
                <a:cs typeface="Century Schoolbook" pitchFamily="34" charset="-120"/>
              </a:rPr>
              <a:t>t</a:t>
            </a:r>
            <a:endParaRPr lang="en-US" sz="1700" dirty="0"/>
          </a:p>
        </p:txBody>
      </p:sp>
      <p:sp>
        <p:nvSpPr>
          <p:cNvPr id="8" name="Text 6"/>
          <p:cNvSpPr txBox="1"/>
          <p:nvPr/>
        </p:nvSpPr>
        <p:spPr>
          <a:xfrm>
            <a:off x="640080" y="4526280"/>
            <a:ext cx="5166360" cy="118872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A cheap lower bound </a:t>
            </a:r>
            <a:r>
              <a:rPr lang="en-US" sz="1450" i="1" dirty="0">
                <a:solidFill>
                  <a:srgbClr val="E8ECF2"/>
                </a:solidFill>
                <a:latin typeface="Calibri" pitchFamily="34" charset="0"/>
                <a:ea typeface="Calibri" pitchFamily="34" charset="-122"/>
                <a:cs typeface="Calibri" pitchFamily="34" charset="-120"/>
              </a:rPr>
              <a:t>L</a:t>
            </a:r>
            <a:r>
              <a:rPr lang="en-US" sz="1450" dirty="0">
                <a:solidFill>
                  <a:srgbClr val="E8ECF2"/>
                </a:solidFill>
                <a:latin typeface="Calibri" pitchFamily="34" charset="0"/>
                <a:ea typeface="Calibri" pitchFamily="34" charset="-122"/>
                <a:cs typeface="Calibri" pitchFamily="34" charset="-120"/>
              </a:rPr>
              <a:t> ≤ tw(</a:t>
            </a:r>
            <a:r>
              <a:rPr lang="en-US" sz="1450" i="1" dirty="0">
                <a:solidFill>
                  <a:srgbClr val="E8ECF2"/>
                </a:solidFill>
                <a:latin typeface="Calibri" pitchFamily="34" charset="0"/>
                <a:ea typeface="Calibri" pitchFamily="34" charset="-122"/>
                <a:cs typeface="Calibri" pitchFamily="34" charset="-120"/>
              </a:rPr>
              <a:t>G</a:t>
            </a:r>
            <a:r>
              <a:rPr lang="en-US" sz="1450" dirty="0">
                <a:solidFill>
                  <a:srgbClr val="E8ECF2"/>
                </a:solidFill>
                <a:latin typeface="Calibri" pitchFamily="34" charset="0"/>
                <a:ea typeface="Calibri" pitchFamily="34" charset="-122"/>
                <a:cs typeface="Calibri" pitchFamily="34" charset="-120"/>
              </a:rPr>
              <a:t>) turns this into a wall </a:t>
            </a:r>
            <a:r>
              <a:rPr lang="en-US" sz="1450" i="1" dirty="0">
                <a:solidFill>
                  <a:srgbClr val="E8ECF2"/>
                </a:solidFill>
                <a:latin typeface="Calibri" pitchFamily="34" charset="0"/>
                <a:ea typeface="Calibri" pitchFamily="34" charset="-122"/>
                <a:cs typeface="Calibri" pitchFamily="34" charset="-120"/>
              </a:rPr>
              <a:t>w</a:t>
            </a:r>
            <a:r>
              <a:rPr lang="en-US" sz="1450" dirty="0">
                <a:solidFill>
                  <a:srgbClr val="E8ECF2"/>
                </a:solidFill>
                <a:latin typeface="Calibri" pitchFamily="34" charset="0"/>
                <a:ea typeface="Calibri" pitchFamily="34" charset="-122"/>
                <a:cs typeface="Calibri" pitchFamily="34" charset="-120"/>
              </a:rPr>
              <a:t> ≥ </a:t>
            </a:r>
            <a:r>
              <a:rPr lang="en-US" sz="1450" i="1" dirty="0">
                <a:solidFill>
                  <a:srgbClr val="E8ECF2"/>
                </a:solidFill>
                <a:latin typeface="Calibri" pitchFamily="34" charset="0"/>
                <a:ea typeface="Calibri" pitchFamily="34" charset="-122"/>
                <a:cs typeface="Calibri" pitchFamily="34" charset="-120"/>
              </a:rPr>
              <a:t>L</a:t>
            </a:r>
            <a:r>
              <a:rPr lang="en-US" sz="1450" dirty="0">
                <a:solidFill>
                  <a:srgbClr val="E8ECF2"/>
                </a:solidFill>
                <a:latin typeface="Calibri" pitchFamily="34" charset="0"/>
                <a:ea typeface="Calibri" pitchFamily="34" charset="-122"/>
                <a:cs typeface="Calibri" pitchFamily="34" charset="-120"/>
              </a:rPr>
              <a:t> − </a:t>
            </a:r>
            <a:r>
              <a:rPr lang="en-US" sz="1450" i="1" dirty="0">
                <a:solidFill>
                  <a:srgbClr val="E8ECF2"/>
                </a:solidFill>
                <a:latin typeface="Calibri" pitchFamily="34" charset="0"/>
                <a:ea typeface="Calibri" pitchFamily="34" charset="-122"/>
                <a:cs typeface="Calibri" pitchFamily="34" charset="-120"/>
              </a:rPr>
              <a:t>t</a:t>
            </a:r>
            <a:r>
              <a:rPr lang="en-US" sz="1450" dirty="0">
                <a:solidFill>
                  <a:srgbClr val="E8ECF2"/>
                </a:solidFill>
                <a:latin typeface="Calibri" pitchFamily="34" charset="0"/>
                <a:ea typeface="Calibri" pitchFamily="34" charset="-122"/>
                <a:cs typeface="Calibri" pitchFamily="34" charset="-120"/>
              </a:rPr>
              <a:t>. The best 20 points against that wall, found by dynamic programming, bound every possible submission.</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376672" cy="914400"/>
        </p:xfrm>
        <a:graphic>
          <a:graphicData uri="http://schemas.openxmlformats.org/drawingml/2006/table">
            <a:tbl>
              <a:tblPr/>
              <a:tblGrid>
                <a:gridCol w="1298448"/>
                <a:gridCol w="640080"/>
                <a:gridCol w="566928"/>
                <a:gridCol w="1024128"/>
                <a:gridCol w="1069848"/>
                <a:gridCol w="777240"/>
              </a:tblGrid>
              <a:tr h="402336">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instance</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tw ≥</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upper bound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best known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gap</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small-graph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1,357</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1,841,434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1,829,919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3DDC97"/>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medium-graph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1,955,110</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1,745,122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F2C14E"/>
                          </a:solidFill>
                          <a:latin typeface="Calibri" pitchFamily="34" charset="0"/>
                          <a:ea typeface="Calibri" pitchFamily="34" charset="-122"/>
                          <a:cs typeface="Calibri" pitchFamily="34" charset="-120"/>
                        </a:rPr>
                        <a:t>10.74%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large-graph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2,426</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499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5,754,421</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5,493,062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4.54%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10" name="Text 7"/>
          <p:cNvSpPr txBox="1"/>
          <p:nvPr/>
        </p:nvSpPr>
        <p:spPr>
          <a:xfrm>
            <a:off x="6172200" y="3657600"/>
            <a:ext cx="914400" cy="45720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sparse</a:t>
            </a:r>
            <a:endParaRPr lang="en-US" sz="1300" dirty="0"/>
          </a:p>
        </p:txBody>
      </p:sp>
      <p:sp>
        <p:nvSpPr>
          <p:cNvPr id="11" name="Text 8"/>
          <p:cNvSpPr txBox="1"/>
          <p:nvPr/>
        </p:nvSpPr>
        <p:spPr>
          <a:xfrm>
            <a:off x="7178040" y="3657600"/>
            <a:ext cx="437083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within 0.63% of the bound: practically solved</a:t>
            </a:r>
            <a:endParaRPr lang="en-US" sz="1300" dirty="0"/>
          </a:p>
        </p:txBody>
      </p:sp>
      <p:sp>
        <p:nvSpPr>
          <p:cNvPr id="12" name="Text 9"/>
          <p:cNvSpPr txBox="1"/>
          <p:nvPr/>
        </p:nvSpPr>
        <p:spPr>
          <a:xfrm>
            <a:off x="6172200" y="4279392"/>
            <a:ext cx="914400" cy="457200"/>
          </a:xfrm>
          <a:prstGeom prst="rect">
            <a:avLst/>
          </a:prstGeom>
          <a:noFill/>
          <a:ln/>
        </p:spPr>
        <p:txBody>
          <a:bodyPr wrap="square" lIns="0" tIns="0" rIns="0" bIns="0" rtlCol="0" anchor="t"/>
          <a:lstStyle/>
          <a:p>
            <a:pPr indent="0" marL="0">
              <a:buNone/>
            </a:pPr>
            <a:r>
              <a:rPr lang="en-US" sz="1300" b="1" dirty="0">
                <a:solidFill>
                  <a:srgbClr val="F2C14E"/>
                </a:solidFill>
                <a:latin typeface="Calibri" pitchFamily="34" charset="0"/>
                <a:ea typeface="Calibri" pitchFamily="34" charset="-122"/>
                <a:cs typeface="Calibri" pitchFamily="34" charset="-120"/>
              </a:rPr>
              <a:t>medium</a:t>
            </a:r>
            <a:endParaRPr lang="en-US" sz="1300" dirty="0"/>
          </a:p>
        </p:txBody>
      </p:sp>
      <p:sp>
        <p:nvSpPr>
          <p:cNvPr id="13" name="Text 10"/>
          <p:cNvSpPr txBox="1"/>
          <p:nvPr/>
        </p:nvSpPr>
        <p:spPr>
          <a:xfrm>
            <a:off x="7178040" y="4279392"/>
            <a:ext cx="437083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10.74%, mostly a loose bound: tw ≥ 63 removes only 2,091 of n² = 1,957,201</a:t>
            </a:r>
            <a:endParaRPr lang="en-US" sz="1300" dirty="0"/>
          </a:p>
        </p:txBody>
      </p:sp>
      <p:sp>
        <p:nvSpPr>
          <p:cNvPr id="14" name="Text 11"/>
          <p:cNvSpPr txBox="1"/>
          <p:nvPr/>
        </p:nvSpPr>
        <p:spPr>
          <a:xfrm>
            <a:off x="6172200" y="4901184"/>
            <a:ext cx="914400" cy="457200"/>
          </a:xfrm>
          <a:prstGeom prst="rect">
            <a:avLst/>
          </a:prstGeom>
          <a:noFill/>
          <a:ln/>
        </p:spPr>
        <p:txBody>
          <a:bodyPr wrap="square" lIns="0" tIns="0" rIns="0" bIns="0" rtlCol="0" anchor="t"/>
          <a:lstStyle/>
          <a:p>
            <a:pPr indent="0" marL="0">
              <a:buNone/>
            </a:pPr>
            <a:r>
              <a:rPr lang="en-US" sz="1300" b="1" dirty="0">
                <a:solidFill>
                  <a:srgbClr val="FF5A60"/>
                </a:solidFill>
                <a:latin typeface="Calibri" pitchFamily="34" charset="0"/>
                <a:ea typeface="Calibri" pitchFamily="34" charset="-122"/>
                <a:cs typeface="Calibri" pitchFamily="34" charset="-120"/>
              </a:rPr>
              <a:t>dense</a:t>
            </a:r>
            <a:endParaRPr lang="en-US" sz="1300" dirty="0"/>
          </a:p>
        </p:txBody>
      </p:sp>
      <p:sp>
        <p:nvSpPr>
          <p:cNvPr id="15" name="Text 12"/>
          <p:cNvSpPr txBox="1"/>
          <p:nvPr/>
        </p:nvSpPr>
        <p:spPr>
          <a:xfrm>
            <a:off x="7178040" y="4901184"/>
            <a:ext cx="437083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 planted 500-clique pins tw to 499–500, so 4.54% is real headroom</a:t>
            </a:r>
            <a:endParaRPr lang="en-US" sz="1300" dirty="0"/>
          </a:p>
        </p:txBody>
      </p:sp>
      <p:sp>
        <p:nvSpPr>
          <p:cNvPr id="16" name="Text 13"/>
          <p:cNvSpPr txBox="1"/>
          <p:nvPr/>
        </p:nvSpPr>
        <p:spPr>
          <a:xfrm>
            <a:off x="6172200" y="5669280"/>
            <a:ext cx="5376672" cy="45720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Best known = top of ESA’s leaderboard for each official instance (read 13 Oct 2026).</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Why a random start fails</a:t>
            </a:r>
            <a:endParaRPr lang="en-US" sz="2700" dirty="0"/>
          </a:p>
        </p:txBody>
      </p:sp>
      <p:sp>
        <p:nvSpPr>
          <p:cNvPr id="4" name="Text 2"/>
          <p:cNvSpPr txBox="1"/>
          <p:nvPr/>
        </p:nvSpPr>
        <p:spPr>
          <a:xfrm>
            <a:off x="640080" y="1783080"/>
            <a:ext cx="54864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LEGAL POINTS ON ONE ORDERING’S STAIRCASE</a:t>
            </a:r>
            <a:endParaRPr lang="en-US" sz="1050" dirty="0"/>
          </a:p>
        </p:txBody>
      </p:sp>
      <p:sp>
        <p:nvSpPr>
          <p:cNvPr id="5" name="Text 3"/>
          <p:cNvSpPr txBox="1"/>
          <p:nvPr/>
        </p:nvSpPr>
        <p:spPr>
          <a:xfrm>
            <a:off x="640080" y="219456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small-graph</a:t>
            </a:r>
            <a:endParaRPr lang="en-US" sz="1150" dirty="0"/>
          </a:p>
        </p:txBody>
      </p:sp>
      <p:sp>
        <p:nvSpPr>
          <p:cNvPr id="6" name="Shape 4"/>
          <p:cNvSpPr/>
          <p:nvPr/>
        </p:nvSpPr>
        <p:spPr>
          <a:xfrm>
            <a:off x="2057400" y="2212848"/>
            <a:ext cx="834481" cy="100584"/>
          </a:xfrm>
          <a:prstGeom prst="rect">
            <a:avLst/>
          </a:prstGeom>
          <a:solidFill>
            <a:srgbClr val="FF5A60"/>
          </a:solidFill>
          <a:ln/>
        </p:spPr>
      </p:sp>
      <p:sp>
        <p:nvSpPr>
          <p:cNvPr id="7" name="Shape 5"/>
          <p:cNvSpPr/>
          <p:nvPr/>
        </p:nvSpPr>
        <p:spPr>
          <a:xfrm>
            <a:off x="2057400" y="2331720"/>
            <a:ext cx="156911" cy="100584"/>
          </a:xfrm>
          <a:prstGeom prst="rect">
            <a:avLst/>
          </a:prstGeom>
          <a:solidFill>
            <a:srgbClr val="3DDC97"/>
          </a:solidFill>
          <a:ln/>
        </p:spPr>
      </p:sp>
      <p:sp>
        <p:nvSpPr>
          <p:cNvPr id="8" name="Text 6"/>
          <p:cNvSpPr txBox="1"/>
          <p:nvPr/>
        </p:nvSpPr>
        <p:spPr>
          <a:xfrm>
            <a:off x="2946745" y="2148840"/>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117</a:t>
            </a:r>
            <a:endParaRPr lang="en-US" sz="1000" dirty="0"/>
          </a:p>
        </p:txBody>
      </p:sp>
      <p:sp>
        <p:nvSpPr>
          <p:cNvPr id="9" name="Text 7"/>
          <p:cNvSpPr txBox="1"/>
          <p:nvPr/>
        </p:nvSpPr>
        <p:spPr>
          <a:xfrm>
            <a:off x="2269175" y="228600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22</a:t>
            </a:r>
            <a:endParaRPr lang="en-US" sz="1000" dirty="0"/>
          </a:p>
        </p:txBody>
      </p:sp>
      <p:sp>
        <p:nvSpPr>
          <p:cNvPr id="10" name="Text 8"/>
          <p:cNvSpPr txBox="1"/>
          <p:nvPr/>
        </p:nvSpPr>
        <p:spPr>
          <a:xfrm>
            <a:off x="640080" y="251917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synth-1</a:t>
            </a:r>
            <a:endParaRPr lang="en-US" sz="1150" dirty="0"/>
          </a:p>
        </p:txBody>
      </p:sp>
      <p:sp>
        <p:nvSpPr>
          <p:cNvPr id="11" name="Shape 9"/>
          <p:cNvSpPr/>
          <p:nvPr/>
        </p:nvSpPr>
        <p:spPr>
          <a:xfrm>
            <a:off x="2057400" y="2537460"/>
            <a:ext cx="1783080" cy="100584"/>
          </a:xfrm>
          <a:prstGeom prst="rect">
            <a:avLst/>
          </a:prstGeom>
          <a:solidFill>
            <a:srgbClr val="FF5A60"/>
          </a:solidFill>
          <a:ln/>
        </p:spPr>
      </p:sp>
      <p:sp>
        <p:nvSpPr>
          <p:cNvPr id="12" name="Shape 10"/>
          <p:cNvSpPr/>
          <p:nvPr/>
        </p:nvSpPr>
        <p:spPr>
          <a:xfrm>
            <a:off x="2057400" y="2656332"/>
            <a:ext cx="128382" cy="100584"/>
          </a:xfrm>
          <a:prstGeom prst="rect">
            <a:avLst/>
          </a:prstGeom>
          <a:solidFill>
            <a:srgbClr val="3DDC97"/>
          </a:solidFill>
          <a:ln/>
        </p:spPr>
      </p:sp>
      <p:sp>
        <p:nvSpPr>
          <p:cNvPr id="13" name="Text 11"/>
          <p:cNvSpPr txBox="1"/>
          <p:nvPr/>
        </p:nvSpPr>
        <p:spPr>
          <a:xfrm>
            <a:off x="3895344" y="2473452"/>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250</a:t>
            </a:r>
            <a:endParaRPr lang="en-US" sz="1000" dirty="0"/>
          </a:p>
        </p:txBody>
      </p:sp>
      <p:sp>
        <p:nvSpPr>
          <p:cNvPr id="14" name="Text 12"/>
          <p:cNvSpPr txBox="1"/>
          <p:nvPr/>
        </p:nvSpPr>
        <p:spPr>
          <a:xfrm>
            <a:off x="2240646" y="261061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18</a:t>
            </a:r>
            <a:endParaRPr lang="en-US" sz="1000" dirty="0"/>
          </a:p>
        </p:txBody>
      </p:sp>
      <p:sp>
        <p:nvSpPr>
          <p:cNvPr id="15" name="Text 13"/>
          <p:cNvSpPr txBox="1"/>
          <p:nvPr/>
        </p:nvSpPr>
        <p:spPr>
          <a:xfrm>
            <a:off x="640080" y="284378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synth-2</a:t>
            </a:r>
            <a:endParaRPr lang="en-US" sz="1150" dirty="0"/>
          </a:p>
        </p:txBody>
      </p:sp>
      <p:sp>
        <p:nvSpPr>
          <p:cNvPr id="16" name="Shape 14"/>
          <p:cNvSpPr/>
          <p:nvPr/>
        </p:nvSpPr>
        <p:spPr>
          <a:xfrm>
            <a:off x="2057400" y="2862072"/>
            <a:ext cx="2118299" cy="100584"/>
          </a:xfrm>
          <a:prstGeom prst="rect">
            <a:avLst/>
          </a:prstGeom>
          <a:solidFill>
            <a:srgbClr val="FF5A60"/>
          </a:solidFill>
          <a:ln/>
        </p:spPr>
      </p:sp>
      <p:sp>
        <p:nvSpPr>
          <p:cNvPr id="17" name="Shape 15"/>
          <p:cNvSpPr/>
          <p:nvPr/>
        </p:nvSpPr>
        <p:spPr>
          <a:xfrm>
            <a:off x="2057400" y="2980944"/>
            <a:ext cx="135514" cy="100584"/>
          </a:xfrm>
          <a:prstGeom prst="rect">
            <a:avLst/>
          </a:prstGeom>
          <a:solidFill>
            <a:srgbClr val="3DDC97"/>
          </a:solidFill>
          <a:ln/>
        </p:spPr>
      </p:sp>
      <p:sp>
        <p:nvSpPr>
          <p:cNvPr id="18" name="Text 16"/>
          <p:cNvSpPr txBox="1"/>
          <p:nvPr/>
        </p:nvSpPr>
        <p:spPr>
          <a:xfrm>
            <a:off x="4230563" y="2798064"/>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297</a:t>
            </a:r>
            <a:endParaRPr lang="en-US" sz="1000" dirty="0"/>
          </a:p>
        </p:txBody>
      </p:sp>
      <p:sp>
        <p:nvSpPr>
          <p:cNvPr id="19" name="Text 17"/>
          <p:cNvSpPr txBox="1"/>
          <p:nvPr/>
        </p:nvSpPr>
        <p:spPr>
          <a:xfrm>
            <a:off x="2247778" y="293522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0" name="Text 18"/>
          <p:cNvSpPr txBox="1"/>
          <p:nvPr/>
        </p:nvSpPr>
        <p:spPr>
          <a:xfrm>
            <a:off x="640080" y="316839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synth-3</a:t>
            </a:r>
            <a:endParaRPr lang="en-US" sz="1150" dirty="0"/>
          </a:p>
        </p:txBody>
      </p:sp>
      <p:sp>
        <p:nvSpPr>
          <p:cNvPr id="21" name="Shape 19"/>
          <p:cNvSpPr/>
          <p:nvPr/>
        </p:nvSpPr>
        <p:spPr>
          <a:xfrm>
            <a:off x="2057400" y="3186684"/>
            <a:ext cx="2104034" cy="100584"/>
          </a:xfrm>
          <a:prstGeom prst="rect">
            <a:avLst/>
          </a:prstGeom>
          <a:solidFill>
            <a:srgbClr val="FF5A60"/>
          </a:solidFill>
          <a:ln/>
        </p:spPr>
      </p:sp>
      <p:sp>
        <p:nvSpPr>
          <p:cNvPr id="22" name="Shape 20"/>
          <p:cNvSpPr/>
          <p:nvPr/>
        </p:nvSpPr>
        <p:spPr>
          <a:xfrm>
            <a:off x="2057400" y="3305556"/>
            <a:ext cx="135514" cy="100584"/>
          </a:xfrm>
          <a:prstGeom prst="rect">
            <a:avLst/>
          </a:prstGeom>
          <a:solidFill>
            <a:srgbClr val="3DDC97"/>
          </a:solidFill>
          <a:ln/>
        </p:spPr>
      </p:sp>
      <p:sp>
        <p:nvSpPr>
          <p:cNvPr id="23" name="Text 21"/>
          <p:cNvSpPr txBox="1"/>
          <p:nvPr/>
        </p:nvSpPr>
        <p:spPr>
          <a:xfrm>
            <a:off x="4216298" y="3122676"/>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295</a:t>
            </a:r>
            <a:endParaRPr lang="en-US" sz="1000" dirty="0"/>
          </a:p>
        </p:txBody>
      </p:sp>
      <p:sp>
        <p:nvSpPr>
          <p:cNvPr id="24" name="Text 22"/>
          <p:cNvSpPr txBox="1"/>
          <p:nvPr/>
        </p:nvSpPr>
        <p:spPr>
          <a:xfrm>
            <a:off x="2247778" y="325983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5" name="Text 23"/>
          <p:cNvSpPr txBox="1"/>
          <p:nvPr/>
        </p:nvSpPr>
        <p:spPr>
          <a:xfrm>
            <a:off x="640080" y="349300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medium-graph</a:t>
            </a:r>
            <a:endParaRPr lang="en-US" sz="1150" dirty="0"/>
          </a:p>
        </p:txBody>
      </p:sp>
      <p:sp>
        <p:nvSpPr>
          <p:cNvPr id="26" name="Shape 24"/>
          <p:cNvSpPr/>
          <p:nvPr/>
        </p:nvSpPr>
        <p:spPr>
          <a:xfrm>
            <a:off x="2057400" y="3630168"/>
            <a:ext cx="2032711" cy="100584"/>
          </a:xfrm>
          <a:prstGeom prst="rect">
            <a:avLst/>
          </a:prstGeom>
          <a:solidFill>
            <a:srgbClr val="3DDC97"/>
          </a:solidFill>
          <a:ln/>
        </p:spPr>
      </p:sp>
      <p:sp>
        <p:nvSpPr>
          <p:cNvPr id="27" name="Text 25"/>
          <p:cNvSpPr txBox="1"/>
          <p:nvPr/>
        </p:nvSpPr>
        <p:spPr>
          <a:xfrm>
            <a:off x="2112264" y="344728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28" name="Text 26"/>
          <p:cNvSpPr txBox="1"/>
          <p:nvPr/>
        </p:nvSpPr>
        <p:spPr>
          <a:xfrm>
            <a:off x="4144975" y="358444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285</a:t>
            </a:r>
            <a:endParaRPr lang="en-US" sz="1000" dirty="0"/>
          </a:p>
        </p:txBody>
      </p:sp>
      <p:sp>
        <p:nvSpPr>
          <p:cNvPr id="29" name="Text 27"/>
          <p:cNvSpPr txBox="1"/>
          <p:nvPr/>
        </p:nvSpPr>
        <p:spPr>
          <a:xfrm>
            <a:off x="640080" y="381762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synth-4</a:t>
            </a:r>
            <a:endParaRPr lang="en-US" sz="1150" dirty="0"/>
          </a:p>
        </p:txBody>
      </p:sp>
      <p:sp>
        <p:nvSpPr>
          <p:cNvPr id="30" name="Shape 28"/>
          <p:cNvSpPr/>
          <p:nvPr/>
        </p:nvSpPr>
        <p:spPr>
          <a:xfrm>
            <a:off x="2057400" y="3954780"/>
            <a:ext cx="2225284" cy="100584"/>
          </a:xfrm>
          <a:prstGeom prst="rect">
            <a:avLst/>
          </a:prstGeom>
          <a:solidFill>
            <a:srgbClr val="3DDC97"/>
          </a:solidFill>
          <a:ln/>
        </p:spPr>
      </p:sp>
      <p:sp>
        <p:nvSpPr>
          <p:cNvPr id="31" name="Text 29"/>
          <p:cNvSpPr txBox="1"/>
          <p:nvPr/>
        </p:nvSpPr>
        <p:spPr>
          <a:xfrm>
            <a:off x="2112264" y="3771900"/>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2" name="Text 30"/>
          <p:cNvSpPr txBox="1"/>
          <p:nvPr/>
        </p:nvSpPr>
        <p:spPr>
          <a:xfrm>
            <a:off x="4337548" y="390906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312</a:t>
            </a:r>
            <a:endParaRPr lang="en-US" sz="1000" dirty="0"/>
          </a:p>
        </p:txBody>
      </p:sp>
      <p:sp>
        <p:nvSpPr>
          <p:cNvPr id="33" name="Text 31"/>
          <p:cNvSpPr txBox="1"/>
          <p:nvPr/>
        </p:nvSpPr>
        <p:spPr>
          <a:xfrm>
            <a:off x="640080" y="414223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synth-5</a:t>
            </a:r>
            <a:endParaRPr lang="en-US" sz="1150" dirty="0"/>
          </a:p>
        </p:txBody>
      </p:sp>
      <p:sp>
        <p:nvSpPr>
          <p:cNvPr id="34" name="Shape 32"/>
          <p:cNvSpPr/>
          <p:nvPr/>
        </p:nvSpPr>
        <p:spPr>
          <a:xfrm>
            <a:off x="2057400" y="4279392"/>
            <a:ext cx="2489180" cy="100584"/>
          </a:xfrm>
          <a:prstGeom prst="rect">
            <a:avLst/>
          </a:prstGeom>
          <a:solidFill>
            <a:srgbClr val="3DDC97"/>
          </a:solidFill>
          <a:ln/>
        </p:spPr>
      </p:sp>
      <p:sp>
        <p:nvSpPr>
          <p:cNvPr id="35" name="Text 33"/>
          <p:cNvSpPr txBox="1"/>
          <p:nvPr/>
        </p:nvSpPr>
        <p:spPr>
          <a:xfrm>
            <a:off x="2112264" y="4096512"/>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6" name="Text 34"/>
          <p:cNvSpPr txBox="1"/>
          <p:nvPr/>
        </p:nvSpPr>
        <p:spPr>
          <a:xfrm>
            <a:off x="4601444" y="423367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349</a:t>
            </a:r>
            <a:endParaRPr lang="en-US" sz="1000" dirty="0"/>
          </a:p>
        </p:txBody>
      </p:sp>
      <p:sp>
        <p:nvSpPr>
          <p:cNvPr id="37" name="Text 35"/>
          <p:cNvSpPr txBox="1"/>
          <p:nvPr/>
        </p:nvSpPr>
        <p:spPr>
          <a:xfrm>
            <a:off x="640080" y="446684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large-graph</a:t>
            </a:r>
            <a:endParaRPr lang="en-US" sz="1150" dirty="0"/>
          </a:p>
        </p:txBody>
      </p:sp>
      <p:sp>
        <p:nvSpPr>
          <p:cNvPr id="38" name="Shape 36"/>
          <p:cNvSpPr/>
          <p:nvPr/>
        </p:nvSpPr>
        <p:spPr>
          <a:xfrm>
            <a:off x="2057400" y="4604004"/>
            <a:ext cx="3566160" cy="100584"/>
          </a:xfrm>
          <a:prstGeom prst="rect">
            <a:avLst/>
          </a:prstGeom>
          <a:solidFill>
            <a:srgbClr val="3DDC97"/>
          </a:solidFill>
          <a:ln/>
        </p:spPr>
      </p:sp>
      <p:sp>
        <p:nvSpPr>
          <p:cNvPr id="39" name="Text 37"/>
          <p:cNvSpPr txBox="1"/>
          <p:nvPr/>
        </p:nvSpPr>
        <p:spPr>
          <a:xfrm>
            <a:off x="2112264" y="4421124"/>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0" name="Text 38"/>
          <p:cNvSpPr txBox="1"/>
          <p:nvPr/>
        </p:nvSpPr>
        <p:spPr>
          <a:xfrm>
            <a:off x="5678424" y="455828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1" name="Text 39"/>
          <p:cNvSpPr txBox="1"/>
          <p:nvPr/>
        </p:nvSpPr>
        <p:spPr>
          <a:xfrm>
            <a:off x="640080" y="479145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synth-6</a:t>
            </a:r>
            <a:endParaRPr lang="en-US" sz="1150" dirty="0"/>
          </a:p>
        </p:txBody>
      </p:sp>
      <p:sp>
        <p:nvSpPr>
          <p:cNvPr id="42" name="Shape 40"/>
          <p:cNvSpPr/>
          <p:nvPr/>
        </p:nvSpPr>
        <p:spPr>
          <a:xfrm>
            <a:off x="2057400" y="4928616"/>
            <a:ext cx="3566160" cy="100584"/>
          </a:xfrm>
          <a:prstGeom prst="rect">
            <a:avLst/>
          </a:prstGeom>
          <a:solidFill>
            <a:srgbClr val="3DDC97"/>
          </a:solidFill>
          <a:ln/>
        </p:spPr>
      </p:sp>
      <p:sp>
        <p:nvSpPr>
          <p:cNvPr id="43" name="Text 41"/>
          <p:cNvSpPr txBox="1"/>
          <p:nvPr/>
        </p:nvSpPr>
        <p:spPr>
          <a:xfrm>
            <a:off x="2112264" y="4745736"/>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4" name="Text 42"/>
          <p:cNvSpPr txBox="1"/>
          <p:nvPr/>
        </p:nvSpPr>
        <p:spPr>
          <a:xfrm>
            <a:off x="5678424" y="488289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5" name="Text 43"/>
          <p:cNvSpPr txBox="1"/>
          <p:nvPr/>
        </p:nvSpPr>
        <p:spPr>
          <a:xfrm>
            <a:off x="640080" y="511606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synth-7</a:t>
            </a:r>
            <a:endParaRPr lang="en-US" sz="1150" dirty="0"/>
          </a:p>
        </p:txBody>
      </p:sp>
      <p:sp>
        <p:nvSpPr>
          <p:cNvPr id="46" name="Shape 44"/>
          <p:cNvSpPr/>
          <p:nvPr/>
        </p:nvSpPr>
        <p:spPr>
          <a:xfrm>
            <a:off x="2057400" y="5253228"/>
            <a:ext cx="3566160" cy="100584"/>
          </a:xfrm>
          <a:prstGeom prst="rect">
            <a:avLst/>
          </a:prstGeom>
          <a:solidFill>
            <a:srgbClr val="3DDC97"/>
          </a:solidFill>
          <a:ln/>
        </p:spPr>
      </p:sp>
      <p:sp>
        <p:nvSpPr>
          <p:cNvPr id="47" name="Text 45"/>
          <p:cNvSpPr txBox="1"/>
          <p:nvPr/>
        </p:nvSpPr>
        <p:spPr>
          <a:xfrm>
            <a:off x="2112264" y="507034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8" name="Text 46"/>
          <p:cNvSpPr txBox="1"/>
          <p:nvPr/>
        </p:nvSpPr>
        <p:spPr>
          <a:xfrm>
            <a:off x="5678424" y="520750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9" name="Shape 47"/>
          <p:cNvSpPr/>
          <p:nvPr/>
        </p:nvSpPr>
        <p:spPr>
          <a:xfrm>
            <a:off x="2057400" y="2130552"/>
            <a:ext cx="0" cy="3291840"/>
          </a:xfrm>
          <a:prstGeom prst="line">
            <a:avLst/>
          </a:prstGeom>
          <a:noFill/>
          <a:ln w="9525">
            <a:solidFill>
              <a:srgbClr val="2A3546"/>
            </a:solidFill>
            <a:prstDash val="solid"/>
          </a:ln>
        </p:spPr>
      </p:sp>
      <p:sp>
        <p:nvSpPr>
          <p:cNvPr id="50" name="Shape 48"/>
          <p:cNvSpPr/>
          <p:nvPr/>
        </p:nvSpPr>
        <p:spPr>
          <a:xfrm>
            <a:off x="2057400" y="5596128"/>
            <a:ext cx="164592" cy="100584"/>
          </a:xfrm>
          <a:prstGeom prst="rect">
            <a:avLst/>
          </a:prstGeom>
          <a:solidFill>
            <a:srgbClr val="FF5A60"/>
          </a:solidFill>
          <a:ln/>
        </p:spPr>
      </p:sp>
      <p:sp>
        <p:nvSpPr>
          <p:cNvPr id="51" name="Text 49"/>
          <p:cNvSpPr txBox="1"/>
          <p:nvPr/>
        </p:nvSpPr>
        <p:spPr>
          <a:xfrm>
            <a:off x="2286000" y="5532120"/>
            <a:ext cx="17373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random ordering</a:t>
            </a:r>
            <a:endParaRPr lang="en-US" sz="1100" dirty="0"/>
          </a:p>
        </p:txBody>
      </p:sp>
      <p:sp>
        <p:nvSpPr>
          <p:cNvPr id="52" name="Shape 50"/>
          <p:cNvSpPr/>
          <p:nvPr/>
        </p:nvSpPr>
        <p:spPr>
          <a:xfrm>
            <a:off x="3886200" y="5596128"/>
            <a:ext cx="164592" cy="100584"/>
          </a:xfrm>
          <a:prstGeom prst="rect">
            <a:avLst/>
          </a:prstGeom>
          <a:solidFill>
            <a:srgbClr val="3DDC97"/>
          </a:solidFill>
          <a:ln/>
        </p:spPr>
      </p:sp>
      <p:sp>
        <p:nvSpPr>
          <p:cNvPr id="53" name="Text 51"/>
          <p:cNvSpPr txBox="1"/>
          <p:nvPr/>
        </p:nvSpPr>
        <p:spPr>
          <a:xfrm>
            <a:off x="4114800" y="5532120"/>
            <a:ext cx="21945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min-degree construction</a:t>
            </a:r>
            <a:endParaRPr lang="en-US" sz="1100" dirty="0"/>
          </a:p>
        </p:txBody>
      </p:sp>
      <p:sp>
        <p:nvSpPr>
          <p:cNvPr id="54" name="Text 52"/>
          <p:cNvSpPr txBox="1"/>
          <p:nvPr/>
        </p:nvSpPr>
        <p:spPr>
          <a:xfrm>
            <a:off x="6537960" y="1828800"/>
            <a:ext cx="5013655" cy="2468880"/>
          </a:xfrm>
          <a:prstGeom prst="rect">
            <a:avLst/>
          </a:prstGeom>
          <a:noFill/>
          <a:ln/>
        </p:spPr>
        <p:txBody>
          <a:bodyPr wrap="square" lIns="0" tIns="0" rIns="0" bIns="0" rtlCol="0" anchor="t"/>
          <a:lstStyle/>
          <a:p>
            <a:pPr marL="190500" indent="-190500">
              <a:lnSpc>
                <a:spcPct val="100000"/>
              </a:lnSpc>
              <a:spcAft>
                <a:spcPts val="1700"/>
              </a:spcAft>
              <a:buClr>
                <a:srgbClr val="3DDC97"/>
              </a:buClr>
              <a:buFont typeface="Arial"/>
              <a:buChar char="•"/>
            </a:pPr>
            <a:r>
              <a:rPr lang="en-US" sz="1400" dirty="0">
                <a:solidFill>
                  <a:srgbClr val="E8ECF2"/>
                </a:solidFill>
                <a:latin typeface="Calibri" pitchFamily="34" charset="0"/>
                <a:ea typeface="Calibri" pitchFamily="34" charset="-122"/>
                <a:cs typeface="Calibri" pitchFamily="34" charset="-120"/>
              </a:rPr>
              <a:t>On six instances a random ordering yields no legal point: somewhere in its elimination a vertex exceeds the 500 cap, and so does every neighbouring ordering.</a:t>
            </a:r>
            <a:endParaRPr lang="en-US" sz="1400" dirty="0"/>
          </a:p>
          <a:p>
            <a:pPr marL="190500" indent="-190500">
              <a:lnSpc>
                <a:spcPct val="100000"/>
              </a:lnSpc>
              <a:spcAft>
                <a:spcPts val="1700"/>
              </a:spcAft>
              <a:buClr>
                <a:srgbClr val="3DDC97"/>
              </a:buClr>
              <a:buFont typeface="Arial"/>
              <a:buChar char="•"/>
            </a:pPr>
            <a:r>
              <a:rPr lang="en-US" sz="1400" dirty="0">
                <a:solidFill>
                  <a:srgbClr val="E8ECF2"/>
                </a:solidFill>
                <a:latin typeface="Calibri" pitchFamily="34" charset="0"/>
                <a:ea typeface="Calibri" pitchFamily="34" charset="-122"/>
                <a:cs typeface="Calibri" pitchFamily="34" charset="-120"/>
              </a:rPr>
              <a:t>A search started there has nothing to compare: from a random start on medium-graph, Team HRI ran 193 iterations in 25 s and accepted none.</a:t>
            </a:r>
            <a:endParaRPr lang="en-US" sz="1400" dirty="0"/>
          </a:p>
          <a:p>
            <a:pPr marL="190500" indent="-190500">
              <a:lnSpc>
                <a:spcPct val="100000"/>
              </a:lnSpc>
              <a:buClr>
                <a:srgbClr val="3DDC97"/>
              </a:buClr>
              <a:buFont typeface="Arial"/>
              <a:buChar char="•"/>
            </a:pPr>
            <a:r>
              <a:rPr lang="en-US" sz="1400" dirty="0">
                <a:solidFill>
                  <a:srgbClr val="E8ECF2"/>
                </a:solidFill>
                <a:latin typeface="Calibri" pitchFamily="34" charset="0"/>
                <a:ea typeface="Calibri" pitchFamily="34" charset="-122"/>
                <a:cs typeface="Calibri" pitchFamily="34" charset="-120"/>
              </a:rPr>
              <a:t>fcmaes and Spacekangaroos never see a random ordering: their first candidate is already sorted by a degree-based score.</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On sparse instances the problem is one-dimensional</a:t>
            </a:r>
            <a:endParaRPr lang="en-US" sz="2700" dirty="0"/>
          </a:p>
        </p:txBody>
      </p:sp>
      <p:sp>
        <p:nvSpPr>
          <p:cNvPr id="4" name="Text 2"/>
          <p:cNvSpPr txBox="1"/>
          <p:nvPr/>
        </p:nvSpPr>
        <p:spPr>
          <a:xfrm>
            <a:off x="640080" y="18105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A point at </a:t>
            </a:r>
            <a:r>
              <a:rPr lang="en-US" sz="1400" i="1" dirty="0">
                <a:solidFill>
                  <a:srgbClr val="E8ECF2"/>
                </a:solidFill>
                <a:latin typeface="Calibri" pitchFamily="34" charset="0"/>
                <a:ea typeface="Calibri" pitchFamily="34" charset="-122"/>
                <a:cs typeface="Calibri" pitchFamily="34" charset="-120"/>
              </a:rPr>
              <a:t>t</a:t>
            </a:r>
            <a:r>
              <a:rPr lang="en-US" sz="1400" dirty="0">
                <a:solidFill>
                  <a:srgbClr val="E8ECF2"/>
                </a:solidFill>
                <a:latin typeface="Calibri" pitchFamily="34" charset="0"/>
                <a:ea typeface="Calibri" pitchFamily="34" charset="-122"/>
                <a:cs typeface="Calibri" pitchFamily="34" charset="-120"/>
              </a:rPr>
              <a:t> = 0 covers (</a:t>
            </a:r>
            <a:r>
              <a:rPr lang="en-US" sz="1400" i="1" dirty="0">
                <a:solidFill>
                  <a:srgbClr val="E8ECF2"/>
                </a:solidFill>
                <a:latin typeface="Calibri" pitchFamily="34" charset="0"/>
                <a:ea typeface="Calibri" pitchFamily="34" charset="-122"/>
                <a:cs typeface="Calibri" pitchFamily="34" charset="-120"/>
              </a:rPr>
              <a:t>n</a:t>
            </a:r>
            <a:r>
              <a:rPr lang="en-US" sz="1400" dirty="0">
                <a:solidFill>
                  <a:srgbClr val="E8ECF2"/>
                </a:solidFill>
                <a:latin typeface="Calibri" pitchFamily="34" charset="0"/>
                <a:ea typeface="Calibri" pitchFamily="34" charset="-122"/>
                <a:cs typeface="Calibri" pitchFamily="34" charset="-120"/>
              </a:rPr>
              <a:t> − </a:t>
            </a:r>
            <a:r>
              <a:rPr lang="en-US" sz="1400" i="1" dirty="0">
                <a:solidFill>
                  <a:srgbClr val="E8ECF2"/>
                </a:solidFill>
                <a:latin typeface="Calibri" pitchFamily="34" charset="0"/>
                <a:ea typeface="Calibri" pitchFamily="34" charset="-122"/>
                <a:cs typeface="Calibri" pitchFamily="34" charset="-120"/>
              </a:rPr>
              <a:t>w</a:t>
            </a:r>
            <a:r>
              <a:rPr lang="en-US" sz="1400" dirty="0">
                <a:solidFill>
                  <a:srgbClr val="E8ECF2"/>
                </a:solidFill>
                <a:latin typeface="Calibri" pitchFamily="34" charset="0"/>
                <a:ea typeface="Calibri" pitchFamily="34" charset="-122"/>
                <a:cs typeface="Calibri" pitchFamily="34" charset="-120"/>
              </a:rPr>
              <a:t>)·</a:t>
            </a:r>
            <a:r>
              <a:rPr lang="en-US" sz="1400" i="1" dirty="0">
                <a:solidFill>
                  <a:srgbClr val="E8ECF2"/>
                </a:solidFill>
                <a:latin typeface="Calibri" pitchFamily="34" charset="0"/>
                <a:ea typeface="Calibri" pitchFamily="34" charset="-122"/>
                <a:cs typeface="Calibri" pitchFamily="34" charset="-120"/>
              </a:rPr>
              <a:t>n</a:t>
            </a:r>
            <a:r>
              <a:rPr lang="en-US" sz="1400" dirty="0">
                <a:solidFill>
                  <a:srgbClr val="E8ECF2"/>
                </a:solidFill>
                <a:latin typeface="Calibri" pitchFamily="34" charset="0"/>
                <a:ea typeface="Calibri" pitchFamily="34" charset="-122"/>
                <a:cs typeface="Calibri" pitchFamily="34" charset="-120"/>
              </a:rPr>
              <a:t> of the </a:t>
            </a:r>
            <a:r>
              <a:rPr lang="en-US" sz="1400" i="1" dirty="0">
                <a:solidFill>
                  <a:srgbClr val="E8ECF2"/>
                </a:solidFill>
                <a:latin typeface="Calibri" pitchFamily="34" charset="0"/>
                <a:ea typeface="Calibri" pitchFamily="34" charset="-122"/>
                <a:cs typeface="Calibri" pitchFamily="34" charset="-120"/>
              </a:rPr>
              <a:t>n</a:t>
            </a:r>
            <a:r>
              <a:rPr lang="en-US" sz="1400" dirty="0">
                <a:solidFill>
                  <a:srgbClr val="E8ECF2"/>
                </a:solidFill>
                <a:latin typeface="Calibri" pitchFamily="34" charset="0"/>
                <a:ea typeface="Calibri" pitchFamily="34" charset="-122"/>
                <a:cs typeface="Calibri" pitchFamily="34" charset="-120"/>
              </a:rPr>
              <a:t> × </a:t>
            </a:r>
            <a:r>
              <a:rPr lang="en-US" sz="1400" i="1" dirty="0">
                <a:solidFill>
                  <a:srgbClr val="E8ECF2"/>
                </a:solidFill>
                <a:latin typeface="Calibri" pitchFamily="34" charset="0"/>
                <a:ea typeface="Calibri" pitchFamily="34" charset="-122"/>
                <a:cs typeface="Calibri" pitchFamily="34" charset="-120"/>
              </a:rPr>
              <a:t>n</a:t>
            </a:r>
            <a:r>
              <a:rPr lang="en-US" sz="1400" dirty="0">
                <a:solidFill>
                  <a:srgbClr val="E8ECF2"/>
                </a:solidFill>
                <a:latin typeface="Calibri" pitchFamily="34" charset="0"/>
                <a:ea typeface="Calibri" pitchFamily="34" charset="-122"/>
                <a:cs typeface="Calibri" pitchFamily="34" charset="-120"/>
              </a:rPr>
              <a:t> square. On small-graph the construction’s </a:t>
            </a:r>
            <a:r>
              <a:rPr lang="en-US" sz="1400" i="1" dirty="0">
                <a:solidFill>
                  <a:srgbClr val="E8ECF2"/>
                </a:solidFill>
                <a:latin typeface="Calibri" pitchFamily="34" charset="0"/>
                <a:ea typeface="Calibri" pitchFamily="34" charset="-122"/>
                <a:cs typeface="Calibri" pitchFamily="34" charset="-120"/>
              </a:rPr>
              <a:t>t</a:t>
            </a:r>
            <a:r>
              <a:rPr lang="en-US" sz="1400" dirty="0">
                <a:solidFill>
                  <a:srgbClr val="E8ECF2"/>
                </a:solidFill>
                <a:latin typeface="Calibri" pitchFamily="34" charset="0"/>
                <a:ea typeface="Calibri" pitchFamily="34" charset="-122"/>
                <a:cs typeface="Calibri" pitchFamily="34" charset="-120"/>
              </a:rPr>
              <a:t> = 0 point, width 20, carries 99.99% of its whole score; on medium-graph, width 277, it carries 97.7%.</a:t>
            </a:r>
            <a:endParaRPr lang="en-US" sz="1400" dirty="0"/>
          </a:p>
        </p:txBody>
      </p:sp>
      <p:sp>
        <p:nvSpPr>
          <p:cNvPr id="5" name="Text 3"/>
          <p:cNvSpPr txBox="1"/>
          <p:nvPr/>
        </p:nvSpPr>
        <p:spPr>
          <a:xfrm>
            <a:off x="640080" y="31821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On large-graph no single point can exceed (</a:t>
            </a:r>
            <a:r>
              <a:rPr lang="en-US" sz="1400" i="1" dirty="0">
                <a:solidFill>
                  <a:srgbClr val="E8ECF2"/>
                </a:solidFill>
                <a:latin typeface="Calibri" pitchFamily="34" charset="0"/>
                <a:ea typeface="Calibri" pitchFamily="34" charset="-122"/>
                <a:cs typeface="Calibri" pitchFamily="34" charset="-120"/>
              </a:rPr>
              <a:t>n</a:t>
            </a:r>
            <a:r>
              <a:rPr lang="en-US" sz="1400" dirty="0">
                <a:solidFill>
                  <a:srgbClr val="E8ECF2"/>
                </a:solidFill>
                <a:latin typeface="Calibri" pitchFamily="34" charset="0"/>
                <a:ea typeface="Calibri" pitchFamily="34" charset="-122"/>
                <a:cs typeface="Calibri" pitchFamily="34" charset="-120"/>
              </a:rPr>
              <a:t> − 499)·</a:t>
            </a:r>
            <a:r>
              <a:rPr lang="en-US" sz="1400" i="1" dirty="0">
                <a:solidFill>
                  <a:srgbClr val="E8ECF2"/>
                </a:solidFill>
                <a:latin typeface="Calibri" pitchFamily="34" charset="0"/>
                <a:ea typeface="Calibri" pitchFamily="34" charset="-122"/>
                <a:cs typeface="Calibri" pitchFamily="34" charset="-120"/>
              </a:rPr>
              <a:t>n</a:t>
            </a:r>
            <a:r>
              <a:rPr lang="en-US" sz="1400" dirty="0">
                <a:solidFill>
                  <a:srgbClr val="E8ECF2"/>
                </a:solidFill>
                <a:latin typeface="Calibri" pitchFamily="34" charset="0"/>
                <a:ea typeface="Calibri" pitchFamily="34" charset="-122"/>
                <a:cs typeface="Calibri" pitchFamily="34" charset="-120"/>
              </a:rPr>
              <a:t>, 79.4% of the square, yet the best known reaches 93.3%: only on the dense family does the staircase earn its keep.</a:t>
            </a:r>
            <a:endParaRPr lang="en-US" sz="1400" dirty="0"/>
          </a:p>
        </p:txBody>
      </p:sp>
      <p:sp>
        <p:nvSpPr>
          <p:cNvPr id="6" name="Text 4"/>
          <p:cNvSpPr txBox="1"/>
          <p:nvPr/>
        </p:nvSpPr>
        <p:spPr>
          <a:xfrm>
            <a:off x="640080" y="4553712"/>
            <a:ext cx="5852160" cy="128016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And the problem is hard twice over: choose which </a:t>
            </a:r>
            <a:r>
              <a:rPr lang="en-US" sz="1400" i="1" dirty="0">
                <a:solidFill>
                  <a:srgbClr val="9AA6B6"/>
                </a:solidFill>
                <a:latin typeface="Calibri" pitchFamily="34" charset="0"/>
                <a:ea typeface="Calibri" pitchFamily="34" charset="-122"/>
                <a:cs typeface="Calibri" pitchFamily="34" charset="-120"/>
              </a:rPr>
              <a:t>t</a:t>
            </a:r>
            <a:r>
              <a:rPr lang="en-US" sz="1400" dirty="0">
                <a:solidFill>
                  <a:srgbClr val="9AA6B6"/>
                </a:solidFill>
                <a:latin typeface="Calibri" pitchFamily="34" charset="0"/>
                <a:ea typeface="Calibri" pitchFamily="34" charset="-122"/>
                <a:cs typeface="Calibri" pitchFamily="34" charset="-120"/>
              </a:rPr>
              <a:t> vertices to give up (about 10⁴⁰³ subsets at </a:t>
            </a:r>
            <a:r>
              <a:rPr lang="en-US" sz="1400" i="1" dirty="0">
                <a:solidFill>
                  <a:srgbClr val="9AA6B6"/>
                </a:solidFill>
                <a:latin typeface="Calibri" pitchFamily="34" charset="0"/>
                <a:ea typeface="Calibri" pitchFamily="34" charset="-122"/>
                <a:cs typeface="Calibri" pitchFamily="34" charset="-120"/>
              </a:rPr>
              <a:t>n</a:t>
            </a:r>
            <a:r>
              <a:rPr lang="en-US" sz="1400" dirty="0">
                <a:solidFill>
                  <a:srgbClr val="9AA6B6"/>
                </a:solidFill>
                <a:latin typeface="Calibri" pitchFamily="34" charset="0"/>
                <a:ea typeface="Calibri" pitchFamily="34" charset="-122"/>
                <a:cs typeface="Calibri" pitchFamily="34" charset="-120"/>
              </a:rPr>
              <a:t> = 1,357, </a:t>
            </a:r>
            <a:r>
              <a:rPr lang="en-US" sz="1400" i="1" dirty="0">
                <a:solidFill>
                  <a:srgbClr val="9AA6B6"/>
                </a:solidFill>
                <a:latin typeface="Calibri" pitchFamily="34" charset="0"/>
                <a:ea typeface="Calibri" pitchFamily="34" charset="-122"/>
                <a:cs typeface="Calibri" pitchFamily="34" charset="-120"/>
              </a:rPr>
              <a:t>t</a:t>
            </a:r>
            <a:r>
              <a:rPr lang="en-US" sz="1400" dirty="0">
                <a:solidFill>
                  <a:srgbClr val="9AA6B6"/>
                </a:solidFill>
                <a:latin typeface="Calibri" pitchFamily="34" charset="0"/>
                <a:ea typeface="Calibri" pitchFamily="34" charset="-122"/>
                <a:cs typeface="Calibri" pitchFamily="34" charset="-120"/>
              </a:rPr>
              <a:t> = 600), then minimise the width of what is left, which is treewidth itself, NP-hard (Arnborg, Corneil and Proskurowski, 1987).</a:t>
            </a:r>
            <a:endParaRPr lang="en-US" sz="1400" dirty="0"/>
          </a:p>
        </p:txBody>
      </p:sp>
      <p:sp>
        <p:nvSpPr>
          <p:cNvPr id="7" name="Shape 5"/>
          <p:cNvSpPr/>
          <p:nvPr/>
        </p:nvSpPr>
        <p:spPr>
          <a:xfrm>
            <a:off x="6949440" y="2148840"/>
            <a:ext cx="2194560" cy="2194560"/>
          </a:xfrm>
          <a:prstGeom prst="rect">
            <a:avLst/>
          </a:prstGeom>
          <a:ln w="12700">
            <a:solidFill>
              <a:srgbClr val="9AA6B6"/>
            </a:solidFill>
            <a:prstDash val="solid"/>
          </a:ln>
        </p:spPr>
      </p:sp>
      <p:sp>
        <p:nvSpPr>
          <p:cNvPr id="8" name="Shape 6"/>
          <p:cNvSpPr/>
          <p:nvPr/>
        </p:nvSpPr>
        <p:spPr>
          <a:xfrm>
            <a:off x="6981784" y="2148840"/>
            <a:ext cx="2162216" cy="2194560"/>
          </a:xfrm>
          <a:prstGeom prst="rect">
            <a:avLst/>
          </a:prstGeom>
          <a:solidFill>
            <a:srgbClr val="3DDC97">
              <a:alpha val="30000"/>
            </a:srgbClr>
          </a:solidFill>
          <a:ln/>
        </p:spPr>
      </p:sp>
      <p:sp>
        <p:nvSpPr>
          <p:cNvPr id="9" name="Text 7"/>
          <p:cNvSpPr txBox="1"/>
          <p:nvPr/>
        </p:nvSpPr>
        <p:spPr>
          <a:xfrm>
            <a:off x="694944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small-graph</a:t>
            </a:r>
            <a:endParaRPr lang="en-US" sz="1300" dirty="0"/>
          </a:p>
        </p:txBody>
      </p:sp>
      <p:sp>
        <p:nvSpPr>
          <p:cNvPr id="10" name="Text 8"/>
          <p:cNvSpPr txBox="1"/>
          <p:nvPr/>
        </p:nvSpPr>
        <p:spPr>
          <a:xfrm>
            <a:off x="694944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98.5%</a:t>
            </a:r>
            <a:endParaRPr lang="en-US" sz="2400" dirty="0"/>
          </a:p>
        </p:txBody>
      </p:sp>
      <p:sp>
        <p:nvSpPr>
          <p:cNvPr id="11" name="Text 9"/>
          <p:cNvSpPr txBox="1"/>
          <p:nvPr/>
        </p:nvSpPr>
        <p:spPr>
          <a:xfrm>
            <a:off x="685800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20 of n = 1,357 · 99.99% of its score</a:t>
            </a:r>
            <a:endParaRPr lang="en-US" sz="1050" dirty="0"/>
          </a:p>
        </p:txBody>
      </p:sp>
      <p:sp>
        <p:nvSpPr>
          <p:cNvPr id="12" name="Shape 10"/>
          <p:cNvSpPr/>
          <p:nvPr/>
        </p:nvSpPr>
        <p:spPr>
          <a:xfrm>
            <a:off x="9372600" y="2148840"/>
            <a:ext cx="2194560" cy="2194560"/>
          </a:xfrm>
          <a:prstGeom prst="rect">
            <a:avLst/>
          </a:prstGeom>
          <a:ln w="12700">
            <a:solidFill>
              <a:srgbClr val="9AA6B6"/>
            </a:solidFill>
            <a:prstDash val="solid"/>
          </a:ln>
        </p:spPr>
      </p:sp>
      <p:sp>
        <p:nvSpPr>
          <p:cNvPr id="13" name="Shape 11"/>
          <p:cNvSpPr/>
          <p:nvPr/>
        </p:nvSpPr>
        <p:spPr>
          <a:xfrm>
            <a:off x="9823995" y="2148840"/>
            <a:ext cx="1743165" cy="2194560"/>
          </a:xfrm>
          <a:prstGeom prst="rect">
            <a:avLst/>
          </a:prstGeom>
          <a:solidFill>
            <a:srgbClr val="3DDC97">
              <a:alpha val="30000"/>
            </a:srgbClr>
          </a:solidFill>
          <a:ln/>
        </p:spPr>
      </p:sp>
      <p:sp>
        <p:nvSpPr>
          <p:cNvPr id="14" name="Text 12"/>
          <p:cNvSpPr txBox="1"/>
          <p:nvPr/>
        </p:nvSpPr>
        <p:spPr>
          <a:xfrm>
            <a:off x="937260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large-graph</a:t>
            </a:r>
            <a:endParaRPr lang="en-US" sz="1300" dirty="0"/>
          </a:p>
        </p:txBody>
      </p:sp>
      <p:sp>
        <p:nvSpPr>
          <p:cNvPr id="15" name="Text 13"/>
          <p:cNvSpPr txBox="1"/>
          <p:nvPr/>
        </p:nvSpPr>
        <p:spPr>
          <a:xfrm>
            <a:off x="937260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79.4%</a:t>
            </a:r>
            <a:endParaRPr lang="en-US" sz="2400" dirty="0"/>
          </a:p>
        </p:txBody>
      </p:sp>
      <p:sp>
        <p:nvSpPr>
          <p:cNvPr id="16" name="Text 14"/>
          <p:cNvSpPr txBox="1"/>
          <p:nvPr/>
        </p:nvSpPr>
        <p:spPr>
          <a:xfrm>
            <a:off x="928116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499 of n = 2,426 · best known 93.3%</a:t>
            </a:r>
            <a:endParaRPr lang="en-US" sz="1050" dirty="0"/>
          </a:p>
        </p:txBody>
      </p:sp>
      <p:sp>
        <p:nvSpPr>
          <p:cNvPr id="17" name="Shape 15"/>
          <p:cNvSpPr/>
          <p:nvPr/>
        </p:nvSpPr>
        <p:spPr>
          <a:xfrm>
            <a:off x="6949440" y="5257800"/>
            <a:ext cx="228600" cy="128016"/>
          </a:xfrm>
          <a:prstGeom prst="rect">
            <a:avLst/>
          </a:prstGeom>
          <a:solidFill>
            <a:srgbClr val="3DDC97">
              <a:alpha val="30000"/>
            </a:srgbClr>
          </a:solidFill>
          <a:ln/>
        </p:spPr>
      </p:sp>
      <p:sp>
        <p:nvSpPr>
          <p:cNvPr id="18" name="Text 16"/>
          <p:cNvSpPr txBox="1"/>
          <p:nvPr/>
        </p:nvSpPr>
        <p:spPr>
          <a:xfrm>
            <a:off x="7251192" y="5202936"/>
            <a:ext cx="2194560" cy="2286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one point at t = 0</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k-opt and the exact delta evaluator</a:t>
            </a:r>
            <a:endParaRPr lang="en-US" sz="2700" dirty="0"/>
          </a:p>
        </p:txBody>
      </p:sp>
      <p:sp>
        <p:nvSpPr>
          <p:cNvPr id="4" name="Text 2"/>
          <p:cNvSpPr txBox="1"/>
          <p:nvPr/>
        </p:nvSpPr>
        <p:spPr>
          <a:xfrm>
            <a:off x="640080" y="1810512"/>
            <a:ext cx="5212080"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Plain k-opt does not transfer</a:t>
            </a:r>
            <a:endParaRPr lang="en-US" sz="1800" dirty="0"/>
          </a:p>
        </p:txBody>
      </p:sp>
      <p:sp>
        <p:nvSpPr>
          <p:cNvPr id="5" name="Text 3"/>
          <p:cNvSpPr txBox="1"/>
          <p:nvPr/>
        </p:nvSpPr>
        <p:spPr>
          <a:xfrm>
            <a:off x="640080" y="2240280"/>
            <a:ext cx="5212080" cy="182880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In the travelling-salesman setting 2-opt is cheap because exchanging two edges updates the objective in constant time. Here eliminating a vertex merges its surviving neighbours into a clique, so one change cascades: a move over a span of L positions costs O(L), however few edges it exchanges.</a:t>
            </a:r>
            <a:endParaRPr lang="en-US" sz="1300" dirty="0"/>
          </a:p>
        </p:txBody>
      </p:sp>
      <p:sp>
        <p:nvSpPr>
          <p:cNvPr id="6" name="Text 4"/>
          <p:cNvSpPr txBox="1"/>
          <p:nvPr/>
        </p:nvSpPr>
        <p:spPr>
          <a:xfrm>
            <a:off x="6400800" y="1810512"/>
            <a:ext cx="5150815"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A delta evaluator, from one structural fact</a:t>
            </a:r>
            <a:endParaRPr lang="en-US" sz="1800" dirty="0"/>
          </a:p>
        </p:txBody>
      </p:sp>
      <p:sp>
        <p:nvSpPr>
          <p:cNvPr id="7" name="Text 5"/>
          <p:cNvSpPr txBox="1"/>
          <p:nvPr/>
        </p:nvSpPr>
        <p:spPr>
          <a:xfrm>
            <a:off x="6400800" y="2240280"/>
            <a:ext cx="5150815" cy="128016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The torso over a set does not depend on the order within the set, so the degree at a position depends only on the vertex there and the set of vertices before it. A move inside a window cannot change anything outside it.</a:t>
            </a:r>
            <a:endParaRPr lang="en-US" sz="1300" dirty="0"/>
          </a:p>
        </p:txBody>
      </p:sp>
      <p:sp>
        <p:nvSpPr>
          <p:cNvPr id="8" name="Text 6"/>
          <p:cNvSpPr txBox="1"/>
          <p:nvPr/>
        </p:nvSpPr>
        <p:spPr>
          <a:xfrm>
            <a:off x="640080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exact</a:t>
            </a:r>
            <a:endParaRPr lang="en-US" sz="2600" dirty="0"/>
          </a:p>
        </p:txBody>
      </p:sp>
      <p:sp>
        <p:nvSpPr>
          <p:cNvPr id="9" name="Text 7"/>
          <p:cNvSpPr txBox="1"/>
          <p:nvPr/>
        </p:nvSpPr>
        <p:spPr>
          <a:xfrm>
            <a:off x="6400800" y="4160520"/>
            <a:ext cx="2423160" cy="77724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identical step degrees on 600 chained candidates from all 17 operators, all ten instances</a:t>
            </a:r>
            <a:endParaRPr lang="en-US" sz="1150" dirty="0"/>
          </a:p>
        </p:txBody>
      </p:sp>
      <p:sp>
        <p:nvSpPr>
          <p:cNvPr id="10" name="Text 8"/>
          <p:cNvSpPr txBox="1"/>
          <p:nvPr/>
        </p:nvSpPr>
        <p:spPr>
          <a:xfrm>
            <a:off x="900684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1.81×</a:t>
            </a:r>
            <a:endParaRPr lang="en-US" sz="2600" dirty="0"/>
          </a:p>
        </p:txBody>
      </p:sp>
      <p:sp>
        <p:nvSpPr>
          <p:cNvPr id="11" name="Text 9"/>
          <p:cNvSpPr txBox="1"/>
          <p:nvPr/>
        </p:nvSpPr>
        <p:spPr>
          <a:xfrm>
            <a:off x="9006840" y="4160520"/>
            <a:ext cx="2423160" cy="77724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more candidates in the same wall-clock, geometric mean over ten instances (1.7× sparse to 1.9× dense)</a:t>
            </a:r>
            <a:endParaRPr lang="en-US" sz="1150" dirty="0"/>
          </a:p>
        </p:txBody>
      </p:sp>
      <p:sp>
        <p:nvSpPr>
          <p:cNvPr id="12" name="Shape 10"/>
          <p:cNvSpPr/>
          <p:nvPr/>
        </p:nvSpPr>
        <p:spPr>
          <a:xfrm>
            <a:off x="640080" y="5074920"/>
            <a:ext cx="10911535" cy="1051560"/>
          </a:xfrm>
          <a:prstGeom prst="rect">
            <a:avLst/>
          </a:prstGeom>
          <a:solidFill>
            <a:srgbClr val="131B28"/>
          </a:solidFill>
          <a:ln/>
        </p:spPr>
      </p:sp>
      <p:sp>
        <p:nvSpPr>
          <p:cNvPr id="13" name="Text 11"/>
          <p:cNvSpPr txBox="1"/>
          <p:nvPr/>
        </p:nvSpPr>
        <p:spPr>
          <a:xfrm>
            <a:off x="914400" y="5193792"/>
            <a:ext cx="10362895" cy="868680"/>
          </a:xfrm>
          <a:prstGeom prst="rect">
            <a:avLst/>
          </a:prstGeom>
          <a:noFill/>
          <a:ln/>
        </p:spPr>
        <p:txBody>
          <a:bodyPr wrap="square" lIns="0" tIns="0" rIns="0" bIns="0" rtlCol="0" anchor="ctr"/>
          <a:lstStyle/>
          <a:p>
            <a:pPr indent="0" marL="0">
              <a:buNone/>
            </a:pPr>
            <a:r>
              <a:rPr lang="en-US" sz="1300" dirty="0">
                <a:solidFill>
                  <a:srgbClr val="E8ECF2"/>
                </a:solidFill>
                <a:latin typeface="Calibri" pitchFamily="34" charset="0"/>
                <a:ea typeface="Calibri" pitchFamily="34" charset="-122"/>
                <a:cs typeface="Calibri" pitchFamily="34" charset="-120"/>
              </a:rPr>
              <a:t>Why accepted moves barely matter: every evaluated candidate donates its whole staircase to a shared front. On synth-7 the four original operators accepted nothing at all, and their scores still differ by 1,841 HV.</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budget sweep in full</a:t>
            </a:r>
            <a:endParaRPr lang="en-US" sz="2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2743200"/>
                <a:gridCol w="1600200"/>
                <a:gridCol w="1600200"/>
                <a:gridCol w="1600200"/>
                <a:gridCol w="1691640"/>
                <a:gridCol w="1676095"/>
              </a:tblGrid>
              <a:tr h="384048">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variant</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3,600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gain over 10×</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share of its lead</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84048">
                <a:tc>
                  <a:txBody>
                    <a:bodyPr/>
                    <a:lstStyle/>
                    <a:p>
                      <a:pPr indent="0" marL="0">
                        <a:buNone/>
                      </a:pPr>
                      <a:r>
                        <a:rPr lang="en-US" sz="1300" dirty="0">
                          <a:solidFill>
                            <a:srgbClr val="3DDC97"/>
                          </a:solidFill>
                          <a:latin typeface="Calibri" pitchFamily="34" charset="0"/>
                          <a:ea typeface="Calibri" pitchFamily="34" charset="-122"/>
                          <a:cs typeface="Calibri" pitchFamily="34" charset="-120"/>
                        </a:rPr>
                        <a:t>construction (GRASP)</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26,781,700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26,762,079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26,692,166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−89,534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Hill-Climbing</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26,389,516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26,404,696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26,422,559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+33,043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all 17 operators</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26,391,399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26,393,577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26,396,957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+5,558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bottleneck move set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26,392,654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26,388,897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26,401,668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+9,014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3931920"/>
            <a:ext cx="10911535" cy="457200"/>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Four variants × three budgets × ten instances × three seeds, all on one machine, so that the budget is the only thing that varies. Ten-instance hypervolume, best of 3.</a:t>
            </a:r>
            <a:endParaRPr lang="en-US" sz="1300" dirty="0"/>
          </a:p>
        </p:txBody>
      </p:sp>
      <p:sp>
        <p:nvSpPr>
          <p:cNvPr id="6" name="Text 3"/>
          <p:cNvSpPr txBox="1"/>
          <p:nvPr/>
        </p:nvSpPr>
        <p:spPr>
          <a:xfrm>
            <a:off x="640080" y="4526280"/>
            <a:ext cx="10911535" cy="118872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The construction variant draws different constructions at each budget, so its total moves by 89,534 HV, and with one draw per budget that movement cannot be read as a trend. An earlier reading counted that movement as search closing the gap (“31% closed”, a crossover “near thirty times the budget, about ten hours”) and is withdrawn: 89,534 of the 122,577 HV it called closing was the construction’s draw.</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Four errors found during the study, and how each was detected</a:t>
            </a:r>
            <a:endParaRPr lang="en-US" sz="2700" dirty="0"/>
          </a:p>
        </p:txBody>
      </p:sp>
      <p:sp>
        <p:nvSpPr>
          <p:cNvPr id="4" name="Text 2"/>
          <p:cNvSpPr txBox="1"/>
          <p:nvPr/>
        </p:nvSpPr>
        <p:spPr>
          <a:xfrm>
            <a:off x="640080" y="1810512"/>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1</a:t>
            </a:r>
            <a:endParaRPr lang="en-US" sz="2200" dirty="0"/>
          </a:p>
        </p:txBody>
      </p:sp>
      <p:sp>
        <p:nvSpPr>
          <p:cNvPr id="5" name="Text 3"/>
          <p:cNvSpPr txBox="1"/>
          <p:nvPr/>
        </p:nvSpPr>
        <p:spPr>
          <a:xfrm>
            <a:off x="1097280" y="1837944"/>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probe that leaked the answer</a:t>
            </a:r>
            <a:endParaRPr lang="en-US" sz="1400" dirty="0"/>
          </a:p>
        </p:txBody>
      </p:sp>
      <p:sp>
        <p:nvSpPr>
          <p:cNvPr id="6" name="Text 4"/>
          <p:cNvSpPr txBox="1"/>
          <p:nvPr/>
        </p:nvSpPr>
        <p:spPr>
          <a:xfrm>
            <a:off x="3794760" y="1810512"/>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hill_climbing.py chose its target widths with a min-degree probe whatever start it was asked for, so --start random was quietly handed a min-degree solution: 1,607,522 HV on medium-graph for a run that accepted zero moves.</a:t>
            </a:r>
            <a:endParaRPr lang="en-US" sz="1150" dirty="0"/>
          </a:p>
        </p:txBody>
      </p:sp>
      <p:sp>
        <p:nvSpPr>
          <p:cNvPr id="7" name="Text 5"/>
          <p:cNvSpPr txBox="1"/>
          <p:nvPr/>
        </p:nvSpPr>
        <p:spPr>
          <a:xfrm>
            <a:off x="8641080" y="1810512"/>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Detected by asking why a run with no accepted moves had a score at all.</a:t>
            </a:r>
            <a:endParaRPr lang="en-US" sz="1150" dirty="0"/>
          </a:p>
        </p:txBody>
      </p:sp>
      <p:sp>
        <p:nvSpPr>
          <p:cNvPr id="8" name="Shape 6"/>
          <p:cNvSpPr/>
          <p:nvPr/>
        </p:nvSpPr>
        <p:spPr>
          <a:xfrm>
            <a:off x="640080" y="2651760"/>
            <a:ext cx="10911535" cy="0"/>
          </a:xfrm>
          <a:prstGeom prst="line">
            <a:avLst/>
          </a:prstGeom>
          <a:noFill/>
          <a:ln w="6350">
            <a:solidFill>
              <a:srgbClr val="2A3546"/>
            </a:solidFill>
            <a:prstDash val="solid"/>
          </a:ln>
        </p:spPr>
      </p:sp>
      <p:sp>
        <p:nvSpPr>
          <p:cNvPr id="9" name="Text 7"/>
          <p:cNvSpPr txBox="1"/>
          <p:nvPr/>
        </p:nvSpPr>
        <p:spPr>
          <a:xfrm>
            <a:off x="640080" y="2743200"/>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2</a:t>
            </a:r>
            <a:endParaRPr lang="en-US" sz="2200" dirty="0"/>
          </a:p>
        </p:txBody>
      </p:sp>
      <p:sp>
        <p:nvSpPr>
          <p:cNvPr id="10" name="Text 8"/>
          <p:cNvSpPr txBox="1"/>
          <p:nvPr/>
        </p:nvSpPr>
        <p:spPr>
          <a:xfrm>
            <a:off x="1097280" y="2770632"/>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verification that</a:t>
            </a:r>
            <a:endParaRPr lang="en-US" sz="1400" dirty="0"/>
          </a:p>
          <a:p>
            <a:pPr indent="0" marL="0">
              <a:buNone/>
            </a:pPr>
            <a:r>
              <a:rPr lang="en-US" sz="1400" b="1" dirty="0">
                <a:solidFill>
                  <a:srgbClr val="E8ECF2"/>
                </a:solidFill>
                <a:latin typeface="Calibri" pitchFamily="34" charset="0"/>
                <a:ea typeface="Calibri" pitchFamily="34" charset="-122"/>
                <a:cs typeface="Calibri" pitchFamily="34" charset="-120"/>
              </a:rPr>
              <a:t>was itself wrong</a:t>
            </a:r>
            <a:endParaRPr lang="en-US" sz="1400" dirty="0"/>
          </a:p>
        </p:txBody>
      </p:sp>
      <p:sp>
        <p:nvSpPr>
          <p:cNvPr id="11" name="Text 9"/>
          <p:cNvSpPr txBox="1"/>
          <p:nvPr/>
        </p:nvSpPr>
        <p:spPr>
          <a:xfrm>
            <a:off x="3794760" y="2743200"/>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Re-running the runs to confirm them gave mismatches on 29 of 30 rows. The climb stops on elapsed time, so a run can be re-sampled, never reproduced.</a:t>
            </a:r>
            <a:endParaRPr lang="en-US" sz="1150" dirty="0"/>
          </a:p>
        </p:txBody>
      </p:sp>
      <p:sp>
        <p:nvSpPr>
          <p:cNvPr id="12" name="Text 10"/>
          <p:cNvSpPr txBox="1"/>
          <p:nvPr/>
        </p:nvSpPr>
        <p:spPr>
          <a:xfrm>
            <a:off x="8641080" y="2743200"/>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The check was wrong, not the harness, and the accident produced two independent controls.</a:t>
            </a:r>
            <a:endParaRPr lang="en-US" sz="1150" dirty="0"/>
          </a:p>
        </p:txBody>
      </p:sp>
      <p:sp>
        <p:nvSpPr>
          <p:cNvPr id="13" name="Shape 11"/>
          <p:cNvSpPr/>
          <p:nvPr/>
        </p:nvSpPr>
        <p:spPr>
          <a:xfrm>
            <a:off x="640080" y="3584448"/>
            <a:ext cx="10911535" cy="0"/>
          </a:xfrm>
          <a:prstGeom prst="line">
            <a:avLst/>
          </a:prstGeom>
          <a:noFill/>
          <a:ln w="6350">
            <a:solidFill>
              <a:srgbClr val="2A3546"/>
            </a:solidFill>
            <a:prstDash val="solid"/>
          </a:ln>
        </p:spPr>
      </p:sp>
      <p:sp>
        <p:nvSpPr>
          <p:cNvPr id="14" name="Text 12"/>
          <p:cNvSpPr txBox="1"/>
          <p:nvPr/>
        </p:nvSpPr>
        <p:spPr>
          <a:xfrm>
            <a:off x="640080" y="3675888"/>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3</a:t>
            </a:r>
            <a:endParaRPr lang="en-US" sz="2200" dirty="0"/>
          </a:p>
        </p:txBody>
      </p:sp>
      <p:sp>
        <p:nvSpPr>
          <p:cNvPr id="15" name="Text 13"/>
          <p:cNvSpPr txBox="1"/>
          <p:nvPr/>
        </p:nvSpPr>
        <p:spPr>
          <a:xfrm>
            <a:off x="1097280" y="3703320"/>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32-bit overflow in vendored code</a:t>
            </a:r>
            <a:endParaRPr lang="en-US" sz="1400" dirty="0"/>
          </a:p>
        </p:txBody>
      </p:sp>
      <p:sp>
        <p:nvSpPr>
          <p:cNvPr id="16" name="Text 14"/>
          <p:cNvSpPr txBox="1"/>
          <p:nvPr/>
        </p:nvSpPr>
        <p:spPr>
          <a:xfrm>
            <a:off x="3794760" y="3675888"/>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The vendored CUDA evaluator indexed a B×N×N array with an int offset, which wraps past 2³¹ at n = 2,426, thread 365 of 1,024.</a:t>
            </a:r>
            <a:endParaRPr lang="en-US" sz="1150" dirty="0"/>
          </a:p>
        </p:txBody>
      </p:sp>
      <p:sp>
        <p:nvSpPr>
          <p:cNvPr id="17" name="Text 15"/>
          <p:cNvSpPr txBox="1"/>
          <p:nvPr/>
        </p:nvSpPr>
        <p:spPr>
          <a:xfrm>
            <a:off x="8641080" y="3675888"/>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Detected because every n = 2,426 run died early with an illegal memory access; one type change fixed it.</a:t>
            </a:r>
            <a:endParaRPr lang="en-US" sz="1150" dirty="0"/>
          </a:p>
        </p:txBody>
      </p:sp>
      <p:sp>
        <p:nvSpPr>
          <p:cNvPr id="18" name="Shape 16"/>
          <p:cNvSpPr/>
          <p:nvPr/>
        </p:nvSpPr>
        <p:spPr>
          <a:xfrm>
            <a:off x="640080" y="4517136"/>
            <a:ext cx="10911535" cy="0"/>
          </a:xfrm>
          <a:prstGeom prst="line">
            <a:avLst/>
          </a:prstGeom>
          <a:noFill/>
          <a:ln w="6350">
            <a:solidFill>
              <a:srgbClr val="2A3546"/>
            </a:solidFill>
            <a:prstDash val="solid"/>
          </a:ln>
        </p:spPr>
      </p:sp>
      <p:sp>
        <p:nvSpPr>
          <p:cNvPr id="19" name="Text 17"/>
          <p:cNvSpPr txBox="1"/>
          <p:nvPr/>
        </p:nvSpPr>
        <p:spPr>
          <a:xfrm>
            <a:off x="640080" y="4608576"/>
            <a:ext cx="411480" cy="457200"/>
          </a:xfrm>
          <a:prstGeom prst="rect">
            <a:avLst/>
          </a:prstGeom>
          <a:noFill/>
          <a:ln/>
        </p:spPr>
        <p:txBody>
          <a:bodyPr wrap="square" lIns="0" tIns="0" rIns="0" bIns="0" rtlCol="0" anchor="t"/>
          <a:lstStyle/>
          <a:p>
            <a:pPr indent="0" marL="0">
              <a:buNone/>
            </a:pPr>
            <a:r>
              <a:rPr lang="en-US" sz="2200" dirty="0">
                <a:solidFill>
                  <a:srgbClr val="F2C14E"/>
                </a:solidFill>
                <a:latin typeface="Century Schoolbook" pitchFamily="34" charset="0"/>
                <a:ea typeface="Century Schoolbook" pitchFamily="34" charset="-122"/>
                <a:cs typeface="Century Schoolbook" pitchFamily="34" charset="-120"/>
              </a:rPr>
              <a:t>4</a:t>
            </a:r>
            <a:endParaRPr lang="en-US" sz="2200" dirty="0"/>
          </a:p>
        </p:txBody>
      </p:sp>
      <p:sp>
        <p:nvSpPr>
          <p:cNvPr id="20" name="Text 18"/>
          <p:cNvSpPr txBox="1"/>
          <p:nvPr/>
        </p:nvSpPr>
        <p:spPr>
          <a:xfrm>
            <a:off x="1097280" y="4636008"/>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threshold borrowed from one method</a:t>
            </a:r>
            <a:endParaRPr lang="en-US" sz="1400" dirty="0"/>
          </a:p>
        </p:txBody>
      </p:sp>
      <p:sp>
        <p:nvSpPr>
          <p:cNvPr id="21" name="Text 19"/>
          <p:cNvSpPr txBox="1"/>
          <p:nvPr/>
        </p:nvSpPr>
        <p:spPr>
          <a:xfrm>
            <a:off x="3794760" y="4608576"/>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One 7,881 HV floor, taken from Hill-Climbing’s worst instance, judged every method’s rows, while Team HRI’s own seeds on medium-graph span 80,376 HV.</a:t>
            </a:r>
            <a:endParaRPr lang="en-US" sz="1150" dirty="0"/>
          </a:p>
        </p:txBody>
      </p:sp>
      <p:sp>
        <p:nvSpPr>
          <p:cNvPr id="22" name="Text 20"/>
          <p:cNvSpPr txBox="1"/>
          <p:nvPr/>
        </p:nvSpPr>
        <p:spPr>
          <a:xfrm>
            <a:off x="8641080" y="4608576"/>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Detected by reading the seeds instead of the best of three: four of ten verdicts changed.</a:t>
            </a:r>
            <a:endParaRPr lang="en-US" sz="1150" dirty="0"/>
          </a:p>
        </p:txBody>
      </p:sp>
      <p:sp>
        <p:nvSpPr>
          <p:cNvPr id="23" name="Text 21"/>
          <p:cNvSpPr txBox="1"/>
          <p:nvPr/>
        </p:nvSpPr>
        <p:spPr>
          <a:xfrm>
            <a:off x="640080" y="5650992"/>
            <a:ext cx="10911535" cy="502920"/>
          </a:xfrm>
          <a:prstGeom prst="rect">
            <a:avLst/>
          </a:prstGeom>
          <a:noFill/>
          <a:ln/>
        </p:spPr>
        <p:txBody>
          <a:bodyPr wrap="square" lIns="0" tIns="0" rIns="0" bIns="0" rtlCol="0" anchor="t"/>
          <a:lstStyle/>
          <a:p>
            <a:pPr indent="0" marL="0">
              <a:buNone/>
            </a:pPr>
            <a:r>
              <a:rPr lang="en-US" sz="1550" i="1" dirty="0">
                <a:solidFill>
                  <a:srgbClr val="E8ECF2"/>
                </a:solidFill>
                <a:latin typeface="Century Schoolbook" pitchFamily="34" charset="0"/>
                <a:ea typeface="Century Schoolbook" pitchFamily="34" charset="-122"/>
                <a:cs typeface="Century Schoolbook" pitchFamily="34" charset="-120"/>
              </a:rPr>
              <a:t>None was detected by a test suite. Each was detected by a number that did not fit its story.</a:t>
            </a:r>
            <a:endParaRPr lang="en-US" sz="15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University of Prishtina">    </p:cNvPr>
          <p:cNvPicPr>
            <a:picLocks noChangeAspect="1"/>
          </p:cNvPicPr>
          <p:nvPr/>
        </p:nvPicPr>
        <p:blipFill>
          <a:blip r:embed="rId1"/>
          <a:stretch>
            <a:fillRect/>
          </a:stretch>
        </p:blipFill>
        <p:spPr>
          <a:xfrm>
            <a:off x="640080" y="274320"/>
            <a:ext cx="713232" cy="713232"/>
          </a:xfrm>
          <a:prstGeom prst="rect">
            <a:avLst/>
          </a:prstGeom>
        </p:spPr>
      </p:pic>
      <p:sp>
        <p:nvSpPr>
          <p:cNvPr id="3" name="Text 0"/>
          <p:cNvSpPr txBox="1"/>
          <p:nvPr/>
        </p:nvSpPr>
        <p:spPr>
          <a:xfrm>
            <a:off x="640080" y="1143000"/>
            <a:ext cx="5943600" cy="777240"/>
          </a:xfrm>
          <a:prstGeom prst="rect">
            <a:avLst/>
          </a:prstGeom>
          <a:noFill/>
          <a:ln/>
        </p:spPr>
        <p:txBody>
          <a:bodyPr wrap="square" lIns="0" tIns="0" rIns="0" bIns="0" rtlCol="0" anchor="t"/>
          <a:lstStyle/>
          <a:p>
            <a:pPr indent="0" marL="0">
              <a:buNone/>
            </a:pPr>
            <a:r>
              <a:rPr lang="en-US" sz="4400" dirty="0">
                <a:solidFill>
                  <a:srgbClr val="FFFFFF"/>
                </a:solidFill>
                <a:latin typeface="Century Schoolbook" pitchFamily="34" charset="0"/>
                <a:ea typeface="Century Schoolbook" pitchFamily="34" charset="-122"/>
                <a:cs typeface="Century Schoolbook" pitchFamily="34" charset="-120"/>
              </a:rPr>
              <a:t>Thank you</a:t>
            </a:r>
            <a:endParaRPr lang="en-US" sz="4400" dirty="0"/>
          </a:p>
        </p:txBody>
      </p:sp>
      <p:sp>
        <p:nvSpPr>
          <p:cNvPr id="4" name="Text 1"/>
          <p:cNvSpPr txBox="1"/>
          <p:nvPr/>
        </p:nvSpPr>
        <p:spPr>
          <a:xfrm>
            <a:off x="640080" y="1901952"/>
            <a:ext cx="5943600" cy="548640"/>
          </a:xfrm>
          <a:prstGeom prst="rect">
            <a:avLst/>
          </a:prstGeom>
          <a:noFill/>
          <a:ln/>
        </p:spPr>
        <p:txBody>
          <a:bodyPr wrap="square" lIns="0" tIns="0" rIns="0" bIns="0" rtlCol="0" anchor="t"/>
          <a:lstStyle/>
          <a:p>
            <a:pPr indent="0" marL="0">
              <a:buNone/>
            </a:pPr>
            <a:r>
              <a:rPr lang="en-US" sz="2800" dirty="0">
                <a:solidFill>
                  <a:srgbClr val="3DDC97"/>
                </a:solidFill>
                <a:latin typeface="Century Schoolbook" pitchFamily="34" charset="0"/>
                <a:ea typeface="Century Schoolbook" pitchFamily="34" charset="-122"/>
                <a:cs typeface="Century Schoolbook" pitchFamily="34" charset="-120"/>
              </a:rPr>
              <a:t>Questions</a:t>
            </a:r>
            <a:endParaRPr lang="en-US" sz="2800" dirty="0"/>
          </a:p>
        </p:txBody>
      </p:sp>
      <p:sp>
        <p:nvSpPr>
          <p:cNvPr id="5" name="Text 2"/>
          <p:cNvSpPr txBox="1"/>
          <p:nvPr/>
        </p:nvSpPr>
        <p:spPr>
          <a:xfrm>
            <a:off x="640080" y="2743200"/>
            <a:ext cx="59436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FIGURES FOR THE DISCUSSION</a:t>
            </a:r>
            <a:endParaRPr lang="en-US" sz="1050" dirty="0"/>
          </a:p>
        </p:txBody>
      </p:sp>
      <p:sp>
        <p:nvSpPr>
          <p:cNvPr id="6" name="Text 3"/>
          <p:cNvSpPr txBox="1"/>
          <p:nvPr/>
        </p:nvSpPr>
        <p:spPr>
          <a:xfrm>
            <a:off x="64008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5 of 10</a:t>
            </a:r>
            <a:endParaRPr lang="en-US" sz="1900" dirty="0"/>
          </a:p>
        </p:txBody>
      </p:sp>
      <p:sp>
        <p:nvSpPr>
          <p:cNvPr id="7" name="Text 4"/>
          <p:cNvSpPr txBox="1"/>
          <p:nvPr/>
        </p:nvSpPr>
        <p:spPr>
          <a:xfrm>
            <a:off x="640080" y="3438144"/>
            <a:ext cx="2834640" cy="4572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winners supported by every seed</a:t>
            </a:r>
            <a:endParaRPr lang="en-US" sz="1050" dirty="0"/>
          </a:p>
        </p:txBody>
      </p:sp>
      <p:sp>
        <p:nvSpPr>
          <p:cNvPr id="8" name="Text 5"/>
          <p:cNvSpPr txBox="1"/>
          <p:nvPr/>
        </p:nvSpPr>
        <p:spPr>
          <a:xfrm>
            <a:off x="370332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15.9×</a:t>
            </a:r>
            <a:endParaRPr lang="en-US" sz="1900" dirty="0"/>
          </a:p>
        </p:txBody>
      </p:sp>
      <p:sp>
        <p:nvSpPr>
          <p:cNvPr id="9" name="Text 6"/>
          <p:cNvSpPr txBox="1"/>
          <p:nvPr/>
        </p:nvSpPr>
        <p:spPr>
          <a:xfrm>
            <a:off x="3703320" y="3438144"/>
            <a:ext cx="2834640" cy="4572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construction effect, in units of the control’s re-run; search components 0.4–2.0×</a:t>
            </a:r>
            <a:endParaRPr lang="en-US" sz="1050" dirty="0"/>
          </a:p>
        </p:txBody>
      </p:sp>
      <p:sp>
        <p:nvSpPr>
          <p:cNvPr id="10" name="Text 7"/>
          <p:cNvSpPr txBox="1"/>
          <p:nvPr/>
        </p:nvSpPr>
        <p:spPr>
          <a:xfrm>
            <a:off x="64008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21,519 HV</a:t>
            </a:r>
            <a:endParaRPr lang="en-US" sz="1900" dirty="0"/>
          </a:p>
        </p:txBody>
      </p:sp>
      <p:sp>
        <p:nvSpPr>
          <p:cNvPr id="11" name="Text 8"/>
          <p:cNvSpPr txBox="1"/>
          <p:nvPr/>
        </p:nvSpPr>
        <p:spPr>
          <a:xfrm>
            <a:off x="640080" y="4279392"/>
            <a:ext cx="2834640" cy="4572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difference between two full runs of the same control (ten-instance total)</a:t>
            </a:r>
            <a:endParaRPr lang="en-US" sz="1050" dirty="0"/>
          </a:p>
        </p:txBody>
      </p:sp>
      <p:sp>
        <p:nvSpPr>
          <p:cNvPr id="12" name="Text 9"/>
          <p:cNvSpPr txBox="1"/>
          <p:nvPr/>
        </p:nvSpPr>
        <p:spPr>
          <a:xfrm>
            <a:off x="370332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0.23%</a:t>
            </a:r>
            <a:endParaRPr lang="en-US" sz="1900" dirty="0"/>
          </a:p>
        </p:txBody>
      </p:sp>
      <p:sp>
        <p:nvSpPr>
          <p:cNvPr id="13" name="Text 10"/>
          <p:cNvSpPr txBox="1"/>
          <p:nvPr/>
        </p:nvSpPr>
        <p:spPr>
          <a:xfrm>
            <a:off x="3703320" y="4279392"/>
            <a:ext cx="2834640" cy="4572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highest acceptance rate of any move operator</a:t>
            </a:r>
            <a:endParaRPr lang="en-US" sz="1050" dirty="0"/>
          </a:p>
        </p:txBody>
      </p:sp>
      <p:sp>
        <p:nvSpPr>
          <p:cNvPr id="14" name="Text 11"/>
          <p:cNvSpPr txBox="1"/>
          <p:nvPr/>
        </p:nvSpPr>
        <p:spPr>
          <a:xfrm>
            <a:off x="64008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+33,043 HV</a:t>
            </a:r>
            <a:endParaRPr lang="en-US" sz="1900" dirty="0"/>
          </a:p>
        </p:txBody>
      </p:sp>
      <p:sp>
        <p:nvSpPr>
          <p:cNvPr id="15" name="Text 12"/>
          <p:cNvSpPr txBox="1"/>
          <p:nvPr/>
        </p:nvSpPr>
        <p:spPr>
          <a:xfrm>
            <a:off x="640080" y="5120640"/>
            <a:ext cx="2834640" cy="4572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gain from ten times the budget, against a lead of at least 269,607 HV</a:t>
            </a:r>
            <a:endParaRPr lang="en-US" sz="1050" dirty="0"/>
          </a:p>
        </p:txBody>
      </p:sp>
      <p:sp>
        <p:nvSpPr>
          <p:cNvPr id="16" name="Text 13"/>
          <p:cNvSpPr txBox="1"/>
          <p:nvPr/>
        </p:nvSpPr>
        <p:spPr>
          <a:xfrm>
            <a:off x="370332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0.63%</a:t>
            </a:r>
            <a:endParaRPr lang="en-US" sz="1900" dirty="0"/>
          </a:p>
        </p:txBody>
      </p:sp>
      <p:sp>
        <p:nvSpPr>
          <p:cNvPr id="17" name="Text 14"/>
          <p:cNvSpPr txBox="1"/>
          <p:nvPr/>
        </p:nvSpPr>
        <p:spPr>
          <a:xfrm>
            <a:off x="3703320" y="5120640"/>
            <a:ext cx="2834640" cy="4572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gap between the best known small-graph score and its upper bound</a:t>
            </a:r>
            <a:endParaRPr lang="en-US" sz="1050" dirty="0"/>
          </a:p>
        </p:txBody>
      </p:sp>
      <p:sp>
        <p:nvSpPr>
          <p:cNvPr id="18" name="Text 15"/>
          <p:cNvSpPr txBox="1"/>
          <p:nvPr/>
        </p:nvSpPr>
        <p:spPr>
          <a:xfrm>
            <a:off x="640080" y="5833872"/>
            <a:ext cx="7498080" cy="274320"/>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MSc. Ass. Adrian Ymeri · adrian.ymeri@uni-pr.edu · University of Prishtina “Hasan Prishtina”</a:t>
            </a:r>
            <a:endParaRPr lang="en-US" sz="1250" dirty="0"/>
          </a:p>
        </p:txBody>
      </p:sp>
      <p:sp>
        <p:nvSpPr>
          <p:cNvPr id="19" name="Text 16"/>
          <p:cNvSpPr txBox="1"/>
          <p:nvPr/>
        </p:nvSpPr>
        <p:spPr>
          <a:xfrm>
            <a:off x="640080" y="6163056"/>
            <a:ext cx="749808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Code, raw results and every figure in this talk can be regenerated from the study’s harness.</a:t>
            </a:r>
            <a:endParaRPr lang="en-US" sz="1050" dirty="0"/>
          </a:p>
        </p:txBody>
      </p:sp>
    </p:spTree>
  </p:cSld>
  <p:clrMapOvr>
    <a:masterClrMapping/>
  </p:clrMapOvr>
</p:sld>
</file>

<file path=ppt/theme/theme1.xml><?xml version="1.0" encoding="utf-8"?>
<a:theme xmlns:a="http://schemas.openxmlformats.org/drawingml/2006/main" name="SpOC3 Deep Space">
  <a:themeElements>
    <a:clrScheme name="SpOC3 Deep Space">
      <a:dk1>
        <a:srgbClr val="E8ECF2"/>
      </a:dk1>
      <a:lt1>
        <a:srgbClr val="0B0F17"/>
      </a:lt1>
      <a:dk2>
        <a:srgbClr val="9AA6B6"/>
      </a:dk2>
      <a:lt2>
        <a:srgbClr val="131B28"/>
      </a:lt2>
      <a:accent1>
        <a:srgbClr val="4DA3FF"/>
      </a:accent1>
      <a:accent2>
        <a:srgbClr val="3DDC97"/>
      </a:accent2>
      <a:accent3>
        <a:srgbClr val="FF5A60"/>
      </a:accent3>
      <a:accent4>
        <a:srgbClr val="F2C14E"/>
      </a:accent4>
      <a:accent5>
        <a:srgbClr val="8B7CF6"/>
      </a:accent5>
      <a:accent6>
        <a:srgbClr val="7D8AA0"/>
      </a:accent6>
      <a:hlink>
        <a:srgbClr val="4DA3FF"/>
      </a:hlink>
      <a:folHlink>
        <a:srgbClr val="8B7CF6"/>
      </a:folHlink>
    </a:clrScheme>
    <a:fontScheme name="SpOC3 Deep Space">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Bi-objective optimization of graph structures through concurrent decomposition and assembly: A controlled comparison of Hill-Climbing with the leading ESA SpOC-3 methods</dc:title>
  <dc:subject>AlbShkenca 2026</dc:subject>
  <dc:creator>Adrian Ymeri</dc:creator>
  <cp:lastModifiedBy>Adrian Ymeri</cp:lastModifiedBy>
  <cp:revision>1</cp:revision>
  <dcterms:created xsi:type="dcterms:W3CDTF">2026-10-14T20:33:44Z</dcterms:created>
  <dcterms:modified xsi:type="dcterms:W3CDTF">2026-10-14T20:33:44Z</dcterms:modified>
</cp:coreProperties>
</file>