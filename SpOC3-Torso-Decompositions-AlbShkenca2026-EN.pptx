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475ed296-3fa0-aeb7-6bbd-270e1117f7bf}">
          <p14:sldIdLst>
            <p14:sldId id="256"/>
            <p14:sldId id="257"/>
            <p14:sldId id="258"/>
            <p14:sldId id="259"/>
            <p14:sldId id="260"/>
            <p14:sldId id="261"/>
            <p14:sldId id="262"/>
            <p14:sldId id="263"/>
            <p14:sldId id="264"/>
            <p14:sldId id="265"/>
            <p14:sldId id="266"/>
            <p14:sldId id="267"/>
            <p14:sldId id="268"/>
            <p14:sldId id="269"/>
            <p14:sldId id="270"/>
          </p14:sldIdLst>
        </p14:section>
        <p14:section name="Backup" id="{026d7bc4-d404-62b2-3a66-6b3cdc39a3ea}">
          <p14:sldIdLst>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Name and affiliation only; the next slide says what the talk is. Do not read the subtitle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Say what the talk is: one graph problem from ESA’s space optimisation challenge and, more importantly, how we decide that a number in a results table means something. Then the promise at the bottom of the slide. Do not read the seven parts; the Roman numerals reappear above every slide title, so the audience can always tell where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80 seconds. The slide the talk rests on. Read the ordering left to right. Vertex 0 points to 1 and 2, which are not adjacent, so the fill edge {1,2} appears: that is the first red arc. Nine appear in all. The threshold t = 6 discards the first six vertices; the last four are the torso, and the largest out-degree among them is 2. I checked that this reproduces ESA’s stated answer before putting it on a slide. Close with: strip the cover story and this is elimination ordering, which everyone here has met as treewidth, sparse Cholesky or variable elimination.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score is an area, not a count. The 500 cap is what makes the landscape cliff-edged: it is checked at every elimination step, including the part you throw away, and one breach scores the whole vector as width 501. That is ESA’s published rule; our harness is stricter and discards the whole submission. It matters in four slides, when a search starts from a random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This bound is the most reusable piece of the work, and the argument fits on one line: put the eliminated set into every bag. A gap is two unknowns added together: how far the best answer is from the optimum, plus how far the bound is from it. Where the gap is small both are small, so the sparse instance is solved to within 0.63%. On large-graph a 500-clique forces treewidth to at least 499, and feasible answers inside the cap force it to at most 500: treewidth known to within one on a 2,426-vertex graph. That 4.54% is real headroom.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Short slide, important caveat. Seven synthetic instances were generated to match the three official ones in size, so anything that changes between families is about structure. It also means the effective sample size for every claim in this talk is three, not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Read it by column. Spacekangaroos, ESA’s overall winner, takes small-graph but finds nothing legal on the three dense instances within the budget. fcmaes owns the dense rows by hundreds of thousands. The table names a winner on every row, and that is exactly the problem: a table always does. The rest of the talk asks which of these ten winners mean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80 seconds. The six zeros are the argument: on six instances a random ordering is not a weak start, it is no start at all. Then the comparison: an earlier benchmark started Hill Climbing from min-degree and Team HRI from random, as HRI’s paper specifies, and it looked like a 275,000 HV rout. Give both the same construction and the gap is 1,234 HV. If you keep one thing about benchmarking from this talk: check the starting conditions before believing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Slow down; this is the pivot. Because the climber stops on the clock, two sessions are two independent samples, and I had both. Per instance, the change between sessions is no bigger than the scatter of the seeds inside a session: synth-4 moved 7,881, but its own seeds spread 13,214. On the ten-instance total it is different: reshuffling seeds between sessions moves the total as far as we observed only 4.6% of the time, so sessions matter for aggregates. And the noise spans four orders of magnitude across methods and instances, which is why no single threshold can judge every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seconds. Here is what the seeds say. Best of three is a biased statistic: it rewards whichever method is noisier. On small-graph Spacekangaroos wins on one lucky seed; its other two seeds trail every seed of Team HRI. On synth-5 the median names a different winner. On medium-graph HRI wins, but its own seeds span 80,000 HV. A row counts as resolved only if every seed of the winner beats every seed of every rival; with three seeds that is an exact rank test at p = 0.05. Five rows pass and five do not. synth-3 passes because every Hill Climbing seed beats its own starting point, by 24 to 71 HV: real, and useless. My first draft judged every row against one threshold taken from Hill Climbing’s noise, and it got four of these ten rows wrong; the count of five was a coincidence.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80 seconds. This is the controlled design: three components, one replaced at a time, everything else fixed. The bars are the gain over the control; the rings are the same arm measured against the control’s other session; the band is how far the control moves when you simply run it again. The move pool and VNS change sign when the control is re-drawn, and an effect that changes sign when you re-draw the control was never there. Simulated annealing halves. The construction lever is nearly sixteen times the band, and all of it lives on the three dense instances: plus 343,623 there, minus 2,360 on the other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cut this slide first if short of time. Thirteen new operators, from k-opt to structure-aware moves, each alone. None clears the band, and against both sessions of the control none wins a single instance. The accept rate says why: the best anywhere is 0.23%. The score comes mostly from evaluated candidates donating their staircases to a shared front, not from accepted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The obvious objection to a one-budget study is that search just needs more time. Ten times the budget buys Hill Climbing 33,043 HV, about one and a half times the control’s own re-draw, while construction leads by 270,000 to 390,000 at every budget. The construction line moves because each budget draws different constructions; an earlier reading of these numbers mistook that movement for search closing the gap, and I have withdrawn it. One more way to see it: min-degree alone, eight constructions in under a minute, would place seventh to ninth on all three of ESA’s leaderboards.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Three requests, then the closing sentence. Deliver the last line without hedging; it is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discussion; the six figures are the ones most likely to be challenged. Backup slides follow: the errors I caught, the protocol, every seed, why the sparse family is one-dimensional, the operator findings and the budget sweep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All four errors were mine or in code I vendored, and none was caught by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fairness. If asked how we know the scoring is ESA’s: harness/esa_crosscheck.py runs ESA’s published evaluation file beside ours; every check is identical, and the three competition graphs are byte-identical to ESA’s.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Every number on the verdict slide can be read off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first two paragraphs are a derivation, not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the search operators. Sources: harness/delta_check.log for exactness, harness/speed.log for the speed-up (re-measured 14 October: geometric mean 1.76×; an earlier 1.81× run kept no rows, so quote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Lead is measured against the construction’s mean over the three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640080" y="6446520"/>
            <a:ext cx="6400800" cy="219456"/>
          </a:xfrm>
          <a:prstGeom prst="rect">
            <a:avLst/>
          </a:prstGeom>
          <a:noFill/>
          <a:ln/>
        </p:spPr>
        <p:txBody>
          <a:bodyPr wrap="square" lIns="0" tIns="0" rIns="0" bIns="0" rtlCol="0" anchor="ctr"/>
          <a:lstStyle/>
          <a:p>
            <a:pPr indent="0" marL="0">
              <a:buNone/>
            </a:pPr>
            <a:r>
              <a:rPr lang="en-US" sz="1000" dirty="0">
                <a:solidFill>
                  <a:srgbClr val="7D8AA0"/>
                </a:solidFill>
                <a:latin typeface="Calibri" pitchFamily="34" charset="0"/>
                <a:ea typeface="Calibri" pitchFamily="34" charset="-122"/>
                <a:cs typeface="Calibri" pitchFamily="34" charset="-120"/>
              </a:rPr>
              <a:t>Torso decompositions · AlbShkenca 2026</a:t>
            </a:r>
            <a:endParaRPr lang="en-US" sz="1000" dirty="0"/>
          </a:p>
        </p:txBody>
      </p:sp>
      <p:sp>
        <p:nvSpPr>
          <p:cNvPr id="3" name="Text 1"/>
          <p:cNvSpPr/>
          <p:nvPr>
            <p:ph idx="101" type="body" hasCustomPrompt="1"/>
          </p:nvPr>
        </p:nvSpPr>
        <p:spPr>
          <a:xfrm>
            <a:off x="640080" y="402336"/>
            <a:ext cx="10911535" cy="256032"/>
          </a:xfrm>
          <a:prstGeom prst="rect">
            <a:avLst/>
          </a:prstGeom>
          <a:noFill/>
          <a:ln/>
        </p:spPr>
        <p:txBody>
          <a:bodyPr wrap="square" rtlCol="0"/>
          <a:lstStyle>
            <a:lvl1pPr algn="l" indent="0" marL="0">
              <a:buNone/>
              <a:defRPr lang="en-US" sz="1050" b="1" spc="180" kern="0" dirty="0">
                <a:solidFill>
                  <a:srgbClr val="9AA6B6"/>
                </a:solidFill>
                <a:latin typeface="Calibri" pitchFamily="34" charset="0"/>
                <a:ea typeface="Calibri" pitchFamily="34" charset="-122"/>
                <a:cs typeface="Calibri" pitchFamily="34" charset="-120"/>
              </a:defRPr>
            </a:lvl1pPr>
          </a:lstStyle>
          <a:p>
            <a:pPr algn="l" indent="0" marL="0">
              <a:buNone/>
            </a:pPr>
            <a:endParaRPr lang="en-US" sz="1050" dirty="0"/>
          </a:p>
        </p:txBody>
      </p:sp>
      <p:sp>
        <p:nvSpPr>
          <p:cNvPr id="4" name="Text 1"/>
          <p:cNvSpPr/>
          <p:nvPr>
            <p:ph idx="102" type="title" hasCustomPrompt="1"/>
          </p:nvPr>
        </p:nvSpPr>
        <p:spPr>
          <a:xfrm>
            <a:off x="640080" y="676656"/>
            <a:ext cx="10911535" cy="868680"/>
          </a:xfrm>
          <a:prstGeom prst="rect">
            <a:avLst/>
          </a:prstGeom>
          <a:noFill/>
          <a:ln/>
        </p:spPr>
        <p:txBody>
          <a:bodyPr wrap="square" rtlCol="0"/>
          <a:lstStyle>
            <a:lvl1pPr algn="l" indent="0" marL="0">
              <a:buNone/>
              <a:defRPr lang="en-US" sz="2700" dirty="0">
                <a:solidFill>
                  <a:srgbClr val="E8ECF2"/>
                </a:solidFill>
                <a:latin typeface="Century Schoolbook" pitchFamily="34" charset="0"/>
                <a:ea typeface="Century Schoolbook" pitchFamily="34" charset="-122"/>
                <a:cs typeface="Century Schoolbook" pitchFamily="34" charset="-120"/>
              </a:defRPr>
            </a:lvl1pPr>
          </a:lstStyle>
          <a:p>
            <a:pPr algn="l" indent="0" marL="0">
              <a:buNone/>
            </a:pPr>
            <a:endParaRPr lang="en-US" sz="270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828800"/>
            <a:ext cx="6400800" cy="237744"/>
          </a:xfrm>
          <a:prstGeom prst="rect">
            <a:avLst/>
          </a:prstGeom>
          <a:noFill/>
          <a:ln/>
        </p:spPr>
        <p:txBody>
          <a:bodyPr wrap="square" lIns="0" tIns="0" rIns="0" bIns="0" rtlCol="0" anchor="t"/>
          <a:lstStyle/>
          <a:p>
            <a:pPr indent="0" marL="0">
              <a:buNone/>
            </a:pPr>
            <a:r>
              <a:rPr lang="en-US" sz="1200" b="1" spc="300" kern="0" dirty="0">
                <a:solidFill>
                  <a:srgbClr val="3DDC97"/>
                </a:solidFill>
                <a:latin typeface="Calibri" pitchFamily="34" charset="0"/>
                <a:ea typeface="Calibri" pitchFamily="34" charset="-122"/>
                <a:cs typeface="Calibri" pitchFamily="34" charset="-120"/>
              </a:rPr>
              <a:t>ALBSHKENCA 2026 · COMPUTER SCIENCE</a:t>
            </a:r>
            <a:endParaRPr lang="en-US" sz="1200" dirty="0"/>
          </a:p>
        </p:txBody>
      </p:sp>
      <p:sp>
        <p:nvSpPr>
          <p:cNvPr id="3" name="Text 1"/>
          <p:cNvSpPr txBox="1"/>
          <p:nvPr/>
        </p:nvSpPr>
        <p:spPr>
          <a:xfrm>
            <a:off x="640080" y="2194560"/>
            <a:ext cx="6766560" cy="1783080"/>
          </a:xfrm>
          <a:prstGeom prst="rect">
            <a:avLst/>
          </a:prstGeom>
          <a:noFill/>
          <a:ln/>
        </p:spPr>
        <p:txBody>
          <a:bodyPr wrap="square" lIns="0" tIns="0" rIns="0" bIns="0" rtlCol="0" anchor="t"/>
          <a:lstStyle/>
          <a:p>
            <a:pPr indent="0" marL="0">
              <a:lnSpc>
                <a:spcPct val="95000"/>
              </a:lnSpc>
              <a:buNone/>
            </a:pPr>
            <a:r>
              <a:rPr lang="en-US" sz="4400" dirty="0">
                <a:solidFill>
                  <a:srgbClr val="FFFFFF"/>
                </a:solidFill>
                <a:latin typeface="Century Schoolbook" pitchFamily="34" charset="0"/>
                <a:ea typeface="Century Schoolbook" pitchFamily="34" charset="-122"/>
                <a:cs typeface="Century Schoolbook" pitchFamily="34" charset="-120"/>
              </a:rPr>
              <a:t>What a benchmark table</a:t>
            </a:r>
            <a:endParaRPr lang="en-US" sz="4400" dirty="0"/>
          </a:p>
          <a:p>
            <a:pPr indent="0" marL="0">
              <a:lnSpc>
                <a:spcPct val="95000"/>
              </a:lnSpc>
              <a:buNone/>
            </a:pPr>
            <a:r>
              <a:rPr lang="en-US" sz="4400" dirty="0">
                <a:solidFill>
                  <a:srgbClr val="FFFFFF"/>
                </a:solidFill>
                <a:latin typeface="Century Schoolbook" pitchFamily="34" charset="0"/>
                <a:ea typeface="Century Schoolbook" pitchFamily="34" charset="-122"/>
                <a:cs typeface="Century Schoolbook" pitchFamily="34" charset="-120"/>
              </a:rPr>
              <a:t>does and does not prove</a:t>
            </a:r>
            <a:endParaRPr lang="en-US" sz="4400" dirty="0"/>
          </a:p>
        </p:txBody>
      </p:sp>
      <p:sp>
        <p:nvSpPr>
          <p:cNvPr id="4" name="Text 2"/>
          <p:cNvSpPr txBox="1"/>
          <p:nvPr/>
        </p:nvSpPr>
        <p:spPr>
          <a:xfrm>
            <a:off x="640080" y="4041648"/>
            <a:ext cx="6309360" cy="411480"/>
          </a:xfrm>
          <a:prstGeom prst="rect">
            <a:avLst/>
          </a:prstGeom>
          <a:noFill/>
          <a:ln/>
        </p:spPr>
        <p:txBody>
          <a:bodyPr wrap="square" lIns="0" tIns="0" rIns="0" bIns="0" rtlCol="0" anchor="t"/>
          <a:lstStyle/>
          <a:p>
            <a:pPr indent="0" marL="0">
              <a:buNone/>
            </a:pPr>
            <a:r>
              <a:rPr lang="en-US" sz="1800" dirty="0">
                <a:solidFill>
                  <a:srgbClr val="9AA6B6"/>
                </a:solidFill>
                <a:latin typeface="Calibri" pitchFamily="34" charset="0"/>
                <a:ea typeface="Calibri" pitchFamily="34" charset="-122"/>
                <a:cs typeface="Calibri" pitchFamily="34" charset="-120"/>
              </a:rPr>
              <a:t>A controlled study of ESA’s SpOC-3 Torso Decompositions</a:t>
            </a:r>
            <a:endParaRPr lang="en-US" sz="1800" dirty="0"/>
          </a:p>
        </p:txBody>
      </p:sp>
      <p:sp>
        <p:nvSpPr>
          <p:cNvPr id="5" name="Text 3"/>
          <p:cNvSpPr txBox="1"/>
          <p:nvPr/>
        </p:nvSpPr>
        <p:spPr>
          <a:xfrm>
            <a:off x="640080" y="4892040"/>
            <a:ext cx="5486400" cy="347472"/>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Adrian Ymeri</a:t>
            </a:r>
            <a:endParaRPr lang="en-US" sz="1800" dirty="0"/>
          </a:p>
        </p:txBody>
      </p:sp>
      <p:sp>
        <p:nvSpPr>
          <p:cNvPr id="6" name="Text 4"/>
          <p:cNvSpPr txBox="1"/>
          <p:nvPr/>
        </p:nvSpPr>
        <p:spPr>
          <a:xfrm>
            <a:off x="640080" y="5248656"/>
            <a:ext cx="5486400" cy="310896"/>
          </a:xfrm>
          <a:prstGeom prst="rect">
            <a:avLst/>
          </a:prstGeom>
          <a:noFill/>
          <a:ln/>
        </p:spPr>
        <p:txBody>
          <a:bodyPr wrap="square" lIns="0" tIns="0" rIns="0" bIns="0" rtlCol="0" anchor="t"/>
          <a:lstStyle/>
          <a:p>
            <a:pPr indent="0" marL="0">
              <a:buNone/>
            </a:pPr>
            <a:r>
              <a:rPr lang="en-US" sz="1400" dirty="0">
                <a:solidFill>
                  <a:srgbClr val="9AA6B6"/>
                </a:solidFill>
                <a:latin typeface="Calibri" pitchFamily="34" charset="0"/>
                <a:ea typeface="Calibri" pitchFamily="34" charset="-122"/>
                <a:cs typeface="Calibri" pitchFamily="34" charset="-120"/>
              </a:rPr>
              <a:t>University of Prishtina</a:t>
            </a:r>
            <a:endParaRPr lang="en-US" sz="1400" dirty="0"/>
          </a:p>
        </p:txBody>
      </p:sp>
      <p:sp>
        <p:nvSpPr>
          <p:cNvPr id="7" name="Text 5"/>
          <p:cNvSpPr txBox="1"/>
          <p:nvPr/>
        </p:nvSpPr>
        <p:spPr>
          <a:xfrm>
            <a:off x="640080" y="6217920"/>
            <a:ext cx="8229600" cy="256032"/>
          </a:xfrm>
          <a:prstGeom prst="rect">
            <a:avLst/>
          </a:prstGeom>
          <a:noFill/>
          <a:ln/>
        </p:spPr>
        <p:txBody>
          <a:bodyPr wrap="square" lIns="0" tIns="0" rIns="0" bIns="0" rtlCol="0" anchor="t"/>
          <a:lstStyle/>
          <a:p>
            <a:pPr indent="0" marL="0">
              <a:buNone/>
            </a:pPr>
            <a:r>
              <a:rPr lang="en-US" sz="1100" dirty="0">
                <a:solidFill>
                  <a:srgbClr val="7D8AA0"/>
                </a:solidFill>
                <a:latin typeface="Calibri" pitchFamily="34" charset="0"/>
                <a:ea typeface="Calibri" pitchFamily="34" charset="-122"/>
                <a:cs typeface="Calibri" pitchFamily="34" charset="-120"/>
              </a:rPr>
              <a:t>10 instances · 3 leaderboard entries re-run · 17 move operators · 3 budgets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ROADMAP</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From a results table to a claim, in seven steps</a:t>
            </a:r>
            <a:endParaRPr lang="en-US" sz="2700" dirty="0"/>
          </a:p>
        </p:txBody>
      </p:sp>
      <p:sp>
        <p:nvSpPr>
          <p:cNvPr id="4" name="Text 2"/>
          <p:cNvSpPr txBox="1"/>
          <p:nvPr/>
        </p:nvSpPr>
        <p:spPr>
          <a:xfrm>
            <a:off x="640080" y="1828800"/>
            <a:ext cx="4343400" cy="1463040"/>
          </a:xfrm>
          <a:prstGeom prst="rect">
            <a:avLst/>
          </a:prstGeom>
          <a:noFill/>
          <a:ln/>
        </p:spPr>
        <p:txBody>
          <a:bodyPr wrap="square" lIns="0" tIns="0" rIns="0" bIns="0" rtlCol="0" anchor="t"/>
          <a:lstStyle/>
          <a:p>
            <a:pPr indent="0" marL="0">
              <a:lnSpc>
                <a:spcPct val="100000"/>
              </a:lnSpc>
              <a:buNone/>
            </a:pPr>
            <a:r>
              <a:rPr lang="en-US" sz="2600" i="1" dirty="0">
                <a:solidFill>
                  <a:srgbClr val="FFFFFF"/>
                </a:solidFill>
                <a:latin typeface="Century Schoolbook" pitchFamily="34" charset="0"/>
                <a:ea typeface="Century Schoolbook" pitchFamily="34" charset="-122"/>
                <a:cs typeface="Century Schoolbook" pitchFamily="34" charset="-120"/>
              </a:rPr>
              <a:t>Which numbers in a results table can carry a claim?</a:t>
            </a:r>
            <a:endParaRPr lang="en-US" sz="2600" dirty="0"/>
          </a:p>
        </p:txBody>
      </p:sp>
      <p:sp>
        <p:nvSpPr>
          <p:cNvPr id="5" name="Text 3"/>
          <p:cNvSpPr txBox="1"/>
          <p:nvPr/>
        </p:nvSpPr>
        <p:spPr>
          <a:xfrm>
            <a:off x="640080" y="3429000"/>
            <a:ext cx="4343400" cy="960120"/>
          </a:xfrm>
          <a:prstGeom prst="rect">
            <a:avLst/>
          </a:prstGeom>
          <a:noFill/>
          <a:ln/>
        </p:spPr>
        <p:txBody>
          <a:bodyPr wrap="square" lIns="0" tIns="0" rIns="0" bIns="0" rtlCol="0" anchor="t"/>
          <a:lstStyle/>
          <a:p>
            <a:pPr indent="0" marL="0">
              <a:buNone/>
            </a:pPr>
            <a:r>
              <a:rPr lang="en-US" sz="1350" dirty="0">
                <a:solidFill>
                  <a:srgbClr val="9AA6B6"/>
                </a:solidFill>
                <a:latin typeface="Calibri" pitchFamily="34" charset="0"/>
                <a:ea typeface="Calibri" pitchFamily="34" charset="-122"/>
                <a:cs typeface="Calibri" pitchFamily="34" charset="-120"/>
              </a:rPr>
              <a:t>Asked of one table: ESA’s SpOC-3 Torso Decompositions, ten instances, three leaderboard entries re-run beside a hill climber and a no-search construction.</a:t>
            </a:r>
            <a:endParaRPr lang="en-US" sz="1350" dirty="0"/>
          </a:p>
        </p:txBody>
      </p:sp>
      <p:sp>
        <p:nvSpPr>
          <p:cNvPr id="6" name="Shape 4"/>
          <p:cNvSpPr/>
          <p:nvPr/>
        </p:nvSpPr>
        <p:spPr>
          <a:xfrm>
            <a:off x="640080" y="4709160"/>
            <a:ext cx="4343400" cy="1097280"/>
          </a:xfrm>
          <a:prstGeom prst="rect">
            <a:avLst/>
          </a:prstGeom>
          <a:solidFill>
            <a:srgbClr val="131B28"/>
          </a:solidFill>
          <a:ln/>
        </p:spPr>
      </p:sp>
      <p:sp>
        <p:nvSpPr>
          <p:cNvPr id="7" name="Shape 5"/>
          <p:cNvSpPr/>
          <p:nvPr/>
        </p:nvSpPr>
        <p:spPr>
          <a:xfrm>
            <a:off x="640080" y="4709160"/>
            <a:ext cx="54864" cy="1097280"/>
          </a:xfrm>
          <a:prstGeom prst="rect">
            <a:avLst/>
          </a:prstGeom>
          <a:solidFill>
            <a:srgbClr val="3DDC97"/>
          </a:solidFill>
          <a:ln/>
        </p:spPr>
      </p:sp>
      <p:sp>
        <p:nvSpPr>
          <p:cNvPr id="8" name="Text 6"/>
          <p:cNvSpPr txBox="1"/>
          <p:nvPr/>
        </p:nvSpPr>
        <p:spPr>
          <a:xfrm>
            <a:off x="896112" y="4773168"/>
            <a:ext cx="3931920" cy="969264"/>
          </a:xfrm>
          <a:prstGeom prst="rect">
            <a:avLst/>
          </a:prstGeom>
          <a:noFill/>
          <a:ln/>
        </p:spPr>
        <p:txBody>
          <a:bodyPr wrap="square" lIns="0" tIns="0" rIns="0" bIns="0" rtlCol="0" anchor="ctr"/>
          <a:lstStyle/>
          <a:p>
            <a:pPr indent="0" marL="0">
              <a:buNone/>
            </a:pPr>
            <a:r>
              <a:rPr lang="en-US" sz="1400" dirty="0">
                <a:solidFill>
                  <a:srgbClr val="E8ECF2"/>
                </a:solidFill>
                <a:latin typeface="Calibri" pitchFamily="34" charset="0"/>
                <a:ea typeface="Calibri" pitchFamily="34" charset="-122"/>
                <a:cs typeface="Calibri" pitchFamily="34" charset="-120"/>
              </a:rPr>
              <a:t>By the end: which of this table’s numbers carry a claim, and three requests to make of any table.</a:t>
            </a:r>
            <a:endParaRPr lang="en-US" sz="1400" dirty="0"/>
          </a:p>
        </p:txBody>
      </p:sp>
      <p:sp>
        <p:nvSpPr>
          <p:cNvPr id="9" name="Shape 7"/>
          <p:cNvSpPr/>
          <p:nvPr/>
        </p:nvSpPr>
        <p:spPr>
          <a:xfrm>
            <a:off x="5733288" y="1984248"/>
            <a:ext cx="0" cy="3648456"/>
          </a:xfrm>
          <a:prstGeom prst="line">
            <a:avLst/>
          </a:prstGeom>
          <a:noFill/>
          <a:ln w="12700">
            <a:solidFill>
              <a:srgbClr val="2A3546"/>
            </a:solidFill>
            <a:prstDash val="solid"/>
          </a:ln>
        </p:spPr>
      </p:sp>
      <p:sp>
        <p:nvSpPr>
          <p:cNvPr id="10" name="Shape 8"/>
          <p:cNvSpPr/>
          <p:nvPr/>
        </p:nvSpPr>
        <p:spPr>
          <a:xfrm>
            <a:off x="5664708" y="1915668"/>
            <a:ext cx="137160" cy="137160"/>
          </a:xfrm>
          <a:prstGeom prst="ellipse">
            <a:avLst/>
          </a:prstGeom>
          <a:solidFill>
            <a:srgbClr val="0B0F17"/>
          </a:solidFill>
          <a:ln w="19050">
            <a:solidFill>
              <a:srgbClr val="3DDC97"/>
            </a:solidFill>
            <a:prstDash val="solid"/>
          </a:ln>
        </p:spPr>
      </p:sp>
      <p:sp>
        <p:nvSpPr>
          <p:cNvPr id="11" name="Text 9"/>
          <p:cNvSpPr txBox="1"/>
          <p:nvPr/>
        </p:nvSpPr>
        <p:spPr>
          <a:xfrm>
            <a:off x="5952744" y="1801368"/>
            <a:ext cx="603504" cy="347472"/>
          </a:xfrm>
          <a:prstGeom prst="rect">
            <a:avLst/>
          </a:prstGeom>
          <a:noFill/>
          <a:ln/>
        </p:spPr>
        <p:txBody>
          <a:bodyPr wrap="square" lIns="0" tIns="0" rIns="0" bIns="0" rtlCol="0" anchor="t"/>
          <a:lstStyle/>
          <a:p>
            <a:pPr indent="0" marL="0">
              <a:buNone/>
            </a:pPr>
            <a:r>
              <a:rPr lang="en-US" sz="1700" dirty="0">
                <a:solidFill>
                  <a:srgbClr val="3DDC97"/>
                </a:solidFill>
                <a:latin typeface="Century Schoolbook" pitchFamily="34" charset="0"/>
                <a:ea typeface="Century Schoolbook" pitchFamily="34" charset="-122"/>
                <a:cs typeface="Century Schoolbook" pitchFamily="34" charset="-120"/>
              </a:rPr>
              <a:t>I</a:t>
            </a:r>
            <a:endParaRPr lang="en-US" sz="1700" dirty="0"/>
          </a:p>
        </p:txBody>
      </p:sp>
      <p:sp>
        <p:nvSpPr>
          <p:cNvPr id="12" name="Text 10"/>
          <p:cNvSpPr txBox="1"/>
          <p:nvPr/>
        </p:nvSpPr>
        <p:spPr>
          <a:xfrm>
            <a:off x="6583680" y="1828800"/>
            <a:ext cx="4967935" cy="274320"/>
          </a:xfrm>
          <a:prstGeom prst="rect">
            <a:avLst/>
          </a:prstGeom>
          <a:noFill/>
          <a:ln/>
        </p:spPr>
        <p:txBody>
          <a:bodyPr wrap="square" lIns="0" tIns="0" rIns="0" bIns="0" rtlCol="0" anchor="t"/>
          <a:lstStyle/>
          <a:p>
            <a:pPr indent="0" marL="0">
              <a:buNone/>
            </a:pPr>
            <a:r>
              <a:rPr lang="en-US" sz="1500" b="1" dirty="0">
                <a:solidFill>
                  <a:srgbClr val="E8ECF2"/>
                </a:solidFill>
                <a:latin typeface="Calibri" pitchFamily="34" charset="0"/>
                <a:ea typeface="Calibri" pitchFamily="34" charset="-122"/>
                <a:cs typeface="Calibri" pitchFamily="34" charset="-120"/>
              </a:rPr>
              <a:t>The object</a:t>
            </a:r>
            <a:endParaRPr lang="en-US" sz="1500" dirty="0"/>
          </a:p>
        </p:txBody>
      </p:sp>
      <p:sp>
        <p:nvSpPr>
          <p:cNvPr id="13" name="Text 11"/>
          <p:cNvSpPr txBox="1"/>
          <p:nvPr/>
        </p:nvSpPr>
        <p:spPr>
          <a:xfrm>
            <a:off x="6583680" y="2103120"/>
            <a:ext cx="4967935" cy="256032"/>
          </a:xfrm>
          <a:prstGeom prst="rect">
            <a:avLst/>
          </a:prstGeom>
          <a:noFill/>
          <a:ln/>
        </p:spPr>
        <p:txBody>
          <a:bodyPr wrap="square" lIns="0" tIns="0" rIns="0" bIns="0" rtlCol="0" anchor="t"/>
          <a:lstStyle/>
          <a:p>
            <a:pPr indent="0" marL="0">
              <a:buNone/>
            </a:pPr>
            <a:r>
              <a:rPr lang="en-US" sz="1200" dirty="0">
                <a:solidFill>
                  <a:srgbClr val="9AA6B6"/>
                </a:solidFill>
                <a:latin typeface="Calibri" pitchFamily="34" charset="0"/>
                <a:ea typeface="Calibri" pitchFamily="34" charset="-122"/>
                <a:cs typeface="Calibri" pitchFamily="34" charset="-120"/>
              </a:rPr>
              <a:t>what a torso is, and how ESA scores a submission</a:t>
            </a:r>
            <a:endParaRPr lang="en-US" sz="1200" dirty="0"/>
          </a:p>
        </p:txBody>
      </p:sp>
      <p:sp>
        <p:nvSpPr>
          <p:cNvPr id="14" name="Shape 12"/>
          <p:cNvSpPr/>
          <p:nvPr/>
        </p:nvSpPr>
        <p:spPr>
          <a:xfrm>
            <a:off x="5664708" y="2523744"/>
            <a:ext cx="137160" cy="137160"/>
          </a:xfrm>
          <a:prstGeom prst="ellipse">
            <a:avLst/>
          </a:prstGeom>
          <a:solidFill>
            <a:srgbClr val="0B0F17"/>
          </a:solidFill>
          <a:ln w="19050">
            <a:solidFill>
              <a:srgbClr val="3DDC97"/>
            </a:solidFill>
            <a:prstDash val="solid"/>
          </a:ln>
        </p:spPr>
      </p:sp>
      <p:sp>
        <p:nvSpPr>
          <p:cNvPr id="15" name="Text 13"/>
          <p:cNvSpPr txBox="1"/>
          <p:nvPr/>
        </p:nvSpPr>
        <p:spPr>
          <a:xfrm>
            <a:off x="5952744" y="2409444"/>
            <a:ext cx="603504" cy="347472"/>
          </a:xfrm>
          <a:prstGeom prst="rect">
            <a:avLst/>
          </a:prstGeom>
          <a:noFill/>
          <a:ln/>
        </p:spPr>
        <p:txBody>
          <a:bodyPr wrap="square" lIns="0" tIns="0" rIns="0" bIns="0" rtlCol="0" anchor="t"/>
          <a:lstStyle/>
          <a:p>
            <a:pPr indent="0" marL="0">
              <a:buNone/>
            </a:pPr>
            <a:r>
              <a:rPr lang="en-US" sz="1700" dirty="0">
                <a:solidFill>
                  <a:srgbClr val="3DDC97"/>
                </a:solidFill>
                <a:latin typeface="Century Schoolbook" pitchFamily="34" charset="0"/>
                <a:ea typeface="Century Schoolbook" pitchFamily="34" charset="-122"/>
                <a:cs typeface="Century Schoolbook" pitchFamily="34" charset="-120"/>
              </a:rPr>
              <a:t>II</a:t>
            </a:r>
            <a:endParaRPr lang="en-US" sz="1700" dirty="0"/>
          </a:p>
        </p:txBody>
      </p:sp>
      <p:sp>
        <p:nvSpPr>
          <p:cNvPr id="16" name="Text 14"/>
          <p:cNvSpPr txBox="1"/>
          <p:nvPr/>
        </p:nvSpPr>
        <p:spPr>
          <a:xfrm>
            <a:off x="6583680" y="2436876"/>
            <a:ext cx="4967935" cy="274320"/>
          </a:xfrm>
          <a:prstGeom prst="rect">
            <a:avLst/>
          </a:prstGeom>
          <a:noFill/>
          <a:ln/>
        </p:spPr>
        <p:txBody>
          <a:bodyPr wrap="square" lIns="0" tIns="0" rIns="0" bIns="0" rtlCol="0" anchor="t"/>
          <a:lstStyle/>
          <a:p>
            <a:pPr indent="0" marL="0">
              <a:buNone/>
            </a:pPr>
            <a:r>
              <a:rPr lang="en-US" sz="1500" b="1" dirty="0">
                <a:solidFill>
                  <a:srgbClr val="E8ECF2"/>
                </a:solidFill>
                <a:latin typeface="Calibri" pitchFamily="34" charset="0"/>
                <a:ea typeface="Calibri" pitchFamily="34" charset="-122"/>
                <a:cs typeface="Calibri" pitchFamily="34" charset="-120"/>
              </a:rPr>
              <a:t>How good could an answer be?</a:t>
            </a:r>
            <a:endParaRPr lang="en-US" sz="1500" dirty="0"/>
          </a:p>
        </p:txBody>
      </p:sp>
      <p:sp>
        <p:nvSpPr>
          <p:cNvPr id="17" name="Text 15"/>
          <p:cNvSpPr txBox="1"/>
          <p:nvPr/>
        </p:nvSpPr>
        <p:spPr>
          <a:xfrm>
            <a:off x="6583680" y="2711196"/>
            <a:ext cx="4967935" cy="256032"/>
          </a:xfrm>
          <a:prstGeom prst="rect">
            <a:avLst/>
          </a:prstGeom>
          <a:noFill/>
          <a:ln/>
        </p:spPr>
        <p:txBody>
          <a:bodyPr wrap="square" lIns="0" tIns="0" rIns="0" bIns="0" rtlCol="0" anchor="t"/>
          <a:lstStyle/>
          <a:p>
            <a:pPr indent="0" marL="0">
              <a:buNone/>
            </a:pPr>
            <a:r>
              <a:rPr lang="en-US" sz="1200" dirty="0">
                <a:solidFill>
                  <a:srgbClr val="9AA6B6"/>
                </a:solidFill>
                <a:latin typeface="Calibri" pitchFamily="34" charset="0"/>
                <a:ea typeface="Calibri" pitchFamily="34" charset="-122"/>
                <a:cs typeface="Calibri" pitchFamily="34" charset="-120"/>
              </a:rPr>
              <a:t>a provable ceiling, and three structures behind ten instances</a:t>
            </a:r>
            <a:endParaRPr lang="en-US" sz="1200" dirty="0"/>
          </a:p>
        </p:txBody>
      </p:sp>
      <p:sp>
        <p:nvSpPr>
          <p:cNvPr id="18" name="Shape 16"/>
          <p:cNvSpPr/>
          <p:nvPr/>
        </p:nvSpPr>
        <p:spPr>
          <a:xfrm>
            <a:off x="5664708" y="3131820"/>
            <a:ext cx="137160" cy="137160"/>
          </a:xfrm>
          <a:prstGeom prst="ellipse">
            <a:avLst/>
          </a:prstGeom>
          <a:solidFill>
            <a:srgbClr val="0B0F17"/>
          </a:solidFill>
          <a:ln w="19050">
            <a:solidFill>
              <a:srgbClr val="3DDC97"/>
            </a:solidFill>
            <a:prstDash val="solid"/>
          </a:ln>
        </p:spPr>
      </p:sp>
      <p:sp>
        <p:nvSpPr>
          <p:cNvPr id="19" name="Text 17"/>
          <p:cNvSpPr txBox="1"/>
          <p:nvPr/>
        </p:nvSpPr>
        <p:spPr>
          <a:xfrm>
            <a:off x="5952744" y="3017520"/>
            <a:ext cx="603504" cy="347472"/>
          </a:xfrm>
          <a:prstGeom prst="rect">
            <a:avLst/>
          </a:prstGeom>
          <a:noFill/>
          <a:ln/>
        </p:spPr>
        <p:txBody>
          <a:bodyPr wrap="square" lIns="0" tIns="0" rIns="0" bIns="0" rtlCol="0" anchor="t"/>
          <a:lstStyle/>
          <a:p>
            <a:pPr indent="0" marL="0">
              <a:buNone/>
            </a:pPr>
            <a:r>
              <a:rPr lang="en-US" sz="1700" dirty="0">
                <a:solidFill>
                  <a:srgbClr val="3DDC97"/>
                </a:solidFill>
                <a:latin typeface="Century Schoolbook" pitchFamily="34" charset="0"/>
                <a:ea typeface="Century Schoolbook" pitchFamily="34" charset="-122"/>
                <a:cs typeface="Century Schoolbook" pitchFamily="34" charset="-120"/>
              </a:rPr>
              <a:t>III</a:t>
            </a:r>
            <a:endParaRPr lang="en-US" sz="1700" dirty="0"/>
          </a:p>
        </p:txBody>
      </p:sp>
      <p:sp>
        <p:nvSpPr>
          <p:cNvPr id="20" name="Text 18"/>
          <p:cNvSpPr txBox="1"/>
          <p:nvPr/>
        </p:nvSpPr>
        <p:spPr>
          <a:xfrm>
            <a:off x="6583680" y="3044952"/>
            <a:ext cx="4967935" cy="274320"/>
          </a:xfrm>
          <a:prstGeom prst="rect">
            <a:avLst/>
          </a:prstGeom>
          <a:noFill/>
          <a:ln/>
        </p:spPr>
        <p:txBody>
          <a:bodyPr wrap="square" lIns="0" tIns="0" rIns="0" bIns="0" rtlCol="0" anchor="t"/>
          <a:lstStyle/>
          <a:p>
            <a:pPr indent="0" marL="0">
              <a:buNone/>
            </a:pPr>
            <a:r>
              <a:rPr lang="en-US" sz="1500" b="1" dirty="0">
                <a:solidFill>
                  <a:srgbClr val="E8ECF2"/>
                </a:solidFill>
                <a:latin typeface="Calibri" pitchFamily="34" charset="0"/>
                <a:ea typeface="Calibri" pitchFamily="34" charset="-122"/>
                <a:cs typeface="Calibri" pitchFamily="34" charset="-120"/>
              </a:rPr>
              <a:t>The table</a:t>
            </a:r>
            <a:endParaRPr lang="en-US" sz="1500" dirty="0"/>
          </a:p>
        </p:txBody>
      </p:sp>
      <p:sp>
        <p:nvSpPr>
          <p:cNvPr id="21" name="Text 19"/>
          <p:cNvSpPr txBox="1"/>
          <p:nvPr/>
        </p:nvSpPr>
        <p:spPr>
          <a:xfrm>
            <a:off x="6583680" y="3319272"/>
            <a:ext cx="4967935" cy="256032"/>
          </a:xfrm>
          <a:prstGeom prst="rect">
            <a:avLst/>
          </a:prstGeom>
          <a:noFill/>
          <a:ln/>
        </p:spPr>
        <p:txBody>
          <a:bodyPr wrap="square" lIns="0" tIns="0" rIns="0" bIns="0" rtlCol="0" anchor="t"/>
          <a:lstStyle/>
          <a:p>
            <a:pPr indent="0" marL="0">
              <a:buNone/>
            </a:pPr>
            <a:r>
              <a:rPr lang="en-US" sz="1200" dirty="0">
                <a:solidFill>
                  <a:srgbClr val="9AA6B6"/>
                </a:solidFill>
                <a:latin typeface="Calibri" pitchFamily="34" charset="0"/>
                <a:ea typeface="Calibri" pitchFamily="34" charset="-122"/>
                <a:cs typeface="Calibri" pitchFamily="34" charset="-120"/>
              </a:rPr>
              <a:t>a winner on every row, decided by the starting point</a:t>
            </a:r>
            <a:endParaRPr lang="en-US" sz="1200" dirty="0"/>
          </a:p>
        </p:txBody>
      </p:sp>
      <p:sp>
        <p:nvSpPr>
          <p:cNvPr id="22" name="Shape 20"/>
          <p:cNvSpPr/>
          <p:nvPr/>
        </p:nvSpPr>
        <p:spPr>
          <a:xfrm>
            <a:off x="5664708" y="3739896"/>
            <a:ext cx="137160" cy="137160"/>
          </a:xfrm>
          <a:prstGeom prst="ellipse">
            <a:avLst/>
          </a:prstGeom>
          <a:solidFill>
            <a:srgbClr val="0B0F17"/>
          </a:solidFill>
          <a:ln w="19050">
            <a:solidFill>
              <a:srgbClr val="3DDC97"/>
            </a:solidFill>
            <a:prstDash val="solid"/>
          </a:ln>
        </p:spPr>
      </p:sp>
      <p:sp>
        <p:nvSpPr>
          <p:cNvPr id="23" name="Text 21"/>
          <p:cNvSpPr txBox="1"/>
          <p:nvPr/>
        </p:nvSpPr>
        <p:spPr>
          <a:xfrm>
            <a:off x="5952744" y="3625596"/>
            <a:ext cx="603504" cy="347472"/>
          </a:xfrm>
          <a:prstGeom prst="rect">
            <a:avLst/>
          </a:prstGeom>
          <a:noFill/>
          <a:ln/>
        </p:spPr>
        <p:txBody>
          <a:bodyPr wrap="square" lIns="0" tIns="0" rIns="0" bIns="0" rtlCol="0" anchor="t"/>
          <a:lstStyle/>
          <a:p>
            <a:pPr indent="0" marL="0">
              <a:buNone/>
            </a:pPr>
            <a:r>
              <a:rPr lang="en-US" sz="1700" dirty="0">
                <a:solidFill>
                  <a:srgbClr val="3DDC97"/>
                </a:solidFill>
                <a:latin typeface="Century Schoolbook" pitchFamily="34" charset="0"/>
                <a:ea typeface="Century Schoolbook" pitchFamily="34" charset="-122"/>
                <a:cs typeface="Century Schoolbook" pitchFamily="34" charset="-120"/>
              </a:rPr>
              <a:t>IV</a:t>
            </a:r>
            <a:endParaRPr lang="en-US" sz="1700" dirty="0"/>
          </a:p>
        </p:txBody>
      </p:sp>
      <p:sp>
        <p:nvSpPr>
          <p:cNvPr id="24" name="Text 22"/>
          <p:cNvSpPr txBox="1"/>
          <p:nvPr/>
        </p:nvSpPr>
        <p:spPr>
          <a:xfrm>
            <a:off x="6583680" y="3653028"/>
            <a:ext cx="4967935" cy="274320"/>
          </a:xfrm>
          <a:prstGeom prst="rect">
            <a:avLst/>
          </a:prstGeom>
          <a:noFill/>
          <a:ln/>
        </p:spPr>
        <p:txBody>
          <a:bodyPr wrap="square" lIns="0" tIns="0" rIns="0" bIns="0" rtlCol="0" anchor="t"/>
          <a:lstStyle/>
          <a:p>
            <a:pPr indent="0" marL="0">
              <a:buNone/>
            </a:pPr>
            <a:r>
              <a:rPr lang="en-US" sz="1500" b="1" dirty="0">
                <a:solidFill>
                  <a:srgbClr val="E8ECF2"/>
                </a:solidFill>
                <a:latin typeface="Calibri" pitchFamily="34" charset="0"/>
                <a:ea typeface="Calibri" pitchFamily="34" charset="-122"/>
                <a:cs typeface="Calibri" pitchFamily="34" charset="-120"/>
              </a:rPr>
              <a:t>The measurement</a:t>
            </a:r>
            <a:endParaRPr lang="en-US" sz="1500" dirty="0"/>
          </a:p>
        </p:txBody>
      </p:sp>
      <p:sp>
        <p:nvSpPr>
          <p:cNvPr id="25" name="Text 23"/>
          <p:cNvSpPr txBox="1"/>
          <p:nvPr/>
        </p:nvSpPr>
        <p:spPr>
          <a:xfrm>
            <a:off x="6583680" y="3927348"/>
            <a:ext cx="4967935" cy="256032"/>
          </a:xfrm>
          <a:prstGeom prst="rect">
            <a:avLst/>
          </a:prstGeom>
          <a:noFill/>
          <a:ln/>
        </p:spPr>
        <p:txBody>
          <a:bodyPr wrap="square" lIns="0" tIns="0" rIns="0" bIns="0" rtlCol="0" anchor="t"/>
          <a:lstStyle/>
          <a:p>
            <a:pPr indent="0" marL="0">
              <a:buNone/>
            </a:pPr>
            <a:r>
              <a:rPr lang="en-US" sz="1200" dirty="0">
                <a:solidFill>
                  <a:srgbClr val="9AA6B6"/>
                </a:solidFill>
                <a:latin typeface="Calibri" pitchFamily="34" charset="0"/>
                <a:ea typeface="Calibri" pitchFamily="34" charset="-122"/>
                <a:cs typeface="Calibri" pitchFamily="34" charset="-120"/>
              </a:rPr>
              <a:t>the control run twice, and every seed read</a:t>
            </a:r>
            <a:endParaRPr lang="en-US" sz="1200" dirty="0"/>
          </a:p>
        </p:txBody>
      </p:sp>
      <p:sp>
        <p:nvSpPr>
          <p:cNvPr id="26" name="Shape 24"/>
          <p:cNvSpPr/>
          <p:nvPr/>
        </p:nvSpPr>
        <p:spPr>
          <a:xfrm>
            <a:off x="5664708" y="4347972"/>
            <a:ext cx="137160" cy="137160"/>
          </a:xfrm>
          <a:prstGeom prst="ellipse">
            <a:avLst/>
          </a:prstGeom>
          <a:solidFill>
            <a:srgbClr val="0B0F17"/>
          </a:solidFill>
          <a:ln w="19050">
            <a:solidFill>
              <a:srgbClr val="3DDC97"/>
            </a:solidFill>
            <a:prstDash val="solid"/>
          </a:ln>
        </p:spPr>
      </p:sp>
      <p:sp>
        <p:nvSpPr>
          <p:cNvPr id="27" name="Text 25"/>
          <p:cNvSpPr txBox="1"/>
          <p:nvPr/>
        </p:nvSpPr>
        <p:spPr>
          <a:xfrm>
            <a:off x="5952744" y="4233672"/>
            <a:ext cx="603504" cy="347472"/>
          </a:xfrm>
          <a:prstGeom prst="rect">
            <a:avLst/>
          </a:prstGeom>
          <a:noFill/>
          <a:ln/>
        </p:spPr>
        <p:txBody>
          <a:bodyPr wrap="square" lIns="0" tIns="0" rIns="0" bIns="0" rtlCol="0" anchor="t"/>
          <a:lstStyle/>
          <a:p>
            <a:pPr indent="0" marL="0">
              <a:buNone/>
            </a:pPr>
            <a:r>
              <a:rPr lang="en-US" sz="1700" dirty="0">
                <a:solidFill>
                  <a:srgbClr val="3DDC97"/>
                </a:solidFill>
                <a:latin typeface="Century Schoolbook" pitchFamily="34" charset="0"/>
                <a:ea typeface="Century Schoolbook" pitchFamily="34" charset="-122"/>
                <a:cs typeface="Century Schoolbook" pitchFamily="34" charset="-120"/>
              </a:rPr>
              <a:t>V</a:t>
            </a:r>
            <a:endParaRPr lang="en-US" sz="1700" dirty="0"/>
          </a:p>
        </p:txBody>
      </p:sp>
      <p:sp>
        <p:nvSpPr>
          <p:cNvPr id="28" name="Text 26"/>
          <p:cNvSpPr txBox="1"/>
          <p:nvPr/>
        </p:nvSpPr>
        <p:spPr>
          <a:xfrm>
            <a:off x="6583680" y="4261104"/>
            <a:ext cx="4967935" cy="274320"/>
          </a:xfrm>
          <a:prstGeom prst="rect">
            <a:avLst/>
          </a:prstGeom>
          <a:noFill/>
          <a:ln/>
        </p:spPr>
        <p:txBody>
          <a:bodyPr wrap="square" lIns="0" tIns="0" rIns="0" bIns="0" rtlCol="0" anchor="t"/>
          <a:lstStyle/>
          <a:p>
            <a:pPr indent="0" marL="0">
              <a:buNone/>
            </a:pPr>
            <a:r>
              <a:rPr lang="en-US" sz="1500" b="1" dirty="0">
                <a:solidFill>
                  <a:srgbClr val="E8ECF2"/>
                </a:solidFill>
                <a:latin typeface="Calibri" pitchFamily="34" charset="0"/>
                <a:ea typeface="Calibri" pitchFamily="34" charset="-122"/>
                <a:cs typeface="Calibri" pitchFamily="34" charset="-120"/>
              </a:rPr>
              <a:t>What does the work</a:t>
            </a:r>
            <a:endParaRPr lang="en-US" sz="1500" dirty="0"/>
          </a:p>
        </p:txBody>
      </p:sp>
      <p:sp>
        <p:nvSpPr>
          <p:cNvPr id="29" name="Text 27"/>
          <p:cNvSpPr txBox="1"/>
          <p:nvPr/>
        </p:nvSpPr>
        <p:spPr>
          <a:xfrm>
            <a:off x="6583680" y="4535424"/>
            <a:ext cx="4967935" cy="256032"/>
          </a:xfrm>
          <a:prstGeom prst="rect">
            <a:avLst/>
          </a:prstGeom>
          <a:noFill/>
          <a:ln/>
        </p:spPr>
        <p:txBody>
          <a:bodyPr wrap="square" lIns="0" tIns="0" rIns="0" bIns="0" rtlCol="0" anchor="t"/>
          <a:lstStyle/>
          <a:p>
            <a:pPr indent="0" marL="0">
              <a:buNone/>
            </a:pPr>
            <a:r>
              <a:rPr lang="en-US" sz="1200" dirty="0">
                <a:solidFill>
                  <a:srgbClr val="9AA6B6"/>
                </a:solidFill>
                <a:latin typeface="Calibri" pitchFamily="34" charset="0"/>
                <a:ea typeface="Calibri" pitchFamily="34" charset="-122"/>
                <a:cs typeface="Calibri" pitchFamily="34" charset="-120"/>
              </a:rPr>
              <a:t>one component at a time, then seventeen operators</a:t>
            </a:r>
            <a:endParaRPr lang="en-US" sz="1200" dirty="0"/>
          </a:p>
        </p:txBody>
      </p:sp>
      <p:sp>
        <p:nvSpPr>
          <p:cNvPr id="30" name="Shape 28"/>
          <p:cNvSpPr/>
          <p:nvPr/>
        </p:nvSpPr>
        <p:spPr>
          <a:xfrm>
            <a:off x="5664708" y="4956048"/>
            <a:ext cx="137160" cy="137160"/>
          </a:xfrm>
          <a:prstGeom prst="ellipse">
            <a:avLst/>
          </a:prstGeom>
          <a:solidFill>
            <a:srgbClr val="0B0F17"/>
          </a:solidFill>
          <a:ln w="19050">
            <a:solidFill>
              <a:srgbClr val="3DDC97"/>
            </a:solidFill>
            <a:prstDash val="solid"/>
          </a:ln>
        </p:spPr>
      </p:sp>
      <p:sp>
        <p:nvSpPr>
          <p:cNvPr id="31" name="Text 29"/>
          <p:cNvSpPr txBox="1"/>
          <p:nvPr/>
        </p:nvSpPr>
        <p:spPr>
          <a:xfrm>
            <a:off x="5952744" y="4841748"/>
            <a:ext cx="603504" cy="347472"/>
          </a:xfrm>
          <a:prstGeom prst="rect">
            <a:avLst/>
          </a:prstGeom>
          <a:noFill/>
          <a:ln/>
        </p:spPr>
        <p:txBody>
          <a:bodyPr wrap="square" lIns="0" tIns="0" rIns="0" bIns="0" rtlCol="0" anchor="t"/>
          <a:lstStyle/>
          <a:p>
            <a:pPr indent="0" marL="0">
              <a:buNone/>
            </a:pPr>
            <a:r>
              <a:rPr lang="en-US" sz="1700" dirty="0">
                <a:solidFill>
                  <a:srgbClr val="3DDC97"/>
                </a:solidFill>
                <a:latin typeface="Century Schoolbook" pitchFamily="34" charset="0"/>
                <a:ea typeface="Century Schoolbook" pitchFamily="34" charset="-122"/>
                <a:cs typeface="Century Schoolbook" pitchFamily="34" charset="-120"/>
              </a:rPr>
              <a:t>VI</a:t>
            </a:r>
            <a:endParaRPr lang="en-US" sz="1700" dirty="0"/>
          </a:p>
        </p:txBody>
      </p:sp>
      <p:sp>
        <p:nvSpPr>
          <p:cNvPr id="32" name="Text 30"/>
          <p:cNvSpPr txBox="1"/>
          <p:nvPr/>
        </p:nvSpPr>
        <p:spPr>
          <a:xfrm>
            <a:off x="6583680" y="4869180"/>
            <a:ext cx="4967935" cy="274320"/>
          </a:xfrm>
          <a:prstGeom prst="rect">
            <a:avLst/>
          </a:prstGeom>
          <a:noFill/>
          <a:ln/>
        </p:spPr>
        <p:txBody>
          <a:bodyPr wrap="square" lIns="0" tIns="0" rIns="0" bIns="0" rtlCol="0" anchor="t"/>
          <a:lstStyle/>
          <a:p>
            <a:pPr indent="0" marL="0">
              <a:buNone/>
            </a:pPr>
            <a:r>
              <a:rPr lang="en-US" sz="1500" b="1" dirty="0">
                <a:solidFill>
                  <a:srgbClr val="E8ECF2"/>
                </a:solidFill>
                <a:latin typeface="Calibri" pitchFamily="34" charset="0"/>
                <a:ea typeface="Calibri" pitchFamily="34" charset="-122"/>
                <a:cs typeface="Calibri" pitchFamily="34" charset="-120"/>
              </a:rPr>
              <a:t>More time?</a:t>
            </a:r>
            <a:endParaRPr lang="en-US" sz="1500" dirty="0"/>
          </a:p>
        </p:txBody>
      </p:sp>
      <p:sp>
        <p:nvSpPr>
          <p:cNvPr id="33" name="Text 31"/>
          <p:cNvSpPr txBox="1"/>
          <p:nvPr/>
        </p:nvSpPr>
        <p:spPr>
          <a:xfrm>
            <a:off x="6583680" y="5143500"/>
            <a:ext cx="4967935" cy="256032"/>
          </a:xfrm>
          <a:prstGeom prst="rect">
            <a:avLst/>
          </a:prstGeom>
          <a:noFill/>
          <a:ln/>
        </p:spPr>
        <p:txBody>
          <a:bodyPr wrap="square" lIns="0" tIns="0" rIns="0" bIns="0" rtlCol="0" anchor="t"/>
          <a:lstStyle/>
          <a:p>
            <a:pPr indent="0" marL="0">
              <a:buNone/>
            </a:pPr>
            <a:r>
              <a:rPr lang="en-US" sz="1200" dirty="0">
                <a:solidFill>
                  <a:srgbClr val="9AA6B6"/>
                </a:solidFill>
                <a:latin typeface="Calibri" pitchFamily="34" charset="0"/>
                <a:ea typeface="Calibri" pitchFamily="34" charset="-122"/>
                <a:cs typeface="Calibri" pitchFamily="34" charset="-120"/>
              </a:rPr>
              <a:t>ten times the budget, against the construction’s lead</a:t>
            </a:r>
            <a:endParaRPr lang="en-US" sz="1200" dirty="0"/>
          </a:p>
        </p:txBody>
      </p:sp>
      <p:sp>
        <p:nvSpPr>
          <p:cNvPr id="34" name="Shape 32"/>
          <p:cNvSpPr/>
          <p:nvPr/>
        </p:nvSpPr>
        <p:spPr>
          <a:xfrm>
            <a:off x="5664708" y="5564124"/>
            <a:ext cx="137160" cy="137160"/>
          </a:xfrm>
          <a:prstGeom prst="ellipse">
            <a:avLst/>
          </a:prstGeom>
          <a:solidFill>
            <a:srgbClr val="0B0F17"/>
          </a:solidFill>
          <a:ln w="19050">
            <a:solidFill>
              <a:srgbClr val="3DDC97"/>
            </a:solidFill>
            <a:prstDash val="solid"/>
          </a:ln>
        </p:spPr>
      </p:sp>
      <p:sp>
        <p:nvSpPr>
          <p:cNvPr id="35" name="Text 33"/>
          <p:cNvSpPr txBox="1"/>
          <p:nvPr/>
        </p:nvSpPr>
        <p:spPr>
          <a:xfrm>
            <a:off x="5952744" y="5449824"/>
            <a:ext cx="603504" cy="347472"/>
          </a:xfrm>
          <a:prstGeom prst="rect">
            <a:avLst/>
          </a:prstGeom>
          <a:noFill/>
          <a:ln/>
        </p:spPr>
        <p:txBody>
          <a:bodyPr wrap="square" lIns="0" tIns="0" rIns="0" bIns="0" rtlCol="0" anchor="t"/>
          <a:lstStyle/>
          <a:p>
            <a:pPr indent="0" marL="0">
              <a:buNone/>
            </a:pPr>
            <a:r>
              <a:rPr lang="en-US" sz="1700" dirty="0">
                <a:solidFill>
                  <a:srgbClr val="3DDC97"/>
                </a:solidFill>
                <a:latin typeface="Century Schoolbook" pitchFamily="34" charset="0"/>
                <a:ea typeface="Century Schoolbook" pitchFamily="34" charset="-122"/>
                <a:cs typeface="Century Schoolbook" pitchFamily="34" charset="-120"/>
              </a:rPr>
              <a:t>VII</a:t>
            </a:r>
            <a:endParaRPr lang="en-US" sz="1700" dirty="0"/>
          </a:p>
        </p:txBody>
      </p:sp>
      <p:sp>
        <p:nvSpPr>
          <p:cNvPr id="36" name="Text 34"/>
          <p:cNvSpPr txBox="1"/>
          <p:nvPr/>
        </p:nvSpPr>
        <p:spPr>
          <a:xfrm>
            <a:off x="6583680" y="5477256"/>
            <a:ext cx="4967935" cy="274320"/>
          </a:xfrm>
          <a:prstGeom prst="rect">
            <a:avLst/>
          </a:prstGeom>
          <a:noFill/>
          <a:ln/>
        </p:spPr>
        <p:txBody>
          <a:bodyPr wrap="square" lIns="0" tIns="0" rIns="0" bIns="0" rtlCol="0" anchor="t"/>
          <a:lstStyle/>
          <a:p>
            <a:pPr indent="0" marL="0">
              <a:buNone/>
            </a:pPr>
            <a:r>
              <a:rPr lang="en-US" sz="1500" b="1" dirty="0">
                <a:solidFill>
                  <a:srgbClr val="E8ECF2"/>
                </a:solidFill>
                <a:latin typeface="Calibri" pitchFamily="34" charset="0"/>
                <a:ea typeface="Calibri" pitchFamily="34" charset="-122"/>
                <a:cs typeface="Calibri" pitchFamily="34" charset="-120"/>
              </a:rPr>
              <a:t>What to ask of a table</a:t>
            </a:r>
            <a:endParaRPr lang="en-US" sz="1500" dirty="0"/>
          </a:p>
        </p:txBody>
      </p:sp>
      <p:sp>
        <p:nvSpPr>
          <p:cNvPr id="37" name="Text 35"/>
          <p:cNvSpPr txBox="1"/>
          <p:nvPr/>
        </p:nvSpPr>
        <p:spPr>
          <a:xfrm>
            <a:off x="6583680" y="5751576"/>
            <a:ext cx="4967935" cy="256032"/>
          </a:xfrm>
          <a:prstGeom prst="rect">
            <a:avLst/>
          </a:prstGeom>
          <a:noFill/>
          <a:ln/>
        </p:spPr>
        <p:txBody>
          <a:bodyPr wrap="square" lIns="0" tIns="0" rIns="0" bIns="0" rtlCol="0" anchor="t"/>
          <a:lstStyle/>
          <a:p>
            <a:pPr indent="0" marL="0">
              <a:buNone/>
            </a:pPr>
            <a:r>
              <a:rPr lang="en-US" sz="1200" dirty="0">
                <a:solidFill>
                  <a:srgbClr val="9AA6B6"/>
                </a:solidFill>
                <a:latin typeface="Calibri" pitchFamily="34" charset="0"/>
                <a:ea typeface="Calibri" pitchFamily="34" charset="-122"/>
                <a:cs typeface="Calibri" pitchFamily="34" charset="-120"/>
              </a:rPr>
              <a:t>three requests for any results table</a:t>
            </a:r>
            <a:endParaRPr lang="en-US" sz="120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I · THE OBJECT</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A megastructure blueprint, posed as a graph problem</a:t>
            </a:r>
            <a:endParaRPr lang="en-US" sz="2700" dirty="0"/>
          </a:p>
        </p:txBody>
      </p:sp>
      <p:sp>
        <p:nvSpPr>
          <p:cNvPr id="4" name="Text 2"/>
          <p:cNvSpPr txBox="1"/>
          <p:nvPr/>
        </p:nvSpPr>
        <p:spPr>
          <a:xfrm>
            <a:off x="640080" y="1783080"/>
            <a:ext cx="4480560" cy="1188720"/>
          </a:xfrm>
          <a:prstGeom prst="rect">
            <a:avLst/>
          </a:prstGeom>
          <a:noFill/>
          <a:ln/>
        </p:spPr>
        <p:txBody>
          <a:bodyPr wrap="square" lIns="0" tIns="0" rIns="0" bIns="0" rtlCol="0" anchor="t"/>
          <a:lstStyle/>
          <a:p>
            <a:pPr indent="0" marL="0">
              <a:lnSpc>
                <a:spcPct val="105000"/>
              </a:lnSpc>
              <a:buNone/>
            </a:pPr>
            <a:r>
              <a:rPr lang="en-US" sz="1600" dirty="0">
                <a:solidFill>
                  <a:srgbClr val="E8ECF2"/>
                </a:solidFill>
                <a:latin typeface="Calibri" pitchFamily="34" charset="0"/>
                <a:ea typeface="Calibri" pitchFamily="34" charset="-122"/>
                <a:cs typeface="Calibri" pitchFamily="34" charset="-120"/>
              </a:rPr>
              <a:t>Vertices are building blocks, edges are pairwise interactions. Find an ordering that says what can be assembled concurrently, and that encodes a recursive blueprint for the rest.</a:t>
            </a:r>
            <a:endParaRPr lang="en-US" sz="1600" dirty="0"/>
          </a:p>
        </p:txBody>
      </p:sp>
      <p:sp>
        <p:nvSpPr>
          <p:cNvPr id="5" name="Shape 3"/>
          <p:cNvSpPr/>
          <p:nvPr/>
        </p:nvSpPr>
        <p:spPr>
          <a:xfrm>
            <a:off x="640080" y="3035808"/>
            <a:ext cx="4480560" cy="2395728"/>
          </a:xfrm>
          <a:prstGeom prst="rect">
            <a:avLst/>
          </a:prstGeom>
          <a:solidFill>
            <a:srgbClr val="131B28"/>
          </a:solidFill>
          <a:ln/>
        </p:spPr>
      </p:sp>
      <p:sp>
        <p:nvSpPr>
          <p:cNvPr id="6" name="Text 4"/>
          <p:cNvSpPr txBox="1"/>
          <p:nvPr/>
        </p:nvSpPr>
        <p:spPr>
          <a:xfrm>
            <a:off x="868680" y="3182112"/>
            <a:ext cx="4023360" cy="237744"/>
          </a:xfrm>
          <a:prstGeom prst="rect">
            <a:avLst/>
          </a:prstGeom>
          <a:noFill/>
          <a:ln/>
        </p:spPr>
        <p:txBody>
          <a:bodyPr wrap="square" lIns="0" tIns="0" rIns="0" bIns="0" rtlCol="0" anchor="t"/>
          <a:lstStyle/>
          <a:p>
            <a:pPr indent="0" marL="0">
              <a:buNone/>
            </a:pPr>
            <a:r>
              <a:rPr lang="en-US" sz="1050" b="1" spc="160" kern="0" dirty="0">
                <a:solidFill>
                  <a:srgbClr val="9AA6B6"/>
                </a:solidFill>
                <a:latin typeface="Calibri" pitchFamily="34" charset="0"/>
                <a:ea typeface="Calibri" pitchFamily="34" charset="-122"/>
                <a:cs typeface="Calibri" pitchFamily="34" charset="-120"/>
              </a:rPr>
              <a:t>AS SCORED BY ESA</a:t>
            </a:r>
            <a:endParaRPr lang="en-US" sz="1050" dirty="0"/>
          </a:p>
        </p:txBody>
      </p:sp>
      <p:sp>
        <p:nvSpPr>
          <p:cNvPr id="7" name="Text 5"/>
          <p:cNvSpPr txBox="1"/>
          <p:nvPr/>
        </p:nvSpPr>
        <p:spPr>
          <a:xfrm>
            <a:off x="868680" y="3529584"/>
            <a:ext cx="960120" cy="411480"/>
          </a:xfrm>
          <a:prstGeom prst="rect">
            <a:avLst/>
          </a:prstGeom>
          <a:noFill/>
          <a:ln/>
        </p:spPr>
        <p:txBody>
          <a:bodyPr wrap="square" lIns="0" tIns="0" rIns="0" bIns="0" rtlCol="0" anchor="t"/>
          <a:lstStyle/>
          <a:p>
            <a:pPr indent="0" marL="0">
              <a:buNone/>
            </a:pPr>
            <a:r>
              <a:rPr lang="en-US" sz="1300" b="1" dirty="0">
                <a:solidFill>
                  <a:srgbClr val="3DDC97"/>
                </a:solidFill>
                <a:latin typeface="Calibri" pitchFamily="34" charset="0"/>
                <a:ea typeface="Calibri" pitchFamily="34" charset="-122"/>
                <a:cs typeface="Calibri" pitchFamily="34" charset="-120"/>
              </a:rPr>
              <a:t>Input</a:t>
            </a:r>
            <a:endParaRPr lang="en-US" sz="1300" dirty="0"/>
          </a:p>
        </p:txBody>
      </p:sp>
      <p:sp>
        <p:nvSpPr>
          <p:cNvPr id="8" name="Text 6"/>
          <p:cNvSpPr txBox="1"/>
          <p:nvPr/>
        </p:nvSpPr>
        <p:spPr>
          <a:xfrm>
            <a:off x="1847088" y="3529584"/>
            <a:ext cx="3108960" cy="429768"/>
          </a:xfrm>
          <a:prstGeom prst="rect">
            <a:avLst/>
          </a:prstGeom>
          <a:noFill/>
          <a:ln/>
        </p:spPr>
        <p:txBody>
          <a:bodyPr wrap="square" lIns="0" tIns="0" rIns="0" bIns="0" rtlCol="0" anchor="t"/>
          <a:lstStyle/>
          <a:p>
            <a:pPr indent="0" marL="0">
              <a:lnSpc>
                <a:spcPct val="98000"/>
              </a:lnSpc>
              <a:buNone/>
            </a:pPr>
            <a:r>
              <a:rPr lang="en-US" sz="1300" dirty="0">
                <a:solidFill>
                  <a:srgbClr val="E8ECF2"/>
                </a:solidFill>
                <a:latin typeface="Calibri" pitchFamily="34" charset="0"/>
                <a:ea typeface="Calibri" pitchFamily="34" charset="-122"/>
                <a:cs typeface="Calibri" pitchFamily="34" charset="-120"/>
              </a:rPr>
              <a:t>a connected graph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G</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V</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E</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with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n</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vertices</a:t>
            </a:r>
            <a:endParaRPr lang="en-US" sz="1300" dirty="0"/>
          </a:p>
        </p:txBody>
      </p:sp>
      <p:sp>
        <p:nvSpPr>
          <p:cNvPr id="9" name="Text 7"/>
          <p:cNvSpPr txBox="1"/>
          <p:nvPr/>
        </p:nvSpPr>
        <p:spPr>
          <a:xfrm>
            <a:off x="868680" y="3986784"/>
            <a:ext cx="960120" cy="411480"/>
          </a:xfrm>
          <a:prstGeom prst="rect">
            <a:avLst/>
          </a:prstGeom>
          <a:noFill/>
          <a:ln/>
        </p:spPr>
        <p:txBody>
          <a:bodyPr wrap="square" lIns="0" tIns="0" rIns="0" bIns="0" rtlCol="0" anchor="t"/>
          <a:lstStyle/>
          <a:p>
            <a:pPr indent="0" marL="0">
              <a:buNone/>
            </a:pPr>
            <a:r>
              <a:rPr lang="en-US" sz="1300" b="1" dirty="0">
                <a:solidFill>
                  <a:srgbClr val="3DDC97"/>
                </a:solidFill>
                <a:latin typeface="Calibri" pitchFamily="34" charset="0"/>
                <a:ea typeface="Calibri" pitchFamily="34" charset="-122"/>
                <a:cs typeface="Calibri" pitchFamily="34" charset="-120"/>
              </a:rPr>
              <a:t>Submit</a:t>
            </a:r>
            <a:endParaRPr lang="en-US" sz="1300" dirty="0"/>
          </a:p>
        </p:txBody>
      </p:sp>
      <p:sp>
        <p:nvSpPr>
          <p:cNvPr id="10" name="Text 8"/>
          <p:cNvSpPr txBox="1"/>
          <p:nvPr/>
        </p:nvSpPr>
        <p:spPr>
          <a:xfrm>
            <a:off x="1847088" y="3986784"/>
            <a:ext cx="3108960" cy="429768"/>
          </a:xfrm>
          <a:prstGeom prst="rect">
            <a:avLst/>
          </a:prstGeom>
          <a:noFill/>
          <a:ln/>
        </p:spPr>
        <p:txBody>
          <a:bodyPr wrap="square" lIns="0" tIns="0" rIns="0" bIns="0" rtlCol="0" anchor="t"/>
          <a:lstStyle/>
          <a:p>
            <a:pPr indent="0" marL="0">
              <a:lnSpc>
                <a:spcPct val="98000"/>
              </a:lnSpc>
              <a:buNone/>
            </a:pPr>
            <a:r>
              <a:rPr lang="en-US" sz="1300" dirty="0">
                <a:solidFill>
                  <a:srgbClr val="E8ECF2"/>
                </a:solidFill>
                <a:latin typeface="Calibri" pitchFamily="34" charset="0"/>
                <a:ea typeface="Calibri" pitchFamily="34" charset="-122"/>
                <a:cs typeface="Calibri" pitchFamily="34" charset="-120"/>
              </a:rPr>
              <a:t>up to 20 vectors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x</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p</a:t>
            </a:r>
            <a:pPr indent="0" marL="0">
              <a:lnSpc>
                <a:spcPct val="98000"/>
              </a:lnSpc>
              <a:buNone/>
            </a:pPr>
            <a:r>
              <a:rPr lang="en-US" sz="1300" baseline="-40000" dirty="0">
                <a:solidFill>
                  <a:srgbClr val="E8ECF2"/>
                </a:solidFill>
                <a:latin typeface="Calibri" pitchFamily="34" charset="0"/>
                <a:ea typeface="Calibri" pitchFamily="34" charset="-122"/>
                <a:cs typeface="Calibri" pitchFamily="34" charset="-120"/>
              </a:rPr>
              <a:t>1</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p</a:t>
            </a:r>
            <a:pPr indent="0" marL="0">
              <a:lnSpc>
                <a:spcPct val="98000"/>
              </a:lnSpc>
              <a:buNone/>
            </a:pPr>
            <a:r>
              <a:rPr lang="en-US" sz="1300" baseline="-40000" dirty="0">
                <a:solidFill>
                  <a:srgbClr val="E8ECF2"/>
                </a:solidFill>
                <a:latin typeface="Calibri" pitchFamily="34" charset="0"/>
                <a:ea typeface="Calibri" pitchFamily="34" charset="-122"/>
                <a:cs typeface="Calibri" pitchFamily="34" charset="-120"/>
              </a:rPr>
              <a:t>n</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t</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868680" y="4443984"/>
            <a:ext cx="960120" cy="411480"/>
          </a:xfrm>
          <a:prstGeom prst="rect">
            <a:avLst/>
          </a:prstGeom>
          <a:noFill/>
          <a:ln/>
        </p:spPr>
        <p:txBody>
          <a:bodyPr wrap="square" lIns="0" tIns="0" rIns="0" bIns="0" rtlCol="0" anchor="t"/>
          <a:lstStyle/>
          <a:p>
            <a:pPr indent="0" marL="0">
              <a:buNone/>
            </a:pPr>
            <a:r>
              <a:rPr lang="en-US" sz="1300" b="1" dirty="0">
                <a:solidFill>
                  <a:srgbClr val="3DDC97"/>
                </a:solidFill>
                <a:latin typeface="Calibri" pitchFamily="34" charset="0"/>
                <a:ea typeface="Calibri" pitchFamily="34" charset="-122"/>
                <a:cs typeface="Calibri" pitchFamily="34" charset="-120"/>
              </a:rPr>
              <a:t>Eliminate</a:t>
            </a:r>
            <a:endParaRPr lang="en-US" sz="1300" dirty="0"/>
          </a:p>
        </p:txBody>
      </p:sp>
      <p:sp>
        <p:nvSpPr>
          <p:cNvPr id="12" name="Text 10"/>
          <p:cNvSpPr txBox="1"/>
          <p:nvPr/>
        </p:nvSpPr>
        <p:spPr>
          <a:xfrm>
            <a:off x="1847088" y="4443984"/>
            <a:ext cx="3108960" cy="429768"/>
          </a:xfrm>
          <a:prstGeom prst="rect">
            <a:avLst/>
          </a:prstGeom>
          <a:noFill/>
          <a:ln/>
        </p:spPr>
        <p:txBody>
          <a:bodyPr wrap="square" lIns="0" tIns="0" rIns="0" bIns="0" rtlCol="0" anchor="t"/>
          <a:lstStyle/>
          <a:p>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p</a:t>
            </a:r>
            <a:pPr indent="0" marL="0">
              <a:lnSpc>
                <a:spcPct val="98000"/>
              </a:lnSpc>
              <a:buNone/>
            </a:pPr>
            <a:r>
              <a:rPr lang="en-US" sz="1300" baseline="-40000" dirty="0">
                <a:solidFill>
                  <a:srgbClr val="E8ECF2"/>
                </a:solidFill>
                <a:latin typeface="Calibri" pitchFamily="34" charset="0"/>
                <a:ea typeface="Calibri" pitchFamily="34" charset="-122"/>
                <a:cs typeface="Calibri" pitchFamily="34" charset="-120"/>
              </a:rPr>
              <a:t>1</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p</a:t>
            </a:r>
            <a:pPr indent="0" marL="0">
              <a:lnSpc>
                <a:spcPct val="98000"/>
              </a:lnSpc>
              <a:buNone/>
            </a:pPr>
            <a:r>
              <a:rPr lang="en-US" sz="1300" baseline="-40000" dirty="0">
                <a:solidFill>
                  <a:srgbClr val="E8ECF2"/>
                </a:solidFill>
                <a:latin typeface="Calibri" pitchFamily="34" charset="0"/>
                <a:ea typeface="Calibri" pitchFamily="34" charset="-122"/>
                <a:cs typeface="Calibri" pitchFamily="34" charset="-120"/>
              </a:rPr>
              <a:t>2</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 in turn: each vertex joins its later neighbours into a clique</a:t>
            </a:r>
            <a:endParaRPr lang="en-US" sz="1300" dirty="0"/>
          </a:p>
        </p:txBody>
      </p:sp>
      <p:sp>
        <p:nvSpPr>
          <p:cNvPr id="13" name="Text 11"/>
          <p:cNvSpPr txBox="1"/>
          <p:nvPr/>
        </p:nvSpPr>
        <p:spPr>
          <a:xfrm>
            <a:off x="868680" y="4901184"/>
            <a:ext cx="960120" cy="411480"/>
          </a:xfrm>
          <a:prstGeom prst="rect">
            <a:avLst/>
          </a:prstGeom>
          <a:noFill/>
          <a:ln/>
        </p:spPr>
        <p:txBody>
          <a:bodyPr wrap="square" lIns="0" tIns="0" rIns="0" bIns="0" rtlCol="0" anchor="t"/>
          <a:lstStyle/>
          <a:p>
            <a:pPr indent="0" marL="0">
              <a:buNone/>
            </a:pPr>
            <a:r>
              <a:rPr lang="en-US" sz="1300" b="1" dirty="0">
                <a:solidFill>
                  <a:srgbClr val="3DDC97"/>
                </a:solidFill>
                <a:latin typeface="Calibri" pitchFamily="34" charset="0"/>
                <a:ea typeface="Calibri" pitchFamily="34" charset="-122"/>
                <a:cs typeface="Calibri" pitchFamily="34" charset="-120"/>
              </a:rPr>
              <a:t>Torso</a:t>
            </a:r>
            <a:endParaRPr lang="en-US" sz="1300" dirty="0"/>
          </a:p>
        </p:txBody>
      </p:sp>
      <p:sp>
        <p:nvSpPr>
          <p:cNvPr id="14" name="Text 12"/>
          <p:cNvSpPr txBox="1"/>
          <p:nvPr/>
        </p:nvSpPr>
        <p:spPr>
          <a:xfrm>
            <a:off x="1847088" y="4901184"/>
            <a:ext cx="3108960" cy="429768"/>
          </a:xfrm>
          <a:prstGeom prst="rect">
            <a:avLst/>
          </a:prstGeom>
          <a:noFill/>
          <a:ln/>
        </p:spPr>
        <p:txBody>
          <a:bodyPr wrap="square" lIns="0" tIns="0" rIns="0" bIns="0" rtlCol="0" anchor="t"/>
          <a:lstStyle/>
          <a:p>
            <a:pPr indent="0" marL="0">
              <a:lnSpc>
                <a:spcPct val="98000"/>
              </a:lnSpc>
              <a:buNone/>
            </a:pPr>
            <a:r>
              <a:rPr lang="en-US" sz="1300" dirty="0">
                <a:solidFill>
                  <a:srgbClr val="E8ECF2"/>
                </a:solidFill>
                <a:latin typeface="Calibri" pitchFamily="34" charset="0"/>
                <a:ea typeface="Calibri" pitchFamily="34" charset="-122"/>
                <a:cs typeface="Calibri" pitchFamily="34" charset="-120"/>
              </a:rPr>
              <a:t>the last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n</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 </a:t>
            </a:r>
            <a:pPr indent="0" marL="0">
              <a:lnSpc>
                <a:spcPct val="98000"/>
              </a:lnSpc>
              <a:buNone/>
            </a:pPr>
            <a:r>
              <a:rPr lang="en-US" sz="1300" i="1" dirty="0">
                <a:solidFill>
                  <a:srgbClr val="E8ECF2"/>
                </a:solidFill>
                <a:latin typeface="Calibri" pitchFamily="34" charset="0"/>
                <a:ea typeface="Calibri" pitchFamily="34" charset="-122"/>
                <a:cs typeface="Calibri" pitchFamily="34" charset="-120"/>
              </a:rPr>
              <a:t>t</a:t>
            </a:r>
            <a:pPr indent="0" marL="0">
              <a:lnSpc>
                <a:spcPct val="98000"/>
              </a:lnSpc>
              <a:buNone/>
            </a:pPr>
            <a:r>
              <a:rPr lang="en-US" sz="1300" dirty="0">
                <a:solidFill>
                  <a:srgbClr val="E8ECF2"/>
                </a:solidFill>
                <a:latin typeface="Calibri" pitchFamily="34" charset="0"/>
                <a:ea typeface="Calibri" pitchFamily="34" charset="-122"/>
                <a:cs typeface="Calibri" pitchFamily="34" charset="-120"/>
              </a:rPr>
              <a:t> vertices; its width is the largest out-degree inside it</a:t>
            </a:r>
            <a:endParaRPr lang="en-US" sz="1300" dirty="0"/>
          </a:p>
        </p:txBody>
      </p:sp>
      <p:sp>
        <p:nvSpPr>
          <p:cNvPr id="15" name="Text 13"/>
          <p:cNvSpPr txBox="1"/>
          <p:nvPr/>
        </p:nvSpPr>
        <p:spPr>
          <a:xfrm>
            <a:off x="640080" y="5596128"/>
            <a:ext cx="4480560" cy="640080"/>
          </a:xfrm>
          <a:prstGeom prst="rect">
            <a:avLst/>
          </a:prstGeom>
          <a:noFill/>
          <a:ln/>
        </p:spPr>
        <p:txBody>
          <a:bodyPr wrap="square" lIns="0" tIns="0" rIns="0" bIns="0" rtlCol="0" anchor="t"/>
          <a:lstStyle/>
          <a:p>
            <a:pPr indent="0" marL="0">
              <a:buNone/>
            </a:pPr>
            <a:r>
              <a:rPr lang="en-US" sz="1250" i="1" dirty="0">
                <a:solidFill>
                  <a:srgbClr val="9AA6B6"/>
                </a:solidFill>
                <a:latin typeface="Calibri" pitchFamily="34" charset="0"/>
                <a:ea typeface="Calibri" pitchFamily="34" charset="-122"/>
                <a:cs typeface="Calibri" pitchFamily="34" charset="-120"/>
              </a:rPr>
              <a:t>Underneath: elimination orderings, the object behind treewidth, sparse Cholesky factorisation and variable elimination.</a:t>
            </a:r>
            <a:endParaRPr lang="en-US" sz="1250" dirty="0"/>
          </a:p>
        </p:txBody>
      </p:sp>
      <p:sp>
        <p:nvSpPr>
          <p:cNvPr id="16" name="Shape 14"/>
          <p:cNvSpPr/>
          <p:nvPr/>
        </p:nvSpPr>
        <p:spPr>
          <a:xfrm>
            <a:off x="9178290" y="1874520"/>
            <a:ext cx="2419045" cy="3611880"/>
          </a:xfrm>
          <a:prstGeom prst="rect">
            <a:avLst/>
          </a:prstGeom>
          <a:solidFill>
            <a:srgbClr val="3DDC97">
              <a:alpha val="8000"/>
            </a:srgbClr>
          </a:solidFill>
          <a:ln/>
        </p:spPr>
      </p:sp>
      <p:sp>
        <p:nvSpPr>
          <p:cNvPr id="17" name="Shape 15"/>
          <p:cNvSpPr/>
          <p:nvPr/>
        </p:nvSpPr>
        <p:spPr>
          <a:xfrm>
            <a:off x="9178290" y="1874520"/>
            <a:ext cx="0" cy="3611880"/>
          </a:xfrm>
          <a:prstGeom prst="line">
            <a:avLst/>
          </a:prstGeom>
          <a:noFill/>
          <a:ln w="12700">
            <a:solidFill>
              <a:srgbClr val="7D8AA0"/>
            </a:solidFill>
            <a:prstDash val="dash"/>
          </a:ln>
        </p:spPr>
      </p:sp>
      <p:sp>
        <p:nvSpPr>
          <p:cNvPr id="18" name="Text 16"/>
          <p:cNvSpPr txBox="1"/>
          <p:nvPr/>
        </p:nvSpPr>
        <p:spPr>
          <a:xfrm>
            <a:off x="5605272" y="1920240"/>
            <a:ext cx="3344418" cy="256032"/>
          </a:xfrm>
          <a:prstGeom prst="rect">
            <a:avLst/>
          </a:prstGeom>
          <a:noFill/>
          <a:ln/>
        </p:spPr>
        <p:txBody>
          <a:bodyPr wrap="square" lIns="0" tIns="0" rIns="0" bIns="0" rtlCol="0" anchor="t"/>
          <a:lstStyle/>
          <a:p>
            <a:pPr indent="0" marL="0">
              <a:buNone/>
            </a:pPr>
            <a:r>
              <a:rPr lang="en-US" sz="1150" dirty="0">
                <a:solidFill>
                  <a:srgbClr val="9AA6B6"/>
                </a:solidFill>
                <a:latin typeface="Calibri" pitchFamily="34" charset="0"/>
                <a:ea typeface="Calibri" pitchFamily="34" charset="-122"/>
                <a:cs typeface="Calibri" pitchFamily="34" charset="-120"/>
              </a:rPr>
              <a:t>eliminated head: t = 6</a:t>
            </a:r>
            <a:endParaRPr lang="en-US" sz="1150" dirty="0"/>
          </a:p>
        </p:txBody>
      </p:sp>
      <p:sp>
        <p:nvSpPr>
          <p:cNvPr id="19" name="Text 17"/>
          <p:cNvSpPr txBox="1"/>
          <p:nvPr/>
        </p:nvSpPr>
        <p:spPr>
          <a:xfrm>
            <a:off x="9288018" y="1920240"/>
            <a:ext cx="2286000" cy="256032"/>
          </a:xfrm>
          <a:prstGeom prst="rect">
            <a:avLst/>
          </a:prstGeom>
          <a:noFill/>
          <a:ln/>
        </p:spPr>
        <p:txBody>
          <a:bodyPr wrap="square" lIns="0" tIns="0" rIns="0" bIns="0" rtlCol="0" anchor="t"/>
          <a:lstStyle/>
          <a:p>
            <a:pPr indent="0" marL="0">
              <a:buNone/>
            </a:pPr>
            <a:r>
              <a:rPr lang="en-US" sz="1150" b="1" dirty="0">
                <a:solidFill>
                  <a:srgbClr val="3DDC97"/>
                </a:solidFill>
                <a:latin typeface="Calibri" pitchFamily="34" charset="0"/>
                <a:ea typeface="Calibri" pitchFamily="34" charset="-122"/>
                <a:cs typeface="Calibri" pitchFamily="34" charset="-120"/>
              </a:rPr>
              <a:t>torso: n − t = 4</a:t>
            </a:r>
            <a:endParaRPr lang="en-US" sz="1150" dirty="0"/>
          </a:p>
        </p:txBody>
      </p:sp>
      <p:sp>
        <p:nvSpPr>
          <p:cNvPr id="20" name="Text 18"/>
          <p:cNvSpPr txBox="1"/>
          <p:nvPr/>
        </p:nvSpPr>
        <p:spPr>
          <a:xfrm>
            <a:off x="5605272" y="2212848"/>
            <a:ext cx="2743200" cy="237744"/>
          </a:xfrm>
          <a:prstGeom prst="rect">
            <a:avLst/>
          </a:prstGeom>
          <a:noFill/>
          <a:ln/>
        </p:spPr>
        <p:txBody>
          <a:bodyPr wrap="square" lIns="0" tIns="0" rIns="0" bIns="0" rtlCol="0" anchor="t"/>
          <a:lstStyle/>
          <a:p>
            <a:pPr indent="0" marL="0">
              <a:buNone/>
            </a:pPr>
            <a:r>
              <a:rPr lang="en-US" sz="1050" dirty="0">
                <a:solidFill>
                  <a:srgbClr val="7D8AA0"/>
                </a:solidFill>
                <a:latin typeface="Calibri" pitchFamily="34" charset="0"/>
                <a:ea typeface="Calibri" pitchFamily="34" charset="-122"/>
                <a:cs typeface="Calibri" pitchFamily="34" charset="-120"/>
              </a:rPr>
              <a:t>elimination order →</a:t>
            </a:r>
            <a:endParaRPr lang="en-US" sz="1050" dirty="0"/>
          </a:p>
        </p:txBody>
      </p:sp>
      <p:sp>
        <p:nvSpPr>
          <p:cNvPr id="21" name="Shape 19"/>
          <p:cNvSpPr/>
          <p:nvPr/>
        </p:nvSpPr>
        <p:spPr>
          <a:xfrm>
            <a:off x="5833872" y="3456432"/>
            <a:ext cx="608076" cy="475488"/>
          </a:xfrm>
          <a:custGeom>
            <a:avLst/>
            <a:gdLst/>
            <a:ahLst/>
            <a:cxnLst/>
            <a:rect l="l" t="t" r="r" b="b"/>
            <a:pathLst>
              <a:path w="608076" h="475488">
                <a:moveTo>
                  <a:pt x="0" y="475488"/>
                </a:moveTo>
                <a:cubicBezTo>
                  <a:pt x="12162" y="0"/>
                  <a:pt x="595914" y="0"/>
                  <a:pt x="608076" y="475488"/>
                </a:cubicBezTo>
              </a:path>
            </a:pathLst>
          </a:custGeom>
          <a:ln w="15875">
            <a:solidFill>
              <a:srgbClr val="9AA6B6"/>
            </a:solidFill>
            <a:prstDash val="solid"/>
          </a:ln>
        </p:spPr>
      </p:sp>
      <p:sp>
        <p:nvSpPr>
          <p:cNvPr id="22" name="Shape 20"/>
          <p:cNvSpPr/>
          <p:nvPr/>
        </p:nvSpPr>
        <p:spPr>
          <a:xfrm>
            <a:off x="5833872" y="3224784"/>
            <a:ext cx="1216152" cy="707136"/>
          </a:xfrm>
          <a:custGeom>
            <a:avLst/>
            <a:gdLst/>
            <a:ahLst/>
            <a:cxnLst/>
            <a:rect l="l" t="t" r="r" b="b"/>
            <a:pathLst>
              <a:path w="1216152" h="707136">
                <a:moveTo>
                  <a:pt x="0" y="707136"/>
                </a:moveTo>
                <a:cubicBezTo>
                  <a:pt x="24323" y="0"/>
                  <a:pt x="1191829" y="0"/>
                  <a:pt x="1216152" y="707136"/>
                </a:cubicBezTo>
              </a:path>
            </a:pathLst>
          </a:custGeom>
          <a:ln w="15875">
            <a:solidFill>
              <a:srgbClr val="9AA6B6"/>
            </a:solidFill>
            <a:prstDash val="solid"/>
          </a:ln>
        </p:spPr>
      </p:sp>
      <p:sp>
        <p:nvSpPr>
          <p:cNvPr id="23" name="Shape 21"/>
          <p:cNvSpPr/>
          <p:nvPr/>
        </p:nvSpPr>
        <p:spPr>
          <a:xfrm>
            <a:off x="6441948" y="2529840"/>
            <a:ext cx="3040380" cy="1402080"/>
          </a:xfrm>
          <a:custGeom>
            <a:avLst/>
            <a:gdLst/>
            <a:ahLst/>
            <a:cxnLst/>
            <a:rect l="l" t="t" r="r" b="b"/>
            <a:pathLst>
              <a:path w="3040380" h="1402080">
                <a:moveTo>
                  <a:pt x="0" y="1402080"/>
                </a:moveTo>
                <a:cubicBezTo>
                  <a:pt x="60808" y="0"/>
                  <a:pt x="2979572" y="0"/>
                  <a:pt x="3040380" y="1402080"/>
                </a:cubicBezTo>
              </a:path>
            </a:pathLst>
          </a:custGeom>
          <a:ln w="15875">
            <a:solidFill>
              <a:srgbClr val="9AA6B6"/>
            </a:solidFill>
            <a:prstDash val="solid"/>
          </a:ln>
        </p:spPr>
      </p:sp>
      <p:sp>
        <p:nvSpPr>
          <p:cNvPr id="24" name="Shape 22"/>
          <p:cNvSpPr/>
          <p:nvPr/>
        </p:nvSpPr>
        <p:spPr>
          <a:xfrm>
            <a:off x="7050024" y="2529840"/>
            <a:ext cx="3040380" cy="1402080"/>
          </a:xfrm>
          <a:custGeom>
            <a:avLst/>
            <a:gdLst/>
            <a:ahLst/>
            <a:cxnLst/>
            <a:rect l="l" t="t" r="r" b="b"/>
            <a:pathLst>
              <a:path w="3040380" h="1402080">
                <a:moveTo>
                  <a:pt x="0" y="1402080"/>
                </a:moveTo>
                <a:cubicBezTo>
                  <a:pt x="60808" y="0"/>
                  <a:pt x="2979572" y="0"/>
                  <a:pt x="3040380" y="1402080"/>
                </a:cubicBezTo>
              </a:path>
            </a:pathLst>
          </a:custGeom>
          <a:ln w="15875">
            <a:solidFill>
              <a:srgbClr val="9AA6B6"/>
            </a:solidFill>
            <a:prstDash val="solid"/>
          </a:ln>
        </p:spPr>
      </p:sp>
      <p:sp>
        <p:nvSpPr>
          <p:cNvPr id="25" name="Shape 23"/>
          <p:cNvSpPr/>
          <p:nvPr/>
        </p:nvSpPr>
        <p:spPr>
          <a:xfrm>
            <a:off x="8874252" y="3224784"/>
            <a:ext cx="1216152" cy="707136"/>
          </a:xfrm>
          <a:custGeom>
            <a:avLst/>
            <a:gdLst/>
            <a:ahLst/>
            <a:cxnLst/>
            <a:rect l="l" t="t" r="r" b="b"/>
            <a:pathLst>
              <a:path w="1216152" h="707136">
                <a:moveTo>
                  <a:pt x="0" y="707136"/>
                </a:moveTo>
                <a:cubicBezTo>
                  <a:pt x="24323" y="0"/>
                  <a:pt x="1191829" y="0"/>
                  <a:pt x="1216152" y="707136"/>
                </a:cubicBezTo>
              </a:path>
            </a:pathLst>
          </a:custGeom>
          <a:ln w="15875">
            <a:solidFill>
              <a:srgbClr val="9AA6B6"/>
            </a:solidFill>
            <a:prstDash val="solid"/>
          </a:ln>
        </p:spPr>
      </p:sp>
      <p:sp>
        <p:nvSpPr>
          <p:cNvPr id="26" name="Shape 24"/>
          <p:cNvSpPr/>
          <p:nvPr/>
        </p:nvSpPr>
        <p:spPr>
          <a:xfrm>
            <a:off x="8874252" y="2993136"/>
            <a:ext cx="1824228" cy="938784"/>
          </a:xfrm>
          <a:custGeom>
            <a:avLst/>
            <a:gdLst/>
            <a:ahLst/>
            <a:cxnLst/>
            <a:rect l="l" t="t" r="r" b="b"/>
            <a:pathLst>
              <a:path w="1824228" h="938784">
                <a:moveTo>
                  <a:pt x="0" y="938784"/>
                </a:moveTo>
                <a:cubicBezTo>
                  <a:pt x="36485" y="0"/>
                  <a:pt x="1787743" y="0"/>
                  <a:pt x="1824228" y="938784"/>
                </a:cubicBezTo>
              </a:path>
            </a:pathLst>
          </a:custGeom>
          <a:ln w="15875">
            <a:solidFill>
              <a:srgbClr val="9AA6B6"/>
            </a:solidFill>
            <a:prstDash val="solid"/>
          </a:ln>
        </p:spPr>
      </p:sp>
      <p:sp>
        <p:nvSpPr>
          <p:cNvPr id="27" name="Shape 25"/>
          <p:cNvSpPr/>
          <p:nvPr/>
        </p:nvSpPr>
        <p:spPr>
          <a:xfrm>
            <a:off x="7658100" y="3456432"/>
            <a:ext cx="608076" cy="475488"/>
          </a:xfrm>
          <a:custGeom>
            <a:avLst/>
            <a:gdLst/>
            <a:ahLst/>
            <a:cxnLst/>
            <a:rect l="l" t="t" r="r" b="b"/>
            <a:pathLst>
              <a:path w="608076" h="475488">
                <a:moveTo>
                  <a:pt x="0" y="475488"/>
                </a:moveTo>
                <a:cubicBezTo>
                  <a:pt x="12162" y="0"/>
                  <a:pt x="595914" y="0"/>
                  <a:pt x="608076" y="475488"/>
                </a:cubicBezTo>
              </a:path>
            </a:pathLst>
          </a:custGeom>
          <a:ln w="15875">
            <a:solidFill>
              <a:srgbClr val="9AA6B6"/>
            </a:solidFill>
            <a:prstDash val="solid"/>
          </a:ln>
        </p:spPr>
      </p:sp>
      <p:sp>
        <p:nvSpPr>
          <p:cNvPr id="28" name="Shape 26"/>
          <p:cNvSpPr/>
          <p:nvPr/>
        </p:nvSpPr>
        <p:spPr>
          <a:xfrm>
            <a:off x="7658100" y="2993136"/>
            <a:ext cx="1824228" cy="938784"/>
          </a:xfrm>
          <a:custGeom>
            <a:avLst/>
            <a:gdLst/>
            <a:ahLst/>
            <a:cxnLst/>
            <a:rect l="l" t="t" r="r" b="b"/>
            <a:pathLst>
              <a:path w="1824228" h="938784">
                <a:moveTo>
                  <a:pt x="0" y="938784"/>
                </a:moveTo>
                <a:cubicBezTo>
                  <a:pt x="36485" y="0"/>
                  <a:pt x="1787743" y="0"/>
                  <a:pt x="1824228" y="938784"/>
                </a:cubicBezTo>
              </a:path>
            </a:pathLst>
          </a:custGeom>
          <a:ln w="15875">
            <a:solidFill>
              <a:srgbClr val="9AA6B6"/>
            </a:solidFill>
            <a:prstDash val="solid"/>
          </a:ln>
        </p:spPr>
      </p:sp>
      <p:sp>
        <p:nvSpPr>
          <p:cNvPr id="29" name="Shape 27"/>
          <p:cNvSpPr/>
          <p:nvPr/>
        </p:nvSpPr>
        <p:spPr>
          <a:xfrm>
            <a:off x="7658100" y="2298192"/>
            <a:ext cx="3648456" cy="1633728"/>
          </a:xfrm>
          <a:custGeom>
            <a:avLst/>
            <a:gdLst/>
            <a:ahLst/>
            <a:cxnLst/>
            <a:rect l="l" t="t" r="r" b="b"/>
            <a:pathLst>
              <a:path w="3648456" h="1633728">
                <a:moveTo>
                  <a:pt x="0" y="1633728"/>
                </a:moveTo>
                <a:cubicBezTo>
                  <a:pt x="72969" y="0"/>
                  <a:pt x="3575487" y="0"/>
                  <a:pt x="3648456" y="1633728"/>
                </a:cubicBezTo>
              </a:path>
            </a:pathLst>
          </a:custGeom>
          <a:ln w="15875">
            <a:solidFill>
              <a:srgbClr val="9AA6B6"/>
            </a:solidFill>
            <a:prstDash val="solid"/>
          </a:ln>
        </p:spPr>
      </p:sp>
      <p:sp>
        <p:nvSpPr>
          <p:cNvPr id="30" name="Shape 28"/>
          <p:cNvSpPr/>
          <p:nvPr/>
        </p:nvSpPr>
        <p:spPr>
          <a:xfrm>
            <a:off x="6441948" y="3931920"/>
            <a:ext cx="608076" cy="377952"/>
          </a:xfrm>
          <a:custGeom>
            <a:avLst/>
            <a:gdLst/>
            <a:ahLst/>
            <a:cxnLst/>
            <a:rect l="l" t="t" r="r" b="b"/>
            <a:pathLst>
              <a:path w="608076" h="377952">
                <a:moveTo>
                  <a:pt x="0" y="0"/>
                </a:moveTo>
                <a:cubicBezTo>
                  <a:pt x="12162" y="377952"/>
                  <a:pt x="595914" y="377952"/>
                  <a:pt x="608076" y="0"/>
                </a:cubicBezTo>
              </a:path>
            </a:pathLst>
          </a:custGeom>
          <a:ln w="19050">
            <a:solidFill>
              <a:srgbClr val="FF5A60"/>
            </a:solidFill>
            <a:prstDash val="dash"/>
          </a:ln>
        </p:spPr>
      </p:sp>
      <p:sp>
        <p:nvSpPr>
          <p:cNvPr id="31" name="Shape 29"/>
          <p:cNvSpPr/>
          <p:nvPr/>
        </p:nvSpPr>
        <p:spPr>
          <a:xfrm>
            <a:off x="7050024" y="3931920"/>
            <a:ext cx="2432304" cy="926592"/>
          </a:xfrm>
          <a:custGeom>
            <a:avLst/>
            <a:gdLst/>
            <a:ahLst/>
            <a:cxnLst/>
            <a:rect l="l" t="t" r="r" b="b"/>
            <a:pathLst>
              <a:path w="2432304" h="926592">
                <a:moveTo>
                  <a:pt x="0" y="0"/>
                </a:moveTo>
                <a:cubicBezTo>
                  <a:pt x="48646" y="926592"/>
                  <a:pt x="2383658" y="926592"/>
                  <a:pt x="2432304" y="0"/>
                </a:cubicBezTo>
              </a:path>
            </a:pathLst>
          </a:custGeom>
          <a:ln w="19050">
            <a:solidFill>
              <a:srgbClr val="FF5A60"/>
            </a:solidFill>
            <a:prstDash val="dash"/>
          </a:ln>
        </p:spPr>
      </p:sp>
      <p:sp>
        <p:nvSpPr>
          <p:cNvPr id="32" name="Shape 30"/>
          <p:cNvSpPr/>
          <p:nvPr/>
        </p:nvSpPr>
        <p:spPr>
          <a:xfrm>
            <a:off x="9482328" y="3931920"/>
            <a:ext cx="608076" cy="377952"/>
          </a:xfrm>
          <a:custGeom>
            <a:avLst/>
            <a:gdLst/>
            <a:ahLst/>
            <a:cxnLst/>
            <a:rect l="l" t="t" r="r" b="b"/>
            <a:pathLst>
              <a:path w="608076" h="377952">
                <a:moveTo>
                  <a:pt x="0" y="0"/>
                </a:moveTo>
                <a:cubicBezTo>
                  <a:pt x="12162" y="377952"/>
                  <a:pt x="595914" y="377952"/>
                  <a:pt x="608076" y="0"/>
                </a:cubicBezTo>
              </a:path>
            </a:pathLst>
          </a:custGeom>
          <a:ln w="19050">
            <a:solidFill>
              <a:srgbClr val="FF5A60"/>
            </a:solidFill>
            <a:prstDash val="dash"/>
          </a:ln>
        </p:spPr>
      </p:sp>
      <p:sp>
        <p:nvSpPr>
          <p:cNvPr id="33" name="Shape 31"/>
          <p:cNvSpPr/>
          <p:nvPr/>
        </p:nvSpPr>
        <p:spPr>
          <a:xfrm>
            <a:off x="8266176" y="3931920"/>
            <a:ext cx="1216152" cy="560832"/>
          </a:xfrm>
          <a:custGeom>
            <a:avLst/>
            <a:gdLst/>
            <a:ahLst/>
            <a:cxnLst/>
            <a:rect l="l" t="t" r="r" b="b"/>
            <a:pathLst>
              <a:path w="1216152" h="560832">
                <a:moveTo>
                  <a:pt x="0" y="0"/>
                </a:moveTo>
                <a:cubicBezTo>
                  <a:pt x="24323" y="560832"/>
                  <a:pt x="1191829" y="560832"/>
                  <a:pt x="1216152" y="0"/>
                </a:cubicBezTo>
              </a:path>
            </a:pathLst>
          </a:custGeom>
          <a:ln w="19050">
            <a:solidFill>
              <a:srgbClr val="FF5A60"/>
            </a:solidFill>
            <a:prstDash val="dash"/>
          </a:ln>
        </p:spPr>
      </p:sp>
      <p:sp>
        <p:nvSpPr>
          <p:cNvPr id="34" name="Shape 32"/>
          <p:cNvSpPr/>
          <p:nvPr/>
        </p:nvSpPr>
        <p:spPr>
          <a:xfrm>
            <a:off x="8266176" y="3931920"/>
            <a:ext cx="3040380" cy="1109472"/>
          </a:xfrm>
          <a:custGeom>
            <a:avLst/>
            <a:gdLst/>
            <a:ahLst/>
            <a:cxnLst/>
            <a:rect l="l" t="t" r="r" b="b"/>
            <a:pathLst>
              <a:path w="3040380" h="1109472">
                <a:moveTo>
                  <a:pt x="0" y="0"/>
                </a:moveTo>
                <a:cubicBezTo>
                  <a:pt x="60808" y="1109472"/>
                  <a:pt x="2979572" y="1109472"/>
                  <a:pt x="3040380" y="0"/>
                </a:cubicBezTo>
              </a:path>
            </a:pathLst>
          </a:custGeom>
          <a:ln w="19050">
            <a:solidFill>
              <a:srgbClr val="FF5A60"/>
            </a:solidFill>
            <a:prstDash val="dash"/>
          </a:ln>
        </p:spPr>
      </p:sp>
      <p:sp>
        <p:nvSpPr>
          <p:cNvPr id="35" name="Shape 33"/>
          <p:cNvSpPr/>
          <p:nvPr/>
        </p:nvSpPr>
        <p:spPr>
          <a:xfrm>
            <a:off x="9482328" y="3931920"/>
            <a:ext cx="1824228" cy="743712"/>
          </a:xfrm>
          <a:custGeom>
            <a:avLst/>
            <a:gdLst/>
            <a:ahLst/>
            <a:cxnLst/>
            <a:rect l="l" t="t" r="r" b="b"/>
            <a:pathLst>
              <a:path w="1824228" h="743712">
                <a:moveTo>
                  <a:pt x="0" y="0"/>
                </a:moveTo>
                <a:cubicBezTo>
                  <a:pt x="36485" y="743712"/>
                  <a:pt x="1787743" y="743712"/>
                  <a:pt x="1824228" y="0"/>
                </a:cubicBezTo>
              </a:path>
            </a:pathLst>
          </a:custGeom>
          <a:ln w="19050">
            <a:solidFill>
              <a:srgbClr val="FF5A60"/>
            </a:solidFill>
            <a:prstDash val="dash"/>
          </a:ln>
        </p:spPr>
      </p:sp>
      <p:sp>
        <p:nvSpPr>
          <p:cNvPr id="36" name="Shape 34"/>
          <p:cNvSpPr/>
          <p:nvPr/>
        </p:nvSpPr>
        <p:spPr>
          <a:xfrm>
            <a:off x="10090404" y="3931920"/>
            <a:ext cx="608076" cy="377952"/>
          </a:xfrm>
          <a:custGeom>
            <a:avLst/>
            <a:gdLst/>
            <a:ahLst/>
            <a:cxnLst/>
            <a:rect l="l" t="t" r="r" b="b"/>
            <a:pathLst>
              <a:path w="608076" h="377952">
                <a:moveTo>
                  <a:pt x="0" y="0"/>
                </a:moveTo>
                <a:cubicBezTo>
                  <a:pt x="12162" y="377952"/>
                  <a:pt x="595914" y="377952"/>
                  <a:pt x="608076" y="0"/>
                </a:cubicBezTo>
              </a:path>
            </a:pathLst>
          </a:custGeom>
          <a:ln w="19050">
            <a:solidFill>
              <a:srgbClr val="FF5A60"/>
            </a:solidFill>
            <a:prstDash val="dash"/>
          </a:ln>
        </p:spPr>
      </p:sp>
      <p:sp>
        <p:nvSpPr>
          <p:cNvPr id="37" name="Shape 35"/>
          <p:cNvSpPr/>
          <p:nvPr/>
        </p:nvSpPr>
        <p:spPr>
          <a:xfrm>
            <a:off x="10090404" y="3931920"/>
            <a:ext cx="1216152" cy="560832"/>
          </a:xfrm>
          <a:custGeom>
            <a:avLst/>
            <a:gdLst/>
            <a:ahLst/>
            <a:cxnLst/>
            <a:rect l="l" t="t" r="r" b="b"/>
            <a:pathLst>
              <a:path w="1216152" h="560832">
                <a:moveTo>
                  <a:pt x="0" y="0"/>
                </a:moveTo>
                <a:cubicBezTo>
                  <a:pt x="24323" y="560832"/>
                  <a:pt x="1191829" y="560832"/>
                  <a:pt x="1216152" y="0"/>
                </a:cubicBezTo>
              </a:path>
            </a:pathLst>
          </a:custGeom>
          <a:ln w="19050">
            <a:solidFill>
              <a:srgbClr val="FF5A60"/>
            </a:solidFill>
            <a:prstDash val="dash"/>
          </a:ln>
        </p:spPr>
      </p:sp>
      <p:sp>
        <p:nvSpPr>
          <p:cNvPr id="38" name="Shape 36"/>
          <p:cNvSpPr/>
          <p:nvPr/>
        </p:nvSpPr>
        <p:spPr>
          <a:xfrm>
            <a:off x="10698480" y="3931920"/>
            <a:ext cx="608076" cy="377952"/>
          </a:xfrm>
          <a:custGeom>
            <a:avLst/>
            <a:gdLst/>
            <a:ahLst/>
            <a:cxnLst/>
            <a:rect l="l" t="t" r="r" b="b"/>
            <a:pathLst>
              <a:path w="608076" h="377952">
                <a:moveTo>
                  <a:pt x="0" y="0"/>
                </a:moveTo>
                <a:cubicBezTo>
                  <a:pt x="12162" y="377952"/>
                  <a:pt x="595914" y="377952"/>
                  <a:pt x="608076" y="0"/>
                </a:cubicBezTo>
              </a:path>
            </a:pathLst>
          </a:custGeom>
          <a:ln w="19050">
            <a:solidFill>
              <a:srgbClr val="FF5A60"/>
            </a:solidFill>
            <a:prstDash val="dash"/>
          </a:ln>
        </p:spPr>
      </p:sp>
      <p:sp>
        <p:nvSpPr>
          <p:cNvPr id="39" name="Shape 37"/>
          <p:cNvSpPr/>
          <p:nvPr/>
        </p:nvSpPr>
        <p:spPr>
          <a:xfrm>
            <a:off x="5650992" y="3749040"/>
            <a:ext cx="365760" cy="365760"/>
          </a:xfrm>
          <a:prstGeom prst="ellipse">
            <a:avLst/>
          </a:prstGeom>
          <a:solidFill>
            <a:srgbClr val="0B0F17"/>
          </a:solidFill>
          <a:ln w="15875">
            <a:solidFill>
              <a:srgbClr val="9AA6B6"/>
            </a:solidFill>
            <a:prstDash val="solid"/>
          </a:ln>
        </p:spPr>
      </p:sp>
      <p:sp>
        <p:nvSpPr>
          <p:cNvPr id="40" name="Text 38"/>
          <p:cNvSpPr txBox="1"/>
          <p:nvPr/>
        </p:nvSpPr>
        <p:spPr>
          <a:xfrm>
            <a:off x="5650992" y="3813048"/>
            <a:ext cx="365760" cy="237744"/>
          </a:xfrm>
          <a:prstGeom prst="rect">
            <a:avLst/>
          </a:prstGeom>
          <a:noFill/>
          <a:ln/>
        </p:spPr>
        <p:txBody>
          <a:bodyPr wrap="square" lIns="0" tIns="0" rIns="0" bIns="0" rtlCol="0" anchor="t"/>
          <a:lstStyle/>
          <a:p>
            <a:pPr algn="ctr" indent="0" marL="0">
              <a:buNone/>
            </a:pPr>
            <a:r>
              <a:rPr lang="en-US" sz="1200" b="1" dirty="0">
                <a:solidFill>
                  <a:srgbClr val="E8ECF2"/>
                </a:solidFill>
                <a:latin typeface="Calibri" pitchFamily="34" charset="0"/>
                <a:ea typeface="Calibri" pitchFamily="34" charset="-122"/>
                <a:cs typeface="Calibri" pitchFamily="34" charset="-120"/>
              </a:rPr>
              <a:t>0</a:t>
            </a:r>
            <a:endParaRPr lang="en-US" sz="1200" dirty="0"/>
          </a:p>
        </p:txBody>
      </p:sp>
      <p:sp>
        <p:nvSpPr>
          <p:cNvPr id="41" name="Text 39"/>
          <p:cNvSpPr txBox="1"/>
          <p:nvPr/>
        </p:nvSpPr>
        <p:spPr>
          <a:xfrm>
            <a:off x="5650992" y="4956048"/>
            <a:ext cx="365760" cy="237744"/>
          </a:xfrm>
          <a:prstGeom prst="rect">
            <a:avLst/>
          </a:prstGeom>
          <a:noFill/>
          <a:ln/>
        </p:spPr>
        <p:txBody>
          <a:bodyPr wrap="square" lIns="0" tIns="0" rIns="0" bIns="0" rtlCol="0" anchor="t"/>
          <a:lstStyle/>
          <a:p>
            <a:pPr algn="ctr" indent="0" marL="0">
              <a:buNone/>
            </a:pPr>
            <a:r>
              <a:rPr lang="en-US" sz="1200" dirty="0">
                <a:solidFill>
                  <a:srgbClr val="7D8AA0"/>
                </a:solidFill>
                <a:latin typeface="Calibri" pitchFamily="34" charset="0"/>
                <a:ea typeface="Calibri" pitchFamily="34" charset="-122"/>
                <a:cs typeface="Calibri" pitchFamily="34" charset="-120"/>
              </a:rPr>
              <a:t>2</a:t>
            </a:r>
            <a:endParaRPr lang="en-US" sz="1200" dirty="0"/>
          </a:p>
        </p:txBody>
      </p:sp>
      <p:sp>
        <p:nvSpPr>
          <p:cNvPr id="42" name="Shape 40"/>
          <p:cNvSpPr/>
          <p:nvPr/>
        </p:nvSpPr>
        <p:spPr>
          <a:xfrm>
            <a:off x="6259068" y="3749040"/>
            <a:ext cx="365760" cy="365760"/>
          </a:xfrm>
          <a:prstGeom prst="ellipse">
            <a:avLst/>
          </a:prstGeom>
          <a:solidFill>
            <a:srgbClr val="0B0F17"/>
          </a:solidFill>
          <a:ln w="15875">
            <a:solidFill>
              <a:srgbClr val="9AA6B6"/>
            </a:solidFill>
            <a:prstDash val="solid"/>
          </a:ln>
        </p:spPr>
      </p:sp>
      <p:sp>
        <p:nvSpPr>
          <p:cNvPr id="43" name="Text 41"/>
          <p:cNvSpPr txBox="1"/>
          <p:nvPr/>
        </p:nvSpPr>
        <p:spPr>
          <a:xfrm>
            <a:off x="6259068" y="3813048"/>
            <a:ext cx="365760" cy="237744"/>
          </a:xfrm>
          <a:prstGeom prst="rect">
            <a:avLst/>
          </a:prstGeom>
          <a:noFill/>
          <a:ln/>
        </p:spPr>
        <p:txBody>
          <a:bodyPr wrap="square" lIns="0" tIns="0" rIns="0" bIns="0" rtlCol="0" anchor="t"/>
          <a:lstStyle/>
          <a:p>
            <a:pPr algn="ctr" indent="0" marL="0">
              <a:buNone/>
            </a:pPr>
            <a:r>
              <a:rPr lang="en-US" sz="1200" b="1" dirty="0">
                <a:solidFill>
                  <a:srgbClr val="E8ECF2"/>
                </a:solidFill>
                <a:latin typeface="Calibri" pitchFamily="34" charset="0"/>
                <a:ea typeface="Calibri" pitchFamily="34" charset="-122"/>
                <a:cs typeface="Calibri" pitchFamily="34" charset="-120"/>
              </a:rPr>
              <a:t>1</a:t>
            </a:r>
            <a:endParaRPr lang="en-US" sz="1200" dirty="0"/>
          </a:p>
        </p:txBody>
      </p:sp>
      <p:sp>
        <p:nvSpPr>
          <p:cNvPr id="44" name="Text 42"/>
          <p:cNvSpPr txBox="1"/>
          <p:nvPr/>
        </p:nvSpPr>
        <p:spPr>
          <a:xfrm>
            <a:off x="6259068" y="4956048"/>
            <a:ext cx="365760" cy="237744"/>
          </a:xfrm>
          <a:prstGeom prst="rect">
            <a:avLst/>
          </a:prstGeom>
          <a:noFill/>
          <a:ln/>
        </p:spPr>
        <p:txBody>
          <a:bodyPr wrap="square" lIns="0" tIns="0" rIns="0" bIns="0" rtlCol="0" anchor="t"/>
          <a:lstStyle/>
          <a:p>
            <a:pPr algn="ctr" indent="0" marL="0">
              <a:buNone/>
            </a:pPr>
            <a:r>
              <a:rPr lang="en-US" sz="1200" dirty="0">
                <a:solidFill>
                  <a:srgbClr val="7D8AA0"/>
                </a:solidFill>
                <a:latin typeface="Calibri" pitchFamily="34" charset="0"/>
                <a:ea typeface="Calibri" pitchFamily="34" charset="-122"/>
                <a:cs typeface="Calibri" pitchFamily="34" charset="-120"/>
              </a:rPr>
              <a:t>2</a:t>
            </a:r>
            <a:endParaRPr lang="en-US" sz="1200" dirty="0"/>
          </a:p>
        </p:txBody>
      </p:sp>
      <p:sp>
        <p:nvSpPr>
          <p:cNvPr id="45" name="Shape 43"/>
          <p:cNvSpPr/>
          <p:nvPr/>
        </p:nvSpPr>
        <p:spPr>
          <a:xfrm>
            <a:off x="6867144" y="3749040"/>
            <a:ext cx="365760" cy="365760"/>
          </a:xfrm>
          <a:prstGeom prst="ellipse">
            <a:avLst/>
          </a:prstGeom>
          <a:solidFill>
            <a:srgbClr val="0B0F17"/>
          </a:solidFill>
          <a:ln w="15875">
            <a:solidFill>
              <a:srgbClr val="9AA6B6"/>
            </a:solidFill>
            <a:prstDash val="solid"/>
          </a:ln>
        </p:spPr>
      </p:sp>
      <p:sp>
        <p:nvSpPr>
          <p:cNvPr id="46" name="Text 44"/>
          <p:cNvSpPr txBox="1"/>
          <p:nvPr/>
        </p:nvSpPr>
        <p:spPr>
          <a:xfrm>
            <a:off x="6867144" y="3813048"/>
            <a:ext cx="365760" cy="237744"/>
          </a:xfrm>
          <a:prstGeom prst="rect">
            <a:avLst/>
          </a:prstGeom>
          <a:noFill/>
          <a:ln/>
        </p:spPr>
        <p:txBody>
          <a:bodyPr wrap="square" lIns="0" tIns="0" rIns="0" bIns="0" rtlCol="0" anchor="t"/>
          <a:lstStyle/>
          <a:p>
            <a:pPr algn="ctr" indent="0" marL="0">
              <a:buNone/>
            </a:pPr>
            <a:r>
              <a:rPr lang="en-US" sz="1200" b="1" dirty="0">
                <a:solidFill>
                  <a:srgbClr val="E8ECF2"/>
                </a:solidFill>
                <a:latin typeface="Calibri" pitchFamily="34" charset="0"/>
                <a:ea typeface="Calibri" pitchFamily="34" charset="-122"/>
                <a:cs typeface="Calibri" pitchFamily="34" charset="-120"/>
              </a:rPr>
              <a:t>2</a:t>
            </a:r>
            <a:endParaRPr lang="en-US" sz="1200" dirty="0"/>
          </a:p>
        </p:txBody>
      </p:sp>
      <p:sp>
        <p:nvSpPr>
          <p:cNvPr id="47" name="Text 45"/>
          <p:cNvSpPr txBox="1"/>
          <p:nvPr/>
        </p:nvSpPr>
        <p:spPr>
          <a:xfrm>
            <a:off x="6867144" y="4956048"/>
            <a:ext cx="365760" cy="237744"/>
          </a:xfrm>
          <a:prstGeom prst="rect">
            <a:avLst/>
          </a:prstGeom>
          <a:noFill/>
          <a:ln/>
        </p:spPr>
        <p:txBody>
          <a:bodyPr wrap="square" lIns="0" tIns="0" rIns="0" bIns="0" rtlCol="0" anchor="t"/>
          <a:lstStyle/>
          <a:p>
            <a:pPr algn="ctr" indent="0" marL="0">
              <a:buNone/>
            </a:pPr>
            <a:r>
              <a:rPr lang="en-US" sz="1200" dirty="0">
                <a:solidFill>
                  <a:srgbClr val="7D8AA0"/>
                </a:solidFill>
                <a:latin typeface="Calibri" pitchFamily="34" charset="0"/>
                <a:ea typeface="Calibri" pitchFamily="34" charset="-122"/>
                <a:cs typeface="Calibri" pitchFamily="34" charset="-120"/>
              </a:rPr>
              <a:t>2</a:t>
            </a:r>
            <a:endParaRPr lang="en-US" sz="1200" dirty="0"/>
          </a:p>
        </p:txBody>
      </p:sp>
      <p:sp>
        <p:nvSpPr>
          <p:cNvPr id="48" name="Shape 46"/>
          <p:cNvSpPr/>
          <p:nvPr/>
        </p:nvSpPr>
        <p:spPr>
          <a:xfrm>
            <a:off x="7475220" y="3749040"/>
            <a:ext cx="365760" cy="365760"/>
          </a:xfrm>
          <a:prstGeom prst="ellipse">
            <a:avLst/>
          </a:prstGeom>
          <a:solidFill>
            <a:srgbClr val="0B0F17"/>
          </a:solidFill>
          <a:ln w="15875">
            <a:solidFill>
              <a:srgbClr val="9AA6B6"/>
            </a:solidFill>
            <a:prstDash val="solid"/>
          </a:ln>
        </p:spPr>
      </p:sp>
      <p:sp>
        <p:nvSpPr>
          <p:cNvPr id="49" name="Text 47"/>
          <p:cNvSpPr txBox="1"/>
          <p:nvPr/>
        </p:nvSpPr>
        <p:spPr>
          <a:xfrm>
            <a:off x="7475220" y="3813048"/>
            <a:ext cx="365760" cy="237744"/>
          </a:xfrm>
          <a:prstGeom prst="rect">
            <a:avLst/>
          </a:prstGeom>
          <a:noFill/>
          <a:ln/>
        </p:spPr>
        <p:txBody>
          <a:bodyPr wrap="square" lIns="0" tIns="0" rIns="0" bIns="0" rtlCol="0" anchor="t"/>
          <a:lstStyle/>
          <a:p>
            <a:pPr algn="ctr" indent="0" marL="0">
              <a:buNone/>
            </a:pPr>
            <a:r>
              <a:rPr lang="en-US" sz="1200" b="1" dirty="0">
                <a:solidFill>
                  <a:srgbClr val="E8ECF2"/>
                </a:solidFill>
                <a:latin typeface="Calibri" pitchFamily="34" charset="0"/>
                <a:ea typeface="Calibri" pitchFamily="34" charset="-122"/>
                <a:cs typeface="Calibri" pitchFamily="34" charset="-120"/>
              </a:rPr>
              <a:t>4</a:t>
            </a:r>
            <a:endParaRPr lang="en-US" sz="1200" dirty="0"/>
          </a:p>
        </p:txBody>
      </p:sp>
      <p:sp>
        <p:nvSpPr>
          <p:cNvPr id="50" name="Text 48"/>
          <p:cNvSpPr txBox="1"/>
          <p:nvPr/>
        </p:nvSpPr>
        <p:spPr>
          <a:xfrm>
            <a:off x="7475220" y="4956048"/>
            <a:ext cx="365760" cy="237744"/>
          </a:xfrm>
          <a:prstGeom prst="rect">
            <a:avLst/>
          </a:prstGeom>
          <a:noFill/>
          <a:ln/>
        </p:spPr>
        <p:txBody>
          <a:bodyPr wrap="square" lIns="0" tIns="0" rIns="0" bIns="0" rtlCol="0" anchor="t"/>
          <a:lstStyle/>
          <a:p>
            <a:pPr algn="ctr" indent="0" marL="0">
              <a:buNone/>
            </a:pPr>
            <a:r>
              <a:rPr lang="en-US" sz="1200" dirty="0">
                <a:solidFill>
                  <a:srgbClr val="7D8AA0"/>
                </a:solidFill>
                <a:latin typeface="Calibri" pitchFamily="34" charset="0"/>
                <a:ea typeface="Calibri" pitchFamily="34" charset="-122"/>
                <a:cs typeface="Calibri" pitchFamily="34" charset="-120"/>
              </a:rPr>
              <a:t>3</a:t>
            </a:r>
            <a:endParaRPr lang="en-US" sz="1200" dirty="0"/>
          </a:p>
        </p:txBody>
      </p:sp>
      <p:sp>
        <p:nvSpPr>
          <p:cNvPr id="51" name="Shape 49"/>
          <p:cNvSpPr/>
          <p:nvPr/>
        </p:nvSpPr>
        <p:spPr>
          <a:xfrm>
            <a:off x="8083296" y="3749040"/>
            <a:ext cx="365760" cy="365760"/>
          </a:xfrm>
          <a:prstGeom prst="ellipse">
            <a:avLst/>
          </a:prstGeom>
          <a:solidFill>
            <a:srgbClr val="0B0F17"/>
          </a:solidFill>
          <a:ln w="15875">
            <a:solidFill>
              <a:srgbClr val="9AA6B6"/>
            </a:solidFill>
            <a:prstDash val="solid"/>
          </a:ln>
        </p:spPr>
      </p:sp>
      <p:sp>
        <p:nvSpPr>
          <p:cNvPr id="52" name="Text 50"/>
          <p:cNvSpPr txBox="1"/>
          <p:nvPr/>
        </p:nvSpPr>
        <p:spPr>
          <a:xfrm>
            <a:off x="8083296" y="3813048"/>
            <a:ext cx="365760" cy="237744"/>
          </a:xfrm>
          <a:prstGeom prst="rect">
            <a:avLst/>
          </a:prstGeom>
          <a:noFill/>
          <a:ln/>
        </p:spPr>
        <p:txBody>
          <a:bodyPr wrap="square" lIns="0" tIns="0" rIns="0" bIns="0" rtlCol="0" anchor="t"/>
          <a:lstStyle/>
          <a:p>
            <a:pPr algn="ctr" indent="0" marL="0">
              <a:buNone/>
            </a:pPr>
            <a:r>
              <a:rPr lang="en-US" sz="1200" b="1" dirty="0">
                <a:solidFill>
                  <a:srgbClr val="E8ECF2"/>
                </a:solidFill>
                <a:latin typeface="Calibri" pitchFamily="34" charset="0"/>
                <a:ea typeface="Calibri" pitchFamily="34" charset="-122"/>
                <a:cs typeface="Calibri" pitchFamily="34" charset="-120"/>
              </a:rPr>
              <a:t>5</a:t>
            </a:r>
            <a:endParaRPr lang="en-US" sz="1200" dirty="0"/>
          </a:p>
        </p:txBody>
      </p:sp>
      <p:sp>
        <p:nvSpPr>
          <p:cNvPr id="53" name="Text 51"/>
          <p:cNvSpPr txBox="1"/>
          <p:nvPr/>
        </p:nvSpPr>
        <p:spPr>
          <a:xfrm>
            <a:off x="8083296" y="4956048"/>
            <a:ext cx="365760" cy="237744"/>
          </a:xfrm>
          <a:prstGeom prst="rect">
            <a:avLst/>
          </a:prstGeom>
          <a:noFill/>
          <a:ln/>
        </p:spPr>
        <p:txBody>
          <a:bodyPr wrap="square" lIns="0" tIns="0" rIns="0" bIns="0" rtlCol="0" anchor="t"/>
          <a:lstStyle/>
          <a:p>
            <a:pPr algn="ctr" indent="0" marL="0">
              <a:buNone/>
            </a:pPr>
            <a:r>
              <a:rPr lang="en-US" sz="1200" dirty="0">
                <a:solidFill>
                  <a:srgbClr val="7D8AA0"/>
                </a:solidFill>
                <a:latin typeface="Calibri" pitchFamily="34" charset="0"/>
                <a:ea typeface="Calibri" pitchFamily="34" charset="-122"/>
                <a:cs typeface="Calibri" pitchFamily="34" charset="-120"/>
              </a:rPr>
              <a:t>2</a:t>
            </a:r>
            <a:endParaRPr lang="en-US" sz="1200" dirty="0"/>
          </a:p>
        </p:txBody>
      </p:sp>
      <p:sp>
        <p:nvSpPr>
          <p:cNvPr id="54" name="Shape 52"/>
          <p:cNvSpPr/>
          <p:nvPr/>
        </p:nvSpPr>
        <p:spPr>
          <a:xfrm>
            <a:off x="8691372" y="3749040"/>
            <a:ext cx="365760" cy="365760"/>
          </a:xfrm>
          <a:prstGeom prst="ellipse">
            <a:avLst/>
          </a:prstGeom>
          <a:solidFill>
            <a:srgbClr val="0B0F17"/>
          </a:solidFill>
          <a:ln w="15875">
            <a:solidFill>
              <a:srgbClr val="9AA6B6"/>
            </a:solidFill>
            <a:prstDash val="solid"/>
          </a:ln>
        </p:spPr>
      </p:sp>
      <p:sp>
        <p:nvSpPr>
          <p:cNvPr id="55" name="Text 53"/>
          <p:cNvSpPr txBox="1"/>
          <p:nvPr/>
        </p:nvSpPr>
        <p:spPr>
          <a:xfrm>
            <a:off x="8691372" y="3813048"/>
            <a:ext cx="365760" cy="237744"/>
          </a:xfrm>
          <a:prstGeom prst="rect">
            <a:avLst/>
          </a:prstGeom>
          <a:noFill/>
          <a:ln/>
        </p:spPr>
        <p:txBody>
          <a:bodyPr wrap="square" lIns="0" tIns="0" rIns="0" bIns="0" rtlCol="0" anchor="t"/>
          <a:lstStyle/>
          <a:p>
            <a:pPr algn="ctr" indent="0" marL="0">
              <a:buNone/>
            </a:pPr>
            <a:r>
              <a:rPr lang="en-US" sz="1200" b="1" dirty="0">
                <a:solidFill>
                  <a:srgbClr val="E8ECF2"/>
                </a:solidFill>
                <a:latin typeface="Calibri" pitchFamily="34" charset="0"/>
                <a:ea typeface="Calibri" pitchFamily="34" charset="-122"/>
                <a:cs typeface="Calibri" pitchFamily="34" charset="-120"/>
              </a:rPr>
              <a:t>3</a:t>
            </a:r>
            <a:endParaRPr lang="en-US" sz="1200" dirty="0"/>
          </a:p>
        </p:txBody>
      </p:sp>
      <p:sp>
        <p:nvSpPr>
          <p:cNvPr id="56" name="Text 54"/>
          <p:cNvSpPr txBox="1"/>
          <p:nvPr/>
        </p:nvSpPr>
        <p:spPr>
          <a:xfrm>
            <a:off x="8691372" y="4956048"/>
            <a:ext cx="365760" cy="237744"/>
          </a:xfrm>
          <a:prstGeom prst="rect">
            <a:avLst/>
          </a:prstGeom>
          <a:noFill/>
          <a:ln/>
        </p:spPr>
        <p:txBody>
          <a:bodyPr wrap="square" lIns="0" tIns="0" rIns="0" bIns="0" rtlCol="0" anchor="t"/>
          <a:lstStyle/>
          <a:p>
            <a:pPr algn="ctr" indent="0" marL="0">
              <a:buNone/>
            </a:pPr>
            <a:r>
              <a:rPr lang="en-US" sz="1200" dirty="0">
                <a:solidFill>
                  <a:srgbClr val="7D8AA0"/>
                </a:solidFill>
                <a:latin typeface="Calibri" pitchFamily="34" charset="0"/>
                <a:ea typeface="Calibri" pitchFamily="34" charset="-122"/>
                <a:cs typeface="Calibri" pitchFamily="34" charset="-120"/>
              </a:rPr>
              <a:t>2</a:t>
            </a:r>
            <a:endParaRPr lang="en-US" sz="1200" dirty="0"/>
          </a:p>
        </p:txBody>
      </p:sp>
      <p:sp>
        <p:nvSpPr>
          <p:cNvPr id="57" name="Shape 55"/>
          <p:cNvSpPr/>
          <p:nvPr/>
        </p:nvSpPr>
        <p:spPr>
          <a:xfrm>
            <a:off x="9299448" y="3749040"/>
            <a:ext cx="365760" cy="365760"/>
          </a:xfrm>
          <a:prstGeom prst="ellipse">
            <a:avLst/>
          </a:prstGeom>
          <a:solidFill>
            <a:srgbClr val="3DDC97"/>
          </a:solidFill>
          <a:ln w="15875">
            <a:solidFill>
              <a:srgbClr val="3DDC97"/>
            </a:solidFill>
            <a:prstDash val="solid"/>
          </a:ln>
        </p:spPr>
      </p:sp>
      <p:sp>
        <p:nvSpPr>
          <p:cNvPr id="58" name="Text 56"/>
          <p:cNvSpPr txBox="1"/>
          <p:nvPr/>
        </p:nvSpPr>
        <p:spPr>
          <a:xfrm>
            <a:off x="9299448" y="3813048"/>
            <a:ext cx="365760" cy="237744"/>
          </a:xfrm>
          <a:prstGeom prst="rect">
            <a:avLst/>
          </a:prstGeom>
          <a:noFill/>
          <a:ln/>
        </p:spPr>
        <p:txBody>
          <a:bodyPr wrap="square" lIns="0" tIns="0" rIns="0" bIns="0" rtlCol="0" anchor="t"/>
          <a:lstStyle/>
          <a:p>
            <a:pPr algn="ctr" indent="0" marL="0">
              <a:buNone/>
            </a:pPr>
            <a:r>
              <a:rPr lang="en-US" sz="1200" b="1" dirty="0">
                <a:solidFill>
                  <a:srgbClr val="0B0F17"/>
                </a:solidFill>
                <a:latin typeface="Calibri" pitchFamily="34" charset="0"/>
                <a:ea typeface="Calibri" pitchFamily="34" charset="-122"/>
                <a:cs typeface="Calibri" pitchFamily="34" charset="-120"/>
              </a:rPr>
              <a:t>6</a:t>
            </a:r>
            <a:endParaRPr lang="en-US" sz="1200" dirty="0"/>
          </a:p>
        </p:txBody>
      </p:sp>
      <p:sp>
        <p:nvSpPr>
          <p:cNvPr id="59" name="Text 57"/>
          <p:cNvSpPr txBox="1"/>
          <p:nvPr/>
        </p:nvSpPr>
        <p:spPr>
          <a:xfrm>
            <a:off x="9299448" y="4956048"/>
            <a:ext cx="365760" cy="237744"/>
          </a:xfrm>
          <a:prstGeom prst="rect">
            <a:avLst/>
          </a:prstGeom>
          <a:noFill/>
          <a:ln/>
        </p:spPr>
        <p:txBody>
          <a:bodyPr wrap="square" lIns="0" tIns="0" rIns="0" bIns="0" rtlCol="0" anchor="t"/>
          <a:lstStyle/>
          <a:p>
            <a:pPr algn="ctr" indent="0" marL="0">
              <a:buNone/>
            </a:pPr>
            <a:r>
              <a:rPr lang="en-US" sz="1200" b="1" dirty="0">
                <a:solidFill>
                  <a:srgbClr val="3DDC97"/>
                </a:solidFill>
                <a:latin typeface="Calibri" pitchFamily="34" charset="0"/>
                <a:ea typeface="Calibri" pitchFamily="34" charset="-122"/>
                <a:cs typeface="Calibri" pitchFamily="34" charset="-120"/>
              </a:rPr>
              <a:t>2</a:t>
            </a:r>
            <a:endParaRPr lang="en-US" sz="1200" dirty="0"/>
          </a:p>
        </p:txBody>
      </p:sp>
      <p:sp>
        <p:nvSpPr>
          <p:cNvPr id="60" name="Shape 58"/>
          <p:cNvSpPr/>
          <p:nvPr/>
        </p:nvSpPr>
        <p:spPr>
          <a:xfrm>
            <a:off x="9907524" y="3749040"/>
            <a:ext cx="365760" cy="365760"/>
          </a:xfrm>
          <a:prstGeom prst="ellipse">
            <a:avLst/>
          </a:prstGeom>
          <a:solidFill>
            <a:srgbClr val="3DDC97"/>
          </a:solidFill>
          <a:ln w="15875">
            <a:solidFill>
              <a:srgbClr val="3DDC97"/>
            </a:solidFill>
            <a:prstDash val="solid"/>
          </a:ln>
        </p:spPr>
      </p:sp>
      <p:sp>
        <p:nvSpPr>
          <p:cNvPr id="61" name="Text 59"/>
          <p:cNvSpPr txBox="1"/>
          <p:nvPr/>
        </p:nvSpPr>
        <p:spPr>
          <a:xfrm>
            <a:off x="9907524" y="3813048"/>
            <a:ext cx="365760" cy="237744"/>
          </a:xfrm>
          <a:prstGeom prst="rect">
            <a:avLst/>
          </a:prstGeom>
          <a:noFill/>
          <a:ln/>
        </p:spPr>
        <p:txBody>
          <a:bodyPr wrap="square" lIns="0" tIns="0" rIns="0" bIns="0" rtlCol="0" anchor="t"/>
          <a:lstStyle/>
          <a:p>
            <a:pPr algn="ctr" indent="0" marL="0">
              <a:buNone/>
            </a:pPr>
            <a:r>
              <a:rPr lang="en-US" sz="1200" b="1" dirty="0">
                <a:solidFill>
                  <a:srgbClr val="0B0F17"/>
                </a:solidFill>
                <a:latin typeface="Calibri" pitchFamily="34" charset="0"/>
                <a:ea typeface="Calibri" pitchFamily="34" charset="-122"/>
                <a:cs typeface="Calibri" pitchFamily="34" charset="-120"/>
              </a:rPr>
              <a:t>8</a:t>
            </a:r>
            <a:endParaRPr lang="en-US" sz="1200" dirty="0"/>
          </a:p>
        </p:txBody>
      </p:sp>
      <p:sp>
        <p:nvSpPr>
          <p:cNvPr id="62" name="Text 60"/>
          <p:cNvSpPr txBox="1"/>
          <p:nvPr/>
        </p:nvSpPr>
        <p:spPr>
          <a:xfrm>
            <a:off x="9907524" y="4956048"/>
            <a:ext cx="365760" cy="237744"/>
          </a:xfrm>
          <a:prstGeom prst="rect">
            <a:avLst/>
          </a:prstGeom>
          <a:noFill/>
          <a:ln/>
        </p:spPr>
        <p:txBody>
          <a:bodyPr wrap="square" lIns="0" tIns="0" rIns="0" bIns="0" rtlCol="0" anchor="t"/>
          <a:lstStyle/>
          <a:p>
            <a:pPr algn="ctr" indent="0" marL="0">
              <a:buNone/>
            </a:pPr>
            <a:r>
              <a:rPr lang="en-US" sz="1200" b="1" dirty="0">
                <a:solidFill>
                  <a:srgbClr val="3DDC97"/>
                </a:solidFill>
                <a:latin typeface="Calibri" pitchFamily="34" charset="0"/>
                <a:ea typeface="Calibri" pitchFamily="34" charset="-122"/>
                <a:cs typeface="Calibri" pitchFamily="34" charset="-120"/>
              </a:rPr>
              <a:t>2</a:t>
            </a:r>
            <a:endParaRPr lang="en-US" sz="1200" dirty="0"/>
          </a:p>
        </p:txBody>
      </p:sp>
      <p:sp>
        <p:nvSpPr>
          <p:cNvPr id="63" name="Shape 61"/>
          <p:cNvSpPr/>
          <p:nvPr/>
        </p:nvSpPr>
        <p:spPr>
          <a:xfrm>
            <a:off x="10515600" y="3749040"/>
            <a:ext cx="365760" cy="365760"/>
          </a:xfrm>
          <a:prstGeom prst="ellipse">
            <a:avLst/>
          </a:prstGeom>
          <a:solidFill>
            <a:srgbClr val="3DDC97"/>
          </a:solidFill>
          <a:ln w="15875">
            <a:solidFill>
              <a:srgbClr val="3DDC97"/>
            </a:solidFill>
            <a:prstDash val="solid"/>
          </a:ln>
        </p:spPr>
      </p:sp>
      <p:sp>
        <p:nvSpPr>
          <p:cNvPr id="64" name="Text 62"/>
          <p:cNvSpPr txBox="1"/>
          <p:nvPr/>
        </p:nvSpPr>
        <p:spPr>
          <a:xfrm>
            <a:off x="10515600" y="3813048"/>
            <a:ext cx="365760" cy="237744"/>
          </a:xfrm>
          <a:prstGeom prst="rect">
            <a:avLst/>
          </a:prstGeom>
          <a:noFill/>
          <a:ln/>
        </p:spPr>
        <p:txBody>
          <a:bodyPr wrap="square" lIns="0" tIns="0" rIns="0" bIns="0" rtlCol="0" anchor="t"/>
          <a:lstStyle/>
          <a:p>
            <a:pPr algn="ctr" indent="0" marL="0">
              <a:buNone/>
            </a:pPr>
            <a:r>
              <a:rPr lang="en-US" sz="1200" b="1" dirty="0">
                <a:solidFill>
                  <a:srgbClr val="0B0F17"/>
                </a:solidFill>
                <a:latin typeface="Calibri" pitchFamily="34" charset="0"/>
                <a:ea typeface="Calibri" pitchFamily="34" charset="-122"/>
                <a:cs typeface="Calibri" pitchFamily="34" charset="-120"/>
              </a:rPr>
              <a:t>9</a:t>
            </a:r>
            <a:endParaRPr lang="en-US" sz="1200" dirty="0"/>
          </a:p>
        </p:txBody>
      </p:sp>
      <p:sp>
        <p:nvSpPr>
          <p:cNvPr id="65" name="Text 63"/>
          <p:cNvSpPr txBox="1"/>
          <p:nvPr/>
        </p:nvSpPr>
        <p:spPr>
          <a:xfrm>
            <a:off x="10515600" y="4956048"/>
            <a:ext cx="365760" cy="237744"/>
          </a:xfrm>
          <a:prstGeom prst="rect">
            <a:avLst/>
          </a:prstGeom>
          <a:noFill/>
          <a:ln/>
        </p:spPr>
        <p:txBody>
          <a:bodyPr wrap="square" lIns="0" tIns="0" rIns="0" bIns="0" rtlCol="0" anchor="t"/>
          <a:lstStyle/>
          <a:p>
            <a:pPr algn="ctr" indent="0" marL="0">
              <a:buNone/>
            </a:pPr>
            <a:r>
              <a:rPr lang="en-US" sz="1200" b="1" dirty="0">
                <a:solidFill>
                  <a:srgbClr val="3DDC97"/>
                </a:solidFill>
                <a:latin typeface="Calibri" pitchFamily="34" charset="0"/>
                <a:ea typeface="Calibri" pitchFamily="34" charset="-122"/>
                <a:cs typeface="Calibri" pitchFamily="34" charset="-120"/>
              </a:rPr>
              <a:t>1</a:t>
            </a:r>
            <a:endParaRPr lang="en-US" sz="1200" dirty="0"/>
          </a:p>
        </p:txBody>
      </p:sp>
      <p:sp>
        <p:nvSpPr>
          <p:cNvPr id="66" name="Shape 64"/>
          <p:cNvSpPr/>
          <p:nvPr/>
        </p:nvSpPr>
        <p:spPr>
          <a:xfrm>
            <a:off x="11123676" y="3749040"/>
            <a:ext cx="365760" cy="365760"/>
          </a:xfrm>
          <a:prstGeom prst="ellipse">
            <a:avLst/>
          </a:prstGeom>
          <a:solidFill>
            <a:srgbClr val="3DDC97"/>
          </a:solidFill>
          <a:ln w="15875">
            <a:solidFill>
              <a:srgbClr val="3DDC97"/>
            </a:solidFill>
            <a:prstDash val="solid"/>
          </a:ln>
        </p:spPr>
      </p:sp>
      <p:sp>
        <p:nvSpPr>
          <p:cNvPr id="67" name="Text 65"/>
          <p:cNvSpPr txBox="1"/>
          <p:nvPr/>
        </p:nvSpPr>
        <p:spPr>
          <a:xfrm>
            <a:off x="11123676" y="3813048"/>
            <a:ext cx="365760" cy="237744"/>
          </a:xfrm>
          <a:prstGeom prst="rect">
            <a:avLst/>
          </a:prstGeom>
          <a:noFill/>
          <a:ln/>
        </p:spPr>
        <p:txBody>
          <a:bodyPr wrap="square" lIns="0" tIns="0" rIns="0" bIns="0" rtlCol="0" anchor="t"/>
          <a:lstStyle/>
          <a:p>
            <a:pPr algn="ctr" indent="0" marL="0">
              <a:buNone/>
            </a:pPr>
            <a:r>
              <a:rPr lang="en-US" sz="1200" b="1" dirty="0">
                <a:solidFill>
                  <a:srgbClr val="0B0F17"/>
                </a:solidFill>
                <a:latin typeface="Calibri" pitchFamily="34" charset="0"/>
                <a:ea typeface="Calibri" pitchFamily="34" charset="-122"/>
                <a:cs typeface="Calibri" pitchFamily="34" charset="-120"/>
              </a:rPr>
              <a:t>7</a:t>
            </a:r>
            <a:endParaRPr lang="en-US" sz="1200" dirty="0"/>
          </a:p>
        </p:txBody>
      </p:sp>
      <p:sp>
        <p:nvSpPr>
          <p:cNvPr id="68" name="Text 66"/>
          <p:cNvSpPr txBox="1"/>
          <p:nvPr/>
        </p:nvSpPr>
        <p:spPr>
          <a:xfrm>
            <a:off x="11123676" y="4956048"/>
            <a:ext cx="365760" cy="237744"/>
          </a:xfrm>
          <a:prstGeom prst="rect">
            <a:avLst/>
          </a:prstGeom>
          <a:noFill/>
          <a:ln/>
        </p:spPr>
        <p:txBody>
          <a:bodyPr wrap="square" lIns="0" tIns="0" rIns="0" bIns="0" rtlCol="0" anchor="t"/>
          <a:lstStyle/>
          <a:p>
            <a:pPr algn="ctr" indent="0" marL="0">
              <a:buNone/>
            </a:pPr>
            <a:r>
              <a:rPr lang="en-US" sz="1200" b="1" dirty="0">
                <a:solidFill>
                  <a:srgbClr val="3DDC97"/>
                </a:solidFill>
                <a:latin typeface="Calibri" pitchFamily="34" charset="0"/>
                <a:ea typeface="Calibri" pitchFamily="34" charset="-122"/>
                <a:cs typeface="Calibri" pitchFamily="34" charset="-120"/>
              </a:rPr>
              <a:t>0</a:t>
            </a:r>
            <a:endParaRPr lang="en-US" sz="1200" dirty="0"/>
          </a:p>
        </p:txBody>
      </p:sp>
      <p:sp>
        <p:nvSpPr>
          <p:cNvPr id="69" name="Text 67"/>
          <p:cNvSpPr txBox="1"/>
          <p:nvPr/>
        </p:nvSpPr>
        <p:spPr>
          <a:xfrm>
            <a:off x="5559552" y="5230368"/>
            <a:ext cx="1463040" cy="219456"/>
          </a:xfrm>
          <a:prstGeom prst="rect">
            <a:avLst/>
          </a:prstGeom>
          <a:noFill/>
          <a:ln/>
        </p:spPr>
        <p:txBody>
          <a:bodyPr wrap="square" lIns="0" tIns="0" rIns="0" bIns="0" rtlCol="0" anchor="t"/>
          <a:lstStyle/>
          <a:p>
            <a:pPr indent="0" marL="0">
              <a:buNone/>
            </a:pPr>
            <a:r>
              <a:rPr lang="en-US" sz="1050" dirty="0">
                <a:solidFill>
                  <a:srgbClr val="7D8AA0"/>
                </a:solidFill>
                <a:latin typeface="Calibri" pitchFamily="34" charset="0"/>
                <a:ea typeface="Calibri" pitchFamily="34" charset="-122"/>
                <a:cs typeface="Calibri" pitchFamily="34" charset="-120"/>
              </a:rPr>
              <a:t>out-degree</a:t>
            </a:r>
            <a:endParaRPr lang="en-US" sz="1050" dirty="0"/>
          </a:p>
        </p:txBody>
      </p:sp>
      <p:sp>
        <p:nvSpPr>
          <p:cNvPr id="70" name="Text 68"/>
          <p:cNvSpPr txBox="1"/>
          <p:nvPr/>
        </p:nvSpPr>
        <p:spPr>
          <a:xfrm>
            <a:off x="6656832" y="5230368"/>
            <a:ext cx="2384298" cy="219456"/>
          </a:xfrm>
          <a:prstGeom prst="rect">
            <a:avLst/>
          </a:prstGeom>
          <a:noFill/>
          <a:ln/>
        </p:spPr>
        <p:txBody>
          <a:bodyPr wrap="square" lIns="0" tIns="0" rIns="0" bIns="0" rtlCol="0" anchor="t"/>
          <a:lstStyle/>
          <a:p>
            <a:pPr algn="r" indent="0" marL="0">
              <a:buNone/>
            </a:pPr>
            <a:r>
              <a:rPr lang="en-US" sz="1050" dirty="0">
                <a:solidFill>
                  <a:srgbClr val="7D8AA0"/>
                </a:solidFill>
                <a:latin typeface="Calibri" pitchFamily="34" charset="0"/>
                <a:ea typeface="Calibri" pitchFamily="34" charset="-122"/>
                <a:cs typeface="Calibri" pitchFamily="34" charset="-120"/>
              </a:rPr>
              <a:t>never scored, but capped at 500</a:t>
            </a:r>
            <a:endParaRPr lang="en-US" sz="1050" dirty="0"/>
          </a:p>
        </p:txBody>
      </p:sp>
      <p:sp>
        <p:nvSpPr>
          <p:cNvPr id="71" name="Text 69"/>
          <p:cNvSpPr txBox="1"/>
          <p:nvPr/>
        </p:nvSpPr>
        <p:spPr>
          <a:xfrm>
            <a:off x="9288018" y="5230368"/>
            <a:ext cx="2286000" cy="237744"/>
          </a:xfrm>
          <a:prstGeom prst="rect">
            <a:avLst/>
          </a:prstGeom>
          <a:noFill/>
          <a:ln/>
        </p:spPr>
        <p:txBody>
          <a:bodyPr wrap="square" lIns="0" tIns="0" rIns="0" bIns="0" rtlCol="0" anchor="t"/>
          <a:lstStyle/>
          <a:p>
            <a:pPr indent="0" marL="0">
              <a:buNone/>
            </a:pPr>
            <a:r>
              <a:rPr lang="en-US" sz="1200" b="1" dirty="0">
                <a:solidFill>
                  <a:srgbClr val="3DDC97"/>
                </a:solidFill>
                <a:latin typeface="Calibri" pitchFamily="34" charset="0"/>
                <a:ea typeface="Calibri" pitchFamily="34" charset="-122"/>
                <a:cs typeface="Calibri" pitchFamily="34" charset="-120"/>
              </a:rPr>
              <a:t>width = 2</a:t>
            </a:r>
            <a:endParaRPr lang="en-US" sz="1200" dirty="0"/>
          </a:p>
        </p:txBody>
      </p:sp>
      <p:sp>
        <p:nvSpPr>
          <p:cNvPr id="72" name="Text 70"/>
          <p:cNvSpPr txBox="1"/>
          <p:nvPr/>
        </p:nvSpPr>
        <p:spPr>
          <a:xfrm>
            <a:off x="5577840" y="5623560"/>
            <a:ext cx="5973775" cy="640080"/>
          </a:xfrm>
          <a:prstGeom prst="rect">
            <a:avLst/>
          </a:prstGeom>
          <a:noFill/>
          <a:ln/>
        </p:spPr>
        <p:txBody>
          <a:bodyPr wrap="square" lIns="0" tIns="0" rIns="0" bIns="0" rtlCol="0" anchor="t"/>
          <a:lstStyle/>
          <a:p>
            <a:pPr indent="0" marL="0">
              <a:buNone/>
            </a:pPr>
            <a:r>
              <a:rPr lang="en-US" sz="1100" dirty="0">
                <a:solidFill>
                  <a:srgbClr val="9AA6B6"/>
                </a:solidFill>
                <a:latin typeface="Calibri" pitchFamily="34" charset="0"/>
                <a:ea typeface="Calibri" pitchFamily="34" charset="-122"/>
                <a:cs typeface="Calibri" pitchFamily="34" charset="-120"/>
              </a:rPr>
              <a:t>ESA’s own ten-vertex example, x = [0, 1, 2, 4, 5, 3, 6, 8, 9, 7, 6]: nine edges (above) and nine fill edges (below, red). Torso of four, width 2 — ESA’s stated answer, reproduced.</a:t>
            </a:r>
            <a:endParaRPr lang="en-US" sz="110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I · THE OBJECT</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Two objectives, one score: the area a staircase covers</a:t>
            </a:r>
            <a:endParaRPr lang="en-US" sz="2700" dirty="0"/>
          </a:p>
        </p:txBody>
      </p:sp>
      <p:sp>
        <p:nvSpPr>
          <p:cNvPr id="4" name="Text 2"/>
          <p:cNvSpPr txBox="1"/>
          <p:nvPr/>
        </p:nvSpPr>
        <p:spPr>
          <a:xfrm>
            <a:off x="640080" y="1783080"/>
            <a:ext cx="4846320" cy="777240"/>
          </a:xfrm>
          <a:prstGeom prst="rect">
            <a:avLst/>
          </a:prstGeom>
          <a:noFill/>
          <a:ln/>
        </p:spPr>
        <p:txBody>
          <a:bodyPr wrap="square" lIns="0" tIns="0" rIns="0" bIns="0" rtlCol="0" anchor="t"/>
          <a:lstStyle/>
          <a:p>
            <a:pPr indent="0" marL="0">
              <a:buNone/>
            </a:pPr>
            <a:r>
              <a:rPr lang="en-US" sz="1600" dirty="0">
                <a:solidFill>
                  <a:srgbClr val="E8ECF2"/>
                </a:solidFill>
                <a:latin typeface="Calibri" pitchFamily="34" charset="0"/>
                <a:ea typeface="Calibri" pitchFamily="34" charset="-122"/>
                <a:cs typeface="Calibri" pitchFamily="34" charset="-120"/>
              </a:rPr>
              <a:t>Each vector is one point (</a:t>
            </a:r>
            <a:pPr indent="0" marL="0">
              <a:buNone/>
            </a:pPr>
            <a:r>
              <a:rPr lang="en-US" sz="1600" i="1" dirty="0">
                <a:solidFill>
                  <a:srgbClr val="E8ECF2"/>
                </a:solidFill>
                <a:latin typeface="Calibri" pitchFamily="34" charset="0"/>
                <a:ea typeface="Calibri" pitchFamily="34" charset="-122"/>
                <a:cs typeface="Calibri" pitchFamily="34" charset="-120"/>
              </a:rPr>
              <a:t>w</a:t>
            </a:r>
            <a:pPr indent="0" marL="0">
              <a:buNone/>
            </a:pPr>
            <a:r>
              <a:rPr lang="en-US" sz="1600" dirty="0">
                <a:solidFill>
                  <a:srgbClr val="E8ECF2"/>
                </a:solidFill>
                <a:latin typeface="Calibri" pitchFamily="34" charset="0"/>
                <a:ea typeface="Calibri" pitchFamily="34" charset="-122"/>
                <a:cs typeface="Calibri" pitchFamily="34" charset="-120"/>
              </a:rPr>
              <a:t>, </a:t>
            </a:r>
            <a:pPr indent="0" marL="0">
              <a:buNone/>
            </a:pPr>
            <a:r>
              <a:rPr lang="en-US" sz="1600" i="1" dirty="0">
                <a:solidFill>
                  <a:srgbClr val="E8ECF2"/>
                </a:solidFill>
                <a:latin typeface="Calibri" pitchFamily="34" charset="0"/>
                <a:ea typeface="Calibri" pitchFamily="34" charset="-122"/>
                <a:cs typeface="Calibri" pitchFamily="34" charset="-120"/>
              </a:rPr>
              <a:t>t</a:t>
            </a:r>
            <a:pPr indent="0" marL="0">
              <a:buNone/>
            </a:pPr>
            <a:r>
              <a:rPr lang="en-US" sz="1600" dirty="0">
                <a:solidFill>
                  <a:srgbClr val="E8ECF2"/>
                </a:solidFill>
                <a:latin typeface="Calibri" pitchFamily="34" charset="0"/>
                <a:ea typeface="Calibri" pitchFamily="34" charset="-122"/>
                <a:cs typeface="Calibri" pitchFamily="34" charset="-120"/>
              </a:rPr>
              <a:t>): the torso’s width </a:t>
            </a:r>
            <a:pPr indent="0" marL="0">
              <a:buNone/>
            </a:pPr>
            <a:r>
              <a:rPr lang="en-US" sz="1600" i="1" dirty="0">
                <a:solidFill>
                  <a:srgbClr val="E8ECF2"/>
                </a:solidFill>
                <a:latin typeface="Calibri" pitchFamily="34" charset="0"/>
                <a:ea typeface="Calibri" pitchFamily="34" charset="-122"/>
                <a:cs typeface="Calibri" pitchFamily="34" charset="-120"/>
              </a:rPr>
              <a:t>w</a:t>
            </a:r>
            <a:pPr indent="0" marL="0">
              <a:buNone/>
            </a:pPr>
            <a:r>
              <a:rPr lang="en-US" sz="1600" dirty="0">
                <a:solidFill>
                  <a:srgbClr val="E8ECF2"/>
                </a:solidFill>
                <a:latin typeface="Calibri" pitchFamily="34" charset="0"/>
                <a:ea typeface="Calibri" pitchFamily="34" charset="-122"/>
                <a:cs typeface="Calibri" pitchFamily="34" charset="-120"/>
              </a:rPr>
              <a:t>, and the </a:t>
            </a:r>
            <a:pPr indent="0" marL="0">
              <a:buNone/>
            </a:pPr>
            <a:r>
              <a:rPr lang="en-US" sz="1600" i="1" dirty="0">
                <a:solidFill>
                  <a:srgbClr val="E8ECF2"/>
                </a:solidFill>
                <a:latin typeface="Calibri" pitchFamily="34" charset="0"/>
                <a:ea typeface="Calibri" pitchFamily="34" charset="-122"/>
                <a:cs typeface="Calibri" pitchFamily="34" charset="-120"/>
              </a:rPr>
              <a:t>t</a:t>
            </a:r>
            <a:pPr indent="0" marL="0">
              <a:buNone/>
            </a:pPr>
            <a:r>
              <a:rPr lang="en-US" sz="1600" dirty="0">
                <a:solidFill>
                  <a:srgbClr val="E8ECF2"/>
                </a:solidFill>
                <a:latin typeface="Calibri" pitchFamily="34" charset="0"/>
                <a:ea typeface="Calibri" pitchFamily="34" charset="-122"/>
                <a:cs typeface="Calibri" pitchFamily="34" charset="-120"/>
              </a:rPr>
              <a:t> vertices given up. Both are minimised.</a:t>
            </a:r>
            <a:endParaRPr lang="en-US" sz="1600" dirty="0"/>
          </a:p>
        </p:txBody>
      </p:sp>
      <p:sp>
        <p:nvSpPr>
          <p:cNvPr id="5" name="Text 3"/>
          <p:cNvSpPr txBox="1"/>
          <p:nvPr/>
        </p:nvSpPr>
        <p:spPr>
          <a:xfrm>
            <a:off x="640080" y="2651760"/>
            <a:ext cx="4846320" cy="1051560"/>
          </a:xfrm>
          <a:prstGeom prst="rect">
            <a:avLst/>
          </a:prstGeom>
          <a:noFill/>
          <a:ln/>
        </p:spPr>
        <p:txBody>
          <a:bodyPr wrap="square" lIns="0" tIns="0" rIns="0" bIns="0" rtlCol="0" anchor="t"/>
          <a:lstStyle/>
          <a:p>
            <a:pPr indent="0" marL="0">
              <a:buNone/>
            </a:pPr>
            <a:r>
              <a:rPr lang="en-US" sz="1600" dirty="0">
                <a:solidFill>
                  <a:srgbClr val="E8ECF2"/>
                </a:solidFill>
                <a:latin typeface="Calibri" pitchFamily="34" charset="0"/>
                <a:ea typeface="Calibri" pitchFamily="34" charset="-122"/>
                <a:cs typeface="Calibri" pitchFamily="34" charset="-120"/>
              </a:rPr>
              <a:t>A submission is a staircase of at most 20 points. Its score is the area the staircase dominates, up to the corner (</a:t>
            </a:r>
            <a:pPr indent="0" marL="0">
              <a:buNone/>
            </a:pPr>
            <a:r>
              <a:rPr lang="en-US" sz="1600" i="1" dirty="0">
                <a:solidFill>
                  <a:srgbClr val="E8ECF2"/>
                </a:solidFill>
                <a:latin typeface="Calibri" pitchFamily="34" charset="0"/>
                <a:ea typeface="Calibri" pitchFamily="34" charset="-122"/>
                <a:cs typeface="Calibri" pitchFamily="34" charset="-120"/>
              </a:rPr>
              <a:t>n</a:t>
            </a:r>
            <a:pPr indent="0" marL="0">
              <a:buNone/>
            </a:pPr>
            <a:r>
              <a:rPr lang="en-US" sz="1600" dirty="0">
                <a:solidFill>
                  <a:srgbClr val="E8ECF2"/>
                </a:solidFill>
                <a:latin typeface="Calibri" pitchFamily="34" charset="0"/>
                <a:ea typeface="Calibri" pitchFamily="34" charset="-122"/>
                <a:cs typeface="Calibri" pitchFamily="34" charset="-120"/>
              </a:rPr>
              <a:t>, </a:t>
            </a:r>
            <a:pPr indent="0" marL="0">
              <a:buNone/>
            </a:pPr>
            <a:r>
              <a:rPr lang="en-US" sz="1600" i="1" dirty="0">
                <a:solidFill>
                  <a:srgbClr val="E8ECF2"/>
                </a:solidFill>
                <a:latin typeface="Calibri" pitchFamily="34" charset="0"/>
                <a:ea typeface="Calibri" pitchFamily="34" charset="-122"/>
                <a:cs typeface="Calibri" pitchFamily="34" charset="-120"/>
              </a:rPr>
              <a:t>n</a:t>
            </a:r>
            <a:pPr indent="0" marL="0">
              <a:buNone/>
            </a:pPr>
            <a:r>
              <a:rPr lang="en-US" sz="1600" dirty="0">
                <a:solidFill>
                  <a:srgbClr val="E8ECF2"/>
                </a:solidFill>
                <a:latin typeface="Calibri" pitchFamily="34" charset="0"/>
                <a:ea typeface="Calibri" pitchFamily="34" charset="-122"/>
                <a:cs typeface="Calibri" pitchFamily="34" charset="-120"/>
              </a:rPr>
              <a:t>): its hypervolume.</a:t>
            </a:r>
            <a:endParaRPr lang="en-US" sz="1600" dirty="0"/>
          </a:p>
        </p:txBody>
      </p:sp>
      <p:sp>
        <p:nvSpPr>
          <p:cNvPr id="6" name="Text 4"/>
          <p:cNvSpPr txBox="1"/>
          <p:nvPr/>
        </p:nvSpPr>
        <p:spPr>
          <a:xfrm>
            <a:off x="640080" y="3767328"/>
            <a:ext cx="4846320" cy="603504"/>
          </a:xfrm>
          <a:prstGeom prst="rect">
            <a:avLst/>
          </a:prstGeom>
          <a:noFill/>
          <a:ln/>
        </p:spPr>
        <p:txBody>
          <a:bodyPr wrap="square" lIns="0" tIns="0" rIns="0" bIns="0" rtlCol="0" anchor="t"/>
          <a:lstStyle/>
          <a:p>
            <a:pPr indent="0" marL="0">
              <a:buNone/>
            </a:pPr>
            <a:r>
              <a:rPr lang="en-US" sz="1250" i="1" dirty="0">
                <a:solidFill>
                  <a:srgbClr val="9AA6B6"/>
                </a:solidFill>
                <a:latin typeface="Calibri" pitchFamily="34" charset="0"/>
                <a:ea typeface="Calibri" pitchFamily="34" charset="-122"/>
                <a:cs typeface="Calibri" pitchFamily="34" charset="-120"/>
              </a:rPr>
              <a:t>ESA reports that area negated, so its leaderboards are negative numbers; this talk quotes the area itself.</a:t>
            </a:r>
            <a:endParaRPr lang="en-US" sz="1250" dirty="0"/>
          </a:p>
        </p:txBody>
      </p:sp>
      <p:sp>
        <p:nvSpPr>
          <p:cNvPr id="7" name="Shape 5"/>
          <p:cNvSpPr/>
          <p:nvPr/>
        </p:nvSpPr>
        <p:spPr>
          <a:xfrm>
            <a:off x="640080" y="4572000"/>
            <a:ext cx="4846320" cy="1463040"/>
          </a:xfrm>
          <a:prstGeom prst="rect">
            <a:avLst/>
          </a:prstGeom>
          <a:solidFill>
            <a:srgbClr val="131B28"/>
          </a:solidFill>
          <a:ln/>
        </p:spPr>
      </p:sp>
      <p:sp>
        <p:nvSpPr>
          <p:cNvPr id="8" name="Text 6"/>
          <p:cNvSpPr txBox="1"/>
          <p:nvPr/>
        </p:nvSpPr>
        <p:spPr>
          <a:xfrm>
            <a:off x="868680" y="4718304"/>
            <a:ext cx="3657600" cy="237744"/>
          </a:xfrm>
          <a:prstGeom prst="rect">
            <a:avLst/>
          </a:prstGeom>
          <a:noFill/>
          <a:ln/>
        </p:spPr>
        <p:txBody>
          <a:bodyPr wrap="square" lIns="0" tIns="0" rIns="0" bIns="0" rtlCol="0" anchor="t"/>
          <a:lstStyle/>
          <a:p>
            <a:pPr indent="0" marL="0">
              <a:buNone/>
            </a:pPr>
            <a:r>
              <a:rPr lang="en-US" sz="1050" b="1" spc="160" kern="0" dirty="0">
                <a:solidFill>
                  <a:srgbClr val="FF5A60"/>
                </a:solidFill>
                <a:latin typeface="Calibri" pitchFamily="34" charset="0"/>
                <a:ea typeface="Calibri" pitchFamily="34" charset="-122"/>
                <a:cs typeface="Calibri" pitchFamily="34" charset="-120"/>
              </a:rPr>
              <a:t>THE CLIFF</a:t>
            </a:r>
            <a:endParaRPr lang="en-US" sz="1050" dirty="0"/>
          </a:p>
        </p:txBody>
      </p:sp>
      <p:sp>
        <p:nvSpPr>
          <p:cNvPr id="9" name="Text 7"/>
          <p:cNvSpPr txBox="1"/>
          <p:nvPr/>
        </p:nvSpPr>
        <p:spPr>
          <a:xfrm>
            <a:off x="868680" y="5010912"/>
            <a:ext cx="4434840" cy="960120"/>
          </a:xfrm>
          <a:prstGeom prst="rect">
            <a:avLst/>
          </a:prstGeom>
          <a:noFill/>
          <a:ln/>
        </p:spPr>
        <p:txBody>
          <a:bodyPr wrap="square" lIns="0" tIns="0" rIns="0" bIns="0" rtlCol="0" anchor="t"/>
          <a:lstStyle/>
          <a:p>
            <a:pPr indent="0" marL="0">
              <a:buNone/>
            </a:pPr>
            <a:r>
              <a:rPr lang="en-US" sz="1400" dirty="0">
                <a:solidFill>
                  <a:srgbClr val="E8ECF2"/>
                </a:solidFill>
                <a:latin typeface="Calibri" pitchFamily="34" charset="0"/>
                <a:ea typeface="Calibri" pitchFamily="34" charset="-122"/>
                <a:cs typeface="Calibri" pitchFamily="34" charset="-120"/>
              </a:rPr>
              <a:t>Every elimination step, the discarded head included, must keep its out-degree ≤ 500. One breach and the vector is scored as width 501, however good its torso.</a:t>
            </a:r>
            <a:endParaRPr lang="en-US" sz="1400" dirty="0"/>
          </a:p>
        </p:txBody>
      </p:sp>
      <p:sp>
        <p:nvSpPr>
          <p:cNvPr id="10" name="Shape 8"/>
          <p:cNvSpPr/>
          <p:nvPr/>
        </p:nvSpPr>
        <p:spPr>
          <a:xfrm>
            <a:off x="6640830" y="2011680"/>
            <a:ext cx="4560570" cy="3703320"/>
          </a:xfrm>
          <a:custGeom>
            <a:avLst/>
            <a:gdLst/>
            <a:ahLst/>
            <a:cxnLst/>
            <a:rect l="l" t="t" r="r" b="b"/>
            <a:pathLst>
              <a:path w="4560570" h="3703320">
                <a:moveTo>
                  <a:pt x="0" y="0"/>
                </a:moveTo>
                <a:lnTo>
                  <a:pt x="4560570" y="0"/>
                </a:lnTo>
                <a:lnTo>
                  <a:pt x="4560570" y="3703320"/>
                </a:lnTo>
                <a:lnTo>
                  <a:pt x="1728216" y="3703320"/>
                </a:lnTo>
                <a:lnTo>
                  <a:pt x="1728216" y="3221888"/>
                </a:lnTo>
                <a:lnTo>
                  <a:pt x="1056132" y="3221888"/>
                </a:lnTo>
                <a:lnTo>
                  <a:pt x="1056132" y="2666390"/>
                </a:lnTo>
                <a:lnTo>
                  <a:pt x="576072" y="2666390"/>
                </a:lnTo>
                <a:lnTo>
                  <a:pt x="576072" y="1999793"/>
                </a:lnTo>
                <a:lnTo>
                  <a:pt x="240030" y="1999793"/>
                </a:lnTo>
                <a:lnTo>
                  <a:pt x="240030" y="1110996"/>
                </a:lnTo>
                <a:lnTo>
                  <a:pt x="0" y="1110996"/>
                </a:lnTo>
                <a:close/>
              </a:path>
            </a:pathLst>
          </a:custGeom>
          <a:solidFill>
            <a:srgbClr val="3DDC97">
              <a:alpha val="22000"/>
            </a:srgbClr>
          </a:solidFill>
          <a:ln/>
        </p:spPr>
      </p:sp>
      <p:sp>
        <p:nvSpPr>
          <p:cNvPr id="11" name="Shape 9"/>
          <p:cNvSpPr/>
          <p:nvPr/>
        </p:nvSpPr>
        <p:spPr>
          <a:xfrm>
            <a:off x="6400800" y="5715000"/>
            <a:ext cx="4937760" cy="0"/>
          </a:xfrm>
          <a:prstGeom prst="line">
            <a:avLst/>
          </a:prstGeom>
          <a:noFill/>
          <a:ln w="12700">
            <a:solidFill>
              <a:srgbClr val="9AA6B6"/>
            </a:solidFill>
            <a:prstDash val="solid"/>
            <a:tailEnd type="triangle"/>
          </a:ln>
        </p:spPr>
      </p:sp>
      <p:sp>
        <p:nvSpPr>
          <p:cNvPr id="12" name="Shape 10"/>
          <p:cNvSpPr/>
          <p:nvPr/>
        </p:nvSpPr>
        <p:spPr>
          <a:xfrm>
            <a:off x="6400800" y="1874520"/>
            <a:ext cx="0" cy="3840480"/>
          </a:xfrm>
          <a:prstGeom prst="line">
            <a:avLst/>
          </a:prstGeom>
          <a:noFill/>
          <a:ln w="12700">
            <a:solidFill>
              <a:srgbClr val="9AA6B6"/>
            </a:solidFill>
            <a:prstDash val="solid"/>
            <a:headEnd type="triangle"/>
          </a:ln>
        </p:spPr>
      </p:sp>
      <p:sp>
        <p:nvSpPr>
          <p:cNvPr id="13" name="Shape 11"/>
          <p:cNvSpPr/>
          <p:nvPr/>
        </p:nvSpPr>
        <p:spPr>
          <a:xfrm>
            <a:off x="6640830" y="2011680"/>
            <a:ext cx="0" cy="1110996"/>
          </a:xfrm>
          <a:prstGeom prst="line">
            <a:avLst/>
          </a:prstGeom>
          <a:noFill/>
          <a:ln w="22225">
            <a:solidFill>
              <a:srgbClr val="3DDC97"/>
            </a:solidFill>
            <a:prstDash val="solid"/>
          </a:ln>
        </p:spPr>
      </p:sp>
      <p:sp>
        <p:nvSpPr>
          <p:cNvPr id="14" name="Shape 12"/>
          <p:cNvSpPr/>
          <p:nvPr/>
        </p:nvSpPr>
        <p:spPr>
          <a:xfrm>
            <a:off x="6640830" y="3122676"/>
            <a:ext cx="240030" cy="0"/>
          </a:xfrm>
          <a:prstGeom prst="line">
            <a:avLst/>
          </a:prstGeom>
          <a:noFill/>
          <a:ln w="22225">
            <a:solidFill>
              <a:srgbClr val="3DDC97"/>
            </a:solidFill>
            <a:prstDash val="solid"/>
          </a:ln>
        </p:spPr>
      </p:sp>
      <p:sp>
        <p:nvSpPr>
          <p:cNvPr id="15" name="Shape 13"/>
          <p:cNvSpPr/>
          <p:nvPr/>
        </p:nvSpPr>
        <p:spPr>
          <a:xfrm>
            <a:off x="6880860" y="3122676"/>
            <a:ext cx="0" cy="888797"/>
          </a:xfrm>
          <a:prstGeom prst="line">
            <a:avLst/>
          </a:prstGeom>
          <a:noFill/>
          <a:ln w="22225">
            <a:solidFill>
              <a:srgbClr val="3DDC97"/>
            </a:solidFill>
            <a:prstDash val="solid"/>
          </a:ln>
        </p:spPr>
      </p:sp>
      <p:sp>
        <p:nvSpPr>
          <p:cNvPr id="16" name="Shape 14"/>
          <p:cNvSpPr/>
          <p:nvPr/>
        </p:nvSpPr>
        <p:spPr>
          <a:xfrm>
            <a:off x="6880860" y="4011473"/>
            <a:ext cx="336042" cy="0"/>
          </a:xfrm>
          <a:prstGeom prst="line">
            <a:avLst/>
          </a:prstGeom>
          <a:noFill/>
          <a:ln w="22225">
            <a:solidFill>
              <a:srgbClr val="3DDC97"/>
            </a:solidFill>
            <a:prstDash val="solid"/>
          </a:ln>
        </p:spPr>
      </p:sp>
      <p:sp>
        <p:nvSpPr>
          <p:cNvPr id="17" name="Shape 15"/>
          <p:cNvSpPr/>
          <p:nvPr/>
        </p:nvSpPr>
        <p:spPr>
          <a:xfrm>
            <a:off x="7216902" y="4011473"/>
            <a:ext cx="0" cy="666598"/>
          </a:xfrm>
          <a:prstGeom prst="line">
            <a:avLst/>
          </a:prstGeom>
          <a:noFill/>
          <a:ln w="22225">
            <a:solidFill>
              <a:srgbClr val="3DDC97"/>
            </a:solidFill>
            <a:prstDash val="solid"/>
          </a:ln>
        </p:spPr>
      </p:sp>
      <p:sp>
        <p:nvSpPr>
          <p:cNvPr id="18" name="Shape 16"/>
          <p:cNvSpPr/>
          <p:nvPr/>
        </p:nvSpPr>
        <p:spPr>
          <a:xfrm>
            <a:off x="7216902" y="4678070"/>
            <a:ext cx="480060" cy="0"/>
          </a:xfrm>
          <a:prstGeom prst="line">
            <a:avLst/>
          </a:prstGeom>
          <a:noFill/>
          <a:ln w="22225">
            <a:solidFill>
              <a:srgbClr val="3DDC97"/>
            </a:solidFill>
            <a:prstDash val="solid"/>
          </a:ln>
        </p:spPr>
      </p:sp>
      <p:sp>
        <p:nvSpPr>
          <p:cNvPr id="19" name="Shape 17"/>
          <p:cNvSpPr/>
          <p:nvPr/>
        </p:nvSpPr>
        <p:spPr>
          <a:xfrm>
            <a:off x="7696962" y="4678070"/>
            <a:ext cx="0" cy="555498"/>
          </a:xfrm>
          <a:prstGeom prst="line">
            <a:avLst/>
          </a:prstGeom>
          <a:noFill/>
          <a:ln w="22225">
            <a:solidFill>
              <a:srgbClr val="3DDC97"/>
            </a:solidFill>
            <a:prstDash val="solid"/>
          </a:ln>
        </p:spPr>
      </p:sp>
      <p:sp>
        <p:nvSpPr>
          <p:cNvPr id="20" name="Shape 18"/>
          <p:cNvSpPr/>
          <p:nvPr/>
        </p:nvSpPr>
        <p:spPr>
          <a:xfrm>
            <a:off x="7696962" y="5233568"/>
            <a:ext cx="672084" cy="0"/>
          </a:xfrm>
          <a:prstGeom prst="line">
            <a:avLst/>
          </a:prstGeom>
          <a:noFill/>
          <a:ln w="22225">
            <a:solidFill>
              <a:srgbClr val="3DDC97"/>
            </a:solidFill>
            <a:prstDash val="solid"/>
          </a:ln>
        </p:spPr>
      </p:sp>
      <p:sp>
        <p:nvSpPr>
          <p:cNvPr id="21" name="Shape 19"/>
          <p:cNvSpPr/>
          <p:nvPr/>
        </p:nvSpPr>
        <p:spPr>
          <a:xfrm>
            <a:off x="8369046" y="5233568"/>
            <a:ext cx="0" cy="481432"/>
          </a:xfrm>
          <a:prstGeom prst="line">
            <a:avLst/>
          </a:prstGeom>
          <a:noFill/>
          <a:ln w="22225">
            <a:solidFill>
              <a:srgbClr val="3DDC97"/>
            </a:solidFill>
            <a:prstDash val="solid"/>
          </a:ln>
        </p:spPr>
      </p:sp>
      <p:sp>
        <p:nvSpPr>
          <p:cNvPr id="22" name="Shape 20"/>
          <p:cNvSpPr/>
          <p:nvPr/>
        </p:nvSpPr>
        <p:spPr>
          <a:xfrm>
            <a:off x="8369046" y="5715000"/>
            <a:ext cx="2832354" cy="0"/>
          </a:xfrm>
          <a:prstGeom prst="line">
            <a:avLst/>
          </a:prstGeom>
          <a:noFill/>
          <a:ln w="22225">
            <a:solidFill>
              <a:srgbClr val="3DDC97"/>
            </a:solidFill>
            <a:prstDash val="solid"/>
          </a:ln>
        </p:spPr>
      </p:sp>
      <p:sp>
        <p:nvSpPr>
          <p:cNvPr id="23" name="Shape 21"/>
          <p:cNvSpPr/>
          <p:nvPr/>
        </p:nvSpPr>
        <p:spPr>
          <a:xfrm>
            <a:off x="6572250" y="3054096"/>
            <a:ext cx="137160" cy="137160"/>
          </a:xfrm>
          <a:prstGeom prst="ellipse">
            <a:avLst/>
          </a:prstGeom>
          <a:solidFill>
            <a:srgbClr val="3DDC97"/>
          </a:solidFill>
          <a:ln/>
        </p:spPr>
      </p:sp>
      <p:sp>
        <p:nvSpPr>
          <p:cNvPr id="24" name="Shape 22"/>
          <p:cNvSpPr/>
          <p:nvPr/>
        </p:nvSpPr>
        <p:spPr>
          <a:xfrm>
            <a:off x="6812280" y="3942893"/>
            <a:ext cx="137160" cy="137160"/>
          </a:xfrm>
          <a:prstGeom prst="ellipse">
            <a:avLst/>
          </a:prstGeom>
          <a:solidFill>
            <a:srgbClr val="3DDC97"/>
          </a:solidFill>
          <a:ln/>
        </p:spPr>
      </p:sp>
      <p:sp>
        <p:nvSpPr>
          <p:cNvPr id="25" name="Shape 23"/>
          <p:cNvSpPr/>
          <p:nvPr/>
        </p:nvSpPr>
        <p:spPr>
          <a:xfrm>
            <a:off x="7148322" y="4609490"/>
            <a:ext cx="137160" cy="137160"/>
          </a:xfrm>
          <a:prstGeom prst="ellipse">
            <a:avLst/>
          </a:prstGeom>
          <a:solidFill>
            <a:srgbClr val="3DDC97"/>
          </a:solidFill>
          <a:ln/>
        </p:spPr>
      </p:sp>
      <p:sp>
        <p:nvSpPr>
          <p:cNvPr id="26" name="Shape 24"/>
          <p:cNvSpPr/>
          <p:nvPr/>
        </p:nvSpPr>
        <p:spPr>
          <a:xfrm>
            <a:off x="7628382" y="5164988"/>
            <a:ext cx="137160" cy="137160"/>
          </a:xfrm>
          <a:prstGeom prst="ellipse">
            <a:avLst/>
          </a:prstGeom>
          <a:solidFill>
            <a:srgbClr val="3DDC97"/>
          </a:solidFill>
          <a:ln/>
        </p:spPr>
      </p:sp>
      <p:sp>
        <p:nvSpPr>
          <p:cNvPr id="27" name="Shape 25"/>
          <p:cNvSpPr/>
          <p:nvPr/>
        </p:nvSpPr>
        <p:spPr>
          <a:xfrm>
            <a:off x="8300466" y="5646420"/>
            <a:ext cx="137160" cy="137160"/>
          </a:xfrm>
          <a:prstGeom prst="ellipse">
            <a:avLst/>
          </a:prstGeom>
          <a:solidFill>
            <a:srgbClr val="3DDC97"/>
          </a:solidFill>
          <a:ln/>
        </p:spPr>
      </p:sp>
      <p:sp>
        <p:nvSpPr>
          <p:cNvPr id="28" name="Shape 26"/>
          <p:cNvSpPr/>
          <p:nvPr/>
        </p:nvSpPr>
        <p:spPr>
          <a:xfrm>
            <a:off x="11146536" y="1956816"/>
            <a:ext cx="109728" cy="109728"/>
          </a:xfrm>
          <a:prstGeom prst="ellipse">
            <a:avLst/>
          </a:prstGeom>
          <a:solidFill>
            <a:srgbClr val="E8ECF2"/>
          </a:solidFill>
          <a:ln/>
        </p:spPr>
      </p:sp>
      <p:sp>
        <p:nvSpPr>
          <p:cNvPr id="29" name="Text 27"/>
          <p:cNvSpPr txBox="1"/>
          <p:nvPr/>
        </p:nvSpPr>
        <p:spPr>
          <a:xfrm>
            <a:off x="10652760" y="1664208"/>
            <a:ext cx="822960" cy="237744"/>
          </a:xfrm>
          <a:prstGeom prst="rect">
            <a:avLst/>
          </a:prstGeom>
          <a:noFill/>
          <a:ln/>
        </p:spPr>
        <p:txBody>
          <a:bodyPr wrap="square" lIns="0" tIns="0" rIns="0" bIns="0" rtlCol="0" anchor="t"/>
          <a:lstStyle/>
          <a:p>
            <a:pPr algn="r" indent="0" marL="0">
              <a:buNone/>
            </a:pPr>
            <a:r>
              <a:rPr lang="en-US" sz="1200" dirty="0">
                <a:solidFill>
                  <a:srgbClr val="E8ECF2"/>
                </a:solidFill>
                <a:latin typeface="Calibri" pitchFamily="34" charset="0"/>
                <a:ea typeface="Calibri" pitchFamily="34" charset="-122"/>
                <a:cs typeface="Calibri" pitchFamily="34" charset="-120"/>
              </a:rPr>
              <a:t>(n, n)</a:t>
            </a:r>
            <a:endParaRPr lang="en-US" sz="1200" dirty="0"/>
          </a:p>
        </p:txBody>
      </p:sp>
      <p:sp>
        <p:nvSpPr>
          <p:cNvPr id="30" name="Text 28"/>
          <p:cNvSpPr txBox="1"/>
          <p:nvPr/>
        </p:nvSpPr>
        <p:spPr>
          <a:xfrm>
            <a:off x="8561070" y="3048610"/>
            <a:ext cx="2377440" cy="640080"/>
          </a:xfrm>
          <a:prstGeom prst="rect">
            <a:avLst/>
          </a:prstGeom>
          <a:noFill/>
          <a:ln/>
        </p:spPr>
        <p:txBody>
          <a:bodyPr wrap="square" lIns="0" tIns="0" rIns="0" bIns="0" rtlCol="0" anchor="t"/>
          <a:lstStyle/>
          <a:p>
            <a:pPr indent="0" marL="0">
              <a:buNone/>
            </a:pPr>
            <a:r>
              <a:rPr lang="en-US" sz="1500" i="1" dirty="0">
                <a:solidFill>
                  <a:srgbClr val="FFFFFF"/>
                </a:solidFill>
                <a:latin typeface="Century Schoolbook" pitchFamily="34" charset="0"/>
                <a:ea typeface="Century Schoolbook" pitchFamily="34" charset="-122"/>
                <a:cs typeface="Century Schoolbook" pitchFamily="34" charset="-120"/>
              </a:rPr>
              <a:t>dominated area</a:t>
            </a:r>
            <a:endParaRPr lang="en-US" sz="1500" dirty="0"/>
          </a:p>
          <a:p>
            <a:pPr indent="0" marL="0">
              <a:buNone/>
            </a:pPr>
            <a:r>
              <a:rPr lang="en-US" sz="1500" i="1" dirty="0">
                <a:solidFill>
                  <a:srgbClr val="FFFFFF"/>
                </a:solidFill>
                <a:latin typeface="Century Schoolbook" pitchFamily="34" charset="0"/>
                <a:ea typeface="Century Schoolbook" pitchFamily="34" charset="-122"/>
                <a:cs typeface="Century Schoolbook" pitchFamily="34" charset="-120"/>
              </a:rPr>
              <a:t>= the score</a:t>
            </a:r>
            <a:endParaRPr lang="en-US" sz="1500" dirty="0"/>
          </a:p>
        </p:txBody>
      </p:sp>
      <p:sp>
        <p:nvSpPr>
          <p:cNvPr id="31" name="Text 29"/>
          <p:cNvSpPr txBox="1"/>
          <p:nvPr/>
        </p:nvSpPr>
        <p:spPr>
          <a:xfrm>
            <a:off x="9006840" y="5788152"/>
            <a:ext cx="2377440" cy="237744"/>
          </a:xfrm>
          <a:prstGeom prst="rect">
            <a:avLst/>
          </a:prstGeom>
          <a:noFill/>
          <a:ln/>
        </p:spPr>
        <p:txBody>
          <a:bodyPr wrap="square" lIns="0" tIns="0" rIns="0" bIns="0" rtlCol="0" anchor="t"/>
          <a:lstStyle/>
          <a:p>
            <a:pPr algn="r" indent="0" marL="0">
              <a:buNone/>
            </a:pPr>
            <a:r>
              <a:rPr lang="en-US" sz="1200" dirty="0">
                <a:solidFill>
                  <a:srgbClr val="9AA6B6"/>
                </a:solidFill>
                <a:latin typeface="Calibri" pitchFamily="34" charset="0"/>
                <a:ea typeface="Calibri" pitchFamily="34" charset="-122"/>
                <a:cs typeface="Calibri" pitchFamily="34" charset="-120"/>
              </a:rPr>
              <a:t>torso width  w →</a:t>
            </a:r>
            <a:endParaRPr lang="en-US" sz="1200" dirty="0"/>
          </a:p>
        </p:txBody>
      </p:sp>
      <p:sp>
        <p:nvSpPr>
          <p:cNvPr id="32" name="Text 30"/>
          <p:cNvSpPr txBox="1"/>
          <p:nvPr/>
        </p:nvSpPr>
        <p:spPr>
          <a:xfrm>
            <a:off x="6510528" y="1719072"/>
            <a:ext cx="2743200" cy="237744"/>
          </a:xfrm>
          <a:prstGeom prst="rect">
            <a:avLst/>
          </a:prstGeom>
          <a:noFill/>
          <a:ln/>
        </p:spPr>
        <p:txBody>
          <a:bodyPr wrap="square" lIns="0" tIns="0" rIns="0" bIns="0" rtlCol="0" anchor="t"/>
          <a:lstStyle/>
          <a:p>
            <a:pPr indent="0" marL="0">
              <a:buNone/>
            </a:pPr>
            <a:r>
              <a:rPr lang="en-US" sz="1200" dirty="0">
                <a:solidFill>
                  <a:srgbClr val="9AA6B6"/>
                </a:solidFill>
                <a:latin typeface="Calibri" pitchFamily="34" charset="0"/>
                <a:ea typeface="Calibri" pitchFamily="34" charset="-122"/>
                <a:cs typeface="Calibri" pitchFamily="34" charset="-120"/>
              </a:rPr>
              <a:t>vertices given up  t</a:t>
            </a:r>
            <a:endParaRPr lang="en-US" sz="1200" dirty="0"/>
          </a:p>
        </p:txBody>
      </p:sp>
      <p:sp>
        <p:nvSpPr>
          <p:cNvPr id="33" name="Text 31"/>
          <p:cNvSpPr txBox="1"/>
          <p:nvPr/>
        </p:nvSpPr>
        <p:spPr>
          <a:xfrm>
            <a:off x="6400800" y="5788152"/>
            <a:ext cx="1371600" cy="219456"/>
          </a:xfrm>
          <a:prstGeom prst="rect">
            <a:avLst/>
          </a:prstGeom>
          <a:noFill/>
          <a:ln/>
        </p:spPr>
        <p:txBody>
          <a:bodyPr wrap="square" lIns="0" tIns="0" rIns="0" bIns="0" rtlCol="0" anchor="t"/>
          <a:lstStyle/>
          <a:p>
            <a:pPr indent="0" marL="0">
              <a:buNone/>
            </a:pPr>
            <a:r>
              <a:rPr lang="en-US" sz="1000" i="1" dirty="0">
                <a:solidFill>
                  <a:srgbClr val="7D8AA0"/>
                </a:solidFill>
                <a:latin typeface="Calibri" pitchFamily="34" charset="0"/>
                <a:ea typeface="Calibri" pitchFamily="34" charset="-122"/>
                <a:cs typeface="Calibri" pitchFamily="34" charset="-120"/>
              </a:rPr>
              <a:t>illustrative</a:t>
            </a:r>
            <a:endParaRPr lang="en-US" sz="100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II · HOW GOOD COULD AN ANSWER BE?</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A provable ceiling on every score</a:t>
            </a:r>
            <a:endParaRPr lang="en-US" sz="2700" dirty="0"/>
          </a:p>
        </p:txBody>
      </p:sp>
      <p:sp>
        <p:nvSpPr>
          <p:cNvPr id="4" name="Shape 2"/>
          <p:cNvSpPr/>
          <p:nvPr/>
        </p:nvSpPr>
        <p:spPr>
          <a:xfrm>
            <a:off x="640080" y="1783080"/>
            <a:ext cx="5166360" cy="2514600"/>
          </a:xfrm>
          <a:prstGeom prst="rect">
            <a:avLst/>
          </a:prstGeom>
          <a:solidFill>
            <a:srgbClr val="131B28"/>
          </a:solidFill>
          <a:ln/>
        </p:spPr>
      </p:sp>
      <p:sp>
        <p:nvSpPr>
          <p:cNvPr id="5" name="Text 3"/>
          <p:cNvSpPr txBox="1"/>
          <p:nvPr/>
        </p:nvSpPr>
        <p:spPr>
          <a:xfrm>
            <a:off x="868680" y="1920240"/>
            <a:ext cx="2743200" cy="237744"/>
          </a:xfrm>
          <a:prstGeom prst="rect">
            <a:avLst/>
          </a:prstGeom>
          <a:noFill/>
          <a:ln/>
        </p:spPr>
        <p:txBody>
          <a:bodyPr wrap="square" lIns="0" tIns="0" rIns="0" bIns="0" rtlCol="0" anchor="t"/>
          <a:lstStyle/>
          <a:p>
            <a:pPr indent="0" marL="0">
              <a:buNone/>
            </a:pPr>
            <a:r>
              <a:rPr lang="en-US" sz="1050" b="1" spc="160" kern="0" dirty="0">
                <a:solidFill>
                  <a:srgbClr val="4DA3FF"/>
                </a:solidFill>
                <a:latin typeface="Calibri" pitchFamily="34" charset="0"/>
                <a:ea typeface="Calibri" pitchFamily="34" charset="-122"/>
                <a:cs typeface="Calibri" pitchFamily="34" charset="-120"/>
              </a:rPr>
              <a:t>LEMMA</a:t>
            </a:r>
            <a:endParaRPr lang="en-US" sz="1050" dirty="0"/>
          </a:p>
        </p:txBody>
      </p:sp>
      <p:sp>
        <p:nvSpPr>
          <p:cNvPr id="6" name="Text 4"/>
          <p:cNvSpPr txBox="1"/>
          <p:nvPr/>
        </p:nvSpPr>
        <p:spPr>
          <a:xfrm>
            <a:off x="868680" y="2212848"/>
            <a:ext cx="4709160" cy="1143000"/>
          </a:xfrm>
          <a:prstGeom prst="rect">
            <a:avLst/>
          </a:prstGeom>
          <a:noFill/>
          <a:ln/>
        </p:spPr>
        <p:txBody>
          <a:bodyPr wrap="square" lIns="0" tIns="0" rIns="0" bIns="0" rtlCol="0" anchor="t"/>
          <a:lstStyle/>
          <a:p>
            <a:pPr indent="0" marL="0">
              <a:lnSpc>
                <a:spcPct val="105000"/>
              </a:lnSpc>
              <a:buNone/>
            </a:pPr>
            <a:r>
              <a:rPr lang="en-US" sz="1450" dirty="0">
                <a:solidFill>
                  <a:srgbClr val="E8ECF2"/>
                </a:solidFill>
                <a:latin typeface="Century Schoolbook" pitchFamily="34" charset="0"/>
                <a:ea typeface="Century Schoolbook" pitchFamily="34" charset="-122"/>
                <a:cs typeface="Century Schoolbook" pitchFamily="34" charset="-120"/>
              </a:rPr>
              <a:t>Eliminate any set </a:t>
            </a:r>
            <a:pPr indent="0" marL="0">
              <a:lnSpc>
                <a:spcPct val="105000"/>
              </a:lnSpc>
              <a:buNone/>
            </a:pPr>
            <a:r>
              <a:rPr lang="en-US" sz="1450" i="1" dirty="0">
                <a:solidFill>
                  <a:srgbClr val="E8ECF2"/>
                </a:solidFill>
                <a:latin typeface="Century Schoolbook" pitchFamily="34" charset="0"/>
                <a:ea typeface="Century Schoolbook" pitchFamily="34" charset="-122"/>
                <a:cs typeface="Century Schoolbook" pitchFamily="34" charset="-120"/>
              </a:rPr>
              <a:t>S</a:t>
            </a:r>
            <a:pPr indent="0" marL="0">
              <a:lnSpc>
                <a:spcPct val="105000"/>
              </a:lnSpc>
              <a:buNone/>
            </a:pPr>
            <a:r>
              <a:rPr lang="en-US" sz="1450" dirty="0">
                <a:solidFill>
                  <a:srgbClr val="E8ECF2"/>
                </a:solidFill>
                <a:latin typeface="Century Schoolbook" pitchFamily="34" charset="0"/>
                <a:ea typeface="Century Schoolbook" pitchFamily="34" charset="-122"/>
                <a:cs typeface="Century Schoolbook" pitchFamily="34" charset="-120"/>
              </a:rPr>
              <a:t> of </a:t>
            </a:r>
            <a:pPr indent="0" marL="0">
              <a:lnSpc>
                <a:spcPct val="105000"/>
              </a:lnSpc>
              <a:buNone/>
            </a:pPr>
            <a:r>
              <a:rPr lang="en-US" sz="1450" i="1" dirty="0">
                <a:solidFill>
                  <a:srgbClr val="E8ECF2"/>
                </a:solidFill>
                <a:latin typeface="Century Schoolbook" pitchFamily="34" charset="0"/>
                <a:ea typeface="Century Schoolbook" pitchFamily="34" charset="-122"/>
                <a:cs typeface="Century Schoolbook" pitchFamily="34" charset="-120"/>
              </a:rPr>
              <a:t>t</a:t>
            </a:r>
            <a:pPr indent="0" marL="0">
              <a:lnSpc>
                <a:spcPct val="105000"/>
              </a:lnSpc>
              <a:buNone/>
            </a:pPr>
            <a:r>
              <a:rPr lang="en-US" sz="1450" dirty="0">
                <a:solidFill>
                  <a:srgbClr val="E8ECF2"/>
                </a:solidFill>
                <a:latin typeface="Century Schoolbook" pitchFamily="34" charset="0"/>
                <a:ea typeface="Century Schoolbook" pitchFamily="34" charset="-122"/>
                <a:cs typeface="Century Schoolbook" pitchFamily="34" charset="-120"/>
              </a:rPr>
              <a:t> vertices first. Adding </a:t>
            </a:r>
            <a:pPr indent="0" marL="0">
              <a:lnSpc>
                <a:spcPct val="105000"/>
              </a:lnSpc>
              <a:buNone/>
            </a:pPr>
            <a:r>
              <a:rPr lang="en-US" sz="1450" i="1" dirty="0">
                <a:solidFill>
                  <a:srgbClr val="E8ECF2"/>
                </a:solidFill>
                <a:latin typeface="Century Schoolbook" pitchFamily="34" charset="0"/>
                <a:ea typeface="Century Schoolbook" pitchFamily="34" charset="-122"/>
                <a:cs typeface="Century Schoolbook" pitchFamily="34" charset="-120"/>
              </a:rPr>
              <a:t>S</a:t>
            </a:r>
            <a:pPr indent="0" marL="0">
              <a:lnSpc>
                <a:spcPct val="105000"/>
              </a:lnSpc>
              <a:buNone/>
            </a:pPr>
            <a:r>
              <a:rPr lang="en-US" sz="1450" dirty="0">
                <a:solidFill>
                  <a:srgbClr val="E8ECF2"/>
                </a:solidFill>
                <a:latin typeface="Century Schoolbook" pitchFamily="34" charset="0"/>
                <a:ea typeface="Century Schoolbook" pitchFamily="34" charset="-122"/>
                <a:cs typeface="Century Schoolbook" pitchFamily="34" charset="-120"/>
              </a:rPr>
              <a:t> to every bag of a tree decomposition of the torso gives a tree decomposition of </a:t>
            </a:r>
            <a:pPr indent="0" marL="0">
              <a:lnSpc>
                <a:spcPct val="105000"/>
              </a:lnSpc>
              <a:buNone/>
            </a:pPr>
            <a:r>
              <a:rPr lang="en-US" sz="1450" i="1" dirty="0">
                <a:solidFill>
                  <a:srgbClr val="E8ECF2"/>
                </a:solidFill>
                <a:latin typeface="Century Schoolbook" pitchFamily="34" charset="0"/>
                <a:ea typeface="Century Schoolbook" pitchFamily="34" charset="-122"/>
                <a:cs typeface="Century Schoolbook" pitchFamily="34" charset="-120"/>
              </a:rPr>
              <a:t>G</a:t>
            </a:r>
            <a:pPr indent="0" marL="0">
              <a:lnSpc>
                <a:spcPct val="105000"/>
              </a:lnSpc>
              <a:buNone/>
            </a:pPr>
            <a:r>
              <a:rPr lang="en-US" sz="1450" dirty="0">
                <a:solidFill>
                  <a:srgbClr val="E8ECF2"/>
                </a:solidFill>
                <a:latin typeface="Century Schoolbook" pitchFamily="34" charset="0"/>
                <a:ea typeface="Century Schoolbook" pitchFamily="34" charset="-122"/>
                <a:cs typeface="Century Schoolbook" pitchFamily="34" charset="-120"/>
              </a:rPr>
              <a:t>, so</a:t>
            </a:r>
            <a:endParaRPr lang="en-US" sz="1450" dirty="0"/>
          </a:p>
        </p:txBody>
      </p:sp>
      <p:sp>
        <p:nvSpPr>
          <p:cNvPr id="7" name="Text 5"/>
          <p:cNvSpPr txBox="1"/>
          <p:nvPr/>
        </p:nvSpPr>
        <p:spPr>
          <a:xfrm>
            <a:off x="868680" y="3493008"/>
            <a:ext cx="4709160" cy="457200"/>
          </a:xfrm>
          <a:prstGeom prst="rect">
            <a:avLst/>
          </a:prstGeom>
          <a:noFill/>
          <a:ln/>
        </p:spPr>
        <p:txBody>
          <a:bodyPr wrap="square" lIns="0" tIns="0" rIns="0" bIns="0" rtlCol="0" anchor="t"/>
          <a:lstStyle/>
          <a:p>
            <a:pPr algn="ctr" indent="0" marL="0">
              <a:buNone/>
            </a:pPr>
            <a:r>
              <a:rPr lang="en-US" sz="1700" dirty="0">
                <a:solidFill>
                  <a:srgbClr val="FFFFFF"/>
                </a:solidFill>
                <a:latin typeface="Century Schoolbook" pitchFamily="34" charset="0"/>
                <a:ea typeface="Century Schoolbook" pitchFamily="34" charset="-122"/>
                <a:cs typeface="Century Schoolbook" pitchFamily="34" charset="-120"/>
              </a:rPr>
              <a:t>tw(</a:t>
            </a:r>
            <a:pPr algn="ctr" indent="0" marL="0">
              <a:buNone/>
            </a:pPr>
            <a:r>
              <a:rPr lang="en-US" sz="1700" i="1" dirty="0">
                <a:solidFill>
                  <a:srgbClr val="FFFFFF"/>
                </a:solidFill>
                <a:latin typeface="Century Schoolbook" pitchFamily="34" charset="0"/>
                <a:ea typeface="Century Schoolbook" pitchFamily="34" charset="-122"/>
                <a:cs typeface="Century Schoolbook" pitchFamily="34" charset="-120"/>
              </a:rPr>
              <a:t>G</a:t>
            </a:r>
            <a:pPr algn="ctr" indent="0" marL="0">
              <a:buNone/>
            </a:pPr>
            <a:r>
              <a:rPr lang="en-US" sz="1700" dirty="0">
                <a:solidFill>
                  <a:srgbClr val="FFFFFF"/>
                </a:solidFill>
                <a:latin typeface="Century Schoolbook" pitchFamily="34" charset="0"/>
                <a:ea typeface="Century Schoolbook" pitchFamily="34" charset="-122"/>
                <a:cs typeface="Century Schoolbook" pitchFamily="34" charset="-120"/>
              </a:rPr>
              <a:t>) ≤ tw(torso) + </a:t>
            </a:r>
            <a:pPr algn="ctr" indent="0" marL="0">
              <a:buNone/>
            </a:pPr>
            <a:r>
              <a:rPr lang="en-US" sz="1700" i="1" dirty="0">
                <a:solidFill>
                  <a:srgbClr val="FFFFFF"/>
                </a:solidFill>
                <a:latin typeface="Century Schoolbook" pitchFamily="34" charset="0"/>
                <a:ea typeface="Century Schoolbook" pitchFamily="34" charset="-122"/>
                <a:cs typeface="Century Schoolbook" pitchFamily="34" charset="-120"/>
              </a:rPr>
              <a:t>t</a:t>
            </a:r>
            <a:pPr algn="ctr" indent="0" marL="0">
              <a:buNone/>
            </a:pPr>
            <a:r>
              <a:rPr lang="en-US" sz="1700" dirty="0">
                <a:solidFill>
                  <a:srgbClr val="FFFFFF"/>
                </a:solidFill>
                <a:latin typeface="Century Schoolbook" pitchFamily="34" charset="0"/>
                <a:ea typeface="Century Schoolbook" pitchFamily="34" charset="-122"/>
                <a:cs typeface="Century Schoolbook" pitchFamily="34" charset="-120"/>
              </a:rPr>
              <a:t>   ⟹   </a:t>
            </a:r>
            <a:pPr algn="ctr" indent="0" marL="0">
              <a:buNone/>
            </a:pPr>
            <a:r>
              <a:rPr lang="en-US" sz="1700" i="1" dirty="0">
                <a:solidFill>
                  <a:srgbClr val="FFFFFF"/>
                </a:solidFill>
                <a:latin typeface="Century Schoolbook" pitchFamily="34" charset="0"/>
                <a:ea typeface="Century Schoolbook" pitchFamily="34" charset="-122"/>
                <a:cs typeface="Century Schoolbook" pitchFamily="34" charset="-120"/>
              </a:rPr>
              <a:t>w</a:t>
            </a:r>
            <a:pPr algn="ctr" indent="0" marL="0">
              <a:buNone/>
            </a:pPr>
            <a:r>
              <a:rPr lang="en-US" sz="1700" dirty="0">
                <a:solidFill>
                  <a:srgbClr val="FFFFFF"/>
                </a:solidFill>
                <a:latin typeface="Century Schoolbook" pitchFamily="34" charset="0"/>
                <a:ea typeface="Century Schoolbook" pitchFamily="34" charset="-122"/>
                <a:cs typeface="Century Schoolbook" pitchFamily="34" charset="-120"/>
              </a:rPr>
              <a:t> ≥ tw(</a:t>
            </a:r>
            <a:pPr algn="ctr" indent="0" marL="0">
              <a:buNone/>
            </a:pPr>
            <a:r>
              <a:rPr lang="en-US" sz="1700" i="1" dirty="0">
                <a:solidFill>
                  <a:srgbClr val="FFFFFF"/>
                </a:solidFill>
                <a:latin typeface="Century Schoolbook" pitchFamily="34" charset="0"/>
                <a:ea typeface="Century Schoolbook" pitchFamily="34" charset="-122"/>
                <a:cs typeface="Century Schoolbook" pitchFamily="34" charset="-120"/>
              </a:rPr>
              <a:t>G</a:t>
            </a:r>
            <a:pPr algn="ctr" indent="0" marL="0">
              <a:buNone/>
            </a:pPr>
            <a:r>
              <a:rPr lang="en-US" sz="1700" dirty="0">
                <a:solidFill>
                  <a:srgbClr val="FFFFFF"/>
                </a:solidFill>
                <a:latin typeface="Century Schoolbook" pitchFamily="34" charset="0"/>
                <a:ea typeface="Century Schoolbook" pitchFamily="34" charset="-122"/>
                <a:cs typeface="Century Schoolbook" pitchFamily="34" charset="-120"/>
              </a:rPr>
              <a:t>) − </a:t>
            </a:r>
            <a:pPr algn="ctr" indent="0" marL="0">
              <a:buNone/>
            </a:pPr>
            <a:r>
              <a:rPr lang="en-US" sz="1700" i="1" dirty="0">
                <a:solidFill>
                  <a:srgbClr val="FFFFFF"/>
                </a:solidFill>
                <a:latin typeface="Century Schoolbook" pitchFamily="34" charset="0"/>
                <a:ea typeface="Century Schoolbook" pitchFamily="34" charset="-122"/>
                <a:cs typeface="Century Schoolbook" pitchFamily="34" charset="-120"/>
              </a:rPr>
              <a:t>t</a:t>
            </a:r>
            <a:endParaRPr lang="en-US" sz="1700" dirty="0"/>
          </a:p>
        </p:txBody>
      </p:sp>
      <p:sp>
        <p:nvSpPr>
          <p:cNvPr id="8" name="Text 6"/>
          <p:cNvSpPr txBox="1"/>
          <p:nvPr/>
        </p:nvSpPr>
        <p:spPr>
          <a:xfrm>
            <a:off x="640080" y="4526280"/>
            <a:ext cx="5166360" cy="1188720"/>
          </a:xfrm>
          <a:prstGeom prst="rect">
            <a:avLst/>
          </a:prstGeom>
          <a:noFill/>
          <a:ln/>
        </p:spPr>
        <p:txBody>
          <a:bodyPr wrap="square" lIns="0" tIns="0" rIns="0" bIns="0" rtlCol="0" anchor="t"/>
          <a:lstStyle/>
          <a:p>
            <a:pPr indent="0" marL="0">
              <a:lnSpc>
                <a:spcPct val="105000"/>
              </a:lnSpc>
              <a:buNone/>
            </a:pPr>
            <a:r>
              <a:rPr lang="en-US" sz="1450" dirty="0">
                <a:solidFill>
                  <a:srgbClr val="E8ECF2"/>
                </a:solidFill>
                <a:latin typeface="Calibri" pitchFamily="34" charset="0"/>
                <a:ea typeface="Calibri" pitchFamily="34" charset="-122"/>
                <a:cs typeface="Calibri" pitchFamily="34" charset="-120"/>
              </a:rPr>
              <a:t>A cheap lower bound </a:t>
            </a:r>
            <a:pPr indent="0" marL="0">
              <a:lnSpc>
                <a:spcPct val="105000"/>
              </a:lnSpc>
              <a:buNone/>
            </a:pPr>
            <a:r>
              <a:rPr lang="en-US" sz="1450" i="1" dirty="0">
                <a:solidFill>
                  <a:srgbClr val="E8ECF2"/>
                </a:solidFill>
                <a:latin typeface="Calibri" pitchFamily="34" charset="0"/>
                <a:ea typeface="Calibri" pitchFamily="34" charset="-122"/>
                <a:cs typeface="Calibri" pitchFamily="34" charset="-120"/>
              </a:rPr>
              <a:t>L</a:t>
            </a:r>
            <a:pPr indent="0" marL="0">
              <a:lnSpc>
                <a:spcPct val="105000"/>
              </a:lnSpc>
              <a:buNone/>
            </a:pPr>
            <a:r>
              <a:rPr lang="en-US" sz="1450" dirty="0">
                <a:solidFill>
                  <a:srgbClr val="E8ECF2"/>
                </a:solidFill>
                <a:latin typeface="Calibri" pitchFamily="34" charset="0"/>
                <a:ea typeface="Calibri" pitchFamily="34" charset="-122"/>
                <a:cs typeface="Calibri" pitchFamily="34" charset="-120"/>
              </a:rPr>
              <a:t> ≤ tw(</a:t>
            </a:r>
            <a:pPr indent="0" marL="0">
              <a:lnSpc>
                <a:spcPct val="105000"/>
              </a:lnSpc>
              <a:buNone/>
            </a:pPr>
            <a:r>
              <a:rPr lang="en-US" sz="1450" i="1" dirty="0">
                <a:solidFill>
                  <a:srgbClr val="E8ECF2"/>
                </a:solidFill>
                <a:latin typeface="Calibri" pitchFamily="34" charset="0"/>
                <a:ea typeface="Calibri" pitchFamily="34" charset="-122"/>
                <a:cs typeface="Calibri" pitchFamily="34" charset="-120"/>
              </a:rPr>
              <a:t>G</a:t>
            </a:r>
            <a:pPr indent="0" marL="0">
              <a:lnSpc>
                <a:spcPct val="105000"/>
              </a:lnSpc>
              <a:buNone/>
            </a:pPr>
            <a:r>
              <a:rPr lang="en-US" sz="1450" dirty="0">
                <a:solidFill>
                  <a:srgbClr val="E8ECF2"/>
                </a:solidFill>
                <a:latin typeface="Calibri" pitchFamily="34" charset="0"/>
                <a:ea typeface="Calibri" pitchFamily="34" charset="-122"/>
                <a:cs typeface="Calibri" pitchFamily="34" charset="-120"/>
              </a:rPr>
              <a:t>) turns this into a wall </a:t>
            </a:r>
            <a:pPr indent="0" marL="0">
              <a:lnSpc>
                <a:spcPct val="105000"/>
              </a:lnSpc>
              <a:buNone/>
            </a:pPr>
            <a:r>
              <a:rPr lang="en-US" sz="1450" i="1" dirty="0">
                <a:solidFill>
                  <a:srgbClr val="E8ECF2"/>
                </a:solidFill>
                <a:latin typeface="Calibri" pitchFamily="34" charset="0"/>
                <a:ea typeface="Calibri" pitchFamily="34" charset="-122"/>
                <a:cs typeface="Calibri" pitchFamily="34" charset="-120"/>
              </a:rPr>
              <a:t>w</a:t>
            </a:r>
            <a:pPr indent="0" marL="0">
              <a:lnSpc>
                <a:spcPct val="105000"/>
              </a:lnSpc>
              <a:buNone/>
            </a:pPr>
            <a:r>
              <a:rPr lang="en-US" sz="1450" dirty="0">
                <a:solidFill>
                  <a:srgbClr val="E8ECF2"/>
                </a:solidFill>
                <a:latin typeface="Calibri" pitchFamily="34" charset="0"/>
                <a:ea typeface="Calibri" pitchFamily="34" charset="-122"/>
                <a:cs typeface="Calibri" pitchFamily="34" charset="-120"/>
              </a:rPr>
              <a:t> ≥ </a:t>
            </a:r>
            <a:pPr indent="0" marL="0">
              <a:lnSpc>
                <a:spcPct val="105000"/>
              </a:lnSpc>
              <a:buNone/>
            </a:pPr>
            <a:r>
              <a:rPr lang="en-US" sz="1450" i="1" dirty="0">
                <a:solidFill>
                  <a:srgbClr val="E8ECF2"/>
                </a:solidFill>
                <a:latin typeface="Calibri" pitchFamily="34" charset="0"/>
                <a:ea typeface="Calibri" pitchFamily="34" charset="-122"/>
                <a:cs typeface="Calibri" pitchFamily="34" charset="-120"/>
              </a:rPr>
              <a:t>L</a:t>
            </a:r>
            <a:pPr indent="0" marL="0">
              <a:lnSpc>
                <a:spcPct val="105000"/>
              </a:lnSpc>
              <a:buNone/>
            </a:pPr>
            <a:r>
              <a:rPr lang="en-US" sz="1450" dirty="0">
                <a:solidFill>
                  <a:srgbClr val="E8ECF2"/>
                </a:solidFill>
                <a:latin typeface="Calibri" pitchFamily="34" charset="0"/>
                <a:ea typeface="Calibri" pitchFamily="34" charset="-122"/>
                <a:cs typeface="Calibri" pitchFamily="34" charset="-120"/>
              </a:rPr>
              <a:t> − </a:t>
            </a:r>
            <a:pPr indent="0" marL="0">
              <a:lnSpc>
                <a:spcPct val="105000"/>
              </a:lnSpc>
              <a:buNone/>
            </a:pPr>
            <a:r>
              <a:rPr lang="en-US" sz="1450" i="1" dirty="0">
                <a:solidFill>
                  <a:srgbClr val="E8ECF2"/>
                </a:solidFill>
                <a:latin typeface="Calibri" pitchFamily="34" charset="0"/>
                <a:ea typeface="Calibri" pitchFamily="34" charset="-122"/>
                <a:cs typeface="Calibri" pitchFamily="34" charset="-120"/>
              </a:rPr>
              <a:t>t</a:t>
            </a:r>
            <a:pPr indent="0" marL="0">
              <a:lnSpc>
                <a:spcPct val="105000"/>
              </a:lnSpc>
              <a:buNone/>
            </a:pPr>
            <a:r>
              <a:rPr lang="en-US" sz="1450" dirty="0">
                <a:solidFill>
                  <a:srgbClr val="E8ECF2"/>
                </a:solidFill>
                <a:latin typeface="Calibri" pitchFamily="34" charset="0"/>
                <a:ea typeface="Calibri" pitchFamily="34" charset="-122"/>
                <a:cs typeface="Calibri" pitchFamily="34" charset="-120"/>
              </a:rPr>
              <a:t>. The best 20 points against that wall, found by dynamic programming, bound every possible submission.</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72200" y="1783080"/>
          <a:ext cx="5376672" cy="914400"/>
        </p:xfrm>
        <a:graphic>
          <a:graphicData uri="http://schemas.openxmlformats.org/drawingml/2006/table">
            <a:tbl>
              <a:tblPr/>
              <a:tblGrid>
                <a:gridCol w="1298448"/>
                <a:gridCol w="640080"/>
                <a:gridCol w="566928"/>
                <a:gridCol w="1024128"/>
                <a:gridCol w="1069848"/>
                <a:gridCol w="777240"/>
              </a:tblGrid>
              <a:tr h="402336">
                <a:tc>
                  <a:txBody>
                    <a:bodyPr/>
                    <a:lstStyle/>
                    <a:p>
                      <a:pPr algn="l" indent="0" marL="0">
                        <a:buNone/>
                      </a:pPr>
                      <a:r>
                        <a:rPr lang="en-US" sz="1100" b="1" dirty="0">
                          <a:solidFill>
                            <a:srgbClr val="9AA6B6"/>
                          </a:solidFill>
                          <a:latin typeface="Calibri" pitchFamily="34" charset="0"/>
                          <a:ea typeface="Calibri" pitchFamily="34" charset="-122"/>
                          <a:cs typeface="Calibri" pitchFamily="34" charset="-120"/>
                        </a:rPr>
                        <a:t>instance</a:t>
                      </a:r>
                      <a:endParaRPr lang="en-US" sz="1100" dirty="0">
                        <a:latin typeface="Calibri" charset="0"/>
                        <a:ea typeface="Calibri" charset="0"/>
                        <a:cs typeface="Calibri" charset="0"/>
                      </a:endParaRPr>
                    </a:p>
                  </a:txBody>
                  <a:tcPr marL="54864" marR="54864"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4864" marR="54864"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tw ≥</a:t>
                      </a:r>
                      <a:endParaRPr lang="en-US" sz="1100" dirty="0">
                        <a:latin typeface="Calibri" charset="0"/>
                        <a:ea typeface="Calibri" charset="0"/>
                        <a:cs typeface="Calibri" charset="0"/>
                      </a:endParaRPr>
                    </a:p>
                  </a:txBody>
                  <a:tcPr marL="54864" marR="54864"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ceiling</a:t>
                      </a:r>
                      <a:endParaRPr lang="en-US" sz="1100" dirty="0">
                        <a:latin typeface="Calibri" charset="0"/>
                        <a:ea typeface="Calibri" charset="0"/>
                        <a:cs typeface="Calibri" charset="0"/>
                      </a:endParaRPr>
                    </a:p>
                  </a:txBody>
                  <a:tcPr marL="54864" marR="54864"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best known</a:t>
                      </a:r>
                      <a:endParaRPr lang="en-US" sz="1100" dirty="0">
                        <a:latin typeface="Calibri" charset="0"/>
                        <a:ea typeface="Calibri" charset="0"/>
                        <a:cs typeface="Calibri" charset="0"/>
                      </a:endParaRPr>
                    </a:p>
                  </a:txBody>
                  <a:tcPr marL="54864" marR="54864"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gap</a:t>
                      </a:r>
                      <a:endParaRPr lang="en-US" sz="1100" dirty="0">
                        <a:latin typeface="Calibri" charset="0"/>
                        <a:ea typeface="Calibri" charset="0"/>
                        <a:cs typeface="Calibri" charset="0"/>
                      </a:endParaRPr>
                    </a:p>
                  </a:txBody>
                  <a:tcPr marL="54864" marR="54864"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r>
              <a:tr h="402336">
                <a:tc>
                  <a:txBody>
                    <a:bodyPr/>
                    <a:lstStyle/>
                    <a:p>
                      <a:pPr algn="l" indent="0" marL="0">
                        <a:buNone/>
                      </a:pPr>
                      <a:r>
                        <a:rPr lang="en-US" sz="1300" dirty="0">
                          <a:solidFill>
                            <a:srgbClr val="E8ECF2"/>
                          </a:solidFill>
                          <a:latin typeface="Calibri" pitchFamily="34" charset="0"/>
                          <a:ea typeface="Calibri" pitchFamily="34" charset="-122"/>
                          <a:cs typeface="Calibri" pitchFamily="34" charset="-120"/>
                        </a:rPr>
                        <a:t>small-graph</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1,357</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1,841,434</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1,829,919</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300" b="1" dirty="0">
                          <a:solidFill>
                            <a:srgbClr val="3DDC97"/>
                          </a:solidFill>
                          <a:latin typeface="Calibri" pitchFamily="34" charset="0"/>
                          <a:ea typeface="Calibri" pitchFamily="34" charset="-122"/>
                          <a:cs typeface="Calibri" pitchFamily="34" charset="-120"/>
                        </a:rPr>
                        <a:t>0.63%</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r>
              <a:tr h="402336">
                <a:tc>
                  <a:txBody>
                    <a:bodyPr/>
                    <a:lstStyle/>
                    <a:p>
                      <a:pPr algn="l" indent="0" marL="0">
                        <a:buNone/>
                      </a:pPr>
                      <a:r>
                        <a:rPr lang="en-US" sz="1300" dirty="0">
                          <a:solidFill>
                            <a:srgbClr val="E8ECF2"/>
                          </a:solidFill>
                          <a:latin typeface="Calibri" pitchFamily="34" charset="0"/>
                          <a:ea typeface="Calibri" pitchFamily="34" charset="-122"/>
                          <a:cs typeface="Calibri" pitchFamily="34" charset="-120"/>
                        </a:rPr>
                        <a:t>medium-graph</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1,399</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63</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1,955,110</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1,745,122</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300" b="1" dirty="0">
                          <a:solidFill>
                            <a:srgbClr val="F2C14E"/>
                          </a:solidFill>
                          <a:latin typeface="Calibri" pitchFamily="34" charset="0"/>
                          <a:ea typeface="Calibri" pitchFamily="34" charset="-122"/>
                          <a:cs typeface="Calibri" pitchFamily="34" charset="-120"/>
                        </a:rPr>
                        <a:t>10.74%</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r>
              <a:tr h="402336">
                <a:tc>
                  <a:txBody>
                    <a:bodyPr/>
                    <a:lstStyle/>
                    <a:p>
                      <a:pPr algn="l" indent="0" marL="0">
                        <a:buNone/>
                      </a:pPr>
                      <a:r>
                        <a:rPr lang="en-US" sz="1300" dirty="0">
                          <a:solidFill>
                            <a:srgbClr val="E8ECF2"/>
                          </a:solidFill>
                          <a:latin typeface="Calibri" pitchFamily="34" charset="0"/>
                          <a:ea typeface="Calibri" pitchFamily="34" charset="-122"/>
                          <a:cs typeface="Calibri" pitchFamily="34" charset="-120"/>
                        </a:rPr>
                        <a:t>large-graph</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2,426</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499</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5,754,421</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5,493,062</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300" b="1" dirty="0">
                          <a:solidFill>
                            <a:srgbClr val="FF5A60"/>
                          </a:solidFill>
                          <a:latin typeface="Calibri" pitchFamily="34" charset="0"/>
                          <a:ea typeface="Calibri" pitchFamily="34" charset="-122"/>
                          <a:cs typeface="Calibri" pitchFamily="34" charset="-120"/>
                        </a:rPr>
                        <a:t>4.54%</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r>
            </a:tbl>
          </a:graphicData>
        </a:graphic>
      </p:graphicFrame>
      <p:sp>
        <p:nvSpPr>
          <p:cNvPr id="10" name="Text 7"/>
          <p:cNvSpPr txBox="1"/>
          <p:nvPr/>
        </p:nvSpPr>
        <p:spPr>
          <a:xfrm>
            <a:off x="6172200" y="3657600"/>
            <a:ext cx="914400" cy="457200"/>
          </a:xfrm>
          <a:prstGeom prst="rect">
            <a:avLst/>
          </a:prstGeom>
          <a:noFill/>
          <a:ln/>
        </p:spPr>
        <p:txBody>
          <a:bodyPr wrap="square" lIns="0" tIns="0" rIns="0" bIns="0" rtlCol="0" anchor="t"/>
          <a:lstStyle/>
          <a:p>
            <a:pPr indent="0" marL="0">
              <a:buNone/>
            </a:pPr>
            <a:r>
              <a:rPr lang="en-US" sz="1300" b="1" dirty="0">
                <a:solidFill>
                  <a:srgbClr val="3DDC97"/>
                </a:solidFill>
                <a:latin typeface="Calibri" pitchFamily="34" charset="0"/>
                <a:ea typeface="Calibri" pitchFamily="34" charset="-122"/>
                <a:cs typeface="Calibri" pitchFamily="34" charset="-120"/>
              </a:rPr>
              <a:t>sparse</a:t>
            </a:r>
            <a:endParaRPr lang="en-US" sz="1300" dirty="0"/>
          </a:p>
        </p:txBody>
      </p:sp>
      <p:sp>
        <p:nvSpPr>
          <p:cNvPr id="11" name="Text 8"/>
          <p:cNvSpPr txBox="1"/>
          <p:nvPr/>
        </p:nvSpPr>
        <p:spPr>
          <a:xfrm>
            <a:off x="7086600" y="3657600"/>
            <a:ext cx="4462272" cy="548640"/>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within 0.63% of the ceiling: effectively solved</a:t>
            </a:r>
            <a:endParaRPr lang="en-US" sz="1300" dirty="0"/>
          </a:p>
        </p:txBody>
      </p:sp>
      <p:sp>
        <p:nvSpPr>
          <p:cNvPr id="12" name="Text 9"/>
          <p:cNvSpPr txBox="1"/>
          <p:nvPr/>
        </p:nvSpPr>
        <p:spPr>
          <a:xfrm>
            <a:off x="6172200" y="4279392"/>
            <a:ext cx="914400" cy="457200"/>
          </a:xfrm>
          <a:prstGeom prst="rect">
            <a:avLst/>
          </a:prstGeom>
          <a:noFill/>
          <a:ln/>
        </p:spPr>
        <p:txBody>
          <a:bodyPr wrap="square" lIns="0" tIns="0" rIns="0" bIns="0" rtlCol="0" anchor="t"/>
          <a:lstStyle/>
          <a:p>
            <a:pPr indent="0" marL="0">
              <a:buNone/>
            </a:pPr>
            <a:r>
              <a:rPr lang="en-US" sz="1300" b="1" dirty="0">
                <a:solidFill>
                  <a:srgbClr val="F2C14E"/>
                </a:solidFill>
                <a:latin typeface="Calibri" pitchFamily="34" charset="0"/>
                <a:ea typeface="Calibri" pitchFamily="34" charset="-122"/>
                <a:cs typeface="Calibri" pitchFamily="34" charset="-120"/>
              </a:rPr>
              <a:t>medium</a:t>
            </a:r>
            <a:endParaRPr lang="en-US" sz="1300" dirty="0"/>
          </a:p>
        </p:txBody>
      </p:sp>
      <p:sp>
        <p:nvSpPr>
          <p:cNvPr id="13" name="Text 10"/>
          <p:cNvSpPr txBox="1"/>
          <p:nvPr/>
        </p:nvSpPr>
        <p:spPr>
          <a:xfrm>
            <a:off x="7086600" y="4279392"/>
            <a:ext cx="4462272" cy="548640"/>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10.74%, mostly a loose bound: tw ≥ 63 removes only 2,091 of n² = 1,957,201</a:t>
            </a:r>
            <a:endParaRPr lang="en-US" sz="1300" dirty="0"/>
          </a:p>
        </p:txBody>
      </p:sp>
      <p:sp>
        <p:nvSpPr>
          <p:cNvPr id="14" name="Text 11"/>
          <p:cNvSpPr txBox="1"/>
          <p:nvPr/>
        </p:nvSpPr>
        <p:spPr>
          <a:xfrm>
            <a:off x="6172200" y="4901184"/>
            <a:ext cx="914400" cy="457200"/>
          </a:xfrm>
          <a:prstGeom prst="rect">
            <a:avLst/>
          </a:prstGeom>
          <a:noFill/>
          <a:ln/>
        </p:spPr>
        <p:txBody>
          <a:bodyPr wrap="square" lIns="0" tIns="0" rIns="0" bIns="0" rtlCol="0" anchor="t"/>
          <a:lstStyle/>
          <a:p>
            <a:pPr indent="0" marL="0">
              <a:buNone/>
            </a:pPr>
            <a:r>
              <a:rPr lang="en-US" sz="1300" b="1" dirty="0">
                <a:solidFill>
                  <a:srgbClr val="FF5A60"/>
                </a:solidFill>
                <a:latin typeface="Calibri" pitchFamily="34" charset="0"/>
                <a:ea typeface="Calibri" pitchFamily="34" charset="-122"/>
                <a:cs typeface="Calibri" pitchFamily="34" charset="-120"/>
              </a:rPr>
              <a:t>dense</a:t>
            </a:r>
            <a:endParaRPr lang="en-US" sz="1300" dirty="0"/>
          </a:p>
        </p:txBody>
      </p:sp>
      <p:sp>
        <p:nvSpPr>
          <p:cNvPr id="15" name="Text 12"/>
          <p:cNvSpPr txBox="1"/>
          <p:nvPr/>
        </p:nvSpPr>
        <p:spPr>
          <a:xfrm>
            <a:off x="7086600" y="4901184"/>
            <a:ext cx="4462272" cy="548640"/>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a planted 500-clique pins tw to 499–500, so 4.54% is real headroom</a:t>
            </a:r>
            <a:endParaRPr lang="en-US" sz="1300" dirty="0"/>
          </a:p>
        </p:txBody>
      </p:sp>
      <p:sp>
        <p:nvSpPr>
          <p:cNvPr id="16" name="Text 13"/>
          <p:cNvSpPr txBox="1"/>
          <p:nvPr/>
        </p:nvSpPr>
        <p:spPr>
          <a:xfrm>
            <a:off x="6172200" y="5669280"/>
            <a:ext cx="5376672" cy="457200"/>
          </a:xfrm>
          <a:prstGeom prst="rect">
            <a:avLst/>
          </a:prstGeom>
          <a:noFill/>
          <a:ln/>
        </p:spPr>
        <p:txBody>
          <a:bodyPr wrap="square" lIns="0" tIns="0" rIns="0" bIns="0" rtlCol="0" anchor="t"/>
          <a:lstStyle/>
          <a:p>
            <a:pPr indent="0" marL="0">
              <a:buNone/>
            </a:pPr>
            <a:r>
              <a:rPr lang="en-US" sz="1050" i="1" dirty="0">
                <a:solidFill>
                  <a:srgbClr val="7D8AA0"/>
                </a:solidFill>
                <a:latin typeface="Calibri" pitchFamily="34" charset="0"/>
                <a:ea typeface="Calibri" pitchFamily="34" charset="-122"/>
                <a:cs typeface="Calibri" pitchFamily="34" charset="-120"/>
              </a:rPr>
              <a:t>Hypervolume. Best known = top of ESA’s leaderboard for each official instance (read 13 Oct 2026).</a:t>
            </a:r>
            <a:endParaRPr lang="en-US" sz="105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II · HOW GOOD COULD AN ANSWER BE?</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Ten instances, but only three structures</a:t>
            </a:r>
            <a:endParaRPr lang="en-US" sz="2700" dirty="0"/>
          </a:p>
        </p:txBody>
      </p:sp>
      <p:sp>
        <p:nvSpPr>
          <p:cNvPr id="4" name="Shape 2"/>
          <p:cNvSpPr/>
          <p:nvPr/>
        </p:nvSpPr>
        <p:spPr>
          <a:xfrm>
            <a:off x="960120" y="2377440"/>
            <a:ext cx="0" cy="384048"/>
          </a:xfrm>
          <a:prstGeom prst="line">
            <a:avLst/>
          </a:prstGeom>
          <a:noFill/>
          <a:ln w="12700">
            <a:solidFill>
              <a:srgbClr val="7D8AA0"/>
            </a:solidFill>
            <a:prstDash val="solid"/>
          </a:ln>
        </p:spPr>
      </p:sp>
      <p:sp>
        <p:nvSpPr>
          <p:cNvPr id="5" name="Shape 3"/>
          <p:cNvSpPr/>
          <p:nvPr/>
        </p:nvSpPr>
        <p:spPr>
          <a:xfrm>
            <a:off x="1271016" y="2377440"/>
            <a:ext cx="310896" cy="0"/>
          </a:xfrm>
          <a:prstGeom prst="line">
            <a:avLst/>
          </a:prstGeom>
          <a:noFill/>
          <a:ln w="12700">
            <a:solidFill>
              <a:srgbClr val="7D8AA0"/>
            </a:solidFill>
            <a:prstDash val="solid"/>
          </a:ln>
        </p:spPr>
      </p:sp>
      <p:sp>
        <p:nvSpPr>
          <p:cNvPr id="6" name="Shape 4"/>
          <p:cNvSpPr/>
          <p:nvPr/>
        </p:nvSpPr>
        <p:spPr>
          <a:xfrm>
            <a:off x="1271016" y="2377440"/>
            <a:ext cx="0" cy="384048"/>
          </a:xfrm>
          <a:prstGeom prst="line">
            <a:avLst/>
          </a:prstGeom>
          <a:noFill/>
          <a:ln w="12700">
            <a:solidFill>
              <a:srgbClr val="7D8AA0"/>
            </a:solidFill>
            <a:prstDash val="solid"/>
          </a:ln>
        </p:spPr>
      </p:sp>
      <p:sp>
        <p:nvSpPr>
          <p:cNvPr id="7" name="Shape 5"/>
          <p:cNvSpPr/>
          <p:nvPr/>
        </p:nvSpPr>
        <p:spPr>
          <a:xfrm>
            <a:off x="1581912" y="2377440"/>
            <a:ext cx="310896" cy="0"/>
          </a:xfrm>
          <a:prstGeom prst="line">
            <a:avLst/>
          </a:prstGeom>
          <a:noFill/>
          <a:ln w="12700">
            <a:solidFill>
              <a:srgbClr val="7D8AA0"/>
            </a:solidFill>
            <a:prstDash val="solid"/>
          </a:ln>
        </p:spPr>
      </p:sp>
      <p:sp>
        <p:nvSpPr>
          <p:cNvPr id="8" name="Shape 6"/>
          <p:cNvSpPr/>
          <p:nvPr/>
        </p:nvSpPr>
        <p:spPr>
          <a:xfrm>
            <a:off x="1581912" y="2377440"/>
            <a:ext cx="0" cy="384048"/>
          </a:xfrm>
          <a:prstGeom prst="line">
            <a:avLst/>
          </a:prstGeom>
          <a:noFill/>
          <a:ln w="12700">
            <a:solidFill>
              <a:srgbClr val="7D8AA0"/>
            </a:solidFill>
            <a:prstDash val="solid"/>
          </a:ln>
        </p:spPr>
      </p:sp>
      <p:sp>
        <p:nvSpPr>
          <p:cNvPr id="9" name="Shape 7"/>
          <p:cNvSpPr/>
          <p:nvPr/>
        </p:nvSpPr>
        <p:spPr>
          <a:xfrm>
            <a:off x="1892808" y="2377440"/>
            <a:ext cx="310896" cy="0"/>
          </a:xfrm>
          <a:prstGeom prst="line">
            <a:avLst/>
          </a:prstGeom>
          <a:noFill/>
          <a:ln w="12700">
            <a:solidFill>
              <a:srgbClr val="7D8AA0"/>
            </a:solidFill>
            <a:prstDash val="solid"/>
          </a:ln>
        </p:spPr>
      </p:sp>
      <p:sp>
        <p:nvSpPr>
          <p:cNvPr id="10" name="Shape 8"/>
          <p:cNvSpPr/>
          <p:nvPr/>
        </p:nvSpPr>
        <p:spPr>
          <a:xfrm>
            <a:off x="1892808" y="2377440"/>
            <a:ext cx="0" cy="384048"/>
          </a:xfrm>
          <a:prstGeom prst="line">
            <a:avLst/>
          </a:prstGeom>
          <a:noFill/>
          <a:ln w="12700">
            <a:solidFill>
              <a:srgbClr val="7D8AA0"/>
            </a:solidFill>
            <a:prstDash val="solid"/>
          </a:ln>
        </p:spPr>
      </p:sp>
      <p:sp>
        <p:nvSpPr>
          <p:cNvPr id="11" name="Shape 9"/>
          <p:cNvSpPr/>
          <p:nvPr/>
        </p:nvSpPr>
        <p:spPr>
          <a:xfrm>
            <a:off x="2203704" y="2377440"/>
            <a:ext cx="310896" cy="0"/>
          </a:xfrm>
          <a:prstGeom prst="line">
            <a:avLst/>
          </a:prstGeom>
          <a:noFill/>
          <a:ln w="12700">
            <a:solidFill>
              <a:srgbClr val="7D8AA0"/>
            </a:solidFill>
            <a:prstDash val="solid"/>
          </a:ln>
        </p:spPr>
      </p:sp>
      <p:sp>
        <p:nvSpPr>
          <p:cNvPr id="12" name="Shape 10"/>
          <p:cNvSpPr/>
          <p:nvPr/>
        </p:nvSpPr>
        <p:spPr>
          <a:xfrm>
            <a:off x="2203704" y="2377440"/>
            <a:ext cx="0" cy="384048"/>
          </a:xfrm>
          <a:prstGeom prst="line">
            <a:avLst/>
          </a:prstGeom>
          <a:noFill/>
          <a:ln w="12700">
            <a:solidFill>
              <a:srgbClr val="7D8AA0"/>
            </a:solidFill>
            <a:prstDash val="solid"/>
          </a:ln>
        </p:spPr>
      </p:sp>
      <p:sp>
        <p:nvSpPr>
          <p:cNvPr id="13" name="Shape 11"/>
          <p:cNvSpPr/>
          <p:nvPr/>
        </p:nvSpPr>
        <p:spPr>
          <a:xfrm>
            <a:off x="2514600" y="2377440"/>
            <a:ext cx="310896" cy="0"/>
          </a:xfrm>
          <a:prstGeom prst="line">
            <a:avLst/>
          </a:prstGeom>
          <a:noFill/>
          <a:ln w="12700">
            <a:solidFill>
              <a:srgbClr val="7D8AA0"/>
            </a:solidFill>
            <a:prstDash val="solid"/>
          </a:ln>
        </p:spPr>
      </p:sp>
      <p:sp>
        <p:nvSpPr>
          <p:cNvPr id="14" name="Shape 12"/>
          <p:cNvSpPr/>
          <p:nvPr/>
        </p:nvSpPr>
        <p:spPr>
          <a:xfrm>
            <a:off x="2514600" y="2377440"/>
            <a:ext cx="0" cy="384048"/>
          </a:xfrm>
          <a:prstGeom prst="line">
            <a:avLst/>
          </a:prstGeom>
          <a:noFill/>
          <a:ln w="12700">
            <a:solidFill>
              <a:srgbClr val="7D8AA0"/>
            </a:solidFill>
            <a:prstDash val="solid"/>
          </a:ln>
        </p:spPr>
      </p:sp>
      <p:sp>
        <p:nvSpPr>
          <p:cNvPr id="15" name="Shape 13"/>
          <p:cNvSpPr/>
          <p:nvPr/>
        </p:nvSpPr>
        <p:spPr>
          <a:xfrm>
            <a:off x="2825496" y="2377440"/>
            <a:ext cx="310896" cy="0"/>
          </a:xfrm>
          <a:prstGeom prst="line">
            <a:avLst/>
          </a:prstGeom>
          <a:noFill/>
          <a:ln w="12700">
            <a:solidFill>
              <a:srgbClr val="7D8AA0"/>
            </a:solidFill>
            <a:prstDash val="solid"/>
          </a:ln>
        </p:spPr>
      </p:sp>
      <p:sp>
        <p:nvSpPr>
          <p:cNvPr id="16" name="Shape 14"/>
          <p:cNvSpPr/>
          <p:nvPr/>
        </p:nvSpPr>
        <p:spPr>
          <a:xfrm>
            <a:off x="2825496" y="2377440"/>
            <a:ext cx="0" cy="384048"/>
          </a:xfrm>
          <a:prstGeom prst="line">
            <a:avLst/>
          </a:prstGeom>
          <a:noFill/>
          <a:ln w="12700">
            <a:solidFill>
              <a:srgbClr val="7D8AA0"/>
            </a:solidFill>
            <a:prstDash val="solid"/>
          </a:ln>
        </p:spPr>
      </p:sp>
      <p:sp>
        <p:nvSpPr>
          <p:cNvPr id="17" name="Shape 15"/>
          <p:cNvSpPr/>
          <p:nvPr/>
        </p:nvSpPr>
        <p:spPr>
          <a:xfrm>
            <a:off x="3136392" y="2377440"/>
            <a:ext cx="310896" cy="0"/>
          </a:xfrm>
          <a:prstGeom prst="line">
            <a:avLst/>
          </a:prstGeom>
          <a:noFill/>
          <a:ln w="12700">
            <a:solidFill>
              <a:srgbClr val="7D8AA0"/>
            </a:solidFill>
            <a:prstDash val="solid"/>
          </a:ln>
        </p:spPr>
      </p:sp>
      <p:sp>
        <p:nvSpPr>
          <p:cNvPr id="18" name="Shape 16"/>
          <p:cNvSpPr/>
          <p:nvPr/>
        </p:nvSpPr>
        <p:spPr>
          <a:xfrm>
            <a:off x="3136392" y="2377440"/>
            <a:ext cx="0" cy="384048"/>
          </a:xfrm>
          <a:prstGeom prst="line">
            <a:avLst/>
          </a:prstGeom>
          <a:noFill/>
          <a:ln w="12700">
            <a:solidFill>
              <a:srgbClr val="7D8AA0"/>
            </a:solidFill>
            <a:prstDash val="solid"/>
          </a:ln>
        </p:spPr>
      </p:sp>
      <p:sp>
        <p:nvSpPr>
          <p:cNvPr id="19" name="Shape 17"/>
          <p:cNvSpPr/>
          <p:nvPr/>
        </p:nvSpPr>
        <p:spPr>
          <a:xfrm>
            <a:off x="960120" y="2761488"/>
            <a:ext cx="310896" cy="0"/>
          </a:xfrm>
          <a:prstGeom prst="line">
            <a:avLst/>
          </a:prstGeom>
          <a:noFill/>
          <a:ln w="12700">
            <a:solidFill>
              <a:srgbClr val="7D8AA0"/>
            </a:solidFill>
            <a:prstDash val="solid"/>
          </a:ln>
        </p:spPr>
      </p:sp>
      <p:sp>
        <p:nvSpPr>
          <p:cNvPr id="20" name="Shape 18"/>
          <p:cNvSpPr/>
          <p:nvPr/>
        </p:nvSpPr>
        <p:spPr>
          <a:xfrm>
            <a:off x="960120" y="2761488"/>
            <a:ext cx="0" cy="384048"/>
          </a:xfrm>
          <a:prstGeom prst="line">
            <a:avLst/>
          </a:prstGeom>
          <a:noFill/>
          <a:ln w="12700">
            <a:solidFill>
              <a:srgbClr val="7D8AA0"/>
            </a:solidFill>
            <a:prstDash val="solid"/>
          </a:ln>
        </p:spPr>
      </p:sp>
      <p:sp>
        <p:nvSpPr>
          <p:cNvPr id="21" name="Shape 19"/>
          <p:cNvSpPr/>
          <p:nvPr/>
        </p:nvSpPr>
        <p:spPr>
          <a:xfrm>
            <a:off x="1271016" y="2761488"/>
            <a:ext cx="310896" cy="0"/>
          </a:xfrm>
          <a:prstGeom prst="line">
            <a:avLst/>
          </a:prstGeom>
          <a:noFill/>
          <a:ln w="12700">
            <a:solidFill>
              <a:srgbClr val="7D8AA0"/>
            </a:solidFill>
            <a:prstDash val="solid"/>
          </a:ln>
        </p:spPr>
      </p:sp>
      <p:sp>
        <p:nvSpPr>
          <p:cNvPr id="22" name="Shape 20"/>
          <p:cNvSpPr/>
          <p:nvPr/>
        </p:nvSpPr>
        <p:spPr>
          <a:xfrm>
            <a:off x="1271016" y="2761488"/>
            <a:ext cx="0" cy="384048"/>
          </a:xfrm>
          <a:prstGeom prst="line">
            <a:avLst/>
          </a:prstGeom>
          <a:noFill/>
          <a:ln w="12700">
            <a:solidFill>
              <a:srgbClr val="7D8AA0"/>
            </a:solidFill>
            <a:prstDash val="solid"/>
          </a:ln>
        </p:spPr>
      </p:sp>
      <p:sp>
        <p:nvSpPr>
          <p:cNvPr id="23" name="Shape 21"/>
          <p:cNvSpPr/>
          <p:nvPr/>
        </p:nvSpPr>
        <p:spPr>
          <a:xfrm>
            <a:off x="1581912" y="2761488"/>
            <a:ext cx="310896" cy="0"/>
          </a:xfrm>
          <a:prstGeom prst="line">
            <a:avLst/>
          </a:prstGeom>
          <a:noFill/>
          <a:ln w="12700">
            <a:solidFill>
              <a:srgbClr val="7D8AA0"/>
            </a:solidFill>
            <a:prstDash val="solid"/>
          </a:ln>
        </p:spPr>
      </p:sp>
      <p:sp>
        <p:nvSpPr>
          <p:cNvPr id="24" name="Shape 22"/>
          <p:cNvSpPr/>
          <p:nvPr/>
        </p:nvSpPr>
        <p:spPr>
          <a:xfrm>
            <a:off x="1581912" y="2761488"/>
            <a:ext cx="0" cy="384048"/>
          </a:xfrm>
          <a:prstGeom prst="line">
            <a:avLst/>
          </a:prstGeom>
          <a:noFill/>
          <a:ln w="12700">
            <a:solidFill>
              <a:srgbClr val="7D8AA0"/>
            </a:solidFill>
            <a:prstDash val="solid"/>
          </a:ln>
        </p:spPr>
      </p:sp>
      <p:sp>
        <p:nvSpPr>
          <p:cNvPr id="25" name="Shape 23"/>
          <p:cNvSpPr/>
          <p:nvPr/>
        </p:nvSpPr>
        <p:spPr>
          <a:xfrm>
            <a:off x="1892808" y="2761488"/>
            <a:ext cx="310896" cy="0"/>
          </a:xfrm>
          <a:prstGeom prst="line">
            <a:avLst/>
          </a:prstGeom>
          <a:noFill/>
          <a:ln w="12700">
            <a:solidFill>
              <a:srgbClr val="7D8AA0"/>
            </a:solidFill>
            <a:prstDash val="solid"/>
          </a:ln>
        </p:spPr>
      </p:sp>
      <p:sp>
        <p:nvSpPr>
          <p:cNvPr id="26" name="Shape 24"/>
          <p:cNvSpPr/>
          <p:nvPr/>
        </p:nvSpPr>
        <p:spPr>
          <a:xfrm>
            <a:off x="1892808" y="2761488"/>
            <a:ext cx="0" cy="384048"/>
          </a:xfrm>
          <a:prstGeom prst="line">
            <a:avLst/>
          </a:prstGeom>
          <a:noFill/>
          <a:ln w="12700">
            <a:solidFill>
              <a:srgbClr val="7D8AA0"/>
            </a:solidFill>
            <a:prstDash val="solid"/>
          </a:ln>
        </p:spPr>
      </p:sp>
      <p:sp>
        <p:nvSpPr>
          <p:cNvPr id="27" name="Shape 25"/>
          <p:cNvSpPr/>
          <p:nvPr/>
        </p:nvSpPr>
        <p:spPr>
          <a:xfrm>
            <a:off x="2203704" y="2761488"/>
            <a:ext cx="310896" cy="0"/>
          </a:xfrm>
          <a:prstGeom prst="line">
            <a:avLst/>
          </a:prstGeom>
          <a:noFill/>
          <a:ln w="12700">
            <a:solidFill>
              <a:srgbClr val="7D8AA0"/>
            </a:solidFill>
            <a:prstDash val="solid"/>
          </a:ln>
        </p:spPr>
      </p:sp>
      <p:sp>
        <p:nvSpPr>
          <p:cNvPr id="28" name="Shape 26"/>
          <p:cNvSpPr/>
          <p:nvPr/>
        </p:nvSpPr>
        <p:spPr>
          <a:xfrm>
            <a:off x="2203704" y="2761488"/>
            <a:ext cx="0" cy="384048"/>
          </a:xfrm>
          <a:prstGeom prst="line">
            <a:avLst/>
          </a:prstGeom>
          <a:noFill/>
          <a:ln w="12700">
            <a:solidFill>
              <a:srgbClr val="7D8AA0"/>
            </a:solidFill>
            <a:prstDash val="solid"/>
          </a:ln>
        </p:spPr>
      </p:sp>
      <p:sp>
        <p:nvSpPr>
          <p:cNvPr id="29" name="Shape 27"/>
          <p:cNvSpPr/>
          <p:nvPr/>
        </p:nvSpPr>
        <p:spPr>
          <a:xfrm>
            <a:off x="2514600" y="2761488"/>
            <a:ext cx="310896" cy="0"/>
          </a:xfrm>
          <a:prstGeom prst="line">
            <a:avLst/>
          </a:prstGeom>
          <a:noFill/>
          <a:ln w="12700">
            <a:solidFill>
              <a:srgbClr val="7D8AA0"/>
            </a:solidFill>
            <a:prstDash val="solid"/>
          </a:ln>
        </p:spPr>
      </p:sp>
      <p:sp>
        <p:nvSpPr>
          <p:cNvPr id="30" name="Shape 28"/>
          <p:cNvSpPr/>
          <p:nvPr/>
        </p:nvSpPr>
        <p:spPr>
          <a:xfrm>
            <a:off x="2514600" y="2761488"/>
            <a:ext cx="0" cy="384048"/>
          </a:xfrm>
          <a:prstGeom prst="line">
            <a:avLst/>
          </a:prstGeom>
          <a:noFill/>
          <a:ln w="12700">
            <a:solidFill>
              <a:srgbClr val="7D8AA0"/>
            </a:solidFill>
            <a:prstDash val="solid"/>
          </a:ln>
        </p:spPr>
      </p:sp>
      <p:sp>
        <p:nvSpPr>
          <p:cNvPr id="31" name="Shape 29"/>
          <p:cNvSpPr/>
          <p:nvPr/>
        </p:nvSpPr>
        <p:spPr>
          <a:xfrm>
            <a:off x="2825496" y="2761488"/>
            <a:ext cx="310896" cy="0"/>
          </a:xfrm>
          <a:prstGeom prst="line">
            <a:avLst/>
          </a:prstGeom>
          <a:noFill/>
          <a:ln w="12700">
            <a:solidFill>
              <a:srgbClr val="7D8AA0"/>
            </a:solidFill>
            <a:prstDash val="solid"/>
          </a:ln>
        </p:spPr>
      </p:sp>
      <p:sp>
        <p:nvSpPr>
          <p:cNvPr id="32" name="Shape 30"/>
          <p:cNvSpPr/>
          <p:nvPr/>
        </p:nvSpPr>
        <p:spPr>
          <a:xfrm>
            <a:off x="3136392" y="2761488"/>
            <a:ext cx="310896" cy="0"/>
          </a:xfrm>
          <a:prstGeom prst="line">
            <a:avLst/>
          </a:prstGeom>
          <a:noFill/>
          <a:ln w="12700">
            <a:solidFill>
              <a:srgbClr val="7D8AA0"/>
            </a:solidFill>
            <a:prstDash val="solid"/>
          </a:ln>
        </p:spPr>
      </p:sp>
      <p:sp>
        <p:nvSpPr>
          <p:cNvPr id="33" name="Shape 31"/>
          <p:cNvSpPr/>
          <p:nvPr/>
        </p:nvSpPr>
        <p:spPr>
          <a:xfrm>
            <a:off x="3136392" y="2761488"/>
            <a:ext cx="0" cy="384048"/>
          </a:xfrm>
          <a:prstGeom prst="line">
            <a:avLst/>
          </a:prstGeom>
          <a:noFill/>
          <a:ln w="12700">
            <a:solidFill>
              <a:srgbClr val="7D8AA0"/>
            </a:solidFill>
            <a:prstDash val="solid"/>
          </a:ln>
        </p:spPr>
      </p:sp>
      <p:sp>
        <p:nvSpPr>
          <p:cNvPr id="34" name="Shape 32"/>
          <p:cNvSpPr/>
          <p:nvPr/>
        </p:nvSpPr>
        <p:spPr>
          <a:xfrm>
            <a:off x="3447288" y="2761488"/>
            <a:ext cx="0" cy="384048"/>
          </a:xfrm>
          <a:prstGeom prst="line">
            <a:avLst/>
          </a:prstGeom>
          <a:noFill/>
          <a:ln w="12700">
            <a:solidFill>
              <a:srgbClr val="7D8AA0"/>
            </a:solidFill>
            <a:prstDash val="solid"/>
          </a:ln>
        </p:spPr>
      </p:sp>
      <p:sp>
        <p:nvSpPr>
          <p:cNvPr id="35" name="Shape 33"/>
          <p:cNvSpPr/>
          <p:nvPr/>
        </p:nvSpPr>
        <p:spPr>
          <a:xfrm>
            <a:off x="960120" y="3145536"/>
            <a:ext cx="310896" cy="0"/>
          </a:xfrm>
          <a:prstGeom prst="line">
            <a:avLst/>
          </a:prstGeom>
          <a:noFill/>
          <a:ln w="12700">
            <a:solidFill>
              <a:srgbClr val="7D8AA0"/>
            </a:solidFill>
            <a:prstDash val="solid"/>
          </a:ln>
        </p:spPr>
      </p:sp>
      <p:sp>
        <p:nvSpPr>
          <p:cNvPr id="36" name="Shape 34"/>
          <p:cNvSpPr/>
          <p:nvPr/>
        </p:nvSpPr>
        <p:spPr>
          <a:xfrm>
            <a:off x="1271016" y="3145536"/>
            <a:ext cx="310896" cy="0"/>
          </a:xfrm>
          <a:prstGeom prst="line">
            <a:avLst/>
          </a:prstGeom>
          <a:noFill/>
          <a:ln w="12700">
            <a:solidFill>
              <a:srgbClr val="7D8AA0"/>
            </a:solidFill>
            <a:prstDash val="solid"/>
          </a:ln>
        </p:spPr>
      </p:sp>
      <p:sp>
        <p:nvSpPr>
          <p:cNvPr id="37" name="Shape 35"/>
          <p:cNvSpPr/>
          <p:nvPr/>
        </p:nvSpPr>
        <p:spPr>
          <a:xfrm>
            <a:off x="1581912" y="3145536"/>
            <a:ext cx="310896" cy="0"/>
          </a:xfrm>
          <a:prstGeom prst="line">
            <a:avLst/>
          </a:prstGeom>
          <a:noFill/>
          <a:ln w="12700">
            <a:solidFill>
              <a:srgbClr val="7D8AA0"/>
            </a:solidFill>
            <a:prstDash val="solid"/>
          </a:ln>
        </p:spPr>
      </p:sp>
      <p:sp>
        <p:nvSpPr>
          <p:cNvPr id="38" name="Shape 36"/>
          <p:cNvSpPr/>
          <p:nvPr/>
        </p:nvSpPr>
        <p:spPr>
          <a:xfrm>
            <a:off x="1892808" y="3145536"/>
            <a:ext cx="310896" cy="0"/>
          </a:xfrm>
          <a:prstGeom prst="line">
            <a:avLst/>
          </a:prstGeom>
          <a:noFill/>
          <a:ln w="12700">
            <a:solidFill>
              <a:srgbClr val="7D8AA0"/>
            </a:solidFill>
            <a:prstDash val="solid"/>
          </a:ln>
        </p:spPr>
      </p:sp>
      <p:sp>
        <p:nvSpPr>
          <p:cNvPr id="39" name="Shape 37"/>
          <p:cNvSpPr/>
          <p:nvPr/>
        </p:nvSpPr>
        <p:spPr>
          <a:xfrm>
            <a:off x="2203704" y="3145536"/>
            <a:ext cx="310896" cy="0"/>
          </a:xfrm>
          <a:prstGeom prst="line">
            <a:avLst/>
          </a:prstGeom>
          <a:noFill/>
          <a:ln w="12700">
            <a:solidFill>
              <a:srgbClr val="7D8AA0"/>
            </a:solidFill>
            <a:prstDash val="solid"/>
          </a:ln>
        </p:spPr>
      </p:sp>
      <p:sp>
        <p:nvSpPr>
          <p:cNvPr id="40" name="Shape 38"/>
          <p:cNvSpPr/>
          <p:nvPr/>
        </p:nvSpPr>
        <p:spPr>
          <a:xfrm>
            <a:off x="2514600" y="3145536"/>
            <a:ext cx="310896" cy="0"/>
          </a:xfrm>
          <a:prstGeom prst="line">
            <a:avLst/>
          </a:prstGeom>
          <a:noFill/>
          <a:ln w="12700">
            <a:solidFill>
              <a:srgbClr val="7D8AA0"/>
            </a:solidFill>
            <a:prstDash val="solid"/>
          </a:ln>
        </p:spPr>
      </p:sp>
      <p:sp>
        <p:nvSpPr>
          <p:cNvPr id="41" name="Shape 39"/>
          <p:cNvSpPr/>
          <p:nvPr/>
        </p:nvSpPr>
        <p:spPr>
          <a:xfrm>
            <a:off x="2825496" y="3145536"/>
            <a:ext cx="310896" cy="0"/>
          </a:xfrm>
          <a:prstGeom prst="line">
            <a:avLst/>
          </a:prstGeom>
          <a:noFill/>
          <a:ln w="12700">
            <a:solidFill>
              <a:srgbClr val="7D8AA0"/>
            </a:solidFill>
            <a:prstDash val="solid"/>
          </a:ln>
        </p:spPr>
      </p:sp>
      <p:sp>
        <p:nvSpPr>
          <p:cNvPr id="42" name="Shape 40"/>
          <p:cNvSpPr/>
          <p:nvPr/>
        </p:nvSpPr>
        <p:spPr>
          <a:xfrm>
            <a:off x="1271016" y="2084832"/>
            <a:ext cx="0" cy="292608"/>
          </a:xfrm>
          <a:prstGeom prst="line">
            <a:avLst/>
          </a:prstGeom>
          <a:noFill/>
          <a:ln w="12700">
            <a:solidFill>
              <a:srgbClr val="7D8AA0"/>
            </a:solidFill>
            <a:prstDash val="solid"/>
          </a:ln>
        </p:spPr>
      </p:sp>
      <p:sp>
        <p:nvSpPr>
          <p:cNvPr id="43" name="Shape 41"/>
          <p:cNvSpPr/>
          <p:nvPr/>
        </p:nvSpPr>
        <p:spPr>
          <a:xfrm>
            <a:off x="1229868" y="2043684"/>
            <a:ext cx="82296" cy="82296"/>
          </a:xfrm>
          <a:prstGeom prst="ellipse">
            <a:avLst/>
          </a:prstGeom>
          <a:solidFill>
            <a:srgbClr val="9AA6B6"/>
          </a:solidFill>
          <a:ln/>
        </p:spPr>
      </p:sp>
      <p:sp>
        <p:nvSpPr>
          <p:cNvPr id="44" name="Shape 42"/>
          <p:cNvSpPr/>
          <p:nvPr/>
        </p:nvSpPr>
        <p:spPr>
          <a:xfrm>
            <a:off x="2203704" y="2084832"/>
            <a:ext cx="0" cy="292608"/>
          </a:xfrm>
          <a:prstGeom prst="line">
            <a:avLst/>
          </a:prstGeom>
          <a:noFill/>
          <a:ln w="12700">
            <a:solidFill>
              <a:srgbClr val="7D8AA0"/>
            </a:solidFill>
            <a:prstDash val="solid"/>
          </a:ln>
        </p:spPr>
      </p:sp>
      <p:sp>
        <p:nvSpPr>
          <p:cNvPr id="45" name="Shape 43"/>
          <p:cNvSpPr/>
          <p:nvPr/>
        </p:nvSpPr>
        <p:spPr>
          <a:xfrm>
            <a:off x="2162556" y="2043684"/>
            <a:ext cx="82296" cy="82296"/>
          </a:xfrm>
          <a:prstGeom prst="ellipse">
            <a:avLst/>
          </a:prstGeom>
          <a:solidFill>
            <a:srgbClr val="9AA6B6"/>
          </a:solidFill>
          <a:ln/>
        </p:spPr>
      </p:sp>
      <p:sp>
        <p:nvSpPr>
          <p:cNvPr id="46" name="Shape 44"/>
          <p:cNvSpPr/>
          <p:nvPr/>
        </p:nvSpPr>
        <p:spPr>
          <a:xfrm>
            <a:off x="3136392" y="2084832"/>
            <a:ext cx="0" cy="292608"/>
          </a:xfrm>
          <a:prstGeom prst="line">
            <a:avLst/>
          </a:prstGeom>
          <a:noFill/>
          <a:ln w="12700">
            <a:solidFill>
              <a:srgbClr val="7D8AA0"/>
            </a:solidFill>
            <a:prstDash val="solid"/>
          </a:ln>
        </p:spPr>
      </p:sp>
      <p:sp>
        <p:nvSpPr>
          <p:cNvPr id="47" name="Shape 45"/>
          <p:cNvSpPr/>
          <p:nvPr/>
        </p:nvSpPr>
        <p:spPr>
          <a:xfrm>
            <a:off x="3095244" y="2043684"/>
            <a:ext cx="82296" cy="82296"/>
          </a:xfrm>
          <a:prstGeom prst="ellipse">
            <a:avLst/>
          </a:prstGeom>
          <a:solidFill>
            <a:srgbClr val="9AA6B6"/>
          </a:solidFill>
          <a:ln/>
        </p:spPr>
      </p:sp>
      <p:sp>
        <p:nvSpPr>
          <p:cNvPr id="48" name="Shape 46"/>
          <p:cNvSpPr/>
          <p:nvPr/>
        </p:nvSpPr>
        <p:spPr>
          <a:xfrm>
            <a:off x="1581912" y="3145536"/>
            <a:ext cx="0" cy="292608"/>
          </a:xfrm>
          <a:prstGeom prst="line">
            <a:avLst/>
          </a:prstGeom>
          <a:noFill/>
          <a:ln w="12700">
            <a:solidFill>
              <a:srgbClr val="7D8AA0"/>
            </a:solidFill>
            <a:prstDash val="solid"/>
          </a:ln>
        </p:spPr>
      </p:sp>
      <p:sp>
        <p:nvSpPr>
          <p:cNvPr id="49" name="Shape 47"/>
          <p:cNvSpPr/>
          <p:nvPr/>
        </p:nvSpPr>
        <p:spPr>
          <a:xfrm>
            <a:off x="1540764" y="3396996"/>
            <a:ext cx="82296" cy="82296"/>
          </a:xfrm>
          <a:prstGeom prst="ellipse">
            <a:avLst/>
          </a:prstGeom>
          <a:solidFill>
            <a:srgbClr val="9AA6B6"/>
          </a:solidFill>
          <a:ln/>
        </p:spPr>
      </p:sp>
      <p:sp>
        <p:nvSpPr>
          <p:cNvPr id="50" name="Shape 48"/>
          <p:cNvSpPr/>
          <p:nvPr/>
        </p:nvSpPr>
        <p:spPr>
          <a:xfrm>
            <a:off x="2514600" y="3145536"/>
            <a:ext cx="0" cy="292608"/>
          </a:xfrm>
          <a:prstGeom prst="line">
            <a:avLst/>
          </a:prstGeom>
          <a:noFill/>
          <a:ln w="12700">
            <a:solidFill>
              <a:srgbClr val="7D8AA0"/>
            </a:solidFill>
            <a:prstDash val="solid"/>
          </a:ln>
        </p:spPr>
      </p:sp>
      <p:sp>
        <p:nvSpPr>
          <p:cNvPr id="51" name="Shape 49"/>
          <p:cNvSpPr/>
          <p:nvPr/>
        </p:nvSpPr>
        <p:spPr>
          <a:xfrm>
            <a:off x="2473452" y="3396996"/>
            <a:ext cx="82296" cy="82296"/>
          </a:xfrm>
          <a:prstGeom prst="ellipse">
            <a:avLst/>
          </a:prstGeom>
          <a:solidFill>
            <a:srgbClr val="9AA6B6"/>
          </a:solidFill>
          <a:ln/>
        </p:spPr>
      </p:sp>
      <p:sp>
        <p:nvSpPr>
          <p:cNvPr id="52" name="Shape 50"/>
          <p:cNvSpPr/>
          <p:nvPr/>
        </p:nvSpPr>
        <p:spPr>
          <a:xfrm>
            <a:off x="3447288" y="3145536"/>
            <a:ext cx="0" cy="292608"/>
          </a:xfrm>
          <a:prstGeom prst="line">
            <a:avLst/>
          </a:prstGeom>
          <a:noFill/>
          <a:ln w="12700">
            <a:solidFill>
              <a:srgbClr val="7D8AA0"/>
            </a:solidFill>
            <a:prstDash val="solid"/>
          </a:ln>
        </p:spPr>
      </p:sp>
      <p:sp>
        <p:nvSpPr>
          <p:cNvPr id="53" name="Shape 51"/>
          <p:cNvSpPr/>
          <p:nvPr/>
        </p:nvSpPr>
        <p:spPr>
          <a:xfrm>
            <a:off x="3406140" y="3396996"/>
            <a:ext cx="82296" cy="82296"/>
          </a:xfrm>
          <a:prstGeom prst="ellipse">
            <a:avLst/>
          </a:prstGeom>
          <a:solidFill>
            <a:srgbClr val="9AA6B6"/>
          </a:solidFill>
          <a:ln/>
        </p:spPr>
      </p:sp>
      <p:sp>
        <p:nvSpPr>
          <p:cNvPr id="54" name="Shape 52"/>
          <p:cNvSpPr/>
          <p:nvPr/>
        </p:nvSpPr>
        <p:spPr>
          <a:xfrm>
            <a:off x="704088" y="2761488"/>
            <a:ext cx="256032" cy="0"/>
          </a:xfrm>
          <a:prstGeom prst="line">
            <a:avLst/>
          </a:prstGeom>
          <a:noFill/>
          <a:ln w="12700">
            <a:solidFill>
              <a:srgbClr val="7D8AA0"/>
            </a:solidFill>
            <a:prstDash val="solid"/>
          </a:ln>
        </p:spPr>
      </p:sp>
      <p:sp>
        <p:nvSpPr>
          <p:cNvPr id="55" name="Shape 53"/>
          <p:cNvSpPr/>
          <p:nvPr/>
        </p:nvSpPr>
        <p:spPr>
          <a:xfrm>
            <a:off x="662940" y="2720340"/>
            <a:ext cx="82296" cy="82296"/>
          </a:xfrm>
          <a:prstGeom prst="ellipse">
            <a:avLst/>
          </a:prstGeom>
          <a:solidFill>
            <a:srgbClr val="9AA6B6"/>
          </a:solidFill>
          <a:ln/>
        </p:spPr>
      </p:sp>
      <p:sp>
        <p:nvSpPr>
          <p:cNvPr id="56" name="Shape 54"/>
          <p:cNvSpPr/>
          <p:nvPr/>
        </p:nvSpPr>
        <p:spPr>
          <a:xfrm>
            <a:off x="3447288" y="2761488"/>
            <a:ext cx="256032" cy="0"/>
          </a:xfrm>
          <a:prstGeom prst="line">
            <a:avLst/>
          </a:prstGeom>
          <a:noFill/>
          <a:ln w="12700">
            <a:solidFill>
              <a:srgbClr val="7D8AA0"/>
            </a:solidFill>
            <a:prstDash val="solid"/>
          </a:ln>
        </p:spPr>
      </p:sp>
      <p:sp>
        <p:nvSpPr>
          <p:cNvPr id="57" name="Shape 55"/>
          <p:cNvSpPr/>
          <p:nvPr/>
        </p:nvSpPr>
        <p:spPr>
          <a:xfrm>
            <a:off x="3662172" y="2720340"/>
            <a:ext cx="82296" cy="82296"/>
          </a:xfrm>
          <a:prstGeom prst="ellipse">
            <a:avLst/>
          </a:prstGeom>
          <a:solidFill>
            <a:srgbClr val="9AA6B6"/>
          </a:solidFill>
          <a:ln/>
        </p:spPr>
      </p:sp>
      <p:sp>
        <p:nvSpPr>
          <p:cNvPr id="58" name="Shape 56"/>
          <p:cNvSpPr/>
          <p:nvPr/>
        </p:nvSpPr>
        <p:spPr>
          <a:xfrm>
            <a:off x="914400" y="2331720"/>
            <a:ext cx="91440" cy="91440"/>
          </a:xfrm>
          <a:prstGeom prst="ellipse">
            <a:avLst/>
          </a:prstGeom>
          <a:solidFill>
            <a:srgbClr val="E8ECF2"/>
          </a:solidFill>
          <a:ln/>
        </p:spPr>
      </p:sp>
      <p:sp>
        <p:nvSpPr>
          <p:cNvPr id="59" name="Shape 57"/>
          <p:cNvSpPr/>
          <p:nvPr/>
        </p:nvSpPr>
        <p:spPr>
          <a:xfrm>
            <a:off x="1225296" y="2331720"/>
            <a:ext cx="91440" cy="91440"/>
          </a:xfrm>
          <a:prstGeom prst="ellipse">
            <a:avLst/>
          </a:prstGeom>
          <a:solidFill>
            <a:srgbClr val="E8ECF2"/>
          </a:solidFill>
          <a:ln/>
        </p:spPr>
      </p:sp>
      <p:sp>
        <p:nvSpPr>
          <p:cNvPr id="60" name="Shape 58"/>
          <p:cNvSpPr/>
          <p:nvPr/>
        </p:nvSpPr>
        <p:spPr>
          <a:xfrm>
            <a:off x="1536192" y="2331720"/>
            <a:ext cx="91440" cy="91440"/>
          </a:xfrm>
          <a:prstGeom prst="ellipse">
            <a:avLst/>
          </a:prstGeom>
          <a:solidFill>
            <a:srgbClr val="E8ECF2"/>
          </a:solidFill>
          <a:ln/>
        </p:spPr>
      </p:sp>
      <p:sp>
        <p:nvSpPr>
          <p:cNvPr id="61" name="Shape 59"/>
          <p:cNvSpPr/>
          <p:nvPr/>
        </p:nvSpPr>
        <p:spPr>
          <a:xfrm>
            <a:off x="1847088" y="2331720"/>
            <a:ext cx="91440" cy="91440"/>
          </a:xfrm>
          <a:prstGeom prst="ellipse">
            <a:avLst/>
          </a:prstGeom>
          <a:solidFill>
            <a:srgbClr val="E8ECF2"/>
          </a:solidFill>
          <a:ln/>
        </p:spPr>
      </p:sp>
      <p:sp>
        <p:nvSpPr>
          <p:cNvPr id="62" name="Shape 60"/>
          <p:cNvSpPr/>
          <p:nvPr/>
        </p:nvSpPr>
        <p:spPr>
          <a:xfrm>
            <a:off x="2157984" y="2331720"/>
            <a:ext cx="91440" cy="91440"/>
          </a:xfrm>
          <a:prstGeom prst="ellipse">
            <a:avLst/>
          </a:prstGeom>
          <a:solidFill>
            <a:srgbClr val="E8ECF2"/>
          </a:solidFill>
          <a:ln/>
        </p:spPr>
      </p:sp>
      <p:sp>
        <p:nvSpPr>
          <p:cNvPr id="63" name="Shape 61"/>
          <p:cNvSpPr/>
          <p:nvPr/>
        </p:nvSpPr>
        <p:spPr>
          <a:xfrm>
            <a:off x="2468880" y="2331720"/>
            <a:ext cx="91440" cy="91440"/>
          </a:xfrm>
          <a:prstGeom prst="ellipse">
            <a:avLst/>
          </a:prstGeom>
          <a:solidFill>
            <a:srgbClr val="E8ECF2"/>
          </a:solidFill>
          <a:ln/>
        </p:spPr>
      </p:sp>
      <p:sp>
        <p:nvSpPr>
          <p:cNvPr id="64" name="Shape 62"/>
          <p:cNvSpPr/>
          <p:nvPr/>
        </p:nvSpPr>
        <p:spPr>
          <a:xfrm>
            <a:off x="2779776" y="2331720"/>
            <a:ext cx="91440" cy="91440"/>
          </a:xfrm>
          <a:prstGeom prst="ellipse">
            <a:avLst/>
          </a:prstGeom>
          <a:solidFill>
            <a:srgbClr val="E8ECF2"/>
          </a:solidFill>
          <a:ln/>
        </p:spPr>
      </p:sp>
      <p:sp>
        <p:nvSpPr>
          <p:cNvPr id="65" name="Shape 63"/>
          <p:cNvSpPr/>
          <p:nvPr/>
        </p:nvSpPr>
        <p:spPr>
          <a:xfrm>
            <a:off x="3090672" y="2331720"/>
            <a:ext cx="91440" cy="91440"/>
          </a:xfrm>
          <a:prstGeom prst="ellipse">
            <a:avLst/>
          </a:prstGeom>
          <a:solidFill>
            <a:srgbClr val="E8ECF2"/>
          </a:solidFill>
          <a:ln/>
        </p:spPr>
      </p:sp>
      <p:sp>
        <p:nvSpPr>
          <p:cNvPr id="66" name="Shape 64"/>
          <p:cNvSpPr/>
          <p:nvPr/>
        </p:nvSpPr>
        <p:spPr>
          <a:xfrm>
            <a:off x="3401568" y="2331720"/>
            <a:ext cx="91440" cy="91440"/>
          </a:xfrm>
          <a:prstGeom prst="ellipse">
            <a:avLst/>
          </a:prstGeom>
          <a:solidFill>
            <a:srgbClr val="E8ECF2"/>
          </a:solidFill>
          <a:ln/>
        </p:spPr>
      </p:sp>
      <p:sp>
        <p:nvSpPr>
          <p:cNvPr id="67" name="Shape 65"/>
          <p:cNvSpPr/>
          <p:nvPr/>
        </p:nvSpPr>
        <p:spPr>
          <a:xfrm>
            <a:off x="914400" y="2715768"/>
            <a:ext cx="91440" cy="91440"/>
          </a:xfrm>
          <a:prstGeom prst="ellipse">
            <a:avLst/>
          </a:prstGeom>
          <a:solidFill>
            <a:srgbClr val="E8ECF2"/>
          </a:solidFill>
          <a:ln/>
        </p:spPr>
      </p:sp>
      <p:sp>
        <p:nvSpPr>
          <p:cNvPr id="68" name="Shape 66"/>
          <p:cNvSpPr/>
          <p:nvPr/>
        </p:nvSpPr>
        <p:spPr>
          <a:xfrm>
            <a:off x="1225296" y="2715768"/>
            <a:ext cx="91440" cy="91440"/>
          </a:xfrm>
          <a:prstGeom prst="ellipse">
            <a:avLst/>
          </a:prstGeom>
          <a:solidFill>
            <a:srgbClr val="E8ECF2"/>
          </a:solidFill>
          <a:ln/>
        </p:spPr>
      </p:sp>
      <p:sp>
        <p:nvSpPr>
          <p:cNvPr id="69" name="Shape 67"/>
          <p:cNvSpPr/>
          <p:nvPr/>
        </p:nvSpPr>
        <p:spPr>
          <a:xfrm>
            <a:off x="1536192" y="2715768"/>
            <a:ext cx="91440" cy="91440"/>
          </a:xfrm>
          <a:prstGeom prst="ellipse">
            <a:avLst/>
          </a:prstGeom>
          <a:solidFill>
            <a:srgbClr val="E8ECF2"/>
          </a:solidFill>
          <a:ln/>
        </p:spPr>
      </p:sp>
      <p:sp>
        <p:nvSpPr>
          <p:cNvPr id="70" name="Shape 68"/>
          <p:cNvSpPr/>
          <p:nvPr/>
        </p:nvSpPr>
        <p:spPr>
          <a:xfrm>
            <a:off x="1847088" y="2715768"/>
            <a:ext cx="91440" cy="91440"/>
          </a:xfrm>
          <a:prstGeom prst="ellipse">
            <a:avLst/>
          </a:prstGeom>
          <a:solidFill>
            <a:srgbClr val="E8ECF2"/>
          </a:solidFill>
          <a:ln/>
        </p:spPr>
      </p:sp>
      <p:sp>
        <p:nvSpPr>
          <p:cNvPr id="71" name="Shape 69"/>
          <p:cNvSpPr/>
          <p:nvPr/>
        </p:nvSpPr>
        <p:spPr>
          <a:xfrm>
            <a:off x="2157984" y="2715768"/>
            <a:ext cx="91440" cy="91440"/>
          </a:xfrm>
          <a:prstGeom prst="ellipse">
            <a:avLst/>
          </a:prstGeom>
          <a:solidFill>
            <a:srgbClr val="E8ECF2"/>
          </a:solidFill>
          <a:ln/>
        </p:spPr>
      </p:sp>
      <p:sp>
        <p:nvSpPr>
          <p:cNvPr id="72" name="Shape 70"/>
          <p:cNvSpPr/>
          <p:nvPr/>
        </p:nvSpPr>
        <p:spPr>
          <a:xfrm>
            <a:off x="2468880" y="2715768"/>
            <a:ext cx="91440" cy="91440"/>
          </a:xfrm>
          <a:prstGeom prst="ellipse">
            <a:avLst/>
          </a:prstGeom>
          <a:solidFill>
            <a:srgbClr val="E8ECF2"/>
          </a:solidFill>
          <a:ln/>
        </p:spPr>
      </p:sp>
      <p:sp>
        <p:nvSpPr>
          <p:cNvPr id="73" name="Shape 71"/>
          <p:cNvSpPr/>
          <p:nvPr/>
        </p:nvSpPr>
        <p:spPr>
          <a:xfrm>
            <a:off x="2779776" y="2715768"/>
            <a:ext cx="91440" cy="91440"/>
          </a:xfrm>
          <a:prstGeom prst="ellipse">
            <a:avLst/>
          </a:prstGeom>
          <a:solidFill>
            <a:srgbClr val="E8ECF2"/>
          </a:solidFill>
          <a:ln/>
        </p:spPr>
      </p:sp>
      <p:sp>
        <p:nvSpPr>
          <p:cNvPr id="74" name="Shape 72"/>
          <p:cNvSpPr/>
          <p:nvPr/>
        </p:nvSpPr>
        <p:spPr>
          <a:xfrm>
            <a:off x="3090672" y="2715768"/>
            <a:ext cx="91440" cy="91440"/>
          </a:xfrm>
          <a:prstGeom prst="ellipse">
            <a:avLst/>
          </a:prstGeom>
          <a:solidFill>
            <a:srgbClr val="E8ECF2"/>
          </a:solidFill>
          <a:ln/>
        </p:spPr>
      </p:sp>
      <p:sp>
        <p:nvSpPr>
          <p:cNvPr id="75" name="Shape 73"/>
          <p:cNvSpPr/>
          <p:nvPr/>
        </p:nvSpPr>
        <p:spPr>
          <a:xfrm>
            <a:off x="3401568" y="2715768"/>
            <a:ext cx="91440" cy="91440"/>
          </a:xfrm>
          <a:prstGeom prst="ellipse">
            <a:avLst/>
          </a:prstGeom>
          <a:solidFill>
            <a:srgbClr val="E8ECF2"/>
          </a:solidFill>
          <a:ln/>
        </p:spPr>
      </p:sp>
      <p:sp>
        <p:nvSpPr>
          <p:cNvPr id="76" name="Shape 74"/>
          <p:cNvSpPr/>
          <p:nvPr/>
        </p:nvSpPr>
        <p:spPr>
          <a:xfrm>
            <a:off x="914400" y="3099816"/>
            <a:ext cx="91440" cy="91440"/>
          </a:xfrm>
          <a:prstGeom prst="ellipse">
            <a:avLst/>
          </a:prstGeom>
          <a:solidFill>
            <a:srgbClr val="E8ECF2"/>
          </a:solidFill>
          <a:ln/>
        </p:spPr>
      </p:sp>
      <p:sp>
        <p:nvSpPr>
          <p:cNvPr id="77" name="Shape 75"/>
          <p:cNvSpPr/>
          <p:nvPr/>
        </p:nvSpPr>
        <p:spPr>
          <a:xfrm>
            <a:off x="1225296" y="3099816"/>
            <a:ext cx="91440" cy="91440"/>
          </a:xfrm>
          <a:prstGeom prst="ellipse">
            <a:avLst/>
          </a:prstGeom>
          <a:solidFill>
            <a:srgbClr val="E8ECF2"/>
          </a:solidFill>
          <a:ln/>
        </p:spPr>
      </p:sp>
      <p:sp>
        <p:nvSpPr>
          <p:cNvPr id="78" name="Shape 76"/>
          <p:cNvSpPr/>
          <p:nvPr/>
        </p:nvSpPr>
        <p:spPr>
          <a:xfrm>
            <a:off x="1536192" y="3099816"/>
            <a:ext cx="91440" cy="91440"/>
          </a:xfrm>
          <a:prstGeom prst="ellipse">
            <a:avLst/>
          </a:prstGeom>
          <a:solidFill>
            <a:srgbClr val="E8ECF2"/>
          </a:solidFill>
          <a:ln/>
        </p:spPr>
      </p:sp>
      <p:sp>
        <p:nvSpPr>
          <p:cNvPr id="79" name="Shape 77"/>
          <p:cNvSpPr/>
          <p:nvPr/>
        </p:nvSpPr>
        <p:spPr>
          <a:xfrm>
            <a:off x="1847088" y="3099816"/>
            <a:ext cx="91440" cy="91440"/>
          </a:xfrm>
          <a:prstGeom prst="ellipse">
            <a:avLst/>
          </a:prstGeom>
          <a:solidFill>
            <a:srgbClr val="E8ECF2"/>
          </a:solidFill>
          <a:ln/>
        </p:spPr>
      </p:sp>
      <p:sp>
        <p:nvSpPr>
          <p:cNvPr id="80" name="Shape 78"/>
          <p:cNvSpPr/>
          <p:nvPr/>
        </p:nvSpPr>
        <p:spPr>
          <a:xfrm>
            <a:off x="2157984" y="3099816"/>
            <a:ext cx="91440" cy="91440"/>
          </a:xfrm>
          <a:prstGeom prst="ellipse">
            <a:avLst/>
          </a:prstGeom>
          <a:solidFill>
            <a:srgbClr val="E8ECF2"/>
          </a:solidFill>
          <a:ln/>
        </p:spPr>
      </p:sp>
      <p:sp>
        <p:nvSpPr>
          <p:cNvPr id="81" name="Shape 79"/>
          <p:cNvSpPr/>
          <p:nvPr/>
        </p:nvSpPr>
        <p:spPr>
          <a:xfrm>
            <a:off x="2468880" y="3099816"/>
            <a:ext cx="91440" cy="91440"/>
          </a:xfrm>
          <a:prstGeom prst="ellipse">
            <a:avLst/>
          </a:prstGeom>
          <a:solidFill>
            <a:srgbClr val="E8ECF2"/>
          </a:solidFill>
          <a:ln/>
        </p:spPr>
      </p:sp>
      <p:sp>
        <p:nvSpPr>
          <p:cNvPr id="82" name="Shape 80"/>
          <p:cNvSpPr/>
          <p:nvPr/>
        </p:nvSpPr>
        <p:spPr>
          <a:xfrm>
            <a:off x="2779776" y="3099816"/>
            <a:ext cx="91440" cy="91440"/>
          </a:xfrm>
          <a:prstGeom prst="ellipse">
            <a:avLst/>
          </a:prstGeom>
          <a:solidFill>
            <a:srgbClr val="E8ECF2"/>
          </a:solidFill>
          <a:ln/>
        </p:spPr>
      </p:sp>
      <p:sp>
        <p:nvSpPr>
          <p:cNvPr id="83" name="Shape 81"/>
          <p:cNvSpPr/>
          <p:nvPr/>
        </p:nvSpPr>
        <p:spPr>
          <a:xfrm>
            <a:off x="3090672" y="3099816"/>
            <a:ext cx="91440" cy="91440"/>
          </a:xfrm>
          <a:prstGeom prst="ellipse">
            <a:avLst/>
          </a:prstGeom>
          <a:solidFill>
            <a:srgbClr val="E8ECF2"/>
          </a:solidFill>
          <a:ln/>
        </p:spPr>
      </p:sp>
      <p:sp>
        <p:nvSpPr>
          <p:cNvPr id="84" name="Shape 82"/>
          <p:cNvSpPr/>
          <p:nvPr/>
        </p:nvSpPr>
        <p:spPr>
          <a:xfrm>
            <a:off x="3401568" y="3099816"/>
            <a:ext cx="91440" cy="91440"/>
          </a:xfrm>
          <a:prstGeom prst="ellipse">
            <a:avLst/>
          </a:prstGeom>
          <a:solidFill>
            <a:srgbClr val="E8ECF2"/>
          </a:solidFill>
          <a:ln/>
        </p:spPr>
      </p:sp>
      <p:sp>
        <p:nvSpPr>
          <p:cNvPr id="85" name="Shape 83"/>
          <p:cNvSpPr/>
          <p:nvPr/>
        </p:nvSpPr>
        <p:spPr>
          <a:xfrm>
            <a:off x="5462500" y="2289320"/>
            <a:ext cx="1190801" cy="0"/>
          </a:xfrm>
          <a:prstGeom prst="line">
            <a:avLst/>
          </a:prstGeom>
          <a:noFill/>
          <a:ln w="11430">
            <a:solidFill>
              <a:srgbClr val="7D8AA0"/>
            </a:solidFill>
            <a:prstDash val="solid"/>
          </a:ln>
        </p:spPr>
      </p:sp>
      <p:sp>
        <p:nvSpPr>
          <p:cNvPr id="86" name="Shape 84"/>
          <p:cNvSpPr/>
          <p:nvPr/>
        </p:nvSpPr>
        <p:spPr>
          <a:xfrm flipV="1">
            <a:off x="5922934" y="3054752"/>
            <a:ext cx="865333" cy="499600"/>
          </a:xfrm>
          <a:prstGeom prst="line">
            <a:avLst/>
          </a:prstGeom>
          <a:noFill/>
          <a:ln w="11430">
            <a:solidFill>
              <a:srgbClr val="7D8AA0"/>
            </a:solidFill>
            <a:prstDash val="solid"/>
          </a:ln>
        </p:spPr>
      </p:sp>
      <p:sp>
        <p:nvSpPr>
          <p:cNvPr id="87" name="Shape 85"/>
          <p:cNvSpPr/>
          <p:nvPr/>
        </p:nvSpPr>
        <p:spPr>
          <a:xfrm>
            <a:off x="5922934" y="2023488"/>
            <a:ext cx="269933" cy="1530864"/>
          </a:xfrm>
          <a:prstGeom prst="line">
            <a:avLst/>
          </a:prstGeom>
          <a:noFill/>
          <a:ln w="11430">
            <a:solidFill>
              <a:srgbClr val="7D8AA0"/>
            </a:solidFill>
            <a:prstDash val="solid"/>
          </a:ln>
        </p:spPr>
      </p:sp>
      <p:sp>
        <p:nvSpPr>
          <p:cNvPr id="88" name="Shape 86"/>
          <p:cNvSpPr/>
          <p:nvPr/>
        </p:nvSpPr>
        <p:spPr>
          <a:xfrm flipV="1">
            <a:off x="5922934" y="3462030"/>
            <a:ext cx="523586" cy="92322"/>
          </a:xfrm>
          <a:prstGeom prst="line">
            <a:avLst/>
          </a:prstGeom>
          <a:noFill/>
          <a:ln w="11430">
            <a:solidFill>
              <a:srgbClr val="7D8AA0"/>
            </a:solidFill>
            <a:prstDash val="solid"/>
          </a:ln>
        </p:spPr>
      </p:sp>
      <p:sp>
        <p:nvSpPr>
          <p:cNvPr id="89" name="Shape 87"/>
          <p:cNvSpPr/>
          <p:nvPr/>
        </p:nvSpPr>
        <p:spPr>
          <a:xfrm flipV="1">
            <a:off x="5669280" y="2023488"/>
            <a:ext cx="523586" cy="1438542"/>
          </a:xfrm>
          <a:prstGeom prst="line">
            <a:avLst/>
          </a:prstGeom>
          <a:noFill/>
          <a:ln w="11430">
            <a:solidFill>
              <a:srgbClr val="7D8AA0"/>
            </a:solidFill>
            <a:prstDash val="solid"/>
          </a:ln>
        </p:spPr>
      </p:sp>
      <p:sp>
        <p:nvSpPr>
          <p:cNvPr id="90" name="Shape 88"/>
          <p:cNvSpPr/>
          <p:nvPr/>
        </p:nvSpPr>
        <p:spPr>
          <a:xfrm flipV="1">
            <a:off x="5462500" y="2115810"/>
            <a:ext cx="984020" cy="173509"/>
          </a:xfrm>
          <a:prstGeom prst="line">
            <a:avLst/>
          </a:prstGeom>
          <a:noFill/>
          <a:ln w="11430">
            <a:solidFill>
              <a:srgbClr val="7D8AA0"/>
            </a:solidFill>
            <a:prstDash val="solid"/>
          </a:ln>
        </p:spPr>
      </p:sp>
      <p:sp>
        <p:nvSpPr>
          <p:cNvPr id="91" name="Shape 89"/>
          <p:cNvSpPr/>
          <p:nvPr/>
        </p:nvSpPr>
        <p:spPr>
          <a:xfrm flipV="1">
            <a:off x="5280660" y="2523088"/>
            <a:ext cx="1507607" cy="265832"/>
          </a:xfrm>
          <a:prstGeom prst="line">
            <a:avLst/>
          </a:prstGeom>
          <a:noFill/>
          <a:ln w="11430">
            <a:solidFill>
              <a:srgbClr val="7D8AA0"/>
            </a:solidFill>
            <a:prstDash val="solid"/>
          </a:ln>
        </p:spPr>
      </p:sp>
      <p:sp>
        <p:nvSpPr>
          <p:cNvPr id="92" name="Shape 90"/>
          <p:cNvSpPr/>
          <p:nvPr/>
        </p:nvSpPr>
        <p:spPr>
          <a:xfrm>
            <a:off x="5327533" y="3054752"/>
            <a:ext cx="595400" cy="499600"/>
          </a:xfrm>
          <a:prstGeom prst="line">
            <a:avLst/>
          </a:prstGeom>
          <a:noFill/>
          <a:ln w="11430">
            <a:solidFill>
              <a:srgbClr val="7D8AA0"/>
            </a:solidFill>
            <a:prstDash val="solid"/>
          </a:ln>
        </p:spPr>
      </p:sp>
      <p:sp>
        <p:nvSpPr>
          <p:cNvPr id="93" name="Shape 91"/>
          <p:cNvSpPr/>
          <p:nvPr/>
        </p:nvSpPr>
        <p:spPr>
          <a:xfrm>
            <a:off x="5327533" y="2523088"/>
            <a:ext cx="0" cy="531663"/>
          </a:xfrm>
          <a:prstGeom prst="line">
            <a:avLst/>
          </a:prstGeom>
          <a:noFill/>
          <a:ln w="11430">
            <a:solidFill>
              <a:srgbClr val="7D8AA0"/>
            </a:solidFill>
            <a:prstDash val="solid"/>
          </a:ln>
        </p:spPr>
      </p:sp>
      <p:sp>
        <p:nvSpPr>
          <p:cNvPr id="94" name="Shape 92"/>
          <p:cNvSpPr/>
          <p:nvPr/>
        </p:nvSpPr>
        <p:spPr>
          <a:xfrm>
            <a:off x="6192866" y="2023488"/>
            <a:ext cx="0" cy="1530864"/>
          </a:xfrm>
          <a:prstGeom prst="line">
            <a:avLst/>
          </a:prstGeom>
          <a:noFill/>
          <a:ln w="11430">
            <a:solidFill>
              <a:srgbClr val="7D8AA0"/>
            </a:solidFill>
            <a:prstDash val="solid"/>
          </a:ln>
        </p:spPr>
      </p:sp>
      <p:sp>
        <p:nvSpPr>
          <p:cNvPr id="95" name="Shape 93"/>
          <p:cNvSpPr/>
          <p:nvPr/>
        </p:nvSpPr>
        <p:spPr>
          <a:xfrm>
            <a:off x="6192866" y="2023488"/>
            <a:ext cx="460434" cy="1265032"/>
          </a:xfrm>
          <a:prstGeom prst="line">
            <a:avLst/>
          </a:prstGeom>
          <a:noFill/>
          <a:ln w="11430">
            <a:solidFill>
              <a:srgbClr val="7D8AA0"/>
            </a:solidFill>
            <a:prstDash val="solid"/>
          </a:ln>
        </p:spPr>
      </p:sp>
      <p:sp>
        <p:nvSpPr>
          <p:cNvPr id="96" name="Shape 94"/>
          <p:cNvSpPr/>
          <p:nvPr/>
        </p:nvSpPr>
        <p:spPr>
          <a:xfrm flipV="1">
            <a:off x="5922934" y="2788920"/>
            <a:ext cx="912206" cy="765432"/>
          </a:xfrm>
          <a:prstGeom prst="line">
            <a:avLst/>
          </a:prstGeom>
          <a:noFill/>
          <a:ln w="11430">
            <a:solidFill>
              <a:srgbClr val="7D8AA0"/>
            </a:solidFill>
            <a:prstDash val="solid"/>
          </a:ln>
        </p:spPr>
      </p:sp>
      <p:sp>
        <p:nvSpPr>
          <p:cNvPr id="97" name="Shape 95"/>
          <p:cNvSpPr/>
          <p:nvPr/>
        </p:nvSpPr>
        <p:spPr>
          <a:xfrm>
            <a:off x="5280660" y="2788920"/>
            <a:ext cx="181840" cy="499600"/>
          </a:xfrm>
          <a:prstGeom prst="line">
            <a:avLst/>
          </a:prstGeom>
          <a:noFill/>
          <a:ln w="11430">
            <a:solidFill>
              <a:srgbClr val="7D8AA0"/>
            </a:solidFill>
            <a:prstDash val="solid"/>
          </a:ln>
        </p:spPr>
      </p:sp>
      <p:sp>
        <p:nvSpPr>
          <p:cNvPr id="98" name="Shape 96"/>
          <p:cNvSpPr/>
          <p:nvPr/>
        </p:nvSpPr>
        <p:spPr>
          <a:xfrm flipV="1">
            <a:off x="5327533" y="2289320"/>
            <a:ext cx="134966" cy="233769"/>
          </a:xfrm>
          <a:prstGeom prst="line">
            <a:avLst/>
          </a:prstGeom>
          <a:noFill/>
          <a:ln w="11430">
            <a:solidFill>
              <a:srgbClr val="7D8AA0"/>
            </a:solidFill>
            <a:prstDash val="solid"/>
          </a:ln>
        </p:spPr>
      </p:sp>
      <p:sp>
        <p:nvSpPr>
          <p:cNvPr id="99" name="Shape 97"/>
          <p:cNvSpPr/>
          <p:nvPr/>
        </p:nvSpPr>
        <p:spPr>
          <a:xfrm flipV="1">
            <a:off x="5669280" y="2023488"/>
            <a:ext cx="253654" cy="1438542"/>
          </a:xfrm>
          <a:prstGeom prst="line">
            <a:avLst/>
          </a:prstGeom>
          <a:noFill/>
          <a:ln w="11430">
            <a:solidFill>
              <a:srgbClr val="7D8AA0"/>
            </a:solidFill>
            <a:prstDash val="solid"/>
          </a:ln>
        </p:spPr>
      </p:sp>
      <p:sp>
        <p:nvSpPr>
          <p:cNvPr id="100" name="Shape 98"/>
          <p:cNvSpPr/>
          <p:nvPr/>
        </p:nvSpPr>
        <p:spPr>
          <a:xfrm>
            <a:off x="6446520" y="2115810"/>
            <a:ext cx="388620" cy="673110"/>
          </a:xfrm>
          <a:prstGeom prst="line">
            <a:avLst/>
          </a:prstGeom>
          <a:noFill/>
          <a:ln w="11430">
            <a:solidFill>
              <a:srgbClr val="7D8AA0"/>
            </a:solidFill>
            <a:prstDash val="solid"/>
          </a:ln>
        </p:spPr>
      </p:sp>
      <p:sp>
        <p:nvSpPr>
          <p:cNvPr id="101" name="Shape 99"/>
          <p:cNvSpPr/>
          <p:nvPr/>
        </p:nvSpPr>
        <p:spPr>
          <a:xfrm flipV="1">
            <a:off x="5462500" y="3054752"/>
            <a:ext cx="1325767" cy="233769"/>
          </a:xfrm>
          <a:prstGeom prst="line">
            <a:avLst/>
          </a:prstGeom>
          <a:noFill/>
          <a:ln w="11430">
            <a:solidFill>
              <a:srgbClr val="7D8AA0"/>
            </a:solidFill>
            <a:prstDash val="solid"/>
          </a:ln>
        </p:spPr>
      </p:sp>
      <p:sp>
        <p:nvSpPr>
          <p:cNvPr id="102" name="Shape 100"/>
          <p:cNvSpPr/>
          <p:nvPr/>
        </p:nvSpPr>
        <p:spPr>
          <a:xfrm>
            <a:off x="6446520" y="2115810"/>
            <a:ext cx="341747" cy="938941"/>
          </a:xfrm>
          <a:prstGeom prst="line">
            <a:avLst/>
          </a:prstGeom>
          <a:noFill/>
          <a:ln w="11430">
            <a:solidFill>
              <a:srgbClr val="7D8AA0"/>
            </a:solidFill>
            <a:prstDash val="solid"/>
          </a:ln>
        </p:spPr>
      </p:sp>
      <p:sp>
        <p:nvSpPr>
          <p:cNvPr id="103" name="Shape 101"/>
          <p:cNvSpPr/>
          <p:nvPr/>
        </p:nvSpPr>
        <p:spPr>
          <a:xfrm flipV="1">
            <a:off x="5462500" y="2023488"/>
            <a:ext cx="730367" cy="265832"/>
          </a:xfrm>
          <a:prstGeom prst="line">
            <a:avLst/>
          </a:prstGeom>
          <a:noFill/>
          <a:ln w="11430">
            <a:solidFill>
              <a:srgbClr val="7D8AA0"/>
            </a:solidFill>
            <a:prstDash val="solid"/>
          </a:ln>
        </p:spPr>
      </p:sp>
      <p:sp>
        <p:nvSpPr>
          <p:cNvPr id="104" name="Shape 102"/>
          <p:cNvSpPr/>
          <p:nvPr/>
        </p:nvSpPr>
        <p:spPr>
          <a:xfrm flipV="1">
            <a:off x="5669280" y="2115810"/>
            <a:ext cx="777240" cy="1346219"/>
          </a:xfrm>
          <a:prstGeom prst="line">
            <a:avLst/>
          </a:prstGeom>
          <a:noFill/>
          <a:ln w="11430">
            <a:solidFill>
              <a:srgbClr val="7D8AA0"/>
            </a:solidFill>
            <a:prstDash val="solid"/>
          </a:ln>
        </p:spPr>
      </p:sp>
      <p:sp>
        <p:nvSpPr>
          <p:cNvPr id="105" name="Shape 103"/>
          <p:cNvSpPr/>
          <p:nvPr/>
        </p:nvSpPr>
        <p:spPr>
          <a:xfrm>
            <a:off x="5922934" y="2023488"/>
            <a:ext cx="269933" cy="0"/>
          </a:xfrm>
          <a:prstGeom prst="line">
            <a:avLst/>
          </a:prstGeom>
          <a:noFill/>
          <a:ln w="11430">
            <a:solidFill>
              <a:srgbClr val="7D8AA0"/>
            </a:solidFill>
            <a:prstDash val="solid"/>
          </a:ln>
        </p:spPr>
      </p:sp>
      <p:sp>
        <p:nvSpPr>
          <p:cNvPr id="106" name="Shape 104"/>
          <p:cNvSpPr/>
          <p:nvPr/>
        </p:nvSpPr>
        <p:spPr>
          <a:xfrm flipV="1">
            <a:off x="5327533" y="2115810"/>
            <a:ext cx="341747" cy="407278"/>
          </a:xfrm>
          <a:prstGeom prst="line">
            <a:avLst/>
          </a:prstGeom>
          <a:noFill/>
          <a:ln w="11430">
            <a:solidFill>
              <a:srgbClr val="7D8AA0"/>
            </a:solidFill>
            <a:prstDash val="solid"/>
          </a:ln>
        </p:spPr>
      </p:sp>
      <p:sp>
        <p:nvSpPr>
          <p:cNvPr id="107" name="Shape 105"/>
          <p:cNvSpPr/>
          <p:nvPr/>
        </p:nvSpPr>
        <p:spPr>
          <a:xfrm flipV="1">
            <a:off x="5922934" y="2115810"/>
            <a:ext cx="523586" cy="1438542"/>
          </a:xfrm>
          <a:prstGeom prst="line">
            <a:avLst/>
          </a:prstGeom>
          <a:noFill/>
          <a:ln w="11430">
            <a:solidFill>
              <a:srgbClr val="7D8AA0"/>
            </a:solidFill>
            <a:prstDash val="solid"/>
          </a:ln>
        </p:spPr>
      </p:sp>
      <p:sp>
        <p:nvSpPr>
          <p:cNvPr id="108" name="Shape 106"/>
          <p:cNvSpPr/>
          <p:nvPr/>
        </p:nvSpPr>
        <p:spPr>
          <a:xfrm>
            <a:off x="5922934" y="2023488"/>
            <a:ext cx="269933" cy="0"/>
          </a:xfrm>
          <a:prstGeom prst="line">
            <a:avLst/>
          </a:prstGeom>
          <a:noFill/>
          <a:ln w="11430">
            <a:solidFill>
              <a:srgbClr val="7D8AA0"/>
            </a:solidFill>
            <a:prstDash val="solid"/>
          </a:ln>
        </p:spPr>
      </p:sp>
      <p:sp>
        <p:nvSpPr>
          <p:cNvPr id="109" name="Shape 107"/>
          <p:cNvSpPr/>
          <p:nvPr/>
        </p:nvSpPr>
        <p:spPr>
          <a:xfrm flipV="1">
            <a:off x="5327533" y="2289320"/>
            <a:ext cx="134966" cy="765432"/>
          </a:xfrm>
          <a:prstGeom prst="line">
            <a:avLst/>
          </a:prstGeom>
          <a:noFill/>
          <a:ln w="11430">
            <a:solidFill>
              <a:srgbClr val="7D8AA0"/>
            </a:solidFill>
            <a:prstDash val="solid"/>
          </a:ln>
        </p:spPr>
      </p:sp>
      <p:sp>
        <p:nvSpPr>
          <p:cNvPr id="110" name="Shape 108"/>
          <p:cNvSpPr/>
          <p:nvPr/>
        </p:nvSpPr>
        <p:spPr>
          <a:xfrm>
            <a:off x="5922934" y="2023488"/>
            <a:ext cx="0" cy="1530864"/>
          </a:xfrm>
          <a:prstGeom prst="line">
            <a:avLst/>
          </a:prstGeom>
          <a:noFill/>
          <a:ln w="11430">
            <a:solidFill>
              <a:srgbClr val="7D8AA0"/>
            </a:solidFill>
            <a:prstDash val="solid"/>
          </a:ln>
        </p:spPr>
      </p:sp>
      <p:sp>
        <p:nvSpPr>
          <p:cNvPr id="111" name="Shape 109"/>
          <p:cNvSpPr/>
          <p:nvPr/>
        </p:nvSpPr>
        <p:spPr>
          <a:xfrm>
            <a:off x="5280660" y="2788920"/>
            <a:ext cx="1165860" cy="673110"/>
          </a:xfrm>
          <a:prstGeom prst="line">
            <a:avLst/>
          </a:prstGeom>
          <a:noFill/>
          <a:ln w="11430">
            <a:solidFill>
              <a:srgbClr val="7D8AA0"/>
            </a:solidFill>
            <a:prstDash val="solid"/>
          </a:ln>
        </p:spPr>
      </p:sp>
      <p:sp>
        <p:nvSpPr>
          <p:cNvPr id="112" name="Shape 110"/>
          <p:cNvSpPr/>
          <p:nvPr/>
        </p:nvSpPr>
        <p:spPr>
          <a:xfrm>
            <a:off x="5669280" y="3462030"/>
            <a:ext cx="777240" cy="0"/>
          </a:xfrm>
          <a:prstGeom prst="line">
            <a:avLst/>
          </a:prstGeom>
          <a:noFill/>
          <a:ln w="11430">
            <a:solidFill>
              <a:srgbClr val="7D8AA0"/>
            </a:solidFill>
            <a:prstDash val="solid"/>
          </a:ln>
        </p:spPr>
      </p:sp>
      <p:sp>
        <p:nvSpPr>
          <p:cNvPr id="113" name="Shape 111"/>
          <p:cNvSpPr/>
          <p:nvPr/>
        </p:nvSpPr>
        <p:spPr>
          <a:xfrm flipV="1">
            <a:off x="5280660" y="2115810"/>
            <a:ext cx="1165860" cy="673110"/>
          </a:xfrm>
          <a:prstGeom prst="line">
            <a:avLst/>
          </a:prstGeom>
          <a:noFill/>
          <a:ln w="11430">
            <a:solidFill>
              <a:srgbClr val="7D8AA0"/>
            </a:solidFill>
            <a:prstDash val="solid"/>
          </a:ln>
        </p:spPr>
      </p:sp>
      <p:sp>
        <p:nvSpPr>
          <p:cNvPr id="114" name="Shape 112"/>
          <p:cNvSpPr/>
          <p:nvPr/>
        </p:nvSpPr>
        <p:spPr>
          <a:xfrm>
            <a:off x="5462500" y="3288520"/>
            <a:ext cx="984020" cy="173509"/>
          </a:xfrm>
          <a:prstGeom prst="line">
            <a:avLst/>
          </a:prstGeom>
          <a:noFill/>
          <a:ln w="11430">
            <a:solidFill>
              <a:srgbClr val="7D8AA0"/>
            </a:solidFill>
            <a:prstDash val="solid"/>
          </a:ln>
        </p:spPr>
      </p:sp>
      <p:sp>
        <p:nvSpPr>
          <p:cNvPr id="115" name="Shape 113"/>
          <p:cNvSpPr/>
          <p:nvPr/>
        </p:nvSpPr>
        <p:spPr>
          <a:xfrm>
            <a:off x="6653300" y="2289320"/>
            <a:ext cx="181840" cy="499600"/>
          </a:xfrm>
          <a:prstGeom prst="line">
            <a:avLst/>
          </a:prstGeom>
          <a:noFill/>
          <a:ln w="11430">
            <a:solidFill>
              <a:srgbClr val="7D8AA0"/>
            </a:solidFill>
            <a:prstDash val="solid"/>
          </a:ln>
        </p:spPr>
      </p:sp>
      <p:sp>
        <p:nvSpPr>
          <p:cNvPr id="116" name="Shape 114"/>
          <p:cNvSpPr/>
          <p:nvPr/>
        </p:nvSpPr>
        <p:spPr>
          <a:xfrm>
            <a:off x="5669280" y="2115810"/>
            <a:ext cx="777240" cy="1346219"/>
          </a:xfrm>
          <a:prstGeom prst="line">
            <a:avLst/>
          </a:prstGeom>
          <a:noFill/>
          <a:ln w="11430">
            <a:solidFill>
              <a:srgbClr val="7D8AA0"/>
            </a:solidFill>
            <a:prstDash val="solid"/>
          </a:ln>
        </p:spPr>
      </p:sp>
      <p:sp>
        <p:nvSpPr>
          <p:cNvPr id="117" name="Shape 115"/>
          <p:cNvSpPr/>
          <p:nvPr/>
        </p:nvSpPr>
        <p:spPr>
          <a:xfrm flipV="1">
            <a:off x="5669280" y="2023488"/>
            <a:ext cx="523586" cy="1438542"/>
          </a:xfrm>
          <a:prstGeom prst="line">
            <a:avLst/>
          </a:prstGeom>
          <a:noFill/>
          <a:ln w="11430">
            <a:solidFill>
              <a:srgbClr val="7D8AA0"/>
            </a:solidFill>
            <a:prstDash val="solid"/>
          </a:ln>
        </p:spPr>
      </p:sp>
      <p:sp>
        <p:nvSpPr>
          <p:cNvPr id="118" name="Shape 116"/>
          <p:cNvSpPr/>
          <p:nvPr/>
        </p:nvSpPr>
        <p:spPr>
          <a:xfrm flipV="1">
            <a:off x="5669280" y="3054752"/>
            <a:ext cx="1118987" cy="407278"/>
          </a:xfrm>
          <a:prstGeom prst="line">
            <a:avLst/>
          </a:prstGeom>
          <a:noFill/>
          <a:ln w="11430">
            <a:solidFill>
              <a:srgbClr val="7D8AA0"/>
            </a:solidFill>
            <a:prstDash val="solid"/>
          </a:ln>
        </p:spPr>
      </p:sp>
      <p:sp>
        <p:nvSpPr>
          <p:cNvPr id="119" name="Shape 117"/>
          <p:cNvSpPr/>
          <p:nvPr/>
        </p:nvSpPr>
        <p:spPr>
          <a:xfrm flipV="1">
            <a:off x="5327533" y="2115810"/>
            <a:ext cx="1118987" cy="938941"/>
          </a:xfrm>
          <a:prstGeom prst="line">
            <a:avLst/>
          </a:prstGeom>
          <a:noFill/>
          <a:ln w="11430">
            <a:solidFill>
              <a:srgbClr val="7D8AA0"/>
            </a:solidFill>
            <a:prstDash val="solid"/>
          </a:ln>
        </p:spPr>
      </p:sp>
      <p:sp>
        <p:nvSpPr>
          <p:cNvPr id="120" name="Shape 118"/>
          <p:cNvSpPr/>
          <p:nvPr/>
        </p:nvSpPr>
        <p:spPr>
          <a:xfrm>
            <a:off x="5327533" y="2523088"/>
            <a:ext cx="1507607" cy="265832"/>
          </a:xfrm>
          <a:prstGeom prst="line">
            <a:avLst/>
          </a:prstGeom>
          <a:noFill/>
          <a:ln w="11430">
            <a:solidFill>
              <a:srgbClr val="7D8AA0"/>
            </a:solidFill>
            <a:prstDash val="solid"/>
          </a:ln>
        </p:spPr>
      </p:sp>
      <p:sp>
        <p:nvSpPr>
          <p:cNvPr id="121" name="Shape 119"/>
          <p:cNvSpPr/>
          <p:nvPr/>
        </p:nvSpPr>
        <p:spPr>
          <a:xfrm flipV="1">
            <a:off x="5922934" y="3054752"/>
            <a:ext cx="865333" cy="499600"/>
          </a:xfrm>
          <a:prstGeom prst="line">
            <a:avLst/>
          </a:prstGeom>
          <a:noFill/>
          <a:ln w="11430">
            <a:solidFill>
              <a:srgbClr val="7D8AA0"/>
            </a:solidFill>
            <a:prstDash val="solid"/>
          </a:ln>
        </p:spPr>
      </p:sp>
      <p:sp>
        <p:nvSpPr>
          <p:cNvPr id="122" name="Shape 120"/>
          <p:cNvSpPr/>
          <p:nvPr/>
        </p:nvSpPr>
        <p:spPr>
          <a:xfrm flipV="1">
            <a:off x="5327533" y="2523088"/>
            <a:ext cx="1460733" cy="531663"/>
          </a:xfrm>
          <a:prstGeom prst="line">
            <a:avLst/>
          </a:prstGeom>
          <a:noFill/>
          <a:ln w="11430">
            <a:solidFill>
              <a:srgbClr val="7D8AA0"/>
            </a:solidFill>
            <a:prstDash val="solid"/>
          </a:ln>
        </p:spPr>
      </p:sp>
      <p:sp>
        <p:nvSpPr>
          <p:cNvPr id="123" name="Shape 121"/>
          <p:cNvSpPr/>
          <p:nvPr/>
        </p:nvSpPr>
        <p:spPr>
          <a:xfrm>
            <a:off x="6789420" y="2743200"/>
            <a:ext cx="91440" cy="91440"/>
          </a:xfrm>
          <a:prstGeom prst="ellipse">
            <a:avLst/>
          </a:prstGeom>
          <a:solidFill>
            <a:srgbClr val="E8ECF2"/>
          </a:solidFill>
          <a:ln/>
        </p:spPr>
      </p:sp>
      <p:sp>
        <p:nvSpPr>
          <p:cNvPr id="124" name="Shape 122"/>
          <p:cNvSpPr/>
          <p:nvPr/>
        </p:nvSpPr>
        <p:spPr>
          <a:xfrm>
            <a:off x="6742547" y="3009032"/>
            <a:ext cx="91440" cy="91440"/>
          </a:xfrm>
          <a:prstGeom prst="ellipse">
            <a:avLst/>
          </a:prstGeom>
          <a:solidFill>
            <a:srgbClr val="E8ECF2"/>
          </a:solidFill>
          <a:ln/>
        </p:spPr>
      </p:sp>
      <p:sp>
        <p:nvSpPr>
          <p:cNvPr id="125" name="Shape 123"/>
          <p:cNvSpPr/>
          <p:nvPr/>
        </p:nvSpPr>
        <p:spPr>
          <a:xfrm>
            <a:off x="6607580" y="3242800"/>
            <a:ext cx="91440" cy="91440"/>
          </a:xfrm>
          <a:prstGeom prst="ellipse">
            <a:avLst/>
          </a:prstGeom>
          <a:solidFill>
            <a:srgbClr val="E8ECF2"/>
          </a:solidFill>
          <a:ln/>
        </p:spPr>
      </p:sp>
      <p:sp>
        <p:nvSpPr>
          <p:cNvPr id="126" name="Shape 124"/>
          <p:cNvSpPr/>
          <p:nvPr/>
        </p:nvSpPr>
        <p:spPr>
          <a:xfrm>
            <a:off x="6400800" y="3416310"/>
            <a:ext cx="91440" cy="91440"/>
          </a:xfrm>
          <a:prstGeom prst="ellipse">
            <a:avLst/>
          </a:prstGeom>
          <a:solidFill>
            <a:srgbClr val="E8ECF2"/>
          </a:solidFill>
          <a:ln/>
        </p:spPr>
      </p:sp>
      <p:sp>
        <p:nvSpPr>
          <p:cNvPr id="127" name="Shape 125"/>
          <p:cNvSpPr/>
          <p:nvPr/>
        </p:nvSpPr>
        <p:spPr>
          <a:xfrm>
            <a:off x="6147146" y="3508632"/>
            <a:ext cx="91440" cy="91440"/>
          </a:xfrm>
          <a:prstGeom prst="ellipse">
            <a:avLst/>
          </a:prstGeom>
          <a:solidFill>
            <a:srgbClr val="E8ECF2"/>
          </a:solidFill>
          <a:ln/>
        </p:spPr>
      </p:sp>
      <p:sp>
        <p:nvSpPr>
          <p:cNvPr id="128" name="Shape 126"/>
          <p:cNvSpPr/>
          <p:nvPr/>
        </p:nvSpPr>
        <p:spPr>
          <a:xfrm>
            <a:off x="5877214" y="3508632"/>
            <a:ext cx="91440" cy="91440"/>
          </a:xfrm>
          <a:prstGeom prst="ellipse">
            <a:avLst/>
          </a:prstGeom>
          <a:solidFill>
            <a:srgbClr val="E8ECF2"/>
          </a:solidFill>
          <a:ln/>
        </p:spPr>
      </p:sp>
      <p:sp>
        <p:nvSpPr>
          <p:cNvPr id="129" name="Shape 127"/>
          <p:cNvSpPr/>
          <p:nvPr/>
        </p:nvSpPr>
        <p:spPr>
          <a:xfrm>
            <a:off x="5623560" y="3416310"/>
            <a:ext cx="91440" cy="91440"/>
          </a:xfrm>
          <a:prstGeom prst="ellipse">
            <a:avLst/>
          </a:prstGeom>
          <a:solidFill>
            <a:srgbClr val="E8ECF2"/>
          </a:solidFill>
          <a:ln/>
        </p:spPr>
      </p:sp>
      <p:sp>
        <p:nvSpPr>
          <p:cNvPr id="130" name="Shape 128"/>
          <p:cNvSpPr/>
          <p:nvPr/>
        </p:nvSpPr>
        <p:spPr>
          <a:xfrm>
            <a:off x="5416780" y="3242800"/>
            <a:ext cx="91440" cy="91440"/>
          </a:xfrm>
          <a:prstGeom prst="ellipse">
            <a:avLst/>
          </a:prstGeom>
          <a:solidFill>
            <a:srgbClr val="E8ECF2"/>
          </a:solidFill>
          <a:ln/>
        </p:spPr>
      </p:sp>
      <p:sp>
        <p:nvSpPr>
          <p:cNvPr id="131" name="Shape 129"/>
          <p:cNvSpPr/>
          <p:nvPr/>
        </p:nvSpPr>
        <p:spPr>
          <a:xfrm>
            <a:off x="5281813" y="3009032"/>
            <a:ext cx="91440" cy="91440"/>
          </a:xfrm>
          <a:prstGeom prst="ellipse">
            <a:avLst/>
          </a:prstGeom>
          <a:solidFill>
            <a:srgbClr val="E8ECF2"/>
          </a:solidFill>
          <a:ln/>
        </p:spPr>
      </p:sp>
      <p:sp>
        <p:nvSpPr>
          <p:cNvPr id="132" name="Shape 130"/>
          <p:cNvSpPr/>
          <p:nvPr/>
        </p:nvSpPr>
        <p:spPr>
          <a:xfrm>
            <a:off x="5234940" y="2743200"/>
            <a:ext cx="91440" cy="91440"/>
          </a:xfrm>
          <a:prstGeom prst="ellipse">
            <a:avLst/>
          </a:prstGeom>
          <a:solidFill>
            <a:srgbClr val="E8ECF2"/>
          </a:solidFill>
          <a:ln/>
        </p:spPr>
      </p:sp>
      <p:sp>
        <p:nvSpPr>
          <p:cNvPr id="133" name="Shape 131"/>
          <p:cNvSpPr/>
          <p:nvPr/>
        </p:nvSpPr>
        <p:spPr>
          <a:xfrm>
            <a:off x="5281813" y="2477368"/>
            <a:ext cx="91440" cy="91440"/>
          </a:xfrm>
          <a:prstGeom prst="ellipse">
            <a:avLst/>
          </a:prstGeom>
          <a:solidFill>
            <a:srgbClr val="E8ECF2"/>
          </a:solidFill>
          <a:ln/>
        </p:spPr>
      </p:sp>
      <p:sp>
        <p:nvSpPr>
          <p:cNvPr id="134" name="Shape 132"/>
          <p:cNvSpPr/>
          <p:nvPr/>
        </p:nvSpPr>
        <p:spPr>
          <a:xfrm>
            <a:off x="5416780" y="2243600"/>
            <a:ext cx="91440" cy="91440"/>
          </a:xfrm>
          <a:prstGeom prst="ellipse">
            <a:avLst/>
          </a:prstGeom>
          <a:solidFill>
            <a:srgbClr val="E8ECF2"/>
          </a:solidFill>
          <a:ln/>
        </p:spPr>
      </p:sp>
      <p:sp>
        <p:nvSpPr>
          <p:cNvPr id="135" name="Shape 133"/>
          <p:cNvSpPr/>
          <p:nvPr/>
        </p:nvSpPr>
        <p:spPr>
          <a:xfrm>
            <a:off x="5623560" y="2070090"/>
            <a:ext cx="91440" cy="91440"/>
          </a:xfrm>
          <a:prstGeom prst="ellipse">
            <a:avLst/>
          </a:prstGeom>
          <a:solidFill>
            <a:srgbClr val="E8ECF2"/>
          </a:solidFill>
          <a:ln/>
        </p:spPr>
      </p:sp>
      <p:sp>
        <p:nvSpPr>
          <p:cNvPr id="136" name="Shape 134"/>
          <p:cNvSpPr/>
          <p:nvPr/>
        </p:nvSpPr>
        <p:spPr>
          <a:xfrm>
            <a:off x="5877214" y="1977768"/>
            <a:ext cx="91440" cy="91440"/>
          </a:xfrm>
          <a:prstGeom prst="ellipse">
            <a:avLst/>
          </a:prstGeom>
          <a:solidFill>
            <a:srgbClr val="E8ECF2"/>
          </a:solidFill>
          <a:ln/>
        </p:spPr>
      </p:sp>
      <p:sp>
        <p:nvSpPr>
          <p:cNvPr id="137" name="Shape 135"/>
          <p:cNvSpPr/>
          <p:nvPr/>
        </p:nvSpPr>
        <p:spPr>
          <a:xfrm>
            <a:off x="6147146" y="1977768"/>
            <a:ext cx="91440" cy="91440"/>
          </a:xfrm>
          <a:prstGeom prst="ellipse">
            <a:avLst/>
          </a:prstGeom>
          <a:solidFill>
            <a:srgbClr val="E8ECF2"/>
          </a:solidFill>
          <a:ln/>
        </p:spPr>
      </p:sp>
      <p:sp>
        <p:nvSpPr>
          <p:cNvPr id="138" name="Shape 136"/>
          <p:cNvSpPr/>
          <p:nvPr/>
        </p:nvSpPr>
        <p:spPr>
          <a:xfrm>
            <a:off x="6400800" y="2070090"/>
            <a:ext cx="91440" cy="91440"/>
          </a:xfrm>
          <a:prstGeom prst="ellipse">
            <a:avLst/>
          </a:prstGeom>
          <a:solidFill>
            <a:srgbClr val="E8ECF2"/>
          </a:solidFill>
          <a:ln/>
        </p:spPr>
      </p:sp>
      <p:sp>
        <p:nvSpPr>
          <p:cNvPr id="139" name="Shape 137"/>
          <p:cNvSpPr/>
          <p:nvPr/>
        </p:nvSpPr>
        <p:spPr>
          <a:xfrm>
            <a:off x="6607580" y="2243600"/>
            <a:ext cx="91440" cy="91440"/>
          </a:xfrm>
          <a:prstGeom prst="ellipse">
            <a:avLst/>
          </a:prstGeom>
          <a:solidFill>
            <a:srgbClr val="E8ECF2"/>
          </a:solidFill>
          <a:ln/>
        </p:spPr>
      </p:sp>
      <p:sp>
        <p:nvSpPr>
          <p:cNvPr id="140" name="Shape 138"/>
          <p:cNvSpPr/>
          <p:nvPr/>
        </p:nvSpPr>
        <p:spPr>
          <a:xfrm>
            <a:off x="6742547" y="2477368"/>
            <a:ext cx="91440" cy="91440"/>
          </a:xfrm>
          <a:prstGeom prst="ellipse">
            <a:avLst/>
          </a:prstGeom>
          <a:solidFill>
            <a:srgbClr val="E8ECF2"/>
          </a:solidFill>
          <a:ln/>
        </p:spPr>
      </p:sp>
      <p:sp>
        <p:nvSpPr>
          <p:cNvPr id="141" name="Shape 139"/>
          <p:cNvSpPr/>
          <p:nvPr/>
        </p:nvSpPr>
        <p:spPr>
          <a:xfrm>
            <a:off x="9761220" y="2130552"/>
            <a:ext cx="423191" cy="154029"/>
          </a:xfrm>
          <a:prstGeom prst="line">
            <a:avLst/>
          </a:prstGeom>
          <a:noFill/>
          <a:ln w="9525">
            <a:solidFill>
              <a:srgbClr val="9AA6B6">
                <a:alpha val="70000"/>
              </a:srgbClr>
            </a:solidFill>
            <a:prstDash val="solid"/>
          </a:ln>
        </p:spPr>
      </p:sp>
      <p:sp>
        <p:nvSpPr>
          <p:cNvPr id="142" name="Shape 140"/>
          <p:cNvSpPr/>
          <p:nvPr/>
        </p:nvSpPr>
        <p:spPr>
          <a:xfrm>
            <a:off x="9761220" y="2130552"/>
            <a:ext cx="648366" cy="544044"/>
          </a:xfrm>
          <a:prstGeom prst="line">
            <a:avLst/>
          </a:prstGeom>
          <a:noFill/>
          <a:ln w="9525">
            <a:solidFill>
              <a:srgbClr val="9AA6B6">
                <a:alpha val="70000"/>
              </a:srgbClr>
            </a:solidFill>
            <a:prstDash val="solid"/>
          </a:ln>
        </p:spPr>
      </p:sp>
      <p:sp>
        <p:nvSpPr>
          <p:cNvPr id="143" name="Shape 141"/>
          <p:cNvSpPr/>
          <p:nvPr/>
        </p:nvSpPr>
        <p:spPr>
          <a:xfrm>
            <a:off x="9761220" y="2130552"/>
            <a:ext cx="570163" cy="987552"/>
          </a:xfrm>
          <a:prstGeom prst="line">
            <a:avLst/>
          </a:prstGeom>
          <a:noFill/>
          <a:ln w="9525">
            <a:solidFill>
              <a:srgbClr val="9AA6B6">
                <a:alpha val="70000"/>
              </a:srgbClr>
            </a:solidFill>
            <a:prstDash val="solid"/>
          </a:ln>
        </p:spPr>
      </p:sp>
      <p:sp>
        <p:nvSpPr>
          <p:cNvPr id="144" name="Shape 142"/>
          <p:cNvSpPr/>
          <p:nvPr/>
        </p:nvSpPr>
        <p:spPr>
          <a:xfrm>
            <a:off x="9761220" y="2130552"/>
            <a:ext cx="225175" cy="1277032"/>
          </a:xfrm>
          <a:prstGeom prst="line">
            <a:avLst/>
          </a:prstGeom>
          <a:noFill/>
          <a:ln w="9525">
            <a:solidFill>
              <a:srgbClr val="9AA6B6">
                <a:alpha val="70000"/>
              </a:srgbClr>
            </a:solidFill>
            <a:prstDash val="solid"/>
          </a:ln>
        </p:spPr>
      </p:sp>
      <p:sp>
        <p:nvSpPr>
          <p:cNvPr id="145" name="Shape 143"/>
          <p:cNvSpPr/>
          <p:nvPr/>
        </p:nvSpPr>
        <p:spPr>
          <a:xfrm flipV="1">
            <a:off x="9536045" y="2130552"/>
            <a:ext cx="225175" cy="1277032"/>
          </a:xfrm>
          <a:prstGeom prst="line">
            <a:avLst/>
          </a:prstGeom>
          <a:noFill/>
          <a:ln w="9525">
            <a:solidFill>
              <a:srgbClr val="9AA6B6">
                <a:alpha val="70000"/>
              </a:srgbClr>
            </a:solidFill>
            <a:prstDash val="solid"/>
          </a:ln>
        </p:spPr>
      </p:sp>
      <p:sp>
        <p:nvSpPr>
          <p:cNvPr id="146" name="Shape 144"/>
          <p:cNvSpPr/>
          <p:nvPr/>
        </p:nvSpPr>
        <p:spPr>
          <a:xfrm flipV="1">
            <a:off x="9191057" y="2130552"/>
            <a:ext cx="570163" cy="987552"/>
          </a:xfrm>
          <a:prstGeom prst="line">
            <a:avLst/>
          </a:prstGeom>
          <a:noFill/>
          <a:ln w="9525">
            <a:solidFill>
              <a:srgbClr val="9AA6B6">
                <a:alpha val="70000"/>
              </a:srgbClr>
            </a:solidFill>
            <a:prstDash val="solid"/>
          </a:ln>
        </p:spPr>
      </p:sp>
      <p:sp>
        <p:nvSpPr>
          <p:cNvPr id="147" name="Shape 145"/>
          <p:cNvSpPr/>
          <p:nvPr/>
        </p:nvSpPr>
        <p:spPr>
          <a:xfrm flipV="1">
            <a:off x="9112854" y="2130552"/>
            <a:ext cx="648366" cy="544044"/>
          </a:xfrm>
          <a:prstGeom prst="line">
            <a:avLst/>
          </a:prstGeom>
          <a:noFill/>
          <a:ln w="9525">
            <a:solidFill>
              <a:srgbClr val="9AA6B6">
                <a:alpha val="70000"/>
              </a:srgbClr>
            </a:solidFill>
            <a:prstDash val="solid"/>
          </a:ln>
        </p:spPr>
      </p:sp>
      <p:sp>
        <p:nvSpPr>
          <p:cNvPr id="148" name="Shape 146"/>
          <p:cNvSpPr/>
          <p:nvPr/>
        </p:nvSpPr>
        <p:spPr>
          <a:xfrm flipV="1">
            <a:off x="9338029" y="2130552"/>
            <a:ext cx="423191" cy="154029"/>
          </a:xfrm>
          <a:prstGeom prst="line">
            <a:avLst/>
          </a:prstGeom>
          <a:noFill/>
          <a:ln w="9525">
            <a:solidFill>
              <a:srgbClr val="9AA6B6">
                <a:alpha val="70000"/>
              </a:srgbClr>
            </a:solidFill>
            <a:prstDash val="solid"/>
          </a:ln>
        </p:spPr>
      </p:sp>
      <p:sp>
        <p:nvSpPr>
          <p:cNvPr id="149" name="Shape 147"/>
          <p:cNvSpPr/>
          <p:nvPr/>
        </p:nvSpPr>
        <p:spPr>
          <a:xfrm>
            <a:off x="10184411" y="2284581"/>
            <a:ext cx="225175" cy="390015"/>
          </a:xfrm>
          <a:prstGeom prst="line">
            <a:avLst/>
          </a:prstGeom>
          <a:noFill/>
          <a:ln w="9525">
            <a:solidFill>
              <a:srgbClr val="9AA6B6">
                <a:alpha val="70000"/>
              </a:srgbClr>
            </a:solidFill>
            <a:prstDash val="solid"/>
          </a:ln>
        </p:spPr>
      </p:sp>
      <p:sp>
        <p:nvSpPr>
          <p:cNvPr id="150" name="Shape 148"/>
          <p:cNvSpPr/>
          <p:nvPr/>
        </p:nvSpPr>
        <p:spPr>
          <a:xfrm>
            <a:off x="10184411" y="2284581"/>
            <a:ext cx="146973" cy="833523"/>
          </a:xfrm>
          <a:prstGeom prst="line">
            <a:avLst/>
          </a:prstGeom>
          <a:noFill/>
          <a:ln w="9525">
            <a:solidFill>
              <a:srgbClr val="9AA6B6">
                <a:alpha val="70000"/>
              </a:srgbClr>
            </a:solidFill>
            <a:prstDash val="solid"/>
          </a:ln>
        </p:spPr>
      </p:sp>
      <p:sp>
        <p:nvSpPr>
          <p:cNvPr id="151" name="Shape 149"/>
          <p:cNvSpPr/>
          <p:nvPr/>
        </p:nvSpPr>
        <p:spPr>
          <a:xfrm flipV="1">
            <a:off x="9986395" y="2284581"/>
            <a:ext cx="198016" cy="1123003"/>
          </a:xfrm>
          <a:prstGeom prst="line">
            <a:avLst/>
          </a:prstGeom>
          <a:noFill/>
          <a:ln w="9525">
            <a:solidFill>
              <a:srgbClr val="9AA6B6">
                <a:alpha val="70000"/>
              </a:srgbClr>
            </a:solidFill>
            <a:prstDash val="solid"/>
          </a:ln>
        </p:spPr>
      </p:sp>
      <p:sp>
        <p:nvSpPr>
          <p:cNvPr id="152" name="Shape 150"/>
          <p:cNvSpPr/>
          <p:nvPr/>
        </p:nvSpPr>
        <p:spPr>
          <a:xfrm flipV="1">
            <a:off x="9536045" y="2284581"/>
            <a:ext cx="648366" cy="1123003"/>
          </a:xfrm>
          <a:prstGeom prst="line">
            <a:avLst/>
          </a:prstGeom>
          <a:noFill/>
          <a:ln w="9525">
            <a:solidFill>
              <a:srgbClr val="9AA6B6">
                <a:alpha val="70000"/>
              </a:srgbClr>
            </a:solidFill>
            <a:prstDash val="solid"/>
          </a:ln>
        </p:spPr>
      </p:sp>
      <p:sp>
        <p:nvSpPr>
          <p:cNvPr id="153" name="Shape 151"/>
          <p:cNvSpPr/>
          <p:nvPr/>
        </p:nvSpPr>
        <p:spPr>
          <a:xfrm flipV="1">
            <a:off x="9191057" y="2284581"/>
            <a:ext cx="993354" cy="833523"/>
          </a:xfrm>
          <a:prstGeom prst="line">
            <a:avLst/>
          </a:prstGeom>
          <a:noFill/>
          <a:ln w="9525">
            <a:solidFill>
              <a:srgbClr val="9AA6B6">
                <a:alpha val="70000"/>
              </a:srgbClr>
            </a:solidFill>
            <a:prstDash val="solid"/>
          </a:ln>
        </p:spPr>
      </p:sp>
      <p:sp>
        <p:nvSpPr>
          <p:cNvPr id="154" name="Shape 152"/>
          <p:cNvSpPr/>
          <p:nvPr/>
        </p:nvSpPr>
        <p:spPr>
          <a:xfrm flipV="1">
            <a:off x="9112854" y="2284581"/>
            <a:ext cx="1071557" cy="390015"/>
          </a:xfrm>
          <a:prstGeom prst="line">
            <a:avLst/>
          </a:prstGeom>
          <a:noFill/>
          <a:ln w="9525">
            <a:solidFill>
              <a:srgbClr val="9AA6B6">
                <a:alpha val="70000"/>
              </a:srgbClr>
            </a:solidFill>
            <a:prstDash val="solid"/>
          </a:ln>
        </p:spPr>
      </p:sp>
      <p:sp>
        <p:nvSpPr>
          <p:cNvPr id="155" name="Shape 153"/>
          <p:cNvSpPr/>
          <p:nvPr/>
        </p:nvSpPr>
        <p:spPr>
          <a:xfrm>
            <a:off x="9338029" y="2284581"/>
            <a:ext cx="846382" cy="0"/>
          </a:xfrm>
          <a:prstGeom prst="line">
            <a:avLst/>
          </a:prstGeom>
          <a:noFill/>
          <a:ln w="9525">
            <a:solidFill>
              <a:srgbClr val="9AA6B6">
                <a:alpha val="70000"/>
              </a:srgbClr>
            </a:solidFill>
            <a:prstDash val="solid"/>
          </a:ln>
        </p:spPr>
      </p:sp>
      <p:sp>
        <p:nvSpPr>
          <p:cNvPr id="156" name="Shape 154"/>
          <p:cNvSpPr/>
          <p:nvPr/>
        </p:nvSpPr>
        <p:spPr>
          <a:xfrm flipV="1">
            <a:off x="10331383" y="2674596"/>
            <a:ext cx="78202" cy="443508"/>
          </a:xfrm>
          <a:prstGeom prst="line">
            <a:avLst/>
          </a:prstGeom>
          <a:noFill/>
          <a:ln w="9525">
            <a:solidFill>
              <a:srgbClr val="9AA6B6">
                <a:alpha val="70000"/>
              </a:srgbClr>
            </a:solidFill>
            <a:prstDash val="solid"/>
          </a:ln>
        </p:spPr>
      </p:sp>
      <p:sp>
        <p:nvSpPr>
          <p:cNvPr id="157" name="Shape 155"/>
          <p:cNvSpPr/>
          <p:nvPr/>
        </p:nvSpPr>
        <p:spPr>
          <a:xfrm flipV="1">
            <a:off x="9986395" y="2674596"/>
            <a:ext cx="423191" cy="732988"/>
          </a:xfrm>
          <a:prstGeom prst="line">
            <a:avLst/>
          </a:prstGeom>
          <a:noFill/>
          <a:ln w="9525">
            <a:solidFill>
              <a:srgbClr val="9AA6B6">
                <a:alpha val="70000"/>
              </a:srgbClr>
            </a:solidFill>
            <a:prstDash val="solid"/>
          </a:ln>
        </p:spPr>
      </p:sp>
      <p:sp>
        <p:nvSpPr>
          <p:cNvPr id="158" name="Shape 156"/>
          <p:cNvSpPr/>
          <p:nvPr/>
        </p:nvSpPr>
        <p:spPr>
          <a:xfrm flipV="1">
            <a:off x="9536045" y="2674596"/>
            <a:ext cx="873541" cy="732988"/>
          </a:xfrm>
          <a:prstGeom prst="line">
            <a:avLst/>
          </a:prstGeom>
          <a:noFill/>
          <a:ln w="9525">
            <a:solidFill>
              <a:srgbClr val="9AA6B6">
                <a:alpha val="70000"/>
              </a:srgbClr>
            </a:solidFill>
            <a:prstDash val="solid"/>
          </a:ln>
        </p:spPr>
      </p:sp>
      <p:sp>
        <p:nvSpPr>
          <p:cNvPr id="159" name="Shape 157"/>
          <p:cNvSpPr/>
          <p:nvPr/>
        </p:nvSpPr>
        <p:spPr>
          <a:xfrm flipV="1">
            <a:off x="9191057" y="2674596"/>
            <a:ext cx="1218529" cy="443508"/>
          </a:xfrm>
          <a:prstGeom prst="line">
            <a:avLst/>
          </a:prstGeom>
          <a:noFill/>
          <a:ln w="9525">
            <a:solidFill>
              <a:srgbClr val="9AA6B6">
                <a:alpha val="70000"/>
              </a:srgbClr>
            </a:solidFill>
            <a:prstDash val="solid"/>
          </a:ln>
        </p:spPr>
      </p:sp>
      <p:sp>
        <p:nvSpPr>
          <p:cNvPr id="160" name="Shape 158"/>
          <p:cNvSpPr/>
          <p:nvPr/>
        </p:nvSpPr>
        <p:spPr>
          <a:xfrm>
            <a:off x="9112854" y="2674596"/>
            <a:ext cx="1296732" cy="0"/>
          </a:xfrm>
          <a:prstGeom prst="line">
            <a:avLst/>
          </a:prstGeom>
          <a:noFill/>
          <a:ln w="9525">
            <a:solidFill>
              <a:srgbClr val="9AA6B6">
                <a:alpha val="70000"/>
              </a:srgbClr>
            </a:solidFill>
            <a:prstDash val="solid"/>
          </a:ln>
        </p:spPr>
      </p:sp>
      <p:sp>
        <p:nvSpPr>
          <p:cNvPr id="161" name="Shape 159"/>
          <p:cNvSpPr/>
          <p:nvPr/>
        </p:nvSpPr>
        <p:spPr>
          <a:xfrm>
            <a:off x="9338029" y="2284581"/>
            <a:ext cx="1071557" cy="390015"/>
          </a:xfrm>
          <a:prstGeom prst="line">
            <a:avLst/>
          </a:prstGeom>
          <a:noFill/>
          <a:ln w="9525">
            <a:solidFill>
              <a:srgbClr val="9AA6B6">
                <a:alpha val="70000"/>
              </a:srgbClr>
            </a:solidFill>
            <a:prstDash val="solid"/>
          </a:ln>
        </p:spPr>
      </p:sp>
      <p:sp>
        <p:nvSpPr>
          <p:cNvPr id="162" name="Shape 160"/>
          <p:cNvSpPr/>
          <p:nvPr/>
        </p:nvSpPr>
        <p:spPr>
          <a:xfrm flipV="1">
            <a:off x="9986395" y="3118104"/>
            <a:ext cx="344988" cy="289480"/>
          </a:xfrm>
          <a:prstGeom prst="line">
            <a:avLst/>
          </a:prstGeom>
          <a:noFill/>
          <a:ln w="9525">
            <a:solidFill>
              <a:srgbClr val="9AA6B6">
                <a:alpha val="70000"/>
              </a:srgbClr>
            </a:solidFill>
            <a:prstDash val="solid"/>
          </a:ln>
        </p:spPr>
      </p:sp>
      <p:sp>
        <p:nvSpPr>
          <p:cNvPr id="163" name="Shape 161"/>
          <p:cNvSpPr/>
          <p:nvPr/>
        </p:nvSpPr>
        <p:spPr>
          <a:xfrm flipV="1">
            <a:off x="9536045" y="3118104"/>
            <a:ext cx="795339" cy="289480"/>
          </a:xfrm>
          <a:prstGeom prst="line">
            <a:avLst/>
          </a:prstGeom>
          <a:noFill/>
          <a:ln w="9525">
            <a:solidFill>
              <a:srgbClr val="9AA6B6">
                <a:alpha val="70000"/>
              </a:srgbClr>
            </a:solidFill>
            <a:prstDash val="solid"/>
          </a:ln>
        </p:spPr>
      </p:sp>
      <p:sp>
        <p:nvSpPr>
          <p:cNvPr id="164" name="Shape 162"/>
          <p:cNvSpPr/>
          <p:nvPr/>
        </p:nvSpPr>
        <p:spPr>
          <a:xfrm flipV="1">
            <a:off x="9191057" y="3118104"/>
            <a:ext cx="1140327" cy="0"/>
          </a:xfrm>
          <a:prstGeom prst="line">
            <a:avLst/>
          </a:prstGeom>
          <a:noFill/>
          <a:ln w="9525">
            <a:solidFill>
              <a:srgbClr val="9AA6B6">
                <a:alpha val="70000"/>
              </a:srgbClr>
            </a:solidFill>
            <a:prstDash val="solid"/>
          </a:ln>
        </p:spPr>
      </p:sp>
      <p:sp>
        <p:nvSpPr>
          <p:cNvPr id="165" name="Shape 163"/>
          <p:cNvSpPr/>
          <p:nvPr/>
        </p:nvSpPr>
        <p:spPr>
          <a:xfrm>
            <a:off x="9112854" y="2674596"/>
            <a:ext cx="1218529" cy="443508"/>
          </a:xfrm>
          <a:prstGeom prst="line">
            <a:avLst/>
          </a:prstGeom>
          <a:noFill/>
          <a:ln w="9525">
            <a:solidFill>
              <a:srgbClr val="9AA6B6">
                <a:alpha val="70000"/>
              </a:srgbClr>
            </a:solidFill>
            <a:prstDash val="solid"/>
          </a:ln>
        </p:spPr>
      </p:sp>
      <p:sp>
        <p:nvSpPr>
          <p:cNvPr id="166" name="Shape 164"/>
          <p:cNvSpPr/>
          <p:nvPr/>
        </p:nvSpPr>
        <p:spPr>
          <a:xfrm>
            <a:off x="9338029" y="2284581"/>
            <a:ext cx="993354" cy="833523"/>
          </a:xfrm>
          <a:prstGeom prst="line">
            <a:avLst/>
          </a:prstGeom>
          <a:noFill/>
          <a:ln w="9525">
            <a:solidFill>
              <a:srgbClr val="9AA6B6">
                <a:alpha val="70000"/>
              </a:srgbClr>
            </a:solidFill>
            <a:prstDash val="solid"/>
          </a:ln>
        </p:spPr>
      </p:sp>
      <p:sp>
        <p:nvSpPr>
          <p:cNvPr id="167" name="Shape 165"/>
          <p:cNvSpPr/>
          <p:nvPr/>
        </p:nvSpPr>
        <p:spPr>
          <a:xfrm>
            <a:off x="9536045" y="3407584"/>
            <a:ext cx="450350" cy="0"/>
          </a:xfrm>
          <a:prstGeom prst="line">
            <a:avLst/>
          </a:prstGeom>
          <a:noFill/>
          <a:ln w="9525">
            <a:solidFill>
              <a:srgbClr val="9AA6B6">
                <a:alpha val="70000"/>
              </a:srgbClr>
            </a:solidFill>
            <a:prstDash val="solid"/>
          </a:ln>
        </p:spPr>
      </p:sp>
      <p:sp>
        <p:nvSpPr>
          <p:cNvPr id="168" name="Shape 166"/>
          <p:cNvSpPr/>
          <p:nvPr/>
        </p:nvSpPr>
        <p:spPr>
          <a:xfrm>
            <a:off x="9191057" y="3118104"/>
            <a:ext cx="795339" cy="289480"/>
          </a:xfrm>
          <a:prstGeom prst="line">
            <a:avLst/>
          </a:prstGeom>
          <a:noFill/>
          <a:ln w="9525">
            <a:solidFill>
              <a:srgbClr val="9AA6B6">
                <a:alpha val="70000"/>
              </a:srgbClr>
            </a:solidFill>
            <a:prstDash val="solid"/>
          </a:ln>
        </p:spPr>
      </p:sp>
      <p:sp>
        <p:nvSpPr>
          <p:cNvPr id="169" name="Shape 167"/>
          <p:cNvSpPr/>
          <p:nvPr/>
        </p:nvSpPr>
        <p:spPr>
          <a:xfrm>
            <a:off x="9112854" y="2674596"/>
            <a:ext cx="873541" cy="732988"/>
          </a:xfrm>
          <a:prstGeom prst="line">
            <a:avLst/>
          </a:prstGeom>
          <a:noFill/>
          <a:ln w="9525">
            <a:solidFill>
              <a:srgbClr val="9AA6B6">
                <a:alpha val="70000"/>
              </a:srgbClr>
            </a:solidFill>
            <a:prstDash val="solid"/>
          </a:ln>
        </p:spPr>
      </p:sp>
      <p:sp>
        <p:nvSpPr>
          <p:cNvPr id="170" name="Shape 168"/>
          <p:cNvSpPr/>
          <p:nvPr/>
        </p:nvSpPr>
        <p:spPr>
          <a:xfrm>
            <a:off x="9338029" y="2284581"/>
            <a:ext cx="648366" cy="1123003"/>
          </a:xfrm>
          <a:prstGeom prst="line">
            <a:avLst/>
          </a:prstGeom>
          <a:noFill/>
          <a:ln w="9525">
            <a:solidFill>
              <a:srgbClr val="9AA6B6">
                <a:alpha val="70000"/>
              </a:srgbClr>
            </a:solidFill>
            <a:prstDash val="solid"/>
          </a:ln>
        </p:spPr>
      </p:sp>
      <p:sp>
        <p:nvSpPr>
          <p:cNvPr id="171" name="Shape 169"/>
          <p:cNvSpPr/>
          <p:nvPr/>
        </p:nvSpPr>
        <p:spPr>
          <a:xfrm>
            <a:off x="9191057" y="3118104"/>
            <a:ext cx="344988" cy="289480"/>
          </a:xfrm>
          <a:prstGeom prst="line">
            <a:avLst/>
          </a:prstGeom>
          <a:noFill/>
          <a:ln w="9525">
            <a:solidFill>
              <a:srgbClr val="9AA6B6">
                <a:alpha val="70000"/>
              </a:srgbClr>
            </a:solidFill>
            <a:prstDash val="solid"/>
          </a:ln>
        </p:spPr>
      </p:sp>
      <p:sp>
        <p:nvSpPr>
          <p:cNvPr id="172" name="Shape 170"/>
          <p:cNvSpPr/>
          <p:nvPr/>
        </p:nvSpPr>
        <p:spPr>
          <a:xfrm>
            <a:off x="9112854" y="2674596"/>
            <a:ext cx="423191" cy="732988"/>
          </a:xfrm>
          <a:prstGeom prst="line">
            <a:avLst/>
          </a:prstGeom>
          <a:noFill/>
          <a:ln w="9525">
            <a:solidFill>
              <a:srgbClr val="9AA6B6">
                <a:alpha val="70000"/>
              </a:srgbClr>
            </a:solidFill>
            <a:prstDash val="solid"/>
          </a:ln>
        </p:spPr>
      </p:sp>
      <p:sp>
        <p:nvSpPr>
          <p:cNvPr id="173" name="Shape 171"/>
          <p:cNvSpPr/>
          <p:nvPr/>
        </p:nvSpPr>
        <p:spPr>
          <a:xfrm>
            <a:off x="9338029" y="2284581"/>
            <a:ext cx="198016" cy="1123003"/>
          </a:xfrm>
          <a:prstGeom prst="line">
            <a:avLst/>
          </a:prstGeom>
          <a:noFill/>
          <a:ln w="9525">
            <a:solidFill>
              <a:srgbClr val="9AA6B6">
                <a:alpha val="70000"/>
              </a:srgbClr>
            </a:solidFill>
            <a:prstDash val="solid"/>
          </a:ln>
        </p:spPr>
      </p:sp>
      <p:sp>
        <p:nvSpPr>
          <p:cNvPr id="174" name="Shape 172"/>
          <p:cNvSpPr/>
          <p:nvPr/>
        </p:nvSpPr>
        <p:spPr>
          <a:xfrm>
            <a:off x="9112854" y="2674596"/>
            <a:ext cx="78202" cy="443508"/>
          </a:xfrm>
          <a:prstGeom prst="line">
            <a:avLst/>
          </a:prstGeom>
          <a:noFill/>
          <a:ln w="9525">
            <a:solidFill>
              <a:srgbClr val="9AA6B6">
                <a:alpha val="70000"/>
              </a:srgbClr>
            </a:solidFill>
            <a:prstDash val="solid"/>
          </a:ln>
        </p:spPr>
      </p:sp>
      <p:sp>
        <p:nvSpPr>
          <p:cNvPr id="175" name="Shape 173"/>
          <p:cNvSpPr/>
          <p:nvPr/>
        </p:nvSpPr>
        <p:spPr>
          <a:xfrm flipV="1">
            <a:off x="9191057" y="2284581"/>
            <a:ext cx="146973" cy="833523"/>
          </a:xfrm>
          <a:prstGeom prst="line">
            <a:avLst/>
          </a:prstGeom>
          <a:noFill/>
          <a:ln w="9525">
            <a:solidFill>
              <a:srgbClr val="9AA6B6">
                <a:alpha val="70000"/>
              </a:srgbClr>
            </a:solidFill>
            <a:prstDash val="solid"/>
          </a:ln>
        </p:spPr>
      </p:sp>
      <p:sp>
        <p:nvSpPr>
          <p:cNvPr id="176" name="Shape 174"/>
          <p:cNvSpPr/>
          <p:nvPr/>
        </p:nvSpPr>
        <p:spPr>
          <a:xfrm flipV="1">
            <a:off x="9112854" y="2284581"/>
            <a:ext cx="225175" cy="390015"/>
          </a:xfrm>
          <a:prstGeom prst="line">
            <a:avLst/>
          </a:prstGeom>
          <a:noFill/>
          <a:ln w="9525">
            <a:solidFill>
              <a:srgbClr val="9AA6B6">
                <a:alpha val="70000"/>
              </a:srgbClr>
            </a:solidFill>
            <a:prstDash val="solid"/>
          </a:ln>
        </p:spPr>
      </p:sp>
      <p:sp>
        <p:nvSpPr>
          <p:cNvPr id="177" name="Shape 175"/>
          <p:cNvSpPr/>
          <p:nvPr/>
        </p:nvSpPr>
        <p:spPr>
          <a:xfrm>
            <a:off x="9377172" y="1901952"/>
            <a:ext cx="384048" cy="228600"/>
          </a:xfrm>
          <a:prstGeom prst="line">
            <a:avLst/>
          </a:prstGeom>
          <a:noFill/>
          <a:ln w="11430">
            <a:solidFill>
              <a:srgbClr val="7D8AA0"/>
            </a:solidFill>
            <a:prstDash val="solid"/>
          </a:ln>
        </p:spPr>
      </p:sp>
      <p:sp>
        <p:nvSpPr>
          <p:cNvPr id="178" name="Shape 176"/>
          <p:cNvSpPr/>
          <p:nvPr/>
        </p:nvSpPr>
        <p:spPr>
          <a:xfrm>
            <a:off x="9336024" y="1860804"/>
            <a:ext cx="82296" cy="82296"/>
          </a:xfrm>
          <a:prstGeom prst="ellipse">
            <a:avLst/>
          </a:prstGeom>
          <a:solidFill>
            <a:srgbClr val="9AA6B6"/>
          </a:solidFill>
          <a:ln/>
        </p:spPr>
      </p:sp>
      <p:sp>
        <p:nvSpPr>
          <p:cNvPr id="179" name="Shape 177"/>
          <p:cNvSpPr/>
          <p:nvPr/>
        </p:nvSpPr>
        <p:spPr>
          <a:xfrm flipV="1">
            <a:off x="10409586" y="2583156"/>
            <a:ext cx="411480" cy="91440"/>
          </a:xfrm>
          <a:prstGeom prst="line">
            <a:avLst/>
          </a:prstGeom>
          <a:noFill/>
          <a:ln w="11430">
            <a:solidFill>
              <a:srgbClr val="7D8AA0"/>
            </a:solidFill>
            <a:prstDash val="solid"/>
          </a:ln>
        </p:spPr>
      </p:sp>
      <p:sp>
        <p:nvSpPr>
          <p:cNvPr id="180" name="Shape 178"/>
          <p:cNvSpPr/>
          <p:nvPr/>
        </p:nvSpPr>
        <p:spPr>
          <a:xfrm>
            <a:off x="10779918" y="2542008"/>
            <a:ext cx="82296" cy="82296"/>
          </a:xfrm>
          <a:prstGeom prst="ellipse">
            <a:avLst/>
          </a:prstGeom>
          <a:solidFill>
            <a:srgbClr val="9AA6B6"/>
          </a:solidFill>
          <a:ln/>
        </p:spPr>
      </p:sp>
      <p:sp>
        <p:nvSpPr>
          <p:cNvPr id="181" name="Shape 179"/>
          <p:cNvSpPr/>
          <p:nvPr/>
        </p:nvSpPr>
        <p:spPr>
          <a:xfrm>
            <a:off x="9986395" y="3407584"/>
            <a:ext cx="365760" cy="274320"/>
          </a:xfrm>
          <a:prstGeom prst="line">
            <a:avLst/>
          </a:prstGeom>
          <a:noFill/>
          <a:ln w="11430">
            <a:solidFill>
              <a:srgbClr val="7D8AA0"/>
            </a:solidFill>
            <a:prstDash val="solid"/>
          </a:ln>
        </p:spPr>
      </p:sp>
      <p:sp>
        <p:nvSpPr>
          <p:cNvPr id="182" name="Shape 180"/>
          <p:cNvSpPr/>
          <p:nvPr/>
        </p:nvSpPr>
        <p:spPr>
          <a:xfrm>
            <a:off x="10311007" y="3640756"/>
            <a:ext cx="82296" cy="82296"/>
          </a:xfrm>
          <a:prstGeom prst="ellipse">
            <a:avLst/>
          </a:prstGeom>
          <a:solidFill>
            <a:srgbClr val="9AA6B6"/>
          </a:solidFill>
          <a:ln/>
        </p:spPr>
      </p:sp>
      <p:sp>
        <p:nvSpPr>
          <p:cNvPr id="183" name="Shape 181"/>
          <p:cNvSpPr/>
          <p:nvPr/>
        </p:nvSpPr>
        <p:spPr>
          <a:xfrm flipV="1">
            <a:off x="8779577" y="3118104"/>
            <a:ext cx="411480" cy="228600"/>
          </a:xfrm>
          <a:prstGeom prst="line">
            <a:avLst/>
          </a:prstGeom>
          <a:noFill/>
          <a:ln w="11430">
            <a:solidFill>
              <a:srgbClr val="7D8AA0"/>
            </a:solidFill>
            <a:prstDash val="solid"/>
          </a:ln>
        </p:spPr>
      </p:sp>
      <p:sp>
        <p:nvSpPr>
          <p:cNvPr id="184" name="Shape 182"/>
          <p:cNvSpPr/>
          <p:nvPr/>
        </p:nvSpPr>
        <p:spPr>
          <a:xfrm>
            <a:off x="8738429" y="3305556"/>
            <a:ext cx="82296" cy="82296"/>
          </a:xfrm>
          <a:prstGeom prst="ellipse">
            <a:avLst/>
          </a:prstGeom>
          <a:solidFill>
            <a:srgbClr val="9AA6B6"/>
          </a:solidFill>
          <a:ln/>
        </p:spPr>
      </p:sp>
      <p:sp>
        <p:nvSpPr>
          <p:cNvPr id="185" name="Shape 183"/>
          <p:cNvSpPr/>
          <p:nvPr/>
        </p:nvSpPr>
        <p:spPr>
          <a:xfrm>
            <a:off x="8673942" y="2628876"/>
            <a:ext cx="438912" cy="45720"/>
          </a:xfrm>
          <a:prstGeom prst="line">
            <a:avLst/>
          </a:prstGeom>
          <a:noFill/>
          <a:ln w="11430">
            <a:solidFill>
              <a:srgbClr val="7D8AA0"/>
            </a:solidFill>
            <a:prstDash val="solid"/>
          </a:ln>
        </p:spPr>
      </p:sp>
      <p:sp>
        <p:nvSpPr>
          <p:cNvPr id="186" name="Shape 184"/>
          <p:cNvSpPr/>
          <p:nvPr/>
        </p:nvSpPr>
        <p:spPr>
          <a:xfrm>
            <a:off x="8632794" y="2587728"/>
            <a:ext cx="82296" cy="82296"/>
          </a:xfrm>
          <a:prstGeom prst="ellipse">
            <a:avLst/>
          </a:prstGeom>
          <a:solidFill>
            <a:srgbClr val="9AA6B6"/>
          </a:solidFill>
          <a:ln/>
        </p:spPr>
      </p:sp>
      <p:sp>
        <p:nvSpPr>
          <p:cNvPr id="187" name="Shape 185"/>
          <p:cNvSpPr/>
          <p:nvPr/>
        </p:nvSpPr>
        <p:spPr>
          <a:xfrm>
            <a:off x="9710928" y="2080260"/>
            <a:ext cx="100584" cy="100584"/>
          </a:xfrm>
          <a:prstGeom prst="ellipse">
            <a:avLst/>
          </a:prstGeom>
          <a:solidFill>
            <a:srgbClr val="E8ECF2"/>
          </a:solidFill>
          <a:ln/>
        </p:spPr>
      </p:sp>
      <p:sp>
        <p:nvSpPr>
          <p:cNvPr id="188" name="Shape 186"/>
          <p:cNvSpPr/>
          <p:nvPr/>
        </p:nvSpPr>
        <p:spPr>
          <a:xfrm>
            <a:off x="10134119" y="2234289"/>
            <a:ext cx="100584" cy="100584"/>
          </a:xfrm>
          <a:prstGeom prst="ellipse">
            <a:avLst/>
          </a:prstGeom>
          <a:solidFill>
            <a:srgbClr val="E8ECF2"/>
          </a:solidFill>
          <a:ln/>
        </p:spPr>
      </p:sp>
      <p:sp>
        <p:nvSpPr>
          <p:cNvPr id="189" name="Shape 187"/>
          <p:cNvSpPr/>
          <p:nvPr/>
        </p:nvSpPr>
        <p:spPr>
          <a:xfrm>
            <a:off x="10359294" y="2624304"/>
            <a:ext cx="100584" cy="100584"/>
          </a:xfrm>
          <a:prstGeom prst="ellipse">
            <a:avLst/>
          </a:prstGeom>
          <a:solidFill>
            <a:srgbClr val="E8ECF2"/>
          </a:solidFill>
          <a:ln/>
        </p:spPr>
      </p:sp>
      <p:sp>
        <p:nvSpPr>
          <p:cNvPr id="190" name="Shape 188"/>
          <p:cNvSpPr/>
          <p:nvPr/>
        </p:nvSpPr>
        <p:spPr>
          <a:xfrm>
            <a:off x="10281091" y="3067812"/>
            <a:ext cx="100584" cy="100584"/>
          </a:xfrm>
          <a:prstGeom prst="ellipse">
            <a:avLst/>
          </a:prstGeom>
          <a:solidFill>
            <a:srgbClr val="E8ECF2"/>
          </a:solidFill>
          <a:ln/>
        </p:spPr>
      </p:sp>
      <p:sp>
        <p:nvSpPr>
          <p:cNvPr id="191" name="Shape 189"/>
          <p:cNvSpPr/>
          <p:nvPr/>
        </p:nvSpPr>
        <p:spPr>
          <a:xfrm>
            <a:off x="9936103" y="3357292"/>
            <a:ext cx="100584" cy="100584"/>
          </a:xfrm>
          <a:prstGeom prst="ellipse">
            <a:avLst/>
          </a:prstGeom>
          <a:solidFill>
            <a:srgbClr val="E8ECF2"/>
          </a:solidFill>
          <a:ln/>
        </p:spPr>
      </p:sp>
      <p:sp>
        <p:nvSpPr>
          <p:cNvPr id="192" name="Shape 190"/>
          <p:cNvSpPr/>
          <p:nvPr/>
        </p:nvSpPr>
        <p:spPr>
          <a:xfrm>
            <a:off x="9485753" y="3357292"/>
            <a:ext cx="100584" cy="100584"/>
          </a:xfrm>
          <a:prstGeom prst="ellipse">
            <a:avLst/>
          </a:prstGeom>
          <a:solidFill>
            <a:srgbClr val="E8ECF2"/>
          </a:solidFill>
          <a:ln/>
        </p:spPr>
      </p:sp>
      <p:sp>
        <p:nvSpPr>
          <p:cNvPr id="193" name="Shape 191"/>
          <p:cNvSpPr/>
          <p:nvPr/>
        </p:nvSpPr>
        <p:spPr>
          <a:xfrm>
            <a:off x="9140765" y="3067812"/>
            <a:ext cx="100584" cy="100584"/>
          </a:xfrm>
          <a:prstGeom prst="ellipse">
            <a:avLst/>
          </a:prstGeom>
          <a:solidFill>
            <a:srgbClr val="E8ECF2"/>
          </a:solidFill>
          <a:ln/>
        </p:spPr>
      </p:sp>
      <p:sp>
        <p:nvSpPr>
          <p:cNvPr id="194" name="Shape 192"/>
          <p:cNvSpPr/>
          <p:nvPr/>
        </p:nvSpPr>
        <p:spPr>
          <a:xfrm>
            <a:off x="9062562" y="2624304"/>
            <a:ext cx="100584" cy="100584"/>
          </a:xfrm>
          <a:prstGeom prst="ellipse">
            <a:avLst/>
          </a:prstGeom>
          <a:solidFill>
            <a:srgbClr val="E8ECF2"/>
          </a:solidFill>
          <a:ln/>
        </p:spPr>
      </p:sp>
      <p:sp>
        <p:nvSpPr>
          <p:cNvPr id="195" name="Shape 193"/>
          <p:cNvSpPr/>
          <p:nvPr/>
        </p:nvSpPr>
        <p:spPr>
          <a:xfrm>
            <a:off x="9287737" y="2234289"/>
            <a:ext cx="100584" cy="100584"/>
          </a:xfrm>
          <a:prstGeom prst="ellipse">
            <a:avLst/>
          </a:prstGeom>
          <a:solidFill>
            <a:srgbClr val="E8ECF2"/>
          </a:solidFill>
          <a:ln/>
        </p:spPr>
      </p:sp>
      <p:sp>
        <p:nvSpPr>
          <p:cNvPr id="196" name="Text 194"/>
          <p:cNvSpPr txBox="1"/>
          <p:nvPr/>
        </p:nvSpPr>
        <p:spPr>
          <a:xfrm>
            <a:off x="640080" y="3794760"/>
            <a:ext cx="3429000" cy="384048"/>
          </a:xfrm>
          <a:prstGeom prst="rect">
            <a:avLst/>
          </a:prstGeom>
          <a:noFill/>
          <a:ln/>
        </p:spPr>
        <p:txBody>
          <a:bodyPr wrap="square" lIns="0" tIns="0" rIns="0" bIns="0" rtlCol="0" anchor="t"/>
          <a:lstStyle/>
          <a:p>
            <a:pPr indent="0" marL="0">
              <a:buNone/>
            </a:pPr>
            <a:r>
              <a:rPr lang="en-US" sz="2000" dirty="0">
                <a:solidFill>
                  <a:srgbClr val="E8ECF2"/>
                </a:solidFill>
                <a:latin typeface="Century Schoolbook" pitchFamily="34" charset="0"/>
                <a:ea typeface="Century Schoolbook" pitchFamily="34" charset="-122"/>
                <a:cs typeface="Century Schoolbook" pitchFamily="34" charset="-120"/>
              </a:rPr>
              <a:t>Sparse</a:t>
            </a:r>
            <a:endParaRPr lang="en-US" sz="2000" dirty="0"/>
          </a:p>
        </p:txBody>
      </p:sp>
      <p:sp>
        <p:nvSpPr>
          <p:cNvPr id="197" name="Text 195"/>
          <p:cNvSpPr txBox="1"/>
          <p:nvPr/>
        </p:nvSpPr>
        <p:spPr>
          <a:xfrm>
            <a:off x="640080" y="4206240"/>
            <a:ext cx="3429000" cy="274320"/>
          </a:xfrm>
          <a:prstGeom prst="rect">
            <a:avLst/>
          </a:prstGeom>
          <a:noFill/>
          <a:ln/>
        </p:spPr>
        <p:txBody>
          <a:bodyPr wrap="square" lIns="0" tIns="0" rIns="0" bIns="0" rtlCol="0" anchor="t"/>
          <a:lstStyle/>
          <a:p>
            <a:pPr indent="0" marL="0">
              <a:buNone/>
            </a:pPr>
            <a:r>
              <a:rPr lang="en-US" sz="1250" dirty="0">
                <a:solidFill>
                  <a:srgbClr val="9AA6B6"/>
                </a:solidFill>
                <a:latin typeface="Calibri" pitchFamily="34" charset="0"/>
                <a:ea typeface="Calibri" pitchFamily="34" charset="-122"/>
                <a:cs typeface="Calibri" pitchFamily="34" charset="-120"/>
              </a:rPr>
              <a:t>n = 1,357 · 2,280–2,282 edges · tw ≥ 5</a:t>
            </a:r>
            <a:endParaRPr lang="en-US" sz="1250" dirty="0"/>
          </a:p>
        </p:txBody>
      </p:sp>
      <p:sp>
        <p:nvSpPr>
          <p:cNvPr id="198" name="Text 196"/>
          <p:cNvSpPr txBox="1"/>
          <p:nvPr/>
        </p:nvSpPr>
        <p:spPr>
          <a:xfrm>
            <a:off x="640080" y="4553712"/>
            <a:ext cx="3429000" cy="868680"/>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small-graph (ESA), a grid with 207 pendant vertices; synth-1, 2, 3 match it: 10 × 115 grids, 100 edges dropped</a:t>
            </a:r>
            <a:endParaRPr lang="en-US" sz="1300" dirty="0"/>
          </a:p>
        </p:txBody>
      </p:sp>
      <p:sp>
        <p:nvSpPr>
          <p:cNvPr id="199" name="Text 197"/>
          <p:cNvSpPr txBox="1"/>
          <p:nvPr/>
        </p:nvSpPr>
        <p:spPr>
          <a:xfrm>
            <a:off x="4343400" y="3794760"/>
            <a:ext cx="3429000" cy="384048"/>
          </a:xfrm>
          <a:prstGeom prst="rect">
            <a:avLst/>
          </a:prstGeom>
          <a:noFill/>
          <a:ln/>
        </p:spPr>
        <p:txBody>
          <a:bodyPr wrap="square" lIns="0" tIns="0" rIns="0" bIns="0" rtlCol="0" anchor="t"/>
          <a:lstStyle/>
          <a:p>
            <a:pPr indent="0" marL="0">
              <a:buNone/>
            </a:pPr>
            <a:r>
              <a:rPr lang="en-US" sz="2000" dirty="0">
                <a:solidFill>
                  <a:srgbClr val="E8ECF2"/>
                </a:solidFill>
                <a:latin typeface="Century Schoolbook" pitchFamily="34" charset="0"/>
                <a:ea typeface="Century Schoolbook" pitchFamily="34" charset="-122"/>
                <a:cs typeface="Century Schoolbook" pitchFamily="34" charset="-120"/>
              </a:rPr>
              <a:t>Rewired medium</a:t>
            </a:r>
            <a:endParaRPr lang="en-US" sz="2000" dirty="0"/>
          </a:p>
        </p:txBody>
      </p:sp>
      <p:sp>
        <p:nvSpPr>
          <p:cNvPr id="200" name="Text 198"/>
          <p:cNvSpPr txBox="1"/>
          <p:nvPr/>
        </p:nvSpPr>
        <p:spPr>
          <a:xfrm>
            <a:off x="4343400" y="4206240"/>
            <a:ext cx="3429000" cy="274320"/>
          </a:xfrm>
          <a:prstGeom prst="rect">
            <a:avLst/>
          </a:prstGeom>
          <a:noFill/>
          <a:ln/>
        </p:spPr>
        <p:txBody>
          <a:bodyPr wrap="square" lIns="0" tIns="0" rIns="0" bIns="0" rtlCol="0" anchor="t"/>
          <a:lstStyle/>
          <a:p>
            <a:pPr indent="0" marL="0">
              <a:buNone/>
            </a:pPr>
            <a:r>
              <a:rPr lang="en-US" sz="1250" dirty="0">
                <a:solidFill>
                  <a:srgbClr val="9AA6B6"/>
                </a:solidFill>
                <a:latin typeface="Calibri" pitchFamily="34" charset="0"/>
                <a:ea typeface="Calibri" pitchFamily="34" charset="-122"/>
                <a:cs typeface="Calibri" pitchFamily="34" charset="-120"/>
              </a:rPr>
              <a:t>n = 1,399 · 13,799 edges · tw ≥ 63–73</a:t>
            </a:r>
            <a:endParaRPr lang="en-US" sz="1250" dirty="0"/>
          </a:p>
        </p:txBody>
      </p:sp>
      <p:sp>
        <p:nvSpPr>
          <p:cNvPr id="201" name="Text 199"/>
          <p:cNvSpPr txBox="1"/>
          <p:nvPr/>
        </p:nvSpPr>
        <p:spPr>
          <a:xfrm>
            <a:off x="4343400" y="4553712"/>
            <a:ext cx="3429000" cy="868680"/>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medium-graph (ESA); synth-4, 5 are degree-preserving rewirings of it</a:t>
            </a:r>
            <a:endParaRPr lang="en-US" sz="1300" dirty="0"/>
          </a:p>
        </p:txBody>
      </p:sp>
      <p:sp>
        <p:nvSpPr>
          <p:cNvPr id="202" name="Text 200"/>
          <p:cNvSpPr txBox="1"/>
          <p:nvPr/>
        </p:nvSpPr>
        <p:spPr>
          <a:xfrm>
            <a:off x="8046720" y="3794760"/>
            <a:ext cx="3429000" cy="384048"/>
          </a:xfrm>
          <a:prstGeom prst="rect">
            <a:avLst/>
          </a:prstGeom>
          <a:noFill/>
          <a:ln/>
        </p:spPr>
        <p:txBody>
          <a:bodyPr wrap="square" lIns="0" tIns="0" rIns="0" bIns="0" rtlCol="0" anchor="t"/>
          <a:lstStyle/>
          <a:p>
            <a:pPr indent="0" marL="0">
              <a:buNone/>
            </a:pPr>
            <a:r>
              <a:rPr lang="en-US" sz="2000" dirty="0">
                <a:solidFill>
                  <a:srgbClr val="E8ECF2"/>
                </a:solidFill>
                <a:latin typeface="Century Schoolbook" pitchFamily="34" charset="0"/>
                <a:ea typeface="Century Schoolbook" pitchFamily="34" charset="-122"/>
                <a:cs typeface="Century Schoolbook" pitchFamily="34" charset="-120"/>
              </a:rPr>
              <a:t>Clique-pinned dense</a:t>
            </a:r>
            <a:endParaRPr lang="en-US" sz="2000" dirty="0"/>
          </a:p>
        </p:txBody>
      </p:sp>
      <p:sp>
        <p:nvSpPr>
          <p:cNvPr id="203" name="Text 201"/>
          <p:cNvSpPr txBox="1"/>
          <p:nvPr/>
        </p:nvSpPr>
        <p:spPr>
          <a:xfrm>
            <a:off x="8046720" y="4206240"/>
            <a:ext cx="3429000" cy="274320"/>
          </a:xfrm>
          <a:prstGeom prst="rect">
            <a:avLst/>
          </a:prstGeom>
          <a:noFill/>
          <a:ln/>
        </p:spPr>
        <p:txBody>
          <a:bodyPr wrap="square" lIns="0" tIns="0" rIns="0" bIns="0" rtlCol="0" anchor="t"/>
          <a:lstStyle/>
          <a:p>
            <a:pPr indent="0" marL="0">
              <a:buNone/>
            </a:pPr>
            <a:r>
              <a:rPr lang="en-US" sz="1250" dirty="0">
                <a:solidFill>
                  <a:srgbClr val="9AA6B6"/>
                </a:solidFill>
                <a:latin typeface="Calibri" pitchFamily="34" charset="0"/>
                <a:ea typeface="Calibri" pitchFamily="34" charset="-122"/>
                <a:cs typeface="Calibri" pitchFamily="34" charset="-120"/>
              </a:rPr>
              <a:t>n = 2,426 · 253,895 edges · tw 499–500</a:t>
            </a:r>
            <a:endParaRPr lang="en-US" sz="1250" dirty="0"/>
          </a:p>
        </p:txBody>
      </p:sp>
      <p:sp>
        <p:nvSpPr>
          <p:cNvPr id="204" name="Text 202"/>
          <p:cNvSpPr txBox="1"/>
          <p:nvPr/>
        </p:nvSpPr>
        <p:spPr>
          <a:xfrm>
            <a:off x="8046720" y="4553712"/>
            <a:ext cx="3429000" cy="868680"/>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large-graph (ESA), with cliques of 500, 400 and 300; synth-6, 7 rewire it and keep them</a:t>
            </a:r>
            <a:endParaRPr lang="en-US" sz="1300" dirty="0"/>
          </a:p>
        </p:txBody>
      </p:sp>
      <p:sp>
        <p:nvSpPr>
          <p:cNvPr id="205" name="Text 203"/>
          <p:cNvSpPr txBox="1"/>
          <p:nvPr/>
        </p:nvSpPr>
        <p:spPr>
          <a:xfrm>
            <a:off x="640080" y="5596128"/>
            <a:ext cx="10911535" cy="658368"/>
          </a:xfrm>
          <a:prstGeom prst="rect">
            <a:avLst/>
          </a:prstGeom>
          <a:noFill/>
          <a:ln/>
        </p:spPr>
        <p:txBody>
          <a:bodyPr wrap="square" lIns="0" tIns="0" rIns="0" bIns="0" rtlCol="0" anchor="t"/>
          <a:lstStyle/>
          <a:p>
            <a:pPr indent="0" marL="0">
              <a:buNone/>
            </a:pPr>
            <a:r>
              <a:rPr lang="en-US" sz="1400" i="1" dirty="0">
                <a:solidFill>
                  <a:srgbClr val="E8ECF2"/>
                </a:solidFill>
                <a:latin typeface="Century Schoolbook" pitchFamily="34" charset="0"/>
                <a:ea typeface="Century Schoolbook" pitchFamily="34" charset="-122"/>
                <a:cs typeface="Century Schoolbook" pitchFamily="34" charset="-120"/>
              </a:rPr>
              <a:t>Within a family n is identical, the edge counts agree to within two and only the structure differs, so a ranking that changes between families is about structure. Ten rows are three independent samples, not ten.</a:t>
            </a:r>
            <a:endParaRPr lang="en-US" sz="140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III · THE TABLE</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The table names a winner on every row</a:t>
            </a:r>
            <a:endParaRPr lang="en-US" sz="2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726680" cy="914400"/>
        </p:xfrm>
        <a:graphic>
          <a:graphicData uri="http://schemas.openxmlformats.org/drawingml/2006/table">
            <a:tbl>
              <a:tblPr/>
              <a:tblGrid>
                <a:gridCol w="1417320"/>
                <a:gridCol w="1261872"/>
                <a:gridCol w="1261872"/>
                <a:gridCol w="1261872"/>
                <a:gridCol w="1261872"/>
                <a:gridCol w="1261872"/>
              </a:tblGrid>
              <a:tr h="269748">
                <a:tc>
                  <a:txBody>
                    <a:bodyPr/>
                    <a:lstStyle/>
                    <a:p>
                      <a:pPr indent="0" marL="0">
                        <a:buNone/>
                      </a:pP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c>
                  <a:txBody>
                    <a:bodyPr/>
                    <a:lstStyle/>
                    <a:p>
                      <a:pPr algn="r" indent="0" marL="0">
                        <a:buNone/>
                      </a:pPr>
                      <a:r>
                        <a:rPr lang="en-US" sz="1200" b="1" dirty="0">
                          <a:solidFill>
                            <a:srgbClr val="E8ECF2"/>
                          </a:solidFill>
                          <a:latin typeface="Calibri" pitchFamily="34" charset="0"/>
                          <a:ea typeface="Calibri" pitchFamily="34" charset="-122"/>
                          <a:cs typeface="Calibri" pitchFamily="34" charset="-120"/>
                        </a:rPr>
                        <a:t>fcmaes</a:t>
                      </a:r>
                      <a:endParaRPr lang="en-US" sz="12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c>
                  <a:txBody>
                    <a:bodyPr/>
                    <a:lstStyle/>
                    <a:p>
                      <a:pPr algn="r" indent="0" marL="0">
                        <a:buNone/>
                      </a:pPr>
                      <a:r>
                        <a:rPr lang="en-US" sz="1200" b="1" dirty="0">
                          <a:solidFill>
                            <a:srgbClr val="E8ECF2"/>
                          </a:solidFill>
                          <a:latin typeface="Calibri" pitchFamily="34" charset="0"/>
                          <a:ea typeface="Calibri" pitchFamily="34" charset="-122"/>
                          <a:cs typeface="Calibri" pitchFamily="34" charset="-120"/>
                        </a:rPr>
                        <a:t>Team HRI</a:t>
                      </a:r>
                      <a:endParaRPr lang="en-US" sz="12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c>
                  <a:txBody>
                    <a:bodyPr/>
                    <a:lstStyle/>
                    <a:p>
                      <a:pPr algn="r" indent="0" marL="0">
                        <a:buNone/>
                      </a:pPr>
                      <a:r>
                        <a:rPr lang="en-US" sz="1200" b="1" dirty="0">
                          <a:solidFill>
                            <a:srgbClr val="E8ECF2"/>
                          </a:solidFill>
                          <a:latin typeface="Calibri" pitchFamily="34" charset="0"/>
                          <a:ea typeface="Calibri" pitchFamily="34" charset="-122"/>
                          <a:cs typeface="Calibri" pitchFamily="34" charset="-120"/>
                        </a:rPr>
                        <a:t>Spacekangaroos</a:t>
                      </a:r>
                      <a:endParaRPr lang="en-US" sz="12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c>
                  <a:txBody>
                    <a:bodyPr/>
                    <a:lstStyle/>
                    <a:p>
                      <a:pPr algn="r" indent="0" marL="0">
                        <a:buNone/>
                      </a:pPr>
                      <a:r>
                        <a:rPr lang="en-US" sz="1200" b="1" dirty="0">
                          <a:solidFill>
                            <a:srgbClr val="E8ECF2"/>
                          </a:solidFill>
                          <a:latin typeface="Calibri" pitchFamily="34" charset="0"/>
                          <a:ea typeface="Calibri" pitchFamily="34" charset="-122"/>
                          <a:cs typeface="Calibri" pitchFamily="34" charset="-120"/>
                        </a:rPr>
                        <a:t>Hill Climbing</a:t>
                      </a:r>
                      <a:endParaRPr lang="en-US" sz="12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c>
                  <a:txBody>
                    <a:bodyPr/>
                    <a:lstStyle/>
                    <a:p>
                      <a:pPr algn="r" indent="0" marL="0">
                        <a:buNone/>
                      </a:pPr>
                      <a:r>
                        <a:rPr lang="en-US" sz="1200" b="1" dirty="0">
                          <a:solidFill>
                            <a:srgbClr val="E8ECF2"/>
                          </a:solidFill>
                          <a:latin typeface="Calibri" pitchFamily="34" charset="0"/>
                          <a:ea typeface="Calibri" pitchFamily="34" charset="-122"/>
                          <a:cs typeface="Calibri" pitchFamily="34" charset="-120"/>
                        </a:rPr>
                        <a:t>min-degree ×8</a:t>
                      </a:r>
                      <a:endParaRPr lang="en-US" sz="12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r>
              <a:tr h="269748">
                <a:tc>
                  <a:txBody>
                    <a:bodyPr/>
                    <a:lstStyle/>
                    <a:p>
                      <a:pPr indent="0" marL="0">
                        <a:buNone/>
                      </a:pP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ESA #4</a:t>
                      </a:r>
                      <a:endParaRPr lang="en-US" sz="10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ESA #2</a:t>
                      </a:r>
                      <a:endParaRPr lang="en-US" sz="10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ESA #1</a:t>
                      </a:r>
                      <a:endParaRPr lang="en-US" sz="10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this study</a:t>
                      </a:r>
                      <a:endParaRPr lang="en-US" sz="10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no search</a:t>
                      </a:r>
                      <a:endParaRPr lang="en-US" sz="10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r>
              <a:tr h="269748">
                <a:tc gridSpan="6">
                  <a:txBody>
                    <a:bodyPr/>
                    <a:lstStyle/>
                    <a:p>
                      <a:pPr indent="0" marL="0">
                        <a:buNone/>
                      </a:pPr>
                      <a:r>
                        <a:rPr lang="en-US" sz="1000" b="1" spc="150" kern="0" dirty="0">
                          <a:solidFill>
                            <a:srgbClr val="7D8AA0"/>
                          </a:solidFill>
                          <a:latin typeface="Calibri" pitchFamily="34" charset="0"/>
                          <a:ea typeface="Calibri" pitchFamily="34" charset="-122"/>
                          <a:cs typeface="Calibri" pitchFamily="34" charset="-120"/>
                        </a:rPr>
                        <a:t>SPARSE</a:t>
                      </a:r>
                      <a:endParaRPr lang="en-US" sz="10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hMerge="1">
                  <a:tcPr/>
                </a:tc>
                <a:tc hMerge="1">
                  <a:tcPr/>
                </a:tc>
                <a:tc hMerge="1">
                  <a:tcPr/>
                </a:tc>
                <a:tc hMerge="1">
                  <a:tcPr/>
                </a:tc>
                <a:tc hMerge="1">
                  <a:tcPr/>
                </a:tc>
              </a:tr>
              <a:tr h="269748">
                <a:tc>
                  <a:txBody>
                    <a:bodyPr/>
                    <a:lstStyle/>
                    <a:p>
                      <a:pPr algn="l" indent="0" marL="0">
                        <a:buNone/>
                      </a:pPr>
                      <a:r>
                        <a:rPr lang="en-US" sz="1250" dirty="0">
                          <a:solidFill>
                            <a:srgbClr val="E8ECF2"/>
                          </a:solidFill>
                          <a:latin typeface="Calibri" pitchFamily="34" charset="0"/>
                          <a:ea typeface="Calibri" pitchFamily="34" charset="-122"/>
                          <a:cs typeface="Calibri" pitchFamily="34" charset="-120"/>
                        </a:rPr>
                        <a:t>small-graph</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1,808.0</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1,820.9</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b="1" dirty="0">
                          <a:solidFill>
                            <a:srgbClr val="4DA3FF"/>
                          </a:solidFill>
                          <a:latin typeface="Calibri" pitchFamily="34" charset="0"/>
                          <a:ea typeface="Calibri" pitchFamily="34" charset="-122"/>
                          <a:cs typeface="Calibri" pitchFamily="34" charset="-120"/>
                        </a:rPr>
                        <a:t>1,827.5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4DA3FF">
                        <a:alpha val="14000"/>
                      </a:srgbClr>
                    </a:solidFill>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1,815.4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9AA6B6"/>
                          </a:solidFill>
                          <a:latin typeface="Calibri" pitchFamily="34" charset="0"/>
                          <a:ea typeface="Calibri" pitchFamily="34" charset="-122"/>
                          <a:cs typeface="Calibri" pitchFamily="34" charset="-120"/>
                        </a:rPr>
                        <a:t>1,814.5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269748">
                <a:tc>
                  <a:txBody>
                    <a:bodyPr/>
                    <a:lstStyle/>
                    <a:p>
                      <a:pPr algn="l" indent="0" marL="0">
                        <a:buNone/>
                      </a:pPr>
                      <a:r>
                        <a:rPr lang="en-US" sz="1250" dirty="0">
                          <a:solidFill>
                            <a:srgbClr val="E8ECF2"/>
                          </a:solidFill>
                          <a:latin typeface="Calibri" pitchFamily="34" charset="0"/>
                          <a:ea typeface="Calibri" pitchFamily="34" charset="-122"/>
                          <a:cs typeface="Calibri" pitchFamily="34" charset="-120"/>
                        </a:rPr>
                        <a:t>synth-1</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1,804.5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1,818.7</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1,816.9</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b="1" dirty="0">
                          <a:solidFill>
                            <a:srgbClr val="4DA3FF"/>
                          </a:solidFill>
                          <a:latin typeface="Calibri" pitchFamily="34" charset="0"/>
                          <a:ea typeface="Calibri" pitchFamily="34" charset="-122"/>
                          <a:cs typeface="Calibri" pitchFamily="34" charset="-120"/>
                        </a:rPr>
                        <a:t>1,819.9</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4DA3FF">
                        <a:alpha val="14000"/>
                      </a:srgbClr>
                    </a:solidFill>
                  </a:tcPr>
                </a:tc>
                <a:tc>
                  <a:txBody>
                    <a:bodyPr/>
                    <a:lstStyle/>
                    <a:p>
                      <a:pPr algn="r" indent="0" marL="0">
                        <a:buNone/>
                      </a:pPr>
                      <a:r>
                        <a:rPr lang="en-US" sz="1250" dirty="0">
                          <a:solidFill>
                            <a:srgbClr val="9AA6B6"/>
                          </a:solidFill>
                          <a:latin typeface="Calibri" pitchFamily="34" charset="0"/>
                          <a:ea typeface="Calibri" pitchFamily="34" charset="-122"/>
                          <a:cs typeface="Calibri" pitchFamily="34" charset="-120"/>
                        </a:rPr>
                        <a:t>1,818.5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269748">
                <a:tc>
                  <a:txBody>
                    <a:bodyPr/>
                    <a:lstStyle/>
                    <a:p>
                      <a:pPr algn="l" indent="0" marL="0">
                        <a:buNone/>
                      </a:pPr>
                      <a:r>
                        <a:rPr lang="en-US" sz="1250" dirty="0">
                          <a:solidFill>
                            <a:srgbClr val="E8ECF2"/>
                          </a:solidFill>
                          <a:latin typeface="Calibri" pitchFamily="34" charset="0"/>
                          <a:ea typeface="Calibri" pitchFamily="34" charset="-122"/>
                          <a:cs typeface="Calibri" pitchFamily="34" charset="-120"/>
                        </a:rPr>
                        <a:t>synth-2</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1,803.8</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b="1" dirty="0">
                          <a:solidFill>
                            <a:srgbClr val="4DA3FF"/>
                          </a:solidFill>
                          <a:latin typeface="Calibri" pitchFamily="34" charset="0"/>
                          <a:ea typeface="Calibri" pitchFamily="34" charset="-122"/>
                          <a:cs typeface="Calibri" pitchFamily="34" charset="-120"/>
                        </a:rPr>
                        <a:t>1,820.2</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4DA3FF">
                        <a:alpha val="14000"/>
                      </a:srgbClr>
                    </a:solidFill>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1,817.5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1,820.0</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9AA6B6"/>
                          </a:solidFill>
                          <a:latin typeface="Calibri" pitchFamily="34" charset="0"/>
                          <a:ea typeface="Calibri" pitchFamily="34" charset="-122"/>
                          <a:cs typeface="Calibri" pitchFamily="34" charset="-120"/>
                        </a:rPr>
                        <a:t>1,819.9</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269748">
                <a:tc>
                  <a:txBody>
                    <a:bodyPr/>
                    <a:lstStyle/>
                    <a:p>
                      <a:pPr algn="l" indent="0" marL="0">
                        <a:buNone/>
                      </a:pPr>
                      <a:r>
                        <a:rPr lang="en-US" sz="1250" dirty="0">
                          <a:solidFill>
                            <a:srgbClr val="E8ECF2"/>
                          </a:solidFill>
                          <a:latin typeface="Calibri" pitchFamily="34" charset="0"/>
                          <a:ea typeface="Calibri" pitchFamily="34" charset="-122"/>
                          <a:cs typeface="Calibri" pitchFamily="34" charset="-120"/>
                        </a:rPr>
                        <a:t>synth-3</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1,804.4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1,817.6</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1,816.5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b="1" dirty="0">
                          <a:solidFill>
                            <a:srgbClr val="4DA3FF"/>
                          </a:solidFill>
                          <a:latin typeface="Calibri" pitchFamily="34" charset="0"/>
                          <a:ea typeface="Calibri" pitchFamily="34" charset="-122"/>
                          <a:cs typeface="Calibri" pitchFamily="34" charset="-120"/>
                        </a:rPr>
                        <a:t>1,819.9</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4DA3FF">
                        <a:alpha val="14000"/>
                      </a:srgbClr>
                    </a:solidFill>
                  </a:tcPr>
                </a:tc>
                <a:tc>
                  <a:txBody>
                    <a:bodyPr/>
                    <a:lstStyle/>
                    <a:p>
                      <a:pPr algn="r" indent="0" marL="0">
                        <a:buNone/>
                      </a:pPr>
                      <a:r>
                        <a:rPr lang="en-US" sz="1250" dirty="0">
                          <a:solidFill>
                            <a:srgbClr val="9AA6B6"/>
                          </a:solidFill>
                          <a:latin typeface="Calibri" pitchFamily="34" charset="0"/>
                          <a:ea typeface="Calibri" pitchFamily="34" charset="-122"/>
                          <a:cs typeface="Calibri" pitchFamily="34" charset="-120"/>
                        </a:rPr>
                        <a:t>1,819.9</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269748">
                <a:tc gridSpan="6">
                  <a:txBody>
                    <a:bodyPr/>
                    <a:lstStyle/>
                    <a:p>
                      <a:pPr indent="0" marL="0">
                        <a:buNone/>
                      </a:pPr>
                      <a:r>
                        <a:rPr lang="en-US" sz="1000" b="1" spc="150" kern="0" dirty="0">
                          <a:solidFill>
                            <a:srgbClr val="7D8AA0"/>
                          </a:solidFill>
                          <a:latin typeface="Calibri" pitchFamily="34" charset="0"/>
                          <a:ea typeface="Calibri" pitchFamily="34" charset="-122"/>
                          <a:cs typeface="Calibri" pitchFamily="34" charset="-120"/>
                        </a:rPr>
                        <a:t>REWIRED MEDIUM</a:t>
                      </a:r>
                      <a:endParaRPr lang="en-US" sz="10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hMerge="1">
                  <a:tcPr/>
                </a:tc>
                <a:tc hMerge="1">
                  <a:tcPr/>
                </a:tc>
                <a:tc hMerge="1">
                  <a:tcPr/>
                </a:tc>
                <a:tc hMerge="1">
                  <a:tcPr/>
                </a:tc>
                <a:tc hMerge="1">
                  <a:tcPr/>
                </a:tc>
              </a:tr>
              <a:tr h="269748">
                <a:tc>
                  <a:txBody>
                    <a:bodyPr/>
                    <a:lstStyle/>
                    <a:p>
                      <a:pPr algn="l" indent="0" marL="0">
                        <a:buNone/>
                      </a:pPr>
                      <a:r>
                        <a:rPr lang="en-US" sz="1250" dirty="0">
                          <a:solidFill>
                            <a:srgbClr val="E8ECF2"/>
                          </a:solidFill>
                          <a:latin typeface="Calibri" pitchFamily="34" charset="0"/>
                          <a:ea typeface="Calibri" pitchFamily="34" charset="-122"/>
                          <a:cs typeface="Calibri" pitchFamily="34" charset="-120"/>
                        </a:rPr>
                        <a:t>medium-graph</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1,663.1</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b="1" dirty="0">
                          <a:solidFill>
                            <a:srgbClr val="4DA3FF"/>
                          </a:solidFill>
                          <a:latin typeface="Calibri" pitchFamily="34" charset="0"/>
                          <a:ea typeface="Calibri" pitchFamily="34" charset="-122"/>
                          <a:cs typeface="Calibri" pitchFamily="34" charset="-120"/>
                        </a:rPr>
                        <a:t>1,682.4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4DA3FF">
                        <a:alpha val="14000"/>
                      </a:srgbClr>
                    </a:solidFill>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1,566.5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1,615.2</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9AA6B6"/>
                          </a:solidFill>
                          <a:latin typeface="Calibri" pitchFamily="34" charset="0"/>
                          <a:ea typeface="Calibri" pitchFamily="34" charset="-122"/>
                          <a:cs typeface="Calibri" pitchFamily="34" charset="-120"/>
                        </a:rPr>
                        <a:t>1,606.4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269748">
                <a:tc>
                  <a:txBody>
                    <a:bodyPr/>
                    <a:lstStyle/>
                    <a:p>
                      <a:pPr algn="l" indent="0" marL="0">
                        <a:buNone/>
                      </a:pPr>
                      <a:r>
                        <a:rPr lang="en-US" sz="1250" dirty="0">
                          <a:solidFill>
                            <a:srgbClr val="E8ECF2"/>
                          </a:solidFill>
                          <a:latin typeface="Calibri" pitchFamily="34" charset="0"/>
                          <a:ea typeface="Calibri" pitchFamily="34" charset="-122"/>
                          <a:cs typeface="Calibri" pitchFamily="34" charset="-120"/>
                        </a:rPr>
                        <a:t>synth-4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1,586.3</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b="1" dirty="0">
                          <a:solidFill>
                            <a:srgbClr val="4DA3FF"/>
                          </a:solidFill>
                          <a:latin typeface="Calibri" pitchFamily="34" charset="0"/>
                          <a:ea typeface="Calibri" pitchFamily="34" charset="-122"/>
                          <a:cs typeface="Calibri" pitchFamily="34" charset="-120"/>
                        </a:rPr>
                        <a:t>1,592.3</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4DA3FF">
                        <a:alpha val="14000"/>
                      </a:srgbClr>
                    </a:solidFill>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1,484.0</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1,564.0</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9AA6B6"/>
                          </a:solidFill>
                          <a:latin typeface="Calibri" pitchFamily="34" charset="0"/>
                          <a:ea typeface="Calibri" pitchFamily="34" charset="-122"/>
                          <a:cs typeface="Calibri" pitchFamily="34" charset="-120"/>
                        </a:rPr>
                        <a:t>1,554.1</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269748">
                <a:tc>
                  <a:txBody>
                    <a:bodyPr/>
                    <a:lstStyle/>
                    <a:p>
                      <a:pPr algn="l" indent="0" marL="0">
                        <a:buNone/>
                      </a:pPr>
                      <a:r>
                        <a:rPr lang="en-US" sz="1250" dirty="0">
                          <a:solidFill>
                            <a:srgbClr val="E8ECF2"/>
                          </a:solidFill>
                          <a:latin typeface="Calibri" pitchFamily="34" charset="0"/>
                          <a:ea typeface="Calibri" pitchFamily="34" charset="-122"/>
                          <a:cs typeface="Calibri" pitchFamily="34" charset="-120"/>
                        </a:rPr>
                        <a:t>synth-5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1,582.9</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b="1" dirty="0">
                          <a:solidFill>
                            <a:srgbClr val="4DA3FF"/>
                          </a:solidFill>
                          <a:latin typeface="Calibri" pitchFamily="34" charset="0"/>
                          <a:ea typeface="Calibri" pitchFamily="34" charset="-122"/>
                          <a:cs typeface="Calibri" pitchFamily="34" charset="-120"/>
                        </a:rPr>
                        <a:t>1,597.5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4DA3FF">
                        <a:alpha val="14000"/>
                      </a:srgbClr>
                    </a:solidFill>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1,473.4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1,562.1</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9AA6B6"/>
                          </a:solidFill>
                          <a:latin typeface="Calibri" pitchFamily="34" charset="0"/>
                          <a:ea typeface="Calibri" pitchFamily="34" charset="-122"/>
                          <a:cs typeface="Calibri" pitchFamily="34" charset="-120"/>
                        </a:rPr>
                        <a:t>1,558.5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269748">
                <a:tc gridSpan="6">
                  <a:txBody>
                    <a:bodyPr/>
                    <a:lstStyle/>
                    <a:p>
                      <a:pPr indent="0" marL="0">
                        <a:buNone/>
                      </a:pPr>
                      <a:r>
                        <a:rPr lang="en-US" sz="1000" b="1" spc="150" kern="0" dirty="0">
                          <a:solidFill>
                            <a:srgbClr val="7D8AA0"/>
                          </a:solidFill>
                          <a:latin typeface="Calibri" pitchFamily="34" charset="0"/>
                          <a:ea typeface="Calibri" pitchFamily="34" charset="-122"/>
                          <a:cs typeface="Calibri" pitchFamily="34" charset="-120"/>
                        </a:rPr>
                        <a:t>CLIQUE-PINNED DENSE</a:t>
                      </a:r>
                      <a:endParaRPr lang="en-US" sz="10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hMerge="1">
                  <a:tcPr/>
                </a:tc>
                <a:tc hMerge="1">
                  <a:tcPr/>
                </a:tc>
                <a:tc hMerge="1">
                  <a:tcPr/>
                </a:tc>
                <a:tc hMerge="1">
                  <a:tcPr/>
                </a:tc>
                <a:tc hMerge="1">
                  <a:tcPr/>
                </a:tc>
              </a:tr>
              <a:tr h="269748">
                <a:tc>
                  <a:txBody>
                    <a:bodyPr/>
                    <a:lstStyle/>
                    <a:p>
                      <a:pPr algn="l" indent="0" marL="0">
                        <a:buNone/>
                      </a:pPr>
                      <a:r>
                        <a:rPr lang="en-US" sz="1250" dirty="0">
                          <a:solidFill>
                            <a:srgbClr val="E8ECF2"/>
                          </a:solidFill>
                          <a:latin typeface="Calibri" pitchFamily="34" charset="0"/>
                          <a:ea typeface="Calibri" pitchFamily="34" charset="-122"/>
                          <a:cs typeface="Calibri" pitchFamily="34" charset="-120"/>
                        </a:rPr>
                        <a:t>large-graph</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b="1" dirty="0">
                          <a:solidFill>
                            <a:srgbClr val="4DA3FF"/>
                          </a:solidFill>
                          <a:latin typeface="Calibri" pitchFamily="34" charset="0"/>
                          <a:ea typeface="Calibri" pitchFamily="34" charset="-122"/>
                          <a:cs typeface="Calibri" pitchFamily="34" charset="-120"/>
                        </a:rPr>
                        <a:t>5,329.4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4DA3FF">
                        <a:alpha val="14000"/>
                      </a:srgbClr>
                    </a:solidFill>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4,836.8</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7D8AA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4,804.4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9AA6B6"/>
                          </a:solidFill>
                          <a:latin typeface="Calibri" pitchFamily="34" charset="0"/>
                          <a:ea typeface="Calibri" pitchFamily="34" charset="-122"/>
                          <a:cs typeface="Calibri" pitchFamily="34" charset="-120"/>
                        </a:rPr>
                        <a:t>4,793.7</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269748">
                <a:tc>
                  <a:txBody>
                    <a:bodyPr/>
                    <a:lstStyle/>
                    <a:p>
                      <a:pPr algn="l" indent="0" marL="0">
                        <a:buNone/>
                      </a:pPr>
                      <a:r>
                        <a:rPr lang="en-US" sz="1250" dirty="0">
                          <a:solidFill>
                            <a:srgbClr val="E8ECF2"/>
                          </a:solidFill>
                          <a:latin typeface="Calibri" pitchFamily="34" charset="0"/>
                          <a:ea typeface="Calibri" pitchFamily="34" charset="-122"/>
                          <a:cs typeface="Calibri" pitchFamily="34" charset="-120"/>
                        </a:rPr>
                        <a:t>synth-6</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b="1" dirty="0">
                          <a:solidFill>
                            <a:srgbClr val="4DA3FF"/>
                          </a:solidFill>
                          <a:latin typeface="Calibri" pitchFamily="34" charset="0"/>
                          <a:ea typeface="Calibri" pitchFamily="34" charset="-122"/>
                          <a:cs typeface="Calibri" pitchFamily="34" charset="-120"/>
                        </a:rPr>
                        <a:t>5,167.2</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4DA3FF">
                        <a:alpha val="14000"/>
                      </a:srgbClr>
                    </a:solidFill>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4,797.9</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7D8AA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4,795.6</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9AA6B6"/>
                          </a:solidFill>
                          <a:latin typeface="Calibri" pitchFamily="34" charset="0"/>
                          <a:ea typeface="Calibri" pitchFamily="34" charset="-122"/>
                          <a:cs typeface="Calibri" pitchFamily="34" charset="-120"/>
                        </a:rPr>
                        <a:t>4,793.7</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269748">
                <a:tc>
                  <a:txBody>
                    <a:bodyPr/>
                    <a:lstStyle/>
                    <a:p>
                      <a:pPr algn="l" indent="0" marL="0">
                        <a:buNone/>
                      </a:pPr>
                      <a:r>
                        <a:rPr lang="en-US" sz="1250" dirty="0">
                          <a:solidFill>
                            <a:srgbClr val="E8ECF2"/>
                          </a:solidFill>
                          <a:latin typeface="Calibri" pitchFamily="34" charset="0"/>
                          <a:ea typeface="Calibri" pitchFamily="34" charset="-122"/>
                          <a:cs typeface="Calibri" pitchFamily="34" charset="-120"/>
                        </a:rPr>
                        <a:t>synth-7</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250" b="1" dirty="0">
                          <a:solidFill>
                            <a:srgbClr val="4DA3FF"/>
                          </a:solidFill>
                          <a:latin typeface="Calibri" pitchFamily="34" charset="0"/>
                          <a:ea typeface="Calibri" pitchFamily="34" charset="-122"/>
                          <a:cs typeface="Calibri" pitchFamily="34" charset="-120"/>
                        </a:rPr>
                        <a:t>5,203.6</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solidFill>
                      <a:srgbClr val="4DA3FF">
                        <a:alpha val="14000"/>
                      </a:srgbClr>
                    </a:solidFill>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4,800.0</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250" dirty="0">
                          <a:solidFill>
                            <a:srgbClr val="7D8AA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250" dirty="0">
                          <a:solidFill>
                            <a:srgbClr val="E8ECF2"/>
                          </a:solidFill>
                          <a:latin typeface="Calibri" pitchFamily="34" charset="0"/>
                          <a:ea typeface="Calibri" pitchFamily="34" charset="-122"/>
                          <a:cs typeface="Calibri" pitchFamily="34" charset="-120"/>
                        </a:rPr>
                        <a:t>4,795.4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250" dirty="0">
                          <a:solidFill>
                            <a:srgbClr val="9AA6B6"/>
                          </a:solidFill>
                          <a:latin typeface="Calibri" pitchFamily="34" charset="0"/>
                          <a:ea typeface="Calibri" pitchFamily="34" charset="-122"/>
                          <a:cs typeface="Calibri" pitchFamily="34" charset="-120"/>
                        </a:rPr>
                        <a:t>4,793.7</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r>
            </a:tbl>
          </a:graphicData>
        </a:graphic>
      </p:graphicFrame>
      <p:sp>
        <p:nvSpPr>
          <p:cNvPr id="5" name="Text 2"/>
          <p:cNvSpPr txBox="1"/>
          <p:nvPr/>
        </p:nvSpPr>
        <p:spPr>
          <a:xfrm>
            <a:off x="640080" y="5870448"/>
            <a:ext cx="7726680" cy="411480"/>
          </a:xfrm>
          <a:prstGeom prst="rect">
            <a:avLst/>
          </a:prstGeom>
          <a:noFill/>
          <a:ln/>
        </p:spPr>
        <p:txBody>
          <a:bodyPr wrap="square" lIns="0" tIns="0" rIns="0" bIns="0" rtlCol="0" anchor="t"/>
          <a:lstStyle/>
          <a:p>
            <a:pPr indent="0" marL="0">
              <a:buNone/>
            </a:pPr>
            <a:r>
              <a:rPr lang="en-US" sz="1050" i="1" dirty="0">
                <a:solidFill>
                  <a:srgbClr val="7D8AA0"/>
                </a:solidFill>
                <a:latin typeface="Calibri" pitchFamily="34" charset="0"/>
                <a:ea typeface="Calibri" pitchFamily="34" charset="-122"/>
                <a:cs typeface="Calibri" pitchFamily="34" charset="-120"/>
              </a:rPr>
              <a:t>Hypervolume ×1,000, best of 3 seeds, 1,200 s each. Bold: row winner. — no legal point found in any seed.</a:t>
            </a:r>
            <a:endParaRPr lang="en-US" sz="1050" dirty="0"/>
          </a:p>
        </p:txBody>
      </p:sp>
      <p:sp>
        <p:nvSpPr>
          <p:cNvPr id="6" name="Text 3"/>
          <p:cNvSpPr txBox="1"/>
          <p:nvPr/>
        </p:nvSpPr>
        <p:spPr>
          <a:xfrm>
            <a:off x="8686800" y="1810512"/>
            <a:ext cx="2864815" cy="3108960"/>
          </a:xfrm>
          <a:prstGeom prst="rect">
            <a:avLst/>
          </a:prstGeom>
          <a:noFill/>
          <a:ln/>
        </p:spPr>
        <p:txBody>
          <a:bodyPr wrap="square" lIns="0" tIns="0" rIns="0" bIns="0" rtlCol="0" anchor="t"/>
          <a:lstStyle/>
          <a:p>
            <a:pPr marL="177800" indent="-177800">
              <a:spcAft>
                <a:spcPts val="1000"/>
              </a:spcAft>
              <a:buSzPct val="100000"/>
              <a:buChar char="•"/>
            </a:pPr>
            <a:r>
              <a:rPr lang="en-US" sz="1350" dirty="0">
                <a:solidFill>
                  <a:srgbClr val="E8ECF2"/>
                </a:solidFill>
                <a:latin typeface="Calibri" pitchFamily="34" charset="0"/>
                <a:ea typeface="Calibri" pitchFamily="34" charset="-122"/>
                <a:cs typeface="Calibri" pitchFamily="34" charset="-120"/>
              </a:rPr>
              <a:t>Three ESA leaderboard entries, re-run under one protocol: fcmaes and Team HRI re-implemented, Spacekangaroos with its own GPU code.</a:t>
            </a:r>
            <a:endParaRPr lang="en-US" sz="1350" dirty="0"/>
          </a:p>
          <a:p>
            <a:pPr marL="177800" indent="-177800">
              <a:spcAft>
                <a:spcPts val="1000"/>
              </a:spcAft>
              <a:buSzPct val="100000"/>
              <a:buChar char="•"/>
            </a:pPr>
            <a:r>
              <a:rPr lang="en-US" sz="1350" dirty="0">
                <a:solidFill>
                  <a:srgbClr val="E8ECF2"/>
                </a:solidFill>
                <a:latin typeface="Calibri" pitchFamily="34" charset="0"/>
                <a:ea typeface="Calibri" pitchFamily="34" charset="-122"/>
                <a:cs typeface="Calibri" pitchFamily="34" charset="-120"/>
              </a:rPr>
              <a:t>1,200 s per run, three seeds; one CPU core each, Spacekangaroos on one T4 GPU; every answer re-scored by one evaluator, checked against ESA’s own code.</a:t>
            </a:r>
            <a:endParaRPr lang="en-US" sz="1350" dirty="0"/>
          </a:p>
          <a:p>
            <a:pPr marL="177800" indent="-177800">
              <a:spcAft>
                <a:spcPts val="1000"/>
              </a:spcAft>
              <a:buSzPct val="100000"/>
              <a:buChar char="•"/>
            </a:pPr>
            <a:r>
              <a:rPr lang="en-US" sz="1350" dirty="0">
                <a:solidFill>
                  <a:srgbClr val="E8ECF2"/>
                </a:solidFill>
                <a:latin typeface="Calibri" pitchFamily="34" charset="0"/>
                <a:ea typeface="Calibri" pitchFamily="34" charset="-122"/>
                <a:cs typeface="Calibri" pitchFamily="34" charset="-120"/>
              </a:rPr>
              <a:t>Leaderboard entries take 8 of 10 rows. Spacekangaroos finds no legal point on the three dense instances.</a:t>
            </a:r>
            <a:endParaRPr lang="en-US" sz="1350" dirty="0"/>
          </a:p>
        </p:txBody>
      </p:sp>
      <p:sp>
        <p:nvSpPr>
          <p:cNvPr id="7" name="Text 4"/>
          <p:cNvSpPr txBox="1"/>
          <p:nvPr/>
        </p:nvSpPr>
        <p:spPr>
          <a:xfrm>
            <a:off x="8686800" y="5248656"/>
            <a:ext cx="2864815" cy="822960"/>
          </a:xfrm>
          <a:prstGeom prst="rect">
            <a:avLst/>
          </a:prstGeom>
          <a:noFill/>
          <a:ln/>
        </p:spPr>
        <p:txBody>
          <a:bodyPr wrap="square" lIns="0" tIns="0" rIns="0" bIns="0" rtlCol="0" anchor="t"/>
          <a:lstStyle/>
          <a:p>
            <a:pPr indent="0" marL="0">
              <a:buNone/>
            </a:pPr>
            <a:r>
              <a:rPr lang="en-US" sz="1700" i="1" dirty="0">
                <a:solidFill>
                  <a:srgbClr val="F2C14E"/>
                </a:solidFill>
                <a:latin typeface="Century Schoolbook" pitchFamily="34" charset="0"/>
                <a:ea typeface="Century Schoolbook" pitchFamily="34" charset="-122"/>
                <a:cs typeface="Century Schoolbook" pitchFamily="34" charset="-120"/>
              </a:rPr>
              <a:t>Which of these winners would survive a second look?</a:t>
            </a:r>
            <a:endParaRPr lang="en-US" sz="170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III · THE TABLE</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Starting points decide this table, not searches</a:t>
            </a:r>
            <a:endParaRPr lang="en-US" sz="2700" dirty="0"/>
          </a:p>
        </p:txBody>
      </p:sp>
      <p:sp>
        <p:nvSpPr>
          <p:cNvPr id="4" name="Text 2"/>
          <p:cNvSpPr txBox="1"/>
          <p:nvPr/>
        </p:nvSpPr>
        <p:spPr>
          <a:xfrm>
            <a:off x="640080" y="1783080"/>
            <a:ext cx="5486400" cy="237744"/>
          </a:xfrm>
          <a:prstGeom prst="rect">
            <a:avLst/>
          </a:prstGeom>
          <a:noFill/>
          <a:ln/>
        </p:spPr>
        <p:txBody>
          <a:bodyPr wrap="square" lIns="0" tIns="0" rIns="0" bIns="0" rtlCol="0" anchor="t"/>
          <a:lstStyle/>
          <a:p>
            <a:pPr indent="0" marL="0">
              <a:buNone/>
            </a:pPr>
            <a:r>
              <a:rPr lang="en-US" sz="1050" b="1" spc="160" kern="0" dirty="0">
                <a:solidFill>
                  <a:srgbClr val="9AA6B6"/>
                </a:solidFill>
                <a:latin typeface="Calibri" pitchFamily="34" charset="0"/>
                <a:ea typeface="Calibri" pitchFamily="34" charset="-122"/>
                <a:cs typeface="Calibri" pitchFamily="34" charset="-120"/>
              </a:rPr>
              <a:t>LEGAL POINTS ON ONE ORDERING’S STAIRCASE</a:t>
            </a:r>
            <a:endParaRPr lang="en-US" sz="1050" dirty="0"/>
          </a:p>
        </p:txBody>
      </p:sp>
      <p:sp>
        <p:nvSpPr>
          <p:cNvPr id="5" name="Text 3"/>
          <p:cNvSpPr txBox="1"/>
          <p:nvPr/>
        </p:nvSpPr>
        <p:spPr>
          <a:xfrm>
            <a:off x="640080" y="2194560"/>
            <a:ext cx="137160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small-graph</a:t>
            </a:r>
            <a:endParaRPr lang="en-US" sz="1150" dirty="0"/>
          </a:p>
        </p:txBody>
      </p:sp>
      <p:sp>
        <p:nvSpPr>
          <p:cNvPr id="6" name="Shape 4"/>
          <p:cNvSpPr/>
          <p:nvPr/>
        </p:nvSpPr>
        <p:spPr>
          <a:xfrm>
            <a:off x="2057400" y="2212848"/>
            <a:ext cx="834481" cy="100584"/>
          </a:xfrm>
          <a:prstGeom prst="rect">
            <a:avLst/>
          </a:prstGeom>
          <a:solidFill>
            <a:srgbClr val="FF5A60"/>
          </a:solidFill>
          <a:ln/>
        </p:spPr>
      </p:sp>
      <p:sp>
        <p:nvSpPr>
          <p:cNvPr id="7" name="Shape 5"/>
          <p:cNvSpPr/>
          <p:nvPr/>
        </p:nvSpPr>
        <p:spPr>
          <a:xfrm>
            <a:off x="2057400" y="2331720"/>
            <a:ext cx="156911" cy="100584"/>
          </a:xfrm>
          <a:prstGeom prst="rect">
            <a:avLst/>
          </a:prstGeom>
          <a:solidFill>
            <a:srgbClr val="3DDC97"/>
          </a:solidFill>
          <a:ln/>
        </p:spPr>
      </p:sp>
      <p:sp>
        <p:nvSpPr>
          <p:cNvPr id="8" name="Text 6"/>
          <p:cNvSpPr txBox="1"/>
          <p:nvPr/>
        </p:nvSpPr>
        <p:spPr>
          <a:xfrm>
            <a:off x="2946745" y="2148840"/>
            <a:ext cx="457200" cy="182880"/>
          </a:xfrm>
          <a:prstGeom prst="rect">
            <a:avLst/>
          </a:prstGeom>
          <a:noFill/>
          <a:ln/>
        </p:spPr>
        <p:txBody>
          <a:bodyPr wrap="square" lIns="0" tIns="0" rIns="0" bIns="0" rtlCol="0" anchor="t"/>
          <a:lstStyle/>
          <a:p>
            <a:pPr indent="0" marL="0">
              <a:buNone/>
            </a:pPr>
            <a:r>
              <a:rPr lang="en-US" sz="1000" dirty="0">
                <a:solidFill>
                  <a:srgbClr val="FF5A60"/>
                </a:solidFill>
                <a:latin typeface="Calibri" pitchFamily="34" charset="0"/>
                <a:ea typeface="Calibri" pitchFamily="34" charset="-122"/>
                <a:cs typeface="Calibri" pitchFamily="34" charset="-120"/>
              </a:rPr>
              <a:t>117</a:t>
            </a:r>
            <a:endParaRPr lang="en-US" sz="1000" dirty="0"/>
          </a:p>
        </p:txBody>
      </p:sp>
      <p:sp>
        <p:nvSpPr>
          <p:cNvPr id="9" name="Text 7"/>
          <p:cNvSpPr txBox="1"/>
          <p:nvPr/>
        </p:nvSpPr>
        <p:spPr>
          <a:xfrm>
            <a:off x="2269175" y="2286000"/>
            <a:ext cx="457200" cy="182880"/>
          </a:xfrm>
          <a:prstGeom prst="rect">
            <a:avLst/>
          </a:prstGeom>
          <a:noFill/>
          <a:ln/>
        </p:spPr>
        <p:txBody>
          <a:bodyPr wrap="square" lIns="0" tIns="0" rIns="0" bIns="0" rtlCol="0" anchor="t"/>
          <a:lstStyle/>
          <a:p>
            <a:pPr indent="0" marL="0">
              <a:buNone/>
            </a:pPr>
            <a:r>
              <a:rPr lang="en-US" sz="1000" dirty="0">
                <a:solidFill>
                  <a:srgbClr val="3DDC97"/>
                </a:solidFill>
                <a:latin typeface="Calibri" pitchFamily="34" charset="0"/>
                <a:ea typeface="Calibri" pitchFamily="34" charset="-122"/>
                <a:cs typeface="Calibri" pitchFamily="34" charset="-120"/>
              </a:rPr>
              <a:t>22</a:t>
            </a:r>
            <a:endParaRPr lang="en-US" sz="1000" dirty="0"/>
          </a:p>
        </p:txBody>
      </p:sp>
      <p:sp>
        <p:nvSpPr>
          <p:cNvPr id="10" name="Text 8"/>
          <p:cNvSpPr txBox="1"/>
          <p:nvPr/>
        </p:nvSpPr>
        <p:spPr>
          <a:xfrm>
            <a:off x="640080" y="2519172"/>
            <a:ext cx="137160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synth-1</a:t>
            </a:r>
            <a:endParaRPr lang="en-US" sz="1150" dirty="0"/>
          </a:p>
        </p:txBody>
      </p:sp>
      <p:sp>
        <p:nvSpPr>
          <p:cNvPr id="11" name="Shape 9"/>
          <p:cNvSpPr/>
          <p:nvPr/>
        </p:nvSpPr>
        <p:spPr>
          <a:xfrm>
            <a:off x="2057400" y="2537460"/>
            <a:ext cx="1783080" cy="100584"/>
          </a:xfrm>
          <a:prstGeom prst="rect">
            <a:avLst/>
          </a:prstGeom>
          <a:solidFill>
            <a:srgbClr val="FF5A60"/>
          </a:solidFill>
          <a:ln/>
        </p:spPr>
      </p:sp>
      <p:sp>
        <p:nvSpPr>
          <p:cNvPr id="12" name="Shape 10"/>
          <p:cNvSpPr/>
          <p:nvPr/>
        </p:nvSpPr>
        <p:spPr>
          <a:xfrm>
            <a:off x="2057400" y="2656332"/>
            <a:ext cx="128382" cy="100584"/>
          </a:xfrm>
          <a:prstGeom prst="rect">
            <a:avLst/>
          </a:prstGeom>
          <a:solidFill>
            <a:srgbClr val="3DDC97"/>
          </a:solidFill>
          <a:ln/>
        </p:spPr>
      </p:sp>
      <p:sp>
        <p:nvSpPr>
          <p:cNvPr id="13" name="Text 11"/>
          <p:cNvSpPr txBox="1"/>
          <p:nvPr/>
        </p:nvSpPr>
        <p:spPr>
          <a:xfrm>
            <a:off x="3895344" y="2473452"/>
            <a:ext cx="457200" cy="182880"/>
          </a:xfrm>
          <a:prstGeom prst="rect">
            <a:avLst/>
          </a:prstGeom>
          <a:noFill/>
          <a:ln/>
        </p:spPr>
        <p:txBody>
          <a:bodyPr wrap="square" lIns="0" tIns="0" rIns="0" bIns="0" rtlCol="0" anchor="t"/>
          <a:lstStyle/>
          <a:p>
            <a:pPr indent="0" marL="0">
              <a:buNone/>
            </a:pPr>
            <a:r>
              <a:rPr lang="en-US" sz="1000" dirty="0">
                <a:solidFill>
                  <a:srgbClr val="FF5A60"/>
                </a:solidFill>
                <a:latin typeface="Calibri" pitchFamily="34" charset="0"/>
                <a:ea typeface="Calibri" pitchFamily="34" charset="-122"/>
                <a:cs typeface="Calibri" pitchFamily="34" charset="-120"/>
              </a:rPr>
              <a:t>250</a:t>
            </a:r>
            <a:endParaRPr lang="en-US" sz="1000" dirty="0"/>
          </a:p>
        </p:txBody>
      </p:sp>
      <p:sp>
        <p:nvSpPr>
          <p:cNvPr id="14" name="Text 12"/>
          <p:cNvSpPr txBox="1"/>
          <p:nvPr/>
        </p:nvSpPr>
        <p:spPr>
          <a:xfrm>
            <a:off x="2240646" y="2610612"/>
            <a:ext cx="457200" cy="182880"/>
          </a:xfrm>
          <a:prstGeom prst="rect">
            <a:avLst/>
          </a:prstGeom>
          <a:noFill/>
          <a:ln/>
        </p:spPr>
        <p:txBody>
          <a:bodyPr wrap="square" lIns="0" tIns="0" rIns="0" bIns="0" rtlCol="0" anchor="t"/>
          <a:lstStyle/>
          <a:p>
            <a:pPr indent="0" marL="0">
              <a:buNone/>
            </a:pPr>
            <a:r>
              <a:rPr lang="en-US" sz="1000" dirty="0">
                <a:solidFill>
                  <a:srgbClr val="3DDC97"/>
                </a:solidFill>
                <a:latin typeface="Calibri" pitchFamily="34" charset="0"/>
                <a:ea typeface="Calibri" pitchFamily="34" charset="-122"/>
                <a:cs typeface="Calibri" pitchFamily="34" charset="-120"/>
              </a:rPr>
              <a:t>18</a:t>
            </a:r>
            <a:endParaRPr lang="en-US" sz="1000" dirty="0"/>
          </a:p>
        </p:txBody>
      </p:sp>
      <p:sp>
        <p:nvSpPr>
          <p:cNvPr id="15" name="Text 13"/>
          <p:cNvSpPr txBox="1"/>
          <p:nvPr/>
        </p:nvSpPr>
        <p:spPr>
          <a:xfrm>
            <a:off x="640080" y="2843784"/>
            <a:ext cx="137160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synth-2</a:t>
            </a:r>
            <a:endParaRPr lang="en-US" sz="1150" dirty="0"/>
          </a:p>
        </p:txBody>
      </p:sp>
      <p:sp>
        <p:nvSpPr>
          <p:cNvPr id="16" name="Shape 14"/>
          <p:cNvSpPr/>
          <p:nvPr/>
        </p:nvSpPr>
        <p:spPr>
          <a:xfrm>
            <a:off x="2057400" y="2862072"/>
            <a:ext cx="2118299" cy="100584"/>
          </a:xfrm>
          <a:prstGeom prst="rect">
            <a:avLst/>
          </a:prstGeom>
          <a:solidFill>
            <a:srgbClr val="FF5A60"/>
          </a:solidFill>
          <a:ln/>
        </p:spPr>
      </p:sp>
      <p:sp>
        <p:nvSpPr>
          <p:cNvPr id="17" name="Shape 15"/>
          <p:cNvSpPr/>
          <p:nvPr/>
        </p:nvSpPr>
        <p:spPr>
          <a:xfrm>
            <a:off x="2057400" y="2980944"/>
            <a:ext cx="135514" cy="100584"/>
          </a:xfrm>
          <a:prstGeom prst="rect">
            <a:avLst/>
          </a:prstGeom>
          <a:solidFill>
            <a:srgbClr val="3DDC97"/>
          </a:solidFill>
          <a:ln/>
        </p:spPr>
      </p:sp>
      <p:sp>
        <p:nvSpPr>
          <p:cNvPr id="18" name="Text 16"/>
          <p:cNvSpPr txBox="1"/>
          <p:nvPr/>
        </p:nvSpPr>
        <p:spPr>
          <a:xfrm>
            <a:off x="4230563" y="2798064"/>
            <a:ext cx="457200" cy="182880"/>
          </a:xfrm>
          <a:prstGeom prst="rect">
            <a:avLst/>
          </a:prstGeom>
          <a:noFill/>
          <a:ln/>
        </p:spPr>
        <p:txBody>
          <a:bodyPr wrap="square" lIns="0" tIns="0" rIns="0" bIns="0" rtlCol="0" anchor="t"/>
          <a:lstStyle/>
          <a:p>
            <a:pPr indent="0" marL="0">
              <a:buNone/>
            </a:pPr>
            <a:r>
              <a:rPr lang="en-US" sz="1000" dirty="0">
                <a:solidFill>
                  <a:srgbClr val="FF5A60"/>
                </a:solidFill>
                <a:latin typeface="Calibri" pitchFamily="34" charset="0"/>
                <a:ea typeface="Calibri" pitchFamily="34" charset="-122"/>
                <a:cs typeface="Calibri" pitchFamily="34" charset="-120"/>
              </a:rPr>
              <a:t>297</a:t>
            </a:r>
            <a:endParaRPr lang="en-US" sz="1000" dirty="0"/>
          </a:p>
        </p:txBody>
      </p:sp>
      <p:sp>
        <p:nvSpPr>
          <p:cNvPr id="19" name="Text 17"/>
          <p:cNvSpPr txBox="1"/>
          <p:nvPr/>
        </p:nvSpPr>
        <p:spPr>
          <a:xfrm>
            <a:off x="2247778" y="2935224"/>
            <a:ext cx="457200" cy="182880"/>
          </a:xfrm>
          <a:prstGeom prst="rect">
            <a:avLst/>
          </a:prstGeom>
          <a:noFill/>
          <a:ln/>
        </p:spPr>
        <p:txBody>
          <a:bodyPr wrap="square" lIns="0" tIns="0" rIns="0" bIns="0" rtlCol="0" anchor="t"/>
          <a:lstStyle/>
          <a:p>
            <a:pPr indent="0" marL="0">
              <a:buNone/>
            </a:pPr>
            <a:r>
              <a:rPr lang="en-US" sz="1000" dirty="0">
                <a:solidFill>
                  <a:srgbClr val="3DDC97"/>
                </a:solidFill>
                <a:latin typeface="Calibri" pitchFamily="34" charset="0"/>
                <a:ea typeface="Calibri" pitchFamily="34" charset="-122"/>
                <a:cs typeface="Calibri" pitchFamily="34" charset="-120"/>
              </a:rPr>
              <a:t>19</a:t>
            </a:r>
            <a:endParaRPr lang="en-US" sz="1000" dirty="0"/>
          </a:p>
        </p:txBody>
      </p:sp>
      <p:sp>
        <p:nvSpPr>
          <p:cNvPr id="20" name="Text 18"/>
          <p:cNvSpPr txBox="1"/>
          <p:nvPr/>
        </p:nvSpPr>
        <p:spPr>
          <a:xfrm>
            <a:off x="640080" y="3168396"/>
            <a:ext cx="137160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synth-3</a:t>
            </a:r>
            <a:endParaRPr lang="en-US" sz="1150" dirty="0"/>
          </a:p>
        </p:txBody>
      </p:sp>
      <p:sp>
        <p:nvSpPr>
          <p:cNvPr id="21" name="Shape 19"/>
          <p:cNvSpPr/>
          <p:nvPr/>
        </p:nvSpPr>
        <p:spPr>
          <a:xfrm>
            <a:off x="2057400" y="3186684"/>
            <a:ext cx="2104034" cy="100584"/>
          </a:xfrm>
          <a:prstGeom prst="rect">
            <a:avLst/>
          </a:prstGeom>
          <a:solidFill>
            <a:srgbClr val="FF5A60"/>
          </a:solidFill>
          <a:ln/>
        </p:spPr>
      </p:sp>
      <p:sp>
        <p:nvSpPr>
          <p:cNvPr id="22" name="Shape 20"/>
          <p:cNvSpPr/>
          <p:nvPr/>
        </p:nvSpPr>
        <p:spPr>
          <a:xfrm>
            <a:off x="2057400" y="3305556"/>
            <a:ext cx="135514" cy="100584"/>
          </a:xfrm>
          <a:prstGeom prst="rect">
            <a:avLst/>
          </a:prstGeom>
          <a:solidFill>
            <a:srgbClr val="3DDC97"/>
          </a:solidFill>
          <a:ln/>
        </p:spPr>
      </p:sp>
      <p:sp>
        <p:nvSpPr>
          <p:cNvPr id="23" name="Text 21"/>
          <p:cNvSpPr txBox="1"/>
          <p:nvPr/>
        </p:nvSpPr>
        <p:spPr>
          <a:xfrm>
            <a:off x="4216298" y="3122676"/>
            <a:ext cx="457200" cy="182880"/>
          </a:xfrm>
          <a:prstGeom prst="rect">
            <a:avLst/>
          </a:prstGeom>
          <a:noFill/>
          <a:ln/>
        </p:spPr>
        <p:txBody>
          <a:bodyPr wrap="square" lIns="0" tIns="0" rIns="0" bIns="0" rtlCol="0" anchor="t"/>
          <a:lstStyle/>
          <a:p>
            <a:pPr indent="0" marL="0">
              <a:buNone/>
            </a:pPr>
            <a:r>
              <a:rPr lang="en-US" sz="1000" dirty="0">
                <a:solidFill>
                  <a:srgbClr val="FF5A60"/>
                </a:solidFill>
                <a:latin typeface="Calibri" pitchFamily="34" charset="0"/>
                <a:ea typeface="Calibri" pitchFamily="34" charset="-122"/>
                <a:cs typeface="Calibri" pitchFamily="34" charset="-120"/>
              </a:rPr>
              <a:t>295</a:t>
            </a:r>
            <a:endParaRPr lang="en-US" sz="1000" dirty="0"/>
          </a:p>
        </p:txBody>
      </p:sp>
      <p:sp>
        <p:nvSpPr>
          <p:cNvPr id="24" name="Text 22"/>
          <p:cNvSpPr txBox="1"/>
          <p:nvPr/>
        </p:nvSpPr>
        <p:spPr>
          <a:xfrm>
            <a:off x="2247778" y="3259836"/>
            <a:ext cx="457200" cy="182880"/>
          </a:xfrm>
          <a:prstGeom prst="rect">
            <a:avLst/>
          </a:prstGeom>
          <a:noFill/>
          <a:ln/>
        </p:spPr>
        <p:txBody>
          <a:bodyPr wrap="square" lIns="0" tIns="0" rIns="0" bIns="0" rtlCol="0" anchor="t"/>
          <a:lstStyle/>
          <a:p>
            <a:pPr indent="0" marL="0">
              <a:buNone/>
            </a:pPr>
            <a:r>
              <a:rPr lang="en-US" sz="1000" dirty="0">
                <a:solidFill>
                  <a:srgbClr val="3DDC97"/>
                </a:solidFill>
                <a:latin typeface="Calibri" pitchFamily="34" charset="0"/>
                <a:ea typeface="Calibri" pitchFamily="34" charset="-122"/>
                <a:cs typeface="Calibri" pitchFamily="34" charset="-120"/>
              </a:rPr>
              <a:t>19</a:t>
            </a:r>
            <a:endParaRPr lang="en-US" sz="1000" dirty="0"/>
          </a:p>
        </p:txBody>
      </p:sp>
      <p:sp>
        <p:nvSpPr>
          <p:cNvPr id="25" name="Text 23"/>
          <p:cNvSpPr txBox="1"/>
          <p:nvPr/>
        </p:nvSpPr>
        <p:spPr>
          <a:xfrm>
            <a:off x="640080" y="3493008"/>
            <a:ext cx="137160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medium-graph</a:t>
            </a:r>
            <a:endParaRPr lang="en-US" sz="1150" dirty="0"/>
          </a:p>
        </p:txBody>
      </p:sp>
      <p:sp>
        <p:nvSpPr>
          <p:cNvPr id="26" name="Shape 24"/>
          <p:cNvSpPr/>
          <p:nvPr/>
        </p:nvSpPr>
        <p:spPr>
          <a:xfrm>
            <a:off x="2057400" y="3630168"/>
            <a:ext cx="2032711" cy="100584"/>
          </a:xfrm>
          <a:prstGeom prst="rect">
            <a:avLst/>
          </a:prstGeom>
          <a:solidFill>
            <a:srgbClr val="3DDC97"/>
          </a:solidFill>
          <a:ln/>
        </p:spPr>
      </p:sp>
      <p:sp>
        <p:nvSpPr>
          <p:cNvPr id="27" name="Text 25"/>
          <p:cNvSpPr txBox="1"/>
          <p:nvPr/>
        </p:nvSpPr>
        <p:spPr>
          <a:xfrm>
            <a:off x="2112264" y="3447288"/>
            <a:ext cx="457200" cy="182880"/>
          </a:xfrm>
          <a:prstGeom prst="rect">
            <a:avLst/>
          </a:prstGeom>
          <a:noFill/>
          <a:ln/>
        </p:spPr>
        <p:txBody>
          <a:bodyPr wrap="square" lIns="0" tIns="0" rIns="0" bIns="0" rtlCol="0" anchor="t"/>
          <a:lstStyle/>
          <a:p>
            <a:pPr indent="0" marL="0">
              <a:buNone/>
            </a:pPr>
            <a:r>
              <a:rPr lang="en-US" sz="1000" b="1" dirty="0">
                <a:solidFill>
                  <a:srgbClr val="FF5A60"/>
                </a:solidFill>
                <a:latin typeface="Calibri" pitchFamily="34" charset="0"/>
                <a:ea typeface="Calibri" pitchFamily="34" charset="-122"/>
                <a:cs typeface="Calibri" pitchFamily="34" charset="-120"/>
              </a:rPr>
              <a:t>0</a:t>
            </a:r>
            <a:endParaRPr lang="en-US" sz="1000" dirty="0"/>
          </a:p>
        </p:txBody>
      </p:sp>
      <p:sp>
        <p:nvSpPr>
          <p:cNvPr id="28" name="Text 26"/>
          <p:cNvSpPr txBox="1"/>
          <p:nvPr/>
        </p:nvSpPr>
        <p:spPr>
          <a:xfrm>
            <a:off x="4144975" y="3584448"/>
            <a:ext cx="457200" cy="182880"/>
          </a:xfrm>
          <a:prstGeom prst="rect">
            <a:avLst/>
          </a:prstGeom>
          <a:noFill/>
          <a:ln/>
        </p:spPr>
        <p:txBody>
          <a:bodyPr wrap="square" lIns="0" tIns="0" rIns="0" bIns="0" rtlCol="0" anchor="t"/>
          <a:lstStyle/>
          <a:p>
            <a:pPr indent="0" marL="0">
              <a:buNone/>
            </a:pPr>
            <a:r>
              <a:rPr lang="en-US" sz="1000" dirty="0">
                <a:solidFill>
                  <a:srgbClr val="3DDC97"/>
                </a:solidFill>
                <a:latin typeface="Calibri" pitchFamily="34" charset="0"/>
                <a:ea typeface="Calibri" pitchFamily="34" charset="-122"/>
                <a:cs typeface="Calibri" pitchFamily="34" charset="-120"/>
              </a:rPr>
              <a:t>285</a:t>
            </a:r>
            <a:endParaRPr lang="en-US" sz="1000" dirty="0"/>
          </a:p>
        </p:txBody>
      </p:sp>
      <p:sp>
        <p:nvSpPr>
          <p:cNvPr id="29" name="Text 27"/>
          <p:cNvSpPr txBox="1"/>
          <p:nvPr/>
        </p:nvSpPr>
        <p:spPr>
          <a:xfrm>
            <a:off x="640080" y="3817620"/>
            <a:ext cx="137160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synth-4</a:t>
            </a:r>
            <a:endParaRPr lang="en-US" sz="1150" dirty="0"/>
          </a:p>
        </p:txBody>
      </p:sp>
      <p:sp>
        <p:nvSpPr>
          <p:cNvPr id="30" name="Shape 28"/>
          <p:cNvSpPr/>
          <p:nvPr/>
        </p:nvSpPr>
        <p:spPr>
          <a:xfrm>
            <a:off x="2057400" y="3954780"/>
            <a:ext cx="2225284" cy="100584"/>
          </a:xfrm>
          <a:prstGeom prst="rect">
            <a:avLst/>
          </a:prstGeom>
          <a:solidFill>
            <a:srgbClr val="3DDC97"/>
          </a:solidFill>
          <a:ln/>
        </p:spPr>
      </p:sp>
      <p:sp>
        <p:nvSpPr>
          <p:cNvPr id="31" name="Text 29"/>
          <p:cNvSpPr txBox="1"/>
          <p:nvPr/>
        </p:nvSpPr>
        <p:spPr>
          <a:xfrm>
            <a:off x="2112264" y="3771900"/>
            <a:ext cx="457200" cy="182880"/>
          </a:xfrm>
          <a:prstGeom prst="rect">
            <a:avLst/>
          </a:prstGeom>
          <a:noFill/>
          <a:ln/>
        </p:spPr>
        <p:txBody>
          <a:bodyPr wrap="square" lIns="0" tIns="0" rIns="0" bIns="0" rtlCol="0" anchor="t"/>
          <a:lstStyle/>
          <a:p>
            <a:pPr indent="0" marL="0">
              <a:buNone/>
            </a:pPr>
            <a:r>
              <a:rPr lang="en-US" sz="1000" b="1" dirty="0">
                <a:solidFill>
                  <a:srgbClr val="FF5A60"/>
                </a:solidFill>
                <a:latin typeface="Calibri" pitchFamily="34" charset="0"/>
                <a:ea typeface="Calibri" pitchFamily="34" charset="-122"/>
                <a:cs typeface="Calibri" pitchFamily="34" charset="-120"/>
              </a:rPr>
              <a:t>0</a:t>
            </a:r>
            <a:endParaRPr lang="en-US" sz="1000" dirty="0"/>
          </a:p>
        </p:txBody>
      </p:sp>
      <p:sp>
        <p:nvSpPr>
          <p:cNvPr id="32" name="Text 30"/>
          <p:cNvSpPr txBox="1"/>
          <p:nvPr/>
        </p:nvSpPr>
        <p:spPr>
          <a:xfrm>
            <a:off x="4337548" y="3909060"/>
            <a:ext cx="457200" cy="182880"/>
          </a:xfrm>
          <a:prstGeom prst="rect">
            <a:avLst/>
          </a:prstGeom>
          <a:noFill/>
          <a:ln/>
        </p:spPr>
        <p:txBody>
          <a:bodyPr wrap="square" lIns="0" tIns="0" rIns="0" bIns="0" rtlCol="0" anchor="t"/>
          <a:lstStyle/>
          <a:p>
            <a:pPr indent="0" marL="0">
              <a:buNone/>
            </a:pPr>
            <a:r>
              <a:rPr lang="en-US" sz="1000" dirty="0">
                <a:solidFill>
                  <a:srgbClr val="3DDC97"/>
                </a:solidFill>
                <a:latin typeface="Calibri" pitchFamily="34" charset="0"/>
                <a:ea typeface="Calibri" pitchFamily="34" charset="-122"/>
                <a:cs typeface="Calibri" pitchFamily="34" charset="-120"/>
              </a:rPr>
              <a:t>312</a:t>
            </a:r>
            <a:endParaRPr lang="en-US" sz="1000" dirty="0"/>
          </a:p>
        </p:txBody>
      </p:sp>
      <p:sp>
        <p:nvSpPr>
          <p:cNvPr id="33" name="Text 31"/>
          <p:cNvSpPr txBox="1"/>
          <p:nvPr/>
        </p:nvSpPr>
        <p:spPr>
          <a:xfrm>
            <a:off x="640080" y="4142232"/>
            <a:ext cx="137160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synth-5</a:t>
            </a:r>
            <a:endParaRPr lang="en-US" sz="1150" dirty="0"/>
          </a:p>
        </p:txBody>
      </p:sp>
      <p:sp>
        <p:nvSpPr>
          <p:cNvPr id="34" name="Shape 32"/>
          <p:cNvSpPr/>
          <p:nvPr/>
        </p:nvSpPr>
        <p:spPr>
          <a:xfrm>
            <a:off x="2057400" y="4279392"/>
            <a:ext cx="2489180" cy="100584"/>
          </a:xfrm>
          <a:prstGeom prst="rect">
            <a:avLst/>
          </a:prstGeom>
          <a:solidFill>
            <a:srgbClr val="3DDC97"/>
          </a:solidFill>
          <a:ln/>
        </p:spPr>
      </p:sp>
      <p:sp>
        <p:nvSpPr>
          <p:cNvPr id="35" name="Text 33"/>
          <p:cNvSpPr txBox="1"/>
          <p:nvPr/>
        </p:nvSpPr>
        <p:spPr>
          <a:xfrm>
            <a:off x="2112264" y="4096512"/>
            <a:ext cx="457200" cy="182880"/>
          </a:xfrm>
          <a:prstGeom prst="rect">
            <a:avLst/>
          </a:prstGeom>
          <a:noFill/>
          <a:ln/>
        </p:spPr>
        <p:txBody>
          <a:bodyPr wrap="square" lIns="0" tIns="0" rIns="0" bIns="0" rtlCol="0" anchor="t"/>
          <a:lstStyle/>
          <a:p>
            <a:pPr indent="0" marL="0">
              <a:buNone/>
            </a:pPr>
            <a:r>
              <a:rPr lang="en-US" sz="1000" b="1" dirty="0">
                <a:solidFill>
                  <a:srgbClr val="FF5A60"/>
                </a:solidFill>
                <a:latin typeface="Calibri" pitchFamily="34" charset="0"/>
                <a:ea typeface="Calibri" pitchFamily="34" charset="-122"/>
                <a:cs typeface="Calibri" pitchFamily="34" charset="-120"/>
              </a:rPr>
              <a:t>0</a:t>
            </a:r>
            <a:endParaRPr lang="en-US" sz="1000" dirty="0"/>
          </a:p>
        </p:txBody>
      </p:sp>
      <p:sp>
        <p:nvSpPr>
          <p:cNvPr id="36" name="Text 34"/>
          <p:cNvSpPr txBox="1"/>
          <p:nvPr/>
        </p:nvSpPr>
        <p:spPr>
          <a:xfrm>
            <a:off x="4601444" y="4233672"/>
            <a:ext cx="457200" cy="182880"/>
          </a:xfrm>
          <a:prstGeom prst="rect">
            <a:avLst/>
          </a:prstGeom>
          <a:noFill/>
          <a:ln/>
        </p:spPr>
        <p:txBody>
          <a:bodyPr wrap="square" lIns="0" tIns="0" rIns="0" bIns="0" rtlCol="0" anchor="t"/>
          <a:lstStyle/>
          <a:p>
            <a:pPr indent="0" marL="0">
              <a:buNone/>
            </a:pPr>
            <a:r>
              <a:rPr lang="en-US" sz="1000" dirty="0">
                <a:solidFill>
                  <a:srgbClr val="3DDC97"/>
                </a:solidFill>
                <a:latin typeface="Calibri" pitchFamily="34" charset="0"/>
                <a:ea typeface="Calibri" pitchFamily="34" charset="-122"/>
                <a:cs typeface="Calibri" pitchFamily="34" charset="-120"/>
              </a:rPr>
              <a:t>349</a:t>
            </a:r>
            <a:endParaRPr lang="en-US" sz="1000" dirty="0"/>
          </a:p>
        </p:txBody>
      </p:sp>
      <p:sp>
        <p:nvSpPr>
          <p:cNvPr id="37" name="Text 35"/>
          <p:cNvSpPr txBox="1"/>
          <p:nvPr/>
        </p:nvSpPr>
        <p:spPr>
          <a:xfrm>
            <a:off x="640080" y="4466844"/>
            <a:ext cx="137160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large-graph</a:t>
            </a:r>
            <a:endParaRPr lang="en-US" sz="1150" dirty="0"/>
          </a:p>
        </p:txBody>
      </p:sp>
      <p:sp>
        <p:nvSpPr>
          <p:cNvPr id="38" name="Shape 36"/>
          <p:cNvSpPr/>
          <p:nvPr/>
        </p:nvSpPr>
        <p:spPr>
          <a:xfrm>
            <a:off x="2057400" y="4604004"/>
            <a:ext cx="3566160" cy="100584"/>
          </a:xfrm>
          <a:prstGeom prst="rect">
            <a:avLst/>
          </a:prstGeom>
          <a:solidFill>
            <a:srgbClr val="3DDC97"/>
          </a:solidFill>
          <a:ln/>
        </p:spPr>
      </p:sp>
      <p:sp>
        <p:nvSpPr>
          <p:cNvPr id="39" name="Text 37"/>
          <p:cNvSpPr txBox="1"/>
          <p:nvPr/>
        </p:nvSpPr>
        <p:spPr>
          <a:xfrm>
            <a:off x="2112264" y="4421124"/>
            <a:ext cx="457200" cy="182880"/>
          </a:xfrm>
          <a:prstGeom prst="rect">
            <a:avLst/>
          </a:prstGeom>
          <a:noFill/>
          <a:ln/>
        </p:spPr>
        <p:txBody>
          <a:bodyPr wrap="square" lIns="0" tIns="0" rIns="0" bIns="0" rtlCol="0" anchor="t"/>
          <a:lstStyle/>
          <a:p>
            <a:pPr indent="0" marL="0">
              <a:buNone/>
            </a:pPr>
            <a:r>
              <a:rPr lang="en-US" sz="1000" b="1" dirty="0">
                <a:solidFill>
                  <a:srgbClr val="FF5A60"/>
                </a:solidFill>
                <a:latin typeface="Calibri" pitchFamily="34" charset="0"/>
                <a:ea typeface="Calibri" pitchFamily="34" charset="-122"/>
                <a:cs typeface="Calibri" pitchFamily="34" charset="-120"/>
              </a:rPr>
              <a:t>0</a:t>
            </a:r>
            <a:endParaRPr lang="en-US" sz="1000" dirty="0"/>
          </a:p>
        </p:txBody>
      </p:sp>
      <p:sp>
        <p:nvSpPr>
          <p:cNvPr id="40" name="Text 38"/>
          <p:cNvSpPr txBox="1"/>
          <p:nvPr/>
        </p:nvSpPr>
        <p:spPr>
          <a:xfrm>
            <a:off x="5678424" y="4558284"/>
            <a:ext cx="457200" cy="182880"/>
          </a:xfrm>
          <a:prstGeom prst="rect">
            <a:avLst/>
          </a:prstGeom>
          <a:noFill/>
          <a:ln/>
        </p:spPr>
        <p:txBody>
          <a:bodyPr wrap="square" lIns="0" tIns="0" rIns="0" bIns="0" rtlCol="0" anchor="t"/>
          <a:lstStyle/>
          <a:p>
            <a:pPr indent="0" marL="0">
              <a:buNone/>
            </a:pPr>
            <a:r>
              <a:rPr lang="en-US" sz="1000" dirty="0">
                <a:solidFill>
                  <a:srgbClr val="3DDC97"/>
                </a:solidFill>
                <a:latin typeface="Calibri" pitchFamily="34" charset="0"/>
                <a:ea typeface="Calibri" pitchFamily="34" charset="-122"/>
                <a:cs typeface="Calibri" pitchFamily="34" charset="-120"/>
              </a:rPr>
              <a:t>500</a:t>
            </a:r>
            <a:endParaRPr lang="en-US" sz="1000" dirty="0"/>
          </a:p>
        </p:txBody>
      </p:sp>
      <p:sp>
        <p:nvSpPr>
          <p:cNvPr id="41" name="Text 39"/>
          <p:cNvSpPr txBox="1"/>
          <p:nvPr/>
        </p:nvSpPr>
        <p:spPr>
          <a:xfrm>
            <a:off x="640080" y="4791456"/>
            <a:ext cx="137160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synth-6</a:t>
            </a:r>
            <a:endParaRPr lang="en-US" sz="1150" dirty="0"/>
          </a:p>
        </p:txBody>
      </p:sp>
      <p:sp>
        <p:nvSpPr>
          <p:cNvPr id="42" name="Shape 40"/>
          <p:cNvSpPr/>
          <p:nvPr/>
        </p:nvSpPr>
        <p:spPr>
          <a:xfrm>
            <a:off x="2057400" y="4928616"/>
            <a:ext cx="3566160" cy="100584"/>
          </a:xfrm>
          <a:prstGeom prst="rect">
            <a:avLst/>
          </a:prstGeom>
          <a:solidFill>
            <a:srgbClr val="3DDC97"/>
          </a:solidFill>
          <a:ln/>
        </p:spPr>
      </p:sp>
      <p:sp>
        <p:nvSpPr>
          <p:cNvPr id="43" name="Text 41"/>
          <p:cNvSpPr txBox="1"/>
          <p:nvPr/>
        </p:nvSpPr>
        <p:spPr>
          <a:xfrm>
            <a:off x="2112264" y="4745736"/>
            <a:ext cx="457200" cy="182880"/>
          </a:xfrm>
          <a:prstGeom prst="rect">
            <a:avLst/>
          </a:prstGeom>
          <a:noFill/>
          <a:ln/>
        </p:spPr>
        <p:txBody>
          <a:bodyPr wrap="square" lIns="0" tIns="0" rIns="0" bIns="0" rtlCol="0" anchor="t"/>
          <a:lstStyle/>
          <a:p>
            <a:pPr indent="0" marL="0">
              <a:buNone/>
            </a:pPr>
            <a:r>
              <a:rPr lang="en-US" sz="1000" b="1" dirty="0">
                <a:solidFill>
                  <a:srgbClr val="FF5A60"/>
                </a:solidFill>
                <a:latin typeface="Calibri" pitchFamily="34" charset="0"/>
                <a:ea typeface="Calibri" pitchFamily="34" charset="-122"/>
                <a:cs typeface="Calibri" pitchFamily="34" charset="-120"/>
              </a:rPr>
              <a:t>0</a:t>
            </a:r>
            <a:endParaRPr lang="en-US" sz="1000" dirty="0"/>
          </a:p>
        </p:txBody>
      </p:sp>
      <p:sp>
        <p:nvSpPr>
          <p:cNvPr id="44" name="Text 42"/>
          <p:cNvSpPr txBox="1"/>
          <p:nvPr/>
        </p:nvSpPr>
        <p:spPr>
          <a:xfrm>
            <a:off x="5678424" y="4882896"/>
            <a:ext cx="457200" cy="182880"/>
          </a:xfrm>
          <a:prstGeom prst="rect">
            <a:avLst/>
          </a:prstGeom>
          <a:noFill/>
          <a:ln/>
        </p:spPr>
        <p:txBody>
          <a:bodyPr wrap="square" lIns="0" tIns="0" rIns="0" bIns="0" rtlCol="0" anchor="t"/>
          <a:lstStyle/>
          <a:p>
            <a:pPr indent="0" marL="0">
              <a:buNone/>
            </a:pPr>
            <a:r>
              <a:rPr lang="en-US" sz="1000" dirty="0">
                <a:solidFill>
                  <a:srgbClr val="3DDC97"/>
                </a:solidFill>
                <a:latin typeface="Calibri" pitchFamily="34" charset="0"/>
                <a:ea typeface="Calibri" pitchFamily="34" charset="-122"/>
                <a:cs typeface="Calibri" pitchFamily="34" charset="-120"/>
              </a:rPr>
              <a:t>500</a:t>
            </a:r>
            <a:endParaRPr lang="en-US" sz="1000" dirty="0"/>
          </a:p>
        </p:txBody>
      </p:sp>
      <p:sp>
        <p:nvSpPr>
          <p:cNvPr id="45" name="Text 43"/>
          <p:cNvSpPr txBox="1"/>
          <p:nvPr/>
        </p:nvSpPr>
        <p:spPr>
          <a:xfrm>
            <a:off x="640080" y="5116068"/>
            <a:ext cx="137160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synth-7</a:t>
            </a:r>
            <a:endParaRPr lang="en-US" sz="1150" dirty="0"/>
          </a:p>
        </p:txBody>
      </p:sp>
      <p:sp>
        <p:nvSpPr>
          <p:cNvPr id="46" name="Shape 44"/>
          <p:cNvSpPr/>
          <p:nvPr/>
        </p:nvSpPr>
        <p:spPr>
          <a:xfrm>
            <a:off x="2057400" y="5253228"/>
            <a:ext cx="3566160" cy="100584"/>
          </a:xfrm>
          <a:prstGeom prst="rect">
            <a:avLst/>
          </a:prstGeom>
          <a:solidFill>
            <a:srgbClr val="3DDC97"/>
          </a:solidFill>
          <a:ln/>
        </p:spPr>
      </p:sp>
      <p:sp>
        <p:nvSpPr>
          <p:cNvPr id="47" name="Text 45"/>
          <p:cNvSpPr txBox="1"/>
          <p:nvPr/>
        </p:nvSpPr>
        <p:spPr>
          <a:xfrm>
            <a:off x="2112264" y="5070348"/>
            <a:ext cx="457200" cy="182880"/>
          </a:xfrm>
          <a:prstGeom prst="rect">
            <a:avLst/>
          </a:prstGeom>
          <a:noFill/>
          <a:ln/>
        </p:spPr>
        <p:txBody>
          <a:bodyPr wrap="square" lIns="0" tIns="0" rIns="0" bIns="0" rtlCol="0" anchor="t"/>
          <a:lstStyle/>
          <a:p>
            <a:pPr indent="0" marL="0">
              <a:buNone/>
            </a:pPr>
            <a:r>
              <a:rPr lang="en-US" sz="1000" b="1" dirty="0">
                <a:solidFill>
                  <a:srgbClr val="FF5A60"/>
                </a:solidFill>
                <a:latin typeface="Calibri" pitchFamily="34" charset="0"/>
                <a:ea typeface="Calibri" pitchFamily="34" charset="-122"/>
                <a:cs typeface="Calibri" pitchFamily="34" charset="-120"/>
              </a:rPr>
              <a:t>0</a:t>
            </a:r>
            <a:endParaRPr lang="en-US" sz="1000" dirty="0"/>
          </a:p>
        </p:txBody>
      </p:sp>
      <p:sp>
        <p:nvSpPr>
          <p:cNvPr id="48" name="Text 46"/>
          <p:cNvSpPr txBox="1"/>
          <p:nvPr/>
        </p:nvSpPr>
        <p:spPr>
          <a:xfrm>
            <a:off x="5678424" y="5207508"/>
            <a:ext cx="457200" cy="182880"/>
          </a:xfrm>
          <a:prstGeom prst="rect">
            <a:avLst/>
          </a:prstGeom>
          <a:noFill/>
          <a:ln/>
        </p:spPr>
        <p:txBody>
          <a:bodyPr wrap="square" lIns="0" tIns="0" rIns="0" bIns="0" rtlCol="0" anchor="t"/>
          <a:lstStyle/>
          <a:p>
            <a:pPr indent="0" marL="0">
              <a:buNone/>
            </a:pPr>
            <a:r>
              <a:rPr lang="en-US" sz="1000" dirty="0">
                <a:solidFill>
                  <a:srgbClr val="3DDC97"/>
                </a:solidFill>
                <a:latin typeface="Calibri" pitchFamily="34" charset="0"/>
                <a:ea typeface="Calibri" pitchFamily="34" charset="-122"/>
                <a:cs typeface="Calibri" pitchFamily="34" charset="-120"/>
              </a:rPr>
              <a:t>500</a:t>
            </a:r>
            <a:endParaRPr lang="en-US" sz="1000" dirty="0"/>
          </a:p>
        </p:txBody>
      </p:sp>
      <p:sp>
        <p:nvSpPr>
          <p:cNvPr id="49" name="Shape 47"/>
          <p:cNvSpPr/>
          <p:nvPr/>
        </p:nvSpPr>
        <p:spPr>
          <a:xfrm>
            <a:off x="2057400" y="2130552"/>
            <a:ext cx="0" cy="3291840"/>
          </a:xfrm>
          <a:prstGeom prst="line">
            <a:avLst/>
          </a:prstGeom>
          <a:noFill/>
          <a:ln w="9525">
            <a:solidFill>
              <a:srgbClr val="2A3546"/>
            </a:solidFill>
            <a:prstDash val="solid"/>
          </a:ln>
        </p:spPr>
      </p:sp>
      <p:sp>
        <p:nvSpPr>
          <p:cNvPr id="50" name="Shape 48"/>
          <p:cNvSpPr/>
          <p:nvPr/>
        </p:nvSpPr>
        <p:spPr>
          <a:xfrm>
            <a:off x="2057400" y="5596128"/>
            <a:ext cx="164592" cy="100584"/>
          </a:xfrm>
          <a:prstGeom prst="rect">
            <a:avLst/>
          </a:prstGeom>
          <a:solidFill>
            <a:srgbClr val="FF5A60"/>
          </a:solidFill>
          <a:ln/>
        </p:spPr>
      </p:sp>
      <p:sp>
        <p:nvSpPr>
          <p:cNvPr id="51" name="Text 49"/>
          <p:cNvSpPr txBox="1"/>
          <p:nvPr/>
        </p:nvSpPr>
        <p:spPr>
          <a:xfrm>
            <a:off x="2286000" y="5532120"/>
            <a:ext cx="1645920" cy="228600"/>
          </a:xfrm>
          <a:prstGeom prst="rect">
            <a:avLst/>
          </a:prstGeom>
          <a:noFill/>
          <a:ln/>
        </p:spPr>
        <p:txBody>
          <a:bodyPr wrap="square" lIns="0" tIns="0" rIns="0" bIns="0" rtlCol="0" anchor="t"/>
          <a:lstStyle/>
          <a:p>
            <a:pPr indent="0" marL="0">
              <a:buNone/>
            </a:pPr>
            <a:r>
              <a:rPr lang="en-US" sz="1100" dirty="0">
                <a:solidFill>
                  <a:srgbClr val="9AA6B6"/>
                </a:solidFill>
                <a:latin typeface="Calibri" pitchFamily="34" charset="0"/>
                <a:ea typeface="Calibri" pitchFamily="34" charset="-122"/>
                <a:cs typeface="Calibri" pitchFamily="34" charset="-120"/>
              </a:rPr>
              <a:t>random ordering</a:t>
            </a:r>
            <a:endParaRPr lang="en-US" sz="1100" dirty="0"/>
          </a:p>
        </p:txBody>
      </p:sp>
      <p:sp>
        <p:nvSpPr>
          <p:cNvPr id="52" name="Shape 50"/>
          <p:cNvSpPr/>
          <p:nvPr/>
        </p:nvSpPr>
        <p:spPr>
          <a:xfrm>
            <a:off x="3794760" y="5596128"/>
            <a:ext cx="164592" cy="100584"/>
          </a:xfrm>
          <a:prstGeom prst="rect">
            <a:avLst/>
          </a:prstGeom>
          <a:solidFill>
            <a:srgbClr val="3DDC97"/>
          </a:solidFill>
          <a:ln/>
        </p:spPr>
      </p:sp>
      <p:sp>
        <p:nvSpPr>
          <p:cNvPr id="53" name="Text 51"/>
          <p:cNvSpPr txBox="1"/>
          <p:nvPr/>
        </p:nvSpPr>
        <p:spPr>
          <a:xfrm>
            <a:off x="4023360" y="5532120"/>
            <a:ext cx="2194560" cy="228600"/>
          </a:xfrm>
          <a:prstGeom prst="rect">
            <a:avLst/>
          </a:prstGeom>
          <a:noFill/>
          <a:ln/>
        </p:spPr>
        <p:txBody>
          <a:bodyPr wrap="square" lIns="0" tIns="0" rIns="0" bIns="0" rtlCol="0" anchor="t"/>
          <a:lstStyle/>
          <a:p>
            <a:pPr indent="0" marL="0">
              <a:buNone/>
            </a:pPr>
            <a:r>
              <a:rPr lang="en-US" sz="1100" dirty="0">
                <a:solidFill>
                  <a:srgbClr val="9AA6B6"/>
                </a:solidFill>
                <a:latin typeface="Calibri" pitchFamily="34" charset="0"/>
                <a:ea typeface="Calibri" pitchFamily="34" charset="-122"/>
                <a:cs typeface="Calibri" pitchFamily="34" charset="-120"/>
              </a:rPr>
              <a:t>min-degree construction</a:t>
            </a:r>
            <a:endParaRPr lang="en-US" sz="1100" dirty="0"/>
          </a:p>
        </p:txBody>
      </p:sp>
      <p:sp>
        <p:nvSpPr>
          <p:cNvPr id="54" name="Text 52"/>
          <p:cNvSpPr txBox="1"/>
          <p:nvPr/>
        </p:nvSpPr>
        <p:spPr>
          <a:xfrm>
            <a:off x="6537960" y="1783080"/>
            <a:ext cx="5013655" cy="1417320"/>
          </a:xfrm>
          <a:prstGeom prst="rect">
            <a:avLst/>
          </a:prstGeom>
          <a:noFill/>
          <a:ln/>
        </p:spPr>
        <p:txBody>
          <a:bodyPr wrap="square" lIns="0" tIns="0" rIns="0" bIns="0" rtlCol="0" anchor="t"/>
          <a:lstStyle/>
          <a:p>
            <a:pPr indent="0" marL="0">
              <a:buNone/>
            </a:pPr>
            <a:r>
              <a:rPr lang="en-US" sz="1500" dirty="0">
                <a:solidFill>
                  <a:srgbClr val="E8ECF2"/>
                </a:solidFill>
                <a:latin typeface="Calibri" pitchFamily="34" charset="0"/>
                <a:ea typeface="Calibri" pitchFamily="34" charset="-122"/>
                <a:cs typeface="Calibri" pitchFamily="34" charset="-120"/>
              </a:rPr>
              <a:t>On six instances a random ordering breaks the cap, and so did every neighbour the search tried: nothing to stand on, nothing to climb. From a random start on medium-graph, Team HRI’s search ran 193 iterations in 25 s and accepted none.</a:t>
            </a:r>
            <a:endParaRPr lang="en-US" sz="1500" dirty="0"/>
          </a:p>
        </p:txBody>
      </p:sp>
      <p:sp>
        <p:nvSpPr>
          <p:cNvPr id="55" name="Text 53"/>
          <p:cNvSpPr txBox="1"/>
          <p:nvPr/>
        </p:nvSpPr>
        <p:spPr>
          <a:xfrm>
            <a:off x="6537960" y="3401568"/>
            <a:ext cx="5013655" cy="237744"/>
          </a:xfrm>
          <a:prstGeom prst="rect">
            <a:avLst/>
          </a:prstGeom>
          <a:noFill/>
          <a:ln/>
        </p:spPr>
        <p:txBody>
          <a:bodyPr wrap="square" lIns="0" tIns="0" rIns="0" bIns="0" rtlCol="0" anchor="t"/>
          <a:lstStyle/>
          <a:p>
            <a:pPr indent="0" marL="0">
              <a:buNone/>
            </a:pPr>
            <a:r>
              <a:rPr lang="en-US" sz="1050" b="1" spc="160" kern="0" dirty="0">
                <a:solidFill>
                  <a:srgbClr val="9AA6B6"/>
                </a:solidFill>
                <a:latin typeface="Calibri" pitchFamily="34" charset="0"/>
                <a:ea typeface="Calibri" pitchFamily="34" charset="-122"/>
                <a:cs typeface="Calibri" pitchFamily="34" charset="-120"/>
              </a:rPr>
              <a:t>WHAT IT DID TO A COMPARISON  ·  synth-1, 8 s</a:t>
            </a:r>
            <a:endParaRPr lang="en-US" sz="1050" dirty="0"/>
          </a:p>
        </p:txBody>
      </p:sp>
      <p:sp>
        <p:nvSpPr>
          <p:cNvPr id="56" name="Text 54"/>
          <p:cNvSpPr txBox="1"/>
          <p:nvPr/>
        </p:nvSpPr>
        <p:spPr>
          <a:xfrm>
            <a:off x="6537960" y="3913632"/>
            <a:ext cx="1371600" cy="256032"/>
          </a:xfrm>
          <a:prstGeom prst="rect">
            <a:avLst/>
          </a:prstGeom>
          <a:noFill/>
          <a:ln/>
        </p:spPr>
        <p:txBody>
          <a:bodyPr wrap="square" lIns="0" tIns="0" rIns="0" bIns="0" rtlCol="0" anchor="t"/>
          <a:lstStyle/>
          <a:p>
            <a:pPr indent="0" marL="0">
              <a:buNone/>
            </a:pPr>
            <a:r>
              <a:rPr lang="en-US" sz="1250" dirty="0">
                <a:solidFill>
                  <a:srgbClr val="E8ECF2"/>
                </a:solidFill>
                <a:latin typeface="Calibri" pitchFamily="34" charset="0"/>
                <a:ea typeface="Calibri" pitchFamily="34" charset="-122"/>
                <a:cs typeface="Calibri" pitchFamily="34" charset="-120"/>
              </a:rPr>
              <a:t>different starts</a:t>
            </a:r>
            <a:endParaRPr lang="en-US" sz="1250" dirty="0"/>
          </a:p>
        </p:txBody>
      </p:sp>
      <p:sp>
        <p:nvSpPr>
          <p:cNvPr id="57" name="Shape 55"/>
          <p:cNvSpPr/>
          <p:nvPr/>
        </p:nvSpPr>
        <p:spPr>
          <a:xfrm>
            <a:off x="8001000" y="4041648"/>
            <a:ext cx="3459175" cy="0"/>
          </a:xfrm>
          <a:prstGeom prst="line">
            <a:avLst/>
          </a:prstGeom>
          <a:noFill/>
          <a:ln w="9525">
            <a:solidFill>
              <a:srgbClr val="1C2533"/>
            </a:solidFill>
            <a:prstDash val="solid"/>
          </a:ln>
        </p:spPr>
      </p:sp>
      <p:sp>
        <p:nvSpPr>
          <p:cNvPr id="58" name="Shape 56"/>
          <p:cNvSpPr/>
          <p:nvPr/>
        </p:nvSpPr>
        <p:spPr>
          <a:xfrm>
            <a:off x="8455850" y="4041648"/>
            <a:ext cx="2885005" cy="0"/>
          </a:xfrm>
          <a:prstGeom prst="line">
            <a:avLst/>
          </a:prstGeom>
          <a:noFill/>
          <a:ln w="28575">
            <a:solidFill>
              <a:srgbClr val="F2C14E"/>
            </a:solidFill>
            <a:prstDash val="solid"/>
          </a:ln>
        </p:spPr>
      </p:sp>
      <p:sp>
        <p:nvSpPr>
          <p:cNvPr id="59" name="Shape 57"/>
          <p:cNvSpPr/>
          <p:nvPr/>
        </p:nvSpPr>
        <p:spPr>
          <a:xfrm>
            <a:off x="11263131" y="3963924"/>
            <a:ext cx="155448" cy="155448"/>
          </a:xfrm>
          <a:prstGeom prst="ellipse">
            <a:avLst/>
          </a:prstGeom>
          <a:solidFill>
            <a:srgbClr val="E8ECF2"/>
          </a:solidFill>
          <a:ln/>
        </p:spPr>
      </p:sp>
      <p:sp>
        <p:nvSpPr>
          <p:cNvPr id="60" name="Shape 58"/>
          <p:cNvSpPr/>
          <p:nvPr/>
        </p:nvSpPr>
        <p:spPr>
          <a:xfrm>
            <a:off x="8378126" y="3963924"/>
            <a:ext cx="155448" cy="155448"/>
          </a:xfrm>
          <a:prstGeom prst="ellipse">
            <a:avLst/>
          </a:prstGeom>
          <a:solidFill>
            <a:srgbClr val="0B0F17"/>
          </a:solidFill>
          <a:ln w="19050">
            <a:solidFill>
              <a:srgbClr val="E8ECF2"/>
            </a:solidFill>
            <a:prstDash val="solid"/>
          </a:ln>
        </p:spPr>
      </p:sp>
      <p:sp>
        <p:nvSpPr>
          <p:cNvPr id="61" name="Text 59"/>
          <p:cNvSpPr txBox="1"/>
          <p:nvPr/>
        </p:nvSpPr>
        <p:spPr>
          <a:xfrm>
            <a:off x="8684450" y="3712464"/>
            <a:ext cx="1737360" cy="219456"/>
          </a:xfrm>
          <a:prstGeom prst="rect">
            <a:avLst/>
          </a:prstGeom>
          <a:noFill/>
          <a:ln/>
        </p:spPr>
        <p:txBody>
          <a:bodyPr wrap="square" lIns="0" tIns="0" rIns="0" bIns="0" rtlCol="0" anchor="t"/>
          <a:lstStyle/>
          <a:p>
            <a:pPr algn="l" indent="0" marL="0">
              <a:buNone/>
            </a:pPr>
            <a:r>
              <a:rPr lang="en-US" sz="1150" b="1" dirty="0">
                <a:solidFill>
                  <a:srgbClr val="F2C14E"/>
                </a:solidFill>
                <a:latin typeface="Calibri" pitchFamily="34" charset="0"/>
                <a:ea typeface="Calibri" pitchFamily="34" charset="-122"/>
                <a:cs typeface="Calibri" pitchFamily="34" charset="-120"/>
              </a:rPr>
              <a:t>275,225 HV apart</a:t>
            </a:r>
            <a:endParaRPr lang="en-US" sz="1150" dirty="0"/>
          </a:p>
        </p:txBody>
      </p:sp>
      <p:sp>
        <p:nvSpPr>
          <p:cNvPr id="62" name="Text 60"/>
          <p:cNvSpPr txBox="1"/>
          <p:nvPr/>
        </p:nvSpPr>
        <p:spPr>
          <a:xfrm>
            <a:off x="6537960" y="4626864"/>
            <a:ext cx="1371600" cy="256032"/>
          </a:xfrm>
          <a:prstGeom prst="rect">
            <a:avLst/>
          </a:prstGeom>
          <a:noFill/>
          <a:ln/>
        </p:spPr>
        <p:txBody>
          <a:bodyPr wrap="square" lIns="0" tIns="0" rIns="0" bIns="0" rtlCol="0" anchor="t"/>
          <a:lstStyle/>
          <a:p>
            <a:pPr indent="0" marL="0">
              <a:buNone/>
            </a:pPr>
            <a:r>
              <a:rPr lang="en-US" sz="1250" dirty="0">
                <a:solidFill>
                  <a:srgbClr val="E8ECF2"/>
                </a:solidFill>
                <a:latin typeface="Calibri" pitchFamily="34" charset="0"/>
                <a:ea typeface="Calibri" pitchFamily="34" charset="-122"/>
                <a:cs typeface="Calibri" pitchFamily="34" charset="-120"/>
              </a:rPr>
              <a:t>same start</a:t>
            </a:r>
            <a:endParaRPr lang="en-US" sz="1250" dirty="0"/>
          </a:p>
        </p:txBody>
      </p:sp>
      <p:sp>
        <p:nvSpPr>
          <p:cNvPr id="63" name="Shape 61"/>
          <p:cNvSpPr/>
          <p:nvPr/>
        </p:nvSpPr>
        <p:spPr>
          <a:xfrm>
            <a:off x="8001000" y="4754880"/>
            <a:ext cx="3459175" cy="0"/>
          </a:xfrm>
          <a:prstGeom prst="line">
            <a:avLst/>
          </a:prstGeom>
          <a:noFill/>
          <a:ln w="9525">
            <a:solidFill>
              <a:srgbClr val="1C2533"/>
            </a:solidFill>
            <a:prstDash val="solid"/>
          </a:ln>
        </p:spPr>
      </p:sp>
      <p:sp>
        <p:nvSpPr>
          <p:cNvPr id="64" name="Shape 62"/>
          <p:cNvSpPr/>
          <p:nvPr/>
        </p:nvSpPr>
        <p:spPr>
          <a:xfrm>
            <a:off x="11341379" y="4754880"/>
            <a:ext cx="12935" cy="0"/>
          </a:xfrm>
          <a:prstGeom prst="line">
            <a:avLst/>
          </a:prstGeom>
          <a:noFill/>
          <a:ln w="28575">
            <a:solidFill>
              <a:srgbClr val="F2C14E"/>
            </a:solidFill>
            <a:prstDash val="solid"/>
          </a:ln>
        </p:spPr>
      </p:sp>
      <p:sp>
        <p:nvSpPr>
          <p:cNvPr id="65" name="Shape 63"/>
          <p:cNvSpPr/>
          <p:nvPr/>
        </p:nvSpPr>
        <p:spPr>
          <a:xfrm>
            <a:off x="11276590" y="4677156"/>
            <a:ext cx="155448" cy="155448"/>
          </a:xfrm>
          <a:prstGeom prst="ellipse">
            <a:avLst/>
          </a:prstGeom>
          <a:solidFill>
            <a:srgbClr val="E8ECF2"/>
          </a:solidFill>
          <a:ln/>
        </p:spPr>
      </p:sp>
      <p:sp>
        <p:nvSpPr>
          <p:cNvPr id="66" name="Shape 64"/>
          <p:cNvSpPr/>
          <p:nvPr/>
        </p:nvSpPr>
        <p:spPr>
          <a:xfrm>
            <a:off x="11213363" y="4626864"/>
            <a:ext cx="256032" cy="256032"/>
          </a:xfrm>
          <a:prstGeom prst="ellipse">
            <a:avLst/>
          </a:prstGeom>
          <a:ln w="19050">
            <a:solidFill>
              <a:srgbClr val="E8ECF2"/>
            </a:solidFill>
            <a:prstDash val="solid"/>
          </a:ln>
        </p:spPr>
      </p:sp>
      <p:sp>
        <p:nvSpPr>
          <p:cNvPr id="67" name="Text 65"/>
          <p:cNvSpPr txBox="1"/>
          <p:nvPr/>
        </p:nvSpPr>
        <p:spPr>
          <a:xfrm>
            <a:off x="9479794" y="4425696"/>
            <a:ext cx="1737360" cy="219456"/>
          </a:xfrm>
          <a:prstGeom prst="rect">
            <a:avLst/>
          </a:prstGeom>
          <a:noFill/>
          <a:ln/>
        </p:spPr>
        <p:txBody>
          <a:bodyPr wrap="square" lIns="0" tIns="0" rIns="0" bIns="0" rtlCol="0" anchor="t"/>
          <a:lstStyle/>
          <a:p>
            <a:pPr algn="r" indent="0" marL="0">
              <a:buNone/>
            </a:pPr>
            <a:r>
              <a:rPr lang="en-US" sz="1150" b="1" dirty="0">
                <a:solidFill>
                  <a:srgbClr val="F2C14E"/>
                </a:solidFill>
                <a:latin typeface="Calibri" pitchFamily="34" charset="0"/>
                <a:ea typeface="Calibri" pitchFamily="34" charset="-122"/>
                <a:cs typeface="Calibri" pitchFamily="34" charset="-120"/>
              </a:rPr>
              <a:t>1,234 HV apart</a:t>
            </a:r>
            <a:endParaRPr lang="en-US" sz="1150" dirty="0"/>
          </a:p>
        </p:txBody>
      </p:sp>
      <p:sp>
        <p:nvSpPr>
          <p:cNvPr id="68" name="Text 66"/>
          <p:cNvSpPr txBox="1"/>
          <p:nvPr/>
        </p:nvSpPr>
        <p:spPr>
          <a:xfrm>
            <a:off x="7635240" y="4937760"/>
            <a:ext cx="731520" cy="182880"/>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1.50M HV</a:t>
            </a:r>
            <a:endParaRPr lang="en-US" sz="1000" dirty="0"/>
          </a:p>
        </p:txBody>
      </p:sp>
      <p:sp>
        <p:nvSpPr>
          <p:cNvPr id="69" name="Text 67"/>
          <p:cNvSpPr txBox="1"/>
          <p:nvPr/>
        </p:nvSpPr>
        <p:spPr>
          <a:xfrm>
            <a:off x="10728655" y="4937760"/>
            <a:ext cx="731520" cy="182880"/>
          </a:xfrm>
          <a:prstGeom prst="rect">
            <a:avLst/>
          </a:prstGeom>
          <a:noFill/>
          <a:ln/>
        </p:spPr>
        <p:txBody>
          <a:bodyPr wrap="square" lIns="0" tIns="0" rIns="0" bIns="0" rtlCol="0" anchor="t"/>
          <a:lstStyle/>
          <a:p>
            <a:pPr algn="r" indent="0" marL="0">
              <a:buNone/>
            </a:pPr>
            <a:r>
              <a:rPr lang="en-US" sz="1000" dirty="0">
                <a:solidFill>
                  <a:srgbClr val="7D8AA0"/>
                </a:solidFill>
                <a:latin typeface="Calibri" pitchFamily="34" charset="0"/>
                <a:ea typeface="Calibri" pitchFamily="34" charset="-122"/>
                <a:cs typeface="Calibri" pitchFamily="34" charset="-120"/>
              </a:rPr>
              <a:t>1.83M HV</a:t>
            </a:r>
            <a:endParaRPr lang="en-US" sz="1000" dirty="0"/>
          </a:p>
        </p:txBody>
      </p:sp>
      <p:sp>
        <p:nvSpPr>
          <p:cNvPr id="70" name="Shape 68"/>
          <p:cNvSpPr/>
          <p:nvPr/>
        </p:nvSpPr>
        <p:spPr>
          <a:xfrm>
            <a:off x="7987284" y="5262372"/>
            <a:ext cx="118872" cy="118872"/>
          </a:xfrm>
          <a:prstGeom prst="ellipse">
            <a:avLst/>
          </a:prstGeom>
          <a:solidFill>
            <a:srgbClr val="0B0F17"/>
          </a:solidFill>
          <a:ln w="19050">
            <a:solidFill>
              <a:srgbClr val="E8ECF2"/>
            </a:solidFill>
            <a:prstDash val="solid"/>
          </a:ln>
        </p:spPr>
      </p:sp>
      <p:sp>
        <p:nvSpPr>
          <p:cNvPr id="71" name="Text 69"/>
          <p:cNvSpPr txBox="1"/>
          <p:nvPr/>
        </p:nvSpPr>
        <p:spPr>
          <a:xfrm>
            <a:off x="8165592" y="5221224"/>
            <a:ext cx="1188720" cy="219456"/>
          </a:xfrm>
          <a:prstGeom prst="rect">
            <a:avLst/>
          </a:prstGeom>
          <a:noFill/>
          <a:ln/>
        </p:spPr>
        <p:txBody>
          <a:bodyPr wrap="square" lIns="0" tIns="0" rIns="0" bIns="0" rtlCol="0" anchor="t"/>
          <a:lstStyle/>
          <a:p>
            <a:pPr indent="0" marL="0">
              <a:buNone/>
            </a:pPr>
            <a:r>
              <a:rPr lang="en-US" sz="1100" dirty="0">
                <a:solidFill>
                  <a:srgbClr val="9AA6B6"/>
                </a:solidFill>
                <a:latin typeface="Calibri" pitchFamily="34" charset="0"/>
                <a:ea typeface="Calibri" pitchFamily="34" charset="-122"/>
                <a:cs typeface="Calibri" pitchFamily="34" charset="-120"/>
              </a:rPr>
              <a:t>Team HRI</a:t>
            </a:r>
            <a:endParaRPr lang="en-US" sz="1100" dirty="0"/>
          </a:p>
        </p:txBody>
      </p:sp>
      <p:sp>
        <p:nvSpPr>
          <p:cNvPr id="72" name="Shape 70"/>
          <p:cNvSpPr/>
          <p:nvPr/>
        </p:nvSpPr>
        <p:spPr>
          <a:xfrm>
            <a:off x="9358884" y="5262372"/>
            <a:ext cx="118872" cy="118872"/>
          </a:xfrm>
          <a:prstGeom prst="ellipse">
            <a:avLst/>
          </a:prstGeom>
          <a:solidFill>
            <a:srgbClr val="E8ECF2"/>
          </a:solidFill>
          <a:ln/>
        </p:spPr>
      </p:sp>
      <p:sp>
        <p:nvSpPr>
          <p:cNvPr id="73" name="Text 71"/>
          <p:cNvSpPr txBox="1"/>
          <p:nvPr/>
        </p:nvSpPr>
        <p:spPr>
          <a:xfrm>
            <a:off x="9537192" y="5221224"/>
            <a:ext cx="1371600" cy="219456"/>
          </a:xfrm>
          <a:prstGeom prst="rect">
            <a:avLst/>
          </a:prstGeom>
          <a:noFill/>
          <a:ln/>
        </p:spPr>
        <p:txBody>
          <a:bodyPr wrap="square" lIns="0" tIns="0" rIns="0" bIns="0" rtlCol="0" anchor="t"/>
          <a:lstStyle/>
          <a:p>
            <a:pPr indent="0" marL="0">
              <a:buNone/>
            </a:pPr>
            <a:r>
              <a:rPr lang="en-US" sz="1100" dirty="0">
                <a:solidFill>
                  <a:srgbClr val="9AA6B6"/>
                </a:solidFill>
                <a:latin typeface="Calibri" pitchFamily="34" charset="0"/>
                <a:ea typeface="Calibri" pitchFamily="34" charset="-122"/>
                <a:cs typeface="Calibri" pitchFamily="34" charset="-120"/>
              </a:rPr>
              <a:t>Hill Climbing</a:t>
            </a:r>
            <a:endParaRPr lang="en-US" sz="1100" dirty="0"/>
          </a:p>
        </p:txBody>
      </p:sp>
      <p:sp>
        <p:nvSpPr>
          <p:cNvPr id="74" name="Text 72"/>
          <p:cNvSpPr txBox="1"/>
          <p:nvPr/>
        </p:nvSpPr>
        <p:spPr>
          <a:xfrm>
            <a:off x="6537960" y="5596128"/>
            <a:ext cx="5013655" cy="685800"/>
          </a:xfrm>
          <a:prstGeom prst="rect">
            <a:avLst/>
          </a:prstGeom>
          <a:noFill/>
          <a:ln/>
        </p:spPr>
        <p:txBody>
          <a:bodyPr wrap="square" lIns="0" tIns="0" rIns="0" bIns="0" rtlCol="0" anchor="t"/>
          <a:lstStyle/>
          <a:p>
            <a:pPr indent="0" marL="0">
              <a:buNone/>
            </a:pPr>
            <a:r>
              <a:rPr lang="en-US" sz="1650" i="1" dirty="0">
                <a:solidFill>
                  <a:srgbClr val="E8ECF2"/>
                </a:solidFill>
                <a:latin typeface="Century Schoolbook" pitchFamily="34" charset="0"/>
                <a:ea typeface="Century Schoolbook" pitchFamily="34" charset="-122"/>
                <a:cs typeface="Century Schoolbook" pitchFamily="34" charset="-120"/>
              </a:rPr>
              <a:t>Almost the whole apparent gap was the starting heuristic, not the search.</a:t>
            </a:r>
            <a:endParaRPr lang="en-US" sz="165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IV · THE MEASUREMENT</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Then I ran the control twice</a:t>
            </a:r>
            <a:endParaRPr lang="en-US" sz="2700" dirty="0"/>
          </a:p>
        </p:txBody>
      </p:sp>
      <p:sp>
        <p:nvSpPr>
          <p:cNvPr id="4" name="Text 2"/>
          <p:cNvSpPr txBox="1"/>
          <p:nvPr/>
        </p:nvSpPr>
        <p:spPr>
          <a:xfrm>
            <a:off x="640080" y="1737360"/>
            <a:ext cx="10911535" cy="365760"/>
          </a:xfrm>
          <a:prstGeom prst="rect">
            <a:avLst/>
          </a:prstGeom>
          <a:noFill/>
          <a:ln/>
        </p:spPr>
        <p:txBody>
          <a:bodyPr wrap="square" lIns="0" tIns="0" rIns="0" bIns="0" rtlCol="0" anchor="t"/>
          <a:lstStyle/>
          <a:p>
            <a:pPr indent="0" marL="0">
              <a:buNone/>
            </a:pPr>
            <a:r>
              <a:rPr lang="en-US" sz="1500" dirty="0">
                <a:solidFill>
                  <a:srgbClr val="9AA6B6"/>
                </a:solidFill>
                <a:latin typeface="Calibri" pitchFamily="34" charset="0"/>
                <a:ea typeface="Calibri" pitchFamily="34" charset="-122"/>
                <a:cs typeface="Calibri" pitchFamily="34" charset="-120"/>
              </a:rPr>
              <a:t>Hill Climbing stops on wall-clock, so two full sessions are two independent samples, not a repeat.</a:t>
            </a:r>
            <a:endParaRPr lang="en-US" sz="1500" dirty="0"/>
          </a:p>
        </p:txBody>
      </p:sp>
      <p:sp>
        <p:nvSpPr>
          <p:cNvPr id="5" name="Text 3"/>
          <p:cNvSpPr txBox="1"/>
          <p:nvPr/>
        </p:nvSpPr>
        <p:spPr>
          <a:xfrm>
            <a:off x="640080" y="2286000"/>
            <a:ext cx="5394960" cy="274320"/>
          </a:xfrm>
          <a:prstGeom prst="rect">
            <a:avLst/>
          </a:prstGeom>
          <a:noFill/>
          <a:ln/>
        </p:spPr>
        <p:txBody>
          <a:bodyPr wrap="square" lIns="0" tIns="0" rIns="0" bIns="0" rtlCol="0" anchor="t"/>
          <a:lstStyle/>
          <a:p>
            <a:pPr indent="0" marL="0">
              <a:buNone/>
            </a:pPr>
            <a:r>
              <a:rPr lang="en-US" sz="1350" b="1" dirty="0">
                <a:solidFill>
                  <a:srgbClr val="E8ECF2"/>
                </a:solidFill>
                <a:latin typeface="Calibri" pitchFamily="34" charset="0"/>
                <a:ea typeface="Calibri" pitchFamily="34" charset="-122"/>
                <a:cs typeface="Calibri" pitchFamily="34" charset="-120"/>
              </a:rPr>
              <a:t>Per instance: the session change is just seed scatter</a:t>
            </a:r>
            <a:endParaRPr lang="en-US" sz="1350" dirty="0"/>
          </a:p>
        </p:txBody>
      </p:sp>
      <p:sp>
        <p:nvSpPr>
          <p:cNvPr id="6" name="Shape 4"/>
          <p:cNvSpPr/>
          <p:nvPr/>
        </p:nvSpPr>
        <p:spPr>
          <a:xfrm>
            <a:off x="1874520" y="2670048"/>
            <a:ext cx="0" cy="2724912"/>
          </a:xfrm>
          <a:prstGeom prst="line">
            <a:avLst/>
          </a:prstGeom>
          <a:noFill/>
          <a:ln w="7620">
            <a:solidFill>
              <a:srgbClr val="1C2533"/>
            </a:solidFill>
            <a:prstDash val="solid"/>
          </a:ln>
        </p:spPr>
      </p:sp>
      <p:sp>
        <p:nvSpPr>
          <p:cNvPr id="7" name="Text 5"/>
          <p:cNvSpPr txBox="1"/>
          <p:nvPr/>
        </p:nvSpPr>
        <p:spPr>
          <a:xfrm>
            <a:off x="1600200" y="5431536"/>
            <a:ext cx="54864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a:t>
            </a:r>
            <a:endParaRPr lang="en-US" sz="1000" dirty="0"/>
          </a:p>
        </p:txBody>
      </p:sp>
      <p:sp>
        <p:nvSpPr>
          <p:cNvPr id="8" name="Shape 6"/>
          <p:cNvSpPr/>
          <p:nvPr/>
        </p:nvSpPr>
        <p:spPr>
          <a:xfrm>
            <a:off x="2788920" y="2670048"/>
            <a:ext cx="0" cy="2724912"/>
          </a:xfrm>
          <a:prstGeom prst="line">
            <a:avLst/>
          </a:prstGeom>
          <a:noFill/>
          <a:ln w="7620">
            <a:solidFill>
              <a:srgbClr val="1C2533"/>
            </a:solidFill>
            <a:prstDash val="solid"/>
          </a:ln>
        </p:spPr>
      </p:sp>
      <p:sp>
        <p:nvSpPr>
          <p:cNvPr id="9" name="Text 7"/>
          <p:cNvSpPr txBox="1"/>
          <p:nvPr/>
        </p:nvSpPr>
        <p:spPr>
          <a:xfrm>
            <a:off x="2514600" y="5431536"/>
            <a:ext cx="54864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10</a:t>
            </a:r>
            <a:endParaRPr lang="en-US" sz="1000" dirty="0"/>
          </a:p>
        </p:txBody>
      </p:sp>
      <p:sp>
        <p:nvSpPr>
          <p:cNvPr id="10" name="Shape 8"/>
          <p:cNvSpPr/>
          <p:nvPr/>
        </p:nvSpPr>
        <p:spPr>
          <a:xfrm>
            <a:off x="3703320" y="2670048"/>
            <a:ext cx="0" cy="2724912"/>
          </a:xfrm>
          <a:prstGeom prst="line">
            <a:avLst/>
          </a:prstGeom>
          <a:noFill/>
          <a:ln w="7620">
            <a:solidFill>
              <a:srgbClr val="1C2533"/>
            </a:solidFill>
            <a:prstDash val="solid"/>
          </a:ln>
        </p:spPr>
      </p:sp>
      <p:sp>
        <p:nvSpPr>
          <p:cNvPr id="11" name="Text 9"/>
          <p:cNvSpPr txBox="1"/>
          <p:nvPr/>
        </p:nvSpPr>
        <p:spPr>
          <a:xfrm>
            <a:off x="3429000" y="5431536"/>
            <a:ext cx="54864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100</a:t>
            </a:r>
            <a:endParaRPr lang="en-US" sz="1000" dirty="0"/>
          </a:p>
        </p:txBody>
      </p:sp>
      <p:sp>
        <p:nvSpPr>
          <p:cNvPr id="12" name="Shape 10"/>
          <p:cNvSpPr/>
          <p:nvPr/>
        </p:nvSpPr>
        <p:spPr>
          <a:xfrm>
            <a:off x="4617720" y="2670048"/>
            <a:ext cx="0" cy="2724912"/>
          </a:xfrm>
          <a:prstGeom prst="line">
            <a:avLst/>
          </a:prstGeom>
          <a:noFill/>
          <a:ln w="7620">
            <a:solidFill>
              <a:srgbClr val="1C2533"/>
            </a:solidFill>
            <a:prstDash val="solid"/>
          </a:ln>
        </p:spPr>
      </p:sp>
      <p:sp>
        <p:nvSpPr>
          <p:cNvPr id="13" name="Text 11"/>
          <p:cNvSpPr txBox="1"/>
          <p:nvPr/>
        </p:nvSpPr>
        <p:spPr>
          <a:xfrm>
            <a:off x="4343400" y="5431536"/>
            <a:ext cx="54864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1k</a:t>
            </a:r>
            <a:endParaRPr lang="en-US" sz="1000" dirty="0"/>
          </a:p>
        </p:txBody>
      </p:sp>
      <p:sp>
        <p:nvSpPr>
          <p:cNvPr id="14" name="Shape 12"/>
          <p:cNvSpPr/>
          <p:nvPr/>
        </p:nvSpPr>
        <p:spPr>
          <a:xfrm>
            <a:off x="5532120" y="2670048"/>
            <a:ext cx="0" cy="2724912"/>
          </a:xfrm>
          <a:prstGeom prst="line">
            <a:avLst/>
          </a:prstGeom>
          <a:noFill/>
          <a:ln w="7620">
            <a:solidFill>
              <a:srgbClr val="1C2533"/>
            </a:solidFill>
            <a:prstDash val="solid"/>
          </a:ln>
        </p:spPr>
      </p:sp>
      <p:sp>
        <p:nvSpPr>
          <p:cNvPr id="15" name="Text 13"/>
          <p:cNvSpPr txBox="1"/>
          <p:nvPr/>
        </p:nvSpPr>
        <p:spPr>
          <a:xfrm>
            <a:off x="5257800" y="5431536"/>
            <a:ext cx="54864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10k</a:t>
            </a:r>
            <a:endParaRPr lang="en-US" sz="1000" dirty="0"/>
          </a:p>
        </p:txBody>
      </p:sp>
      <p:sp>
        <p:nvSpPr>
          <p:cNvPr id="16" name="Text 14"/>
          <p:cNvSpPr txBox="1"/>
          <p:nvPr/>
        </p:nvSpPr>
        <p:spPr>
          <a:xfrm>
            <a:off x="640080" y="2766060"/>
            <a:ext cx="1188720" cy="219456"/>
          </a:xfrm>
          <a:prstGeom prst="rect">
            <a:avLst/>
          </a:prstGeom>
          <a:noFill/>
          <a:ln/>
        </p:spPr>
        <p:txBody>
          <a:bodyPr wrap="square" lIns="0" tIns="0" rIns="0" bIns="0" rtlCol="0" anchor="t"/>
          <a:lstStyle/>
          <a:p>
            <a:pPr indent="0" marL="0">
              <a:buNone/>
            </a:pPr>
            <a:r>
              <a:rPr lang="en-US" sz="1100" dirty="0">
                <a:solidFill>
                  <a:srgbClr val="E8ECF2"/>
                </a:solidFill>
                <a:latin typeface="Calibri" pitchFamily="34" charset="0"/>
                <a:ea typeface="Calibri" pitchFamily="34" charset="-122"/>
                <a:cs typeface="Calibri" pitchFamily="34" charset="-120"/>
              </a:rPr>
              <a:t>small-graph</a:t>
            </a:r>
            <a:endParaRPr lang="en-US" sz="1100" dirty="0"/>
          </a:p>
        </p:txBody>
      </p:sp>
      <p:sp>
        <p:nvSpPr>
          <p:cNvPr id="17" name="Shape 15"/>
          <p:cNvSpPr/>
          <p:nvPr/>
        </p:nvSpPr>
        <p:spPr>
          <a:xfrm>
            <a:off x="1874520" y="2834640"/>
            <a:ext cx="2704436" cy="82296"/>
          </a:xfrm>
          <a:prstGeom prst="rect">
            <a:avLst/>
          </a:prstGeom>
          <a:solidFill>
            <a:srgbClr val="9AA6B6">
              <a:alpha val="45000"/>
            </a:srgbClr>
          </a:solidFill>
          <a:ln/>
        </p:spPr>
      </p:sp>
      <p:sp>
        <p:nvSpPr>
          <p:cNvPr id="18" name="Shape 16"/>
          <p:cNvSpPr/>
          <p:nvPr/>
        </p:nvSpPr>
        <p:spPr>
          <a:xfrm>
            <a:off x="4524092" y="2820924"/>
            <a:ext cx="109728" cy="109728"/>
          </a:xfrm>
          <a:prstGeom prst="ellipse">
            <a:avLst/>
          </a:prstGeom>
          <a:solidFill>
            <a:srgbClr val="4DA3FF"/>
          </a:solidFill>
          <a:ln/>
        </p:spPr>
      </p:sp>
      <p:sp>
        <p:nvSpPr>
          <p:cNvPr id="19" name="Text 17"/>
          <p:cNvSpPr txBox="1"/>
          <p:nvPr/>
        </p:nvSpPr>
        <p:spPr>
          <a:xfrm>
            <a:off x="640080" y="3031236"/>
            <a:ext cx="1188720" cy="219456"/>
          </a:xfrm>
          <a:prstGeom prst="rect">
            <a:avLst/>
          </a:prstGeom>
          <a:noFill/>
          <a:ln/>
        </p:spPr>
        <p:txBody>
          <a:bodyPr wrap="square" lIns="0" tIns="0" rIns="0" bIns="0" rtlCol="0" anchor="t"/>
          <a:lstStyle/>
          <a:p>
            <a:pPr indent="0" marL="0">
              <a:buNone/>
            </a:pPr>
            <a:r>
              <a:rPr lang="en-US" sz="1100" dirty="0">
                <a:solidFill>
                  <a:srgbClr val="E8ECF2"/>
                </a:solidFill>
                <a:latin typeface="Calibri" pitchFamily="34" charset="0"/>
                <a:ea typeface="Calibri" pitchFamily="34" charset="-122"/>
                <a:cs typeface="Calibri" pitchFamily="34" charset="-120"/>
              </a:rPr>
              <a:t>synth-1</a:t>
            </a:r>
            <a:endParaRPr lang="en-US" sz="1100" dirty="0"/>
          </a:p>
        </p:txBody>
      </p:sp>
      <p:sp>
        <p:nvSpPr>
          <p:cNvPr id="20" name="Shape 18"/>
          <p:cNvSpPr/>
          <p:nvPr/>
        </p:nvSpPr>
        <p:spPr>
          <a:xfrm>
            <a:off x="1874520" y="3099816"/>
            <a:ext cx="3124936" cy="82296"/>
          </a:xfrm>
          <a:prstGeom prst="rect">
            <a:avLst/>
          </a:prstGeom>
          <a:solidFill>
            <a:srgbClr val="9AA6B6">
              <a:alpha val="45000"/>
            </a:srgbClr>
          </a:solidFill>
          <a:ln/>
        </p:spPr>
      </p:sp>
      <p:sp>
        <p:nvSpPr>
          <p:cNvPr id="21" name="Shape 19"/>
          <p:cNvSpPr/>
          <p:nvPr/>
        </p:nvSpPr>
        <p:spPr>
          <a:xfrm>
            <a:off x="4674310" y="3086100"/>
            <a:ext cx="109728" cy="109728"/>
          </a:xfrm>
          <a:prstGeom prst="ellipse">
            <a:avLst/>
          </a:prstGeom>
          <a:solidFill>
            <a:srgbClr val="4DA3FF"/>
          </a:solidFill>
          <a:ln/>
        </p:spPr>
      </p:sp>
      <p:sp>
        <p:nvSpPr>
          <p:cNvPr id="22" name="Text 20"/>
          <p:cNvSpPr txBox="1"/>
          <p:nvPr/>
        </p:nvSpPr>
        <p:spPr>
          <a:xfrm>
            <a:off x="640080" y="3296412"/>
            <a:ext cx="1188720" cy="219456"/>
          </a:xfrm>
          <a:prstGeom prst="rect">
            <a:avLst/>
          </a:prstGeom>
          <a:noFill/>
          <a:ln/>
        </p:spPr>
        <p:txBody>
          <a:bodyPr wrap="square" lIns="0" tIns="0" rIns="0" bIns="0" rtlCol="0" anchor="t"/>
          <a:lstStyle/>
          <a:p>
            <a:pPr indent="0" marL="0">
              <a:buNone/>
            </a:pPr>
            <a:r>
              <a:rPr lang="en-US" sz="1100" dirty="0">
                <a:solidFill>
                  <a:srgbClr val="E8ECF2"/>
                </a:solidFill>
                <a:latin typeface="Calibri" pitchFamily="34" charset="0"/>
                <a:ea typeface="Calibri" pitchFamily="34" charset="-122"/>
                <a:cs typeface="Calibri" pitchFamily="34" charset="-120"/>
              </a:rPr>
              <a:t>synth-2</a:t>
            </a:r>
            <a:endParaRPr lang="en-US" sz="1100" dirty="0"/>
          </a:p>
        </p:txBody>
      </p:sp>
      <p:sp>
        <p:nvSpPr>
          <p:cNvPr id="23" name="Shape 21"/>
          <p:cNvSpPr/>
          <p:nvPr/>
        </p:nvSpPr>
        <p:spPr>
          <a:xfrm>
            <a:off x="1874520" y="3364992"/>
            <a:ext cx="2834348" cy="82296"/>
          </a:xfrm>
          <a:prstGeom prst="rect">
            <a:avLst/>
          </a:prstGeom>
          <a:solidFill>
            <a:srgbClr val="9AA6B6">
              <a:alpha val="45000"/>
            </a:srgbClr>
          </a:solidFill>
          <a:ln/>
        </p:spPr>
      </p:sp>
      <p:sp>
        <p:nvSpPr>
          <p:cNvPr id="24" name="Shape 22"/>
          <p:cNvSpPr/>
          <p:nvPr/>
        </p:nvSpPr>
        <p:spPr>
          <a:xfrm>
            <a:off x="3340082" y="3351276"/>
            <a:ext cx="109728" cy="109728"/>
          </a:xfrm>
          <a:prstGeom prst="ellipse">
            <a:avLst/>
          </a:prstGeom>
          <a:solidFill>
            <a:srgbClr val="4DA3FF"/>
          </a:solidFill>
          <a:ln/>
        </p:spPr>
      </p:sp>
      <p:sp>
        <p:nvSpPr>
          <p:cNvPr id="25" name="Text 23"/>
          <p:cNvSpPr txBox="1"/>
          <p:nvPr/>
        </p:nvSpPr>
        <p:spPr>
          <a:xfrm>
            <a:off x="640080" y="3561588"/>
            <a:ext cx="1188720" cy="219456"/>
          </a:xfrm>
          <a:prstGeom prst="rect">
            <a:avLst/>
          </a:prstGeom>
          <a:noFill/>
          <a:ln/>
        </p:spPr>
        <p:txBody>
          <a:bodyPr wrap="square" lIns="0" tIns="0" rIns="0" bIns="0" rtlCol="0" anchor="t"/>
          <a:lstStyle/>
          <a:p>
            <a:pPr indent="0" marL="0">
              <a:buNone/>
            </a:pPr>
            <a:r>
              <a:rPr lang="en-US" sz="1100" dirty="0">
                <a:solidFill>
                  <a:srgbClr val="E8ECF2"/>
                </a:solidFill>
                <a:latin typeface="Calibri" pitchFamily="34" charset="0"/>
                <a:ea typeface="Calibri" pitchFamily="34" charset="-122"/>
                <a:cs typeface="Calibri" pitchFamily="34" charset="-120"/>
              </a:rPr>
              <a:t>synth-3</a:t>
            </a:r>
            <a:endParaRPr lang="en-US" sz="1100" dirty="0"/>
          </a:p>
        </p:txBody>
      </p:sp>
      <p:sp>
        <p:nvSpPr>
          <p:cNvPr id="26" name="Shape 24"/>
          <p:cNvSpPr/>
          <p:nvPr/>
        </p:nvSpPr>
        <p:spPr>
          <a:xfrm>
            <a:off x="1874520" y="3630168"/>
            <a:ext cx="1768905" cy="82296"/>
          </a:xfrm>
          <a:prstGeom prst="rect">
            <a:avLst/>
          </a:prstGeom>
          <a:solidFill>
            <a:srgbClr val="9AA6B6">
              <a:alpha val="45000"/>
            </a:srgbClr>
          </a:solidFill>
          <a:ln/>
        </p:spPr>
      </p:sp>
      <p:sp>
        <p:nvSpPr>
          <p:cNvPr id="27" name="Shape 25"/>
          <p:cNvSpPr/>
          <p:nvPr/>
        </p:nvSpPr>
        <p:spPr>
          <a:xfrm>
            <a:off x="3559841" y="3616452"/>
            <a:ext cx="109728" cy="109728"/>
          </a:xfrm>
          <a:prstGeom prst="ellipse">
            <a:avLst/>
          </a:prstGeom>
          <a:solidFill>
            <a:srgbClr val="4DA3FF"/>
          </a:solidFill>
          <a:ln/>
        </p:spPr>
      </p:sp>
      <p:sp>
        <p:nvSpPr>
          <p:cNvPr id="28" name="Text 26"/>
          <p:cNvSpPr txBox="1"/>
          <p:nvPr/>
        </p:nvSpPr>
        <p:spPr>
          <a:xfrm>
            <a:off x="640080" y="3826764"/>
            <a:ext cx="1188720" cy="219456"/>
          </a:xfrm>
          <a:prstGeom prst="rect">
            <a:avLst/>
          </a:prstGeom>
          <a:noFill/>
          <a:ln/>
        </p:spPr>
        <p:txBody>
          <a:bodyPr wrap="square" lIns="0" tIns="0" rIns="0" bIns="0" rtlCol="0" anchor="t"/>
          <a:lstStyle/>
          <a:p>
            <a:pPr indent="0" marL="0">
              <a:buNone/>
            </a:pPr>
            <a:r>
              <a:rPr lang="en-US" sz="1100" dirty="0">
                <a:solidFill>
                  <a:srgbClr val="E8ECF2"/>
                </a:solidFill>
                <a:latin typeface="Calibri" pitchFamily="34" charset="0"/>
                <a:ea typeface="Calibri" pitchFamily="34" charset="-122"/>
                <a:cs typeface="Calibri" pitchFamily="34" charset="-120"/>
              </a:rPr>
              <a:t>medium-graph</a:t>
            </a:r>
            <a:endParaRPr lang="en-US" sz="1100" dirty="0"/>
          </a:p>
        </p:txBody>
      </p:sp>
      <p:sp>
        <p:nvSpPr>
          <p:cNvPr id="29" name="Shape 27"/>
          <p:cNvSpPr/>
          <p:nvPr/>
        </p:nvSpPr>
        <p:spPr>
          <a:xfrm>
            <a:off x="1874520" y="3895344"/>
            <a:ext cx="3500160" cy="82296"/>
          </a:xfrm>
          <a:prstGeom prst="rect">
            <a:avLst/>
          </a:prstGeom>
          <a:solidFill>
            <a:srgbClr val="9AA6B6">
              <a:alpha val="45000"/>
            </a:srgbClr>
          </a:solidFill>
          <a:ln/>
        </p:spPr>
      </p:sp>
      <p:sp>
        <p:nvSpPr>
          <p:cNvPr id="30" name="Shape 28"/>
          <p:cNvSpPr/>
          <p:nvPr/>
        </p:nvSpPr>
        <p:spPr>
          <a:xfrm>
            <a:off x="5238832" y="3881628"/>
            <a:ext cx="109728" cy="109728"/>
          </a:xfrm>
          <a:prstGeom prst="ellipse">
            <a:avLst/>
          </a:prstGeom>
          <a:solidFill>
            <a:srgbClr val="4DA3FF"/>
          </a:solidFill>
          <a:ln/>
        </p:spPr>
      </p:sp>
      <p:sp>
        <p:nvSpPr>
          <p:cNvPr id="31" name="Text 29"/>
          <p:cNvSpPr txBox="1"/>
          <p:nvPr/>
        </p:nvSpPr>
        <p:spPr>
          <a:xfrm>
            <a:off x="640080" y="4091940"/>
            <a:ext cx="1188720" cy="219456"/>
          </a:xfrm>
          <a:prstGeom prst="rect">
            <a:avLst/>
          </a:prstGeom>
          <a:noFill/>
          <a:ln/>
        </p:spPr>
        <p:txBody>
          <a:bodyPr wrap="square" lIns="0" tIns="0" rIns="0" bIns="0" rtlCol="0" anchor="t"/>
          <a:lstStyle/>
          <a:p>
            <a:pPr indent="0" marL="0">
              <a:buNone/>
            </a:pPr>
            <a:r>
              <a:rPr lang="en-US" sz="1100" dirty="0">
                <a:solidFill>
                  <a:srgbClr val="E8ECF2"/>
                </a:solidFill>
                <a:latin typeface="Calibri" pitchFamily="34" charset="0"/>
                <a:ea typeface="Calibri" pitchFamily="34" charset="-122"/>
                <a:cs typeface="Calibri" pitchFamily="34" charset="-120"/>
              </a:rPr>
              <a:t>synth-4</a:t>
            </a:r>
            <a:endParaRPr lang="en-US" sz="1100" dirty="0"/>
          </a:p>
        </p:txBody>
      </p:sp>
      <p:sp>
        <p:nvSpPr>
          <p:cNvPr id="32" name="Shape 30"/>
          <p:cNvSpPr/>
          <p:nvPr/>
        </p:nvSpPr>
        <p:spPr>
          <a:xfrm>
            <a:off x="1874520" y="4160520"/>
            <a:ext cx="3768274" cy="82296"/>
          </a:xfrm>
          <a:prstGeom prst="rect">
            <a:avLst/>
          </a:prstGeom>
          <a:solidFill>
            <a:srgbClr val="9AA6B6">
              <a:alpha val="45000"/>
            </a:srgbClr>
          </a:solidFill>
          <a:ln/>
        </p:spPr>
      </p:sp>
      <p:sp>
        <p:nvSpPr>
          <p:cNvPr id="33" name="Shape 31"/>
          <p:cNvSpPr/>
          <p:nvPr/>
        </p:nvSpPr>
        <p:spPr>
          <a:xfrm>
            <a:off x="5382690" y="4146804"/>
            <a:ext cx="109728" cy="109728"/>
          </a:xfrm>
          <a:prstGeom prst="ellipse">
            <a:avLst/>
          </a:prstGeom>
          <a:solidFill>
            <a:srgbClr val="4DA3FF"/>
          </a:solidFill>
          <a:ln/>
        </p:spPr>
      </p:sp>
      <p:sp>
        <p:nvSpPr>
          <p:cNvPr id="34" name="Text 32"/>
          <p:cNvSpPr txBox="1"/>
          <p:nvPr/>
        </p:nvSpPr>
        <p:spPr>
          <a:xfrm>
            <a:off x="640080" y="4357116"/>
            <a:ext cx="1188720" cy="219456"/>
          </a:xfrm>
          <a:prstGeom prst="rect">
            <a:avLst/>
          </a:prstGeom>
          <a:noFill/>
          <a:ln/>
        </p:spPr>
        <p:txBody>
          <a:bodyPr wrap="square" lIns="0" tIns="0" rIns="0" bIns="0" rtlCol="0" anchor="t"/>
          <a:lstStyle/>
          <a:p>
            <a:pPr indent="0" marL="0">
              <a:buNone/>
            </a:pPr>
            <a:r>
              <a:rPr lang="en-US" sz="1100" dirty="0">
                <a:solidFill>
                  <a:srgbClr val="E8ECF2"/>
                </a:solidFill>
                <a:latin typeface="Calibri" pitchFamily="34" charset="0"/>
                <a:ea typeface="Calibri" pitchFamily="34" charset="-122"/>
                <a:cs typeface="Calibri" pitchFamily="34" charset="-120"/>
              </a:rPr>
              <a:t>synth-5</a:t>
            </a:r>
            <a:endParaRPr lang="en-US" sz="1100" dirty="0"/>
          </a:p>
        </p:txBody>
      </p:sp>
      <p:sp>
        <p:nvSpPr>
          <p:cNvPr id="35" name="Shape 33"/>
          <p:cNvSpPr/>
          <p:nvPr/>
        </p:nvSpPr>
        <p:spPr>
          <a:xfrm>
            <a:off x="1874520" y="4425696"/>
            <a:ext cx="3677505" cy="82296"/>
          </a:xfrm>
          <a:prstGeom prst="rect">
            <a:avLst/>
          </a:prstGeom>
          <a:solidFill>
            <a:srgbClr val="9AA6B6">
              <a:alpha val="45000"/>
            </a:srgbClr>
          </a:solidFill>
          <a:ln/>
        </p:spPr>
      </p:sp>
      <p:sp>
        <p:nvSpPr>
          <p:cNvPr id="36" name="Shape 34"/>
          <p:cNvSpPr/>
          <p:nvPr/>
        </p:nvSpPr>
        <p:spPr>
          <a:xfrm>
            <a:off x="4956559" y="4411980"/>
            <a:ext cx="109728" cy="109728"/>
          </a:xfrm>
          <a:prstGeom prst="ellipse">
            <a:avLst/>
          </a:prstGeom>
          <a:solidFill>
            <a:srgbClr val="4DA3FF"/>
          </a:solidFill>
          <a:ln/>
        </p:spPr>
      </p:sp>
      <p:sp>
        <p:nvSpPr>
          <p:cNvPr id="37" name="Text 35"/>
          <p:cNvSpPr txBox="1"/>
          <p:nvPr/>
        </p:nvSpPr>
        <p:spPr>
          <a:xfrm>
            <a:off x="640080" y="4622292"/>
            <a:ext cx="1188720" cy="219456"/>
          </a:xfrm>
          <a:prstGeom prst="rect">
            <a:avLst/>
          </a:prstGeom>
          <a:noFill/>
          <a:ln/>
        </p:spPr>
        <p:txBody>
          <a:bodyPr wrap="square" lIns="0" tIns="0" rIns="0" bIns="0" rtlCol="0" anchor="t"/>
          <a:lstStyle/>
          <a:p>
            <a:pPr indent="0" marL="0">
              <a:buNone/>
            </a:pPr>
            <a:r>
              <a:rPr lang="en-US" sz="1100" dirty="0">
                <a:solidFill>
                  <a:srgbClr val="E8ECF2"/>
                </a:solidFill>
                <a:latin typeface="Calibri" pitchFamily="34" charset="0"/>
                <a:ea typeface="Calibri" pitchFamily="34" charset="-122"/>
                <a:cs typeface="Calibri" pitchFamily="34" charset="-120"/>
              </a:rPr>
              <a:t>large-graph</a:t>
            </a:r>
            <a:endParaRPr lang="en-US" sz="1100" dirty="0"/>
          </a:p>
        </p:txBody>
      </p:sp>
      <p:sp>
        <p:nvSpPr>
          <p:cNvPr id="38" name="Shape 36"/>
          <p:cNvSpPr/>
          <p:nvPr/>
        </p:nvSpPr>
        <p:spPr>
          <a:xfrm>
            <a:off x="1874520" y="4690872"/>
            <a:ext cx="3551064" cy="82296"/>
          </a:xfrm>
          <a:prstGeom prst="rect">
            <a:avLst/>
          </a:prstGeom>
          <a:solidFill>
            <a:srgbClr val="9AA6B6">
              <a:alpha val="45000"/>
            </a:srgbClr>
          </a:solidFill>
          <a:ln/>
        </p:spPr>
      </p:sp>
      <p:sp>
        <p:nvSpPr>
          <p:cNvPr id="39" name="Shape 37"/>
          <p:cNvSpPr/>
          <p:nvPr/>
        </p:nvSpPr>
        <p:spPr>
          <a:xfrm>
            <a:off x="5266510" y="4677156"/>
            <a:ext cx="109728" cy="109728"/>
          </a:xfrm>
          <a:prstGeom prst="ellipse">
            <a:avLst/>
          </a:prstGeom>
          <a:solidFill>
            <a:srgbClr val="4DA3FF"/>
          </a:solidFill>
          <a:ln/>
        </p:spPr>
      </p:sp>
      <p:sp>
        <p:nvSpPr>
          <p:cNvPr id="40" name="Text 38"/>
          <p:cNvSpPr txBox="1"/>
          <p:nvPr/>
        </p:nvSpPr>
        <p:spPr>
          <a:xfrm>
            <a:off x="640080" y="4887468"/>
            <a:ext cx="1188720" cy="219456"/>
          </a:xfrm>
          <a:prstGeom prst="rect">
            <a:avLst/>
          </a:prstGeom>
          <a:noFill/>
          <a:ln/>
        </p:spPr>
        <p:txBody>
          <a:bodyPr wrap="square" lIns="0" tIns="0" rIns="0" bIns="0" rtlCol="0" anchor="t"/>
          <a:lstStyle/>
          <a:p>
            <a:pPr indent="0" marL="0">
              <a:buNone/>
            </a:pPr>
            <a:r>
              <a:rPr lang="en-US" sz="1100" dirty="0">
                <a:solidFill>
                  <a:srgbClr val="E8ECF2"/>
                </a:solidFill>
                <a:latin typeface="Calibri" pitchFamily="34" charset="0"/>
                <a:ea typeface="Calibri" pitchFamily="34" charset="-122"/>
                <a:cs typeface="Calibri" pitchFamily="34" charset="-120"/>
              </a:rPr>
              <a:t>synth-6</a:t>
            </a:r>
            <a:endParaRPr lang="en-US" sz="1100" dirty="0"/>
          </a:p>
        </p:txBody>
      </p:sp>
      <p:sp>
        <p:nvSpPr>
          <p:cNvPr id="41" name="Shape 39"/>
          <p:cNvSpPr/>
          <p:nvPr/>
        </p:nvSpPr>
        <p:spPr>
          <a:xfrm>
            <a:off x="1874520" y="4956048"/>
            <a:ext cx="2285714" cy="82296"/>
          </a:xfrm>
          <a:prstGeom prst="rect">
            <a:avLst/>
          </a:prstGeom>
          <a:solidFill>
            <a:srgbClr val="9AA6B6">
              <a:alpha val="45000"/>
            </a:srgbClr>
          </a:solidFill>
          <a:ln/>
        </p:spPr>
      </p:sp>
      <p:sp>
        <p:nvSpPr>
          <p:cNvPr id="42" name="Shape 40"/>
          <p:cNvSpPr/>
          <p:nvPr/>
        </p:nvSpPr>
        <p:spPr>
          <a:xfrm>
            <a:off x="1819656" y="4942332"/>
            <a:ext cx="109728" cy="109728"/>
          </a:xfrm>
          <a:prstGeom prst="ellipse">
            <a:avLst/>
          </a:prstGeom>
          <a:solidFill>
            <a:srgbClr val="4DA3FF"/>
          </a:solidFill>
          <a:ln/>
        </p:spPr>
      </p:sp>
      <p:sp>
        <p:nvSpPr>
          <p:cNvPr id="43" name="Text 41"/>
          <p:cNvSpPr txBox="1"/>
          <p:nvPr/>
        </p:nvSpPr>
        <p:spPr>
          <a:xfrm>
            <a:off x="640080" y="5152644"/>
            <a:ext cx="1188720" cy="219456"/>
          </a:xfrm>
          <a:prstGeom prst="rect">
            <a:avLst/>
          </a:prstGeom>
          <a:noFill/>
          <a:ln/>
        </p:spPr>
        <p:txBody>
          <a:bodyPr wrap="square" lIns="0" tIns="0" rIns="0" bIns="0" rtlCol="0" anchor="t"/>
          <a:lstStyle/>
          <a:p>
            <a:pPr indent="0" marL="0">
              <a:buNone/>
            </a:pPr>
            <a:r>
              <a:rPr lang="en-US" sz="1100" dirty="0">
                <a:solidFill>
                  <a:srgbClr val="E8ECF2"/>
                </a:solidFill>
                <a:latin typeface="Calibri" pitchFamily="34" charset="0"/>
                <a:ea typeface="Calibri" pitchFamily="34" charset="-122"/>
                <a:cs typeface="Calibri" pitchFamily="34" charset="-120"/>
              </a:rPr>
              <a:t>synth-7</a:t>
            </a:r>
            <a:endParaRPr lang="en-US" sz="1100" dirty="0"/>
          </a:p>
        </p:txBody>
      </p:sp>
      <p:sp>
        <p:nvSpPr>
          <p:cNvPr id="44" name="Shape 42"/>
          <p:cNvSpPr/>
          <p:nvPr/>
        </p:nvSpPr>
        <p:spPr>
          <a:xfrm>
            <a:off x="1874520" y="5221224"/>
            <a:ext cx="1942050" cy="82296"/>
          </a:xfrm>
          <a:prstGeom prst="rect">
            <a:avLst/>
          </a:prstGeom>
          <a:solidFill>
            <a:srgbClr val="9AA6B6">
              <a:alpha val="45000"/>
            </a:srgbClr>
          </a:solidFill>
          <a:ln/>
        </p:spPr>
      </p:sp>
      <p:sp>
        <p:nvSpPr>
          <p:cNvPr id="45" name="Shape 43"/>
          <p:cNvSpPr/>
          <p:nvPr/>
        </p:nvSpPr>
        <p:spPr>
          <a:xfrm>
            <a:off x="3097932" y="5207508"/>
            <a:ext cx="109728" cy="109728"/>
          </a:xfrm>
          <a:prstGeom prst="ellipse">
            <a:avLst/>
          </a:prstGeom>
          <a:solidFill>
            <a:srgbClr val="4DA3FF"/>
          </a:solidFill>
          <a:ln/>
        </p:spPr>
      </p:sp>
      <p:sp>
        <p:nvSpPr>
          <p:cNvPr id="46" name="Text 44"/>
          <p:cNvSpPr txBox="1"/>
          <p:nvPr/>
        </p:nvSpPr>
        <p:spPr>
          <a:xfrm>
            <a:off x="640080" y="5431536"/>
            <a:ext cx="1051560" cy="201168"/>
          </a:xfrm>
          <a:prstGeom prst="rect">
            <a:avLst/>
          </a:prstGeom>
          <a:noFill/>
          <a:ln/>
        </p:spPr>
        <p:txBody>
          <a:bodyPr wrap="square" lIns="0" tIns="0" rIns="0" bIns="0" rtlCol="0" anchor="t"/>
          <a:lstStyle/>
          <a:p>
            <a:pPr algn="r" indent="0" marL="0">
              <a:buNone/>
            </a:pPr>
            <a:r>
              <a:rPr lang="en-US" sz="1000" dirty="0">
                <a:solidFill>
                  <a:srgbClr val="7D8AA0"/>
                </a:solidFill>
                <a:latin typeface="Calibri" pitchFamily="34" charset="0"/>
                <a:ea typeface="Calibri" pitchFamily="34" charset="-122"/>
                <a:cs typeface="Calibri" pitchFamily="34" charset="-120"/>
              </a:rPr>
              <a:t>HV, log scale</a:t>
            </a:r>
            <a:endParaRPr lang="en-US" sz="1000" dirty="0"/>
          </a:p>
        </p:txBody>
      </p:sp>
      <p:sp>
        <p:nvSpPr>
          <p:cNvPr id="47" name="Shape 45"/>
          <p:cNvSpPr/>
          <p:nvPr/>
        </p:nvSpPr>
        <p:spPr>
          <a:xfrm>
            <a:off x="1874520" y="5742432"/>
            <a:ext cx="109728" cy="109728"/>
          </a:xfrm>
          <a:prstGeom prst="ellipse">
            <a:avLst/>
          </a:prstGeom>
          <a:solidFill>
            <a:srgbClr val="4DA3FF"/>
          </a:solidFill>
          <a:ln/>
        </p:spPr>
      </p:sp>
      <p:sp>
        <p:nvSpPr>
          <p:cNvPr id="48" name="Text 46"/>
          <p:cNvSpPr txBox="1"/>
          <p:nvPr/>
        </p:nvSpPr>
        <p:spPr>
          <a:xfrm>
            <a:off x="2039112" y="5696712"/>
            <a:ext cx="1920240" cy="219456"/>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change between sessions</a:t>
            </a:r>
            <a:endParaRPr lang="en-US" sz="1050" dirty="0"/>
          </a:p>
        </p:txBody>
      </p:sp>
      <p:sp>
        <p:nvSpPr>
          <p:cNvPr id="49" name="Shape 47"/>
          <p:cNvSpPr/>
          <p:nvPr/>
        </p:nvSpPr>
        <p:spPr>
          <a:xfrm>
            <a:off x="3886200" y="5760720"/>
            <a:ext cx="228600" cy="82296"/>
          </a:xfrm>
          <a:prstGeom prst="rect">
            <a:avLst/>
          </a:prstGeom>
          <a:solidFill>
            <a:srgbClr val="9AA6B6">
              <a:alpha val="45000"/>
            </a:srgbClr>
          </a:solidFill>
          <a:ln/>
        </p:spPr>
      </p:sp>
      <p:sp>
        <p:nvSpPr>
          <p:cNvPr id="50" name="Text 48"/>
          <p:cNvSpPr txBox="1"/>
          <p:nvPr/>
        </p:nvSpPr>
        <p:spPr>
          <a:xfrm>
            <a:off x="4160520" y="5696712"/>
            <a:ext cx="2743200" cy="219456"/>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larger seed spread of the two sessions</a:t>
            </a:r>
            <a:endParaRPr lang="en-US" sz="1050" dirty="0"/>
          </a:p>
        </p:txBody>
      </p:sp>
      <p:sp>
        <p:nvSpPr>
          <p:cNvPr id="51" name="Text 49"/>
          <p:cNvSpPr txBox="1"/>
          <p:nvPr/>
        </p:nvSpPr>
        <p:spPr>
          <a:xfrm>
            <a:off x="6583680" y="2286000"/>
            <a:ext cx="4967935" cy="274320"/>
          </a:xfrm>
          <a:prstGeom prst="rect">
            <a:avLst/>
          </a:prstGeom>
          <a:noFill/>
          <a:ln/>
        </p:spPr>
        <p:txBody>
          <a:bodyPr wrap="square" lIns="0" tIns="0" rIns="0" bIns="0" rtlCol="0" anchor="t"/>
          <a:lstStyle/>
          <a:p>
            <a:pPr indent="0" marL="0">
              <a:buNone/>
            </a:pPr>
            <a:r>
              <a:rPr lang="en-US" sz="1350" b="1" dirty="0">
                <a:solidFill>
                  <a:srgbClr val="E8ECF2"/>
                </a:solidFill>
                <a:latin typeface="Calibri" pitchFamily="34" charset="0"/>
                <a:ea typeface="Calibri" pitchFamily="34" charset="-122"/>
                <a:cs typeface="Calibri" pitchFamily="34" charset="-120"/>
              </a:rPr>
              <a:t>Ten-instance total: sessions do differ</a:t>
            </a:r>
            <a:endParaRPr lang="en-US" sz="1350" dirty="0"/>
          </a:p>
        </p:txBody>
      </p:sp>
      <p:sp>
        <p:nvSpPr>
          <p:cNvPr id="52" name="Shape 50"/>
          <p:cNvSpPr/>
          <p:nvPr/>
        </p:nvSpPr>
        <p:spPr>
          <a:xfrm>
            <a:off x="6675120" y="2973771"/>
            <a:ext cx="247548" cy="2101149"/>
          </a:xfrm>
          <a:prstGeom prst="rect">
            <a:avLst/>
          </a:prstGeom>
          <a:solidFill>
            <a:srgbClr val="7D8AA0">
              <a:alpha val="75000"/>
            </a:srgbClr>
          </a:solidFill>
          <a:ln/>
        </p:spPr>
      </p:sp>
      <p:sp>
        <p:nvSpPr>
          <p:cNvPr id="53" name="Shape 51"/>
          <p:cNvSpPr/>
          <p:nvPr/>
        </p:nvSpPr>
        <p:spPr>
          <a:xfrm>
            <a:off x="6940956" y="2949400"/>
            <a:ext cx="247548" cy="2125520"/>
          </a:xfrm>
          <a:prstGeom prst="rect">
            <a:avLst/>
          </a:prstGeom>
          <a:solidFill>
            <a:srgbClr val="7D8AA0">
              <a:alpha val="75000"/>
            </a:srgbClr>
          </a:solidFill>
          <a:ln/>
        </p:spPr>
      </p:sp>
      <p:sp>
        <p:nvSpPr>
          <p:cNvPr id="54" name="Shape 52"/>
          <p:cNvSpPr/>
          <p:nvPr/>
        </p:nvSpPr>
        <p:spPr>
          <a:xfrm>
            <a:off x="7206793" y="2834640"/>
            <a:ext cx="247548" cy="2240280"/>
          </a:xfrm>
          <a:prstGeom prst="rect">
            <a:avLst/>
          </a:prstGeom>
          <a:solidFill>
            <a:srgbClr val="7D8AA0">
              <a:alpha val="75000"/>
            </a:srgbClr>
          </a:solidFill>
          <a:ln/>
        </p:spPr>
      </p:sp>
      <p:sp>
        <p:nvSpPr>
          <p:cNvPr id="55" name="Shape 53"/>
          <p:cNvSpPr/>
          <p:nvPr/>
        </p:nvSpPr>
        <p:spPr>
          <a:xfrm>
            <a:off x="7472629" y="2967951"/>
            <a:ext cx="247548" cy="2106969"/>
          </a:xfrm>
          <a:prstGeom prst="rect">
            <a:avLst/>
          </a:prstGeom>
          <a:solidFill>
            <a:srgbClr val="7D8AA0">
              <a:alpha val="75000"/>
            </a:srgbClr>
          </a:solidFill>
          <a:ln/>
        </p:spPr>
      </p:sp>
      <p:sp>
        <p:nvSpPr>
          <p:cNvPr id="56" name="Shape 54"/>
          <p:cNvSpPr/>
          <p:nvPr/>
        </p:nvSpPr>
        <p:spPr>
          <a:xfrm>
            <a:off x="7738466" y="3267128"/>
            <a:ext cx="247548" cy="1807792"/>
          </a:xfrm>
          <a:prstGeom prst="rect">
            <a:avLst/>
          </a:prstGeom>
          <a:solidFill>
            <a:srgbClr val="7D8AA0">
              <a:alpha val="75000"/>
            </a:srgbClr>
          </a:solidFill>
          <a:ln/>
        </p:spPr>
      </p:sp>
      <p:sp>
        <p:nvSpPr>
          <p:cNvPr id="57" name="Shape 55"/>
          <p:cNvSpPr/>
          <p:nvPr/>
        </p:nvSpPr>
        <p:spPr>
          <a:xfrm>
            <a:off x="8004302" y="3424082"/>
            <a:ext cx="247548" cy="1650838"/>
          </a:xfrm>
          <a:prstGeom prst="rect">
            <a:avLst/>
          </a:prstGeom>
          <a:solidFill>
            <a:srgbClr val="7D8AA0">
              <a:alpha val="75000"/>
            </a:srgbClr>
          </a:solidFill>
          <a:ln/>
        </p:spPr>
      </p:sp>
      <p:sp>
        <p:nvSpPr>
          <p:cNvPr id="58" name="Shape 56"/>
          <p:cNvSpPr/>
          <p:nvPr/>
        </p:nvSpPr>
        <p:spPr>
          <a:xfrm>
            <a:off x="8270138" y="3513926"/>
            <a:ext cx="247548" cy="1560994"/>
          </a:xfrm>
          <a:prstGeom prst="rect">
            <a:avLst/>
          </a:prstGeom>
          <a:solidFill>
            <a:srgbClr val="7D8AA0">
              <a:alpha val="75000"/>
            </a:srgbClr>
          </a:solidFill>
          <a:ln/>
        </p:spPr>
      </p:sp>
      <p:sp>
        <p:nvSpPr>
          <p:cNvPr id="59" name="Shape 57"/>
          <p:cNvSpPr/>
          <p:nvPr/>
        </p:nvSpPr>
        <p:spPr>
          <a:xfrm>
            <a:off x="8535975" y="3638507"/>
            <a:ext cx="247548" cy="1436413"/>
          </a:xfrm>
          <a:prstGeom prst="rect">
            <a:avLst/>
          </a:prstGeom>
          <a:solidFill>
            <a:srgbClr val="7D8AA0">
              <a:alpha val="75000"/>
            </a:srgbClr>
          </a:solidFill>
          <a:ln/>
        </p:spPr>
      </p:sp>
      <p:sp>
        <p:nvSpPr>
          <p:cNvPr id="60" name="Shape 58"/>
          <p:cNvSpPr/>
          <p:nvPr/>
        </p:nvSpPr>
        <p:spPr>
          <a:xfrm>
            <a:off x="8801811" y="4013160"/>
            <a:ext cx="247548" cy="1061760"/>
          </a:xfrm>
          <a:prstGeom prst="rect">
            <a:avLst/>
          </a:prstGeom>
          <a:solidFill>
            <a:srgbClr val="7D8AA0">
              <a:alpha val="75000"/>
            </a:srgbClr>
          </a:solidFill>
          <a:ln/>
        </p:spPr>
      </p:sp>
      <p:sp>
        <p:nvSpPr>
          <p:cNvPr id="61" name="Shape 59"/>
          <p:cNvSpPr/>
          <p:nvPr/>
        </p:nvSpPr>
        <p:spPr>
          <a:xfrm>
            <a:off x="9067648" y="4331252"/>
            <a:ext cx="247548" cy="743668"/>
          </a:xfrm>
          <a:prstGeom prst="rect">
            <a:avLst/>
          </a:prstGeom>
          <a:solidFill>
            <a:srgbClr val="7D8AA0">
              <a:alpha val="75000"/>
            </a:srgbClr>
          </a:solidFill>
          <a:ln/>
        </p:spPr>
      </p:sp>
      <p:sp>
        <p:nvSpPr>
          <p:cNvPr id="62" name="Shape 60"/>
          <p:cNvSpPr/>
          <p:nvPr/>
        </p:nvSpPr>
        <p:spPr>
          <a:xfrm>
            <a:off x="9333484" y="4469655"/>
            <a:ext cx="201903" cy="605265"/>
          </a:xfrm>
          <a:prstGeom prst="rect">
            <a:avLst/>
          </a:prstGeom>
          <a:solidFill>
            <a:srgbClr val="7D8AA0">
              <a:alpha val="75000"/>
            </a:srgbClr>
          </a:solidFill>
          <a:ln/>
        </p:spPr>
      </p:sp>
      <p:sp>
        <p:nvSpPr>
          <p:cNvPr id="63" name="Shape 61"/>
          <p:cNvSpPr/>
          <p:nvPr/>
        </p:nvSpPr>
        <p:spPr>
          <a:xfrm>
            <a:off x="9535387" y="4469655"/>
            <a:ext cx="45646" cy="605265"/>
          </a:xfrm>
          <a:prstGeom prst="rect">
            <a:avLst/>
          </a:prstGeom>
          <a:solidFill>
            <a:srgbClr val="F2C14E">
              <a:alpha val="80000"/>
            </a:srgbClr>
          </a:solidFill>
          <a:ln/>
        </p:spPr>
      </p:sp>
      <p:sp>
        <p:nvSpPr>
          <p:cNvPr id="64" name="Shape 62"/>
          <p:cNvSpPr/>
          <p:nvPr/>
        </p:nvSpPr>
        <p:spPr>
          <a:xfrm>
            <a:off x="9599320" y="4652435"/>
            <a:ext cx="247548" cy="422485"/>
          </a:xfrm>
          <a:prstGeom prst="rect">
            <a:avLst/>
          </a:prstGeom>
          <a:solidFill>
            <a:srgbClr val="F2C14E">
              <a:alpha val="80000"/>
            </a:srgbClr>
          </a:solidFill>
          <a:ln/>
        </p:spPr>
      </p:sp>
      <p:sp>
        <p:nvSpPr>
          <p:cNvPr id="65" name="Shape 63"/>
          <p:cNvSpPr/>
          <p:nvPr/>
        </p:nvSpPr>
        <p:spPr>
          <a:xfrm>
            <a:off x="9865157" y="4862859"/>
            <a:ext cx="247548" cy="212061"/>
          </a:xfrm>
          <a:prstGeom prst="rect">
            <a:avLst/>
          </a:prstGeom>
          <a:solidFill>
            <a:srgbClr val="F2C14E">
              <a:alpha val="80000"/>
            </a:srgbClr>
          </a:solidFill>
          <a:ln/>
        </p:spPr>
      </p:sp>
      <p:sp>
        <p:nvSpPr>
          <p:cNvPr id="66" name="Shape 64"/>
          <p:cNvSpPr/>
          <p:nvPr/>
        </p:nvSpPr>
        <p:spPr>
          <a:xfrm>
            <a:off x="10130993" y="5001990"/>
            <a:ext cx="247548" cy="72930"/>
          </a:xfrm>
          <a:prstGeom prst="rect">
            <a:avLst/>
          </a:prstGeom>
          <a:solidFill>
            <a:srgbClr val="F2C14E">
              <a:alpha val="80000"/>
            </a:srgbClr>
          </a:solidFill>
          <a:ln/>
        </p:spPr>
      </p:sp>
      <p:sp>
        <p:nvSpPr>
          <p:cNvPr id="67" name="Shape 65"/>
          <p:cNvSpPr/>
          <p:nvPr/>
        </p:nvSpPr>
        <p:spPr>
          <a:xfrm>
            <a:off x="10396830" y="5047821"/>
            <a:ext cx="247548" cy="27099"/>
          </a:xfrm>
          <a:prstGeom prst="rect">
            <a:avLst/>
          </a:prstGeom>
          <a:solidFill>
            <a:srgbClr val="F2C14E">
              <a:alpha val="80000"/>
            </a:srgbClr>
          </a:solidFill>
          <a:ln/>
        </p:spPr>
      </p:sp>
      <p:sp>
        <p:nvSpPr>
          <p:cNvPr id="68" name="Shape 66"/>
          <p:cNvSpPr/>
          <p:nvPr/>
        </p:nvSpPr>
        <p:spPr>
          <a:xfrm>
            <a:off x="10662666" y="5065281"/>
            <a:ext cx="247548" cy="9639"/>
          </a:xfrm>
          <a:prstGeom prst="rect">
            <a:avLst/>
          </a:prstGeom>
          <a:solidFill>
            <a:srgbClr val="F2C14E">
              <a:alpha val="80000"/>
            </a:srgbClr>
          </a:solidFill>
          <a:ln/>
        </p:spPr>
      </p:sp>
      <p:sp>
        <p:nvSpPr>
          <p:cNvPr id="69" name="Shape 67"/>
          <p:cNvSpPr/>
          <p:nvPr/>
        </p:nvSpPr>
        <p:spPr>
          <a:xfrm>
            <a:off x="10928502" y="5072919"/>
            <a:ext cx="247548" cy="2001"/>
          </a:xfrm>
          <a:prstGeom prst="rect">
            <a:avLst/>
          </a:prstGeom>
          <a:solidFill>
            <a:srgbClr val="F2C14E">
              <a:alpha val="80000"/>
            </a:srgbClr>
          </a:solidFill>
          <a:ln/>
        </p:spPr>
      </p:sp>
      <p:sp>
        <p:nvSpPr>
          <p:cNvPr id="70" name="Shape 68"/>
          <p:cNvSpPr/>
          <p:nvPr/>
        </p:nvSpPr>
        <p:spPr>
          <a:xfrm>
            <a:off x="11194339" y="5074738"/>
            <a:ext cx="247548" cy="182"/>
          </a:xfrm>
          <a:prstGeom prst="rect">
            <a:avLst/>
          </a:prstGeom>
          <a:solidFill>
            <a:srgbClr val="F2C14E">
              <a:alpha val="80000"/>
            </a:srgbClr>
          </a:solidFill>
          <a:ln/>
        </p:spPr>
      </p:sp>
      <p:sp>
        <p:nvSpPr>
          <p:cNvPr id="71" name="Shape 69"/>
          <p:cNvSpPr/>
          <p:nvPr/>
        </p:nvSpPr>
        <p:spPr>
          <a:xfrm>
            <a:off x="6675120" y="5074920"/>
            <a:ext cx="4785055" cy="0"/>
          </a:xfrm>
          <a:prstGeom prst="line">
            <a:avLst/>
          </a:prstGeom>
          <a:noFill/>
          <a:ln w="9525">
            <a:solidFill>
              <a:srgbClr val="9AA6B6"/>
            </a:solidFill>
            <a:prstDash val="solid"/>
          </a:ln>
        </p:spPr>
      </p:sp>
      <p:sp>
        <p:nvSpPr>
          <p:cNvPr id="72" name="Text 70"/>
          <p:cNvSpPr txBox="1"/>
          <p:nvPr/>
        </p:nvSpPr>
        <p:spPr>
          <a:xfrm>
            <a:off x="6309360" y="5120640"/>
            <a:ext cx="73152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0</a:t>
            </a:r>
            <a:endParaRPr lang="en-US" sz="1000" dirty="0"/>
          </a:p>
        </p:txBody>
      </p:sp>
      <p:sp>
        <p:nvSpPr>
          <p:cNvPr id="73" name="Text 71"/>
          <p:cNvSpPr txBox="1"/>
          <p:nvPr/>
        </p:nvSpPr>
        <p:spPr>
          <a:xfrm>
            <a:off x="7638542" y="5120640"/>
            <a:ext cx="73152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10k HV</a:t>
            </a:r>
            <a:endParaRPr lang="en-US" sz="1000" dirty="0"/>
          </a:p>
        </p:txBody>
      </p:sp>
      <p:sp>
        <p:nvSpPr>
          <p:cNvPr id="74" name="Text 72"/>
          <p:cNvSpPr txBox="1"/>
          <p:nvPr/>
        </p:nvSpPr>
        <p:spPr>
          <a:xfrm>
            <a:off x="8967724" y="5120640"/>
            <a:ext cx="73152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20k HV</a:t>
            </a:r>
            <a:endParaRPr lang="en-US" sz="1000" dirty="0"/>
          </a:p>
        </p:txBody>
      </p:sp>
      <p:sp>
        <p:nvSpPr>
          <p:cNvPr id="75" name="Text 73"/>
          <p:cNvSpPr txBox="1"/>
          <p:nvPr/>
        </p:nvSpPr>
        <p:spPr>
          <a:xfrm>
            <a:off x="10296906" y="5120640"/>
            <a:ext cx="73152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30k HV</a:t>
            </a:r>
            <a:endParaRPr lang="en-US" sz="1000" dirty="0"/>
          </a:p>
        </p:txBody>
      </p:sp>
      <p:sp>
        <p:nvSpPr>
          <p:cNvPr id="76" name="Shape 74"/>
          <p:cNvSpPr/>
          <p:nvPr/>
        </p:nvSpPr>
        <p:spPr>
          <a:xfrm>
            <a:off x="9535387" y="2697480"/>
            <a:ext cx="0" cy="2377440"/>
          </a:xfrm>
          <a:prstGeom prst="line">
            <a:avLst/>
          </a:prstGeom>
          <a:noFill/>
          <a:ln w="22225">
            <a:solidFill>
              <a:srgbClr val="F2C14E"/>
            </a:solidFill>
            <a:prstDash val="solid"/>
          </a:ln>
        </p:spPr>
      </p:sp>
      <p:sp>
        <p:nvSpPr>
          <p:cNvPr id="77" name="Text 75"/>
          <p:cNvSpPr txBox="1"/>
          <p:nvPr/>
        </p:nvSpPr>
        <p:spPr>
          <a:xfrm>
            <a:off x="9608539" y="2679192"/>
            <a:ext cx="2011680" cy="237744"/>
          </a:xfrm>
          <a:prstGeom prst="rect">
            <a:avLst/>
          </a:prstGeom>
          <a:noFill/>
          <a:ln/>
        </p:spPr>
        <p:txBody>
          <a:bodyPr wrap="square" lIns="0" tIns="0" rIns="0" bIns="0" rtlCol="0" anchor="t"/>
          <a:lstStyle/>
          <a:p>
            <a:pPr indent="0" marL="0">
              <a:buNone/>
            </a:pPr>
            <a:r>
              <a:rPr lang="en-US" sz="1200" b="1" dirty="0">
                <a:solidFill>
                  <a:srgbClr val="F2C14E"/>
                </a:solidFill>
                <a:latin typeface="Calibri" pitchFamily="34" charset="0"/>
                <a:ea typeface="Calibri" pitchFamily="34" charset="-122"/>
                <a:cs typeface="Calibri" pitchFamily="34" charset="-120"/>
              </a:rPr>
              <a:t>observed: 21,519 HV</a:t>
            </a:r>
            <a:endParaRPr lang="en-US" sz="1200" dirty="0"/>
          </a:p>
        </p:txBody>
      </p:sp>
      <p:sp>
        <p:nvSpPr>
          <p:cNvPr id="78" name="Text 76"/>
          <p:cNvSpPr txBox="1"/>
          <p:nvPr/>
        </p:nvSpPr>
        <p:spPr>
          <a:xfrm>
            <a:off x="9608539" y="2944368"/>
            <a:ext cx="1833348" cy="566928"/>
          </a:xfrm>
          <a:prstGeom prst="rect">
            <a:avLst/>
          </a:prstGeom>
          <a:noFill/>
          <a:ln/>
        </p:spPr>
        <p:txBody>
          <a:bodyPr wrap="square" lIns="0" tIns="0" rIns="0" bIns="0" rtlCol="0" anchor="t"/>
          <a:lstStyle/>
          <a:p>
            <a:pPr indent="0" marL="0">
              <a:buNone/>
            </a:pPr>
            <a:r>
              <a:rPr lang="en-US" sz="1100" dirty="0">
                <a:solidFill>
                  <a:srgbClr val="F2C14E"/>
                </a:solidFill>
                <a:latin typeface="Calibri" pitchFamily="34" charset="0"/>
                <a:ea typeface="Calibri" pitchFamily="34" charset="-122"/>
                <a:cs typeface="Calibri" pitchFamily="34" charset="-120"/>
              </a:rPr>
              <a:t>only 4.6% of 100,000 reshuffles move the total this far</a:t>
            </a:r>
            <a:endParaRPr lang="en-US" sz="1100" dirty="0"/>
          </a:p>
        </p:txBody>
      </p:sp>
      <p:sp>
        <p:nvSpPr>
          <p:cNvPr id="79" name="Text 77"/>
          <p:cNvSpPr txBox="1"/>
          <p:nvPr/>
        </p:nvSpPr>
        <p:spPr>
          <a:xfrm>
            <a:off x="6583680" y="5376672"/>
            <a:ext cx="4967935" cy="411480"/>
          </a:xfrm>
          <a:prstGeom prst="rect">
            <a:avLst/>
          </a:prstGeom>
          <a:noFill/>
          <a:ln/>
        </p:spPr>
        <p:txBody>
          <a:bodyPr wrap="square" lIns="0" tIns="0" rIns="0" bIns="0" rtlCol="0" anchor="t"/>
          <a:lstStyle/>
          <a:p>
            <a:pPr indent="0" marL="0">
              <a:buNone/>
            </a:pPr>
            <a:r>
              <a:rPr lang="en-US" sz="1050" i="1" dirty="0">
                <a:solidFill>
                  <a:srgbClr val="7D8AA0"/>
                </a:solidFill>
                <a:latin typeface="Calibri" pitchFamily="34" charset="0"/>
                <a:ea typeface="Calibri" pitchFamily="34" charset="-122"/>
                <a:cs typeface="Calibri" pitchFamily="34" charset="-120"/>
              </a:rPr>
              <a:t>|change in the ten-instance total| when each instance’s six seeds are reshuffled between the two sessions</a:t>
            </a:r>
            <a:endParaRPr lang="en-US" sz="1050" dirty="0"/>
          </a:p>
        </p:txBody>
      </p:sp>
      <p:sp>
        <p:nvSpPr>
          <p:cNvPr id="80" name="Text 78"/>
          <p:cNvSpPr txBox="1"/>
          <p:nvPr/>
        </p:nvSpPr>
        <p:spPr>
          <a:xfrm>
            <a:off x="640080" y="5943600"/>
            <a:ext cx="10911535" cy="475488"/>
          </a:xfrm>
          <a:prstGeom prst="rect">
            <a:avLst/>
          </a:prstGeom>
          <a:noFill/>
          <a:ln/>
        </p:spPr>
        <p:txBody>
          <a:bodyPr wrap="square" lIns="0" tIns="0" rIns="0" bIns="0" rtlCol="0" anchor="t"/>
          <a:lstStyle/>
          <a:p>
            <a:pPr indent="0" marL="0">
              <a:buNone/>
            </a:pPr>
            <a:r>
              <a:rPr lang="en-US" sz="1350" i="1" dirty="0">
                <a:solidFill>
                  <a:srgbClr val="E8ECF2"/>
                </a:solidFill>
                <a:latin typeface="Century Schoolbook" pitchFamily="34" charset="0"/>
                <a:ea typeface="Century Schoolbook" pitchFamily="34" charset="-122"/>
                <a:cs typeface="Century Schoolbook" pitchFamily="34" charset="-120"/>
              </a:rPr>
              <a:t>Noise is per method and per instance: three-seed spreads run from 9 HV to 281,976 HV. No single threshold can judge every row.</a:t>
            </a:r>
            <a:endParaRPr lang="en-US" sz="135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IV · THE MEASUREMENT</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Half the winners do not survive a look at the seeds</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6903720" cy="914400"/>
        </p:xfrm>
        <a:graphic>
          <a:graphicData uri="http://schemas.openxmlformats.org/drawingml/2006/table">
            <a:tbl>
              <a:tblPr/>
              <a:tblGrid>
                <a:gridCol w="1463040"/>
                <a:gridCol w="1554480"/>
                <a:gridCol w="1554480"/>
                <a:gridCol w="1005840"/>
                <a:gridCol w="1325880"/>
              </a:tblGrid>
              <a:tr h="329184">
                <a:tc>
                  <a:txBody>
                    <a:bodyPr/>
                    <a:lstStyle/>
                    <a:p>
                      <a:pPr algn="l" indent="0" marL="0">
                        <a:buNone/>
                      </a:pPr>
                      <a:r>
                        <a:rPr lang="en-US" sz="1100" b="1" dirty="0">
                          <a:solidFill>
                            <a:srgbClr val="9AA6B6"/>
                          </a:solidFill>
                          <a:latin typeface="Calibri" pitchFamily="34" charset="0"/>
                          <a:ea typeface="Calibri" pitchFamily="34" charset="-122"/>
                          <a:cs typeface="Calibri" pitchFamily="34" charset="-120"/>
                        </a:rPr>
                        <a:t>instance</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l" indent="0" marL="0">
                        <a:buNone/>
                      </a:pPr>
                      <a:r>
                        <a:rPr lang="en-US" sz="1100" b="1" dirty="0">
                          <a:solidFill>
                            <a:srgbClr val="9AA6B6"/>
                          </a:solidFill>
                          <a:latin typeface="Calibri" pitchFamily="34" charset="0"/>
                          <a:ea typeface="Calibri" pitchFamily="34" charset="-122"/>
                          <a:cs typeface="Calibri" pitchFamily="34" charset="-120"/>
                        </a:rPr>
                        <a:t>best of 3</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l" indent="0" marL="0">
                        <a:buNone/>
                      </a:pPr>
                      <a:r>
                        <a:rPr lang="en-US" sz="1100" b="1" dirty="0">
                          <a:solidFill>
                            <a:srgbClr val="9AA6B6"/>
                          </a:solidFill>
                          <a:latin typeface="Calibri" pitchFamily="34" charset="0"/>
                          <a:ea typeface="Calibri" pitchFamily="34" charset="-122"/>
                          <a:cs typeface="Calibri" pitchFamily="34" charset="-120"/>
                        </a:rPr>
                        <a:t>median of 3</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seed gap</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l" indent="0" marL="0">
                        <a:buNone/>
                      </a:pPr>
                      <a:r>
                        <a:rPr lang="en-US" sz="1100" b="1" dirty="0">
                          <a:solidFill>
                            <a:srgbClr val="9AA6B6"/>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r>
              <a:tr h="329184">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small-graph</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Spacekangaroos</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b="1" dirty="0">
                          <a:solidFill>
                            <a:srgbClr val="FF5A60"/>
                          </a:solidFill>
                          <a:latin typeface="Calibri" pitchFamily="34" charset="0"/>
                          <a:ea typeface="Calibri" pitchFamily="34" charset="-122"/>
                          <a:cs typeface="Calibri" pitchFamily="34" charset="-120"/>
                        </a:rPr>
                        <a:t>Team HRI</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FF5A60"/>
                          </a:solidFill>
                          <a:latin typeface="Calibri" pitchFamily="34" charset="0"/>
                          <a:ea typeface="Calibri" pitchFamily="34" charset="-122"/>
                          <a:cs typeface="Calibri" pitchFamily="34" charset="-120"/>
                        </a:rPr>
                        <a:t>−9,960</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i="1" dirty="0">
                          <a:solidFill>
                            <a:srgbClr val="FF5A60"/>
                          </a:solidFill>
                          <a:latin typeface="Calibri" pitchFamily="34" charset="0"/>
                          <a:ea typeface="Calibri" pitchFamily="34" charset="-122"/>
                          <a:cs typeface="Calibri" pitchFamily="34" charset="-120"/>
                        </a:rPr>
                        <a:t>unresolved</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synth-1</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Hill Climbing</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Hill Climbing</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FF5A60"/>
                          </a:solidFill>
                          <a:latin typeface="Calibri" pitchFamily="34" charset="0"/>
                          <a:ea typeface="Calibri" pitchFamily="34" charset="-122"/>
                          <a:cs typeface="Calibri" pitchFamily="34" charset="-120"/>
                        </a:rPr>
                        <a:t>−120</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i="1" dirty="0">
                          <a:solidFill>
                            <a:srgbClr val="FF5A60"/>
                          </a:solidFill>
                          <a:latin typeface="Calibri" pitchFamily="34" charset="0"/>
                          <a:ea typeface="Calibri" pitchFamily="34" charset="-122"/>
                          <a:cs typeface="Calibri" pitchFamily="34" charset="-120"/>
                        </a:rPr>
                        <a:t>unresolved</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synth-2</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Team HRI</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b="1" dirty="0">
                          <a:solidFill>
                            <a:srgbClr val="FF5A60"/>
                          </a:solidFill>
                          <a:latin typeface="Calibri" pitchFamily="34" charset="0"/>
                          <a:ea typeface="Calibri" pitchFamily="34" charset="-122"/>
                          <a:cs typeface="Calibri" pitchFamily="34" charset="-120"/>
                        </a:rPr>
                        <a:t>Hill Climbing</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FF5A60"/>
                          </a:solidFill>
                          <a:latin typeface="Calibri" pitchFamily="34" charset="0"/>
                          <a:ea typeface="Calibri" pitchFamily="34" charset="-122"/>
                          <a:cs typeface="Calibri" pitchFamily="34" charset="-120"/>
                        </a:rPr>
                        <a:t>−2,515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i="1" dirty="0">
                          <a:solidFill>
                            <a:srgbClr val="FF5A60"/>
                          </a:solidFill>
                          <a:latin typeface="Calibri" pitchFamily="34" charset="0"/>
                          <a:ea typeface="Calibri" pitchFamily="34" charset="-122"/>
                          <a:cs typeface="Calibri" pitchFamily="34" charset="-120"/>
                        </a:rPr>
                        <a:t>unresolved</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synth-3</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2A3546"/>
                      </a:solidFill>
                      <a:prstDash val="solid"/>
                      <a:round/>
                      <a:headEnd type="none" w="med" len="med"/>
                      <a:tailEnd type="none" w="med" len="med"/>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Hill Climbing</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2A3546"/>
                      </a:solidFill>
                      <a:prstDash val="solid"/>
                      <a:round/>
                      <a:headEnd type="none" w="med" len="med"/>
                      <a:tailEnd type="none" w="med" len="med"/>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Hill Climbing</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2A3546"/>
                      </a:solidFill>
                      <a:prstDash val="solid"/>
                      <a:round/>
                      <a:headEnd type="none" w="med" len="med"/>
                      <a:tailEnd type="none" w="med" len="med"/>
                    </a:lnB>
                  </a:tcPr>
                </a:tc>
                <a:tc>
                  <a:txBody>
                    <a:bodyPr/>
                    <a:lstStyle/>
                    <a:p>
                      <a:pPr algn="r" indent="0" marL="0">
                        <a:buNone/>
                      </a:pPr>
                      <a:r>
                        <a:rPr lang="en-US" sz="1250" dirty="0">
                          <a:solidFill>
                            <a:srgbClr val="3DDC97"/>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2A3546"/>
                      </a:solidFill>
                      <a:prstDash val="solid"/>
                      <a:round/>
                      <a:headEnd type="none" w="med" len="med"/>
                      <a:tailEnd type="none" w="med" len="med"/>
                    </a:lnB>
                  </a:tcPr>
                </a:tc>
                <a:tc>
                  <a:txBody>
                    <a:bodyPr/>
                    <a:lstStyle/>
                    <a:p>
                      <a:pPr indent="0" marL="0">
                        <a:buNone/>
                      </a:pPr>
                      <a:r>
                        <a:rPr lang="en-US" sz="1250" b="1" dirty="0">
                          <a:solidFill>
                            <a:srgbClr val="3DDC97"/>
                          </a:solidFill>
                          <a:latin typeface="Calibri" pitchFamily="34" charset="0"/>
                          <a:ea typeface="Calibri" pitchFamily="34" charset="-122"/>
                          <a:cs typeface="Calibri" pitchFamily="34" charset="-120"/>
                        </a:rPr>
                        <a:t>resolved *</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2A3546"/>
                      </a:solidFill>
                      <a:prstDash val="solid"/>
                      <a:round/>
                      <a:headEnd type="none" w="med" len="med"/>
                      <a:tailEnd type="none" w="med" len="med"/>
                    </a:lnB>
                  </a:tcPr>
                </a:tc>
              </a:tr>
              <a:tr h="329184">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medium-graph</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Team HRI</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Team HRI</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FF5A60"/>
                          </a:solidFill>
                          <a:latin typeface="Calibri" pitchFamily="34" charset="0"/>
                          <a:ea typeface="Calibri" pitchFamily="34" charset="-122"/>
                          <a:cs typeface="Calibri" pitchFamily="34" charset="-120"/>
                        </a:rPr>
                        <a:t>−61,095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i="1" dirty="0">
                          <a:solidFill>
                            <a:srgbClr val="FF5A60"/>
                          </a:solidFill>
                          <a:latin typeface="Calibri" pitchFamily="34" charset="0"/>
                          <a:ea typeface="Calibri" pitchFamily="34" charset="-122"/>
                          <a:cs typeface="Calibri" pitchFamily="34" charset="-120"/>
                        </a:rPr>
                        <a:t>unresolved</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synth-4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Team HRI</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Team HRI</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3DDC97"/>
                          </a:solidFill>
                          <a:latin typeface="Calibri" pitchFamily="34" charset="0"/>
                          <a:ea typeface="Calibri" pitchFamily="34" charset="-122"/>
                          <a:cs typeface="Calibri" pitchFamily="34" charset="-120"/>
                        </a:rPr>
                        <a:t>+2,128</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b="1" dirty="0">
                          <a:solidFill>
                            <a:srgbClr val="3DDC97"/>
                          </a:solidFill>
                          <a:latin typeface="Calibri" pitchFamily="34" charset="0"/>
                          <a:ea typeface="Calibri" pitchFamily="34" charset="-122"/>
                          <a:cs typeface="Calibri" pitchFamily="34" charset="-120"/>
                        </a:rPr>
                        <a:t>resolved</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synth-5</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2A3546"/>
                      </a:solidFill>
                      <a:prstDash val="solid"/>
                      <a:round/>
                      <a:headEnd type="none" w="med" len="med"/>
                      <a:tailEnd type="none" w="med" len="med"/>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Team HRI</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2A3546"/>
                      </a:solidFill>
                      <a:prstDash val="solid"/>
                      <a:round/>
                      <a:headEnd type="none" w="med" len="med"/>
                      <a:tailEnd type="none" w="med" len="med"/>
                    </a:lnB>
                  </a:tcPr>
                </a:tc>
                <a:tc>
                  <a:txBody>
                    <a:bodyPr/>
                    <a:lstStyle/>
                    <a:p>
                      <a:pPr indent="0" marL="0">
                        <a:buNone/>
                      </a:pPr>
                      <a:r>
                        <a:rPr lang="en-US" sz="1250" b="1" dirty="0">
                          <a:solidFill>
                            <a:srgbClr val="FF5A60"/>
                          </a:solidFill>
                          <a:latin typeface="Calibri" pitchFamily="34" charset="0"/>
                          <a:ea typeface="Calibri" pitchFamily="34" charset="-122"/>
                          <a:cs typeface="Calibri" pitchFamily="34" charset="-120"/>
                        </a:rPr>
                        <a:t>fcmaes</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2A3546"/>
                      </a:solidFill>
                      <a:prstDash val="solid"/>
                      <a:round/>
                      <a:headEnd type="none" w="med" len="med"/>
                      <a:tailEnd type="none" w="med" len="med"/>
                    </a:lnB>
                  </a:tcPr>
                </a:tc>
                <a:tc>
                  <a:txBody>
                    <a:bodyPr/>
                    <a:lstStyle/>
                    <a:p>
                      <a:pPr algn="r" indent="0" marL="0">
                        <a:buNone/>
                      </a:pPr>
                      <a:r>
                        <a:rPr lang="en-US" sz="1250" dirty="0">
                          <a:solidFill>
                            <a:srgbClr val="FF5A60"/>
                          </a:solidFill>
                          <a:latin typeface="Calibri" pitchFamily="34" charset="0"/>
                          <a:ea typeface="Calibri" pitchFamily="34" charset="-122"/>
                          <a:cs typeface="Calibri" pitchFamily="34" charset="-120"/>
                        </a:rPr>
                        <a:t>−31,077</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2A3546"/>
                      </a:solidFill>
                      <a:prstDash val="solid"/>
                      <a:round/>
                      <a:headEnd type="none" w="med" len="med"/>
                      <a:tailEnd type="none" w="med" len="med"/>
                    </a:lnB>
                  </a:tcPr>
                </a:tc>
                <a:tc>
                  <a:txBody>
                    <a:bodyPr/>
                    <a:lstStyle/>
                    <a:p>
                      <a:pPr indent="0" marL="0">
                        <a:buNone/>
                      </a:pPr>
                      <a:r>
                        <a:rPr lang="en-US" sz="1250" i="1" dirty="0">
                          <a:solidFill>
                            <a:srgbClr val="FF5A60"/>
                          </a:solidFill>
                          <a:latin typeface="Calibri" pitchFamily="34" charset="0"/>
                          <a:ea typeface="Calibri" pitchFamily="34" charset="-122"/>
                          <a:cs typeface="Calibri" pitchFamily="34" charset="-120"/>
                        </a:rPr>
                        <a:t>unresolved</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9525" cap="flat" cmpd="sng" algn="ctr">
                      <a:solidFill>
                        <a:srgbClr val="2A3546"/>
                      </a:solidFill>
                      <a:prstDash val="solid"/>
                      <a:round/>
                      <a:headEnd type="none" w="med" len="med"/>
                      <a:tailEnd type="none" w="med" len="med"/>
                    </a:lnB>
                  </a:tcPr>
                </a:tc>
              </a:tr>
              <a:tr h="329184">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large-graph</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fcmaes</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fcmaes</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3DDC97"/>
                          </a:solidFill>
                          <a:latin typeface="Calibri" pitchFamily="34" charset="0"/>
                          <a:ea typeface="Calibri" pitchFamily="34" charset="-122"/>
                          <a:cs typeface="Calibri" pitchFamily="34" charset="-120"/>
                        </a:rPr>
                        <a:t>+425,344</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b="1" dirty="0">
                          <a:solidFill>
                            <a:srgbClr val="3DDC97"/>
                          </a:solidFill>
                          <a:latin typeface="Calibri" pitchFamily="34" charset="0"/>
                          <a:ea typeface="Calibri" pitchFamily="34" charset="-122"/>
                          <a:cs typeface="Calibri" pitchFamily="34" charset="-120"/>
                        </a:rPr>
                        <a:t>resolved</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synth-6</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fcmaes</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fcmaes</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50" dirty="0">
                          <a:solidFill>
                            <a:srgbClr val="3DDC97"/>
                          </a:solidFill>
                          <a:latin typeface="Calibri" pitchFamily="34" charset="0"/>
                          <a:ea typeface="Calibri" pitchFamily="34" charset="-122"/>
                          <a:cs typeface="Calibri" pitchFamily="34" charset="-120"/>
                        </a:rPr>
                        <a:t>+233,811</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50" b="1" dirty="0">
                          <a:solidFill>
                            <a:srgbClr val="3DDC97"/>
                          </a:solidFill>
                          <a:latin typeface="Calibri" pitchFamily="34" charset="0"/>
                          <a:ea typeface="Calibri" pitchFamily="34" charset="-122"/>
                          <a:cs typeface="Calibri" pitchFamily="34" charset="-120"/>
                        </a:rPr>
                        <a:t>resolved</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synth-7</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fcmaes</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indent="0" marL="0">
                        <a:buNone/>
                      </a:pPr>
                      <a:r>
                        <a:rPr lang="en-US" sz="1250" dirty="0">
                          <a:solidFill>
                            <a:srgbClr val="E8ECF2"/>
                          </a:solidFill>
                          <a:latin typeface="Calibri" pitchFamily="34" charset="0"/>
                          <a:ea typeface="Calibri" pitchFamily="34" charset="-122"/>
                          <a:cs typeface="Calibri" pitchFamily="34" charset="-120"/>
                        </a:rPr>
                        <a:t>fcmaes</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250" dirty="0">
                          <a:solidFill>
                            <a:srgbClr val="3DDC97"/>
                          </a:solidFill>
                          <a:latin typeface="Calibri" pitchFamily="34" charset="0"/>
                          <a:ea typeface="Calibri" pitchFamily="34" charset="-122"/>
                          <a:cs typeface="Calibri" pitchFamily="34" charset="-120"/>
                        </a:rPr>
                        <a:t>+121,598</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indent="0" marL="0">
                        <a:buNone/>
                      </a:pPr>
                      <a:r>
                        <a:rPr lang="en-US" sz="1250" b="1" dirty="0">
                          <a:solidFill>
                            <a:srgbClr val="3DDC97"/>
                          </a:solidFill>
                          <a:latin typeface="Calibri" pitchFamily="34" charset="0"/>
                          <a:ea typeface="Calibri" pitchFamily="34" charset="-122"/>
                          <a:cs typeface="Calibri" pitchFamily="34" charset="-120"/>
                        </a:rPr>
                        <a:t>resolved</a:t>
                      </a:r>
                      <a:endParaRPr lang="en-US" sz="125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r>
            </a:tbl>
          </a:graphicData>
        </a:graphic>
      </p:graphicFrame>
      <p:sp>
        <p:nvSpPr>
          <p:cNvPr id="5" name="Text 2"/>
          <p:cNvSpPr txBox="1"/>
          <p:nvPr/>
        </p:nvSpPr>
        <p:spPr>
          <a:xfrm>
            <a:off x="640080" y="5486400"/>
            <a:ext cx="6903720" cy="804672"/>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Seed gap = the winner’s worst seed minus the runner-up’s best. Resolved = a positive gap and the same winner by median: every seed of the winner beats every seed of every rival (exact rank test, p = 0.05 at three seeds). * synth-3: 71 HV over its own starting point.</a:t>
            </a:r>
            <a:endParaRPr lang="en-US" sz="1050" dirty="0"/>
          </a:p>
        </p:txBody>
      </p:sp>
      <p:sp>
        <p:nvSpPr>
          <p:cNvPr id="6" name="Text 3"/>
          <p:cNvSpPr txBox="1"/>
          <p:nvPr/>
        </p:nvSpPr>
        <p:spPr>
          <a:xfrm>
            <a:off x="8001000" y="1810512"/>
            <a:ext cx="3550615" cy="237744"/>
          </a:xfrm>
          <a:prstGeom prst="rect">
            <a:avLst/>
          </a:prstGeom>
          <a:noFill/>
          <a:ln/>
        </p:spPr>
        <p:txBody>
          <a:bodyPr wrap="square" lIns="0" tIns="0" rIns="0" bIns="0" rtlCol="0" anchor="t"/>
          <a:lstStyle/>
          <a:p>
            <a:pPr indent="0" marL="0">
              <a:buNone/>
            </a:pPr>
            <a:r>
              <a:rPr lang="en-US" sz="1050" b="1" spc="160" kern="0" dirty="0">
                <a:solidFill>
                  <a:srgbClr val="9AA6B6"/>
                </a:solidFill>
                <a:latin typeface="Calibri" pitchFamily="34" charset="0"/>
                <a:ea typeface="Calibri" pitchFamily="34" charset="-122"/>
                <a:cs typeface="Calibri" pitchFamily="34" charset="-120"/>
              </a:rPr>
              <a:t>SMALL-GRAPH, EVERY SEED</a:t>
            </a:r>
            <a:endParaRPr lang="en-US" sz="1050" dirty="0"/>
          </a:p>
        </p:txBody>
      </p:sp>
      <p:sp>
        <p:nvSpPr>
          <p:cNvPr id="7" name="Text 4"/>
          <p:cNvSpPr txBox="1"/>
          <p:nvPr/>
        </p:nvSpPr>
        <p:spPr>
          <a:xfrm>
            <a:off x="8001000" y="2258568"/>
            <a:ext cx="128016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Spacekangaroos</a:t>
            </a:r>
            <a:endParaRPr lang="en-US" sz="1150" dirty="0"/>
          </a:p>
        </p:txBody>
      </p:sp>
      <p:sp>
        <p:nvSpPr>
          <p:cNvPr id="8" name="Shape 5"/>
          <p:cNvSpPr/>
          <p:nvPr/>
        </p:nvSpPr>
        <p:spPr>
          <a:xfrm>
            <a:off x="9326880" y="2377440"/>
            <a:ext cx="2179015" cy="0"/>
          </a:xfrm>
          <a:prstGeom prst="line">
            <a:avLst/>
          </a:prstGeom>
          <a:noFill/>
          <a:ln w="7620">
            <a:solidFill>
              <a:srgbClr val="1C2533"/>
            </a:solidFill>
            <a:prstDash val="solid"/>
          </a:ln>
        </p:spPr>
      </p:sp>
      <p:sp>
        <p:nvSpPr>
          <p:cNvPr id="9" name="Shape 6"/>
          <p:cNvSpPr/>
          <p:nvPr/>
        </p:nvSpPr>
        <p:spPr>
          <a:xfrm>
            <a:off x="9916256" y="2240280"/>
            <a:ext cx="0" cy="274320"/>
          </a:xfrm>
          <a:prstGeom prst="line">
            <a:avLst/>
          </a:prstGeom>
          <a:noFill/>
          <a:ln w="19050">
            <a:solidFill>
              <a:srgbClr val="F2C14E"/>
            </a:solidFill>
            <a:prstDash val="solid"/>
          </a:ln>
        </p:spPr>
      </p:sp>
      <p:sp>
        <p:nvSpPr>
          <p:cNvPr id="10" name="Shape 7"/>
          <p:cNvSpPr/>
          <p:nvPr/>
        </p:nvSpPr>
        <p:spPr>
          <a:xfrm>
            <a:off x="11303402" y="2318004"/>
            <a:ext cx="118872" cy="118872"/>
          </a:xfrm>
          <a:prstGeom prst="ellipse">
            <a:avLst/>
          </a:prstGeom>
          <a:solidFill>
            <a:srgbClr val="4DA3FF">
              <a:alpha val="90000"/>
            </a:srgbClr>
          </a:solidFill>
          <a:ln/>
        </p:spPr>
      </p:sp>
      <p:sp>
        <p:nvSpPr>
          <p:cNvPr id="11" name="Shape 8"/>
          <p:cNvSpPr/>
          <p:nvPr/>
        </p:nvSpPr>
        <p:spPr>
          <a:xfrm>
            <a:off x="9856820" y="2318004"/>
            <a:ext cx="118872" cy="118872"/>
          </a:xfrm>
          <a:prstGeom prst="ellipse">
            <a:avLst/>
          </a:prstGeom>
          <a:solidFill>
            <a:srgbClr val="E8ECF2">
              <a:alpha val="90000"/>
            </a:srgbClr>
          </a:solidFill>
          <a:ln/>
        </p:spPr>
      </p:sp>
      <p:sp>
        <p:nvSpPr>
          <p:cNvPr id="12" name="Shape 9"/>
          <p:cNvSpPr/>
          <p:nvPr/>
        </p:nvSpPr>
        <p:spPr>
          <a:xfrm>
            <a:off x="9733753" y="2318004"/>
            <a:ext cx="118872" cy="118872"/>
          </a:xfrm>
          <a:prstGeom prst="ellipse">
            <a:avLst/>
          </a:prstGeom>
          <a:solidFill>
            <a:srgbClr val="E8ECF2">
              <a:alpha val="90000"/>
            </a:srgbClr>
          </a:solidFill>
          <a:ln/>
        </p:spPr>
      </p:sp>
      <p:sp>
        <p:nvSpPr>
          <p:cNvPr id="13" name="Text 10"/>
          <p:cNvSpPr txBox="1"/>
          <p:nvPr/>
        </p:nvSpPr>
        <p:spPr>
          <a:xfrm>
            <a:off x="8001000" y="2715768"/>
            <a:ext cx="128016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Team HRI</a:t>
            </a:r>
            <a:endParaRPr lang="en-US" sz="1150" dirty="0"/>
          </a:p>
        </p:txBody>
      </p:sp>
      <p:sp>
        <p:nvSpPr>
          <p:cNvPr id="14" name="Shape 11"/>
          <p:cNvSpPr/>
          <p:nvPr/>
        </p:nvSpPr>
        <p:spPr>
          <a:xfrm>
            <a:off x="9326880" y="2834640"/>
            <a:ext cx="2179015" cy="0"/>
          </a:xfrm>
          <a:prstGeom prst="line">
            <a:avLst/>
          </a:prstGeom>
          <a:noFill/>
          <a:ln w="7620">
            <a:solidFill>
              <a:srgbClr val="1C2533"/>
            </a:solidFill>
            <a:prstDash val="solid"/>
          </a:ln>
        </p:spPr>
      </p:sp>
      <p:sp>
        <p:nvSpPr>
          <p:cNvPr id="15" name="Shape 12"/>
          <p:cNvSpPr/>
          <p:nvPr/>
        </p:nvSpPr>
        <p:spPr>
          <a:xfrm>
            <a:off x="10602457" y="2697480"/>
            <a:ext cx="0" cy="274320"/>
          </a:xfrm>
          <a:prstGeom prst="line">
            <a:avLst/>
          </a:prstGeom>
          <a:noFill/>
          <a:ln w="19050">
            <a:solidFill>
              <a:srgbClr val="F2C14E"/>
            </a:solidFill>
            <a:prstDash val="solid"/>
          </a:ln>
        </p:spPr>
      </p:sp>
      <p:sp>
        <p:nvSpPr>
          <p:cNvPr id="16" name="Shape 13"/>
          <p:cNvSpPr/>
          <p:nvPr/>
        </p:nvSpPr>
        <p:spPr>
          <a:xfrm>
            <a:off x="10677362" y="2775204"/>
            <a:ext cx="118872" cy="118872"/>
          </a:xfrm>
          <a:prstGeom prst="ellipse">
            <a:avLst/>
          </a:prstGeom>
          <a:solidFill>
            <a:srgbClr val="E8ECF2">
              <a:alpha val="90000"/>
            </a:srgbClr>
          </a:solidFill>
          <a:ln/>
        </p:spPr>
      </p:sp>
      <p:sp>
        <p:nvSpPr>
          <p:cNvPr id="17" name="Shape 14"/>
          <p:cNvSpPr/>
          <p:nvPr/>
        </p:nvSpPr>
        <p:spPr>
          <a:xfrm>
            <a:off x="10543021" y="2775204"/>
            <a:ext cx="118872" cy="118872"/>
          </a:xfrm>
          <a:prstGeom prst="ellipse">
            <a:avLst/>
          </a:prstGeom>
          <a:solidFill>
            <a:srgbClr val="E8ECF2">
              <a:alpha val="90000"/>
            </a:srgbClr>
          </a:solidFill>
          <a:ln/>
        </p:spPr>
      </p:sp>
      <p:sp>
        <p:nvSpPr>
          <p:cNvPr id="18" name="Shape 15"/>
          <p:cNvSpPr/>
          <p:nvPr/>
        </p:nvSpPr>
        <p:spPr>
          <a:xfrm>
            <a:off x="10492051" y="2775204"/>
            <a:ext cx="118872" cy="118872"/>
          </a:xfrm>
          <a:prstGeom prst="ellipse">
            <a:avLst/>
          </a:prstGeom>
          <a:solidFill>
            <a:srgbClr val="E8ECF2">
              <a:alpha val="90000"/>
            </a:srgbClr>
          </a:solidFill>
          <a:ln/>
        </p:spPr>
      </p:sp>
      <p:sp>
        <p:nvSpPr>
          <p:cNvPr id="19" name="Text 16"/>
          <p:cNvSpPr txBox="1"/>
          <p:nvPr/>
        </p:nvSpPr>
        <p:spPr>
          <a:xfrm>
            <a:off x="8001000" y="3172968"/>
            <a:ext cx="128016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Hill Climbing</a:t>
            </a:r>
            <a:endParaRPr lang="en-US" sz="1150" dirty="0"/>
          </a:p>
        </p:txBody>
      </p:sp>
      <p:sp>
        <p:nvSpPr>
          <p:cNvPr id="20" name="Shape 17"/>
          <p:cNvSpPr/>
          <p:nvPr/>
        </p:nvSpPr>
        <p:spPr>
          <a:xfrm>
            <a:off x="9326880" y="3291840"/>
            <a:ext cx="2179015" cy="0"/>
          </a:xfrm>
          <a:prstGeom prst="line">
            <a:avLst/>
          </a:prstGeom>
          <a:noFill/>
          <a:ln w="7620">
            <a:solidFill>
              <a:srgbClr val="1C2533"/>
            </a:solidFill>
            <a:prstDash val="solid"/>
          </a:ln>
        </p:spPr>
      </p:sp>
      <p:sp>
        <p:nvSpPr>
          <p:cNvPr id="21" name="Shape 18"/>
          <p:cNvSpPr/>
          <p:nvPr/>
        </p:nvSpPr>
        <p:spPr>
          <a:xfrm>
            <a:off x="10136621" y="3154680"/>
            <a:ext cx="0" cy="274320"/>
          </a:xfrm>
          <a:prstGeom prst="line">
            <a:avLst/>
          </a:prstGeom>
          <a:noFill/>
          <a:ln w="19050">
            <a:solidFill>
              <a:srgbClr val="F2C14E"/>
            </a:solidFill>
            <a:prstDash val="solid"/>
          </a:ln>
        </p:spPr>
      </p:sp>
      <p:sp>
        <p:nvSpPr>
          <p:cNvPr id="22" name="Shape 19"/>
          <p:cNvSpPr/>
          <p:nvPr/>
        </p:nvSpPr>
        <p:spPr>
          <a:xfrm>
            <a:off x="10075574" y="3232404"/>
            <a:ext cx="118872" cy="118872"/>
          </a:xfrm>
          <a:prstGeom prst="ellipse">
            <a:avLst/>
          </a:prstGeom>
          <a:solidFill>
            <a:srgbClr val="E8ECF2">
              <a:alpha val="90000"/>
            </a:srgbClr>
          </a:solidFill>
          <a:ln/>
        </p:spPr>
      </p:sp>
      <p:sp>
        <p:nvSpPr>
          <p:cNvPr id="23" name="Shape 20"/>
          <p:cNvSpPr/>
          <p:nvPr/>
        </p:nvSpPr>
        <p:spPr>
          <a:xfrm>
            <a:off x="10161503" y="3232404"/>
            <a:ext cx="118872" cy="118872"/>
          </a:xfrm>
          <a:prstGeom prst="ellipse">
            <a:avLst/>
          </a:prstGeom>
          <a:solidFill>
            <a:srgbClr val="E8ECF2">
              <a:alpha val="90000"/>
            </a:srgbClr>
          </a:solidFill>
          <a:ln/>
        </p:spPr>
      </p:sp>
      <p:sp>
        <p:nvSpPr>
          <p:cNvPr id="24" name="Shape 21"/>
          <p:cNvSpPr/>
          <p:nvPr/>
        </p:nvSpPr>
        <p:spPr>
          <a:xfrm>
            <a:off x="10077185" y="3232404"/>
            <a:ext cx="118872" cy="118872"/>
          </a:xfrm>
          <a:prstGeom prst="ellipse">
            <a:avLst/>
          </a:prstGeom>
          <a:solidFill>
            <a:srgbClr val="E8ECF2">
              <a:alpha val="90000"/>
            </a:srgbClr>
          </a:solidFill>
          <a:ln/>
        </p:spPr>
      </p:sp>
      <p:sp>
        <p:nvSpPr>
          <p:cNvPr id="25" name="Text 22"/>
          <p:cNvSpPr txBox="1"/>
          <p:nvPr/>
        </p:nvSpPr>
        <p:spPr>
          <a:xfrm>
            <a:off x="8001000" y="3630168"/>
            <a:ext cx="1280160" cy="237744"/>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fcmaes</a:t>
            </a:r>
            <a:endParaRPr lang="en-US" sz="1150" dirty="0"/>
          </a:p>
        </p:txBody>
      </p:sp>
      <p:sp>
        <p:nvSpPr>
          <p:cNvPr id="26" name="Shape 23"/>
          <p:cNvSpPr/>
          <p:nvPr/>
        </p:nvSpPr>
        <p:spPr>
          <a:xfrm>
            <a:off x="9326880" y="3749040"/>
            <a:ext cx="2179015" cy="0"/>
          </a:xfrm>
          <a:prstGeom prst="line">
            <a:avLst/>
          </a:prstGeom>
          <a:noFill/>
          <a:ln w="7620">
            <a:solidFill>
              <a:srgbClr val="1C2533"/>
            </a:solidFill>
            <a:prstDash val="solid"/>
          </a:ln>
        </p:spPr>
      </p:sp>
      <p:sp>
        <p:nvSpPr>
          <p:cNvPr id="27" name="Shape 24"/>
          <p:cNvSpPr/>
          <p:nvPr/>
        </p:nvSpPr>
        <p:spPr>
          <a:xfrm>
            <a:off x="9489738" y="3611880"/>
            <a:ext cx="0" cy="274320"/>
          </a:xfrm>
          <a:prstGeom prst="line">
            <a:avLst/>
          </a:prstGeom>
          <a:noFill/>
          <a:ln w="19050">
            <a:solidFill>
              <a:srgbClr val="F2C14E"/>
            </a:solidFill>
            <a:prstDash val="solid"/>
          </a:ln>
        </p:spPr>
      </p:sp>
      <p:sp>
        <p:nvSpPr>
          <p:cNvPr id="28" name="Shape 25"/>
          <p:cNvSpPr/>
          <p:nvPr/>
        </p:nvSpPr>
        <p:spPr>
          <a:xfrm>
            <a:off x="9430302" y="3689604"/>
            <a:ext cx="118872" cy="118872"/>
          </a:xfrm>
          <a:prstGeom prst="ellipse">
            <a:avLst/>
          </a:prstGeom>
          <a:solidFill>
            <a:srgbClr val="E8ECF2">
              <a:alpha val="90000"/>
            </a:srgbClr>
          </a:solidFill>
          <a:ln/>
        </p:spPr>
      </p:sp>
      <p:sp>
        <p:nvSpPr>
          <p:cNvPr id="29" name="Shape 26"/>
          <p:cNvSpPr/>
          <p:nvPr/>
        </p:nvSpPr>
        <p:spPr>
          <a:xfrm>
            <a:off x="9460145" y="3689604"/>
            <a:ext cx="118872" cy="118872"/>
          </a:xfrm>
          <a:prstGeom prst="ellipse">
            <a:avLst/>
          </a:prstGeom>
          <a:solidFill>
            <a:srgbClr val="E8ECF2">
              <a:alpha val="90000"/>
            </a:srgbClr>
          </a:solidFill>
          <a:ln/>
        </p:spPr>
      </p:sp>
      <p:sp>
        <p:nvSpPr>
          <p:cNvPr id="30" name="Shape 27"/>
          <p:cNvSpPr/>
          <p:nvPr/>
        </p:nvSpPr>
        <p:spPr>
          <a:xfrm>
            <a:off x="9376205" y="3689604"/>
            <a:ext cx="118872" cy="118872"/>
          </a:xfrm>
          <a:prstGeom prst="ellipse">
            <a:avLst/>
          </a:prstGeom>
          <a:solidFill>
            <a:srgbClr val="E8ECF2">
              <a:alpha val="90000"/>
            </a:srgbClr>
          </a:solidFill>
          <a:ln/>
        </p:spPr>
      </p:sp>
      <p:sp>
        <p:nvSpPr>
          <p:cNvPr id="31" name="Shape 28"/>
          <p:cNvSpPr/>
          <p:nvPr/>
        </p:nvSpPr>
        <p:spPr>
          <a:xfrm>
            <a:off x="11253110" y="2267712"/>
            <a:ext cx="219456" cy="219456"/>
          </a:xfrm>
          <a:prstGeom prst="ellipse">
            <a:avLst/>
          </a:prstGeom>
          <a:ln w="15875">
            <a:solidFill>
              <a:srgbClr val="4DA3FF"/>
            </a:solidFill>
            <a:prstDash val="solid"/>
          </a:ln>
        </p:spPr>
      </p:sp>
      <p:sp>
        <p:nvSpPr>
          <p:cNvPr id="32" name="Text 29"/>
          <p:cNvSpPr txBox="1"/>
          <p:nvPr/>
        </p:nvSpPr>
        <p:spPr>
          <a:xfrm>
            <a:off x="10448438" y="1993392"/>
            <a:ext cx="868680" cy="201168"/>
          </a:xfrm>
          <a:prstGeom prst="rect">
            <a:avLst/>
          </a:prstGeom>
          <a:noFill/>
          <a:ln/>
        </p:spPr>
        <p:txBody>
          <a:bodyPr wrap="square" lIns="0" tIns="0" rIns="0" bIns="0" rtlCol="0" anchor="t"/>
          <a:lstStyle/>
          <a:p>
            <a:pPr algn="r" indent="0" marL="0">
              <a:buNone/>
            </a:pPr>
            <a:r>
              <a:rPr lang="en-US" sz="1000" b="1" dirty="0">
                <a:solidFill>
                  <a:srgbClr val="4DA3FF"/>
                </a:solidFill>
                <a:latin typeface="Calibri" pitchFamily="34" charset="0"/>
                <a:ea typeface="Calibri" pitchFamily="34" charset="-122"/>
                <a:cs typeface="Calibri" pitchFamily="34" charset="-120"/>
              </a:rPr>
              <a:t>best of 3</a:t>
            </a:r>
            <a:endParaRPr lang="en-US" sz="1000" dirty="0"/>
          </a:p>
        </p:txBody>
      </p:sp>
      <p:sp>
        <p:nvSpPr>
          <p:cNvPr id="33" name="Text 30"/>
          <p:cNvSpPr txBox="1"/>
          <p:nvPr/>
        </p:nvSpPr>
        <p:spPr>
          <a:xfrm>
            <a:off x="9385799" y="3858768"/>
            <a:ext cx="640080" cy="182880"/>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1,810</a:t>
            </a:r>
            <a:endParaRPr lang="en-US" sz="1000" dirty="0"/>
          </a:p>
        </p:txBody>
      </p:sp>
      <p:sp>
        <p:nvSpPr>
          <p:cNvPr id="34" name="Text 31"/>
          <p:cNvSpPr txBox="1"/>
          <p:nvPr/>
        </p:nvSpPr>
        <p:spPr>
          <a:xfrm>
            <a:off x="9859498" y="3858768"/>
            <a:ext cx="640080" cy="182880"/>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1,815</a:t>
            </a:r>
            <a:endParaRPr lang="en-US" sz="1000" dirty="0"/>
          </a:p>
        </p:txBody>
      </p:sp>
      <p:sp>
        <p:nvSpPr>
          <p:cNvPr id="35" name="Text 32"/>
          <p:cNvSpPr txBox="1"/>
          <p:nvPr/>
        </p:nvSpPr>
        <p:spPr>
          <a:xfrm>
            <a:off x="10333197" y="3858768"/>
            <a:ext cx="640080" cy="182880"/>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1,820</a:t>
            </a:r>
            <a:endParaRPr lang="en-US" sz="1000" dirty="0"/>
          </a:p>
        </p:txBody>
      </p:sp>
      <p:sp>
        <p:nvSpPr>
          <p:cNvPr id="36" name="Text 33"/>
          <p:cNvSpPr txBox="1"/>
          <p:nvPr/>
        </p:nvSpPr>
        <p:spPr>
          <a:xfrm>
            <a:off x="10806896" y="3858768"/>
            <a:ext cx="640080" cy="182880"/>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1,825</a:t>
            </a:r>
            <a:endParaRPr lang="en-US" sz="1000" dirty="0"/>
          </a:p>
        </p:txBody>
      </p:sp>
      <p:sp>
        <p:nvSpPr>
          <p:cNvPr id="37" name="Text 34"/>
          <p:cNvSpPr txBox="1"/>
          <p:nvPr/>
        </p:nvSpPr>
        <p:spPr>
          <a:xfrm>
            <a:off x="9326880" y="4041648"/>
            <a:ext cx="2179015" cy="182880"/>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hypervolume ×1,000</a:t>
            </a:r>
            <a:endParaRPr lang="en-US" sz="1000" dirty="0"/>
          </a:p>
        </p:txBody>
      </p:sp>
      <p:sp>
        <p:nvSpPr>
          <p:cNvPr id="38" name="Shape 35"/>
          <p:cNvSpPr/>
          <p:nvPr/>
        </p:nvSpPr>
        <p:spPr>
          <a:xfrm>
            <a:off x="8019288" y="4343400"/>
            <a:ext cx="137160" cy="0"/>
          </a:xfrm>
          <a:prstGeom prst="line">
            <a:avLst/>
          </a:prstGeom>
          <a:noFill/>
          <a:ln w="19050">
            <a:solidFill>
              <a:srgbClr val="F2C14E"/>
            </a:solidFill>
            <a:prstDash val="solid"/>
          </a:ln>
        </p:spPr>
      </p:sp>
      <p:sp>
        <p:nvSpPr>
          <p:cNvPr id="39" name="Text 36"/>
          <p:cNvSpPr txBox="1"/>
          <p:nvPr/>
        </p:nvSpPr>
        <p:spPr>
          <a:xfrm>
            <a:off x="8202168" y="4242816"/>
            <a:ext cx="1280160" cy="201168"/>
          </a:xfrm>
          <a:prstGeom prst="rect">
            <a:avLst/>
          </a:prstGeom>
          <a:noFill/>
          <a:ln/>
        </p:spPr>
        <p:txBody>
          <a:bodyPr wrap="square" lIns="0" tIns="0" rIns="0" bIns="0" rtlCol="0" anchor="t"/>
          <a:lstStyle/>
          <a:p>
            <a:pPr indent="0" marL="0">
              <a:buNone/>
            </a:pPr>
            <a:r>
              <a:rPr lang="en-US" sz="1000" dirty="0">
                <a:solidFill>
                  <a:srgbClr val="F2C14E"/>
                </a:solidFill>
                <a:latin typeface="Calibri" pitchFamily="34" charset="0"/>
                <a:ea typeface="Calibri" pitchFamily="34" charset="-122"/>
                <a:cs typeface="Calibri" pitchFamily="34" charset="-120"/>
              </a:rPr>
              <a:t>medians</a:t>
            </a:r>
            <a:endParaRPr lang="en-US" sz="1000" dirty="0"/>
          </a:p>
        </p:txBody>
      </p:sp>
      <p:sp>
        <p:nvSpPr>
          <p:cNvPr id="40" name="Text 37"/>
          <p:cNvSpPr txBox="1"/>
          <p:nvPr/>
        </p:nvSpPr>
        <p:spPr>
          <a:xfrm>
            <a:off x="8001000" y="4553712"/>
            <a:ext cx="3550615" cy="822960"/>
          </a:xfrm>
          <a:prstGeom prst="rect">
            <a:avLst/>
          </a:prstGeom>
          <a:noFill/>
          <a:ln/>
        </p:spPr>
        <p:txBody>
          <a:bodyPr wrap="square" lIns="0" tIns="0" rIns="0" bIns="0" rtlCol="0" anchor="t"/>
          <a:lstStyle/>
          <a:p>
            <a:pPr indent="0" marL="0">
              <a:buNone/>
            </a:pPr>
            <a:r>
              <a:rPr lang="en-US" sz="1200" dirty="0">
                <a:solidFill>
                  <a:srgbClr val="E8ECF2"/>
                </a:solidFill>
                <a:latin typeface="Calibri" pitchFamily="34" charset="0"/>
                <a:ea typeface="Calibri" pitchFamily="34" charset="-122"/>
                <a:cs typeface="Calibri" pitchFamily="34" charset="-120"/>
              </a:rPr>
              <a:t>Best of three crowns Spacekangaroos on one seed; its other two trail all three of Team HRI’s. The median crowns Team HRI.</a:t>
            </a:r>
            <a:endParaRPr lang="en-US" sz="1200" dirty="0"/>
          </a:p>
        </p:txBody>
      </p:sp>
      <p:sp>
        <p:nvSpPr>
          <p:cNvPr id="41" name="Text 38"/>
          <p:cNvSpPr txBox="1"/>
          <p:nvPr/>
        </p:nvSpPr>
        <p:spPr>
          <a:xfrm>
            <a:off x="8001000" y="5468112"/>
            <a:ext cx="3550615" cy="237744"/>
          </a:xfrm>
          <a:prstGeom prst="rect">
            <a:avLst/>
          </a:prstGeom>
          <a:noFill/>
          <a:ln/>
        </p:spPr>
        <p:txBody>
          <a:bodyPr wrap="square" lIns="0" tIns="0" rIns="0" bIns="0" rtlCol="0" anchor="t"/>
          <a:lstStyle/>
          <a:p>
            <a:pPr indent="0" marL="0">
              <a:buNone/>
            </a:pPr>
            <a:r>
              <a:rPr lang="en-US" sz="1050" b="1" spc="160" kern="0" dirty="0">
                <a:solidFill>
                  <a:srgbClr val="F2C14E"/>
                </a:solidFill>
                <a:latin typeface="Calibri" pitchFamily="34" charset="0"/>
                <a:ea typeface="Calibri" pitchFamily="34" charset="-122"/>
                <a:cs typeface="Calibri" pitchFamily="34" charset="-120"/>
              </a:rPr>
              <a:t>FIRST DRAFT</a:t>
            </a:r>
            <a:endParaRPr lang="en-US" sz="1050" dirty="0"/>
          </a:p>
        </p:txBody>
      </p:sp>
      <p:sp>
        <p:nvSpPr>
          <p:cNvPr id="42" name="Text 39"/>
          <p:cNvSpPr txBox="1"/>
          <p:nvPr/>
        </p:nvSpPr>
        <p:spPr>
          <a:xfrm>
            <a:off x="8001000" y="5705856"/>
            <a:ext cx="3550615" cy="603504"/>
          </a:xfrm>
          <a:prstGeom prst="rect">
            <a:avLst/>
          </a:prstGeom>
          <a:noFill/>
          <a:ln/>
        </p:spPr>
        <p:txBody>
          <a:bodyPr wrap="square" lIns="0" tIns="0" rIns="0" bIns="0" rtlCol="0" anchor="t"/>
          <a:lstStyle/>
          <a:p>
            <a:pPr indent="0" marL="0">
              <a:buNone/>
            </a:pPr>
            <a:r>
              <a:rPr lang="en-US" sz="1150" dirty="0">
                <a:solidFill>
                  <a:srgbClr val="9AA6B6"/>
                </a:solidFill>
                <a:latin typeface="Calibri" pitchFamily="34" charset="0"/>
                <a:ea typeface="Calibri" pitchFamily="34" charset="-122"/>
                <a:cs typeface="Calibri" pitchFamily="34" charset="-120"/>
              </a:rPr>
              <a:t>One threshold, borrowed from Hill Climbing’s noise, judged every row and got four wrong: synth-3, synth-4, medium-graph and synth-5.</a:t>
            </a:r>
            <a:endParaRPr lang="en-US" sz="115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V · WHAT DOES THE WORK</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One component at a time: only construction matters</a:t>
            </a:r>
            <a:endParaRPr lang="en-US" sz="2700" dirty="0"/>
          </a:p>
        </p:txBody>
      </p:sp>
      <p:sp>
        <p:nvSpPr>
          <p:cNvPr id="4" name="Text 2"/>
          <p:cNvSpPr txBox="1"/>
          <p:nvPr/>
        </p:nvSpPr>
        <p:spPr>
          <a:xfrm>
            <a:off x="640080" y="1737360"/>
            <a:ext cx="10911535" cy="566928"/>
          </a:xfrm>
          <a:prstGeom prst="rect">
            <a:avLst/>
          </a:prstGeom>
          <a:noFill/>
          <a:ln/>
        </p:spPr>
        <p:txBody>
          <a:bodyPr wrap="square" lIns="0" tIns="0" rIns="0" bIns="0" rtlCol="0" anchor="t"/>
          <a:lstStyle/>
          <a:p>
            <a:pPr indent="0" marL="0">
              <a:buNone/>
            </a:pPr>
            <a:r>
              <a:rPr lang="en-US" sz="1500" dirty="0">
                <a:solidFill>
                  <a:srgbClr val="9AA6B6"/>
                </a:solidFill>
                <a:latin typeface="Calibri" pitchFamily="34" charset="0"/>
                <a:ea typeface="Calibri" pitchFamily="34" charset="-122"/>
                <a:cs typeface="Calibri" pitchFamily="34" charset="-120"/>
              </a:rPr>
              <a:t>A local search has three parts: where it starts, what it tries, what it keeps. Each arm replaces exactly one of them, against the same Hill Climbing control.</a:t>
            </a:r>
            <a:endParaRPr lang="en-US" sz="1500" dirty="0"/>
          </a:p>
        </p:txBody>
      </p:sp>
      <p:sp>
        <p:nvSpPr>
          <p:cNvPr id="5" name="Shape 3"/>
          <p:cNvSpPr/>
          <p:nvPr/>
        </p:nvSpPr>
        <p:spPr>
          <a:xfrm>
            <a:off x="3476369" y="2514600"/>
            <a:ext cx="536198" cy="2990088"/>
          </a:xfrm>
          <a:prstGeom prst="rect">
            <a:avLst/>
          </a:prstGeom>
          <a:solidFill>
            <a:srgbClr val="F2C14E">
              <a:alpha val="10000"/>
            </a:srgbClr>
          </a:solidFill>
          <a:ln/>
        </p:spPr>
      </p:sp>
      <p:sp>
        <p:nvSpPr>
          <p:cNvPr id="6" name="Shape 4"/>
          <p:cNvSpPr/>
          <p:nvPr/>
        </p:nvSpPr>
        <p:spPr>
          <a:xfrm>
            <a:off x="3476369" y="2514600"/>
            <a:ext cx="0" cy="2990088"/>
          </a:xfrm>
          <a:prstGeom prst="line">
            <a:avLst/>
          </a:prstGeom>
          <a:noFill/>
          <a:ln w="9525">
            <a:solidFill>
              <a:srgbClr val="F2C14E"/>
            </a:solidFill>
            <a:prstDash val="dash"/>
          </a:ln>
        </p:spPr>
      </p:sp>
      <p:sp>
        <p:nvSpPr>
          <p:cNvPr id="7" name="Shape 5"/>
          <p:cNvSpPr/>
          <p:nvPr/>
        </p:nvSpPr>
        <p:spPr>
          <a:xfrm>
            <a:off x="4012567" y="2514600"/>
            <a:ext cx="0" cy="2990088"/>
          </a:xfrm>
          <a:prstGeom prst="line">
            <a:avLst/>
          </a:prstGeom>
          <a:noFill/>
          <a:ln w="9525">
            <a:solidFill>
              <a:srgbClr val="F2C14E"/>
            </a:solidFill>
            <a:prstDash val="dash"/>
          </a:ln>
        </p:spPr>
      </p:sp>
      <p:sp>
        <p:nvSpPr>
          <p:cNvPr id="8" name="Text 6"/>
          <p:cNvSpPr txBox="1"/>
          <p:nvPr/>
        </p:nvSpPr>
        <p:spPr>
          <a:xfrm>
            <a:off x="3293489" y="2258568"/>
            <a:ext cx="2926080" cy="219456"/>
          </a:xfrm>
          <a:prstGeom prst="rect">
            <a:avLst/>
          </a:prstGeom>
          <a:noFill/>
          <a:ln/>
        </p:spPr>
        <p:txBody>
          <a:bodyPr wrap="square" lIns="0" tIns="0" rIns="0" bIns="0" rtlCol="0" anchor="t"/>
          <a:lstStyle/>
          <a:p>
            <a:pPr indent="0" marL="0">
              <a:buNone/>
            </a:pPr>
            <a:r>
              <a:rPr lang="en-US" sz="1050" b="1" dirty="0">
                <a:solidFill>
                  <a:srgbClr val="F2C14E"/>
                </a:solidFill>
                <a:latin typeface="Calibri" pitchFamily="34" charset="0"/>
                <a:ea typeface="Calibri" pitchFamily="34" charset="-122"/>
                <a:cs typeface="Calibri" pitchFamily="34" charset="-120"/>
              </a:rPr>
              <a:t>control re-run: ±21,519 HV</a:t>
            </a:r>
            <a:endParaRPr lang="en-US" sz="1050" dirty="0"/>
          </a:p>
        </p:txBody>
      </p:sp>
      <p:sp>
        <p:nvSpPr>
          <p:cNvPr id="9" name="Shape 7"/>
          <p:cNvSpPr/>
          <p:nvPr/>
        </p:nvSpPr>
        <p:spPr>
          <a:xfrm>
            <a:off x="3744468" y="2514600"/>
            <a:ext cx="0" cy="2990088"/>
          </a:xfrm>
          <a:prstGeom prst="line">
            <a:avLst/>
          </a:prstGeom>
          <a:noFill/>
          <a:ln w="9525">
            <a:solidFill>
              <a:srgbClr val="9AA6B6"/>
            </a:solidFill>
            <a:prstDash val="solid"/>
          </a:ln>
        </p:spPr>
      </p:sp>
      <p:sp>
        <p:nvSpPr>
          <p:cNvPr id="10" name="Text 8"/>
          <p:cNvSpPr txBox="1"/>
          <p:nvPr/>
        </p:nvSpPr>
        <p:spPr>
          <a:xfrm>
            <a:off x="3424428" y="5550408"/>
            <a:ext cx="64008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0</a:t>
            </a:r>
            <a:endParaRPr lang="en-US" sz="1000" dirty="0"/>
          </a:p>
        </p:txBody>
      </p:sp>
      <p:sp>
        <p:nvSpPr>
          <p:cNvPr id="11" name="Text 9"/>
          <p:cNvSpPr txBox="1"/>
          <p:nvPr/>
        </p:nvSpPr>
        <p:spPr>
          <a:xfrm>
            <a:off x="4670298" y="5550408"/>
            <a:ext cx="64008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100k</a:t>
            </a:r>
            <a:endParaRPr lang="en-US" sz="1000" dirty="0"/>
          </a:p>
        </p:txBody>
      </p:sp>
      <p:sp>
        <p:nvSpPr>
          <p:cNvPr id="12" name="Text 10"/>
          <p:cNvSpPr txBox="1"/>
          <p:nvPr/>
        </p:nvSpPr>
        <p:spPr>
          <a:xfrm>
            <a:off x="5916168" y="5550408"/>
            <a:ext cx="64008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200k</a:t>
            </a:r>
            <a:endParaRPr lang="en-US" sz="1000" dirty="0"/>
          </a:p>
        </p:txBody>
      </p:sp>
      <p:sp>
        <p:nvSpPr>
          <p:cNvPr id="13" name="Text 11"/>
          <p:cNvSpPr txBox="1"/>
          <p:nvPr/>
        </p:nvSpPr>
        <p:spPr>
          <a:xfrm>
            <a:off x="7162038" y="5550408"/>
            <a:ext cx="64008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300k</a:t>
            </a:r>
            <a:endParaRPr lang="en-US" sz="1000" dirty="0"/>
          </a:p>
        </p:txBody>
      </p:sp>
      <p:sp>
        <p:nvSpPr>
          <p:cNvPr id="14" name="Text 12"/>
          <p:cNvSpPr txBox="1"/>
          <p:nvPr/>
        </p:nvSpPr>
        <p:spPr>
          <a:xfrm>
            <a:off x="640080" y="2651760"/>
            <a:ext cx="2468880" cy="201168"/>
          </a:xfrm>
          <a:prstGeom prst="rect">
            <a:avLst/>
          </a:prstGeom>
          <a:noFill/>
          <a:ln/>
        </p:spPr>
        <p:txBody>
          <a:bodyPr wrap="square" lIns="0" tIns="0" rIns="0" bIns="0" rtlCol="0" anchor="t"/>
          <a:lstStyle/>
          <a:p>
            <a:pPr indent="0" marL="0">
              <a:buNone/>
            </a:pPr>
            <a:r>
              <a:rPr lang="en-US" sz="1000" b="1" spc="140" kern="0" dirty="0">
                <a:solidFill>
                  <a:srgbClr val="7D8AA0"/>
                </a:solidFill>
                <a:latin typeface="Calibri" pitchFamily="34" charset="0"/>
                <a:ea typeface="Calibri" pitchFamily="34" charset="-122"/>
                <a:cs typeface="Calibri" pitchFamily="34" charset="-120"/>
              </a:rPr>
              <a:t>MOVE POOL</a:t>
            </a:r>
            <a:endParaRPr lang="en-US" sz="1000" dirty="0"/>
          </a:p>
        </p:txBody>
      </p:sp>
      <p:sp>
        <p:nvSpPr>
          <p:cNvPr id="15" name="Text 13"/>
          <p:cNvSpPr txBox="1"/>
          <p:nvPr/>
        </p:nvSpPr>
        <p:spPr>
          <a:xfrm>
            <a:off x="640080" y="2852928"/>
            <a:ext cx="2514600" cy="256032"/>
          </a:xfrm>
          <a:prstGeom prst="rect">
            <a:avLst/>
          </a:prstGeom>
          <a:noFill/>
          <a:ln/>
        </p:spPr>
        <p:txBody>
          <a:bodyPr wrap="square" lIns="0" tIns="0" rIns="0" bIns="0" rtlCol="0" anchor="t"/>
          <a:lstStyle/>
          <a:p>
            <a:pPr indent="0" marL="0">
              <a:buNone/>
            </a:pPr>
            <a:r>
              <a:rPr lang="en-US" sz="1350" dirty="0">
                <a:solidFill>
                  <a:srgbClr val="E8ECF2"/>
                </a:solidFill>
                <a:latin typeface="Calibri" pitchFamily="34" charset="0"/>
                <a:ea typeface="Calibri" pitchFamily="34" charset="-122"/>
                <a:cs typeface="Calibri" pitchFamily="34" charset="-120"/>
              </a:rPr>
              <a:t>bottleneck-aware moves</a:t>
            </a:r>
            <a:endParaRPr lang="en-US" sz="1350" dirty="0"/>
          </a:p>
        </p:txBody>
      </p:sp>
      <p:sp>
        <p:nvSpPr>
          <p:cNvPr id="16" name="Shape 14"/>
          <p:cNvSpPr/>
          <p:nvPr/>
        </p:nvSpPr>
        <p:spPr>
          <a:xfrm>
            <a:off x="3744468" y="2816352"/>
            <a:ext cx="119130" cy="219456"/>
          </a:xfrm>
          <a:prstGeom prst="rect">
            <a:avLst/>
          </a:prstGeom>
          <a:solidFill>
            <a:srgbClr val="9AA6B6">
              <a:alpha val="85000"/>
            </a:srgbClr>
          </a:solidFill>
          <a:ln/>
        </p:spPr>
      </p:sp>
      <p:sp>
        <p:nvSpPr>
          <p:cNvPr id="17" name="Shape 15"/>
          <p:cNvSpPr/>
          <p:nvPr/>
        </p:nvSpPr>
        <p:spPr>
          <a:xfrm>
            <a:off x="3517775" y="2848356"/>
            <a:ext cx="155448" cy="155448"/>
          </a:xfrm>
          <a:prstGeom prst="ellipse">
            <a:avLst/>
          </a:prstGeom>
          <a:ln w="19050">
            <a:solidFill>
              <a:srgbClr val="E8ECF2"/>
            </a:solidFill>
            <a:prstDash val="solid"/>
          </a:ln>
        </p:spPr>
      </p:sp>
      <p:sp>
        <p:nvSpPr>
          <p:cNvPr id="18" name="Text 16"/>
          <p:cNvSpPr txBox="1"/>
          <p:nvPr/>
        </p:nvSpPr>
        <p:spPr>
          <a:xfrm>
            <a:off x="4122295" y="2807208"/>
            <a:ext cx="2011680" cy="237744"/>
          </a:xfrm>
          <a:prstGeom prst="rect">
            <a:avLst/>
          </a:prstGeom>
          <a:noFill/>
          <a:ln/>
        </p:spPr>
        <p:txBody>
          <a:bodyPr wrap="square" lIns="0" tIns="0" rIns="0" bIns="0" rtlCol="0" anchor="t"/>
          <a:lstStyle/>
          <a:p>
            <a:pPr indent="0" marL="0">
              <a:buNone/>
            </a:pPr>
            <a:r>
              <a:rPr lang="en-US" sz="1200" b="1" dirty="0">
                <a:solidFill>
                  <a:srgbClr val="E8ECF2"/>
                </a:solidFill>
                <a:latin typeface="Calibri" pitchFamily="34" charset="0"/>
                <a:ea typeface="Calibri" pitchFamily="34" charset="-122"/>
                <a:cs typeface="Calibri" pitchFamily="34" charset="-120"/>
              </a:rPr>
              <a:t>+9,562  ·  0.4×</a:t>
            </a:r>
            <a:endParaRPr lang="en-US" sz="1200" dirty="0"/>
          </a:p>
        </p:txBody>
      </p:sp>
      <p:sp>
        <p:nvSpPr>
          <p:cNvPr id="19" name="Text 17"/>
          <p:cNvSpPr txBox="1"/>
          <p:nvPr/>
        </p:nvSpPr>
        <p:spPr>
          <a:xfrm>
            <a:off x="640080" y="3364992"/>
            <a:ext cx="2468880" cy="201168"/>
          </a:xfrm>
          <a:prstGeom prst="rect">
            <a:avLst/>
          </a:prstGeom>
          <a:noFill/>
          <a:ln/>
        </p:spPr>
        <p:txBody>
          <a:bodyPr wrap="square" lIns="0" tIns="0" rIns="0" bIns="0" rtlCol="0" anchor="t"/>
          <a:lstStyle/>
          <a:p>
            <a:pPr indent="0" marL="0">
              <a:buNone/>
            </a:pPr>
            <a:r>
              <a:rPr lang="en-US" sz="1000" b="1" spc="140" kern="0" dirty="0">
                <a:solidFill>
                  <a:srgbClr val="7D8AA0"/>
                </a:solidFill>
                <a:latin typeface="Calibri" pitchFamily="34" charset="0"/>
                <a:ea typeface="Calibri" pitchFamily="34" charset="-122"/>
                <a:cs typeface="Calibri" pitchFamily="34" charset="-120"/>
              </a:rPr>
              <a:t>ACCEPTANCE</a:t>
            </a:r>
            <a:endParaRPr lang="en-US" sz="1000" dirty="0"/>
          </a:p>
        </p:txBody>
      </p:sp>
      <p:sp>
        <p:nvSpPr>
          <p:cNvPr id="20" name="Text 18"/>
          <p:cNvSpPr txBox="1"/>
          <p:nvPr/>
        </p:nvSpPr>
        <p:spPr>
          <a:xfrm>
            <a:off x="640080" y="3566160"/>
            <a:ext cx="2514600" cy="256032"/>
          </a:xfrm>
          <a:prstGeom prst="rect">
            <a:avLst/>
          </a:prstGeom>
          <a:noFill/>
          <a:ln/>
        </p:spPr>
        <p:txBody>
          <a:bodyPr wrap="square" lIns="0" tIns="0" rIns="0" bIns="0" rtlCol="0" anchor="t"/>
          <a:lstStyle/>
          <a:p>
            <a:pPr indent="0" marL="0">
              <a:buNone/>
            </a:pPr>
            <a:r>
              <a:rPr lang="en-US" sz="1350" dirty="0">
                <a:solidFill>
                  <a:srgbClr val="E8ECF2"/>
                </a:solidFill>
                <a:latin typeface="Calibri" pitchFamily="34" charset="0"/>
                <a:ea typeface="Calibri" pitchFamily="34" charset="-122"/>
                <a:cs typeface="Calibri" pitchFamily="34" charset="-120"/>
              </a:rPr>
              <a:t>VNS shake ladder</a:t>
            </a:r>
            <a:endParaRPr lang="en-US" sz="1350" dirty="0"/>
          </a:p>
        </p:txBody>
      </p:sp>
      <p:sp>
        <p:nvSpPr>
          <p:cNvPr id="21" name="Shape 19"/>
          <p:cNvSpPr/>
          <p:nvPr/>
        </p:nvSpPr>
        <p:spPr>
          <a:xfrm>
            <a:off x="3744468" y="3529584"/>
            <a:ext cx="244477" cy="219456"/>
          </a:xfrm>
          <a:prstGeom prst="rect">
            <a:avLst/>
          </a:prstGeom>
          <a:solidFill>
            <a:srgbClr val="9AA6B6">
              <a:alpha val="85000"/>
            </a:srgbClr>
          </a:solidFill>
          <a:ln/>
        </p:spPr>
      </p:sp>
      <p:sp>
        <p:nvSpPr>
          <p:cNvPr id="22" name="Shape 20"/>
          <p:cNvSpPr/>
          <p:nvPr/>
        </p:nvSpPr>
        <p:spPr>
          <a:xfrm>
            <a:off x="3643122" y="3561588"/>
            <a:ext cx="155448" cy="155448"/>
          </a:xfrm>
          <a:prstGeom prst="ellipse">
            <a:avLst/>
          </a:prstGeom>
          <a:ln w="19050">
            <a:solidFill>
              <a:srgbClr val="E8ECF2"/>
            </a:solidFill>
            <a:prstDash val="solid"/>
          </a:ln>
        </p:spPr>
      </p:sp>
      <p:sp>
        <p:nvSpPr>
          <p:cNvPr id="23" name="Text 21"/>
          <p:cNvSpPr txBox="1"/>
          <p:nvPr/>
        </p:nvSpPr>
        <p:spPr>
          <a:xfrm>
            <a:off x="4122295" y="3520440"/>
            <a:ext cx="2011680" cy="237744"/>
          </a:xfrm>
          <a:prstGeom prst="rect">
            <a:avLst/>
          </a:prstGeom>
          <a:noFill/>
          <a:ln/>
        </p:spPr>
        <p:txBody>
          <a:bodyPr wrap="square" lIns="0" tIns="0" rIns="0" bIns="0" rtlCol="0" anchor="t"/>
          <a:lstStyle/>
          <a:p>
            <a:pPr indent="0" marL="0">
              <a:buNone/>
            </a:pPr>
            <a:r>
              <a:rPr lang="en-US" sz="1200" b="1" dirty="0">
                <a:solidFill>
                  <a:srgbClr val="E8ECF2"/>
                </a:solidFill>
                <a:latin typeface="Calibri" pitchFamily="34" charset="0"/>
                <a:ea typeface="Calibri" pitchFamily="34" charset="-122"/>
                <a:cs typeface="Calibri" pitchFamily="34" charset="-120"/>
              </a:rPr>
              <a:t>+19,623  ·  0.9×</a:t>
            </a:r>
            <a:endParaRPr lang="en-US" sz="1200" dirty="0"/>
          </a:p>
        </p:txBody>
      </p:sp>
      <p:sp>
        <p:nvSpPr>
          <p:cNvPr id="24" name="Text 22"/>
          <p:cNvSpPr txBox="1"/>
          <p:nvPr/>
        </p:nvSpPr>
        <p:spPr>
          <a:xfrm>
            <a:off x="640080" y="4078224"/>
            <a:ext cx="2468880" cy="201168"/>
          </a:xfrm>
          <a:prstGeom prst="rect">
            <a:avLst/>
          </a:prstGeom>
          <a:noFill/>
          <a:ln/>
        </p:spPr>
        <p:txBody>
          <a:bodyPr wrap="square" lIns="0" tIns="0" rIns="0" bIns="0" rtlCol="0" anchor="t"/>
          <a:lstStyle/>
          <a:p>
            <a:pPr indent="0" marL="0">
              <a:buNone/>
            </a:pPr>
            <a:r>
              <a:rPr lang="en-US" sz="1000" b="1" spc="140" kern="0" dirty="0">
                <a:solidFill>
                  <a:srgbClr val="7D8AA0"/>
                </a:solidFill>
                <a:latin typeface="Calibri" pitchFamily="34" charset="0"/>
                <a:ea typeface="Calibri" pitchFamily="34" charset="-122"/>
                <a:cs typeface="Calibri" pitchFamily="34" charset="-120"/>
              </a:rPr>
              <a:t>ACCEPTANCE</a:t>
            </a:r>
            <a:endParaRPr lang="en-US" sz="1000" dirty="0"/>
          </a:p>
        </p:txBody>
      </p:sp>
      <p:sp>
        <p:nvSpPr>
          <p:cNvPr id="25" name="Text 23"/>
          <p:cNvSpPr txBox="1"/>
          <p:nvPr/>
        </p:nvSpPr>
        <p:spPr>
          <a:xfrm>
            <a:off x="640080" y="4279392"/>
            <a:ext cx="2514600" cy="256032"/>
          </a:xfrm>
          <a:prstGeom prst="rect">
            <a:avLst/>
          </a:prstGeom>
          <a:noFill/>
          <a:ln/>
        </p:spPr>
        <p:txBody>
          <a:bodyPr wrap="square" lIns="0" tIns="0" rIns="0" bIns="0" rtlCol="0" anchor="t"/>
          <a:lstStyle/>
          <a:p>
            <a:pPr indent="0" marL="0">
              <a:buNone/>
            </a:pPr>
            <a:r>
              <a:rPr lang="en-US" sz="1350" dirty="0">
                <a:solidFill>
                  <a:srgbClr val="E8ECF2"/>
                </a:solidFill>
                <a:latin typeface="Calibri" pitchFamily="34" charset="0"/>
                <a:ea typeface="Calibri" pitchFamily="34" charset="-122"/>
                <a:cs typeface="Calibri" pitchFamily="34" charset="-120"/>
              </a:rPr>
              <a:t>simulated annealing</a:t>
            </a:r>
            <a:endParaRPr lang="en-US" sz="1350" dirty="0"/>
          </a:p>
        </p:txBody>
      </p:sp>
      <p:sp>
        <p:nvSpPr>
          <p:cNvPr id="26" name="Shape 24"/>
          <p:cNvSpPr/>
          <p:nvPr/>
        </p:nvSpPr>
        <p:spPr>
          <a:xfrm>
            <a:off x="3744468" y="4242816"/>
            <a:ext cx="529096" cy="219456"/>
          </a:xfrm>
          <a:prstGeom prst="rect">
            <a:avLst/>
          </a:prstGeom>
          <a:solidFill>
            <a:srgbClr val="9AA6B6">
              <a:alpha val="85000"/>
            </a:srgbClr>
          </a:solidFill>
          <a:ln/>
        </p:spPr>
      </p:sp>
      <p:sp>
        <p:nvSpPr>
          <p:cNvPr id="27" name="Shape 25"/>
          <p:cNvSpPr/>
          <p:nvPr/>
        </p:nvSpPr>
        <p:spPr>
          <a:xfrm>
            <a:off x="3927741" y="4274820"/>
            <a:ext cx="155448" cy="155448"/>
          </a:xfrm>
          <a:prstGeom prst="ellipse">
            <a:avLst/>
          </a:prstGeom>
          <a:ln w="19050">
            <a:solidFill>
              <a:srgbClr val="E8ECF2"/>
            </a:solidFill>
            <a:prstDash val="solid"/>
          </a:ln>
        </p:spPr>
      </p:sp>
      <p:sp>
        <p:nvSpPr>
          <p:cNvPr id="28" name="Text 26"/>
          <p:cNvSpPr txBox="1"/>
          <p:nvPr/>
        </p:nvSpPr>
        <p:spPr>
          <a:xfrm>
            <a:off x="4383292" y="4233672"/>
            <a:ext cx="2011680" cy="237744"/>
          </a:xfrm>
          <a:prstGeom prst="rect">
            <a:avLst/>
          </a:prstGeom>
          <a:noFill/>
          <a:ln/>
        </p:spPr>
        <p:txBody>
          <a:bodyPr wrap="square" lIns="0" tIns="0" rIns="0" bIns="0" rtlCol="0" anchor="t"/>
          <a:lstStyle/>
          <a:p>
            <a:pPr indent="0" marL="0">
              <a:buNone/>
            </a:pPr>
            <a:r>
              <a:rPr lang="en-US" sz="1200" b="1" dirty="0">
                <a:solidFill>
                  <a:srgbClr val="E8ECF2"/>
                </a:solidFill>
                <a:latin typeface="Calibri" pitchFamily="34" charset="0"/>
                <a:ea typeface="Calibri" pitchFamily="34" charset="-122"/>
                <a:cs typeface="Calibri" pitchFamily="34" charset="-120"/>
              </a:rPr>
              <a:t>+42,468  ·  2.0×</a:t>
            </a:r>
            <a:endParaRPr lang="en-US" sz="1200" dirty="0"/>
          </a:p>
        </p:txBody>
      </p:sp>
      <p:sp>
        <p:nvSpPr>
          <p:cNvPr id="29" name="Text 27"/>
          <p:cNvSpPr txBox="1"/>
          <p:nvPr/>
        </p:nvSpPr>
        <p:spPr>
          <a:xfrm>
            <a:off x="640080" y="4791456"/>
            <a:ext cx="2468880" cy="201168"/>
          </a:xfrm>
          <a:prstGeom prst="rect">
            <a:avLst/>
          </a:prstGeom>
          <a:noFill/>
          <a:ln/>
        </p:spPr>
        <p:txBody>
          <a:bodyPr wrap="square" lIns="0" tIns="0" rIns="0" bIns="0" rtlCol="0" anchor="t"/>
          <a:lstStyle/>
          <a:p>
            <a:pPr indent="0" marL="0">
              <a:buNone/>
            </a:pPr>
            <a:r>
              <a:rPr lang="en-US" sz="1000" b="1" spc="140" kern="0" dirty="0">
                <a:solidFill>
                  <a:srgbClr val="7D8AA0"/>
                </a:solidFill>
                <a:latin typeface="Calibri" pitchFamily="34" charset="0"/>
                <a:ea typeface="Calibri" pitchFamily="34" charset="-122"/>
                <a:cs typeface="Calibri" pitchFamily="34" charset="-120"/>
              </a:rPr>
              <a:t>CONSTRUCTION</a:t>
            </a:r>
            <a:endParaRPr lang="en-US" sz="1000" dirty="0"/>
          </a:p>
        </p:txBody>
      </p:sp>
      <p:sp>
        <p:nvSpPr>
          <p:cNvPr id="30" name="Text 28"/>
          <p:cNvSpPr txBox="1"/>
          <p:nvPr/>
        </p:nvSpPr>
        <p:spPr>
          <a:xfrm>
            <a:off x="640080" y="4992624"/>
            <a:ext cx="2514600" cy="256032"/>
          </a:xfrm>
          <a:prstGeom prst="rect">
            <a:avLst/>
          </a:prstGeom>
          <a:noFill/>
          <a:ln/>
        </p:spPr>
        <p:txBody>
          <a:bodyPr wrap="square" lIns="0" tIns="0" rIns="0" bIns="0" rtlCol="0" anchor="t"/>
          <a:lstStyle/>
          <a:p>
            <a:pPr indent="0" marL="0">
              <a:buNone/>
            </a:pPr>
            <a:r>
              <a:rPr lang="en-US" sz="1350" dirty="0">
                <a:solidFill>
                  <a:srgbClr val="E8ECF2"/>
                </a:solidFill>
                <a:latin typeface="Calibri" pitchFamily="34" charset="0"/>
                <a:ea typeface="Calibri" pitchFamily="34" charset="-122"/>
                <a:cs typeface="Calibri" pitchFamily="34" charset="-120"/>
              </a:rPr>
              <a:t>GRASP, randomised</a:t>
            </a:r>
            <a:endParaRPr lang="en-US" sz="1350" dirty="0"/>
          </a:p>
        </p:txBody>
      </p:sp>
      <p:sp>
        <p:nvSpPr>
          <p:cNvPr id="31" name="Shape 29"/>
          <p:cNvSpPr/>
          <p:nvPr/>
        </p:nvSpPr>
        <p:spPr>
          <a:xfrm>
            <a:off x="3744468" y="4956048"/>
            <a:ext cx="4251693" cy="219456"/>
          </a:xfrm>
          <a:prstGeom prst="rect">
            <a:avLst/>
          </a:prstGeom>
          <a:solidFill>
            <a:srgbClr val="3DDC97"/>
          </a:solidFill>
          <a:ln/>
        </p:spPr>
      </p:sp>
      <p:sp>
        <p:nvSpPr>
          <p:cNvPr id="32" name="Shape 30"/>
          <p:cNvSpPr/>
          <p:nvPr/>
        </p:nvSpPr>
        <p:spPr>
          <a:xfrm>
            <a:off x="7650339" y="4988052"/>
            <a:ext cx="155448" cy="155448"/>
          </a:xfrm>
          <a:prstGeom prst="ellipse">
            <a:avLst/>
          </a:prstGeom>
          <a:ln w="19050">
            <a:solidFill>
              <a:srgbClr val="0B0F17"/>
            </a:solidFill>
            <a:prstDash val="solid"/>
          </a:ln>
        </p:spPr>
      </p:sp>
      <p:sp>
        <p:nvSpPr>
          <p:cNvPr id="33" name="Text 31"/>
          <p:cNvSpPr txBox="1"/>
          <p:nvPr/>
        </p:nvSpPr>
        <p:spPr>
          <a:xfrm>
            <a:off x="5442063" y="4946904"/>
            <a:ext cx="2103120" cy="237744"/>
          </a:xfrm>
          <a:prstGeom prst="rect">
            <a:avLst/>
          </a:prstGeom>
          <a:noFill/>
          <a:ln/>
        </p:spPr>
        <p:txBody>
          <a:bodyPr wrap="square" lIns="0" tIns="0" rIns="0" bIns="0" rtlCol="0" anchor="t"/>
          <a:lstStyle/>
          <a:p>
            <a:pPr algn="r" indent="0" marL="0">
              <a:buNone/>
            </a:pPr>
            <a:r>
              <a:rPr lang="en-US" sz="1200" b="1" dirty="0">
                <a:solidFill>
                  <a:srgbClr val="0B0F17"/>
                </a:solidFill>
                <a:latin typeface="Calibri" pitchFamily="34" charset="0"/>
                <a:ea typeface="Calibri" pitchFamily="34" charset="-122"/>
                <a:cs typeface="Calibri" pitchFamily="34" charset="-120"/>
              </a:rPr>
              <a:t>+341,263  ·  15.9×</a:t>
            </a:r>
            <a:endParaRPr lang="en-US" sz="1200" dirty="0"/>
          </a:p>
        </p:txBody>
      </p:sp>
      <p:sp>
        <p:nvSpPr>
          <p:cNvPr id="34" name="Shape 32"/>
          <p:cNvSpPr/>
          <p:nvPr/>
        </p:nvSpPr>
        <p:spPr>
          <a:xfrm>
            <a:off x="3246120" y="5925312"/>
            <a:ext cx="274320" cy="118872"/>
          </a:xfrm>
          <a:prstGeom prst="rect">
            <a:avLst/>
          </a:prstGeom>
          <a:solidFill>
            <a:srgbClr val="9AA6B6"/>
          </a:solidFill>
          <a:ln/>
        </p:spPr>
      </p:sp>
      <p:sp>
        <p:nvSpPr>
          <p:cNvPr id="35" name="Text 33"/>
          <p:cNvSpPr txBox="1"/>
          <p:nvPr/>
        </p:nvSpPr>
        <p:spPr>
          <a:xfrm>
            <a:off x="3593592" y="5870448"/>
            <a:ext cx="1737360" cy="219456"/>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gain over the control</a:t>
            </a:r>
            <a:endParaRPr lang="en-US" sz="1050" dirty="0"/>
          </a:p>
        </p:txBody>
      </p:sp>
      <p:sp>
        <p:nvSpPr>
          <p:cNvPr id="36" name="Shape 34"/>
          <p:cNvSpPr/>
          <p:nvPr/>
        </p:nvSpPr>
        <p:spPr>
          <a:xfrm>
            <a:off x="5330952" y="5916168"/>
            <a:ext cx="128016" cy="128016"/>
          </a:xfrm>
          <a:prstGeom prst="ellipse">
            <a:avLst/>
          </a:prstGeom>
          <a:ln w="15875">
            <a:solidFill>
              <a:srgbClr val="E8ECF2"/>
            </a:solidFill>
            <a:prstDash val="solid"/>
          </a:ln>
        </p:spPr>
      </p:sp>
      <p:sp>
        <p:nvSpPr>
          <p:cNvPr id="37" name="Text 35"/>
          <p:cNvSpPr txBox="1"/>
          <p:nvPr/>
        </p:nvSpPr>
        <p:spPr>
          <a:xfrm>
            <a:off x="5532120" y="5870448"/>
            <a:ext cx="2926080" cy="365760"/>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the same arm against the control’s other session</a:t>
            </a:r>
            <a:endParaRPr lang="en-US" sz="1050" dirty="0"/>
          </a:p>
        </p:txBody>
      </p:sp>
      <p:sp>
        <p:nvSpPr>
          <p:cNvPr id="38" name="Text 36"/>
          <p:cNvSpPr txBox="1"/>
          <p:nvPr/>
        </p:nvSpPr>
        <p:spPr>
          <a:xfrm>
            <a:off x="8823960" y="2514600"/>
            <a:ext cx="2727655" cy="411480"/>
          </a:xfrm>
          <a:prstGeom prst="rect">
            <a:avLst/>
          </a:prstGeom>
          <a:noFill/>
          <a:ln/>
        </p:spPr>
        <p:txBody>
          <a:bodyPr wrap="square" lIns="0" tIns="0" rIns="0" bIns="0" rtlCol="0" anchor="t"/>
          <a:lstStyle/>
          <a:p>
            <a:pPr indent="0" marL="0">
              <a:buNone/>
            </a:pPr>
            <a:r>
              <a:rPr lang="en-US" sz="1050" b="1" spc="160" kern="0" dirty="0">
                <a:solidFill>
                  <a:srgbClr val="9AA6B6"/>
                </a:solidFill>
                <a:latin typeface="Calibri" pitchFamily="34" charset="0"/>
                <a:ea typeface="Calibri" pitchFamily="34" charset="-122"/>
                <a:cs typeface="Calibri" pitchFamily="34" charset="-120"/>
              </a:rPr>
              <a:t>WHERE THE EFFECT LIVES</a:t>
            </a:r>
            <a:endParaRPr lang="en-US" sz="1050" dirty="0"/>
          </a:p>
        </p:txBody>
      </p:sp>
      <p:sp>
        <p:nvSpPr>
          <p:cNvPr id="39" name="Text 37"/>
          <p:cNvSpPr txBox="1"/>
          <p:nvPr/>
        </p:nvSpPr>
        <p:spPr>
          <a:xfrm>
            <a:off x="8823960" y="2971800"/>
            <a:ext cx="2727655" cy="457200"/>
          </a:xfrm>
          <a:prstGeom prst="rect">
            <a:avLst/>
          </a:prstGeom>
          <a:noFill/>
          <a:ln/>
        </p:spPr>
        <p:txBody>
          <a:bodyPr wrap="square" lIns="0" tIns="0" rIns="0" bIns="0" rtlCol="0" anchor="t"/>
          <a:lstStyle/>
          <a:p>
            <a:pPr indent="0" marL="0">
              <a:buNone/>
            </a:pPr>
            <a:r>
              <a:rPr lang="en-US" sz="2500" dirty="0">
                <a:solidFill>
                  <a:srgbClr val="3DDC97"/>
                </a:solidFill>
                <a:latin typeface="Century Schoolbook" pitchFamily="34" charset="0"/>
                <a:ea typeface="Century Schoolbook" pitchFamily="34" charset="-122"/>
                <a:cs typeface="Century Schoolbook" pitchFamily="34" charset="-120"/>
              </a:rPr>
              <a:t>+343,623 HV</a:t>
            </a:r>
            <a:endParaRPr lang="en-US" sz="2500" dirty="0"/>
          </a:p>
        </p:txBody>
      </p:sp>
      <p:sp>
        <p:nvSpPr>
          <p:cNvPr id="40" name="Text 38"/>
          <p:cNvSpPr txBox="1"/>
          <p:nvPr/>
        </p:nvSpPr>
        <p:spPr>
          <a:xfrm>
            <a:off x="8823960" y="3456432"/>
            <a:ext cx="2727655" cy="274320"/>
          </a:xfrm>
          <a:prstGeom prst="rect">
            <a:avLst/>
          </a:prstGeom>
          <a:noFill/>
          <a:ln/>
        </p:spPr>
        <p:txBody>
          <a:bodyPr wrap="square" lIns="0" tIns="0" rIns="0" bIns="0" rtlCol="0" anchor="t"/>
          <a:lstStyle/>
          <a:p>
            <a:pPr indent="0" marL="0">
              <a:buNone/>
            </a:pPr>
            <a:r>
              <a:rPr lang="en-US" sz="1250" dirty="0">
                <a:solidFill>
                  <a:srgbClr val="9AA6B6"/>
                </a:solidFill>
                <a:latin typeface="Calibri" pitchFamily="34" charset="0"/>
                <a:ea typeface="Calibri" pitchFamily="34" charset="-122"/>
                <a:cs typeface="Calibri" pitchFamily="34" charset="-120"/>
              </a:rPr>
              <a:t>on the three dense instances</a:t>
            </a:r>
            <a:endParaRPr lang="en-US" sz="1250" dirty="0"/>
          </a:p>
        </p:txBody>
      </p:sp>
      <p:sp>
        <p:nvSpPr>
          <p:cNvPr id="41" name="Text 39"/>
          <p:cNvSpPr txBox="1"/>
          <p:nvPr/>
        </p:nvSpPr>
        <p:spPr>
          <a:xfrm>
            <a:off x="8823960" y="3931920"/>
            <a:ext cx="2727655" cy="457200"/>
          </a:xfrm>
          <a:prstGeom prst="rect">
            <a:avLst/>
          </a:prstGeom>
          <a:noFill/>
          <a:ln/>
        </p:spPr>
        <p:txBody>
          <a:bodyPr wrap="square" lIns="0" tIns="0" rIns="0" bIns="0" rtlCol="0" anchor="t"/>
          <a:lstStyle/>
          <a:p>
            <a:pPr indent="0" marL="0">
              <a:buNone/>
            </a:pPr>
            <a:r>
              <a:rPr lang="en-US" sz="2500" dirty="0">
                <a:solidFill>
                  <a:srgbClr val="FF5A60"/>
                </a:solidFill>
                <a:latin typeface="Century Schoolbook" pitchFamily="34" charset="0"/>
                <a:ea typeface="Century Schoolbook" pitchFamily="34" charset="-122"/>
                <a:cs typeface="Century Schoolbook" pitchFamily="34" charset="-120"/>
              </a:rPr>
              <a:t>−2,360 HV</a:t>
            </a:r>
            <a:endParaRPr lang="en-US" sz="2500" dirty="0"/>
          </a:p>
        </p:txBody>
      </p:sp>
      <p:sp>
        <p:nvSpPr>
          <p:cNvPr id="42" name="Text 40"/>
          <p:cNvSpPr txBox="1"/>
          <p:nvPr/>
        </p:nvSpPr>
        <p:spPr>
          <a:xfrm>
            <a:off x="8823960" y="4416552"/>
            <a:ext cx="2727655" cy="274320"/>
          </a:xfrm>
          <a:prstGeom prst="rect">
            <a:avLst/>
          </a:prstGeom>
          <a:noFill/>
          <a:ln/>
        </p:spPr>
        <p:txBody>
          <a:bodyPr wrap="square" lIns="0" tIns="0" rIns="0" bIns="0" rtlCol="0" anchor="t"/>
          <a:lstStyle/>
          <a:p>
            <a:pPr indent="0" marL="0">
              <a:buNone/>
            </a:pPr>
            <a:r>
              <a:rPr lang="en-US" sz="1250" dirty="0">
                <a:solidFill>
                  <a:srgbClr val="9AA6B6"/>
                </a:solidFill>
                <a:latin typeface="Calibri" pitchFamily="34" charset="0"/>
                <a:ea typeface="Calibri" pitchFamily="34" charset="-122"/>
                <a:cs typeface="Calibri" pitchFamily="34" charset="-120"/>
              </a:rPr>
              <a:t>on the other seven</a:t>
            </a:r>
            <a:endParaRPr lang="en-US" sz="1250" dirty="0"/>
          </a:p>
        </p:txBody>
      </p:sp>
      <p:sp>
        <p:nvSpPr>
          <p:cNvPr id="43" name="Text 41"/>
          <p:cNvSpPr txBox="1"/>
          <p:nvPr/>
        </p:nvSpPr>
        <p:spPr>
          <a:xfrm>
            <a:off x="8823960" y="4983480"/>
            <a:ext cx="2727655" cy="1097280"/>
          </a:xfrm>
          <a:prstGeom prst="rect">
            <a:avLst/>
          </a:prstGeom>
          <a:noFill/>
          <a:ln/>
        </p:spPr>
        <p:txBody>
          <a:bodyPr wrap="square" lIns="0" tIns="0" rIns="0" bIns="0" rtlCol="0" anchor="t"/>
          <a:lstStyle/>
          <a:p>
            <a:pPr indent="0" marL="0">
              <a:buNone/>
            </a:pPr>
            <a:r>
              <a:rPr lang="en-US" sz="1400" i="1" dirty="0">
                <a:solidFill>
                  <a:srgbClr val="E8ECF2"/>
                </a:solidFill>
                <a:latin typeface="Century Schoolbook" pitchFamily="34" charset="0"/>
                <a:ea typeface="Century Schoolbook" pitchFamily="34" charset="-122"/>
                <a:cs typeface="Century Schoolbook" pitchFamily="34" charset="-120"/>
              </a:rPr>
              <a:t>A ten-instance total made on three dense graphs is a result about dense graphs.</a:t>
            </a:r>
            <a:endParaRPr lang="en-US" sz="140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V · WHAT DOES THE WORK</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Seventeen move operators, nothing to climb</a:t>
            </a:r>
            <a:endParaRPr lang="en-US" sz="2700" dirty="0"/>
          </a:p>
        </p:txBody>
      </p:sp>
      <p:sp>
        <p:nvSpPr>
          <p:cNvPr id="4" name="Text 2"/>
          <p:cNvSpPr txBox="1"/>
          <p:nvPr/>
        </p:nvSpPr>
        <p:spPr>
          <a:xfrm>
            <a:off x="640080" y="1737360"/>
            <a:ext cx="10911535" cy="566928"/>
          </a:xfrm>
          <a:prstGeom prst="rect">
            <a:avLst/>
          </a:prstGeom>
          <a:noFill/>
          <a:ln/>
        </p:spPr>
        <p:txBody>
          <a:bodyPr wrap="square" lIns="0" tIns="0" rIns="0" bIns="0" rtlCol="0" anchor="t"/>
          <a:lstStyle/>
          <a:p>
            <a:pPr indent="0" marL="0">
              <a:buNone/>
            </a:pPr>
            <a:r>
              <a:rPr lang="en-US" sz="1500" dirty="0">
                <a:solidFill>
                  <a:srgbClr val="9AA6B6"/>
                </a:solidFill>
                <a:latin typeface="Calibri" pitchFamily="34" charset="0"/>
                <a:ea typeface="Calibri" pitchFamily="34" charset="-122"/>
                <a:cs typeface="Calibri" pitchFamily="34" charset="-120"/>
              </a:rPr>
              <a:t>Thirteen new operators in five families, each run alone against the four-operator control, plus all seventeen competing for one budget.</a:t>
            </a:r>
            <a:endParaRPr lang="en-US" sz="1500" dirty="0"/>
          </a:p>
        </p:txBody>
      </p:sp>
      <p:sp>
        <p:nvSpPr>
          <p:cNvPr id="5" name="Shape 3"/>
          <p:cNvSpPr/>
          <p:nvPr/>
        </p:nvSpPr>
        <p:spPr>
          <a:xfrm>
            <a:off x="4101399" y="2487168"/>
            <a:ext cx="3269405" cy="3355848"/>
          </a:xfrm>
          <a:prstGeom prst="rect">
            <a:avLst/>
          </a:prstGeom>
          <a:solidFill>
            <a:srgbClr val="F2C14E">
              <a:alpha val="10000"/>
            </a:srgbClr>
          </a:solidFill>
          <a:ln/>
        </p:spPr>
      </p:sp>
      <p:sp>
        <p:nvSpPr>
          <p:cNvPr id="6" name="Shape 4"/>
          <p:cNvSpPr/>
          <p:nvPr/>
        </p:nvSpPr>
        <p:spPr>
          <a:xfrm>
            <a:off x="4101399" y="2487168"/>
            <a:ext cx="0" cy="3355848"/>
          </a:xfrm>
          <a:prstGeom prst="line">
            <a:avLst/>
          </a:prstGeom>
          <a:noFill/>
          <a:ln w="9525">
            <a:solidFill>
              <a:srgbClr val="F2C14E"/>
            </a:solidFill>
            <a:prstDash val="dash"/>
          </a:ln>
        </p:spPr>
      </p:sp>
      <p:sp>
        <p:nvSpPr>
          <p:cNvPr id="7" name="Shape 5"/>
          <p:cNvSpPr/>
          <p:nvPr/>
        </p:nvSpPr>
        <p:spPr>
          <a:xfrm>
            <a:off x="7370804" y="2487168"/>
            <a:ext cx="0" cy="3355848"/>
          </a:xfrm>
          <a:prstGeom prst="line">
            <a:avLst/>
          </a:prstGeom>
          <a:noFill/>
          <a:ln w="9525">
            <a:solidFill>
              <a:srgbClr val="F2C14E"/>
            </a:solidFill>
            <a:prstDash val="dash"/>
          </a:ln>
        </p:spPr>
      </p:sp>
      <p:sp>
        <p:nvSpPr>
          <p:cNvPr id="8" name="Text 6"/>
          <p:cNvSpPr txBox="1"/>
          <p:nvPr/>
        </p:nvSpPr>
        <p:spPr>
          <a:xfrm>
            <a:off x="4101399" y="2231136"/>
            <a:ext cx="2743200" cy="219456"/>
          </a:xfrm>
          <a:prstGeom prst="rect">
            <a:avLst/>
          </a:prstGeom>
          <a:noFill/>
          <a:ln/>
        </p:spPr>
        <p:txBody>
          <a:bodyPr wrap="square" lIns="0" tIns="0" rIns="0" bIns="0" rtlCol="0" anchor="t"/>
          <a:lstStyle/>
          <a:p>
            <a:pPr indent="0" marL="0">
              <a:buNone/>
            </a:pPr>
            <a:r>
              <a:rPr lang="en-US" sz="1050" b="1" dirty="0">
                <a:solidFill>
                  <a:srgbClr val="F2C14E"/>
                </a:solidFill>
                <a:latin typeface="Calibri" pitchFamily="34" charset="0"/>
                <a:ea typeface="Calibri" pitchFamily="34" charset="-122"/>
                <a:cs typeface="Calibri" pitchFamily="34" charset="-120"/>
              </a:rPr>
              <a:t>control re-run  ±21,519 HV</a:t>
            </a:r>
            <a:endParaRPr lang="en-US" sz="1050" dirty="0"/>
          </a:p>
        </p:txBody>
      </p:sp>
      <p:sp>
        <p:nvSpPr>
          <p:cNvPr id="9" name="Shape 7"/>
          <p:cNvSpPr/>
          <p:nvPr/>
        </p:nvSpPr>
        <p:spPr>
          <a:xfrm>
            <a:off x="5736102" y="2487168"/>
            <a:ext cx="0" cy="3337560"/>
          </a:xfrm>
          <a:prstGeom prst="line">
            <a:avLst/>
          </a:prstGeom>
          <a:noFill/>
          <a:ln w="9525">
            <a:solidFill>
              <a:srgbClr val="9AA6B6"/>
            </a:solidFill>
            <a:prstDash val="solid"/>
          </a:ln>
        </p:spPr>
      </p:sp>
      <p:sp>
        <p:nvSpPr>
          <p:cNvPr id="10" name="Text 8"/>
          <p:cNvSpPr txBox="1"/>
          <p:nvPr/>
        </p:nvSpPr>
        <p:spPr>
          <a:xfrm>
            <a:off x="640080" y="2571750"/>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k_opt_aimed</a:t>
            </a:r>
            <a:endParaRPr lang="en-US" sz="1050" dirty="0"/>
          </a:p>
        </p:txBody>
      </p:sp>
      <p:sp>
        <p:nvSpPr>
          <p:cNvPr id="11" name="Shape 9"/>
          <p:cNvSpPr/>
          <p:nvPr/>
        </p:nvSpPr>
        <p:spPr>
          <a:xfrm>
            <a:off x="4965203" y="2676906"/>
            <a:ext cx="1634702" cy="0"/>
          </a:xfrm>
          <a:prstGeom prst="line">
            <a:avLst/>
          </a:prstGeom>
          <a:noFill/>
          <a:ln w="9525">
            <a:solidFill>
              <a:srgbClr val="7D8AA0"/>
            </a:solidFill>
            <a:prstDash val="solid"/>
          </a:ln>
        </p:spPr>
      </p:sp>
      <p:sp>
        <p:nvSpPr>
          <p:cNvPr id="12" name="Shape 10"/>
          <p:cNvSpPr/>
          <p:nvPr/>
        </p:nvSpPr>
        <p:spPr>
          <a:xfrm>
            <a:off x="4910339" y="2622042"/>
            <a:ext cx="109728" cy="109728"/>
          </a:xfrm>
          <a:prstGeom prst="ellipse">
            <a:avLst/>
          </a:prstGeom>
          <a:ln w="13970">
            <a:solidFill>
              <a:srgbClr val="E8ECF2"/>
            </a:solidFill>
            <a:prstDash val="solid"/>
          </a:ln>
        </p:spPr>
      </p:sp>
      <p:sp>
        <p:nvSpPr>
          <p:cNvPr id="13" name="Shape 11"/>
          <p:cNvSpPr/>
          <p:nvPr/>
        </p:nvSpPr>
        <p:spPr>
          <a:xfrm>
            <a:off x="6540470" y="2617470"/>
            <a:ext cx="118872" cy="118872"/>
          </a:xfrm>
          <a:prstGeom prst="ellipse">
            <a:avLst/>
          </a:prstGeom>
          <a:solidFill>
            <a:srgbClr val="4DA3FF"/>
          </a:solidFill>
          <a:ln/>
        </p:spPr>
      </p:sp>
      <p:sp>
        <p:nvSpPr>
          <p:cNvPr id="14" name="Text 12"/>
          <p:cNvSpPr txBox="1"/>
          <p:nvPr/>
        </p:nvSpPr>
        <p:spPr>
          <a:xfrm>
            <a:off x="640080" y="2804922"/>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three_opt</a:t>
            </a:r>
            <a:endParaRPr lang="en-US" sz="1050" dirty="0"/>
          </a:p>
        </p:txBody>
      </p:sp>
      <p:sp>
        <p:nvSpPr>
          <p:cNvPr id="15" name="Shape 13"/>
          <p:cNvSpPr/>
          <p:nvPr/>
        </p:nvSpPr>
        <p:spPr>
          <a:xfrm>
            <a:off x="4394854" y="2910078"/>
            <a:ext cx="1634702" cy="0"/>
          </a:xfrm>
          <a:prstGeom prst="line">
            <a:avLst/>
          </a:prstGeom>
          <a:noFill/>
          <a:ln w="9525">
            <a:solidFill>
              <a:srgbClr val="7D8AA0"/>
            </a:solidFill>
            <a:prstDash val="solid"/>
          </a:ln>
        </p:spPr>
      </p:sp>
      <p:sp>
        <p:nvSpPr>
          <p:cNvPr id="16" name="Shape 14"/>
          <p:cNvSpPr/>
          <p:nvPr/>
        </p:nvSpPr>
        <p:spPr>
          <a:xfrm>
            <a:off x="4339990" y="2855214"/>
            <a:ext cx="109728" cy="109728"/>
          </a:xfrm>
          <a:prstGeom prst="ellipse">
            <a:avLst/>
          </a:prstGeom>
          <a:ln w="13970">
            <a:solidFill>
              <a:srgbClr val="E8ECF2"/>
            </a:solidFill>
            <a:prstDash val="solid"/>
          </a:ln>
        </p:spPr>
      </p:sp>
      <p:sp>
        <p:nvSpPr>
          <p:cNvPr id="17" name="Shape 15"/>
          <p:cNvSpPr/>
          <p:nvPr/>
        </p:nvSpPr>
        <p:spPr>
          <a:xfrm>
            <a:off x="5970120" y="2850642"/>
            <a:ext cx="118872" cy="118872"/>
          </a:xfrm>
          <a:prstGeom prst="ellipse">
            <a:avLst/>
          </a:prstGeom>
          <a:solidFill>
            <a:srgbClr val="4DA3FF"/>
          </a:solidFill>
          <a:ln/>
        </p:spPr>
      </p:sp>
      <p:sp>
        <p:nvSpPr>
          <p:cNvPr id="18" name="Text 16"/>
          <p:cNvSpPr txBox="1"/>
          <p:nvPr/>
        </p:nvSpPr>
        <p:spPr>
          <a:xfrm>
            <a:off x="640080" y="3038094"/>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corner_shuffle</a:t>
            </a:r>
            <a:endParaRPr lang="en-US" sz="1050" dirty="0"/>
          </a:p>
        </p:txBody>
      </p:sp>
      <p:sp>
        <p:nvSpPr>
          <p:cNvPr id="19" name="Shape 17"/>
          <p:cNvSpPr/>
          <p:nvPr/>
        </p:nvSpPr>
        <p:spPr>
          <a:xfrm>
            <a:off x="4374571" y="3143250"/>
            <a:ext cx="1634702" cy="0"/>
          </a:xfrm>
          <a:prstGeom prst="line">
            <a:avLst/>
          </a:prstGeom>
          <a:noFill/>
          <a:ln w="9525">
            <a:solidFill>
              <a:srgbClr val="7D8AA0"/>
            </a:solidFill>
            <a:prstDash val="solid"/>
          </a:ln>
        </p:spPr>
      </p:sp>
      <p:sp>
        <p:nvSpPr>
          <p:cNvPr id="20" name="Shape 18"/>
          <p:cNvSpPr/>
          <p:nvPr/>
        </p:nvSpPr>
        <p:spPr>
          <a:xfrm>
            <a:off x="4319707" y="3088386"/>
            <a:ext cx="109728" cy="109728"/>
          </a:xfrm>
          <a:prstGeom prst="ellipse">
            <a:avLst/>
          </a:prstGeom>
          <a:ln w="13970">
            <a:solidFill>
              <a:srgbClr val="E8ECF2"/>
            </a:solidFill>
            <a:prstDash val="solid"/>
          </a:ln>
        </p:spPr>
      </p:sp>
      <p:sp>
        <p:nvSpPr>
          <p:cNvPr id="21" name="Shape 19"/>
          <p:cNvSpPr/>
          <p:nvPr/>
        </p:nvSpPr>
        <p:spPr>
          <a:xfrm>
            <a:off x="5949838" y="3083814"/>
            <a:ext cx="118872" cy="118872"/>
          </a:xfrm>
          <a:prstGeom prst="ellipse">
            <a:avLst/>
          </a:prstGeom>
          <a:solidFill>
            <a:srgbClr val="4DA3FF"/>
          </a:solidFill>
          <a:ln/>
        </p:spPr>
      </p:sp>
      <p:sp>
        <p:nvSpPr>
          <p:cNvPr id="22" name="Text 20"/>
          <p:cNvSpPr txBox="1"/>
          <p:nvPr/>
        </p:nvSpPr>
        <p:spPr>
          <a:xfrm>
            <a:off x="640080" y="3271266"/>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or_opt</a:t>
            </a:r>
            <a:endParaRPr lang="en-US" sz="1050" dirty="0"/>
          </a:p>
        </p:txBody>
      </p:sp>
      <p:sp>
        <p:nvSpPr>
          <p:cNvPr id="23" name="Shape 21"/>
          <p:cNvSpPr/>
          <p:nvPr/>
        </p:nvSpPr>
        <p:spPr>
          <a:xfrm>
            <a:off x="4332334" y="3376422"/>
            <a:ext cx="1634702" cy="0"/>
          </a:xfrm>
          <a:prstGeom prst="line">
            <a:avLst/>
          </a:prstGeom>
          <a:noFill/>
          <a:ln w="9525">
            <a:solidFill>
              <a:srgbClr val="7D8AA0"/>
            </a:solidFill>
            <a:prstDash val="solid"/>
          </a:ln>
        </p:spPr>
      </p:sp>
      <p:sp>
        <p:nvSpPr>
          <p:cNvPr id="24" name="Shape 22"/>
          <p:cNvSpPr/>
          <p:nvPr/>
        </p:nvSpPr>
        <p:spPr>
          <a:xfrm>
            <a:off x="4277470" y="3321558"/>
            <a:ext cx="109728" cy="109728"/>
          </a:xfrm>
          <a:prstGeom prst="ellipse">
            <a:avLst/>
          </a:prstGeom>
          <a:ln w="13970">
            <a:solidFill>
              <a:srgbClr val="E8ECF2"/>
            </a:solidFill>
            <a:prstDash val="solid"/>
          </a:ln>
        </p:spPr>
      </p:sp>
      <p:sp>
        <p:nvSpPr>
          <p:cNvPr id="25" name="Shape 23"/>
          <p:cNvSpPr/>
          <p:nvPr/>
        </p:nvSpPr>
        <p:spPr>
          <a:xfrm>
            <a:off x="5907601" y="3316986"/>
            <a:ext cx="118872" cy="118872"/>
          </a:xfrm>
          <a:prstGeom prst="ellipse">
            <a:avLst/>
          </a:prstGeom>
          <a:solidFill>
            <a:srgbClr val="4DA3FF"/>
          </a:solidFill>
          <a:ln/>
        </p:spPr>
      </p:sp>
      <p:sp>
        <p:nvSpPr>
          <p:cNvPr id="26" name="Text 24"/>
          <p:cNvSpPr txBox="1"/>
          <p:nvPr/>
        </p:nvSpPr>
        <p:spPr>
          <a:xfrm>
            <a:off x="640080" y="3504438"/>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min_fill_aimed</a:t>
            </a:r>
            <a:endParaRPr lang="en-US" sz="1050" dirty="0"/>
          </a:p>
        </p:txBody>
      </p:sp>
      <p:sp>
        <p:nvSpPr>
          <p:cNvPr id="27" name="Shape 25"/>
          <p:cNvSpPr/>
          <p:nvPr/>
        </p:nvSpPr>
        <p:spPr>
          <a:xfrm>
            <a:off x="4045413" y="3609594"/>
            <a:ext cx="1634702" cy="0"/>
          </a:xfrm>
          <a:prstGeom prst="line">
            <a:avLst/>
          </a:prstGeom>
          <a:noFill/>
          <a:ln w="9525">
            <a:solidFill>
              <a:srgbClr val="7D8AA0"/>
            </a:solidFill>
            <a:prstDash val="solid"/>
          </a:ln>
        </p:spPr>
      </p:sp>
      <p:sp>
        <p:nvSpPr>
          <p:cNvPr id="28" name="Shape 26"/>
          <p:cNvSpPr/>
          <p:nvPr/>
        </p:nvSpPr>
        <p:spPr>
          <a:xfrm>
            <a:off x="3990549" y="3554730"/>
            <a:ext cx="109728" cy="109728"/>
          </a:xfrm>
          <a:prstGeom prst="ellipse">
            <a:avLst/>
          </a:prstGeom>
          <a:ln w="13970">
            <a:solidFill>
              <a:srgbClr val="E8ECF2"/>
            </a:solidFill>
            <a:prstDash val="solid"/>
          </a:ln>
        </p:spPr>
      </p:sp>
      <p:sp>
        <p:nvSpPr>
          <p:cNvPr id="29" name="Shape 27"/>
          <p:cNvSpPr/>
          <p:nvPr/>
        </p:nvSpPr>
        <p:spPr>
          <a:xfrm>
            <a:off x="5620679" y="3550158"/>
            <a:ext cx="118872" cy="118872"/>
          </a:xfrm>
          <a:prstGeom prst="ellipse">
            <a:avLst/>
          </a:prstGeom>
          <a:solidFill>
            <a:srgbClr val="4DA3FF"/>
          </a:solidFill>
          <a:ln/>
        </p:spPr>
      </p:sp>
      <p:sp>
        <p:nvSpPr>
          <p:cNvPr id="30" name="Text 28"/>
          <p:cNvSpPr txBox="1"/>
          <p:nvPr/>
        </p:nvSpPr>
        <p:spPr>
          <a:xfrm>
            <a:off x="640080" y="3737610"/>
            <a:ext cx="2011680" cy="210312"/>
          </a:xfrm>
          <a:prstGeom prst="rect">
            <a:avLst/>
          </a:prstGeom>
          <a:noFill/>
          <a:ln/>
        </p:spPr>
        <p:txBody>
          <a:bodyPr wrap="square" lIns="0" tIns="0" rIns="0" bIns="0" rtlCol="0" anchor="t"/>
          <a:lstStyle/>
          <a:p>
            <a:pPr indent="0" marL="0">
              <a:buNone/>
            </a:pPr>
            <a:r>
              <a:rPr lang="en-US" sz="1050" i="1" dirty="0">
                <a:solidFill>
                  <a:srgbClr val="F2C14E"/>
                </a:solidFill>
                <a:latin typeface="Calibri" pitchFamily="34" charset="0"/>
                <a:ea typeface="Calibri" pitchFamily="34" charset="-122"/>
                <a:cs typeface="Calibri" pitchFamily="34" charset="-120"/>
              </a:rPr>
              <a:t>all 17, competing</a:t>
            </a:r>
            <a:endParaRPr lang="en-US" sz="1050" dirty="0"/>
          </a:p>
        </p:txBody>
      </p:sp>
      <p:sp>
        <p:nvSpPr>
          <p:cNvPr id="31" name="Shape 29"/>
          <p:cNvSpPr/>
          <p:nvPr/>
        </p:nvSpPr>
        <p:spPr>
          <a:xfrm>
            <a:off x="4045337" y="3842766"/>
            <a:ext cx="1634702" cy="0"/>
          </a:xfrm>
          <a:prstGeom prst="line">
            <a:avLst/>
          </a:prstGeom>
          <a:noFill/>
          <a:ln w="9525">
            <a:solidFill>
              <a:srgbClr val="7D8AA0"/>
            </a:solidFill>
            <a:prstDash val="solid"/>
          </a:ln>
        </p:spPr>
      </p:sp>
      <p:sp>
        <p:nvSpPr>
          <p:cNvPr id="32" name="Shape 30"/>
          <p:cNvSpPr/>
          <p:nvPr/>
        </p:nvSpPr>
        <p:spPr>
          <a:xfrm>
            <a:off x="3990473" y="3787902"/>
            <a:ext cx="109728" cy="109728"/>
          </a:xfrm>
          <a:prstGeom prst="ellipse">
            <a:avLst/>
          </a:prstGeom>
          <a:ln w="13970">
            <a:solidFill>
              <a:srgbClr val="E8ECF2"/>
            </a:solidFill>
            <a:prstDash val="solid"/>
          </a:ln>
        </p:spPr>
      </p:sp>
      <p:sp>
        <p:nvSpPr>
          <p:cNvPr id="33" name="Shape 31"/>
          <p:cNvSpPr/>
          <p:nvPr/>
        </p:nvSpPr>
        <p:spPr>
          <a:xfrm>
            <a:off x="5620603" y="3783330"/>
            <a:ext cx="118872" cy="118872"/>
          </a:xfrm>
          <a:prstGeom prst="ellipse">
            <a:avLst/>
          </a:prstGeom>
          <a:solidFill>
            <a:srgbClr val="4DA3FF"/>
          </a:solidFill>
          <a:ln/>
        </p:spPr>
      </p:sp>
      <p:sp>
        <p:nvSpPr>
          <p:cNvPr id="34" name="Text 32"/>
          <p:cNvSpPr txBox="1"/>
          <p:nvPr/>
        </p:nvSpPr>
        <p:spPr>
          <a:xfrm>
            <a:off x="640080" y="3970782"/>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simplicial_pull</a:t>
            </a:r>
            <a:endParaRPr lang="en-US" sz="1050" dirty="0"/>
          </a:p>
        </p:txBody>
      </p:sp>
      <p:sp>
        <p:nvSpPr>
          <p:cNvPr id="35" name="Shape 33"/>
          <p:cNvSpPr/>
          <p:nvPr/>
        </p:nvSpPr>
        <p:spPr>
          <a:xfrm>
            <a:off x="4038879" y="4075938"/>
            <a:ext cx="1634702" cy="0"/>
          </a:xfrm>
          <a:prstGeom prst="line">
            <a:avLst/>
          </a:prstGeom>
          <a:noFill/>
          <a:ln w="9525">
            <a:solidFill>
              <a:srgbClr val="7D8AA0"/>
            </a:solidFill>
            <a:prstDash val="solid"/>
          </a:ln>
        </p:spPr>
      </p:sp>
      <p:sp>
        <p:nvSpPr>
          <p:cNvPr id="36" name="Shape 34"/>
          <p:cNvSpPr/>
          <p:nvPr/>
        </p:nvSpPr>
        <p:spPr>
          <a:xfrm>
            <a:off x="3984015" y="4021074"/>
            <a:ext cx="109728" cy="109728"/>
          </a:xfrm>
          <a:prstGeom prst="ellipse">
            <a:avLst/>
          </a:prstGeom>
          <a:ln w="13970">
            <a:solidFill>
              <a:srgbClr val="E8ECF2"/>
            </a:solidFill>
            <a:prstDash val="solid"/>
          </a:ln>
        </p:spPr>
      </p:sp>
      <p:sp>
        <p:nvSpPr>
          <p:cNvPr id="37" name="Shape 35"/>
          <p:cNvSpPr/>
          <p:nvPr/>
        </p:nvSpPr>
        <p:spPr>
          <a:xfrm>
            <a:off x="5614146" y="4016502"/>
            <a:ext cx="118872" cy="118872"/>
          </a:xfrm>
          <a:prstGeom prst="ellipse">
            <a:avLst/>
          </a:prstGeom>
          <a:solidFill>
            <a:srgbClr val="4DA3FF"/>
          </a:solidFill>
          <a:ln/>
        </p:spPr>
      </p:sp>
      <p:sp>
        <p:nvSpPr>
          <p:cNvPr id="38" name="Text 36"/>
          <p:cNvSpPr txBox="1"/>
          <p:nvPr/>
        </p:nvSpPr>
        <p:spPr>
          <a:xfrm>
            <a:off x="640080" y="4203954"/>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k_opt_rotate</a:t>
            </a:r>
            <a:endParaRPr lang="en-US" sz="1050" dirty="0"/>
          </a:p>
        </p:txBody>
      </p:sp>
      <p:sp>
        <p:nvSpPr>
          <p:cNvPr id="39" name="Shape 37"/>
          <p:cNvSpPr/>
          <p:nvPr/>
        </p:nvSpPr>
        <p:spPr>
          <a:xfrm>
            <a:off x="3995427" y="4309110"/>
            <a:ext cx="1634702" cy="0"/>
          </a:xfrm>
          <a:prstGeom prst="line">
            <a:avLst/>
          </a:prstGeom>
          <a:noFill/>
          <a:ln w="9525">
            <a:solidFill>
              <a:srgbClr val="7D8AA0"/>
            </a:solidFill>
            <a:prstDash val="solid"/>
          </a:ln>
        </p:spPr>
      </p:sp>
      <p:sp>
        <p:nvSpPr>
          <p:cNvPr id="40" name="Shape 38"/>
          <p:cNvSpPr/>
          <p:nvPr/>
        </p:nvSpPr>
        <p:spPr>
          <a:xfrm>
            <a:off x="3940563" y="4254246"/>
            <a:ext cx="109728" cy="109728"/>
          </a:xfrm>
          <a:prstGeom prst="ellipse">
            <a:avLst/>
          </a:prstGeom>
          <a:ln w="13970">
            <a:solidFill>
              <a:srgbClr val="E8ECF2"/>
            </a:solidFill>
            <a:prstDash val="solid"/>
          </a:ln>
        </p:spPr>
      </p:sp>
      <p:sp>
        <p:nvSpPr>
          <p:cNvPr id="41" name="Shape 39"/>
          <p:cNvSpPr/>
          <p:nvPr/>
        </p:nvSpPr>
        <p:spPr>
          <a:xfrm>
            <a:off x="5570694" y="4249674"/>
            <a:ext cx="118872" cy="118872"/>
          </a:xfrm>
          <a:prstGeom prst="ellipse">
            <a:avLst/>
          </a:prstGeom>
          <a:solidFill>
            <a:srgbClr val="4DA3FF"/>
          </a:solidFill>
          <a:ln/>
        </p:spPr>
      </p:sp>
      <p:sp>
        <p:nvSpPr>
          <p:cNvPr id="42" name="Text 40"/>
          <p:cNvSpPr txBox="1"/>
          <p:nvPr/>
        </p:nvSpPr>
        <p:spPr>
          <a:xfrm>
            <a:off x="640080" y="4437126"/>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three_opt_aimed</a:t>
            </a:r>
            <a:endParaRPr lang="en-US" sz="1050" dirty="0"/>
          </a:p>
        </p:txBody>
      </p:sp>
      <p:sp>
        <p:nvSpPr>
          <p:cNvPr id="43" name="Shape 41"/>
          <p:cNvSpPr/>
          <p:nvPr/>
        </p:nvSpPr>
        <p:spPr>
          <a:xfrm>
            <a:off x="3979854" y="4542282"/>
            <a:ext cx="1634702" cy="0"/>
          </a:xfrm>
          <a:prstGeom prst="line">
            <a:avLst/>
          </a:prstGeom>
          <a:noFill/>
          <a:ln w="9525">
            <a:solidFill>
              <a:srgbClr val="7D8AA0"/>
            </a:solidFill>
            <a:prstDash val="solid"/>
          </a:ln>
        </p:spPr>
      </p:sp>
      <p:sp>
        <p:nvSpPr>
          <p:cNvPr id="44" name="Shape 42"/>
          <p:cNvSpPr/>
          <p:nvPr/>
        </p:nvSpPr>
        <p:spPr>
          <a:xfrm>
            <a:off x="3924990" y="4487418"/>
            <a:ext cx="109728" cy="109728"/>
          </a:xfrm>
          <a:prstGeom prst="ellipse">
            <a:avLst/>
          </a:prstGeom>
          <a:ln w="13970">
            <a:solidFill>
              <a:srgbClr val="E8ECF2"/>
            </a:solidFill>
            <a:prstDash val="solid"/>
          </a:ln>
        </p:spPr>
      </p:sp>
      <p:sp>
        <p:nvSpPr>
          <p:cNvPr id="45" name="Shape 43"/>
          <p:cNvSpPr/>
          <p:nvPr/>
        </p:nvSpPr>
        <p:spPr>
          <a:xfrm>
            <a:off x="5555121" y="4482846"/>
            <a:ext cx="118872" cy="118872"/>
          </a:xfrm>
          <a:prstGeom prst="ellipse">
            <a:avLst/>
          </a:prstGeom>
          <a:solidFill>
            <a:srgbClr val="4DA3FF"/>
          </a:solidFill>
          <a:ln/>
        </p:spPr>
      </p:sp>
      <p:sp>
        <p:nvSpPr>
          <p:cNvPr id="46" name="Text 44"/>
          <p:cNvSpPr txBox="1"/>
          <p:nvPr/>
        </p:nvSpPr>
        <p:spPr>
          <a:xfrm>
            <a:off x="640080" y="4670298"/>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min_fill_window</a:t>
            </a:r>
            <a:endParaRPr lang="en-US" sz="1050" dirty="0"/>
          </a:p>
        </p:txBody>
      </p:sp>
      <p:sp>
        <p:nvSpPr>
          <p:cNvPr id="47" name="Shape 45"/>
          <p:cNvSpPr/>
          <p:nvPr/>
        </p:nvSpPr>
        <p:spPr>
          <a:xfrm>
            <a:off x="3883530" y="4775454"/>
            <a:ext cx="1634702" cy="0"/>
          </a:xfrm>
          <a:prstGeom prst="line">
            <a:avLst/>
          </a:prstGeom>
          <a:noFill/>
          <a:ln w="9525">
            <a:solidFill>
              <a:srgbClr val="7D8AA0"/>
            </a:solidFill>
            <a:prstDash val="solid"/>
          </a:ln>
        </p:spPr>
      </p:sp>
      <p:sp>
        <p:nvSpPr>
          <p:cNvPr id="48" name="Shape 46"/>
          <p:cNvSpPr/>
          <p:nvPr/>
        </p:nvSpPr>
        <p:spPr>
          <a:xfrm>
            <a:off x="3828666" y="4720590"/>
            <a:ext cx="109728" cy="109728"/>
          </a:xfrm>
          <a:prstGeom prst="ellipse">
            <a:avLst/>
          </a:prstGeom>
          <a:ln w="13970">
            <a:solidFill>
              <a:srgbClr val="E8ECF2"/>
            </a:solidFill>
            <a:prstDash val="solid"/>
          </a:ln>
        </p:spPr>
      </p:sp>
      <p:sp>
        <p:nvSpPr>
          <p:cNvPr id="49" name="Shape 47"/>
          <p:cNvSpPr/>
          <p:nvPr/>
        </p:nvSpPr>
        <p:spPr>
          <a:xfrm>
            <a:off x="5458796" y="4716018"/>
            <a:ext cx="118872" cy="118872"/>
          </a:xfrm>
          <a:prstGeom prst="ellipse">
            <a:avLst/>
          </a:prstGeom>
          <a:solidFill>
            <a:srgbClr val="4DA3FF"/>
          </a:solidFill>
          <a:ln/>
        </p:spPr>
      </p:sp>
      <p:sp>
        <p:nvSpPr>
          <p:cNvPr id="50" name="Text 48"/>
          <p:cNvSpPr txBox="1"/>
          <p:nvPr/>
        </p:nvSpPr>
        <p:spPr>
          <a:xfrm>
            <a:off x="640080" y="4903470"/>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degeneracy_window</a:t>
            </a:r>
            <a:endParaRPr lang="en-US" sz="1050" dirty="0"/>
          </a:p>
        </p:txBody>
      </p:sp>
      <p:sp>
        <p:nvSpPr>
          <p:cNvPr id="51" name="Shape 49"/>
          <p:cNvSpPr/>
          <p:nvPr/>
        </p:nvSpPr>
        <p:spPr>
          <a:xfrm>
            <a:off x="3697490" y="5008626"/>
            <a:ext cx="1634702" cy="0"/>
          </a:xfrm>
          <a:prstGeom prst="line">
            <a:avLst/>
          </a:prstGeom>
          <a:noFill/>
          <a:ln w="9525">
            <a:solidFill>
              <a:srgbClr val="7D8AA0"/>
            </a:solidFill>
            <a:prstDash val="solid"/>
          </a:ln>
        </p:spPr>
      </p:sp>
      <p:sp>
        <p:nvSpPr>
          <p:cNvPr id="52" name="Shape 50"/>
          <p:cNvSpPr/>
          <p:nvPr/>
        </p:nvSpPr>
        <p:spPr>
          <a:xfrm>
            <a:off x="3642626" y="4953762"/>
            <a:ext cx="109728" cy="109728"/>
          </a:xfrm>
          <a:prstGeom prst="ellipse">
            <a:avLst/>
          </a:prstGeom>
          <a:ln w="13970">
            <a:solidFill>
              <a:srgbClr val="E8ECF2"/>
            </a:solidFill>
            <a:prstDash val="solid"/>
          </a:ln>
        </p:spPr>
      </p:sp>
      <p:sp>
        <p:nvSpPr>
          <p:cNvPr id="53" name="Shape 51"/>
          <p:cNvSpPr/>
          <p:nvPr/>
        </p:nvSpPr>
        <p:spPr>
          <a:xfrm>
            <a:off x="5272757" y="4949190"/>
            <a:ext cx="118872" cy="118872"/>
          </a:xfrm>
          <a:prstGeom prst="ellipse">
            <a:avLst/>
          </a:prstGeom>
          <a:solidFill>
            <a:srgbClr val="4DA3FF"/>
          </a:solidFill>
          <a:ln/>
        </p:spPr>
      </p:sp>
      <p:sp>
        <p:nvSpPr>
          <p:cNvPr id="54" name="Text 52"/>
          <p:cNvSpPr txBox="1"/>
          <p:nvPr/>
        </p:nvSpPr>
        <p:spPr>
          <a:xfrm>
            <a:off x="640080" y="5136642"/>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degeneracy_aimed</a:t>
            </a:r>
            <a:endParaRPr lang="en-US" sz="1050" dirty="0"/>
          </a:p>
        </p:txBody>
      </p:sp>
      <p:sp>
        <p:nvSpPr>
          <p:cNvPr id="55" name="Shape 53"/>
          <p:cNvSpPr/>
          <p:nvPr/>
        </p:nvSpPr>
        <p:spPr>
          <a:xfrm>
            <a:off x="3606332" y="5241798"/>
            <a:ext cx="1634702" cy="0"/>
          </a:xfrm>
          <a:prstGeom prst="line">
            <a:avLst/>
          </a:prstGeom>
          <a:noFill/>
          <a:ln w="9525">
            <a:solidFill>
              <a:srgbClr val="7D8AA0"/>
            </a:solidFill>
            <a:prstDash val="solid"/>
          </a:ln>
        </p:spPr>
      </p:sp>
      <p:sp>
        <p:nvSpPr>
          <p:cNvPr id="56" name="Shape 54"/>
          <p:cNvSpPr/>
          <p:nvPr/>
        </p:nvSpPr>
        <p:spPr>
          <a:xfrm>
            <a:off x="3551468" y="5186934"/>
            <a:ext cx="109728" cy="109728"/>
          </a:xfrm>
          <a:prstGeom prst="ellipse">
            <a:avLst/>
          </a:prstGeom>
          <a:ln w="13970">
            <a:solidFill>
              <a:srgbClr val="E8ECF2"/>
            </a:solidFill>
            <a:prstDash val="solid"/>
          </a:ln>
        </p:spPr>
      </p:sp>
      <p:sp>
        <p:nvSpPr>
          <p:cNvPr id="57" name="Shape 55"/>
          <p:cNvSpPr/>
          <p:nvPr/>
        </p:nvSpPr>
        <p:spPr>
          <a:xfrm>
            <a:off x="5181598" y="5182362"/>
            <a:ext cx="118872" cy="118872"/>
          </a:xfrm>
          <a:prstGeom prst="ellipse">
            <a:avLst/>
          </a:prstGeom>
          <a:solidFill>
            <a:srgbClr val="4DA3FF"/>
          </a:solidFill>
          <a:ln/>
        </p:spPr>
      </p:sp>
      <p:sp>
        <p:nvSpPr>
          <p:cNvPr id="58" name="Text 56"/>
          <p:cNvSpPr txBox="1"/>
          <p:nvPr/>
        </p:nvSpPr>
        <p:spPr>
          <a:xfrm>
            <a:off x="640080" y="5369814"/>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or_opt_aimed</a:t>
            </a:r>
            <a:endParaRPr lang="en-US" sz="1050" dirty="0"/>
          </a:p>
        </p:txBody>
      </p:sp>
      <p:sp>
        <p:nvSpPr>
          <p:cNvPr id="59" name="Shape 57"/>
          <p:cNvSpPr/>
          <p:nvPr/>
        </p:nvSpPr>
        <p:spPr>
          <a:xfrm>
            <a:off x="3204778" y="5474970"/>
            <a:ext cx="1634702" cy="0"/>
          </a:xfrm>
          <a:prstGeom prst="line">
            <a:avLst/>
          </a:prstGeom>
          <a:noFill/>
          <a:ln w="9525">
            <a:solidFill>
              <a:srgbClr val="7D8AA0"/>
            </a:solidFill>
            <a:prstDash val="solid"/>
          </a:ln>
        </p:spPr>
      </p:sp>
      <p:sp>
        <p:nvSpPr>
          <p:cNvPr id="60" name="Shape 58"/>
          <p:cNvSpPr/>
          <p:nvPr/>
        </p:nvSpPr>
        <p:spPr>
          <a:xfrm>
            <a:off x="3149914" y="5420106"/>
            <a:ext cx="109728" cy="109728"/>
          </a:xfrm>
          <a:prstGeom prst="ellipse">
            <a:avLst/>
          </a:prstGeom>
          <a:ln w="13970">
            <a:solidFill>
              <a:srgbClr val="E8ECF2"/>
            </a:solidFill>
            <a:prstDash val="solid"/>
          </a:ln>
        </p:spPr>
      </p:sp>
      <p:sp>
        <p:nvSpPr>
          <p:cNvPr id="61" name="Shape 59"/>
          <p:cNvSpPr/>
          <p:nvPr/>
        </p:nvSpPr>
        <p:spPr>
          <a:xfrm>
            <a:off x="4780044" y="5415534"/>
            <a:ext cx="118872" cy="118872"/>
          </a:xfrm>
          <a:prstGeom prst="ellipse">
            <a:avLst/>
          </a:prstGeom>
          <a:solidFill>
            <a:srgbClr val="4DA3FF"/>
          </a:solidFill>
          <a:ln/>
        </p:spPr>
      </p:sp>
      <p:sp>
        <p:nvSpPr>
          <p:cNvPr id="62" name="Text 60"/>
          <p:cNvSpPr txBox="1"/>
          <p:nvPr/>
        </p:nvSpPr>
        <p:spPr>
          <a:xfrm>
            <a:off x="640080" y="5602986"/>
            <a:ext cx="2011680" cy="210312"/>
          </a:xfrm>
          <a:prstGeom prst="rect">
            <a:avLst/>
          </a:prstGeom>
          <a:noFill/>
          <a:ln/>
        </p:spPr>
        <p:txBody>
          <a:bodyPr wrap="square" lIns="0" tIns="0" rIns="0" bIns="0" rtlCol="0" anchor="t"/>
          <a:lstStyle/>
          <a:p>
            <a:pPr indent="0" marL="0">
              <a:buNone/>
            </a:pPr>
            <a:r>
              <a:rPr lang="en-US" sz="1050" dirty="0">
                <a:solidFill>
                  <a:srgbClr val="E8ECF2"/>
                </a:solidFill>
                <a:latin typeface="Consolas" pitchFamily="34" charset="0"/>
                <a:ea typeface="Consolas" pitchFamily="34" charset="-122"/>
                <a:cs typeface="Consolas" pitchFamily="34" charset="-120"/>
              </a:rPr>
              <a:t>corner_earlier</a:t>
            </a:r>
            <a:endParaRPr lang="en-US" sz="1050" dirty="0"/>
          </a:p>
        </p:txBody>
      </p:sp>
      <p:sp>
        <p:nvSpPr>
          <p:cNvPr id="63" name="Shape 61"/>
          <p:cNvSpPr/>
          <p:nvPr/>
        </p:nvSpPr>
        <p:spPr>
          <a:xfrm>
            <a:off x="3018207" y="5708142"/>
            <a:ext cx="1634702" cy="0"/>
          </a:xfrm>
          <a:prstGeom prst="line">
            <a:avLst/>
          </a:prstGeom>
          <a:noFill/>
          <a:ln w="9525">
            <a:solidFill>
              <a:srgbClr val="7D8AA0"/>
            </a:solidFill>
            <a:prstDash val="solid"/>
          </a:ln>
        </p:spPr>
      </p:sp>
      <p:sp>
        <p:nvSpPr>
          <p:cNvPr id="64" name="Shape 62"/>
          <p:cNvSpPr/>
          <p:nvPr/>
        </p:nvSpPr>
        <p:spPr>
          <a:xfrm>
            <a:off x="2963343" y="5653278"/>
            <a:ext cx="109728" cy="109728"/>
          </a:xfrm>
          <a:prstGeom prst="ellipse">
            <a:avLst/>
          </a:prstGeom>
          <a:ln w="13970">
            <a:solidFill>
              <a:srgbClr val="E8ECF2"/>
            </a:solidFill>
            <a:prstDash val="solid"/>
          </a:ln>
        </p:spPr>
      </p:sp>
      <p:sp>
        <p:nvSpPr>
          <p:cNvPr id="65" name="Shape 63"/>
          <p:cNvSpPr/>
          <p:nvPr/>
        </p:nvSpPr>
        <p:spPr>
          <a:xfrm>
            <a:off x="4593473" y="5648706"/>
            <a:ext cx="118872" cy="118872"/>
          </a:xfrm>
          <a:prstGeom prst="ellipse">
            <a:avLst/>
          </a:prstGeom>
          <a:solidFill>
            <a:srgbClr val="4DA3FF"/>
          </a:solidFill>
          <a:ln/>
        </p:spPr>
      </p:sp>
      <p:sp>
        <p:nvSpPr>
          <p:cNvPr id="66" name="Text 64"/>
          <p:cNvSpPr txBox="1"/>
          <p:nvPr/>
        </p:nvSpPr>
        <p:spPr>
          <a:xfrm>
            <a:off x="2377440" y="5870448"/>
            <a:ext cx="64008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−40k</a:t>
            </a:r>
            <a:endParaRPr lang="en-US" sz="1000" dirty="0"/>
          </a:p>
        </p:txBody>
      </p:sp>
      <p:sp>
        <p:nvSpPr>
          <p:cNvPr id="67" name="Text 65"/>
          <p:cNvSpPr txBox="1"/>
          <p:nvPr/>
        </p:nvSpPr>
        <p:spPr>
          <a:xfrm>
            <a:off x="3896751" y="5870448"/>
            <a:ext cx="64008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−20k</a:t>
            </a:r>
            <a:endParaRPr lang="en-US" sz="1000" dirty="0"/>
          </a:p>
        </p:txBody>
      </p:sp>
      <p:sp>
        <p:nvSpPr>
          <p:cNvPr id="68" name="Text 66"/>
          <p:cNvSpPr txBox="1"/>
          <p:nvPr/>
        </p:nvSpPr>
        <p:spPr>
          <a:xfrm>
            <a:off x="5416062" y="5870448"/>
            <a:ext cx="64008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0</a:t>
            </a:r>
            <a:endParaRPr lang="en-US" sz="1000" dirty="0"/>
          </a:p>
        </p:txBody>
      </p:sp>
      <p:sp>
        <p:nvSpPr>
          <p:cNvPr id="69" name="Text 67"/>
          <p:cNvSpPr txBox="1"/>
          <p:nvPr/>
        </p:nvSpPr>
        <p:spPr>
          <a:xfrm>
            <a:off x="6935372" y="5870448"/>
            <a:ext cx="640080" cy="201168"/>
          </a:xfrm>
          <a:prstGeom prst="rect">
            <a:avLst/>
          </a:prstGeom>
          <a:noFill/>
          <a:ln/>
        </p:spPr>
        <p:txBody>
          <a:bodyPr wrap="square" lIns="0" tIns="0" rIns="0" bIns="0" rtlCol="0" anchor="t"/>
          <a:lstStyle/>
          <a:p>
            <a:pPr algn="ctr" indent="0" marL="0">
              <a:buNone/>
            </a:pPr>
            <a:r>
              <a:rPr lang="en-US" sz="1000" dirty="0">
                <a:solidFill>
                  <a:srgbClr val="7D8AA0"/>
                </a:solidFill>
                <a:latin typeface="Calibri" pitchFamily="34" charset="0"/>
                <a:ea typeface="Calibri" pitchFamily="34" charset="-122"/>
                <a:cs typeface="Calibri" pitchFamily="34" charset="-120"/>
              </a:rPr>
              <a:t>+20k</a:t>
            </a:r>
            <a:endParaRPr lang="en-US" sz="1000" dirty="0"/>
          </a:p>
        </p:txBody>
      </p:sp>
      <p:sp>
        <p:nvSpPr>
          <p:cNvPr id="70" name="Shape 68"/>
          <p:cNvSpPr/>
          <p:nvPr/>
        </p:nvSpPr>
        <p:spPr>
          <a:xfrm>
            <a:off x="2692908" y="6195060"/>
            <a:ext cx="118872" cy="118872"/>
          </a:xfrm>
          <a:prstGeom prst="ellipse">
            <a:avLst/>
          </a:prstGeom>
          <a:solidFill>
            <a:srgbClr val="4DA3FF"/>
          </a:solidFill>
          <a:ln/>
        </p:spPr>
      </p:sp>
      <p:sp>
        <p:nvSpPr>
          <p:cNvPr id="71" name="Text 69"/>
          <p:cNvSpPr txBox="1"/>
          <p:nvPr/>
        </p:nvSpPr>
        <p:spPr>
          <a:xfrm>
            <a:off x="2880360" y="6153912"/>
            <a:ext cx="2011680" cy="219456"/>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against control session 2</a:t>
            </a:r>
            <a:endParaRPr lang="en-US" sz="1050" dirty="0"/>
          </a:p>
        </p:txBody>
      </p:sp>
      <p:sp>
        <p:nvSpPr>
          <p:cNvPr id="72" name="Shape 70"/>
          <p:cNvSpPr/>
          <p:nvPr/>
        </p:nvSpPr>
        <p:spPr>
          <a:xfrm>
            <a:off x="4969764" y="6195060"/>
            <a:ext cx="118872" cy="118872"/>
          </a:xfrm>
          <a:prstGeom prst="ellipse">
            <a:avLst/>
          </a:prstGeom>
          <a:ln w="13970">
            <a:solidFill>
              <a:srgbClr val="E8ECF2"/>
            </a:solidFill>
            <a:prstDash val="solid"/>
          </a:ln>
        </p:spPr>
      </p:sp>
      <p:sp>
        <p:nvSpPr>
          <p:cNvPr id="73" name="Text 71"/>
          <p:cNvSpPr txBox="1"/>
          <p:nvPr/>
        </p:nvSpPr>
        <p:spPr>
          <a:xfrm>
            <a:off x="5166360" y="6153912"/>
            <a:ext cx="1828800" cy="219456"/>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against session 1</a:t>
            </a:r>
            <a:endParaRPr lang="en-US" sz="1050" dirty="0"/>
          </a:p>
        </p:txBody>
      </p:sp>
      <p:sp>
        <p:nvSpPr>
          <p:cNvPr id="74" name="Text 72"/>
          <p:cNvSpPr txBox="1"/>
          <p:nvPr/>
        </p:nvSpPr>
        <p:spPr>
          <a:xfrm>
            <a:off x="8229600" y="2514600"/>
            <a:ext cx="3322015" cy="914400"/>
          </a:xfrm>
          <a:prstGeom prst="rect">
            <a:avLst/>
          </a:prstGeom>
          <a:noFill/>
          <a:ln/>
        </p:spPr>
        <p:txBody>
          <a:bodyPr wrap="square" lIns="0" tIns="0" rIns="0" bIns="0" rtlCol="0" anchor="t"/>
          <a:lstStyle/>
          <a:p>
            <a:pPr indent="0" marL="0">
              <a:buNone/>
            </a:pPr>
            <a:r>
              <a:rPr lang="en-US" sz="5400" dirty="0">
                <a:solidFill>
                  <a:srgbClr val="4DA3FF"/>
                </a:solidFill>
                <a:latin typeface="Century Schoolbook" pitchFamily="34" charset="0"/>
                <a:ea typeface="Century Schoolbook" pitchFamily="34" charset="-122"/>
                <a:cs typeface="Century Schoolbook" pitchFamily="34" charset="-120"/>
              </a:rPr>
              <a:t>0.23%</a:t>
            </a:r>
            <a:endParaRPr lang="en-US" sz="5400" dirty="0"/>
          </a:p>
        </p:txBody>
      </p:sp>
      <p:sp>
        <p:nvSpPr>
          <p:cNvPr id="75" name="Text 73"/>
          <p:cNvSpPr txBox="1"/>
          <p:nvPr/>
        </p:nvSpPr>
        <p:spPr>
          <a:xfrm>
            <a:off x="8229600" y="3474720"/>
            <a:ext cx="3322015" cy="502920"/>
          </a:xfrm>
          <a:prstGeom prst="rect">
            <a:avLst/>
          </a:prstGeom>
          <a:noFill/>
          <a:ln/>
        </p:spPr>
        <p:txBody>
          <a:bodyPr wrap="square" lIns="0" tIns="0" rIns="0" bIns="0" rtlCol="0" anchor="t"/>
          <a:lstStyle/>
          <a:p>
            <a:pPr indent="0" marL="0">
              <a:buNone/>
            </a:pPr>
            <a:r>
              <a:rPr lang="en-US" sz="1250" dirty="0">
                <a:solidFill>
                  <a:srgbClr val="9AA6B6"/>
                </a:solidFill>
                <a:latin typeface="Calibri" pitchFamily="34" charset="0"/>
                <a:ea typeface="Calibri" pitchFamily="34" charset="-122"/>
                <a:cs typeface="Calibri" pitchFamily="34" charset="-120"/>
              </a:rPr>
              <a:t>the highest accept rate measured anywhere (swap_any on synth-4)</a:t>
            </a:r>
            <a:endParaRPr lang="en-US" sz="1250" dirty="0"/>
          </a:p>
        </p:txBody>
      </p:sp>
      <p:sp>
        <p:nvSpPr>
          <p:cNvPr id="76" name="Text 74"/>
          <p:cNvSpPr txBox="1"/>
          <p:nvPr/>
        </p:nvSpPr>
        <p:spPr>
          <a:xfrm>
            <a:off x="8229600" y="4251960"/>
            <a:ext cx="3322015" cy="1920240"/>
          </a:xfrm>
          <a:prstGeom prst="rect">
            <a:avLst/>
          </a:prstGeom>
          <a:noFill/>
          <a:ln/>
        </p:spPr>
        <p:txBody>
          <a:bodyPr wrap="square" lIns="0" tIns="0" rIns="0" bIns="0" rtlCol="0" anchor="t"/>
          <a:lstStyle/>
          <a:p>
            <a:pPr indent="0" marL="0">
              <a:buNone/>
            </a:pPr>
            <a:r>
              <a:rPr lang="en-US" sz="1450" dirty="0">
                <a:solidFill>
                  <a:srgbClr val="E8ECF2"/>
                </a:solidFill>
                <a:latin typeface="Calibri" pitchFamily="34" charset="0"/>
                <a:ea typeface="Calibri" pitchFamily="34" charset="-122"/>
                <a:cs typeface="Calibri" pitchFamily="34" charset="-120"/>
              </a:rPr>
              <a:t>None of the fourteen arms clears the control’s own re-draw, and seed by seed, against both sessions of the control, none wins a single instance. Around a min-degree ordering the landscape is flat.</a:t>
            </a:r>
            <a:endParaRPr lang="en-US" sz="145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VI · MORE TIME?</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Ten times the budget buys a tenth of the gap</a:t>
            </a:r>
            <a:endParaRPr lang="en-US" sz="2700" dirty="0"/>
          </a:p>
        </p:txBody>
      </p:sp>
      <p:sp>
        <p:nvSpPr>
          <p:cNvPr id="4" name="Shape 2"/>
          <p:cNvSpPr/>
          <p:nvPr/>
        </p:nvSpPr>
        <p:spPr>
          <a:xfrm>
            <a:off x="1645920" y="5162469"/>
            <a:ext cx="5394960" cy="0"/>
          </a:xfrm>
          <a:prstGeom prst="line">
            <a:avLst/>
          </a:prstGeom>
          <a:noFill/>
          <a:ln w="7620">
            <a:solidFill>
              <a:srgbClr val="1C2533"/>
            </a:solidFill>
            <a:prstDash val="solid"/>
          </a:ln>
        </p:spPr>
      </p:sp>
      <p:sp>
        <p:nvSpPr>
          <p:cNvPr id="5" name="Text 3"/>
          <p:cNvSpPr txBox="1"/>
          <p:nvPr/>
        </p:nvSpPr>
        <p:spPr>
          <a:xfrm>
            <a:off x="685800" y="5061885"/>
            <a:ext cx="868680" cy="201168"/>
          </a:xfrm>
          <a:prstGeom prst="rect">
            <a:avLst/>
          </a:prstGeom>
          <a:noFill/>
          <a:ln/>
        </p:spPr>
        <p:txBody>
          <a:bodyPr wrap="square" lIns="0" tIns="0" rIns="0" bIns="0" rtlCol="0" anchor="t"/>
          <a:lstStyle/>
          <a:p>
            <a:pPr algn="r" indent="0" marL="0">
              <a:buNone/>
            </a:pPr>
            <a:r>
              <a:rPr lang="en-US" sz="1000" dirty="0">
                <a:solidFill>
                  <a:srgbClr val="7D8AA0"/>
                </a:solidFill>
                <a:latin typeface="Calibri" pitchFamily="34" charset="0"/>
                <a:ea typeface="Calibri" pitchFamily="34" charset="-122"/>
                <a:cs typeface="Calibri" pitchFamily="34" charset="-120"/>
              </a:rPr>
              <a:t>26.4M</a:t>
            </a:r>
            <a:endParaRPr lang="en-US" sz="1000" dirty="0"/>
          </a:p>
        </p:txBody>
      </p:sp>
      <p:sp>
        <p:nvSpPr>
          <p:cNvPr id="6" name="Shape 4"/>
          <p:cNvSpPr/>
          <p:nvPr/>
        </p:nvSpPr>
        <p:spPr>
          <a:xfrm>
            <a:off x="1645920" y="4423167"/>
            <a:ext cx="5394960" cy="0"/>
          </a:xfrm>
          <a:prstGeom prst="line">
            <a:avLst/>
          </a:prstGeom>
          <a:noFill/>
          <a:ln w="7620">
            <a:solidFill>
              <a:srgbClr val="1C2533"/>
            </a:solidFill>
            <a:prstDash val="solid"/>
          </a:ln>
        </p:spPr>
      </p:sp>
      <p:sp>
        <p:nvSpPr>
          <p:cNvPr id="7" name="Text 5"/>
          <p:cNvSpPr txBox="1"/>
          <p:nvPr/>
        </p:nvSpPr>
        <p:spPr>
          <a:xfrm>
            <a:off x="685800" y="4322583"/>
            <a:ext cx="868680" cy="201168"/>
          </a:xfrm>
          <a:prstGeom prst="rect">
            <a:avLst/>
          </a:prstGeom>
          <a:noFill/>
          <a:ln/>
        </p:spPr>
        <p:txBody>
          <a:bodyPr wrap="square" lIns="0" tIns="0" rIns="0" bIns="0" rtlCol="0" anchor="t"/>
          <a:lstStyle/>
          <a:p>
            <a:pPr algn="r" indent="0" marL="0">
              <a:buNone/>
            </a:pPr>
            <a:r>
              <a:rPr lang="en-US" sz="1000" dirty="0">
                <a:solidFill>
                  <a:srgbClr val="7D8AA0"/>
                </a:solidFill>
                <a:latin typeface="Calibri" pitchFamily="34" charset="0"/>
                <a:ea typeface="Calibri" pitchFamily="34" charset="-122"/>
                <a:cs typeface="Calibri" pitchFamily="34" charset="-120"/>
              </a:rPr>
              <a:t>26.5M</a:t>
            </a:r>
            <a:endParaRPr lang="en-US" sz="1000" dirty="0"/>
          </a:p>
        </p:txBody>
      </p:sp>
      <p:sp>
        <p:nvSpPr>
          <p:cNvPr id="8" name="Shape 6"/>
          <p:cNvSpPr/>
          <p:nvPr/>
        </p:nvSpPr>
        <p:spPr>
          <a:xfrm>
            <a:off x="1645920" y="3683865"/>
            <a:ext cx="5394960" cy="0"/>
          </a:xfrm>
          <a:prstGeom prst="line">
            <a:avLst/>
          </a:prstGeom>
          <a:noFill/>
          <a:ln w="7620">
            <a:solidFill>
              <a:srgbClr val="1C2533"/>
            </a:solidFill>
            <a:prstDash val="solid"/>
          </a:ln>
        </p:spPr>
      </p:sp>
      <p:sp>
        <p:nvSpPr>
          <p:cNvPr id="9" name="Text 7"/>
          <p:cNvSpPr txBox="1"/>
          <p:nvPr/>
        </p:nvSpPr>
        <p:spPr>
          <a:xfrm>
            <a:off x="685800" y="3583281"/>
            <a:ext cx="868680" cy="201168"/>
          </a:xfrm>
          <a:prstGeom prst="rect">
            <a:avLst/>
          </a:prstGeom>
          <a:noFill/>
          <a:ln/>
        </p:spPr>
        <p:txBody>
          <a:bodyPr wrap="square" lIns="0" tIns="0" rIns="0" bIns="0" rtlCol="0" anchor="t"/>
          <a:lstStyle/>
          <a:p>
            <a:pPr algn="r" indent="0" marL="0">
              <a:buNone/>
            </a:pPr>
            <a:r>
              <a:rPr lang="en-US" sz="1000" dirty="0">
                <a:solidFill>
                  <a:srgbClr val="7D8AA0"/>
                </a:solidFill>
                <a:latin typeface="Calibri" pitchFamily="34" charset="0"/>
                <a:ea typeface="Calibri" pitchFamily="34" charset="-122"/>
                <a:cs typeface="Calibri" pitchFamily="34" charset="-120"/>
              </a:rPr>
              <a:t>26.6M</a:t>
            </a:r>
            <a:endParaRPr lang="en-US" sz="1000" dirty="0"/>
          </a:p>
        </p:txBody>
      </p:sp>
      <p:sp>
        <p:nvSpPr>
          <p:cNvPr id="10" name="Shape 8"/>
          <p:cNvSpPr/>
          <p:nvPr/>
        </p:nvSpPr>
        <p:spPr>
          <a:xfrm>
            <a:off x="1645920" y="2944563"/>
            <a:ext cx="5394960" cy="0"/>
          </a:xfrm>
          <a:prstGeom prst="line">
            <a:avLst/>
          </a:prstGeom>
          <a:noFill/>
          <a:ln w="7620">
            <a:solidFill>
              <a:srgbClr val="1C2533"/>
            </a:solidFill>
            <a:prstDash val="solid"/>
          </a:ln>
        </p:spPr>
      </p:sp>
      <p:sp>
        <p:nvSpPr>
          <p:cNvPr id="11" name="Text 9"/>
          <p:cNvSpPr txBox="1"/>
          <p:nvPr/>
        </p:nvSpPr>
        <p:spPr>
          <a:xfrm>
            <a:off x="685800" y="2843979"/>
            <a:ext cx="868680" cy="201168"/>
          </a:xfrm>
          <a:prstGeom prst="rect">
            <a:avLst/>
          </a:prstGeom>
          <a:noFill/>
          <a:ln/>
        </p:spPr>
        <p:txBody>
          <a:bodyPr wrap="square" lIns="0" tIns="0" rIns="0" bIns="0" rtlCol="0" anchor="t"/>
          <a:lstStyle/>
          <a:p>
            <a:pPr algn="r" indent="0" marL="0">
              <a:buNone/>
            </a:pPr>
            <a:r>
              <a:rPr lang="en-US" sz="1000" dirty="0">
                <a:solidFill>
                  <a:srgbClr val="7D8AA0"/>
                </a:solidFill>
                <a:latin typeface="Calibri" pitchFamily="34" charset="0"/>
                <a:ea typeface="Calibri" pitchFamily="34" charset="-122"/>
                <a:cs typeface="Calibri" pitchFamily="34" charset="-120"/>
              </a:rPr>
              <a:t>26.7M</a:t>
            </a:r>
            <a:endParaRPr lang="en-US" sz="1000" dirty="0"/>
          </a:p>
        </p:txBody>
      </p:sp>
      <p:sp>
        <p:nvSpPr>
          <p:cNvPr id="12" name="Shape 10"/>
          <p:cNvSpPr/>
          <p:nvPr/>
        </p:nvSpPr>
        <p:spPr>
          <a:xfrm>
            <a:off x="1645920" y="2205260"/>
            <a:ext cx="5394960" cy="0"/>
          </a:xfrm>
          <a:prstGeom prst="line">
            <a:avLst/>
          </a:prstGeom>
          <a:noFill/>
          <a:ln w="7620">
            <a:solidFill>
              <a:srgbClr val="1C2533"/>
            </a:solidFill>
            <a:prstDash val="solid"/>
          </a:ln>
        </p:spPr>
      </p:sp>
      <p:sp>
        <p:nvSpPr>
          <p:cNvPr id="13" name="Text 11"/>
          <p:cNvSpPr txBox="1"/>
          <p:nvPr/>
        </p:nvSpPr>
        <p:spPr>
          <a:xfrm>
            <a:off x="685800" y="2104676"/>
            <a:ext cx="868680" cy="201168"/>
          </a:xfrm>
          <a:prstGeom prst="rect">
            <a:avLst/>
          </a:prstGeom>
          <a:noFill/>
          <a:ln/>
        </p:spPr>
        <p:txBody>
          <a:bodyPr wrap="square" lIns="0" tIns="0" rIns="0" bIns="0" rtlCol="0" anchor="t"/>
          <a:lstStyle/>
          <a:p>
            <a:pPr algn="r" indent="0" marL="0">
              <a:buNone/>
            </a:pPr>
            <a:r>
              <a:rPr lang="en-US" sz="1000" dirty="0">
                <a:solidFill>
                  <a:srgbClr val="7D8AA0"/>
                </a:solidFill>
                <a:latin typeface="Calibri" pitchFamily="34" charset="0"/>
                <a:ea typeface="Calibri" pitchFamily="34" charset="-122"/>
                <a:cs typeface="Calibri" pitchFamily="34" charset="-120"/>
              </a:rPr>
              <a:t>26.8M</a:t>
            </a:r>
            <a:endParaRPr lang="en-US" sz="1000" dirty="0"/>
          </a:p>
        </p:txBody>
      </p:sp>
      <p:sp>
        <p:nvSpPr>
          <p:cNvPr id="14" name="Text 12"/>
          <p:cNvSpPr txBox="1"/>
          <p:nvPr/>
        </p:nvSpPr>
        <p:spPr>
          <a:xfrm>
            <a:off x="685800" y="1673352"/>
            <a:ext cx="2743200" cy="219456"/>
          </a:xfrm>
          <a:prstGeom prst="rect">
            <a:avLst/>
          </a:prstGeom>
          <a:noFill/>
          <a:ln/>
        </p:spPr>
        <p:txBody>
          <a:bodyPr wrap="square" lIns="0" tIns="0" rIns="0" bIns="0" rtlCol="0" anchor="t"/>
          <a:lstStyle/>
          <a:p>
            <a:pPr indent="0" marL="0">
              <a:buNone/>
            </a:pPr>
            <a:r>
              <a:rPr lang="en-US" sz="1050" dirty="0">
                <a:solidFill>
                  <a:srgbClr val="7D8AA0"/>
                </a:solidFill>
                <a:latin typeface="Calibri" pitchFamily="34" charset="0"/>
                <a:ea typeface="Calibri" pitchFamily="34" charset="-122"/>
                <a:cs typeface="Calibri" pitchFamily="34" charset="-120"/>
              </a:rPr>
              <a:t>ten-instance hypervolume</a:t>
            </a:r>
            <a:endParaRPr lang="en-US" sz="1050" dirty="0"/>
          </a:p>
        </p:txBody>
      </p:sp>
      <p:sp>
        <p:nvSpPr>
          <p:cNvPr id="15" name="Text 13"/>
          <p:cNvSpPr txBox="1"/>
          <p:nvPr/>
        </p:nvSpPr>
        <p:spPr>
          <a:xfrm>
            <a:off x="1325880" y="5605272"/>
            <a:ext cx="914400" cy="201168"/>
          </a:xfrm>
          <a:prstGeom prst="rect">
            <a:avLst/>
          </a:prstGeom>
          <a:noFill/>
          <a:ln/>
        </p:spPr>
        <p:txBody>
          <a:bodyPr wrap="square" lIns="0" tIns="0" rIns="0" bIns="0" rtlCol="0" anchor="t"/>
          <a:lstStyle/>
          <a:p>
            <a:pPr algn="ctr" indent="0" marL="0">
              <a:buNone/>
            </a:pPr>
            <a:r>
              <a:rPr lang="en-US" sz="1050" dirty="0">
                <a:solidFill>
                  <a:srgbClr val="9AA6B6"/>
                </a:solidFill>
                <a:latin typeface="Calibri" pitchFamily="34" charset="0"/>
                <a:ea typeface="Calibri" pitchFamily="34" charset="-122"/>
                <a:cs typeface="Calibri" pitchFamily="34" charset="-120"/>
              </a:rPr>
              <a:t>1,200 s</a:t>
            </a:r>
            <a:endParaRPr lang="en-US" sz="1050" dirty="0"/>
          </a:p>
        </p:txBody>
      </p:sp>
      <p:sp>
        <p:nvSpPr>
          <p:cNvPr id="16" name="Text 14"/>
          <p:cNvSpPr txBox="1"/>
          <p:nvPr/>
        </p:nvSpPr>
        <p:spPr>
          <a:xfrm>
            <a:off x="3769046" y="5605272"/>
            <a:ext cx="914400" cy="201168"/>
          </a:xfrm>
          <a:prstGeom prst="rect">
            <a:avLst/>
          </a:prstGeom>
          <a:noFill/>
          <a:ln/>
        </p:spPr>
        <p:txBody>
          <a:bodyPr wrap="square" lIns="0" tIns="0" rIns="0" bIns="0" rtlCol="0" anchor="t"/>
          <a:lstStyle/>
          <a:p>
            <a:pPr algn="ctr" indent="0" marL="0">
              <a:buNone/>
            </a:pPr>
            <a:r>
              <a:rPr lang="en-US" sz="1050" dirty="0">
                <a:solidFill>
                  <a:srgbClr val="9AA6B6"/>
                </a:solidFill>
                <a:latin typeface="Calibri" pitchFamily="34" charset="0"/>
                <a:ea typeface="Calibri" pitchFamily="34" charset="-122"/>
                <a:cs typeface="Calibri" pitchFamily="34" charset="-120"/>
              </a:rPr>
              <a:t>3,600 s</a:t>
            </a:r>
            <a:endParaRPr lang="en-US" sz="1050" dirty="0"/>
          </a:p>
        </p:txBody>
      </p:sp>
      <p:sp>
        <p:nvSpPr>
          <p:cNvPr id="17" name="Text 15"/>
          <p:cNvSpPr txBox="1"/>
          <p:nvPr/>
        </p:nvSpPr>
        <p:spPr>
          <a:xfrm>
            <a:off x="6446520" y="5605272"/>
            <a:ext cx="914400" cy="201168"/>
          </a:xfrm>
          <a:prstGeom prst="rect">
            <a:avLst/>
          </a:prstGeom>
          <a:noFill/>
          <a:ln/>
        </p:spPr>
        <p:txBody>
          <a:bodyPr wrap="square" lIns="0" tIns="0" rIns="0" bIns="0" rtlCol="0" anchor="t"/>
          <a:lstStyle/>
          <a:p>
            <a:pPr algn="ctr" indent="0" marL="0">
              <a:buNone/>
            </a:pPr>
            <a:r>
              <a:rPr lang="en-US" sz="1050" dirty="0">
                <a:solidFill>
                  <a:srgbClr val="9AA6B6"/>
                </a:solidFill>
                <a:latin typeface="Calibri" pitchFamily="34" charset="0"/>
                <a:ea typeface="Calibri" pitchFamily="34" charset="-122"/>
                <a:cs typeface="Calibri" pitchFamily="34" charset="-120"/>
              </a:rPr>
              <a:t>12,000 s</a:t>
            </a:r>
            <a:endParaRPr lang="en-US" sz="1050" dirty="0"/>
          </a:p>
        </p:txBody>
      </p:sp>
      <p:sp>
        <p:nvSpPr>
          <p:cNvPr id="18" name="Shape 16"/>
          <p:cNvSpPr/>
          <p:nvPr/>
        </p:nvSpPr>
        <p:spPr>
          <a:xfrm>
            <a:off x="1783080" y="2340553"/>
            <a:ext cx="2443166" cy="145058"/>
          </a:xfrm>
          <a:prstGeom prst="line">
            <a:avLst/>
          </a:prstGeom>
          <a:noFill/>
          <a:ln w="28575">
            <a:solidFill>
              <a:srgbClr val="3DDC97"/>
            </a:solidFill>
            <a:prstDash val="solid"/>
          </a:ln>
        </p:spPr>
      </p:sp>
      <p:sp>
        <p:nvSpPr>
          <p:cNvPr id="19" name="Shape 17"/>
          <p:cNvSpPr/>
          <p:nvPr/>
        </p:nvSpPr>
        <p:spPr>
          <a:xfrm>
            <a:off x="4226246" y="2485611"/>
            <a:ext cx="2677474" cy="516868"/>
          </a:xfrm>
          <a:prstGeom prst="line">
            <a:avLst/>
          </a:prstGeom>
          <a:noFill/>
          <a:ln w="28575">
            <a:solidFill>
              <a:srgbClr val="3DDC97"/>
            </a:solidFill>
            <a:prstDash val="solid"/>
          </a:ln>
        </p:spPr>
      </p:sp>
      <p:sp>
        <p:nvSpPr>
          <p:cNvPr id="20" name="Shape 18"/>
          <p:cNvSpPr/>
          <p:nvPr/>
        </p:nvSpPr>
        <p:spPr>
          <a:xfrm>
            <a:off x="1728216" y="2285689"/>
            <a:ext cx="109728" cy="109728"/>
          </a:xfrm>
          <a:prstGeom prst="ellipse">
            <a:avLst/>
          </a:prstGeom>
          <a:solidFill>
            <a:srgbClr val="3DDC97"/>
          </a:solidFill>
          <a:ln/>
        </p:spPr>
      </p:sp>
      <p:sp>
        <p:nvSpPr>
          <p:cNvPr id="21" name="Shape 19"/>
          <p:cNvSpPr/>
          <p:nvPr/>
        </p:nvSpPr>
        <p:spPr>
          <a:xfrm>
            <a:off x="4171382" y="2430747"/>
            <a:ext cx="109728" cy="109728"/>
          </a:xfrm>
          <a:prstGeom prst="ellipse">
            <a:avLst/>
          </a:prstGeom>
          <a:solidFill>
            <a:srgbClr val="3DDC97"/>
          </a:solidFill>
          <a:ln/>
        </p:spPr>
      </p:sp>
      <p:sp>
        <p:nvSpPr>
          <p:cNvPr id="22" name="Shape 20"/>
          <p:cNvSpPr/>
          <p:nvPr/>
        </p:nvSpPr>
        <p:spPr>
          <a:xfrm>
            <a:off x="6848856" y="2947615"/>
            <a:ext cx="109728" cy="109728"/>
          </a:xfrm>
          <a:prstGeom prst="ellipse">
            <a:avLst/>
          </a:prstGeom>
          <a:solidFill>
            <a:srgbClr val="3DDC97"/>
          </a:solidFill>
          <a:ln/>
        </p:spPr>
      </p:sp>
      <p:sp>
        <p:nvSpPr>
          <p:cNvPr id="23" name="Shape 21"/>
          <p:cNvSpPr/>
          <p:nvPr/>
        </p:nvSpPr>
        <p:spPr>
          <a:xfrm flipV="1">
            <a:off x="1783080" y="5127751"/>
            <a:ext cx="2443166" cy="112226"/>
          </a:xfrm>
          <a:prstGeom prst="line">
            <a:avLst/>
          </a:prstGeom>
          <a:noFill/>
          <a:ln w="25400">
            <a:solidFill>
              <a:srgbClr val="E8ECF2"/>
            </a:solidFill>
            <a:prstDash val="solid"/>
          </a:ln>
        </p:spPr>
      </p:sp>
      <p:sp>
        <p:nvSpPr>
          <p:cNvPr id="24" name="Shape 22"/>
          <p:cNvSpPr/>
          <p:nvPr/>
        </p:nvSpPr>
        <p:spPr>
          <a:xfrm flipV="1">
            <a:off x="4226246" y="4995690"/>
            <a:ext cx="2677474" cy="132062"/>
          </a:xfrm>
          <a:prstGeom prst="line">
            <a:avLst/>
          </a:prstGeom>
          <a:noFill/>
          <a:ln w="25400">
            <a:solidFill>
              <a:srgbClr val="E8ECF2"/>
            </a:solidFill>
            <a:prstDash val="solid"/>
          </a:ln>
        </p:spPr>
      </p:sp>
      <p:sp>
        <p:nvSpPr>
          <p:cNvPr id="25" name="Shape 23"/>
          <p:cNvSpPr/>
          <p:nvPr/>
        </p:nvSpPr>
        <p:spPr>
          <a:xfrm>
            <a:off x="1728216" y="5185113"/>
            <a:ext cx="109728" cy="109728"/>
          </a:xfrm>
          <a:prstGeom prst="ellipse">
            <a:avLst/>
          </a:prstGeom>
          <a:solidFill>
            <a:srgbClr val="E8ECF2"/>
          </a:solidFill>
          <a:ln/>
        </p:spPr>
      </p:sp>
      <p:sp>
        <p:nvSpPr>
          <p:cNvPr id="26" name="Shape 24"/>
          <p:cNvSpPr/>
          <p:nvPr/>
        </p:nvSpPr>
        <p:spPr>
          <a:xfrm>
            <a:off x="4171382" y="5072887"/>
            <a:ext cx="109728" cy="109728"/>
          </a:xfrm>
          <a:prstGeom prst="ellipse">
            <a:avLst/>
          </a:prstGeom>
          <a:solidFill>
            <a:srgbClr val="E8ECF2"/>
          </a:solidFill>
          <a:ln/>
        </p:spPr>
      </p:sp>
      <p:sp>
        <p:nvSpPr>
          <p:cNvPr id="27" name="Shape 25"/>
          <p:cNvSpPr/>
          <p:nvPr/>
        </p:nvSpPr>
        <p:spPr>
          <a:xfrm>
            <a:off x="6848856" y="4940826"/>
            <a:ext cx="109728" cy="109728"/>
          </a:xfrm>
          <a:prstGeom prst="ellipse">
            <a:avLst/>
          </a:prstGeom>
          <a:solidFill>
            <a:srgbClr val="E8ECF2"/>
          </a:solidFill>
          <a:ln/>
        </p:spPr>
      </p:sp>
      <p:sp>
        <p:nvSpPr>
          <p:cNvPr id="28" name="Shape 26"/>
          <p:cNvSpPr/>
          <p:nvPr/>
        </p:nvSpPr>
        <p:spPr>
          <a:xfrm flipV="1">
            <a:off x="1783080" y="5209954"/>
            <a:ext cx="2443166" cy="16102"/>
          </a:xfrm>
          <a:prstGeom prst="line">
            <a:avLst/>
          </a:prstGeom>
          <a:noFill/>
          <a:ln w="15875">
            <a:solidFill>
              <a:srgbClr val="9AA6B6"/>
            </a:solidFill>
            <a:prstDash val="solid"/>
          </a:ln>
        </p:spPr>
      </p:sp>
      <p:sp>
        <p:nvSpPr>
          <p:cNvPr id="29" name="Shape 27"/>
          <p:cNvSpPr/>
          <p:nvPr/>
        </p:nvSpPr>
        <p:spPr>
          <a:xfrm flipV="1">
            <a:off x="4226246" y="5184966"/>
            <a:ext cx="2677474" cy="24988"/>
          </a:xfrm>
          <a:prstGeom prst="line">
            <a:avLst/>
          </a:prstGeom>
          <a:noFill/>
          <a:ln w="15875">
            <a:solidFill>
              <a:srgbClr val="9AA6B6"/>
            </a:solidFill>
            <a:prstDash val="solid"/>
          </a:ln>
        </p:spPr>
      </p:sp>
      <p:sp>
        <p:nvSpPr>
          <p:cNvPr id="30" name="Shape 28"/>
          <p:cNvSpPr/>
          <p:nvPr/>
        </p:nvSpPr>
        <p:spPr>
          <a:xfrm>
            <a:off x="1728216" y="5171192"/>
            <a:ext cx="109728" cy="109728"/>
          </a:xfrm>
          <a:prstGeom prst="ellipse">
            <a:avLst/>
          </a:prstGeom>
          <a:solidFill>
            <a:srgbClr val="9AA6B6"/>
          </a:solidFill>
          <a:ln/>
        </p:spPr>
      </p:sp>
      <p:sp>
        <p:nvSpPr>
          <p:cNvPr id="31" name="Shape 29"/>
          <p:cNvSpPr/>
          <p:nvPr/>
        </p:nvSpPr>
        <p:spPr>
          <a:xfrm>
            <a:off x="4171382" y="5155090"/>
            <a:ext cx="109728" cy="109728"/>
          </a:xfrm>
          <a:prstGeom prst="ellipse">
            <a:avLst/>
          </a:prstGeom>
          <a:solidFill>
            <a:srgbClr val="9AA6B6"/>
          </a:solidFill>
          <a:ln/>
        </p:spPr>
      </p:sp>
      <p:sp>
        <p:nvSpPr>
          <p:cNvPr id="32" name="Shape 30"/>
          <p:cNvSpPr/>
          <p:nvPr/>
        </p:nvSpPr>
        <p:spPr>
          <a:xfrm>
            <a:off x="6848856" y="5130102"/>
            <a:ext cx="109728" cy="109728"/>
          </a:xfrm>
          <a:prstGeom prst="ellipse">
            <a:avLst/>
          </a:prstGeom>
          <a:solidFill>
            <a:srgbClr val="9AA6B6"/>
          </a:solidFill>
          <a:ln/>
        </p:spPr>
      </p:sp>
      <p:sp>
        <p:nvSpPr>
          <p:cNvPr id="33" name="Shape 31"/>
          <p:cNvSpPr/>
          <p:nvPr/>
        </p:nvSpPr>
        <p:spPr>
          <a:xfrm>
            <a:off x="1783080" y="5216778"/>
            <a:ext cx="2443166" cy="27776"/>
          </a:xfrm>
          <a:prstGeom prst="line">
            <a:avLst/>
          </a:prstGeom>
          <a:noFill/>
          <a:ln w="15875">
            <a:solidFill>
              <a:srgbClr val="7D8AA0"/>
            </a:solidFill>
            <a:prstDash val="dash"/>
          </a:ln>
        </p:spPr>
      </p:sp>
      <p:sp>
        <p:nvSpPr>
          <p:cNvPr id="34" name="Shape 32"/>
          <p:cNvSpPr/>
          <p:nvPr/>
        </p:nvSpPr>
        <p:spPr>
          <a:xfrm flipV="1">
            <a:off x="4226246" y="5150137"/>
            <a:ext cx="2677474" cy="94416"/>
          </a:xfrm>
          <a:prstGeom prst="line">
            <a:avLst/>
          </a:prstGeom>
          <a:noFill/>
          <a:ln w="15875">
            <a:solidFill>
              <a:srgbClr val="7D8AA0"/>
            </a:solidFill>
            <a:prstDash val="dash"/>
          </a:ln>
        </p:spPr>
      </p:sp>
      <p:sp>
        <p:nvSpPr>
          <p:cNvPr id="35" name="Shape 33"/>
          <p:cNvSpPr/>
          <p:nvPr/>
        </p:nvSpPr>
        <p:spPr>
          <a:xfrm>
            <a:off x="1728216" y="5161914"/>
            <a:ext cx="109728" cy="109728"/>
          </a:xfrm>
          <a:prstGeom prst="ellipse">
            <a:avLst/>
          </a:prstGeom>
          <a:solidFill>
            <a:srgbClr val="7D8AA0"/>
          </a:solidFill>
          <a:ln/>
        </p:spPr>
      </p:sp>
      <p:sp>
        <p:nvSpPr>
          <p:cNvPr id="36" name="Shape 34"/>
          <p:cNvSpPr/>
          <p:nvPr/>
        </p:nvSpPr>
        <p:spPr>
          <a:xfrm>
            <a:off x="4171382" y="5189690"/>
            <a:ext cx="109728" cy="109728"/>
          </a:xfrm>
          <a:prstGeom prst="ellipse">
            <a:avLst/>
          </a:prstGeom>
          <a:solidFill>
            <a:srgbClr val="7D8AA0"/>
          </a:solidFill>
          <a:ln/>
        </p:spPr>
      </p:sp>
      <p:sp>
        <p:nvSpPr>
          <p:cNvPr id="37" name="Shape 35"/>
          <p:cNvSpPr/>
          <p:nvPr/>
        </p:nvSpPr>
        <p:spPr>
          <a:xfrm>
            <a:off x="6848856" y="5095273"/>
            <a:ext cx="109728" cy="109728"/>
          </a:xfrm>
          <a:prstGeom prst="ellipse">
            <a:avLst/>
          </a:prstGeom>
          <a:solidFill>
            <a:srgbClr val="7D8AA0"/>
          </a:solidFill>
          <a:ln/>
        </p:spPr>
      </p:sp>
      <p:sp>
        <p:nvSpPr>
          <p:cNvPr id="38" name="Text 36"/>
          <p:cNvSpPr txBox="1"/>
          <p:nvPr/>
        </p:nvSpPr>
        <p:spPr>
          <a:xfrm>
            <a:off x="7040880" y="2883607"/>
            <a:ext cx="2011680" cy="237744"/>
          </a:xfrm>
          <a:prstGeom prst="rect">
            <a:avLst/>
          </a:prstGeom>
          <a:noFill/>
          <a:ln/>
        </p:spPr>
        <p:txBody>
          <a:bodyPr wrap="square" lIns="0" tIns="0" rIns="0" bIns="0" rtlCol="0" anchor="t"/>
          <a:lstStyle/>
          <a:p>
            <a:pPr indent="0" marL="0">
              <a:buNone/>
            </a:pPr>
            <a:r>
              <a:rPr lang="en-US" sz="1150" b="1" dirty="0">
                <a:solidFill>
                  <a:srgbClr val="3DDC97"/>
                </a:solidFill>
                <a:latin typeface="Calibri" pitchFamily="34" charset="0"/>
                <a:ea typeface="Calibri" pitchFamily="34" charset="-122"/>
                <a:cs typeface="Calibri" pitchFamily="34" charset="-120"/>
              </a:rPr>
              <a:t>construction (GRASP)</a:t>
            </a:r>
            <a:endParaRPr lang="en-US" sz="1150" dirty="0"/>
          </a:p>
        </p:txBody>
      </p:sp>
      <p:sp>
        <p:nvSpPr>
          <p:cNvPr id="39" name="Text 37"/>
          <p:cNvSpPr txBox="1"/>
          <p:nvPr/>
        </p:nvSpPr>
        <p:spPr>
          <a:xfrm>
            <a:off x="7040880" y="4721370"/>
            <a:ext cx="1828800" cy="219456"/>
          </a:xfrm>
          <a:prstGeom prst="rect">
            <a:avLst/>
          </a:prstGeom>
          <a:noFill/>
          <a:ln/>
        </p:spPr>
        <p:txBody>
          <a:bodyPr wrap="square" lIns="0" tIns="0" rIns="0" bIns="0" rtlCol="0" anchor="t"/>
          <a:lstStyle/>
          <a:p>
            <a:pPr indent="0" marL="0">
              <a:buNone/>
            </a:pPr>
            <a:r>
              <a:rPr lang="en-US" sz="1150" b="1" dirty="0">
                <a:solidFill>
                  <a:srgbClr val="E8ECF2"/>
                </a:solidFill>
                <a:latin typeface="Calibri" pitchFamily="34" charset="0"/>
                <a:ea typeface="Calibri" pitchFamily="34" charset="-122"/>
                <a:cs typeface="Calibri" pitchFamily="34" charset="-120"/>
              </a:rPr>
              <a:t>Hill Climbing</a:t>
            </a:r>
            <a:endParaRPr lang="en-US" sz="1150" dirty="0"/>
          </a:p>
        </p:txBody>
      </p:sp>
      <p:sp>
        <p:nvSpPr>
          <p:cNvPr id="40" name="Text 38"/>
          <p:cNvSpPr txBox="1"/>
          <p:nvPr/>
        </p:nvSpPr>
        <p:spPr>
          <a:xfrm>
            <a:off x="7040880" y="5184966"/>
            <a:ext cx="1828800" cy="219456"/>
          </a:xfrm>
          <a:prstGeom prst="rect">
            <a:avLst/>
          </a:prstGeom>
          <a:noFill/>
          <a:ln/>
        </p:spPr>
        <p:txBody>
          <a:bodyPr wrap="square" lIns="0" tIns="0" rIns="0" bIns="0" rtlCol="0" anchor="t"/>
          <a:lstStyle/>
          <a:p>
            <a:pPr indent="0" marL="0">
              <a:buNone/>
            </a:pPr>
            <a:r>
              <a:rPr lang="en-US" sz="1050" dirty="0">
                <a:solidFill>
                  <a:srgbClr val="7D8AA0"/>
                </a:solidFill>
                <a:latin typeface="Calibri" pitchFamily="34" charset="0"/>
                <a:ea typeface="Calibri" pitchFamily="34" charset="-122"/>
                <a:cs typeface="Calibri" pitchFamily="34" charset="-120"/>
              </a:rPr>
              <a:t>bottleneck move pool</a:t>
            </a:r>
            <a:endParaRPr lang="en-US" sz="1050" dirty="0"/>
          </a:p>
        </p:txBody>
      </p:sp>
      <p:sp>
        <p:nvSpPr>
          <p:cNvPr id="41" name="Text 39"/>
          <p:cNvSpPr txBox="1"/>
          <p:nvPr/>
        </p:nvSpPr>
        <p:spPr>
          <a:xfrm>
            <a:off x="7040880" y="5386134"/>
            <a:ext cx="1828800" cy="219456"/>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all 17 operators</a:t>
            </a:r>
            <a:endParaRPr lang="en-US" sz="1050" dirty="0"/>
          </a:p>
        </p:txBody>
      </p:sp>
      <p:sp>
        <p:nvSpPr>
          <p:cNvPr id="42" name="Shape 40"/>
          <p:cNvSpPr/>
          <p:nvPr/>
        </p:nvSpPr>
        <p:spPr>
          <a:xfrm>
            <a:off x="6583680" y="3057343"/>
            <a:ext cx="0" cy="1883482"/>
          </a:xfrm>
          <a:prstGeom prst="line">
            <a:avLst/>
          </a:prstGeom>
          <a:noFill/>
          <a:ln w="15875">
            <a:solidFill>
              <a:srgbClr val="F2C14E"/>
            </a:solidFill>
            <a:prstDash val="solid"/>
            <a:headEnd type="triangle"/>
            <a:tailEnd type="triangle"/>
          </a:ln>
        </p:spPr>
      </p:sp>
      <p:sp>
        <p:nvSpPr>
          <p:cNvPr id="43" name="Text 41"/>
          <p:cNvSpPr txBox="1"/>
          <p:nvPr/>
        </p:nvSpPr>
        <p:spPr>
          <a:xfrm>
            <a:off x="4434840" y="3770485"/>
            <a:ext cx="2057400" cy="457200"/>
          </a:xfrm>
          <a:prstGeom prst="rect">
            <a:avLst/>
          </a:prstGeom>
          <a:noFill/>
          <a:ln/>
        </p:spPr>
        <p:txBody>
          <a:bodyPr wrap="square" lIns="0" tIns="0" rIns="0" bIns="0" rtlCol="0" anchor="t"/>
          <a:lstStyle/>
          <a:p>
            <a:pPr algn="r" indent="0" marL="0">
              <a:buNone/>
            </a:pPr>
            <a:r>
              <a:rPr lang="en-US" sz="1200" b="1" dirty="0">
                <a:solidFill>
                  <a:srgbClr val="F2C14E"/>
                </a:solidFill>
                <a:latin typeface="Calibri" pitchFamily="34" charset="0"/>
                <a:ea typeface="Calibri" pitchFamily="34" charset="-122"/>
                <a:cs typeface="Calibri" pitchFamily="34" charset="-120"/>
              </a:rPr>
              <a:t>lead ≥ 269,607 HV</a:t>
            </a:r>
            <a:endParaRPr lang="en-US" sz="1200" dirty="0"/>
          </a:p>
          <a:p>
            <a:pPr algn="r" indent="0" marL="0">
              <a:buNone/>
            </a:pPr>
            <a:r>
              <a:rPr lang="en-US" sz="1200" b="1" dirty="0">
                <a:solidFill>
                  <a:srgbClr val="F2C14E"/>
                </a:solidFill>
                <a:latin typeface="Calibri" pitchFamily="34" charset="0"/>
                <a:ea typeface="Calibri" pitchFamily="34" charset="-122"/>
                <a:cs typeface="Calibri" pitchFamily="34" charset="-120"/>
              </a:rPr>
              <a:t>at every budget</a:t>
            </a:r>
            <a:endParaRPr lang="en-US" sz="1200" dirty="0"/>
          </a:p>
        </p:txBody>
      </p:sp>
      <p:sp>
        <p:nvSpPr>
          <p:cNvPr id="44" name="Text 42"/>
          <p:cNvSpPr txBox="1"/>
          <p:nvPr/>
        </p:nvSpPr>
        <p:spPr>
          <a:xfrm>
            <a:off x="1828800" y="4416357"/>
            <a:ext cx="3017520" cy="457200"/>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+33,043 HV over 10×</a:t>
            </a:r>
            <a:endParaRPr lang="en-US" sz="1150" dirty="0"/>
          </a:p>
          <a:p>
            <a:pPr indent="0" marL="0">
              <a:buNone/>
            </a:pPr>
            <a:r>
              <a:rPr lang="en-US" sz="1150" dirty="0">
                <a:solidFill>
                  <a:srgbClr val="E8ECF2"/>
                </a:solidFill>
                <a:latin typeface="Calibri" pitchFamily="34" charset="0"/>
                <a:ea typeface="Calibri" pitchFamily="34" charset="-122"/>
                <a:cs typeface="Calibri" pitchFamily="34" charset="-120"/>
              </a:rPr>
              <a:t>≈ 1.5× the control’s re-draw</a:t>
            </a:r>
            <a:endParaRPr lang="en-US" sz="1150" dirty="0"/>
          </a:p>
        </p:txBody>
      </p:sp>
      <p:sp>
        <p:nvSpPr>
          <p:cNvPr id="45" name="Text 43"/>
          <p:cNvSpPr txBox="1"/>
          <p:nvPr/>
        </p:nvSpPr>
        <p:spPr>
          <a:xfrm>
            <a:off x="1874520" y="1956505"/>
            <a:ext cx="3291840" cy="237744"/>
          </a:xfrm>
          <a:prstGeom prst="rect">
            <a:avLst/>
          </a:prstGeom>
          <a:noFill/>
          <a:ln/>
        </p:spPr>
        <p:txBody>
          <a:bodyPr wrap="square" lIns="0" tIns="0" rIns="0" bIns="0" rtlCol="0" anchor="t"/>
          <a:lstStyle/>
          <a:p>
            <a:pPr indent="0" marL="0">
              <a:buNone/>
            </a:pPr>
            <a:r>
              <a:rPr lang="en-US" sz="1100" i="1" dirty="0">
                <a:solidFill>
                  <a:srgbClr val="3DDC97"/>
                </a:solidFill>
                <a:latin typeface="Calibri" pitchFamily="34" charset="0"/>
                <a:ea typeface="Calibri" pitchFamily="34" charset="-122"/>
                <a:cs typeface="Calibri" pitchFamily="34" charset="-120"/>
              </a:rPr>
              <a:t>a new draw of constructions at each budget</a:t>
            </a:r>
            <a:endParaRPr lang="en-US" sz="1100" dirty="0"/>
          </a:p>
        </p:txBody>
      </p:sp>
      <p:sp>
        <p:nvSpPr>
          <p:cNvPr id="46" name="Text 44"/>
          <p:cNvSpPr txBox="1"/>
          <p:nvPr/>
        </p:nvSpPr>
        <p:spPr>
          <a:xfrm>
            <a:off x="9144000" y="2057400"/>
            <a:ext cx="2407615" cy="411480"/>
          </a:xfrm>
          <a:prstGeom prst="rect">
            <a:avLst/>
          </a:prstGeom>
          <a:noFill/>
          <a:ln/>
        </p:spPr>
        <p:txBody>
          <a:bodyPr wrap="square" lIns="0" tIns="0" rIns="0" bIns="0" rtlCol="0" anchor="t"/>
          <a:lstStyle/>
          <a:p>
            <a:pPr indent="0" marL="0">
              <a:buNone/>
            </a:pPr>
            <a:r>
              <a:rPr lang="en-US" sz="1050" b="1" spc="160" kern="0" dirty="0">
                <a:solidFill>
                  <a:srgbClr val="9AA6B6"/>
                </a:solidFill>
                <a:latin typeface="Calibri" pitchFamily="34" charset="0"/>
                <a:ea typeface="Calibri" pitchFamily="34" charset="-122"/>
                <a:cs typeface="Calibri" pitchFamily="34" charset="-120"/>
              </a:rPr>
              <a:t>CONSTRUCTION, NO SEARCH</a:t>
            </a:r>
            <a:endParaRPr lang="en-US" sz="1050" dirty="0"/>
          </a:p>
        </p:txBody>
      </p:sp>
      <p:sp>
        <p:nvSpPr>
          <p:cNvPr id="47" name="Text 45"/>
          <p:cNvSpPr txBox="1"/>
          <p:nvPr/>
        </p:nvSpPr>
        <p:spPr>
          <a:xfrm>
            <a:off x="9144000" y="2487168"/>
            <a:ext cx="2407615" cy="1005840"/>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Eight greedy min-degree orderings, under a minute per instance, would place on ESA’s leaderboards:</a:t>
            </a:r>
            <a:endParaRPr lang="en-US" sz="1300" dirty="0"/>
          </a:p>
        </p:txBody>
      </p:sp>
      <p:sp>
        <p:nvSpPr>
          <p:cNvPr id="48" name="Text 46"/>
          <p:cNvSpPr txBox="1"/>
          <p:nvPr/>
        </p:nvSpPr>
        <p:spPr>
          <a:xfrm>
            <a:off x="9144000" y="3611880"/>
            <a:ext cx="960120" cy="548640"/>
          </a:xfrm>
          <a:prstGeom prst="rect">
            <a:avLst/>
          </a:prstGeom>
          <a:noFill/>
          <a:ln/>
        </p:spPr>
        <p:txBody>
          <a:bodyPr wrap="square" lIns="0" tIns="0" rIns="0" bIns="0" rtlCol="0" anchor="t"/>
          <a:lstStyle/>
          <a:p>
            <a:pPr indent="0" marL="0">
              <a:buNone/>
            </a:pPr>
            <a:r>
              <a:rPr lang="en-US" sz="3000" dirty="0">
                <a:solidFill>
                  <a:srgbClr val="F2C14E"/>
                </a:solidFill>
                <a:latin typeface="Century Schoolbook" pitchFamily="34" charset="0"/>
                <a:ea typeface="Century Schoolbook" pitchFamily="34" charset="-122"/>
                <a:cs typeface="Century Schoolbook" pitchFamily="34" charset="-120"/>
              </a:rPr>
              <a:t>9th</a:t>
            </a:r>
            <a:endParaRPr lang="en-US" sz="3000" dirty="0"/>
          </a:p>
        </p:txBody>
      </p:sp>
      <p:sp>
        <p:nvSpPr>
          <p:cNvPr id="49" name="Text 47"/>
          <p:cNvSpPr txBox="1"/>
          <p:nvPr/>
        </p:nvSpPr>
        <p:spPr>
          <a:xfrm>
            <a:off x="10149840" y="3657600"/>
            <a:ext cx="1401775" cy="237744"/>
          </a:xfrm>
          <a:prstGeom prst="rect">
            <a:avLst/>
          </a:prstGeom>
          <a:noFill/>
          <a:ln/>
        </p:spPr>
        <p:txBody>
          <a:bodyPr wrap="square" lIns="0" tIns="0" rIns="0" bIns="0" rtlCol="0" anchor="t"/>
          <a:lstStyle/>
          <a:p>
            <a:pPr indent="0" marL="0">
              <a:buNone/>
            </a:pPr>
            <a:r>
              <a:rPr lang="en-US" sz="1250" b="1" dirty="0">
                <a:solidFill>
                  <a:srgbClr val="E8ECF2"/>
                </a:solidFill>
                <a:latin typeface="Calibri" pitchFamily="34" charset="0"/>
                <a:ea typeface="Calibri" pitchFamily="34" charset="-122"/>
                <a:cs typeface="Calibri" pitchFamily="34" charset="-120"/>
              </a:rPr>
              <a:t>of 15</a:t>
            </a:r>
            <a:endParaRPr lang="en-US" sz="1250" dirty="0"/>
          </a:p>
        </p:txBody>
      </p:sp>
      <p:sp>
        <p:nvSpPr>
          <p:cNvPr id="50" name="Text 48"/>
          <p:cNvSpPr txBox="1"/>
          <p:nvPr/>
        </p:nvSpPr>
        <p:spPr>
          <a:xfrm>
            <a:off x="10149840" y="3904488"/>
            <a:ext cx="1401775" cy="219456"/>
          </a:xfrm>
          <a:prstGeom prst="rect">
            <a:avLst/>
          </a:prstGeom>
          <a:noFill/>
          <a:ln/>
        </p:spPr>
        <p:txBody>
          <a:bodyPr wrap="square" lIns="0" tIns="0" rIns="0" bIns="0" rtlCol="0" anchor="t"/>
          <a:lstStyle/>
          <a:p>
            <a:pPr indent="0" marL="0">
              <a:buNone/>
            </a:pPr>
            <a:r>
              <a:rPr lang="en-US" sz="1100" dirty="0">
                <a:solidFill>
                  <a:srgbClr val="9AA6B6"/>
                </a:solidFill>
                <a:latin typeface="Calibri" pitchFamily="34" charset="0"/>
                <a:ea typeface="Calibri" pitchFamily="34" charset="-122"/>
                <a:cs typeface="Calibri" pitchFamily="34" charset="-120"/>
              </a:rPr>
              <a:t>small-graph</a:t>
            </a:r>
            <a:endParaRPr lang="en-US" sz="1100" dirty="0"/>
          </a:p>
        </p:txBody>
      </p:sp>
      <p:sp>
        <p:nvSpPr>
          <p:cNvPr id="51" name="Text 49"/>
          <p:cNvSpPr txBox="1"/>
          <p:nvPr/>
        </p:nvSpPr>
        <p:spPr>
          <a:xfrm>
            <a:off x="9144000" y="4389120"/>
            <a:ext cx="960120" cy="548640"/>
          </a:xfrm>
          <a:prstGeom prst="rect">
            <a:avLst/>
          </a:prstGeom>
          <a:noFill/>
          <a:ln/>
        </p:spPr>
        <p:txBody>
          <a:bodyPr wrap="square" lIns="0" tIns="0" rIns="0" bIns="0" rtlCol="0" anchor="t"/>
          <a:lstStyle/>
          <a:p>
            <a:pPr indent="0" marL="0">
              <a:buNone/>
            </a:pPr>
            <a:r>
              <a:rPr lang="en-US" sz="3000" dirty="0">
                <a:solidFill>
                  <a:srgbClr val="F2C14E"/>
                </a:solidFill>
                <a:latin typeface="Century Schoolbook" pitchFamily="34" charset="0"/>
                <a:ea typeface="Century Schoolbook" pitchFamily="34" charset="-122"/>
                <a:cs typeface="Century Schoolbook" pitchFamily="34" charset="-120"/>
              </a:rPr>
              <a:t>9th</a:t>
            </a:r>
            <a:endParaRPr lang="en-US" sz="3000" dirty="0"/>
          </a:p>
        </p:txBody>
      </p:sp>
      <p:sp>
        <p:nvSpPr>
          <p:cNvPr id="52" name="Text 50"/>
          <p:cNvSpPr txBox="1"/>
          <p:nvPr/>
        </p:nvSpPr>
        <p:spPr>
          <a:xfrm>
            <a:off x="10149840" y="4434840"/>
            <a:ext cx="1401775" cy="237744"/>
          </a:xfrm>
          <a:prstGeom prst="rect">
            <a:avLst/>
          </a:prstGeom>
          <a:noFill/>
          <a:ln/>
        </p:spPr>
        <p:txBody>
          <a:bodyPr wrap="square" lIns="0" tIns="0" rIns="0" bIns="0" rtlCol="0" anchor="t"/>
          <a:lstStyle/>
          <a:p>
            <a:pPr indent="0" marL="0">
              <a:buNone/>
            </a:pPr>
            <a:r>
              <a:rPr lang="en-US" sz="1250" b="1" dirty="0">
                <a:solidFill>
                  <a:srgbClr val="E8ECF2"/>
                </a:solidFill>
                <a:latin typeface="Calibri" pitchFamily="34" charset="0"/>
                <a:ea typeface="Calibri" pitchFamily="34" charset="-122"/>
                <a:cs typeface="Calibri" pitchFamily="34" charset="-120"/>
              </a:rPr>
              <a:t>of 11</a:t>
            </a:r>
            <a:endParaRPr lang="en-US" sz="1250" dirty="0"/>
          </a:p>
        </p:txBody>
      </p:sp>
      <p:sp>
        <p:nvSpPr>
          <p:cNvPr id="53" name="Text 51"/>
          <p:cNvSpPr txBox="1"/>
          <p:nvPr/>
        </p:nvSpPr>
        <p:spPr>
          <a:xfrm>
            <a:off x="10149840" y="4681728"/>
            <a:ext cx="1401775" cy="219456"/>
          </a:xfrm>
          <a:prstGeom prst="rect">
            <a:avLst/>
          </a:prstGeom>
          <a:noFill/>
          <a:ln/>
        </p:spPr>
        <p:txBody>
          <a:bodyPr wrap="square" lIns="0" tIns="0" rIns="0" bIns="0" rtlCol="0" anchor="t"/>
          <a:lstStyle/>
          <a:p>
            <a:pPr indent="0" marL="0">
              <a:buNone/>
            </a:pPr>
            <a:r>
              <a:rPr lang="en-US" sz="1100" dirty="0">
                <a:solidFill>
                  <a:srgbClr val="9AA6B6"/>
                </a:solidFill>
                <a:latin typeface="Calibri" pitchFamily="34" charset="0"/>
                <a:ea typeface="Calibri" pitchFamily="34" charset="-122"/>
                <a:cs typeface="Calibri" pitchFamily="34" charset="-120"/>
              </a:rPr>
              <a:t>medium-graph</a:t>
            </a:r>
            <a:endParaRPr lang="en-US" sz="1100" dirty="0"/>
          </a:p>
        </p:txBody>
      </p:sp>
      <p:sp>
        <p:nvSpPr>
          <p:cNvPr id="54" name="Text 52"/>
          <p:cNvSpPr txBox="1"/>
          <p:nvPr/>
        </p:nvSpPr>
        <p:spPr>
          <a:xfrm>
            <a:off x="9144000" y="5166360"/>
            <a:ext cx="960120" cy="548640"/>
          </a:xfrm>
          <a:prstGeom prst="rect">
            <a:avLst/>
          </a:prstGeom>
          <a:noFill/>
          <a:ln/>
        </p:spPr>
        <p:txBody>
          <a:bodyPr wrap="square" lIns="0" tIns="0" rIns="0" bIns="0" rtlCol="0" anchor="t"/>
          <a:lstStyle/>
          <a:p>
            <a:pPr indent="0" marL="0">
              <a:buNone/>
            </a:pPr>
            <a:r>
              <a:rPr lang="en-US" sz="3000" dirty="0">
                <a:solidFill>
                  <a:srgbClr val="F2C14E"/>
                </a:solidFill>
                <a:latin typeface="Century Schoolbook" pitchFamily="34" charset="0"/>
                <a:ea typeface="Century Schoolbook" pitchFamily="34" charset="-122"/>
                <a:cs typeface="Century Schoolbook" pitchFamily="34" charset="-120"/>
              </a:rPr>
              <a:t>7th</a:t>
            </a:r>
            <a:endParaRPr lang="en-US" sz="3000" dirty="0"/>
          </a:p>
        </p:txBody>
      </p:sp>
      <p:sp>
        <p:nvSpPr>
          <p:cNvPr id="55" name="Text 53"/>
          <p:cNvSpPr txBox="1"/>
          <p:nvPr/>
        </p:nvSpPr>
        <p:spPr>
          <a:xfrm>
            <a:off x="10149840" y="5212080"/>
            <a:ext cx="1401775" cy="237744"/>
          </a:xfrm>
          <a:prstGeom prst="rect">
            <a:avLst/>
          </a:prstGeom>
          <a:noFill/>
          <a:ln/>
        </p:spPr>
        <p:txBody>
          <a:bodyPr wrap="square" lIns="0" tIns="0" rIns="0" bIns="0" rtlCol="0" anchor="t"/>
          <a:lstStyle/>
          <a:p>
            <a:pPr indent="0" marL="0">
              <a:buNone/>
            </a:pPr>
            <a:r>
              <a:rPr lang="en-US" sz="1250" b="1" dirty="0">
                <a:solidFill>
                  <a:srgbClr val="E8ECF2"/>
                </a:solidFill>
                <a:latin typeface="Calibri" pitchFamily="34" charset="0"/>
                <a:ea typeface="Calibri" pitchFamily="34" charset="-122"/>
                <a:cs typeface="Calibri" pitchFamily="34" charset="-120"/>
              </a:rPr>
              <a:t>of 11, tied</a:t>
            </a:r>
            <a:endParaRPr lang="en-US" sz="1250" dirty="0"/>
          </a:p>
        </p:txBody>
      </p:sp>
      <p:sp>
        <p:nvSpPr>
          <p:cNvPr id="56" name="Text 54"/>
          <p:cNvSpPr txBox="1"/>
          <p:nvPr/>
        </p:nvSpPr>
        <p:spPr>
          <a:xfrm>
            <a:off x="10149840" y="5458968"/>
            <a:ext cx="1401775" cy="219456"/>
          </a:xfrm>
          <a:prstGeom prst="rect">
            <a:avLst/>
          </a:prstGeom>
          <a:noFill/>
          <a:ln/>
        </p:spPr>
        <p:txBody>
          <a:bodyPr wrap="square" lIns="0" tIns="0" rIns="0" bIns="0" rtlCol="0" anchor="t"/>
          <a:lstStyle/>
          <a:p>
            <a:pPr indent="0" marL="0">
              <a:buNone/>
            </a:pPr>
            <a:r>
              <a:rPr lang="en-US" sz="1100" dirty="0">
                <a:solidFill>
                  <a:srgbClr val="9AA6B6"/>
                </a:solidFill>
                <a:latin typeface="Calibri" pitchFamily="34" charset="0"/>
                <a:ea typeface="Calibri" pitchFamily="34" charset="-122"/>
                <a:cs typeface="Calibri" pitchFamily="34" charset="-120"/>
              </a:rPr>
              <a:t>large-graph</a:t>
            </a:r>
            <a:endParaRPr lang="en-US" sz="110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VII · WHAT TO ASK OF A TABLE</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What I would ask of any benchmark table</a:t>
            </a:r>
            <a:endParaRPr lang="en-US" sz="2700" dirty="0"/>
          </a:p>
        </p:txBody>
      </p:sp>
      <p:sp>
        <p:nvSpPr>
          <p:cNvPr id="4" name="Text 2"/>
          <p:cNvSpPr txBox="1"/>
          <p:nvPr/>
        </p:nvSpPr>
        <p:spPr>
          <a:xfrm>
            <a:off x="640080" y="1773936"/>
            <a:ext cx="548640" cy="640080"/>
          </a:xfrm>
          <a:prstGeom prst="rect">
            <a:avLst/>
          </a:prstGeom>
          <a:noFill/>
          <a:ln/>
        </p:spPr>
        <p:txBody>
          <a:bodyPr wrap="square" lIns="0" tIns="0" rIns="0" bIns="0" rtlCol="0" anchor="t"/>
          <a:lstStyle/>
          <a:p>
            <a:pPr indent="0" marL="0">
              <a:buNone/>
            </a:pPr>
            <a:r>
              <a:rPr lang="en-US" sz="3400" dirty="0">
                <a:solidFill>
                  <a:srgbClr val="3DDC97"/>
                </a:solidFill>
                <a:latin typeface="Century Schoolbook" pitchFamily="34" charset="0"/>
                <a:ea typeface="Century Schoolbook" pitchFamily="34" charset="-122"/>
                <a:cs typeface="Century Schoolbook" pitchFamily="34" charset="-120"/>
              </a:rPr>
              <a:t>1</a:t>
            </a:r>
            <a:endParaRPr lang="en-US" sz="3400" dirty="0"/>
          </a:p>
        </p:txBody>
      </p:sp>
      <p:sp>
        <p:nvSpPr>
          <p:cNvPr id="5" name="Text 3"/>
          <p:cNvSpPr txBox="1"/>
          <p:nvPr/>
        </p:nvSpPr>
        <p:spPr>
          <a:xfrm>
            <a:off x="1325880" y="1828800"/>
            <a:ext cx="10225735" cy="384048"/>
          </a:xfrm>
          <a:prstGeom prst="rect">
            <a:avLst/>
          </a:prstGeom>
          <a:noFill/>
          <a:ln/>
        </p:spPr>
        <p:txBody>
          <a:bodyPr wrap="square" lIns="0" tIns="0" rIns="0" bIns="0" rtlCol="0" anchor="t"/>
          <a:lstStyle/>
          <a:p>
            <a:pPr indent="0" marL="0">
              <a:buNone/>
            </a:pPr>
            <a:r>
              <a:rPr lang="en-US" sz="2000" dirty="0">
                <a:solidFill>
                  <a:srgbClr val="E8ECF2"/>
                </a:solidFill>
                <a:latin typeface="Century Schoolbook" pitchFamily="34" charset="0"/>
                <a:ea typeface="Century Schoolbook" pitchFamily="34" charset="-122"/>
                <a:cs typeface="Century Schoolbook" pitchFamily="34" charset="-120"/>
              </a:rPr>
              <a:t>Run the control twice, and publish the difference.</a:t>
            </a:r>
            <a:endParaRPr lang="en-US" sz="2000" dirty="0"/>
          </a:p>
        </p:txBody>
      </p:sp>
      <p:sp>
        <p:nvSpPr>
          <p:cNvPr id="6" name="Text 4"/>
          <p:cNvSpPr txBox="1"/>
          <p:nvPr/>
        </p:nvSpPr>
        <p:spPr>
          <a:xfrm>
            <a:off x="1325880" y="2249424"/>
            <a:ext cx="10225735" cy="502920"/>
          </a:xfrm>
          <a:prstGeom prst="rect">
            <a:avLst/>
          </a:prstGeom>
          <a:noFill/>
          <a:ln/>
        </p:spPr>
        <p:txBody>
          <a:bodyPr wrap="square" lIns="0" tIns="0" rIns="0" bIns="0" rtlCol="0" anchor="t"/>
          <a:lstStyle/>
          <a:p>
            <a:pPr indent="0" marL="0">
              <a:buNone/>
            </a:pPr>
            <a:r>
              <a:rPr lang="en-US" sz="1400" dirty="0">
                <a:solidFill>
                  <a:srgbClr val="9AA6B6"/>
                </a:solidFill>
                <a:latin typeface="Calibri" pitchFamily="34" charset="0"/>
                <a:ea typeface="Calibri" pitchFamily="34" charset="-122"/>
                <a:cs typeface="Calibri" pitchFamily="34" charset="-120"/>
              </a:rPr>
              <a:t>Two sessions, not two seeds. Ours moved the ten-instance total by 21,519 HV.</a:t>
            </a:r>
            <a:endParaRPr lang="en-US" sz="1400" dirty="0"/>
          </a:p>
        </p:txBody>
      </p:sp>
      <p:sp>
        <p:nvSpPr>
          <p:cNvPr id="7" name="Text 5"/>
          <p:cNvSpPr txBox="1"/>
          <p:nvPr/>
        </p:nvSpPr>
        <p:spPr>
          <a:xfrm>
            <a:off x="640080" y="2889504"/>
            <a:ext cx="548640" cy="640080"/>
          </a:xfrm>
          <a:prstGeom prst="rect">
            <a:avLst/>
          </a:prstGeom>
          <a:noFill/>
          <a:ln/>
        </p:spPr>
        <p:txBody>
          <a:bodyPr wrap="square" lIns="0" tIns="0" rIns="0" bIns="0" rtlCol="0" anchor="t"/>
          <a:lstStyle/>
          <a:p>
            <a:pPr indent="0" marL="0">
              <a:buNone/>
            </a:pPr>
            <a:r>
              <a:rPr lang="en-US" sz="3400" dirty="0">
                <a:solidFill>
                  <a:srgbClr val="3DDC97"/>
                </a:solidFill>
                <a:latin typeface="Century Schoolbook" pitchFamily="34" charset="0"/>
                <a:ea typeface="Century Schoolbook" pitchFamily="34" charset="-122"/>
                <a:cs typeface="Century Schoolbook" pitchFamily="34" charset="-120"/>
              </a:rPr>
              <a:t>2</a:t>
            </a:r>
            <a:endParaRPr lang="en-US" sz="3400" dirty="0"/>
          </a:p>
        </p:txBody>
      </p:sp>
      <p:sp>
        <p:nvSpPr>
          <p:cNvPr id="8" name="Text 6"/>
          <p:cNvSpPr txBox="1"/>
          <p:nvPr/>
        </p:nvSpPr>
        <p:spPr>
          <a:xfrm>
            <a:off x="1325880" y="2944368"/>
            <a:ext cx="10225735" cy="384048"/>
          </a:xfrm>
          <a:prstGeom prst="rect">
            <a:avLst/>
          </a:prstGeom>
          <a:noFill/>
          <a:ln/>
        </p:spPr>
        <p:txBody>
          <a:bodyPr wrap="square" lIns="0" tIns="0" rIns="0" bIns="0" rtlCol="0" anchor="t"/>
          <a:lstStyle/>
          <a:p>
            <a:pPr indent="0" marL="0">
              <a:buNone/>
            </a:pPr>
            <a:r>
              <a:rPr lang="en-US" sz="2000" dirty="0">
                <a:solidFill>
                  <a:srgbClr val="E8ECF2"/>
                </a:solidFill>
                <a:latin typeface="Century Schoolbook" pitchFamily="34" charset="0"/>
                <a:ea typeface="Century Schoolbook" pitchFamily="34" charset="-122"/>
                <a:cs typeface="Century Schoolbook" pitchFamily="34" charset="-120"/>
              </a:rPr>
              <a:t>Judge each row on its own seeds.</a:t>
            </a:r>
            <a:endParaRPr lang="en-US" sz="2000" dirty="0"/>
          </a:p>
        </p:txBody>
      </p:sp>
      <p:sp>
        <p:nvSpPr>
          <p:cNvPr id="9" name="Text 7"/>
          <p:cNvSpPr txBox="1"/>
          <p:nvPr/>
        </p:nvSpPr>
        <p:spPr>
          <a:xfrm>
            <a:off x="1325880" y="3364992"/>
            <a:ext cx="10225735" cy="502920"/>
          </a:xfrm>
          <a:prstGeom prst="rect">
            <a:avLst/>
          </a:prstGeom>
          <a:noFill/>
          <a:ln/>
        </p:spPr>
        <p:txBody>
          <a:bodyPr wrap="square" lIns="0" tIns="0" rIns="0" bIns="0" rtlCol="0" anchor="t"/>
          <a:lstStyle/>
          <a:p>
            <a:pPr indent="0" marL="0">
              <a:buNone/>
            </a:pPr>
            <a:r>
              <a:rPr lang="en-US" sz="1400" dirty="0">
                <a:solidFill>
                  <a:srgbClr val="9AA6B6"/>
                </a:solidFill>
                <a:latin typeface="Calibri" pitchFamily="34" charset="0"/>
                <a:ea typeface="Calibri" pitchFamily="34" charset="-122"/>
                <a:cs typeface="Calibri" pitchFamily="34" charset="-120"/>
              </a:rPr>
              <a:t>Report the median beside the best, and mark which rows are resolved. A borrowed threshold misjudged four of ten here.</a:t>
            </a:r>
            <a:endParaRPr lang="en-US" sz="1400" dirty="0"/>
          </a:p>
        </p:txBody>
      </p:sp>
      <p:sp>
        <p:nvSpPr>
          <p:cNvPr id="10" name="Text 8"/>
          <p:cNvSpPr txBox="1"/>
          <p:nvPr/>
        </p:nvSpPr>
        <p:spPr>
          <a:xfrm>
            <a:off x="640080" y="4005072"/>
            <a:ext cx="548640" cy="640080"/>
          </a:xfrm>
          <a:prstGeom prst="rect">
            <a:avLst/>
          </a:prstGeom>
          <a:noFill/>
          <a:ln/>
        </p:spPr>
        <p:txBody>
          <a:bodyPr wrap="square" lIns="0" tIns="0" rIns="0" bIns="0" rtlCol="0" anchor="t"/>
          <a:lstStyle/>
          <a:p>
            <a:pPr indent="0" marL="0">
              <a:buNone/>
            </a:pPr>
            <a:r>
              <a:rPr lang="en-US" sz="3400" dirty="0">
                <a:solidFill>
                  <a:srgbClr val="3DDC97"/>
                </a:solidFill>
                <a:latin typeface="Century Schoolbook" pitchFamily="34" charset="0"/>
                <a:ea typeface="Century Schoolbook" pitchFamily="34" charset="-122"/>
                <a:cs typeface="Century Schoolbook" pitchFamily="34" charset="-120"/>
              </a:rPr>
              <a:t>3</a:t>
            </a:r>
            <a:endParaRPr lang="en-US" sz="3400" dirty="0"/>
          </a:p>
        </p:txBody>
      </p:sp>
      <p:sp>
        <p:nvSpPr>
          <p:cNvPr id="11" name="Text 9"/>
          <p:cNvSpPr txBox="1"/>
          <p:nvPr/>
        </p:nvSpPr>
        <p:spPr>
          <a:xfrm>
            <a:off x="1325880" y="4059936"/>
            <a:ext cx="10225735" cy="384048"/>
          </a:xfrm>
          <a:prstGeom prst="rect">
            <a:avLst/>
          </a:prstGeom>
          <a:noFill/>
          <a:ln/>
        </p:spPr>
        <p:txBody>
          <a:bodyPr wrap="square" lIns="0" tIns="0" rIns="0" bIns="0" rtlCol="0" anchor="t"/>
          <a:lstStyle/>
          <a:p>
            <a:pPr indent="0" marL="0">
              <a:buNone/>
            </a:pPr>
            <a:r>
              <a:rPr lang="en-US" sz="2000" dirty="0">
                <a:solidFill>
                  <a:srgbClr val="E8ECF2"/>
                </a:solidFill>
                <a:latin typeface="Century Schoolbook" pitchFamily="34" charset="0"/>
                <a:ea typeface="Century Schoolbook" pitchFamily="34" charset="-122"/>
                <a:cs typeface="Century Schoolbook" pitchFamily="34" charset="-120"/>
              </a:rPr>
              <a:t>Name what the effect is a result about.</a:t>
            </a:r>
            <a:endParaRPr lang="en-US" sz="2000" dirty="0"/>
          </a:p>
        </p:txBody>
      </p:sp>
      <p:sp>
        <p:nvSpPr>
          <p:cNvPr id="12" name="Text 10"/>
          <p:cNvSpPr txBox="1"/>
          <p:nvPr/>
        </p:nvSpPr>
        <p:spPr>
          <a:xfrm>
            <a:off x="1325880" y="4480560"/>
            <a:ext cx="10225735" cy="502920"/>
          </a:xfrm>
          <a:prstGeom prst="rect">
            <a:avLst/>
          </a:prstGeom>
          <a:noFill/>
          <a:ln/>
        </p:spPr>
        <p:txBody>
          <a:bodyPr wrap="square" lIns="0" tIns="0" rIns="0" bIns="0" rtlCol="0" anchor="t"/>
          <a:lstStyle/>
          <a:p>
            <a:pPr indent="0" marL="0">
              <a:buNone/>
            </a:pPr>
            <a:r>
              <a:rPr lang="en-US" sz="1400" dirty="0">
                <a:solidFill>
                  <a:srgbClr val="9AA6B6"/>
                </a:solidFill>
                <a:latin typeface="Calibri" pitchFamily="34" charset="0"/>
                <a:ea typeface="Calibri" pitchFamily="34" charset="-122"/>
                <a:cs typeface="Calibri" pitchFamily="34" charset="-120"/>
              </a:rPr>
              <a:t>A ten-instance total made on three dense graphs is a result about dense graphs.</a:t>
            </a:r>
            <a:endParaRPr lang="en-US" sz="1400" dirty="0"/>
          </a:p>
        </p:txBody>
      </p:sp>
      <p:sp>
        <p:nvSpPr>
          <p:cNvPr id="13" name="Shape 11"/>
          <p:cNvSpPr/>
          <p:nvPr/>
        </p:nvSpPr>
        <p:spPr>
          <a:xfrm>
            <a:off x="640080" y="5257800"/>
            <a:ext cx="10911535" cy="960120"/>
          </a:xfrm>
          <a:prstGeom prst="rect">
            <a:avLst/>
          </a:prstGeom>
          <a:solidFill>
            <a:srgbClr val="131B28"/>
          </a:solidFill>
          <a:ln/>
        </p:spPr>
      </p:sp>
      <p:sp>
        <p:nvSpPr>
          <p:cNvPr id="14" name="Text 12"/>
          <p:cNvSpPr txBox="1"/>
          <p:nvPr/>
        </p:nvSpPr>
        <p:spPr>
          <a:xfrm>
            <a:off x="914400" y="5394960"/>
            <a:ext cx="10362895" cy="731520"/>
          </a:xfrm>
          <a:prstGeom prst="rect">
            <a:avLst/>
          </a:prstGeom>
          <a:noFill/>
          <a:ln/>
        </p:spPr>
        <p:txBody>
          <a:bodyPr wrap="square" lIns="0" tIns="0" rIns="0" bIns="0" rtlCol="0" anchor="ctr"/>
          <a:lstStyle/>
          <a:p>
            <a:pPr indent="0" marL="0">
              <a:buNone/>
            </a:pPr>
            <a:r>
              <a:rPr lang="en-US" sz="1650" i="1" dirty="0">
                <a:solidFill>
                  <a:srgbClr val="FFFFFF"/>
                </a:solidFill>
                <a:latin typeface="Century Schoolbook" pitchFamily="34" charset="0"/>
                <a:ea typeface="Century Schoolbook" pitchFamily="34" charset="-122"/>
                <a:cs typeface="Century Schoolbook" pitchFamily="34" charset="-120"/>
              </a:rPr>
              <a:t>On these ten instances, at this budget, the construction dominates and the search components do not. Half the table is unresolved. Both are findings.</a:t>
            </a:r>
            <a:endParaRPr lang="en-US" sz="165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1143000"/>
            <a:ext cx="5943600" cy="777240"/>
          </a:xfrm>
          <a:prstGeom prst="rect">
            <a:avLst/>
          </a:prstGeom>
          <a:noFill/>
          <a:ln/>
        </p:spPr>
        <p:txBody>
          <a:bodyPr wrap="square" lIns="0" tIns="0" rIns="0" bIns="0" rtlCol="0" anchor="t"/>
          <a:lstStyle/>
          <a:p>
            <a:pPr indent="0" marL="0">
              <a:buNone/>
            </a:pPr>
            <a:r>
              <a:rPr lang="en-US" sz="4400" dirty="0">
                <a:solidFill>
                  <a:srgbClr val="FFFFFF"/>
                </a:solidFill>
                <a:latin typeface="Century Schoolbook" pitchFamily="34" charset="0"/>
                <a:ea typeface="Century Schoolbook" pitchFamily="34" charset="-122"/>
                <a:cs typeface="Century Schoolbook" pitchFamily="34" charset="-120"/>
              </a:rPr>
              <a:t>Thank you</a:t>
            </a:r>
            <a:endParaRPr lang="en-US" sz="4400" dirty="0"/>
          </a:p>
        </p:txBody>
      </p:sp>
      <p:sp>
        <p:nvSpPr>
          <p:cNvPr id="3" name="Text 1"/>
          <p:cNvSpPr txBox="1"/>
          <p:nvPr/>
        </p:nvSpPr>
        <p:spPr>
          <a:xfrm>
            <a:off x="640080" y="1901952"/>
            <a:ext cx="5943600" cy="548640"/>
          </a:xfrm>
          <a:prstGeom prst="rect">
            <a:avLst/>
          </a:prstGeom>
          <a:noFill/>
          <a:ln/>
        </p:spPr>
        <p:txBody>
          <a:bodyPr wrap="square" lIns="0" tIns="0" rIns="0" bIns="0" rtlCol="0" anchor="t"/>
          <a:lstStyle/>
          <a:p>
            <a:pPr indent="0" marL="0">
              <a:buNone/>
            </a:pPr>
            <a:r>
              <a:rPr lang="en-US" sz="2800" dirty="0">
                <a:solidFill>
                  <a:srgbClr val="3DDC97"/>
                </a:solidFill>
                <a:latin typeface="Century Schoolbook" pitchFamily="34" charset="0"/>
                <a:ea typeface="Century Schoolbook" pitchFamily="34" charset="-122"/>
                <a:cs typeface="Century Schoolbook" pitchFamily="34" charset="-120"/>
              </a:rPr>
              <a:t>Questions</a:t>
            </a:r>
            <a:endParaRPr lang="en-US" sz="2800" dirty="0"/>
          </a:p>
        </p:txBody>
      </p:sp>
      <p:sp>
        <p:nvSpPr>
          <p:cNvPr id="4" name="Text 2"/>
          <p:cNvSpPr txBox="1"/>
          <p:nvPr/>
        </p:nvSpPr>
        <p:spPr>
          <a:xfrm>
            <a:off x="640080" y="2743200"/>
            <a:ext cx="5943600" cy="237744"/>
          </a:xfrm>
          <a:prstGeom prst="rect">
            <a:avLst/>
          </a:prstGeom>
          <a:noFill/>
          <a:ln/>
        </p:spPr>
        <p:txBody>
          <a:bodyPr wrap="square" lIns="0" tIns="0" rIns="0" bIns="0" rtlCol="0" anchor="t"/>
          <a:lstStyle/>
          <a:p>
            <a:pPr indent="0" marL="0">
              <a:buNone/>
            </a:pPr>
            <a:r>
              <a:rPr lang="en-US" sz="1050" b="1" spc="160" kern="0" dirty="0">
                <a:solidFill>
                  <a:srgbClr val="9AA6B6"/>
                </a:solidFill>
                <a:latin typeface="Calibri" pitchFamily="34" charset="0"/>
                <a:ea typeface="Calibri" pitchFamily="34" charset="-122"/>
                <a:cs typeface="Calibri" pitchFamily="34" charset="-120"/>
              </a:rPr>
              <a:t>FIGURES FOR THE DISCUSSION</a:t>
            </a:r>
            <a:endParaRPr lang="en-US" sz="1050" dirty="0"/>
          </a:p>
        </p:txBody>
      </p:sp>
      <p:sp>
        <p:nvSpPr>
          <p:cNvPr id="5" name="Text 3"/>
          <p:cNvSpPr txBox="1"/>
          <p:nvPr/>
        </p:nvSpPr>
        <p:spPr>
          <a:xfrm>
            <a:off x="640080" y="3090672"/>
            <a:ext cx="2926080" cy="365760"/>
          </a:xfrm>
          <a:prstGeom prst="rect">
            <a:avLst/>
          </a:prstGeom>
          <a:noFill/>
          <a:ln/>
        </p:spPr>
        <p:txBody>
          <a:bodyPr wrap="square" lIns="0" tIns="0" rIns="0" bIns="0" rtlCol="0" anchor="t"/>
          <a:lstStyle/>
          <a:p>
            <a:pPr indent="0" marL="0">
              <a:buNone/>
            </a:pPr>
            <a:r>
              <a:rPr lang="en-US" sz="1900" dirty="0">
                <a:solidFill>
                  <a:srgbClr val="FFFFFF"/>
                </a:solidFill>
                <a:latin typeface="Century Schoolbook" pitchFamily="34" charset="0"/>
                <a:ea typeface="Century Schoolbook" pitchFamily="34" charset="-122"/>
                <a:cs typeface="Century Schoolbook" pitchFamily="34" charset="-120"/>
              </a:rPr>
              <a:t>5 of 10</a:t>
            </a:r>
            <a:endParaRPr lang="en-US" sz="1900" dirty="0"/>
          </a:p>
        </p:txBody>
      </p:sp>
      <p:sp>
        <p:nvSpPr>
          <p:cNvPr id="6" name="Text 4"/>
          <p:cNvSpPr txBox="1"/>
          <p:nvPr/>
        </p:nvSpPr>
        <p:spPr>
          <a:xfrm>
            <a:off x="640080" y="3438144"/>
            <a:ext cx="2834640" cy="420624"/>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rows the seeds resolve</a:t>
            </a:r>
            <a:endParaRPr lang="en-US" sz="1050" dirty="0"/>
          </a:p>
        </p:txBody>
      </p:sp>
      <p:sp>
        <p:nvSpPr>
          <p:cNvPr id="7" name="Text 5"/>
          <p:cNvSpPr txBox="1"/>
          <p:nvPr/>
        </p:nvSpPr>
        <p:spPr>
          <a:xfrm>
            <a:off x="3703320" y="3090672"/>
            <a:ext cx="2926080" cy="365760"/>
          </a:xfrm>
          <a:prstGeom prst="rect">
            <a:avLst/>
          </a:prstGeom>
          <a:noFill/>
          <a:ln/>
        </p:spPr>
        <p:txBody>
          <a:bodyPr wrap="square" lIns="0" tIns="0" rIns="0" bIns="0" rtlCol="0" anchor="t"/>
          <a:lstStyle/>
          <a:p>
            <a:pPr indent="0" marL="0">
              <a:buNone/>
            </a:pPr>
            <a:r>
              <a:rPr lang="en-US" sz="1900" dirty="0">
                <a:solidFill>
                  <a:srgbClr val="FFFFFF"/>
                </a:solidFill>
                <a:latin typeface="Century Schoolbook" pitchFamily="34" charset="0"/>
                <a:ea typeface="Century Schoolbook" pitchFamily="34" charset="-122"/>
                <a:cs typeface="Century Schoolbook" pitchFamily="34" charset="-120"/>
              </a:rPr>
              <a:t>15.9×</a:t>
            </a:r>
            <a:endParaRPr lang="en-US" sz="1900" dirty="0"/>
          </a:p>
        </p:txBody>
      </p:sp>
      <p:sp>
        <p:nvSpPr>
          <p:cNvPr id="8" name="Text 6"/>
          <p:cNvSpPr txBox="1"/>
          <p:nvPr/>
        </p:nvSpPr>
        <p:spPr>
          <a:xfrm>
            <a:off x="3703320" y="3438144"/>
            <a:ext cx="2834640" cy="420624"/>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construction against the control’s re-draw; search arms 0.4–2.0×</a:t>
            </a:r>
            <a:endParaRPr lang="en-US" sz="1050" dirty="0"/>
          </a:p>
        </p:txBody>
      </p:sp>
      <p:sp>
        <p:nvSpPr>
          <p:cNvPr id="9" name="Text 7"/>
          <p:cNvSpPr txBox="1"/>
          <p:nvPr/>
        </p:nvSpPr>
        <p:spPr>
          <a:xfrm>
            <a:off x="640080" y="3931920"/>
            <a:ext cx="2926080" cy="365760"/>
          </a:xfrm>
          <a:prstGeom prst="rect">
            <a:avLst/>
          </a:prstGeom>
          <a:noFill/>
          <a:ln/>
        </p:spPr>
        <p:txBody>
          <a:bodyPr wrap="square" lIns="0" tIns="0" rIns="0" bIns="0" rtlCol="0" anchor="t"/>
          <a:lstStyle/>
          <a:p>
            <a:pPr indent="0" marL="0">
              <a:buNone/>
            </a:pPr>
            <a:r>
              <a:rPr lang="en-US" sz="1900" dirty="0">
                <a:solidFill>
                  <a:srgbClr val="FFFFFF"/>
                </a:solidFill>
                <a:latin typeface="Century Schoolbook" pitchFamily="34" charset="0"/>
                <a:ea typeface="Century Schoolbook" pitchFamily="34" charset="-122"/>
                <a:cs typeface="Century Schoolbook" pitchFamily="34" charset="-120"/>
              </a:rPr>
              <a:t>21,519 HV</a:t>
            </a:r>
            <a:endParaRPr lang="en-US" sz="1900" dirty="0"/>
          </a:p>
        </p:txBody>
      </p:sp>
      <p:sp>
        <p:nvSpPr>
          <p:cNvPr id="10" name="Text 8"/>
          <p:cNvSpPr txBox="1"/>
          <p:nvPr/>
        </p:nvSpPr>
        <p:spPr>
          <a:xfrm>
            <a:off x="640080" y="4279392"/>
            <a:ext cx="2834640" cy="420624"/>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session shift of the ten-instance total (p ≈ 0.05)</a:t>
            </a:r>
            <a:endParaRPr lang="en-US" sz="1050" dirty="0"/>
          </a:p>
        </p:txBody>
      </p:sp>
      <p:sp>
        <p:nvSpPr>
          <p:cNvPr id="11" name="Text 9"/>
          <p:cNvSpPr txBox="1"/>
          <p:nvPr/>
        </p:nvSpPr>
        <p:spPr>
          <a:xfrm>
            <a:off x="3703320" y="3931920"/>
            <a:ext cx="2926080" cy="365760"/>
          </a:xfrm>
          <a:prstGeom prst="rect">
            <a:avLst/>
          </a:prstGeom>
          <a:noFill/>
          <a:ln/>
        </p:spPr>
        <p:txBody>
          <a:bodyPr wrap="square" lIns="0" tIns="0" rIns="0" bIns="0" rtlCol="0" anchor="t"/>
          <a:lstStyle/>
          <a:p>
            <a:pPr indent="0" marL="0">
              <a:buNone/>
            </a:pPr>
            <a:r>
              <a:rPr lang="en-US" sz="1900" dirty="0">
                <a:solidFill>
                  <a:srgbClr val="FFFFFF"/>
                </a:solidFill>
                <a:latin typeface="Century Schoolbook" pitchFamily="34" charset="0"/>
                <a:ea typeface="Century Schoolbook" pitchFamily="34" charset="-122"/>
                <a:cs typeface="Century Schoolbook" pitchFamily="34" charset="-120"/>
              </a:rPr>
              <a:t>0.23%</a:t>
            </a:r>
            <a:endParaRPr lang="en-US" sz="1900" dirty="0"/>
          </a:p>
        </p:txBody>
      </p:sp>
      <p:sp>
        <p:nvSpPr>
          <p:cNvPr id="12" name="Text 10"/>
          <p:cNvSpPr txBox="1"/>
          <p:nvPr/>
        </p:nvSpPr>
        <p:spPr>
          <a:xfrm>
            <a:off x="3703320" y="4279392"/>
            <a:ext cx="2834640" cy="420624"/>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the highest accept rate measured anywhere</a:t>
            </a:r>
            <a:endParaRPr lang="en-US" sz="1050" dirty="0"/>
          </a:p>
        </p:txBody>
      </p:sp>
      <p:sp>
        <p:nvSpPr>
          <p:cNvPr id="13" name="Text 11"/>
          <p:cNvSpPr txBox="1"/>
          <p:nvPr/>
        </p:nvSpPr>
        <p:spPr>
          <a:xfrm>
            <a:off x="640080" y="4773168"/>
            <a:ext cx="2926080" cy="365760"/>
          </a:xfrm>
          <a:prstGeom prst="rect">
            <a:avLst/>
          </a:prstGeom>
          <a:noFill/>
          <a:ln/>
        </p:spPr>
        <p:txBody>
          <a:bodyPr wrap="square" lIns="0" tIns="0" rIns="0" bIns="0" rtlCol="0" anchor="t"/>
          <a:lstStyle/>
          <a:p>
            <a:pPr indent="0" marL="0">
              <a:buNone/>
            </a:pPr>
            <a:r>
              <a:rPr lang="en-US" sz="1900" dirty="0">
                <a:solidFill>
                  <a:srgbClr val="FFFFFF"/>
                </a:solidFill>
                <a:latin typeface="Century Schoolbook" pitchFamily="34" charset="0"/>
                <a:ea typeface="Century Schoolbook" pitchFamily="34" charset="-122"/>
                <a:cs typeface="Century Schoolbook" pitchFamily="34" charset="-120"/>
              </a:rPr>
              <a:t>+33,043 HV</a:t>
            </a:r>
            <a:endParaRPr lang="en-US" sz="1900" dirty="0"/>
          </a:p>
        </p:txBody>
      </p:sp>
      <p:sp>
        <p:nvSpPr>
          <p:cNvPr id="14" name="Text 12"/>
          <p:cNvSpPr txBox="1"/>
          <p:nvPr/>
        </p:nvSpPr>
        <p:spPr>
          <a:xfrm>
            <a:off x="640080" y="5120640"/>
            <a:ext cx="2834640" cy="420624"/>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what 10× the budget buys search, against a lead ≥ 269,607</a:t>
            </a:r>
            <a:endParaRPr lang="en-US" sz="1050" dirty="0"/>
          </a:p>
        </p:txBody>
      </p:sp>
      <p:sp>
        <p:nvSpPr>
          <p:cNvPr id="15" name="Text 13"/>
          <p:cNvSpPr txBox="1"/>
          <p:nvPr/>
        </p:nvSpPr>
        <p:spPr>
          <a:xfrm>
            <a:off x="3703320" y="4773168"/>
            <a:ext cx="2926080" cy="365760"/>
          </a:xfrm>
          <a:prstGeom prst="rect">
            <a:avLst/>
          </a:prstGeom>
          <a:noFill/>
          <a:ln/>
        </p:spPr>
        <p:txBody>
          <a:bodyPr wrap="square" lIns="0" tIns="0" rIns="0" bIns="0" rtlCol="0" anchor="t"/>
          <a:lstStyle/>
          <a:p>
            <a:pPr indent="0" marL="0">
              <a:buNone/>
            </a:pPr>
            <a:r>
              <a:rPr lang="en-US" sz="1900" dirty="0">
                <a:solidFill>
                  <a:srgbClr val="FFFFFF"/>
                </a:solidFill>
                <a:latin typeface="Century Schoolbook" pitchFamily="34" charset="0"/>
                <a:ea typeface="Century Schoolbook" pitchFamily="34" charset="-122"/>
                <a:cs typeface="Century Schoolbook" pitchFamily="34" charset="-120"/>
              </a:rPr>
              <a:t>0.63%</a:t>
            </a:r>
            <a:endParaRPr lang="en-US" sz="1900" dirty="0"/>
          </a:p>
        </p:txBody>
      </p:sp>
      <p:sp>
        <p:nvSpPr>
          <p:cNvPr id="16" name="Text 14"/>
          <p:cNvSpPr txBox="1"/>
          <p:nvPr/>
        </p:nvSpPr>
        <p:spPr>
          <a:xfrm>
            <a:off x="3703320" y="5120640"/>
            <a:ext cx="2834640" cy="420624"/>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best known small-graph score below a provable ceiling</a:t>
            </a:r>
            <a:endParaRPr lang="en-US" sz="1050" dirty="0"/>
          </a:p>
        </p:txBody>
      </p:sp>
      <p:sp>
        <p:nvSpPr>
          <p:cNvPr id="17" name="Text 15"/>
          <p:cNvSpPr txBox="1"/>
          <p:nvPr/>
        </p:nvSpPr>
        <p:spPr>
          <a:xfrm>
            <a:off x="640080" y="5833872"/>
            <a:ext cx="6858000" cy="274320"/>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Adrian Ymeri · adrian.ymeri@uni-pr.edu · University of Prishtina</a:t>
            </a:r>
            <a:endParaRPr lang="en-US" sz="1300" dirty="0"/>
          </a:p>
        </p:txBody>
      </p:sp>
      <p:sp>
        <p:nvSpPr>
          <p:cNvPr id="18" name="Text 16"/>
          <p:cNvSpPr txBox="1"/>
          <p:nvPr/>
        </p:nvSpPr>
        <p:spPr>
          <a:xfrm>
            <a:off x="640080" y="6163056"/>
            <a:ext cx="6858000" cy="237744"/>
          </a:xfrm>
          <a:prstGeom prst="rect">
            <a:avLst/>
          </a:prstGeom>
          <a:noFill/>
          <a:ln/>
        </p:spPr>
        <p:txBody>
          <a:bodyPr wrap="square" lIns="0" tIns="0" rIns="0" bIns="0" rtlCol="0" anchor="t"/>
          <a:lstStyle/>
          <a:p>
            <a:pPr indent="0" marL="0">
              <a:buNone/>
            </a:pPr>
            <a:r>
              <a:rPr lang="en-US" sz="1050" dirty="0">
                <a:solidFill>
                  <a:srgbClr val="7D8AA0"/>
                </a:solidFill>
                <a:latin typeface="Calibri" pitchFamily="34" charset="0"/>
                <a:ea typeface="Calibri" pitchFamily="34" charset="-122"/>
                <a:cs typeface="Calibri" pitchFamily="34" charset="-120"/>
              </a:rPr>
              <a:t>Code, raw CSVs and every figure in this talk regenerate from the study’s harness.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BACKUP</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Four ways I fooled myself, and how each was caught</a:t>
            </a:r>
            <a:endParaRPr lang="en-US" sz="2700" dirty="0"/>
          </a:p>
        </p:txBody>
      </p:sp>
      <p:sp>
        <p:nvSpPr>
          <p:cNvPr id="4" name="Text 2"/>
          <p:cNvSpPr txBox="1"/>
          <p:nvPr/>
        </p:nvSpPr>
        <p:spPr>
          <a:xfrm>
            <a:off x="640080" y="1810512"/>
            <a:ext cx="411480" cy="457200"/>
          </a:xfrm>
          <a:prstGeom prst="rect">
            <a:avLst/>
          </a:prstGeom>
          <a:noFill/>
          <a:ln/>
        </p:spPr>
        <p:txBody>
          <a:bodyPr wrap="square" lIns="0" tIns="0" rIns="0" bIns="0" rtlCol="0" anchor="t"/>
          <a:lstStyle/>
          <a:p>
            <a:pPr indent="0" marL="0">
              <a:buNone/>
            </a:pPr>
            <a:r>
              <a:rPr lang="en-US" sz="2200" dirty="0">
                <a:solidFill>
                  <a:srgbClr val="3DDC97"/>
                </a:solidFill>
                <a:latin typeface="Century Schoolbook" pitchFamily="34" charset="0"/>
                <a:ea typeface="Century Schoolbook" pitchFamily="34" charset="-122"/>
                <a:cs typeface="Century Schoolbook" pitchFamily="34" charset="-120"/>
              </a:rPr>
              <a:t>1</a:t>
            </a:r>
            <a:endParaRPr lang="en-US" sz="2200" dirty="0"/>
          </a:p>
        </p:txBody>
      </p:sp>
      <p:sp>
        <p:nvSpPr>
          <p:cNvPr id="5" name="Text 3"/>
          <p:cNvSpPr txBox="1"/>
          <p:nvPr/>
        </p:nvSpPr>
        <p:spPr>
          <a:xfrm>
            <a:off x="1097280" y="1837944"/>
            <a:ext cx="2606040" cy="777240"/>
          </a:xfrm>
          <a:prstGeom prst="rect">
            <a:avLst/>
          </a:prstGeom>
          <a:noFill/>
          <a:ln/>
        </p:spPr>
        <p:txBody>
          <a:bodyPr wrap="square" lIns="0" tIns="0" rIns="0" bIns="0" rtlCol="0" anchor="t"/>
          <a:lstStyle/>
          <a:p>
            <a:pPr indent="0" marL="0">
              <a:buNone/>
            </a:pPr>
            <a:r>
              <a:rPr lang="en-US" sz="1400" b="1" dirty="0">
                <a:solidFill>
                  <a:srgbClr val="E8ECF2"/>
                </a:solidFill>
                <a:latin typeface="Calibri" pitchFamily="34" charset="0"/>
                <a:ea typeface="Calibri" pitchFamily="34" charset="-122"/>
                <a:cs typeface="Calibri" pitchFamily="34" charset="-120"/>
              </a:rPr>
              <a:t>A probe that leaked the answer</a:t>
            </a:r>
            <a:endParaRPr lang="en-US" sz="1400" dirty="0"/>
          </a:p>
        </p:txBody>
      </p:sp>
      <p:sp>
        <p:nvSpPr>
          <p:cNvPr id="6" name="Text 4"/>
          <p:cNvSpPr txBox="1"/>
          <p:nvPr/>
        </p:nvSpPr>
        <p:spPr>
          <a:xfrm>
            <a:off x="3794760" y="1810512"/>
            <a:ext cx="4572000" cy="822960"/>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hill_climbing.py chose its target widths with a min-degree probe whatever start it was asked for, so --start random was quietly handed a min-degree solution: 1,607,522 HV on medium-graph for a run that accepted zero moves.</a:t>
            </a:r>
            <a:endParaRPr lang="en-US" sz="1150" dirty="0"/>
          </a:p>
        </p:txBody>
      </p:sp>
      <p:sp>
        <p:nvSpPr>
          <p:cNvPr id="7" name="Text 5"/>
          <p:cNvSpPr txBox="1"/>
          <p:nvPr/>
        </p:nvSpPr>
        <p:spPr>
          <a:xfrm>
            <a:off x="8641080" y="1810512"/>
            <a:ext cx="2910535" cy="822960"/>
          </a:xfrm>
          <a:prstGeom prst="rect">
            <a:avLst/>
          </a:prstGeom>
          <a:noFill/>
          <a:ln/>
        </p:spPr>
        <p:txBody>
          <a:bodyPr wrap="square" lIns="0" tIns="0" rIns="0" bIns="0" rtlCol="0" anchor="t"/>
          <a:lstStyle/>
          <a:p>
            <a:pPr indent="0" marL="0">
              <a:buNone/>
            </a:pPr>
            <a:r>
              <a:rPr lang="en-US" sz="1150" i="1" dirty="0">
                <a:solidFill>
                  <a:srgbClr val="9AA6B6"/>
                </a:solidFill>
                <a:latin typeface="Calibri" pitchFamily="34" charset="0"/>
                <a:ea typeface="Calibri" pitchFamily="34" charset="-122"/>
                <a:cs typeface="Calibri" pitchFamily="34" charset="-120"/>
              </a:rPr>
              <a:t>Caught by asking why a run with no accepted moves had a score at all.</a:t>
            </a:r>
            <a:endParaRPr lang="en-US" sz="1150" dirty="0"/>
          </a:p>
        </p:txBody>
      </p:sp>
      <p:sp>
        <p:nvSpPr>
          <p:cNvPr id="8" name="Shape 6"/>
          <p:cNvSpPr/>
          <p:nvPr/>
        </p:nvSpPr>
        <p:spPr>
          <a:xfrm>
            <a:off x="640080" y="2651760"/>
            <a:ext cx="10911535" cy="0"/>
          </a:xfrm>
          <a:prstGeom prst="line">
            <a:avLst/>
          </a:prstGeom>
          <a:noFill/>
          <a:ln w="6350">
            <a:solidFill>
              <a:srgbClr val="2A3546"/>
            </a:solidFill>
            <a:prstDash val="solid"/>
          </a:ln>
        </p:spPr>
      </p:sp>
      <p:sp>
        <p:nvSpPr>
          <p:cNvPr id="9" name="Text 7"/>
          <p:cNvSpPr txBox="1"/>
          <p:nvPr/>
        </p:nvSpPr>
        <p:spPr>
          <a:xfrm>
            <a:off x="640080" y="2743200"/>
            <a:ext cx="411480" cy="457200"/>
          </a:xfrm>
          <a:prstGeom prst="rect">
            <a:avLst/>
          </a:prstGeom>
          <a:noFill/>
          <a:ln/>
        </p:spPr>
        <p:txBody>
          <a:bodyPr wrap="square" lIns="0" tIns="0" rIns="0" bIns="0" rtlCol="0" anchor="t"/>
          <a:lstStyle/>
          <a:p>
            <a:pPr indent="0" marL="0">
              <a:buNone/>
            </a:pPr>
            <a:r>
              <a:rPr lang="en-US" sz="2200" dirty="0">
                <a:solidFill>
                  <a:srgbClr val="3DDC97"/>
                </a:solidFill>
                <a:latin typeface="Century Schoolbook" pitchFamily="34" charset="0"/>
                <a:ea typeface="Century Schoolbook" pitchFamily="34" charset="-122"/>
                <a:cs typeface="Century Schoolbook" pitchFamily="34" charset="-120"/>
              </a:rPr>
              <a:t>2</a:t>
            </a:r>
            <a:endParaRPr lang="en-US" sz="2200" dirty="0"/>
          </a:p>
        </p:txBody>
      </p:sp>
      <p:sp>
        <p:nvSpPr>
          <p:cNvPr id="10" name="Text 8"/>
          <p:cNvSpPr txBox="1"/>
          <p:nvPr/>
        </p:nvSpPr>
        <p:spPr>
          <a:xfrm>
            <a:off x="1097280" y="2770632"/>
            <a:ext cx="2606040" cy="777240"/>
          </a:xfrm>
          <a:prstGeom prst="rect">
            <a:avLst/>
          </a:prstGeom>
          <a:noFill/>
          <a:ln/>
        </p:spPr>
        <p:txBody>
          <a:bodyPr wrap="square" lIns="0" tIns="0" rIns="0" bIns="0" rtlCol="0" anchor="t"/>
          <a:lstStyle/>
          <a:p>
            <a:pPr indent="0" marL="0">
              <a:buNone/>
            </a:pPr>
            <a:r>
              <a:rPr lang="en-US" sz="1400" b="1" dirty="0">
                <a:solidFill>
                  <a:srgbClr val="E8ECF2"/>
                </a:solidFill>
                <a:latin typeface="Calibri" pitchFamily="34" charset="0"/>
                <a:ea typeface="Calibri" pitchFamily="34" charset="-122"/>
                <a:cs typeface="Calibri" pitchFamily="34" charset="-120"/>
              </a:rPr>
              <a:t>A verification that</a:t>
            </a:r>
            <a:endParaRPr lang="en-US" sz="1400" dirty="0"/>
          </a:p>
          <a:p>
            <a:pPr indent="0" marL="0">
              <a:buNone/>
            </a:pPr>
            <a:r>
              <a:rPr lang="en-US" sz="1400" b="1" dirty="0">
                <a:solidFill>
                  <a:srgbClr val="E8ECF2"/>
                </a:solidFill>
                <a:latin typeface="Calibri" pitchFamily="34" charset="0"/>
                <a:ea typeface="Calibri" pitchFamily="34" charset="-122"/>
                <a:cs typeface="Calibri" pitchFamily="34" charset="-120"/>
              </a:rPr>
              <a:t>was itself wrong</a:t>
            </a:r>
            <a:endParaRPr lang="en-US" sz="1400" dirty="0"/>
          </a:p>
        </p:txBody>
      </p:sp>
      <p:sp>
        <p:nvSpPr>
          <p:cNvPr id="11" name="Text 9"/>
          <p:cNvSpPr txBox="1"/>
          <p:nvPr/>
        </p:nvSpPr>
        <p:spPr>
          <a:xfrm>
            <a:off x="3794760" y="2743200"/>
            <a:ext cx="4572000" cy="822960"/>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Re-running the runs to confirm them gave mismatches on 29 of 30 rows. The climb stops on elapsed time, so a run can be re-sampled, never reproduced.</a:t>
            </a:r>
            <a:endParaRPr lang="en-US" sz="1150" dirty="0"/>
          </a:p>
        </p:txBody>
      </p:sp>
      <p:sp>
        <p:nvSpPr>
          <p:cNvPr id="12" name="Text 10"/>
          <p:cNvSpPr txBox="1"/>
          <p:nvPr/>
        </p:nvSpPr>
        <p:spPr>
          <a:xfrm>
            <a:off x="8641080" y="2743200"/>
            <a:ext cx="2910535" cy="822960"/>
          </a:xfrm>
          <a:prstGeom prst="rect">
            <a:avLst/>
          </a:prstGeom>
          <a:noFill/>
          <a:ln/>
        </p:spPr>
        <p:txBody>
          <a:bodyPr wrap="square" lIns="0" tIns="0" rIns="0" bIns="0" rtlCol="0" anchor="t"/>
          <a:lstStyle/>
          <a:p>
            <a:pPr indent="0" marL="0">
              <a:buNone/>
            </a:pPr>
            <a:r>
              <a:rPr lang="en-US" sz="1150" i="1" dirty="0">
                <a:solidFill>
                  <a:srgbClr val="9AA6B6"/>
                </a:solidFill>
                <a:latin typeface="Calibri" pitchFamily="34" charset="0"/>
                <a:ea typeface="Calibri" pitchFamily="34" charset="-122"/>
                <a:cs typeface="Calibri" pitchFamily="34" charset="-120"/>
              </a:rPr>
              <a:t>The check was wrong, not the harness, and the accident produced two independent controls.</a:t>
            </a:r>
            <a:endParaRPr lang="en-US" sz="1150" dirty="0"/>
          </a:p>
        </p:txBody>
      </p:sp>
      <p:sp>
        <p:nvSpPr>
          <p:cNvPr id="13" name="Shape 11"/>
          <p:cNvSpPr/>
          <p:nvPr/>
        </p:nvSpPr>
        <p:spPr>
          <a:xfrm>
            <a:off x="640080" y="3584448"/>
            <a:ext cx="10911535" cy="0"/>
          </a:xfrm>
          <a:prstGeom prst="line">
            <a:avLst/>
          </a:prstGeom>
          <a:noFill/>
          <a:ln w="6350">
            <a:solidFill>
              <a:srgbClr val="2A3546"/>
            </a:solidFill>
            <a:prstDash val="solid"/>
          </a:ln>
        </p:spPr>
      </p:sp>
      <p:sp>
        <p:nvSpPr>
          <p:cNvPr id="14" name="Text 12"/>
          <p:cNvSpPr txBox="1"/>
          <p:nvPr/>
        </p:nvSpPr>
        <p:spPr>
          <a:xfrm>
            <a:off x="640080" y="3675888"/>
            <a:ext cx="411480" cy="457200"/>
          </a:xfrm>
          <a:prstGeom prst="rect">
            <a:avLst/>
          </a:prstGeom>
          <a:noFill/>
          <a:ln/>
        </p:spPr>
        <p:txBody>
          <a:bodyPr wrap="square" lIns="0" tIns="0" rIns="0" bIns="0" rtlCol="0" anchor="t"/>
          <a:lstStyle/>
          <a:p>
            <a:pPr indent="0" marL="0">
              <a:buNone/>
            </a:pPr>
            <a:r>
              <a:rPr lang="en-US" sz="2200" dirty="0">
                <a:solidFill>
                  <a:srgbClr val="3DDC97"/>
                </a:solidFill>
                <a:latin typeface="Century Schoolbook" pitchFamily="34" charset="0"/>
                <a:ea typeface="Century Schoolbook" pitchFamily="34" charset="-122"/>
                <a:cs typeface="Century Schoolbook" pitchFamily="34" charset="-120"/>
              </a:rPr>
              <a:t>3</a:t>
            </a:r>
            <a:endParaRPr lang="en-US" sz="2200" dirty="0"/>
          </a:p>
        </p:txBody>
      </p:sp>
      <p:sp>
        <p:nvSpPr>
          <p:cNvPr id="15" name="Text 13"/>
          <p:cNvSpPr txBox="1"/>
          <p:nvPr/>
        </p:nvSpPr>
        <p:spPr>
          <a:xfrm>
            <a:off x="1097280" y="3703320"/>
            <a:ext cx="2606040" cy="777240"/>
          </a:xfrm>
          <a:prstGeom prst="rect">
            <a:avLst/>
          </a:prstGeom>
          <a:noFill/>
          <a:ln/>
        </p:spPr>
        <p:txBody>
          <a:bodyPr wrap="square" lIns="0" tIns="0" rIns="0" bIns="0" rtlCol="0" anchor="t"/>
          <a:lstStyle/>
          <a:p>
            <a:pPr indent="0" marL="0">
              <a:buNone/>
            </a:pPr>
            <a:r>
              <a:rPr lang="en-US" sz="1400" b="1" dirty="0">
                <a:solidFill>
                  <a:srgbClr val="E8ECF2"/>
                </a:solidFill>
                <a:latin typeface="Calibri" pitchFamily="34" charset="0"/>
                <a:ea typeface="Calibri" pitchFamily="34" charset="-122"/>
                <a:cs typeface="Calibri" pitchFamily="34" charset="-120"/>
              </a:rPr>
              <a:t>A 32-bit overflow in someone else’s kernel</a:t>
            </a:r>
            <a:endParaRPr lang="en-US" sz="1400" dirty="0"/>
          </a:p>
        </p:txBody>
      </p:sp>
      <p:sp>
        <p:nvSpPr>
          <p:cNvPr id="16" name="Text 14"/>
          <p:cNvSpPr txBox="1"/>
          <p:nvPr/>
        </p:nvSpPr>
        <p:spPr>
          <a:xfrm>
            <a:off x="3794760" y="3675888"/>
            <a:ext cx="4572000" cy="822960"/>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The vendored CUDA evaluator indexed a B×N×N array with an int offset, which wraps past 2³¹ at n = 2,426, thread 365 of 1,024.</a:t>
            </a:r>
            <a:endParaRPr lang="en-US" sz="1150" dirty="0"/>
          </a:p>
        </p:txBody>
      </p:sp>
      <p:sp>
        <p:nvSpPr>
          <p:cNvPr id="17" name="Text 15"/>
          <p:cNvSpPr txBox="1"/>
          <p:nvPr/>
        </p:nvSpPr>
        <p:spPr>
          <a:xfrm>
            <a:off x="8641080" y="3675888"/>
            <a:ext cx="2910535" cy="822960"/>
          </a:xfrm>
          <a:prstGeom prst="rect">
            <a:avLst/>
          </a:prstGeom>
          <a:noFill/>
          <a:ln/>
        </p:spPr>
        <p:txBody>
          <a:bodyPr wrap="square" lIns="0" tIns="0" rIns="0" bIns="0" rtlCol="0" anchor="t"/>
          <a:lstStyle/>
          <a:p>
            <a:pPr indent="0" marL="0">
              <a:buNone/>
            </a:pPr>
            <a:r>
              <a:rPr lang="en-US" sz="1150" i="1" dirty="0">
                <a:solidFill>
                  <a:srgbClr val="9AA6B6"/>
                </a:solidFill>
                <a:latin typeface="Calibri" pitchFamily="34" charset="0"/>
                <a:ea typeface="Calibri" pitchFamily="34" charset="-122"/>
                <a:cs typeface="Calibri" pitchFamily="34" charset="-120"/>
              </a:rPr>
              <a:t>Caught because every n = 2,426 run died early with an illegal memory access; one type change fixed it.</a:t>
            </a:r>
            <a:endParaRPr lang="en-US" sz="1150" dirty="0"/>
          </a:p>
        </p:txBody>
      </p:sp>
      <p:sp>
        <p:nvSpPr>
          <p:cNvPr id="18" name="Shape 16"/>
          <p:cNvSpPr/>
          <p:nvPr/>
        </p:nvSpPr>
        <p:spPr>
          <a:xfrm>
            <a:off x="640080" y="4517136"/>
            <a:ext cx="10911535" cy="0"/>
          </a:xfrm>
          <a:prstGeom prst="line">
            <a:avLst/>
          </a:prstGeom>
          <a:noFill/>
          <a:ln w="6350">
            <a:solidFill>
              <a:srgbClr val="2A3546"/>
            </a:solidFill>
            <a:prstDash val="solid"/>
          </a:ln>
        </p:spPr>
      </p:sp>
      <p:sp>
        <p:nvSpPr>
          <p:cNvPr id="19" name="Text 17"/>
          <p:cNvSpPr txBox="1"/>
          <p:nvPr/>
        </p:nvSpPr>
        <p:spPr>
          <a:xfrm>
            <a:off x="640080" y="4608576"/>
            <a:ext cx="411480" cy="457200"/>
          </a:xfrm>
          <a:prstGeom prst="rect">
            <a:avLst/>
          </a:prstGeom>
          <a:noFill/>
          <a:ln/>
        </p:spPr>
        <p:txBody>
          <a:bodyPr wrap="square" lIns="0" tIns="0" rIns="0" bIns="0" rtlCol="0" anchor="t"/>
          <a:lstStyle/>
          <a:p>
            <a:pPr indent="0" marL="0">
              <a:buNone/>
            </a:pPr>
            <a:r>
              <a:rPr lang="en-US" sz="2200" dirty="0">
                <a:solidFill>
                  <a:srgbClr val="F2C14E"/>
                </a:solidFill>
                <a:latin typeface="Century Schoolbook" pitchFamily="34" charset="0"/>
                <a:ea typeface="Century Schoolbook" pitchFamily="34" charset="-122"/>
                <a:cs typeface="Century Schoolbook" pitchFamily="34" charset="-120"/>
              </a:rPr>
              <a:t>4</a:t>
            </a:r>
            <a:endParaRPr lang="en-US" sz="2200" dirty="0"/>
          </a:p>
        </p:txBody>
      </p:sp>
      <p:sp>
        <p:nvSpPr>
          <p:cNvPr id="20" name="Text 18"/>
          <p:cNvSpPr txBox="1"/>
          <p:nvPr/>
        </p:nvSpPr>
        <p:spPr>
          <a:xfrm>
            <a:off x="1097280" y="4636008"/>
            <a:ext cx="2606040" cy="777240"/>
          </a:xfrm>
          <a:prstGeom prst="rect">
            <a:avLst/>
          </a:prstGeom>
          <a:noFill/>
          <a:ln/>
        </p:spPr>
        <p:txBody>
          <a:bodyPr wrap="square" lIns="0" tIns="0" rIns="0" bIns="0" rtlCol="0" anchor="t"/>
          <a:lstStyle/>
          <a:p>
            <a:pPr indent="0" marL="0">
              <a:buNone/>
            </a:pPr>
            <a:r>
              <a:rPr lang="en-US" sz="1400" b="1" dirty="0">
                <a:solidFill>
                  <a:srgbClr val="E8ECF2"/>
                </a:solidFill>
                <a:latin typeface="Calibri" pitchFamily="34" charset="0"/>
                <a:ea typeface="Calibri" pitchFamily="34" charset="-122"/>
                <a:cs typeface="Calibri" pitchFamily="34" charset="-120"/>
              </a:rPr>
              <a:t>A threshold borrowed from one method</a:t>
            </a:r>
            <a:endParaRPr lang="en-US" sz="1400" dirty="0"/>
          </a:p>
        </p:txBody>
      </p:sp>
      <p:sp>
        <p:nvSpPr>
          <p:cNvPr id="21" name="Text 19"/>
          <p:cNvSpPr txBox="1"/>
          <p:nvPr/>
        </p:nvSpPr>
        <p:spPr>
          <a:xfrm>
            <a:off x="3794760" y="4608576"/>
            <a:ext cx="4572000" cy="822960"/>
          </a:xfrm>
          <a:prstGeom prst="rect">
            <a:avLst/>
          </a:prstGeom>
          <a:noFill/>
          <a:ln/>
        </p:spPr>
        <p:txBody>
          <a:bodyPr wrap="square" lIns="0" tIns="0" rIns="0" bIns="0" rtlCol="0" anchor="t"/>
          <a:lstStyle/>
          <a:p>
            <a:pPr indent="0" marL="0">
              <a:buNone/>
            </a:pPr>
            <a:r>
              <a:rPr lang="en-US" sz="1150" dirty="0">
                <a:solidFill>
                  <a:srgbClr val="E8ECF2"/>
                </a:solidFill>
                <a:latin typeface="Calibri" pitchFamily="34" charset="0"/>
                <a:ea typeface="Calibri" pitchFamily="34" charset="-122"/>
                <a:cs typeface="Calibri" pitchFamily="34" charset="-120"/>
              </a:rPr>
              <a:t>One 7,881 HV floor, taken from Hill Climbing’s worst instance, judged every method’s rows, while Team HRI’s own seeds on medium-graph span 80,376 HV.</a:t>
            </a:r>
            <a:endParaRPr lang="en-US" sz="1150" dirty="0"/>
          </a:p>
        </p:txBody>
      </p:sp>
      <p:sp>
        <p:nvSpPr>
          <p:cNvPr id="22" name="Text 20"/>
          <p:cNvSpPr txBox="1"/>
          <p:nvPr/>
        </p:nvSpPr>
        <p:spPr>
          <a:xfrm>
            <a:off x="8641080" y="4608576"/>
            <a:ext cx="2910535" cy="822960"/>
          </a:xfrm>
          <a:prstGeom prst="rect">
            <a:avLst/>
          </a:prstGeom>
          <a:noFill/>
          <a:ln/>
        </p:spPr>
        <p:txBody>
          <a:bodyPr wrap="square" lIns="0" tIns="0" rIns="0" bIns="0" rtlCol="0" anchor="t"/>
          <a:lstStyle/>
          <a:p>
            <a:pPr indent="0" marL="0">
              <a:buNone/>
            </a:pPr>
            <a:r>
              <a:rPr lang="en-US" sz="1150" i="1" dirty="0">
                <a:solidFill>
                  <a:srgbClr val="9AA6B6"/>
                </a:solidFill>
                <a:latin typeface="Calibri" pitchFamily="34" charset="0"/>
                <a:ea typeface="Calibri" pitchFamily="34" charset="-122"/>
                <a:cs typeface="Calibri" pitchFamily="34" charset="-120"/>
              </a:rPr>
              <a:t>Caught by reading the seeds instead of the best of three: four of ten verdicts changed.</a:t>
            </a:r>
            <a:endParaRPr lang="en-US" sz="1150" dirty="0"/>
          </a:p>
        </p:txBody>
      </p:sp>
      <p:sp>
        <p:nvSpPr>
          <p:cNvPr id="23" name="Text 21"/>
          <p:cNvSpPr txBox="1"/>
          <p:nvPr/>
        </p:nvSpPr>
        <p:spPr>
          <a:xfrm>
            <a:off x="640080" y="5650992"/>
            <a:ext cx="10911535" cy="502920"/>
          </a:xfrm>
          <a:prstGeom prst="rect">
            <a:avLst/>
          </a:prstGeom>
          <a:noFill/>
          <a:ln/>
        </p:spPr>
        <p:txBody>
          <a:bodyPr wrap="square" lIns="0" tIns="0" rIns="0" bIns="0" rtlCol="0" anchor="t"/>
          <a:lstStyle/>
          <a:p>
            <a:pPr indent="0" marL="0">
              <a:buNone/>
            </a:pPr>
            <a:r>
              <a:rPr lang="en-US" sz="1550" i="1" dirty="0">
                <a:solidFill>
                  <a:srgbClr val="E8ECF2"/>
                </a:solidFill>
                <a:latin typeface="Century Schoolbook" pitchFamily="34" charset="0"/>
                <a:ea typeface="Century Schoolbook" pitchFamily="34" charset="-122"/>
                <a:cs typeface="Century Schoolbook" pitchFamily="34" charset="-120"/>
              </a:rPr>
              <a:t>None was caught by a test suite. Each was caught by a number that was the wrong shape for its story.</a:t>
            </a:r>
            <a:endParaRPr lang="en-US" sz="155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BACKUP</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Protocol, and what it does not control</a:t>
            </a:r>
            <a:endParaRPr lang="en-US" sz="2700" dirty="0"/>
          </a:p>
        </p:txBody>
      </p:sp>
      <p:sp>
        <p:nvSpPr>
          <p:cNvPr id="4" name="Text 2"/>
          <p:cNvSpPr txBox="1"/>
          <p:nvPr/>
        </p:nvSpPr>
        <p:spPr>
          <a:xfrm>
            <a:off x="640080" y="1810512"/>
            <a:ext cx="2011680" cy="548640"/>
          </a:xfrm>
          <a:prstGeom prst="rect">
            <a:avLst/>
          </a:prstGeom>
          <a:noFill/>
          <a:ln/>
        </p:spPr>
        <p:txBody>
          <a:bodyPr wrap="square" lIns="0" tIns="0" rIns="0" bIns="0" rtlCol="0" anchor="t"/>
          <a:lstStyle/>
          <a:p>
            <a:pPr indent="0" marL="0">
              <a:buNone/>
            </a:pPr>
            <a:r>
              <a:rPr lang="en-US" sz="1400" b="1" dirty="0">
                <a:solidFill>
                  <a:srgbClr val="3DDC97"/>
                </a:solidFill>
                <a:latin typeface="Calibri" pitchFamily="34" charset="0"/>
                <a:ea typeface="Calibri" pitchFamily="34" charset="-122"/>
                <a:cs typeface="Calibri" pitchFamily="34" charset="-120"/>
              </a:rPr>
              <a:t>Budget</a:t>
            </a:r>
            <a:endParaRPr lang="en-US" sz="1400" dirty="0"/>
          </a:p>
        </p:txBody>
      </p:sp>
      <p:sp>
        <p:nvSpPr>
          <p:cNvPr id="5" name="Text 3"/>
          <p:cNvSpPr txBox="1"/>
          <p:nvPr/>
        </p:nvSpPr>
        <p:spPr>
          <a:xfrm>
            <a:off x="2834640" y="1810512"/>
            <a:ext cx="8716975" cy="603504"/>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1,200 s wall-clock per run, three seeds, ten instances. Four runs fell outside 1,150–1,400 s after machine stalls; none of them supplies a best-of-3 value.</a:t>
            </a:r>
            <a:endParaRPr lang="en-US" sz="1300" dirty="0"/>
          </a:p>
        </p:txBody>
      </p:sp>
      <p:sp>
        <p:nvSpPr>
          <p:cNvPr id="6" name="Shape 4"/>
          <p:cNvSpPr/>
          <p:nvPr/>
        </p:nvSpPr>
        <p:spPr>
          <a:xfrm>
            <a:off x="640080" y="2432304"/>
            <a:ext cx="10911535" cy="0"/>
          </a:xfrm>
          <a:prstGeom prst="line">
            <a:avLst/>
          </a:prstGeom>
          <a:noFill/>
          <a:ln w="6350">
            <a:solidFill>
              <a:srgbClr val="2A3546"/>
            </a:solidFill>
            <a:prstDash val="solid"/>
          </a:ln>
        </p:spPr>
      </p:sp>
      <p:sp>
        <p:nvSpPr>
          <p:cNvPr id="7" name="Text 5"/>
          <p:cNvSpPr txBox="1"/>
          <p:nvPr/>
        </p:nvSpPr>
        <p:spPr>
          <a:xfrm>
            <a:off x="640080" y="2523744"/>
            <a:ext cx="2011680" cy="548640"/>
          </a:xfrm>
          <a:prstGeom prst="rect">
            <a:avLst/>
          </a:prstGeom>
          <a:noFill/>
          <a:ln/>
        </p:spPr>
        <p:txBody>
          <a:bodyPr wrap="square" lIns="0" tIns="0" rIns="0" bIns="0" rtlCol="0" anchor="t"/>
          <a:lstStyle/>
          <a:p>
            <a:pPr indent="0" marL="0">
              <a:buNone/>
            </a:pPr>
            <a:r>
              <a:rPr lang="en-US" sz="1400" b="1" dirty="0">
                <a:solidFill>
                  <a:srgbClr val="3DDC97"/>
                </a:solidFill>
                <a:latin typeface="Calibri" pitchFamily="34" charset="0"/>
                <a:ea typeface="Calibri" pitchFamily="34" charset="-122"/>
                <a:cs typeface="Calibri" pitchFamily="34" charset="-120"/>
              </a:rPr>
              <a:t>Hardware</a:t>
            </a:r>
            <a:endParaRPr lang="en-US" sz="1400" dirty="0"/>
          </a:p>
        </p:txBody>
      </p:sp>
      <p:sp>
        <p:nvSpPr>
          <p:cNvPr id="8" name="Text 6"/>
          <p:cNvSpPr txBox="1"/>
          <p:nvPr/>
        </p:nvSpPr>
        <p:spPr>
          <a:xfrm>
            <a:off x="2834640" y="2523744"/>
            <a:ext cx="8716975" cy="603504"/>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fcmaes, Team HRI and Hill Climbing on one pinned CPU core each. Spacekangaroos on its own CUDA code on a Kaggle T4, batch 1,024 (512 at n = 2,426).</a:t>
            </a:r>
            <a:endParaRPr lang="en-US" sz="1300" dirty="0"/>
          </a:p>
        </p:txBody>
      </p:sp>
      <p:sp>
        <p:nvSpPr>
          <p:cNvPr id="9" name="Shape 7"/>
          <p:cNvSpPr/>
          <p:nvPr/>
        </p:nvSpPr>
        <p:spPr>
          <a:xfrm>
            <a:off x="640080" y="3145536"/>
            <a:ext cx="10911535" cy="0"/>
          </a:xfrm>
          <a:prstGeom prst="line">
            <a:avLst/>
          </a:prstGeom>
          <a:noFill/>
          <a:ln w="6350">
            <a:solidFill>
              <a:srgbClr val="2A3546"/>
            </a:solidFill>
            <a:prstDash val="solid"/>
          </a:ln>
        </p:spPr>
      </p:sp>
      <p:sp>
        <p:nvSpPr>
          <p:cNvPr id="10" name="Text 8"/>
          <p:cNvSpPr txBox="1"/>
          <p:nvPr/>
        </p:nvSpPr>
        <p:spPr>
          <a:xfrm>
            <a:off x="640080" y="3236976"/>
            <a:ext cx="2011680" cy="548640"/>
          </a:xfrm>
          <a:prstGeom prst="rect">
            <a:avLst/>
          </a:prstGeom>
          <a:noFill/>
          <a:ln/>
        </p:spPr>
        <p:txBody>
          <a:bodyPr wrap="square" lIns="0" tIns="0" rIns="0" bIns="0" rtlCol="0" anchor="t"/>
          <a:lstStyle/>
          <a:p>
            <a:pPr indent="0" marL="0">
              <a:buNone/>
            </a:pPr>
            <a:r>
              <a:rPr lang="en-US" sz="1400" b="1" dirty="0">
                <a:solidFill>
                  <a:srgbClr val="3DDC97"/>
                </a:solidFill>
                <a:latin typeface="Calibri" pitchFamily="34" charset="0"/>
                <a:ea typeface="Calibri" pitchFamily="34" charset="-122"/>
                <a:cs typeface="Calibri" pitchFamily="34" charset="-120"/>
              </a:rPr>
              <a:t>Implementations</a:t>
            </a:r>
            <a:endParaRPr lang="en-US" sz="1400" dirty="0"/>
          </a:p>
        </p:txBody>
      </p:sp>
      <p:sp>
        <p:nvSpPr>
          <p:cNvPr id="11" name="Text 9"/>
          <p:cNvSpPr txBox="1"/>
          <p:nvPr/>
        </p:nvSpPr>
        <p:spPr>
          <a:xfrm>
            <a:off x="2834640" y="3236976"/>
            <a:ext cx="8716975" cy="603504"/>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fcmaes ported from the fast-cma-es approach; Team HRI re-implemented from its paper, as no code was published; Spacekangaroos run as published, plus a 32-bit overflow fix.</a:t>
            </a:r>
            <a:endParaRPr lang="en-US" sz="1300" dirty="0"/>
          </a:p>
        </p:txBody>
      </p:sp>
      <p:sp>
        <p:nvSpPr>
          <p:cNvPr id="12" name="Shape 10"/>
          <p:cNvSpPr/>
          <p:nvPr/>
        </p:nvSpPr>
        <p:spPr>
          <a:xfrm>
            <a:off x="640080" y="3858768"/>
            <a:ext cx="10911535" cy="0"/>
          </a:xfrm>
          <a:prstGeom prst="line">
            <a:avLst/>
          </a:prstGeom>
          <a:noFill/>
          <a:ln w="6350">
            <a:solidFill>
              <a:srgbClr val="2A3546"/>
            </a:solidFill>
            <a:prstDash val="solid"/>
          </a:ln>
        </p:spPr>
      </p:sp>
      <p:sp>
        <p:nvSpPr>
          <p:cNvPr id="13" name="Text 11"/>
          <p:cNvSpPr txBox="1"/>
          <p:nvPr/>
        </p:nvSpPr>
        <p:spPr>
          <a:xfrm>
            <a:off x="640080" y="3950208"/>
            <a:ext cx="2011680" cy="548640"/>
          </a:xfrm>
          <a:prstGeom prst="rect">
            <a:avLst/>
          </a:prstGeom>
          <a:noFill/>
          <a:ln/>
        </p:spPr>
        <p:txBody>
          <a:bodyPr wrap="square" lIns="0" tIns="0" rIns="0" bIns="0" rtlCol="0" anchor="t"/>
          <a:lstStyle/>
          <a:p>
            <a:pPr indent="0" marL="0">
              <a:buNone/>
            </a:pPr>
            <a:r>
              <a:rPr lang="en-US" sz="1400" b="1" dirty="0">
                <a:solidFill>
                  <a:srgbClr val="3DDC97"/>
                </a:solidFill>
                <a:latin typeface="Calibri" pitchFamily="34" charset="0"/>
                <a:ea typeface="Calibri" pitchFamily="34" charset="-122"/>
                <a:cs typeface="Calibri" pitchFamily="34" charset="-120"/>
              </a:rPr>
              <a:t>Starts</a:t>
            </a:r>
            <a:endParaRPr lang="en-US" sz="1400" dirty="0"/>
          </a:p>
        </p:txBody>
      </p:sp>
      <p:sp>
        <p:nvSpPr>
          <p:cNvPr id="14" name="Text 12"/>
          <p:cNvSpPr txBox="1"/>
          <p:nvPr/>
        </p:nvSpPr>
        <p:spPr>
          <a:xfrm>
            <a:off x="2834640" y="3950208"/>
            <a:ext cx="8716975" cy="603504"/>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Both permutation-space solvers start from the same min-degree construction, computed fresh inside every run.</a:t>
            </a:r>
            <a:endParaRPr lang="en-US" sz="1300" dirty="0"/>
          </a:p>
        </p:txBody>
      </p:sp>
      <p:sp>
        <p:nvSpPr>
          <p:cNvPr id="15" name="Shape 13"/>
          <p:cNvSpPr/>
          <p:nvPr/>
        </p:nvSpPr>
        <p:spPr>
          <a:xfrm>
            <a:off x="640080" y="4572000"/>
            <a:ext cx="10911535" cy="0"/>
          </a:xfrm>
          <a:prstGeom prst="line">
            <a:avLst/>
          </a:prstGeom>
          <a:noFill/>
          <a:ln w="6350">
            <a:solidFill>
              <a:srgbClr val="2A3546"/>
            </a:solidFill>
            <a:prstDash val="solid"/>
          </a:ln>
        </p:spPr>
      </p:sp>
      <p:sp>
        <p:nvSpPr>
          <p:cNvPr id="16" name="Text 14"/>
          <p:cNvSpPr txBox="1"/>
          <p:nvPr/>
        </p:nvSpPr>
        <p:spPr>
          <a:xfrm>
            <a:off x="640080" y="4663440"/>
            <a:ext cx="2011680" cy="548640"/>
          </a:xfrm>
          <a:prstGeom prst="rect">
            <a:avLst/>
          </a:prstGeom>
          <a:noFill/>
          <a:ln/>
        </p:spPr>
        <p:txBody>
          <a:bodyPr wrap="square" lIns="0" tIns="0" rIns="0" bIns="0" rtlCol="0" anchor="t"/>
          <a:lstStyle/>
          <a:p>
            <a:pPr indent="0" marL="0">
              <a:buNone/>
            </a:pPr>
            <a:r>
              <a:rPr lang="en-US" sz="1400" b="1" dirty="0">
                <a:solidFill>
                  <a:srgbClr val="3DDC97"/>
                </a:solidFill>
                <a:latin typeface="Calibri" pitchFamily="34" charset="0"/>
                <a:ea typeface="Calibri" pitchFamily="34" charset="-122"/>
                <a:cs typeface="Calibri" pitchFamily="34" charset="-120"/>
              </a:rPr>
              <a:t>Scoring</a:t>
            </a:r>
            <a:endParaRPr lang="en-US" sz="1400" dirty="0"/>
          </a:p>
        </p:txBody>
      </p:sp>
      <p:sp>
        <p:nvSpPr>
          <p:cNvPr id="17" name="Text 15"/>
          <p:cNvSpPr txBox="1"/>
          <p:nvPr/>
        </p:nvSpPr>
        <p:spPr>
          <a:xfrm>
            <a:off x="2834640" y="4663440"/>
            <a:ext cx="8716975" cy="603504"/>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Every answer re-scored by esa_eval.py. ESA’s own evaluation code, run beside it, agrees on all ten instances: 220 orderings, 2,000 hypervolumes, the min-degree ×8 column. ESA scores an over-cap vector as width 501; this harness discards the submission.</a:t>
            </a:r>
            <a:endParaRPr lang="en-US" sz="1300" dirty="0"/>
          </a:p>
        </p:txBody>
      </p:sp>
      <p:sp>
        <p:nvSpPr>
          <p:cNvPr id="18" name="Shape 16"/>
          <p:cNvSpPr/>
          <p:nvPr/>
        </p:nvSpPr>
        <p:spPr>
          <a:xfrm>
            <a:off x="640080" y="5285232"/>
            <a:ext cx="10911535" cy="0"/>
          </a:xfrm>
          <a:prstGeom prst="line">
            <a:avLst/>
          </a:prstGeom>
          <a:noFill/>
          <a:ln w="6350">
            <a:solidFill>
              <a:srgbClr val="2A3546"/>
            </a:solidFill>
            <a:prstDash val="solid"/>
          </a:ln>
        </p:spPr>
      </p:sp>
      <p:sp>
        <p:nvSpPr>
          <p:cNvPr id="19" name="Text 17"/>
          <p:cNvSpPr txBox="1"/>
          <p:nvPr/>
        </p:nvSpPr>
        <p:spPr>
          <a:xfrm>
            <a:off x="640080" y="5376672"/>
            <a:ext cx="2011680" cy="548640"/>
          </a:xfrm>
          <a:prstGeom prst="rect">
            <a:avLst/>
          </a:prstGeom>
          <a:noFill/>
          <a:ln/>
        </p:spPr>
        <p:txBody>
          <a:bodyPr wrap="square" lIns="0" tIns="0" rIns="0" bIns="0" rtlCol="0" anchor="t"/>
          <a:lstStyle/>
          <a:p>
            <a:pPr indent="0" marL="0">
              <a:buNone/>
            </a:pPr>
            <a:r>
              <a:rPr lang="en-US" sz="1400" b="1" dirty="0">
                <a:solidFill>
                  <a:srgbClr val="F2C14E"/>
                </a:solidFill>
                <a:latin typeface="Calibri" pitchFamily="34" charset="0"/>
                <a:ea typeface="Calibri" pitchFamily="34" charset="-122"/>
                <a:cs typeface="Calibri" pitchFamily="34" charset="-120"/>
              </a:rPr>
              <a:t>Not controlled</a:t>
            </a:r>
            <a:endParaRPr lang="en-US" sz="1400" dirty="0"/>
          </a:p>
        </p:txBody>
      </p:sp>
      <p:sp>
        <p:nvSpPr>
          <p:cNvPr id="20" name="Text 18"/>
          <p:cNvSpPr txBox="1"/>
          <p:nvPr/>
        </p:nvSpPr>
        <p:spPr>
          <a:xfrm>
            <a:off x="2834640" y="5376672"/>
            <a:ext cx="8716975" cy="603504"/>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Best of three favours noisy methods, hence the seed-level verdicts. Three seeds per cell. The dense family is three variants of one graph.</a:t>
            </a:r>
            <a:endParaRPr lang="en-US" sz="130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BACKUP</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Every seed behind the table</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1325880"/>
                <a:gridCol w="722376"/>
                <a:gridCol w="722376"/>
                <a:gridCol w="722376"/>
                <a:gridCol w="722376"/>
                <a:gridCol w="722376"/>
                <a:gridCol w="722376"/>
                <a:gridCol w="722376"/>
                <a:gridCol w="722376"/>
                <a:gridCol w="722376"/>
                <a:gridCol w="722376"/>
                <a:gridCol w="722376"/>
                <a:gridCol w="722376"/>
                <a:gridCol w="914400"/>
              </a:tblGrid>
              <a:tr h="301752">
                <a:tc>
                  <a:txBody>
                    <a:bodyPr/>
                    <a:lstStyle/>
                    <a:p>
                      <a:pPr indent="0" marL="0">
                        <a:buNone/>
                      </a:pP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c gridSpan="3">
                  <a:txBody>
                    <a:bodyPr/>
                    <a:lstStyle/>
                    <a:p>
                      <a:pPr algn="ctr" indent="0" marL="0">
                        <a:buNone/>
                      </a:pPr>
                      <a:r>
                        <a:rPr lang="en-US" sz="1050" b="1" dirty="0">
                          <a:solidFill>
                            <a:srgbClr val="E8ECF2"/>
                          </a:solidFill>
                          <a:latin typeface="Calibri" pitchFamily="34" charset="0"/>
                          <a:ea typeface="Calibri" pitchFamily="34" charset="-122"/>
                          <a:cs typeface="Calibri" pitchFamily="34" charset="-120"/>
                        </a:rPr>
                        <a:t>fcmaes</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c hMerge="1">
                  <a:tcPr/>
                </a:tc>
                <a:tc hMerge="1">
                  <a:tcPr/>
                </a:tc>
                <a:tc gridSpan="3">
                  <a:txBody>
                    <a:bodyPr/>
                    <a:lstStyle/>
                    <a:p>
                      <a:pPr algn="ctr" indent="0" marL="0">
                        <a:buNone/>
                      </a:pPr>
                      <a:r>
                        <a:rPr lang="en-US" sz="1050" b="1" dirty="0">
                          <a:solidFill>
                            <a:srgbClr val="E8ECF2"/>
                          </a:solidFill>
                          <a:latin typeface="Calibri" pitchFamily="34" charset="0"/>
                          <a:ea typeface="Calibri" pitchFamily="34" charset="-122"/>
                          <a:cs typeface="Calibri" pitchFamily="34" charset="-120"/>
                        </a:rPr>
                        <a:t>Team HRI</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c hMerge="1">
                  <a:tcPr/>
                </a:tc>
                <a:tc hMerge="1">
                  <a:tcPr/>
                </a:tc>
                <a:tc gridSpan="3">
                  <a:txBody>
                    <a:bodyPr/>
                    <a:lstStyle/>
                    <a:p>
                      <a:pPr algn="ctr" indent="0" marL="0">
                        <a:buNone/>
                      </a:pPr>
                      <a:r>
                        <a:rPr lang="en-US" sz="1050" b="1" dirty="0">
                          <a:solidFill>
                            <a:srgbClr val="E8ECF2"/>
                          </a:solidFill>
                          <a:latin typeface="Calibri" pitchFamily="34" charset="0"/>
                          <a:ea typeface="Calibri" pitchFamily="34" charset="-122"/>
                          <a:cs typeface="Calibri" pitchFamily="34" charset="-120"/>
                        </a:rPr>
                        <a:t>Spacekangaroos</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c hMerge="1">
                  <a:tcPr/>
                </a:tc>
                <a:tc hMerge="1">
                  <a:tcPr/>
                </a:tc>
                <a:tc gridSpan="3">
                  <a:txBody>
                    <a:bodyPr/>
                    <a:lstStyle/>
                    <a:p>
                      <a:pPr algn="ctr" indent="0" marL="0">
                        <a:buNone/>
                      </a:pPr>
                      <a:r>
                        <a:rPr lang="en-US" sz="1050" b="1" dirty="0">
                          <a:solidFill>
                            <a:srgbClr val="E8ECF2"/>
                          </a:solidFill>
                          <a:latin typeface="Calibri" pitchFamily="34" charset="0"/>
                          <a:ea typeface="Calibri" pitchFamily="34" charset="-122"/>
                          <a:cs typeface="Calibri" pitchFamily="34" charset="-120"/>
                        </a:rPr>
                        <a:t>Hill Climbing</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c hMerge="1">
                  <a:tcPr/>
                </a:tc>
                <a:tc hMerge="1">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min-degree ×8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0" cap="flat" cmpd="sng" algn="ctr">
                      <a:noFill/>
                    </a:lnB>
                  </a:tcPr>
                </a:tc>
              </a:tr>
              <a:tr h="301752">
                <a:tc>
                  <a:txBody>
                    <a:bodyPr/>
                    <a:lstStyle/>
                    <a:p>
                      <a:pPr indent="0" marL="0">
                        <a:buNone/>
                      </a:pP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algn="r" indent="0" marL="0">
                        <a:buNone/>
                      </a:pPr>
                      <a:r>
                        <a:rPr lang="en-US" sz="1000" dirty="0">
                          <a:solidFill>
                            <a:srgbClr val="7D8AA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9AA6B6"/>
                      </a:solidFill>
                      <a:prstDash val="solid"/>
                      <a:round/>
                      <a:headEnd type="none" w="med" len="med"/>
                      <a:tailEnd type="none" w="med" len="med"/>
                    </a:lnB>
                  </a:tcPr>
                </a:tc>
              </a:tr>
              <a:tr h="301752">
                <a:tc>
                  <a:txBody>
                    <a:bodyPr/>
                    <a:lstStyle/>
                    <a:p>
                      <a:pPr indent="0" marL="0">
                        <a:buNone/>
                      </a:pPr>
                      <a:r>
                        <a:rPr lang="en-US" sz="1050" dirty="0">
                          <a:solidFill>
                            <a:srgbClr val="E8ECF2"/>
                          </a:solidFill>
                          <a:latin typeface="Calibri" pitchFamily="34" charset="0"/>
                          <a:ea typeface="Calibri" pitchFamily="34" charset="-122"/>
                          <a:cs typeface="Calibri" pitchFamily="34" charset="-120"/>
                        </a:rPr>
                        <a:t>small-graph</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1,807.7</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1,808.0</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1,807.1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1,820.9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1,819.5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1,818.9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1,827.5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1,812.2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1,810.9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1,814.5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1,815.4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1,814.5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1,814.5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r>
              <a:tr h="301752">
                <a:tc>
                  <a:txBody>
                    <a:bodyPr/>
                    <a:lstStyle/>
                    <a:p>
                      <a:pPr indent="0" marL="0">
                        <a:buNone/>
                      </a:pPr>
                      <a:r>
                        <a:rPr lang="en-US" sz="1050" dirty="0">
                          <a:solidFill>
                            <a:srgbClr val="E8ECF2"/>
                          </a:solidFill>
                          <a:latin typeface="Calibri" pitchFamily="34" charset="0"/>
                          <a:ea typeface="Calibri" pitchFamily="34" charset="-122"/>
                          <a:cs typeface="Calibri" pitchFamily="34" charset="-120"/>
                        </a:rPr>
                        <a:t>synth-1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1,804.2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1,803.4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1,804.5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1,818.7</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1,814.8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1,818.1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1,816.9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1,815.6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1,815.7</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1,819.9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1,818.6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1,818.7</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1,818.5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r>
              <a:tr h="301752">
                <a:tc>
                  <a:txBody>
                    <a:bodyPr/>
                    <a:lstStyle/>
                    <a:p>
                      <a:pPr indent="0" marL="0">
                        <a:buNone/>
                      </a:pPr>
                      <a:r>
                        <a:rPr lang="en-US" sz="1050" dirty="0">
                          <a:solidFill>
                            <a:srgbClr val="E8ECF2"/>
                          </a:solidFill>
                          <a:latin typeface="Calibri" pitchFamily="34" charset="0"/>
                          <a:ea typeface="Calibri" pitchFamily="34" charset="-122"/>
                          <a:cs typeface="Calibri" pitchFamily="34" charset="-120"/>
                        </a:rPr>
                        <a:t>synth-2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1,803.8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1,802.8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1,803.6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1,817.4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1,820.2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1,817.6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1,817.5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1,815.4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1,815.8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1,819.9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1,820.0</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1,819.9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1,819.9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r>
              <a:tr h="301752">
                <a:tc>
                  <a:txBody>
                    <a:bodyPr/>
                    <a:lstStyle/>
                    <a:p>
                      <a:pPr indent="0" marL="0">
                        <a:buNone/>
                      </a:pPr>
                      <a:r>
                        <a:rPr lang="en-US" sz="1050" dirty="0">
                          <a:solidFill>
                            <a:srgbClr val="E8ECF2"/>
                          </a:solidFill>
                          <a:latin typeface="Calibri" pitchFamily="34" charset="0"/>
                          <a:ea typeface="Calibri" pitchFamily="34" charset="-122"/>
                          <a:cs typeface="Calibri" pitchFamily="34" charset="-120"/>
                        </a:rPr>
                        <a:t>synth-3</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1,803.2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1,804.3</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1,804.4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1,817.6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1,816.3</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1,816.8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1,816.5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1,814.9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1,815.9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1,819.9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1,819.9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1,819.9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1,819.9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r>
              <a:tr h="301752">
                <a:tc>
                  <a:txBody>
                    <a:bodyPr/>
                    <a:lstStyle/>
                    <a:p>
                      <a:pPr indent="0" marL="0">
                        <a:buNone/>
                      </a:pPr>
                      <a:r>
                        <a:rPr lang="en-US" sz="1050" dirty="0">
                          <a:solidFill>
                            <a:srgbClr val="E8ECF2"/>
                          </a:solidFill>
                          <a:latin typeface="Calibri" pitchFamily="34" charset="0"/>
                          <a:ea typeface="Calibri" pitchFamily="34" charset="-122"/>
                          <a:cs typeface="Calibri" pitchFamily="34" charset="-120"/>
                        </a:rPr>
                        <a:t>medium-graph</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1,659.2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1,663.1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1,658.2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1,674.3</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1,682.4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1,602.1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1,566.5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1,544.8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1,547.0</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1,615.2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1,612.5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1,608.5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1,606.4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r>
              <a:tr h="301752">
                <a:tc>
                  <a:txBody>
                    <a:bodyPr/>
                    <a:lstStyle/>
                    <a:p>
                      <a:pPr indent="0" marL="0">
                        <a:buNone/>
                      </a:pPr>
                      <a:r>
                        <a:rPr lang="en-US" sz="1050" dirty="0">
                          <a:solidFill>
                            <a:srgbClr val="E8ECF2"/>
                          </a:solidFill>
                          <a:latin typeface="Calibri" pitchFamily="34" charset="0"/>
                          <a:ea typeface="Calibri" pitchFamily="34" charset="-122"/>
                          <a:cs typeface="Calibri" pitchFamily="34" charset="-120"/>
                        </a:rPr>
                        <a:t>synth-4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1,585.5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1,586.3</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1,584.1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1,592.3</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1,588.4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1,592.3</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1,470.1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1,484.0</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1,482.6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1,551.8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1,550.8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1,564.0</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1,554.1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r>
              <a:tr h="301752">
                <a:tc>
                  <a:txBody>
                    <a:bodyPr/>
                    <a:lstStyle/>
                    <a:p>
                      <a:pPr indent="0" marL="0">
                        <a:buNone/>
                      </a:pPr>
                      <a:r>
                        <a:rPr lang="en-US" sz="1050" dirty="0">
                          <a:solidFill>
                            <a:srgbClr val="E8ECF2"/>
                          </a:solidFill>
                          <a:latin typeface="Calibri" pitchFamily="34" charset="0"/>
                          <a:ea typeface="Calibri" pitchFamily="34" charset="-122"/>
                          <a:cs typeface="Calibri" pitchFamily="34" charset="-120"/>
                        </a:rPr>
                        <a:t>synth-5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1,578.8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1,581.8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1,582.9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1,554.9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1,551.9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1,597.5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1,465.3</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1,473.4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1,462.2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1,562.1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1,554.2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1,551.6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1,558.5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6350" cap="flat" cmpd="sng" algn="ctr">
                      <a:solidFill>
                        <a:srgbClr val="2A3546"/>
                      </a:solidFill>
                      <a:prstDash val="solid"/>
                      <a:round/>
                      <a:headEnd type="none" w="med" len="med"/>
                      <a:tailEnd type="none" w="med" len="med"/>
                    </a:lnB>
                  </a:tcPr>
                </a:tc>
              </a:tr>
              <a:tr h="301752">
                <a:tc>
                  <a:txBody>
                    <a:bodyPr/>
                    <a:lstStyle/>
                    <a:p>
                      <a:pPr indent="0" marL="0">
                        <a:buNone/>
                      </a:pPr>
                      <a:r>
                        <a:rPr lang="en-US" sz="1050" dirty="0">
                          <a:solidFill>
                            <a:srgbClr val="E8ECF2"/>
                          </a:solidFill>
                          <a:latin typeface="Calibri" pitchFamily="34" charset="0"/>
                          <a:ea typeface="Calibri" pitchFamily="34" charset="-122"/>
                          <a:cs typeface="Calibri" pitchFamily="34" charset="-120"/>
                        </a:rPr>
                        <a:t>large-graph</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5,329.4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5,290.1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5,262.1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4,829.5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4,836.8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4,834.2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7D8AA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7D8AA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7D8AA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4,796.8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4,800.4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4,804.4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4,793.7</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r>
              <a:tr h="301752">
                <a:tc>
                  <a:txBody>
                    <a:bodyPr/>
                    <a:lstStyle/>
                    <a:p>
                      <a:pPr indent="0" marL="0">
                        <a:buNone/>
                      </a:pPr>
                      <a:r>
                        <a:rPr lang="en-US" sz="1050" dirty="0">
                          <a:solidFill>
                            <a:srgbClr val="E8ECF2"/>
                          </a:solidFill>
                          <a:latin typeface="Calibri" pitchFamily="34" charset="0"/>
                          <a:ea typeface="Calibri" pitchFamily="34" charset="-122"/>
                          <a:cs typeface="Calibri" pitchFamily="34" charset="-120"/>
                        </a:rPr>
                        <a:t>synth-6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5,167.2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5,056.0</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5,031.7</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4,795.8</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4,796.2</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4,797.9</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7D8AA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7D8AA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7D8AA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4,795.5</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4,795.4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4,795.6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4,793.7</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0" cap="flat" cmpd="sng" algn="ctr">
                      <a:noFill/>
                    </a:lnB>
                  </a:tcPr>
                </a:tc>
              </a:tr>
              <a:tr h="301752">
                <a:tc>
                  <a:txBody>
                    <a:bodyPr/>
                    <a:lstStyle/>
                    <a:p>
                      <a:pPr indent="0" marL="0">
                        <a:buNone/>
                      </a:pPr>
                      <a:r>
                        <a:rPr lang="en-US" sz="1050" dirty="0">
                          <a:solidFill>
                            <a:srgbClr val="E8ECF2"/>
                          </a:solidFill>
                          <a:latin typeface="Calibri" pitchFamily="34" charset="0"/>
                          <a:ea typeface="Calibri" pitchFamily="34" charset="-122"/>
                          <a:cs typeface="Calibri" pitchFamily="34" charset="-120"/>
                        </a:rPr>
                        <a:t>synth-7</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4,930.1</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4,921.6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5,203.6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4,794.4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4,795.6</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4,800.0</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dirty="0">
                          <a:solidFill>
                            <a:srgbClr val="7D8AA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dirty="0">
                          <a:solidFill>
                            <a:srgbClr val="7D8AA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dirty="0">
                          <a:solidFill>
                            <a:srgbClr val="7D8AA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b="1" dirty="0">
                          <a:solidFill>
                            <a:srgbClr val="E8ECF2"/>
                          </a:solidFill>
                          <a:latin typeface="Calibri" pitchFamily="34" charset="0"/>
                          <a:ea typeface="Calibri" pitchFamily="34" charset="-122"/>
                          <a:cs typeface="Calibri" pitchFamily="34" charset="-120"/>
                        </a:rPr>
                        <a:t>4,795.4</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4,795.3</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4,795.3</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050" dirty="0">
                          <a:solidFill>
                            <a:srgbClr val="9AA6B6"/>
                          </a:solidFill>
                          <a:latin typeface="Calibri" pitchFamily="34" charset="0"/>
                          <a:ea typeface="Calibri" pitchFamily="34" charset="-122"/>
                          <a:cs typeface="Calibri" pitchFamily="34" charset="-120"/>
                        </a:rPr>
                        <a:t>4,793.7</a:t>
                      </a:r>
                      <a:endParaRPr lang="en-US" sz="105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r>
            </a:tbl>
          </a:graphicData>
        </a:graphic>
      </p:graphicFrame>
      <p:sp>
        <p:nvSpPr>
          <p:cNvPr id="5" name="Text 2"/>
          <p:cNvSpPr txBox="1"/>
          <p:nvPr/>
        </p:nvSpPr>
        <p:spPr>
          <a:xfrm>
            <a:off x="640080" y="5623560"/>
            <a:ext cx="10911535" cy="365760"/>
          </a:xfrm>
          <a:prstGeom prst="rect">
            <a:avLst/>
          </a:prstGeom>
          <a:noFill/>
          <a:ln/>
        </p:spPr>
        <p:txBody>
          <a:bodyPr wrap="square" lIns="0" tIns="0" rIns="0" bIns="0" rtlCol="0" anchor="t"/>
          <a:lstStyle/>
          <a:p>
            <a:pPr indent="0" marL="0">
              <a:buNone/>
            </a:pPr>
            <a:r>
              <a:rPr lang="en-US" sz="1050" i="1" dirty="0">
                <a:solidFill>
                  <a:srgbClr val="7D8AA0"/>
                </a:solidFill>
                <a:latin typeface="Calibri" pitchFamily="34" charset="0"/>
                <a:ea typeface="Calibri" pitchFamily="34" charset="-122"/>
                <a:cs typeface="Calibri" pitchFamily="34" charset="-120"/>
              </a:rPr>
              <a:t>Hypervolume ×1,000, every run. Bold: the best-of-3 value shown in the table. — no legal point. Source: harness/benchmark-*.csv.</a:t>
            </a:r>
            <a:endParaRPr lang="en-US" sz="105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BACKUP</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On sparse instances the problem is one-dimensional</a:t>
            </a:r>
            <a:endParaRPr lang="en-US" sz="2700" dirty="0"/>
          </a:p>
        </p:txBody>
      </p:sp>
      <p:sp>
        <p:nvSpPr>
          <p:cNvPr id="4" name="Text 2"/>
          <p:cNvSpPr txBox="1"/>
          <p:nvPr/>
        </p:nvSpPr>
        <p:spPr>
          <a:xfrm>
            <a:off x="640080" y="1810512"/>
            <a:ext cx="5852160" cy="1280160"/>
          </a:xfrm>
          <a:prstGeom prst="rect">
            <a:avLst/>
          </a:prstGeom>
          <a:noFill/>
          <a:ln/>
        </p:spPr>
        <p:txBody>
          <a:bodyPr wrap="square" lIns="0" tIns="0" rIns="0" bIns="0" rtlCol="0" anchor="t"/>
          <a:lstStyle/>
          <a:p>
            <a:pPr indent="0" marL="0">
              <a:buNone/>
            </a:pPr>
            <a:r>
              <a:rPr lang="en-US" sz="1400" dirty="0">
                <a:solidFill>
                  <a:srgbClr val="E8ECF2"/>
                </a:solidFill>
                <a:latin typeface="Calibri" pitchFamily="34" charset="0"/>
                <a:ea typeface="Calibri" pitchFamily="34" charset="-122"/>
                <a:cs typeface="Calibri" pitchFamily="34" charset="-120"/>
              </a:rPr>
              <a:t>A point at </a:t>
            </a:r>
            <a:pPr indent="0" marL="0">
              <a:buNone/>
            </a:pPr>
            <a:r>
              <a:rPr lang="en-US" sz="1400" i="1" dirty="0">
                <a:solidFill>
                  <a:srgbClr val="E8ECF2"/>
                </a:solidFill>
                <a:latin typeface="Calibri" pitchFamily="34" charset="0"/>
                <a:ea typeface="Calibri" pitchFamily="34" charset="-122"/>
                <a:cs typeface="Calibri" pitchFamily="34" charset="-120"/>
              </a:rPr>
              <a:t>t</a:t>
            </a:r>
            <a:pPr indent="0" marL="0">
              <a:buNone/>
            </a:pPr>
            <a:r>
              <a:rPr lang="en-US" sz="1400" dirty="0">
                <a:solidFill>
                  <a:srgbClr val="E8ECF2"/>
                </a:solidFill>
                <a:latin typeface="Calibri" pitchFamily="34" charset="0"/>
                <a:ea typeface="Calibri" pitchFamily="34" charset="-122"/>
                <a:cs typeface="Calibri" pitchFamily="34" charset="-120"/>
              </a:rPr>
              <a:t> = 0 covers (</a:t>
            </a:r>
            <a:pPr indent="0" marL="0">
              <a:buNone/>
            </a:pPr>
            <a:r>
              <a:rPr lang="en-US" sz="1400" i="1" dirty="0">
                <a:solidFill>
                  <a:srgbClr val="E8ECF2"/>
                </a:solidFill>
                <a:latin typeface="Calibri" pitchFamily="34" charset="0"/>
                <a:ea typeface="Calibri" pitchFamily="34" charset="-122"/>
                <a:cs typeface="Calibri" pitchFamily="34" charset="-120"/>
              </a:rPr>
              <a:t>n</a:t>
            </a:r>
            <a:pPr indent="0" marL="0">
              <a:buNone/>
            </a:pPr>
            <a:r>
              <a:rPr lang="en-US" sz="1400" dirty="0">
                <a:solidFill>
                  <a:srgbClr val="E8ECF2"/>
                </a:solidFill>
                <a:latin typeface="Calibri" pitchFamily="34" charset="0"/>
                <a:ea typeface="Calibri" pitchFamily="34" charset="-122"/>
                <a:cs typeface="Calibri" pitchFamily="34" charset="-120"/>
              </a:rPr>
              <a:t> − </a:t>
            </a:r>
            <a:pPr indent="0" marL="0">
              <a:buNone/>
            </a:pPr>
            <a:r>
              <a:rPr lang="en-US" sz="1400" i="1" dirty="0">
                <a:solidFill>
                  <a:srgbClr val="E8ECF2"/>
                </a:solidFill>
                <a:latin typeface="Calibri" pitchFamily="34" charset="0"/>
                <a:ea typeface="Calibri" pitchFamily="34" charset="-122"/>
                <a:cs typeface="Calibri" pitchFamily="34" charset="-120"/>
              </a:rPr>
              <a:t>w</a:t>
            </a:r>
            <a:pPr indent="0" marL="0">
              <a:buNone/>
            </a:pPr>
            <a:r>
              <a:rPr lang="en-US" sz="1400" dirty="0">
                <a:solidFill>
                  <a:srgbClr val="E8ECF2"/>
                </a:solidFill>
                <a:latin typeface="Calibri" pitchFamily="34" charset="0"/>
                <a:ea typeface="Calibri" pitchFamily="34" charset="-122"/>
                <a:cs typeface="Calibri" pitchFamily="34" charset="-120"/>
              </a:rPr>
              <a:t>)·</a:t>
            </a:r>
            <a:pPr indent="0" marL="0">
              <a:buNone/>
            </a:pPr>
            <a:r>
              <a:rPr lang="en-US" sz="1400" i="1" dirty="0">
                <a:solidFill>
                  <a:srgbClr val="E8ECF2"/>
                </a:solidFill>
                <a:latin typeface="Calibri" pitchFamily="34" charset="0"/>
                <a:ea typeface="Calibri" pitchFamily="34" charset="-122"/>
                <a:cs typeface="Calibri" pitchFamily="34" charset="-120"/>
              </a:rPr>
              <a:t>n</a:t>
            </a:r>
            <a:pPr indent="0" marL="0">
              <a:buNone/>
            </a:pPr>
            <a:r>
              <a:rPr lang="en-US" sz="1400" dirty="0">
                <a:solidFill>
                  <a:srgbClr val="E8ECF2"/>
                </a:solidFill>
                <a:latin typeface="Calibri" pitchFamily="34" charset="0"/>
                <a:ea typeface="Calibri" pitchFamily="34" charset="-122"/>
                <a:cs typeface="Calibri" pitchFamily="34" charset="-120"/>
              </a:rPr>
              <a:t> of the </a:t>
            </a:r>
            <a:pPr indent="0" marL="0">
              <a:buNone/>
            </a:pPr>
            <a:r>
              <a:rPr lang="en-US" sz="1400" i="1" dirty="0">
                <a:solidFill>
                  <a:srgbClr val="E8ECF2"/>
                </a:solidFill>
                <a:latin typeface="Calibri" pitchFamily="34" charset="0"/>
                <a:ea typeface="Calibri" pitchFamily="34" charset="-122"/>
                <a:cs typeface="Calibri" pitchFamily="34" charset="-120"/>
              </a:rPr>
              <a:t>n</a:t>
            </a:r>
            <a:pPr indent="0" marL="0">
              <a:buNone/>
            </a:pPr>
            <a:r>
              <a:rPr lang="en-US" sz="1400" dirty="0">
                <a:solidFill>
                  <a:srgbClr val="E8ECF2"/>
                </a:solidFill>
                <a:latin typeface="Calibri" pitchFamily="34" charset="0"/>
                <a:ea typeface="Calibri" pitchFamily="34" charset="-122"/>
                <a:cs typeface="Calibri" pitchFamily="34" charset="-120"/>
              </a:rPr>
              <a:t> × </a:t>
            </a:r>
            <a:pPr indent="0" marL="0">
              <a:buNone/>
            </a:pPr>
            <a:r>
              <a:rPr lang="en-US" sz="1400" i="1" dirty="0">
                <a:solidFill>
                  <a:srgbClr val="E8ECF2"/>
                </a:solidFill>
                <a:latin typeface="Calibri" pitchFamily="34" charset="0"/>
                <a:ea typeface="Calibri" pitchFamily="34" charset="-122"/>
                <a:cs typeface="Calibri" pitchFamily="34" charset="-120"/>
              </a:rPr>
              <a:t>n</a:t>
            </a:r>
            <a:pPr indent="0" marL="0">
              <a:buNone/>
            </a:pPr>
            <a:r>
              <a:rPr lang="en-US" sz="1400" dirty="0">
                <a:solidFill>
                  <a:srgbClr val="E8ECF2"/>
                </a:solidFill>
                <a:latin typeface="Calibri" pitchFamily="34" charset="0"/>
                <a:ea typeface="Calibri" pitchFamily="34" charset="-122"/>
                <a:cs typeface="Calibri" pitchFamily="34" charset="-120"/>
              </a:rPr>
              <a:t> square. On small-graph the construction’s </a:t>
            </a:r>
            <a:pPr indent="0" marL="0">
              <a:buNone/>
            </a:pPr>
            <a:r>
              <a:rPr lang="en-US" sz="1400" i="1" dirty="0">
                <a:solidFill>
                  <a:srgbClr val="E8ECF2"/>
                </a:solidFill>
                <a:latin typeface="Calibri" pitchFamily="34" charset="0"/>
                <a:ea typeface="Calibri" pitchFamily="34" charset="-122"/>
                <a:cs typeface="Calibri" pitchFamily="34" charset="-120"/>
              </a:rPr>
              <a:t>t</a:t>
            </a:r>
            <a:pPr indent="0" marL="0">
              <a:buNone/>
            </a:pPr>
            <a:r>
              <a:rPr lang="en-US" sz="1400" dirty="0">
                <a:solidFill>
                  <a:srgbClr val="E8ECF2"/>
                </a:solidFill>
                <a:latin typeface="Calibri" pitchFamily="34" charset="0"/>
                <a:ea typeface="Calibri" pitchFamily="34" charset="-122"/>
                <a:cs typeface="Calibri" pitchFamily="34" charset="-120"/>
              </a:rPr>
              <a:t> = 0 point, width 20, carries 99.99% of its whole score; on medium-graph, width 277, it carries 97.7%.</a:t>
            </a:r>
            <a:endParaRPr lang="en-US" sz="1400" dirty="0"/>
          </a:p>
        </p:txBody>
      </p:sp>
      <p:sp>
        <p:nvSpPr>
          <p:cNvPr id="5" name="Text 3"/>
          <p:cNvSpPr txBox="1"/>
          <p:nvPr/>
        </p:nvSpPr>
        <p:spPr>
          <a:xfrm>
            <a:off x="640080" y="3182112"/>
            <a:ext cx="5852160" cy="1280160"/>
          </a:xfrm>
          <a:prstGeom prst="rect">
            <a:avLst/>
          </a:prstGeom>
          <a:noFill/>
          <a:ln/>
        </p:spPr>
        <p:txBody>
          <a:bodyPr wrap="square" lIns="0" tIns="0" rIns="0" bIns="0" rtlCol="0" anchor="t"/>
          <a:lstStyle/>
          <a:p>
            <a:pPr indent="0" marL="0">
              <a:buNone/>
            </a:pPr>
            <a:r>
              <a:rPr lang="en-US" sz="1400" dirty="0">
                <a:solidFill>
                  <a:srgbClr val="E8ECF2"/>
                </a:solidFill>
                <a:latin typeface="Calibri" pitchFamily="34" charset="0"/>
                <a:ea typeface="Calibri" pitchFamily="34" charset="-122"/>
                <a:cs typeface="Calibri" pitchFamily="34" charset="-120"/>
              </a:rPr>
              <a:t>On large-graph no single point can exceed (</a:t>
            </a:r>
            <a:pPr indent="0" marL="0">
              <a:buNone/>
            </a:pPr>
            <a:r>
              <a:rPr lang="en-US" sz="1400" i="1" dirty="0">
                <a:solidFill>
                  <a:srgbClr val="E8ECF2"/>
                </a:solidFill>
                <a:latin typeface="Calibri" pitchFamily="34" charset="0"/>
                <a:ea typeface="Calibri" pitchFamily="34" charset="-122"/>
                <a:cs typeface="Calibri" pitchFamily="34" charset="-120"/>
              </a:rPr>
              <a:t>n</a:t>
            </a:r>
            <a:pPr indent="0" marL="0">
              <a:buNone/>
            </a:pPr>
            <a:r>
              <a:rPr lang="en-US" sz="1400" dirty="0">
                <a:solidFill>
                  <a:srgbClr val="E8ECF2"/>
                </a:solidFill>
                <a:latin typeface="Calibri" pitchFamily="34" charset="0"/>
                <a:ea typeface="Calibri" pitchFamily="34" charset="-122"/>
                <a:cs typeface="Calibri" pitchFamily="34" charset="-120"/>
              </a:rPr>
              <a:t> − 499)·</a:t>
            </a:r>
            <a:pPr indent="0" marL="0">
              <a:buNone/>
            </a:pPr>
            <a:r>
              <a:rPr lang="en-US" sz="1400" i="1" dirty="0">
                <a:solidFill>
                  <a:srgbClr val="E8ECF2"/>
                </a:solidFill>
                <a:latin typeface="Calibri" pitchFamily="34" charset="0"/>
                <a:ea typeface="Calibri" pitchFamily="34" charset="-122"/>
                <a:cs typeface="Calibri" pitchFamily="34" charset="-120"/>
              </a:rPr>
              <a:t>n</a:t>
            </a:r>
            <a:pPr indent="0" marL="0">
              <a:buNone/>
            </a:pPr>
            <a:r>
              <a:rPr lang="en-US" sz="1400" dirty="0">
                <a:solidFill>
                  <a:srgbClr val="E8ECF2"/>
                </a:solidFill>
                <a:latin typeface="Calibri" pitchFamily="34" charset="0"/>
                <a:ea typeface="Calibri" pitchFamily="34" charset="-122"/>
                <a:cs typeface="Calibri" pitchFamily="34" charset="-120"/>
              </a:rPr>
              <a:t>, 79.4% of the square, yet the best known reaches 93.3%: only on the dense family does the staircase earn its keep.</a:t>
            </a:r>
            <a:endParaRPr lang="en-US" sz="1400" dirty="0"/>
          </a:p>
        </p:txBody>
      </p:sp>
      <p:sp>
        <p:nvSpPr>
          <p:cNvPr id="6" name="Text 4"/>
          <p:cNvSpPr txBox="1"/>
          <p:nvPr/>
        </p:nvSpPr>
        <p:spPr>
          <a:xfrm>
            <a:off x="640080" y="4553712"/>
            <a:ext cx="5852160" cy="1280160"/>
          </a:xfrm>
          <a:prstGeom prst="rect">
            <a:avLst/>
          </a:prstGeom>
          <a:noFill/>
          <a:ln/>
        </p:spPr>
        <p:txBody>
          <a:bodyPr wrap="square" lIns="0" tIns="0" rIns="0" bIns="0" rtlCol="0" anchor="t"/>
          <a:lstStyle/>
          <a:p>
            <a:pPr indent="0" marL="0">
              <a:buNone/>
            </a:pPr>
            <a:r>
              <a:rPr lang="en-US" sz="1400" dirty="0">
                <a:solidFill>
                  <a:srgbClr val="9AA6B6"/>
                </a:solidFill>
                <a:latin typeface="Calibri" pitchFamily="34" charset="0"/>
                <a:ea typeface="Calibri" pitchFamily="34" charset="-122"/>
                <a:cs typeface="Calibri" pitchFamily="34" charset="-120"/>
              </a:rPr>
              <a:t>And the problem is hard twice over: choose which </a:t>
            </a:r>
            <a:pPr indent="0" marL="0">
              <a:buNone/>
            </a:pPr>
            <a:r>
              <a:rPr lang="en-US" sz="1400" i="1" dirty="0">
                <a:solidFill>
                  <a:srgbClr val="9AA6B6"/>
                </a:solidFill>
                <a:latin typeface="Calibri" pitchFamily="34" charset="0"/>
                <a:ea typeface="Calibri" pitchFamily="34" charset="-122"/>
                <a:cs typeface="Calibri" pitchFamily="34" charset="-120"/>
              </a:rPr>
              <a:t>t</a:t>
            </a:r>
            <a:pPr indent="0" marL="0">
              <a:buNone/>
            </a:pPr>
            <a:r>
              <a:rPr lang="en-US" sz="1400" dirty="0">
                <a:solidFill>
                  <a:srgbClr val="9AA6B6"/>
                </a:solidFill>
                <a:latin typeface="Calibri" pitchFamily="34" charset="0"/>
                <a:ea typeface="Calibri" pitchFamily="34" charset="-122"/>
                <a:cs typeface="Calibri" pitchFamily="34" charset="-120"/>
              </a:rPr>
              <a:t> vertices to give up (about 10⁴⁰³ subsets at </a:t>
            </a:r>
            <a:pPr indent="0" marL="0">
              <a:buNone/>
            </a:pPr>
            <a:r>
              <a:rPr lang="en-US" sz="1400" i="1" dirty="0">
                <a:solidFill>
                  <a:srgbClr val="9AA6B6"/>
                </a:solidFill>
                <a:latin typeface="Calibri" pitchFamily="34" charset="0"/>
                <a:ea typeface="Calibri" pitchFamily="34" charset="-122"/>
                <a:cs typeface="Calibri" pitchFamily="34" charset="-120"/>
              </a:rPr>
              <a:t>n</a:t>
            </a:r>
            <a:pPr indent="0" marL="0">
              <a:buNone/>
            </a:pPr>
            <a:r>
              <a:rPr lang="en-US" sz="1400" dirty="0">
                <a:solidFill>
                  <a:srgbClr val="9AA6B6"/>
                </a:solidFill>
                <a:latin typeface="Calibri" pitchFamily="34" charset="0"/>
                <a:ea typeface="Calibri" pitchFamily="34" charset="-122"/>
                <a:cs typeface="Calibri" pitchFamily="34" charset="-120"/>
              </a:rPr>
              <a:t> = 1,357, </a:t>
            </a:r>
            <a:pPr indent="0" marL="0">
              <a:buNone/>
            </a:pPr>
            <a:r>
              <a:rPr lang="en-US" sz="1400" i="1" dirty="0">
                <a:solidFill>
                  <a:srgbClr val="9AA6B6"/>
                </a:solidFill>
                <a:latin typeface="Calibri" pitchFamily="34" charset="0"/>
                <a:ea typeface="Calibri" pitchFamily="34" charset="-122"/>
                <a:cs typeface="Calibri" pitchFamily="34" charset="-120"/>
              </a:rPr>
              <a:t>t</a:t>
            </a:r>
            <a:pPr indent="0" marL="0">
              <a:buNone/>
            </a:pPr>
            <a:r>
              <a:rPr lang="en-US" sz="1400" dirty="0">
                <a:solidFill>
                  <a:srgbClr val="9AA6B6"/>
                </a:solidFill>
                <a:latin typeface="Calibri" pitchFamily="34" charset="0"/>
                <a:ea typeface="Calibri" pitchFamily="34" charset="-122"/>
                <a:cs typeface="Calibri" pitchFamily="34" charset="-120"/>
              </a:rPr>
              <a:t> = 600), then minimise the width of what is left, which is treewidth itself, NP-hard (Arnborg, Corneil and Proskurowski, 1987).</a:t>
            </a:r>
            <a:endParaRPr lang="en-US" sz="1400" dirty="0"/>
          </a:p>
        </p:txBody>
      </p:sp>
      <p:sp>
        <p:nvSpPr>
          <p:cNvPr id="7" name="Shape 5"/>
          <p:cNvSpPr/>
          <p:nvPr/>
        </p:nvSpPr>
        <p:spPr>
          <a:xfrm>
            <a:off x="6949440" y="2148840"/>
            <a:ext cx="2194560" cy="2194560"/>
          </a:xfrm>
          <a:prstGeom prst="rect">
            <a:avLst/>
          </a:prstGeom>
          <a:ln w="12700">
            <a:solidFill>
              <a:srgbClr val="9AA6B6"/>
            </a:solidFill>
            <a:prstDash val="solid"/>
          </a:ln>
        </p:spPr>
      </p:sp>
      <p:sp>
        <p:nvSpPr>
          <p:cNvPr id="8" name="Shape 6"/>
          <p:cNvSpPr/>
          <p:nvPr/>
        </p:nvSpPr>
        <p:spPr>
          <a:xfrm>
            <a:off x="6981784" y="2148840"/>
            <a:ext cx="2162216" cy="2194560"/>
          </a:xfrm>
          <a:prstGeom prst="rect">
            <a:avLst/>
          </a:prstGeom>
          <a:solidFill>
            <a:srgbClr val="3DDC97">
              <a:alpha val="30000"/>
            </a:srgbClr>
          </a:solidFill>
          <a:ln/>
        </p:spPr>
      </p:sp>
      <p:sp>
        <p:nvSpPr>
          <p:cNvPr id="9" name="Text 7"/>
          <p:cNvSpPr txBox="1"/>
          <p:nvPr/>
        </p:nvSpPr>
        <p:spPr>
          <a:xfrm>
            <a:off x="6949440" y="4453128"/>
            <a:ext cx="2194560" cy="256032"/>
          </a:xfrm>
          <a:prstGeom prst="rect">
            <a:avLst/>
          </a:prstGeom>
          <a:noFill/>
          <a:ln/>
        </p:spPr>
        <p:txBody>
          <a:bodyPr wrap="square" lIns="0" tIns="0" rIns="0" bIns="0" rtlCol="0" anchor="t"/>
          <a:lstStyle/>
          <a:p>
            <a:pPr algn="ctr" indent="0" marL="0">
              <a:buNone/>
            </a:pPr>
            <a:r>
              <a:rPr lang="en-US" sz="1300" b="1" dirty="0">
                <a:solidFill>
                  <a:srgbClr val="E8ECF2"/>
                </a:solidFill>
                <a:latin typeface="Calibri" pitchFamily="34" charset="0"/>
                <a:ea typeface="Calibri" pitchFamily="34" charset="-122"/>
                <a:cs typeface="Calibri" pitchFamily="34" charset="-120"/>
              </a:rPr>
              <a:t>small-graph</a:t>
            </a:r>
            <a:endParaRPr lang="en-US" sz="1300" dirty="0"/>
          </a:p>
        </p:txBody>
      </p:sp>
      <p:sp>
        <p:nvSpPr>
          <p:cNvPr id="10" name="Text 8"/>
          <p:cNvSpPr txBox="1"/>
          <p:nvPr/>
        </p:nvSpPr>
        <p:spPr>
          <a:xfrm>
            <a:off x="6949440" y="3017520"/>
            <a:ext cx="2194560" cy="457200"/>
          </a:xfrm>
          <a:prstGeom prst="rect">
            <a:avLst/>
          </a:prstGeom>
          <a:noFill/>
          <a:ln/>
        </p:spPr>
        <p:txBody>
          <a:bodyPr wrap="square" lIns="0" tIns="0" rIns="0" bIns="0" rtlCol="0" anchor="t"/>
          <a:lstStyle/>
          <a:p>
            <a:pPr algn="ctr" indent="0" marL="0">
              <a:buNone/>
            </a:pPr>
            <a:r>
              <a:rPr lang="en-US" sz="2400" dirty="0">
                <a:solidFill>
                  <a:srgbClr val="FFFFFF"/>
                </a:solidFill>
                <a:latin typeface="Century Schoolbook" pitchFamily="34" charset="0"/>
                <a:ea typeface="Century Schoolbook" pitchFamily="34" charset="-122"/>
                <a:cs typeface="Century Schoolbook" pitchFamily="34" charset="-120"/>
              </a:rPr>
              <a:t>98.5%</a:t>
            </a:r>
            <a:endParaRPr lang="en-US" sz="2400" dirty="0"/>
          </a:p>
        </p:txBody>
      </p:sp>
      <p:sp>
        <p:nvSpPr>
          <p:cNvPr id="11" name="Text 9"/>
          <p:cNvSpPr txBox="1"/>
          <p:nvPr/>
        </p:nvSpPr>
        <p:spPr>
          <a:xfrm>
            <a:off x="6858000" y="4727448"/>
            <a:ext cx="2377440" cy="219456"/>
          </a:xfrm>
          <a:prstGeom prst="rect">
            <a:avLst/>
          </a:prstGeom>
          <a:noFill/>
          <a:ln/>
        </p:spPr>
        <p:txBody>
          <a:bodyPr wrap="square" lIns="0" tIns="0" rIns="0" bIns="0" rtlCol="0" anchor="t"/>
          <a:lstStyle/>
          <a:p>
            <a:pPr algn="ctr" indent="0" marL="0">
              <a:buNone/>
            </a:pPr>
            <a:r>
              <a:rPr lang="en-US" sz="1050" dirty="0">
                <a:solidFill>
                  <a:srgbClr val="9AA6B6"/>
                </a:solidFill>
                <a:latin typeface="Calibri" pitchFamily="34" charset="0"/>
                <a:ea typeface="Calibri" pitchFamily="34" charset="-122"/>
                <a:cs typeface="Calibri" pitchFamily="34" charset="-120"/>
              </a:rPr>
              <a:t>w = 20 of n = 1,357 · 99.99% of its score</a:t>
            </a:r>
            <a:endParaRPr lang="en-US" sz="1050" dirty="0"/>
          </a:p>
        </p:txBody>
      </p:sp>
      <p:sp>
        <p:nvSpPr>
          <p:cNvPr id="12" name="Shape 10"/>
          <p:cNvSpPr/>
          <p:nvPr/>
        </p:nvSpPr>
        <p:spPr>
          <a:xfrm>
            <a:off x="9372600" y="2148840"/>
            <a:ext cx="2194560" cy="2194560"/>
          </a:xfrm>
          <a:prstGeom prst="rect">
            <a:avLst/>
          </a:prstGeom>
          <a:ln w="12700">
            <a:solidFill>
              <a:srgbClr val="9AA6B6"/>
            </a:solidFill>
            <a:prstDash val="solid"/>
          </a:ln>
        </p:spPr>
      </p:sp>
      <p:sp>
        <p:nvSpPr>
          <p:cNvPr id="13" name="Shape 11"/>
          <p:cNvSpPr/>
          <p:nvPr/>
        </p:nvSpPr>
        <p:spPr>
          <a:xfrm>
            <a:off x="9823995" y="2148840"/>
            <a:ext cx="1743165" cy="2194560"/>
          </a:xfrm>
          <a:prstGeom prst="rect">
            <a:avLst/>
          </a:prstGeom>
          <a:solidFill>
            <a:srgbClr val="3DDC97">
              <a:alpha val="30000"/>
            </a:srgbClr>
          </a:solidFill>
          <a:ln/>
        </p:spPr>
      </p:sp>
      <p:sp>
        <p:nvSpPr>
          <p:cNvPr id="14" name="Text 12"/>
          <p:cNvSpPr txBox="1"/>
          <p:nvPr/>
        </p:nvSpPr>
        <p:spPr>
          <a:xfrm>
            <a:off x="9372600" y="4453128"/>
            <a:ext cx="2194560" cy="256032"/>
          </a:xfrm>
          <a:prstGeom prst="rect">
            <a:avLst/>
          </a:prstGeom>
          <a:noFill/>
          <a:ln/>
        </p:spPr>
        <p:txBody>
          <a:bodyPr wrap="square" lIns="0" tIns="0" rIns="0" bIns="0" rtlCol="0" anchor="t"/>
          <a:lstStyle/>
          <a:p>
            <a:pPr algn="ctr" indent="0" marL="0">
              <a:buNone/>
            </a:pPr>
            <a:r>
              <a:rPr lang="en-US" sz="1300" b="1" dirty="0">
                <a:solidFill>
                  <a:srgbClr val="E8ECF2"/>
                </a:solidFill>
                <a:latin typeface="Calibri" pitchFamily="34" charset="0"/>
                <a:ea typeface="Calibri" pitchFamily="34" charset="-122"/>
                <a:cs typeface="Calibri" pitchFamily="34" charset="-120"/>
              </a:rPr>
              <a:t>large-graph</a:t>
            </a:r>
            <a:endParaRPr lang="en-US" sz="1300" dirty="0"/>
          </a:p>
        </p:txBody>
      </p:sp>
      <p:sp>
        <p:nvSpPr>
          <p:cNvPr id="15" name="Text 13"/>
          <p:cNvSpPr txBox="1"/>
          <p:nvPr/>
        </p:nvSpPr>
        <p:spPr>
          <a:xfrm>
            <a:off x="9372600" y="3017520"/>
            <a:ext cx="2194560" cy="457200"/>
          </a:xfrm>
          <a:prstGeom prst="rect">
            <a:avLst/>
          </a:prstGeom>
          <a:noFill/>
          <a:ln/>
        </p:spPr>
        <p:txBody>
          <a:bodyPr wrap="square" lIns="0" tIns="0" rIns="0" bIns="0" rtlCol="0" anchor="t"/>
          <a:lstStyle/>
          <a:p>
            <a:pPr algn="ctr" indent="0" marL="0">
              <a:buNone/>
            </a:pPr>
            <a:r>
              <a:rPr lang="en-US" sz="2400" dirty="0">
                <a:solidFill>
                  <a:srgbClr val="FFFFFF"/>
                </a:solidFill>
                <a:latin typeface="Century Schoolbook" pitchFamily="34" charset="0"/>
                <a:ea typeface="Century Schoolbook" pitchFamily="34" charset="-122"/>
                <a:cs typeface="Century Schoolbook" pitchFamily="34" charset="-120"/>
              </a:rPr>
              <a:t>79.4%</a:t>
            </a:r>
            <a:endParaRPr lang="en-US" sz="2400" dirty="0"/>
          </a:p>
        </p:txBody>
      </p:sp>
      <p:sp>
        <p:nvSpPr>
          <p:cNvPr id="16" name="Text 14"/>
          <p:cNvSpPr txBox="1"/>
          <p:nvPr/>
        </p:nvSpPr>
        <p:spPr>
          <a:xfrm>
            <a:off x="9281160" y="4727448"/>
            <a:ext cx="2377440" cy="219456"/>
          </a:xfrm>
          <a:prstGeom prst="rect">
            <a:avLst/>
          </a:prstGeom>
          <a:noFill/>
          <a:ln/>
        </p:spPr>
        <p:txBody>
          <a:bodyPr wrap="square" lIns="0" tIns="0" rIns="0" bIns="0" rtlCol="0" anchor="t"/>
          <a:lstStyle/>
          <a:p>
            <a:pPr algn="ctr" indent="0" marL="0">
              <a:buNone/>
            </a:pPr>
            <a:r>
              <a:rPr lang="en-US" sz="1050" dirty="0">
                <a:solidFill>
                  <a:srgbClr val="9AA6B6"/>
                </a:solidFill>
                <a:latin typeface="Calibri" pitchFamily="34" charset="0"/>
                <a:ea typeface="Calibri" pitchFamily="34" charset="-122"/>
                <a:cs typeface="Calibri" pitchFamily="34" charset="-120"/>
              </a:rPr>
              <a:t>w ≥ 499 of n = 2,426 · best known 93.3%</a:t>
            </a:r>
            <a:endParaRPr lang="en-US" sz="1050" dirty="0"/>
          </a:p>
        </p:txBody>
      </p:sp>
      <p:sp>
        <p:nvSpPr>
          <p:cNvPr id="17" name="Shape 15"/>
          <p:cNvSpPr/>
          <p:nvPr/>
        </p:nvSpPr>
        <p:spPr>
          <a:xfrm>
            <a:off x="6949440" y="5257800"/>
            <a:ext cx="228600" cy="128016"/>
          </a:xfrm>
          <a:prstGeom prst="rect">
            <a:avLst/>
          </a:prstGeom>
          <a:solidFill>
            <a:srgbClr val="3DDC97">
              <a:alpha val="30000"/>
            </a:srgbClr>
          </a:solidFill>
          <a:ln/>
        </p:spPr>
      </p:sp>
      <p:sp>
        <p:nvSpPr>
          <p:cNvPr id="18" name="Text 16"/>
          <p:cNvSpPr txBox="1"/>
          <p:nvPr/>
        </p:nvSpPr>
        <p:spPr>
          <a:xfrm>
            <a:off x="7251192" y="5202936"/>
            <a:ext cx="2194560" cy="228600"/>
          </a:xfrm>
          <a:prstGeom prst="rect">
            <a:avLst/>
          </a:prstGeom>
          <a:noFill/>
          <a:ln/>
        </p:spPr>
        <p:txBody>
          <a:bodyPr wrap="square" lIns="0" tIns="0" rIns="0" bIns="0" rtlCol="0" anchor="t"/>
          <a:lstStyle/>
          <a:p>
            <a:pPr indent="0" marL="0">
              <a:buNone/>
            </a:pPr>
            <a:r>
              <a:rPr lang="en-US" sz="1050" dirty="0">
                <a:solidFill>
                  <a:srgbClr val="9AA6B6"/>
                </a:solidFill>
                <a:latin typeface="Calibri" pitchFamily="34" charset="0"/>
                <a:ea typeface="Calibri" pitchFamily="34" charset="-122"/>
                <a:cs typeface="Calibri" pitchFamily="34" charset="-120"/>
              </a:rPr>
              <a:t>one point at t = 0</a:t>
            </a:r>
            <a:endParaRPr lang="en-US" sz="105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BACKUP</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Two findings about the problem, not the search</a:t>
            </a:r>
            <a:endParaRPr lang="en-US" sz="2700" dirty="0"/>
          </a:p>
        </p:txBody>
      </p:sp>
      <p:sp>
        <p:nvSpPr>
          <p:cNvPr id="4" name="Text 2"/>
          <p:cNvSpPr txBox="1"/>
          <p:nvPr/>
        </p:nvSpPr>
        <p:spPr>
          <a:xfrm>
            <a:off x="640080" y="1810512"/>
            <a:ext cx="5212080" cy="365760"/>
          </a:xfrm>
          <a:prstGeom prst="rect">
            <a:avLst/>
          </a:prstGeom>
          <a:noFill/>
          <a:ln/>
        </p:spPr>
        <p:txBody>
          <a:bodyPr wrap="square" lIns="0" tIns="0" rIns="0" bIns="0" rtlCol="0" anchor="t"/>
          <a:lstStyle/>
          <a:p>
            <a:pPr indent="0" marL="0">
              <a:buNone/>
            </a:pPr>
            <a:r>
              <a:rPr lang="en-US" sz="1800" dirty="0">
                <a:solidFill>
                  <a:srgbClr val="E8ECF2"/>
                </a:solidFill>
                <a:latin typeface="Century Schoolbook" pitchFamily="34" charset="0"/>
                <a:ea typeface="Century Schoolbook" pitchFamily="34" charset="-122"/>
                <a:cs typeface="Century Schoolbook" pitchFamily="34" charset="-120"/>
              </a:rPr>
              <a:t>Plain k-opt does not transfer</a:t>
            </a:r>
            <a:endParaRPr lang="en-US" sz="1800" dirty="0"/>
          </a:p>
        </p:txBody>
      </p:sp>
      <p:sp>
        <p:nvSpPr>
          <p:cNvPr id="5" name="Text 3"/>
          <p:cNvSpPr txBox="1"/>
          <p:nvPr/>
        </p:nvSpPr>
        <p:spPr>
          <a:xfrm>
            <a:off x="640080" y="2240280"/>
            <a:ext cx="5212080" cy="1828800"/>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In the travelling-salesman setting 2-opt is cheap because exchanging two edges updates the objective in constant time. Here eliminating a vertex merges its surviving neighbours into a clique, so one change cascades: a move over a span of L positions costs O(L), however few edges it exchanges.</a:t>
            </a:r>
            <a:endParaRPr lang="en-US" sz="1300" dirty="0"/>
          </a:p>
        </p:txBody>
      </p:sp>
      <p:sp>
        <p:nvSpPr>
          <p:cNvPr id="6" name="Text 4"/>
          <p:cNvSpPr txBox="1"/>
          <p:nvPr/>
        </p:nvSpPr>
        <p:spPr>
          <a:xfrm>
            <a:off x="6400800" y="1810512"/>
            <a:ext cx="5150815" cy="365760"/>
          </a:xfrm>
          <a:prstGeom prst="rect">
            <a:avLst/>
          </a:prstGeom>
          <a:noFill/>
          <a:ln/>
        </p:spPr>
        <p:txBody>
          <a:bodyPr wrap="square" lIns="0" tIns="0" rIns="0" bIns="0" rtlCol="0" anchor="t"/>
          <a:lstStyle/>
          <a:p>
            <a:pPr indent="0" marL="0">
              <a:buNone/>
            </a:pPr>
            <a:r>
              <a:rPr lang="en-US" sz="1800" dirty="0">
                <a:solidFill>
                  <a:srgbClr val="E8ECF2"/>
                </a:solidFill>
                <a:latin typeface="Century Schoolbook" pitchFamily="34" charset="0"/>
                <a:ea typeface="Century Schoolbook" pitchFamily="34" charset="-122"/>
                <a:cs typeface="Century Schoolbook" pitchFamily="34" charset="-120"/>
              </a:rPr>
              <a:t>A delta evaluator, from one structural fact</a:t>
            </a:r>
            <a:endParaRPr lang="en-US" sz="1800" dirty="0"/>
          </a:p>
        </p:txBody>
      </p:sp>
      <p:sp>
        <p:nvSpPr>
          <p:cNvPr id="7" name="Text 5"/>
          <p:cNvSpPr txBox="1"/>
          <p:nvPr/>
        </p:nvSpPr>
        <p:spPr>
          <a:xfrm>
            <a:off x="6400800" y="2240280"/>
            <a:ext cx="5150815" cy="1280160"/>
          </a:xfrm>
          <a:prstGeom prst="rect">
            <a:avLst/>
          </a:prstGeom>
          <a:noFill/>
          <a:ln/>
        </p:spPr>
        <p:txBody>
          <a:bodyPr wrap="square" lIns="0" tIns="0" rIns="0" bIns="0" rtlCol="0" anchor="t"/>
          <a:lstStyle/>
          <a:p>
            <a:pPr indent="0" marL="0">
              <a:buNone/>
            </a:pPr>
            <a:r>
              <a:rPr lang="en-US" sz="1300" dirty="0">
                <a:solidFill>
                  <a:srgbClr val="E8ECF2"/>
                </a:solidFill>
                <a:latin typeface="Calibri" pitchFamily="34" charset="0"/>
                <a:ea typeface="Calibri" pitchFamily="34" charset="-122"/>
                <a:cs typeface="Calibri" pitchFamily="34" charset="-120"/>
              </a:rPr>
              <a:t>The torso over a set does not depend on the order within the set, so the degree at a position depends only on the vertex there and the set below it. A move inside a window cannot change anything outside it.</a:t>
            </a:r>
            <a:endParaRPr lang="en-US" sz="1300" dirty="0"/>
          </a:p>
        </p:txBody>
      </p:sp>
      <p:sp>
        <p:nvSpPr>
          <p:cNvPr id="8" name="Text 6"/>
          <p:cNvSpPr txBox="1"/>
          <p:nvPr/>
        </p:nvSpPr>
        <p:spPr>
          <a:xfrm>
            <a:off x="6400800" y="3611880"/>
            <a:ext cx="2468880" cy="548640"/>
          </a:xfrm>
          <a:prstGeom prst="rect">
            <a:avLst/>
          </a:prstGeom>
          <a:noFill/>
          <a:ln/>
        </p:spPr>
        <p:txBody>
          <a:bodyPr wrap="square" lIns="0" tIns="0" rIns="0" bIns="0" rtlCol="0" anchor="t"/>
          <a:lstStyle/>
          <a:p>
            <a:pPr indent="0" marL="0">
              <a:buNone/>
            </a:pPr>
            <a:r>
              <a:rPr lang="en-US" sz="2600" dirty="0">
                <a:solidFill>
                  <a:srgbClr val="4DA3FF"/>
                </a:solidFill>
                <a:latin typeface="Century Schoolbook" pitchFamily="34" charset="0"/>
                <a:ea typeface="Century Schoolbook" pitchFamily="34" charset="-122"/>
                <a:cs typeface="Century Schoolbook" pitchFamily="34" charset="-120"/>
              </a:rPr>
              <a:t>exact</a:t>
            </a:r>
            <a:endParaRPr lang="en-US" sz="2600" dirty="0"/>
          </a:p>
        </p:txBody>
      </p:sp>
      <p:sp>
        <p:nvSpPr>
          <p:cNvPr id="9" name="Text 7"/>
          <p:cNvSpPr txBox="1"/>
          <p:nvPr/>
        </p:nvSpPr>
        <p:spPr>
          <a:xfrm>
            <a:off x="6400800" y="4160520"/>
            <a:ext cx="2423160" cy="731520"/>
          </a:xfrm>
          <a:prstGeom prst="rect">
            <a:avLst/>
          </a:prstGeom>
          <a:noFill/>
          <a:ln/>
        </p:spPr>
        <p:txBody>
          <a:bodyPr wrap="square" lIns="0" tIns="0" rIns="0" bIns="0" rtlCol="0" anchor="t"/>
          <a:lstStyle/>
          <a:p>
            <a:pPr indent="0" marL="0">
              <a:buNone/>
            </a:pPr>
            <a:r>
              <a:rPr lang="en-US" sz="1150" dirty="0">
                <a:solidFill>
                  <a:srgbClr val="9AA6B6"/>
                </a:solidFill>
                <a:latin typeface="Calibri" pitchFamily="34" charset="0"/>
                <a:ea typeface="Calibri" pitchFamily="34" charset="-122"/>
                <a:cs typeface="Calibri" pitchFamily="34" charset="-120"/>
              </a:rPr>
              <a:t>identical step degrees on 600 chained candidates from all 17 operators, all ten instances</a:t>
            </a:r>
            <a:endParaRPr lang="en-US" sz="1150" dirty="0"/>
          </a:p>
        </p:txBody>
      </p:sp>
      <p:sp>
        <p:nvSpPr>
          <p:cNvPr id="10" name="Text 8"/>
          <p:cNvSpPr txBox="1"/>
          <p:nvPr/>
        </p:nvSpPr>
        <p:spPr>
          <a:xfrm>
            <a:off x="9006840" y="3611880"/>
            <a:ext cx="2468880" cy="548640"/>
          </a:xfrm>
          <a:prstGeom prst="rect">
            <a:avLst/>
          </a:prstGeom>
          <a:noFill/>
          <a:ln/>
        </p:spPr>
        <p:txBody>
          <a:bodyPr wrap="square" lIns="0" tIns="0" rIns="0" bIns="0" rtlCol="0" anchor="t"/>
          <a:lstStyle/>
          <a:p>
            <a:pPr indent="0" marL="0">
              <a:buNone/>
            </a:pPr>
            <a:r>
              <a:rPr lang="en-US" sz="2600" dirty="0">
                <a:solidFill>
                  <a:srgbClr val="4DA3FF"/>
                </a:solidFill>
                <a:latin typeface="Century Schoolbook" pitchFamily="34" charset="0"/>
                <a:ea typeface="Century Schoolbook" pitchFamily="34" charset="-122"/>
                <a:cs typeface="Century Schoolbook" pitchFamily="34" charset="-120"/>
              </a:rPr>
              <a:t>1.8×</a:t>
            </a:r>
            <a:endParaRPr lang="en-US" sz="2600" dirty="0"/>
          </a:p>
        </p:txBody>
      </p:sp>
      <p:sp>
        <p:nvSpPr>
          <p:cNvPr id="11" name="Text 9"/>
          <p:cNvSpPr txBox="1"/>
          <p:nvPr/>
        </p:nvSpPr>
        <p:spPr>
          <a:xfrm>
            <a:off x="9006840" y="4160520"/>
            <a:ext cx="2423160" cy="731520"/>
          </a:xfrm>
          <a:prstGeom prst="rect">
            <a:avLst/>
          </a:prstGeom>
          <a:noFill/>
          <a:ln/>
        </p:spPr>
        <p:txBody>
          <a:bodyPr wrap="square" lIns="0" tIns="0" rIns="0" bIns="0" rtlCol="0" anchor="t"/>
          <a:lstStyle/>
          <a:p>
            <a:pPr indent="0" marL="0">
              <a:buNone/>
            </a:pPr>
            <a:r>
              <a:rPr lang="en-US" sz="1150" dirty="0">
                <a:solidFill>
                  <a:srgbClr val="9AA6B6"/>
                </a:solidFill>
                <a:latin typeface="Calibri" pitchFamily="34" charset="0"/>
                <a:ea typeface="Calibri" pitchFamily="34" charset="-122"/>
                <a:cs typeface="Calibri" pitchFamily="34" charset="-120"/>
              </a:rPr>
              <a:t>more candidates in the same wall-clock, geometric mean over ten instances (1.6× sparse to 1.9× dense)</a:t>
            </a:r>
            <a:endParaRPr lang="en-US" sz="1150" dirty="0"/>
          </a:p>
        </p:txBody>
      </p:sp>
      <p:sp>
        <p:nvSpPr>
          <p:cNvPr id="12" name="Shape 10"/>
          <p:cNvSpPr/>
          <p:nvPr/>
        </p:nvSpPr>
        <p:spPr>
          <a:xfrm>
            <a:off x="640080" y="5074920"/>
            <a:ext cx="10911535" cy="1051560"/>
          </a:xfrm>
          <a:prstGeom prst="rect">
            <a:avLst/>
          </a:prstGeom>
          <a:solidFill>
            <a:srgbClr val="131B28"/>
          </a:solidFill>
          <a:ln/>
        </p:spPr>
      </p:sp>
      <p:sp>
        <p:nvSpPr>
          <p:cNvPr id="13" name="Text 11"/>
          <p:cNvSpPr txBox="1"/>
          <p:nvPr/>
        </p:nvSpPr>
        <p:spPr>
          <a:xfrm>
            <a:off x="914400" y="5193792"/>
            <a:ext cx="10362895" cy="868680"/>
          </a:xfrm>
          <a:prstGeom prst="rect">
            <a:avLst/>
          </a:prstGeom>
          <a:noFill/>
          <a:ln/>
        </p:spPr>
        <p:txBody>
          <a:bodyPr wrap="square" lIns="0" tIns="0" rIns="0" bIns="0" rtlCol="0" anchor="ctr"/>
          <a:lstStyle/>
          <a:p>
            <a:pPr indent="0" marL="0">
              <a:buNone/>
            </a:pPr>
            <a:r>
              <a:rPr lang="en-US" sz="1300" dirty="0">
                <a:solidFill>
                  <a:srgbClr val="E8ECF2"/>
                </a:solidFill>
                <a:latin typeface="Calibri" pitchFamily="34" charset="0"/>
                <a:ea typeface="Calibri" pitchFamily="34" charset="-122"/>
                <a:cs typeface="Calibri" pitchFamily="34" charset="-120"/>
              </a:rPr>
              <a:t>Why accepted moves barely matter: every evaluated candidate donates its whole staircase to a shared front. On synth-7 the four original operators accepted nothing at all, and their scores still differ by 1,841 HV.</a:t>
            </a:r>
            <a:endParaRPr lang="en-US" sz="130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640080" y="402336"/>
            <a:ext cx="10911535" cy="256032"/>
          </a:xfrm>
          <a:prstGeom prst="rect">
            <a:avLst/>
          </a:prstGeom>
          <a:noFill/>
          <a:ln/>
        </p:spPr>
        <p:txBody>
          <a:bodyPr wrap="square" lIns="0" tIns="0" rIns="0" bIns="0" rtlCol="0" anchor="t"/>
          <a:lstStyle/>
          <a:p>
            <a:pPr algn="l" indent="0" marL="0">
              <a:buNone/>
            </a:pPr>
            <a:r>
              <a:rPr lang="en-US" sz="1050" b="1" spc="180" kern="0" dirty="0">
                <a:solidFill>
                  <a:srgbClr val="9AA6B6"/>
                </a:solidFill>
                <a:latin typeface="Calibri" pitchFamily="34" charset="0"/>
                <a:ea typeface="Calibri" pitchFamily="34" charset="-122"/>
                <a:cs typeface="Calibri" pitchFamily="34" charset="-120"/>
              </a:rPr>
              <a:t>BACKUP</a:t>
            </a:r>
            <a:endParaRPr lang="en-US" sz="1050" dirty="0"/>
          </a:p>
        </p:txBody>
      </p:sp>
      <p:sp>
        <p:nvSpPr>
          <p:cNvPr id="3" name="Text 1"/>
          <p:cNvSpPr/>
          <p:nvPr>
            <p:ph idx="102" type="title" hasCustomPrompt="1"/>
          </p:nvPr>
        </p:nvSpPr>
        <p:spPr>
          <a:xfrm>
            <a:off x="640080" y="676656"/>
            <a:ext cx="10911535" cy="868680"/>
          </a:xfrm>
          <a:prstGeom prst="rect">
            <a:avLst/>
          </a:prstGeom>
          <a:noFill/>
          <a:ln/>
        </p:spPr>
        <p:txBody>
          <a:bodyPr wrap="square" lIns="0" tIns="0" rIns="0" bIns="0" rtlCol="0" anchor="t"/>
          <a:lstStyle/>
          <a:p>
            <a:pPr algn="l" indent="0" marL="0">
              <a:buNone/>
            </a:pPr>
            <a:r>
              <a:rPr lang="en-US" sz="2700" dirty="0">
                <a:solidFill>
                  <a:srgbClr val="E8ECF2"/>
                </a:solidFill>
                <a:latin typeface="Century Schoolbook" pitchFamily="34" charset="0"/>
                <a:ea typeface="Century Schoolbook" pitchFamily="34" charset="-122"/>
                <a:cs typeface="Century Schoolbook" pitchFamily="34" charset="-120"/>
              </a:rPr>
              <a:t>The budget sweep, in full</a:t>
            </a:r>
            <a:endParaRPr lang="en-US" sz="27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810512"/>
          <a:ext cx="10911535" cy="914400"/>
        </p:xfrm>
        <a:graphic>
          <a:graphicData uri="http://schemas.openxmlformats.org/drawingml/2006/table">
            <a:tbl>
              <a:tblPr/>
              <a:tblGrid>
                <a:gridCol w="2743200"/>
                <a:gridCol w="1600200"/>
                <a:gridCol w="1600200"/>
                <a:gridCol w="1600200"/>
                <a:gridCol w="1691640"/>
                <a:gridCol w="1676095"/>
              </a:tblGrid>
              <a:tr h="384048">
                <a:tc>
                  <a:txBody>
                    <a:bodyPr/>
                    <a:lstStyle/>
                    <a:p>
                      <a:pPr algn="l" indent="0" marL="0">
                        <a:buNone/>
                      </a:pPr>
                      <a:r>
                        <a:rPr lang="en-US" sz="1100" b="1" dirty="0">
                          <a:solidFill>
                            <a:srgbClr val="9AA6B6"/>
                          </a:solidFill>
                          <a:latin typeface="Calibri" pitchFamily="34" charset="0"/>
                          <a:ea typeface="Calibri" pitchFamily="34" charset="-122"/>
                          <a:cs typeface="Calibri" pitchFamily="34" charset="-120"/>
                        </a:rPr>
                        <a:t>arm</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1,200 s</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3,600 s</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12,000 s</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gain over 10×</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c>
                  <a:txBody>
                    <a:bodyPr/>
                    <a:lstStyle/>
                    <a:p>
                      <a:pPr algn="r" indent="0" marL="0">
                        <a:buNone/>
                      </a:pPr>
                      <a:r>
                        <a:rPr lang="en-US" sz="1100" b="1" dirty="0">
                          <a:solidFill>
                            <a:srgbClr val="9AA6B6"/>
                          </a:solidFill>
                          <a:latin typeface="Calibri" pitchFamily="34" charset="0"/>
                          <a:ea typeface="Calibri" pitchFamily="34" charset="-122"/>
                          <a:cs typeface="Calibri" pitchFamily="34" charset="-120"/>
                        </a:rPr>
                        <a:t>share of its lead</a:t>
                      </a:r>
                      <a:endParaRPr lang="en-US" sz="1100" dirty="0">
                        <a:latin typeface="Calibri" charset="0"/>
                        <a:ea typeface="Calibri" charset="0"/>
                        <a:cs typeface="Calibri" charset="0"/>
                      </a:endParaRPr>
                    </a:p>
                  </a:txBody>
                  <a:tcPr marL="64008" marR="64008" marT="0" marB="0" anchor="ctr">
                    <a:lnL w="0" cap="flat" cmpd="sng" algn="ctr">
                      <a:noFill/>
                    </a:lnL>
                    <a:lnR w="0" cap="flat" cmpd="sng" algn="ctr">
                      <a:noFill/>
                    </a:lnR>
                    <a:lnT w="12700" cap="flat" cmpd="sng" algn="ctr">
                      <a:solidFill>
                        <a:srgbClr val="9AA6B6"/>
                      </a:solidFill>
                      <a:prstDash val="solid"/>
                      <a:round/>
                      <a:headEnd type="none" w="med" len="med"/>
                      <a:tailEnd type="none" w="med" len="med"/>
                    </a:lnT>
                    <a:lnB w="9525" cap="flat" cmpd="sng" algn="ctr">
                      <a:solidFill>
                        <a:srgbClr val="9AA6B6"/>
                      </a:solidFill>
                      <a:prstDash val="solid"/>
                      <a:round/>
                      <a:headEnd type="none" w="med" len="med"/>
                      <a:tailEnd type="none" w="med" len="med"/>
                    </a:lnB>
                  </a:tcPr>
                </a:tc>
              </a:tr>
              <a:tr h="384048">
                <a:tc>
                  <a:txBody>
                    <a:bodyPr/>
                    <a:lstStyle/>
                    <a:p>
                      <a:pPr indent="0" marL="0">
                        <a:buNone/>
                      </a:pPr>
                      <a:r>
                        <a:rPr lang="en-US" sz="1300" dirty="0">
                          <a:solidFill>
                            <a:srgbClr val="3DDC97"/>
                          </a:solidFill>
                          <a:latin typeface="Calibri" pitchFamily="34" charset="0"/>
                          <a:ea typeface="Calibri" pitchFamily="34" charset="-122"/>
                          <a:cs typeface="Calibri" pitchFamily="34" charset="-120"/>
                        </a:rPr>
                        <a:t>construction (GRASP)</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26,781,700</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26,762,079</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26,692,166</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b="1" dirty="0">
                          <a:solidFill>
                            <a:srgbClr val="FF5A60"/>
                          </a:solidFill>
                          <a:latin typeface="Calibri" pitchFamily="34" charset="0"/>
                          <a:ea typeface="Calibri" pitchFamily="34" charset="-122"/>
                          <a:cs typeface="Calibri" pitchFamily="34" charset="-120"/>
                        </a:rPr>
                        <a:t>−89,534</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300" dirty="0">
                          <a:solidFill>
                            <a:srgbClr val="E8ECF2"/>
                          </a:solidFill>
                          <a:latin typeface="Calibri" pitchFamily="34" charset="0"/>
                          <a:ea typeface="Calibri" pitchFamily="34" charset="-122"/>
                          <a:cs typeface="Calibri" pitchFamily="34" charset="-120"/>
                        </a:rPr>
                        <a:t>Hill Climbing</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26,389,516</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26,404,696</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26,422,559</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b="1" dirty="0">
                          <a:solidFill>
                            <a:srgbClr val="E8ECF2"/>
                          </a:solidFill>
                          <a:latin typeface="Calibri" pitchFamily="34" charset="0"/>
                          <a:ea typeface="Calibri" pitchFamily="34" charset="-122"/>
                          <a:cs typeface="Calibri" pitchFamily="34" charset="-120"/>
                        </a:rPr>
                        <a:t>+33,043</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300" dirty="0">
                          <a:solidFill>
                            <a:srgbClr val="E8ECF2"/>
                          </a:solidFill>
                          <a:latin typeface="Calibri" pitchFamily="34" charset="0"/>
                          <a:ea typeface="Calibri" pitchFamily="34" charset="-122"/>
                          <a:cs typeface="Calibri" pitchFamily="34" charset="-120"/>
                        </a:rPr>
                        <a:t>all 17 operators</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26,391,399</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26,393,577</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26,396,957</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b="1" dirty="0">
                          <a:solidFill>
                            <a:srgbClr val="E8ECF2"/>
                          </a:solidFill>
                          <a:latin typeface="Calibri" pitchFamily="34" charset="0"/>
                          <a:ea typeface="Calibri" pitchFamily="34" charset="-122"/>
                          <a:cs typeface="Calibri" pitchFamily="34" charset="-120"/>
                        </a:rPr>
                        <a:t>+5,558</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300" dirty="0">
                          <a:solidFill>
                            <a:srgbClr val="E8ECF2"/>
                          </a:solidFill>
                          <a:latin typeface="Calibri" pitchFamily="34" charset="0"/>
                          <a:ea typeface="Calibri" pitchFamily="34" charset="-122"/>
                          <a:cs typeface="Calibri" pitchFamily="34" charset="-120"/>
                        </a:rPr>
                        <a:t>bottleneck move pool</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26,392,654</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26,388,897</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26,401,668</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300" b="1" dirty="0">
                          <a:solidFill>
                            <a:srgbClr val="E8ECF2"/>
                          </a:solidFill>
                          <a:latin typeface="Calibri" pitchFamily="34" charset="0"/>
                          <a:ea typeface="Calibri" pitchFamily="34" charset="-122"/>
                          <a:cs typeface="Calibri" pitchFamily="34" charset="-120"/>
                        </a:rPr>
                        <a:t>+9,014</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c>
                  <a:txBody>
                    <a:bodyPr/>
                    <a:lstStyle/>
                    <a:p>
                      <a:pPr algn="r" indent="0" marL="0">
                        <a:buNone/>
                      </a:pPr>
                      <a:r>
                        <a:rPr lang="en-US" sz="1300" dirty="0">
                          <a:solidFill>
                            <a:srgbClr val="E8ECF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64008" marR="64008" marT="0" marB="0" anchor="ctr">
                    <a:lnL w="0" cap="flat" cmpd="sng" algn="ctr">
                      <a:noFill/>
                    </a:lnL>
                    <a:lnR w="0" cap="flat" cmpd="sng" algn="ctr">
                      <a:noFill/>
                    </a:lnR>
                    <a:lnT w="0" cap="flat" cmpd="sng" algn="ctr">
                      <a:noFill/>
                    </a:lnT>
                    <a:lnB w="12700" cap="flat" cmpd="sng" algn="ctr">
                      <a:solidFill>
                        <a:srgbClr val="9AA6B6"/>
                      </a:solidFill>
                      <a:prstDash val="solid"/>
                      <a:round/>
                      <a:headEnd type="none" w="med" len="med"/>
                      <a:tailEnd type="none" w="med" len="med"/>
                    </a:lnB>
                  </a:tcPr>
                </a:tc>
              </a:tr>
            </a:tbl>
          </a:graphicData>
        </a:graphic>
      </p:graphicFrame>
      <p:sp>
        <p:nvSpPr>
          <p:cNvPr id="5" name="Text 2"/>
          <p:cNvSpPr txBox="1"/>
          <p:nvPr/>
        </p:nvSpPr>
        <p:spPr>
          <a:xfrm>
            <a:off x="640080" y="3931920"/>
            <a:ext cx="10911535" cy="457200"/>
          </a:xfrm>
          <a:prstGeom prst="rect">
            <a:avLst/>
          </a:prstGeom>
          <a:noFill/>
          <a:ln/>
        </p:spPr>
        <p:txBody>
          <a:bodyPr wrap="square" lIns="0" tIns="0" rIns="0" bIns="0" rtlCol="0" anchor="t"/>
          <a:lstStyle/>
          <a:p>
            <a:pPr indent="0" marL="0">
              <a:buNone/>
            </a:pPr>
            <a:r>
              <a:rPr lang="en-US" sz="1300" dirty="0">
                <a:solidFill>
                  <a:srgbClr val="9AA6B6"/>
                </a:solidFill>
                <a:latin typeface="Calibri" pitchFamily="34" charset="0"/>
                <a:ea typeface="Calibri" pitchFamily="34" charset="-122"/>
                <a:cs typeface="Calibri" pitchFamily="34" charset="-120"/>
              </a:rPr>
              <a:t>Four arms × three budgets × ten instances × three seeds, all on one machine so that the budget is the only thing that varies. Ten-instance hypervolume, best of 3.</a:t>
            </a:r>
            <a:endParaRPr lang="en-US" sz="1300" dirty="0"/>
          </a:p>
        </p:txBody>
      </p:sp>
      <p:sp>
        <p:nvSpPr>
          <p:cNvPr id="6" name="Text 3"/>
          <p:cNvSpPr txBox="1"/>
          <p:nvPr/>
        </p:nvSpPr>
        <p:spPr>
          <a:xfrm>
            <a:off x="640080" y="4526280"/>
            <a:ext cx="10911535" cy="1188720"/>
          </a:xfrm>
          <a:prstGeom prst="rect">
            <a:avLst/>
          </a:prstGeom>
          <a:noFill/>
          <a:ln/>
        </p:spPr>
        <p:txBody>
          <a:bodyPr wrap="square" lIns="0" tIns="0" rIns="0" bIns="0" rtlCol="0" anchor="t"/>
          <a:lstStyle/>
          <a:p>
            <a:pPr indent="0" marL="0">
              <a:buNone/>
            </a:pPr>
            <a:r>
              <a:rPr lang="en-US" sz="1350" dirty="0">
                <a:solidFill>
                  <a:srgbClr val="E8ECF2"/>
                </a:solidFill>
                <a:latin typeface="Calibri" pitchFamily="34" charset="0"/>
                <a:ea typeface="Calibri" pitchFamily="34" charset="-122"/>
                <a:cs typeface="Calibri" pitchFamily="34" charset="-120"/>
              </a:rPr>
              <a:t>The construction arm draws different constructions at each budget, so its total moves by 89,534 HV, and with one draw per budget that movement cannot be read as a trend. An earlier reading counted that movement as search closing the gap (“31% closed”, a crossover “near thirty times the budget, about ten hours”) and is withdrawn: 89,534 of the 122,577 HV it called closing was the construction’s draw.</a:t>
            </a:r>
            <a:endParaRPr lang="en-US" sz="1350" dirty="0"/>
          </a:p>
        </p:txBody>
      </p:sp>
      <p:sp>
        <p:nvSpPr>
          <p:cNvPr id="25" name="Slide Number Placeholder 0"/>
          <p:cNvSpPr>
            <a:spLocks noGrp="1"/>
          </p:cNvSpPr>
          <p:nvPr>
            <p:ph type="sldNum" sz="quarter" idx="4294967295"/>
          </p:nvPr>
        </p:nvSpPr>
        <p:spPr>
          <a:xfrm>
            <a:off x="11002975" y="6446520"/>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7D8AA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SpOC3 Deep Space">
  <a:themeElements>
    <a:clrScheme name="SpOC3 Deep Space">
      <a:dk1>
        <a:srgbClr val="E8ECF2"/>
      </a:dk1>
      <a:lt1>
        <a:srgbClr val="0B0F17"/>
      </a:lt1>
      <a:dk2>
        <a:srgbClr val="9AA6B6"/>
      </a:dk2>
      <a:lt2>
        <a:srgbClr val="131B28"/>
      </a:lt2>
      <a:accent1>
        <a:srgbClr val="4DA3FF"/>
      </a:accent1>
      <a:accent2>
        <a:srgbClr val="3DDC97"/>
      </a:accent2>
      <a:accent3>
        <a:srgbClr val="FF5A60"/>
      </a:accent3>
      <a:accent4>
        <a:srgbClr val="F2C14E"/>
      </a:accent4>
      <a:accent5>
        <a:srgbClr val="8B7CF6"/>
      </a:accent5>
      <a:accent6>
        <a:srgbClr val="7D8AA0"/>
      </a:accent6>
      <a:hlink>
        <a:srgbClr val="4DA3FF"/>
      </a:hlink>
      <a:folHlink>
        <a:srgbClr val="8B7CF6"/>
      </a:folHlink>
    </a:clrScheme>
    <a:fontScheme name="SpOC3 Deep Space">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University of Prishtina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a benchmark table does and does not prove</dc:title>
  <dc:subject>AlbShkenca 2026</dc:subject>
  <dc:creator>Adrian Ymeri</dc:creator>
  <cp:lastModifiedBy>Adrian Ymeri</cp:lastModifiedBy>
  <cp:revision>1</cp:revision>
  <dcterms:created xsi:type="dcterms:W3CDTF">2026-10-14T03:47:18Z</dcterms:created>
  <dcterms:modified xsi:type="dcterms:W3CDTF">2026-10-14T03:47:18Z</dcterms:modified>
</cp:coreProperties>
</file>