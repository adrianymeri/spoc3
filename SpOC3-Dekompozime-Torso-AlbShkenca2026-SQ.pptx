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The object" id="{3fd93715-5864-f4f2-176e-9c8d957050a7}">
          <p14:sldIdLst>
            <p14:sldId id="256"/>
            <p14:sldId id="257"/>
            <p14:sldId id="258"/>
            <p14:sldId id="259"/>
            <p14:sldId id="260"/>
          </p14:sldIdLst>
        </p14:section>
        <p14:section name="II. Hardness and ceiling" id="{59bb0fb0-e419-2cde-b1cd-8e78d1c1f1ea}">
          <p14:sldIdLst>
            <p14:sldId id="261"/>
            <p14:sldId id="262"/>
            <p14:sldId id="263"/>
            <p14:sldId id="264"/>
          </p14:sldIdLst>
        </p14:section>
        <p14:section name="III. The table" id="{8c451828-a502-7453-87d8-ae06a5e1a58a}">
          <p14:sldIdLst>
            <p14:sldId id="265"/>
            <p14:sldId id="266"/>
          </p14:sldIdLst>
        </p14:section>
        <p14:section name="IV. What broke it" id="{1339b73a-26d4-04ec-760a-1b8fb1a844f1}">
          <p14:sldIdLst>
            <p14:sldId id="267"/>
            <p14:sldId id="268"/>
            <p14:sldId id="269"/>
            <p14:sldId id="270"/>
            <p14:sldId id="271"/>
            <p14:sldId id="272"/>
            <p14:sldId id="273"/>
          </p14:sldIdLst>
        </p14:section>
        <p14:section name="V. What to take away" id="{b8034ce5-1865-9978-c196-2234a13a785b}">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B7A75"/>
                </a:solidFill>
                <a:latin typeface="+mn-lt"/>
              </a:defRPr>
            </a:pPr>
            <a:r>
              <a:rPr sz="1100" b="0" i="0" u="none" strike="noStrike">
                <a:solidFill>
                  <a:srgbClr val="6B7A75"/>
                </a:solidFill>
                <a:latin typeface="+mn-lt"/>
              </a:rPr>
              <a:t>epërsia ndaj bazës me katër operatorë në të njëjtin buxhet, HV</a:t>
            </a:r>
          </a:p>
        </c:rich>
      </c:tx>
      <c:layout/>
      <c:overlay val="0"/>
    </c:title>
    <c:autoTitleDeleted val="0"/>
    <c:plotArea>
      <c:layout/>
      <c:lineChart>
        <c:varyColors val="0"/>
        <c:ser>
          <c:idx val="0"/>
          <c:order val="0"/>
          <c:tx>
            <c:strRef>
              <c:f>Sheet1!$B$1</c:f>
              <c:strCache>
                <c:ptCount val="1"/>
                <c:pt idx="0">
                  <c:v>ndërtimi GRASP</c:v>
                </c:pt>
              </c:strCache>
            </c:strRef>
          </c:tx>
          <c:spPr>
            <a:solidFill>
              <a:srgbClr val="3E8E72"/>
            </a:solidFill>
            <a:ln w="31750" cap="flat">
              <a:solidFill>
                <a:srgbClr val="3E8E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3E8E72"/>
              </a:solidFill>
              <a:ln w="9525" cap="flat">
                <a:solidFill>
                  <a:srgbClr val="3E8E72"/>
                </a:solidFill>
                <a:prstDash val="solid"/>
                <a:round/>
              </a:ln>
              <a:effectLst/>
            </c:spPr>
          </c:marker>
          <c:cat>
            <c:multiLvlStrRef>
              <c:f>Sheet1!$A$2:$A$4</c:f>
              <c:multiLvlStrCache>
                <c:ptCount val="3"/>
                <c:lvl>
                  <c:pt idx="0">
                    <c:v>1,200 s</c:v>
                  </c:pt>
                  <c:pt idx="1">
                    <c:v>3,600 s</c:v>
                  </c:pt>
                  <c:pt idx="2">
                    <c:v>12,000 s</c:v>
                  </c:pt>
                </c:lvl>
              </c:multiLvlStrCache>
            </c:multiLvlStrRef>
          </c:cat>
          <c:val>
            <c:numRef>
              <c:f>Sheet1!$B$2:$B$4</c:f>
              <c:numCache>
                <c:formatCode>General</c:formatCode>
                <c:ptCount val="3"/>
                <c:pt idx="0">
                  <c:v>392184</c:v>
                </c:pt>
                <c:pt idx="1">
                  <c:v>357383</c:v>
                </c:pt>
                <c:pt idx="2">
                  <c:v>269607</c:v>
                </c:pt>
              </c:numCache>
            </c:numRef>
          </c:val>
          <c:smooth val="0"/>
        </c:ser>
        <c:ser>
          <c:idx val="1"/>
          <c:order val="1"/>
          <c:tx>
            <c:strRef>
              <c:f>Sheet1!$C$1</c:f>
              <c:strCache>
                <c:ptCount val="1"/>
                <c:pt idx="0">
                  <c:v>të 17 operatorët</c:v>
                </c:pt>
              </c:strCache>
            </c:strRef>
          </c:tx>
          <c:spPr>
            <a:solidFill>
              <a:srgbClr val="C0603C"/>
            </a:solidFill>
            <a:ln w="31750" cap="flat">
              <a:solidFill>
                <a:srgbClr val="C060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0603C"/>
              </a:solidFill>
              <a:ln w="9525" cap="flat">
                <a:solidFill>
                  <a:srgbClr val="C0603C"/>
                </a:solidFill>
                <a:prstDash val="solid"/>
                <a:round/>
              </a:ln>
              <a:effectLst/>
            </c:spPr>
          </c:marker>
          <c:cat>
            <c:multiLvlStrRef>
              <c:f>Sheet1!$A$2:$A$4</c:f>
              <c:multiLvlStrCache>
                <c:ptCount val="3"/>
                <c:lvl>
                  <c:pt idx="0">
                    <c:v>1,200 s</c:v>
                  </c:pt>
                  <c:pt idx="1">
                    <c:v>3,600 s</c:v>
                  </c:pt>
                  <c:pt idx="2">
                    <c:v>12,000 s</c:v>
                  </c:pt>
                </c:lvl>
              </c:multiLvlStrCache>
            </c:multiLvlStrRef>
          </c:cat>
          <c:val>
            <c:numRef>
              <c:f>Sheet1!$C$2:$C$4</c:f>
              <c:numCache>
                <c:formatCode>General</c:formatCode>
                <c:ptCount val="3"/>
                <c:pt idx="0">
                  <c:v>1883</c:v>
                </c:pt>
                <c:pt idx="1">
                  <c:v>-11119</c:v>
                </c:pt>
                <c:pt idx="2">
                  <c:v>-25602</c:v>
                </c:pt>
              </c:numCache>
            </c:numRef>
          </c:val>
          <c:smooth val="0"/>
        </c:ser>
        <c:ser>
          <c:idx val="2"/>
          <c:order val="2"/>
          <c:tx>
            <c:strRef>
              <c:f>Sheet1!$D$1</c:f>
              <c:strCache>
                <c:ptCount val="1"/>
                <c:pt idx="0">
                  <c:v>grupi bottleneck</c:v>
                </c:pt>
              </c:strCache>
            </c:strRef>
          </c:tx>
          <c:spPr>
            <a:solidFill>
              <a:srgbClr val="6B7A75"/>
            </a:solidFill>
            <a:ln w="31750" cap="flat">
              <a:solidFill>
                <a:srgbClr val="6B7A7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B7A75"/>
              </a:solidFill>
              <a:ln w="9525" cap="flat">
                <a:solidFill>
                  <a:srgbClr val="6B7A75"/>
                </a:solidFill>
                <a:prstDash val="solid"/>
                <a:round/>
              </a:ln>
              <a:effectLst/>
            </c:spPr>
          </c:marker>
          <c:cat>
            <c:multiLvlStrRef>
              <c:f>Sheet1!$A$2:$A$4</c:f>
              <c:multiLvlStrCache>
                <c:ptCount val="3"/>
                <c:lvl>
                  <c:pt idx="0">
                    <c:v>1,200 s</c:v>
                  </c:pt>
                  <c:pt idx="1">
                    <c:v>3,600 s</c:v>
                  </c:pt>
                  <c:pt idx="2">
                    <c:v>12,000 s</c:v>
                  </c:pt>
                </c:lvl>
              </c:multiLvlStrCache>
            </c:multiLvlStrRef>
          </c:cat>
          <c:val>
            <c:numRef>
              <c:f>Sheet1!$D$2:$D$4</c:f>
              <c:numCache>
                <c:formatCode>General</c:formatCode>
                <c:ptCount val="3"/>
                <c:pt idx="0">
                  <c:v>3138</c:v>
                </c:pt>
                <c:pt idx="1">
                  <c:v>-15799</c:v>
                </c:pt>
                <c:pt idx="2">
                  <c:v>-20891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211C"/>
                </a:solidFill>
                <a:latin typeface="+mn-lt"/>
              </a:defRPr>
            </a:pPr>
            <a:endParaRPr lang="en-US"/>
          </a:p>
        </c:txPr>
        <c:crossAx val="2094734552"/>
        <c:crosses val="autoZero"/>
        <c:auto val="1"/>
        <c:lblAlgn val="ctr"/>
        <c:noMultiLvlLbl val="1"/>
      </c:catAx>
      <c:valAx>
        <c:axId val="2094734552"/>
        <c:scaling>
          <c:orientation val="minMax"/>
          <c:max val="420000"/>
          <c:min val="-60000"/>
        </c:scaling>
        <c:delete val="0"/>
        <c:axPos val="l"/>
        <c:majorGridlines>
          <c:spPr>
            <a:ln w="9525" cap="flat">
              <a:solidFill>
                <a:srgbClr val="E4EA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1211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minuta gjithsej. Thuaj se kumtesa është për një problem dhe, më e rëndësishme, për mënyrën si vendosim që një numër ka kuptim. Mos e lexo nëntitullin me zë.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sekonda. Trego pesë pjesët, pastaj lexo pohimin në kutinë e errët një herë, ngadalë. Duke e dhënë përfundimin që në fillim, pjesa tjetër bëhet një provë që mund ta bëjnë vetë.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sekonda. Tregimi i ESA-s është tërheqës, por salla ka nevojë për objektin formal. Mbyll me rreshtin e fundit: kjo është struktura nën gjërësinë e pemës, Cholesky-n e rrallë dhe eliminimin e variablave.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Mbi këtë slajd qëndron gjithë kumtesa. Kalo tri hapat ngadalë. Thuaj shprehimisht se e verifikova që ky shembull riprodhon përgjigjen e ESA-s, madhësi 4 dhe gjërësi 2, para se ta vendosja në slajd.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Theksoje që rezultati është syprinë, jo numërim, dhe që kufiri 500 është gremëinë e jo ndëshkim i butë. Një prefiks i keq e asgjëson të gjithë vektorin, prandaj rinisjet e rastësishme janë të kota këtu. Kjo ka rëndësi në slajdin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Kjo nxjerrje është imja dhe vërtetohet, nuk është empirike. Në t = 0 gjërësia është të paktën tw(G), pra një pikë e vetme mbulon së shumti (n - tw) herë n. Në small-graph ai tavan e kalon tashmë rezultatin e arritur; në large-graph 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NP-vështirësia e ngulitur është pika kryesore strukturore. 10^405 kundër 10^80 atomeve zakonisht zgjon reagim, ndaj ndalu aty. Pastaj vër në dukje asimetrinë: vlerësimi është i lirë, kërkimi 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Kufiri është kontributi më i ripërdorshëm këtu. Theksoje argumentin e ngulitjes: klika me 500 kulme detyron tw të paktën 499, dhe ekzistenca e zgjidhjeve të lejuara brenda kufirit detyron tw së shumti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 i shkurtër, vërejtje e rëndësishme. Dhjetë rreshta nuk janë dhjetë probleme të pavarura. Brenda një familjeje n dhe numri i brinjëve janë identike. Thuaj se kjo do të thotë edhe se madhësia efektive e mostrës është tri, jo dhjetë.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Slajdi im i preferuar. Gjashtë zerat në kolonën e majtë janë i gjithë argumenti: në gjashtë instanca një renditje e rastësishme nuk është nisje e dobët, është mosnisje. Pastaj numrat e HRI-së: një shkatërrim prej 275 mijë HV bëhet barazim prej 1,200 HV kur të dy marrin të njëjtin ndërtim.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Lexoje matricën sipas kolonave, jo sipas rreshtave. Thuaj që ngjyrosja është për rresht, pra ngjyra krahason metodat brenda një instance dhe kurrë mes instancave. Përmend handikapin nëntë bërthama kundër njës.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Ngadalëso. Kjo është kthesa. Shifra katërmbëdhjetë-fish është ajo që mbahet mend. Bëje shprehimisht edhe pikën e shtrirjes: 21,519 është shumë mbi dhjetë instanca, 7,881 është një instancë e vetme.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Lëre figurën të flasë pak sekonda para se të fillosh. Pesë pika në të majtë të vijës me vija, pesë në të djathtë. Pastaj pika e dytë: çdo rresht që mbijeton është instancë e dendur ose rilidhje e medium-graph, pikërisht aty ku kufiri tha se mbetet hapësirë.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Dizajni i kontrolluar është kontributi metodologjik: tri përbërëse, një e zëvendësuar në një kohë. Mbyll me fjalinë për ndërrimin e shenjës.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Parandalo kundërshtimin e qartë për tetë konstruksionet. Gjetja për determinizmin e min-degree është detaj i bukur: ndarja e rastësishme e barazimeve rindërton renditjen identike në gjashtë nga dhjetë instancat.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Nëse koha është e paktë, ky është slajdi i parë për të hequr, por paradoksi është fakti më befasues i studimit. Trego medium-graph në matricë: operatori me rezultatin më të mirë aty nuk pranoi asgjë 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Pika për k-opt i përgjigjet drejtpërdrejt një pyetjeje të recensentit. Për vlerësuesin delta, thuaj faktin strukturor i pari, pastaj pasojën, pastaj numrin.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Përgjigju pyetjes në rreshtin e parë, pastaj jep tri leximet. Mos e kapërce vërejtjen: rënia nga 392 mijë në 270 mijë nuk është e dallueshme me tre seed-a.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 është slajdi që fiton besimin. Të tri gabimet ishin të miat ose në kod që e përfshiva, dhe asnjëri nuk u kap nga një test. Secili u kap nga një numër që kishte formën e gabuar për historinë e vet. Nëse koha mungon, hiq rreshtin e tretë.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 kërkesa, pastaj fjalia e mbylljes. Thuaje rreshtin e fundit pa zbutje; ai është teza.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Lëre këtë në ekran gjatë gjithë diskutimit. Gjashtë shifrat janë ato që ka më shumë gjasa të sfidohen. Nëse pyetet për numrin e vetmë pa CSV të regjistruar, është figura 1.81x e vlerësuesit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3A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B7A75"/>
                </a:solidFill>
              </a:rPr>
              <a:t>Dekompozime torso · AlbShkenca 2026</a:t>
            </a:r>
            <a:endParaRPr lang="en-US" sz="9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076895" y="5455920"/>
            <a:ext cx="533400" cy="914"/>
          </a:xfrm>
          <a:prstGeom prst="line">
            <a:avLst/>
          </a:prstGeom>
          <a:noFill/>
          <a:ln w="20320">
            <a:solidFill>
              <a:srgbClr val="2A5247"/>
            </a:solidFill>
            <a:prstDash val="solid"/>
          </a:ln>
        </p:spPr>
      </p:sp>
      <p:sp>
        <p:nvSpPr>
          <p:cNvPr id="3" name="Shape 1"/>
          <p:cNvSpPr/>
          <p:nvPr/>
        </p:nvSpPr>
        <p:spPr>
          <a:xfrm flipV="1">
            <a:off x="8610295" y="5059680"/>
            <a:ext cx="914" cy="396240"/>
          </a:xfrm>
          <a:prstGeom prst="line">
            <a:avLst/>
          </a:prstGeom>
          <a:noFill/>
          <a:ln w="20320">
            <a:solidFill>
              <a:srgbClr val="2A5247"/>
            </a:solidFill>
            <a:prstDash val="solid"/>
          </a:ln>
        </p:spPr>
      </p:sp>
      <p:sp>
        <p:nvSpPr>
          <p:cNvPr id="4" name="Shape 2"/>
          <p:cNvSpPr/>
          <p:nvPr/>
        </p:nvSpPr>
        <p:spPr>
          <a:xfrm>
            <a:off x="8610295" y="5059680"/>
            <a:ext cx="533400" cy="914"/>
          </a:xfrm>
          <a:prstGeom prst="line">
            <a:avLst/>
          </a:prstGeom>
          <a:noFill/>
          <a:ln w="20320">
            <a:solidFill>
              <a:srgbClr val="2A5247"/>
            </a:solidFill>
            <a:prstDash val="solid"/>
          </a:ln>
        </p:spPr>
      </p:sp>
      <p:sp>
        <p:nvSpPr>
          <p:cNvPr id="5" name="Shape 3"/>
          <p:cNvSpPr/>
          <p:nvPr/>
        </p:nvSpPr>
        <p:spPr>
          <a:xfrm flipV="1">
            <a:off x="9143695" y="4663440"/>
            <a:ext cx="914" cy="396240"/>
          </a:xfrm>
          <a:prstGeom prst="line">
            <a:avLst/>
          </a:prstGeom>
          <a:noFill/>
          <a:ln w="20320">
            <a:solidFill>
              <a:srgbClr val="2A5247"/>
            </a:solidFill>
            <a:prstDash val="solid"/>
          </a:ln>
        </p:spPr>
      </p:sp>
      <p:sp>
        <p:nvSpPr>
          <p:cNvPr id="6" name="Shape 4"/>
          <p:cNvSpPr/>
          <p:nvPr/>
        </p:nvSpPr>
        <p:spPr>
          <a:xfrm>
            <a:off x="9143695" y="4663440"/>
            <a:ext cx="533400" cy="914"/>
          </a:xfrm>
          <a:prstGeom prst="line">
            <a:avLst/>
          </a:prstGeom>
          <a:noFill/>
          <a:ln w="20320">
            <a:solidFill>
              <a:srgbClr val="2A5247"/>
            </a:solidFill>
            <a:prstDash val="solid"/>
          </a:ln>
        </p:spPr>
      </p:sp>
      <p:sp>
        <p:nvSpPr>
          <p:cNvPr id="7" name="Shape 5"/>
          <p:cNvSpPr/>
          <p:nvPr/>
        </p:nvSpPr>
        <p:spPr>
          <a:xfrm flipV="1">
            <a:off x="9677095" y="4267200"/>
            <a:ext cx="914" cy="396240"/>
          </a:xfrm>
          <a:prstGeom prst="line">
            <a:avLst/>
          </a:prstGeom>
          <a:noFill/>
          <a:ln w="20320">
            <a:solidFill>
              <a:srgbClr val="2A5247"/>
            </a:solidFill>
            <a:prstDash val="solid"/>
          </a:ln>
        </p:spPr>
      </p:sp>
      <p:sp>
        <p:nvSpPr>
          <p:cNvPr id="8" name="Shape 6"/>
          <p:cNvSpPr/>
          <p:nvPr/>
        </p:nvSpPr>
        <p:spPr>
          <a:xfrm>
            <a:off x="9677095" y="4267200"/>
            <a:ext cx="533400" cy="914"/>
          </a:xfrm>
          <a:prstGeom prst="line">
            <a:avLst/>
          </a:prstGeom>
          <a:noFill/>
          <a:ln w="20320">
            <a:solidFill>
              <a:srgbClr val="2A5247"/>
            </a:solidFill>
            <a:prstDash val="solid"/>
          </a:ln>
        </p:spPr>
      </p:sp>
      <p:sp>
        <p:nvSpPr>
          <p:cNvPr id="9" name="Shape 7"/>
          <p:cNvSpPr/>
          <p:nvPr/>
        </p:nvSpPr>
        <p:spPr>
          <a:xfrm flipV="1">
            <a:off x="10210495" y="3870960"/>
            <a:ext cx="914" cy="396240"/>
          </a:xfrm>
          <a:prstGeom prst="line">
            <a:avLst/>
          </a:prstGeom>
          <a:noFill/>
          <a:ln w="20320">
            <a:solidFill>
              <a:srgbClr val="2A5247"/>
            </a:solidFill>
            <a:prstDash val="solid"/>
          </a:ln>
        </p:spPr>
      </p:sp>
      <p:sp>
        <p:nvSpPr>
          <p:cNvPr id="10" name="Shape 8"/>
          <p:cNvSpPr/>
          <p:nvPr/>
        </p:nvSpPr>
        <p:spPr>
          <a:xfrm>
            <a:off x="10210495" y="3870960"/>
            <a:ext cx="533400" cy="914"/>
          </a:xfrm>
          <a:prstGeom prst="line">
            <a:avLst/>
          </a:prstGeom>
          <a:noFill/>
          <a:ln w="20320">
            <a:solidFill>
              <a:srgbClr val="2A5247"/>
            </a:solidFill>
            <a:prstDash val="solid"/>
          </a:ln>
        </p:spPr>
      </p:sp>
      <p:sp>
        <p:nvSpPr>
          <p:cNvPr id="11" name="Shape 9"/>
          <p:cNvSpPr/>
          <p:nvPr/>
        </p:nvSpPr>
        <p:spPr>
          <a:xfrm flipV="1">
            <a:off x="10743895" y="3474720"/>
            <a:ext cx="914" cy="396240"/>
          </a:xfrm>
          <a:prstGeom prst="line">
            <a:avLst/>
          </a:prstGeom>
          <a:noFill/>
          <a:ln w="20320">
            <a:solidFill>
              <a:srgbClr val="2A5247"/>
            </a:solidFill>
            <a:prstDash val="solid"/>
          </a:ln>
        </p:spPr>
      </p:sp>
      <p:sp>
        <p:nvSpPr>
          <p:cNvPr id="12" name="Shape 10"/>
          <p:cNvSpPr/>
          <p:nvPr/>
        </p:nvSpPr>
        <p:spPr>
          <a:xfrm>
            <a:off x="10743895" y="3474720"/>
            <a:ext cx="533400" cy="914"/>
          </a:xfrm>
          <a:prstGeom prst="line">
            <a:avLst/>
          </a:prstGeom>
          <a:noFill/>
          <a:ln w="20320">
            <a:solidFill>
              <a:srgbClr val="2A5247"/>
            </a:solidFill>
            <a:prstDash val="solid"/>
          </a:ln>
        </p:spPr>
      </p:sp>
      <p:sp>
        <p:nvSpPr>
          <p:cNvPr id="13" name="Text 11"/>
          <p:cNvSpPr txBox="1"/>
          <p:nvPr/>
        </p:nvSpPr>
        <p:spPr>
          <a:xfrm>
            <a:off x="566928" y="1051560"/>
            <a:ext cx="7315200" cy="274320"/>
          </a:xfrm>
          <a:prstGeom prst="rect">
            <a:avLst/>
          </a:prstGeom>
          <a:noFill/>
          <a:ln/>
        </p:spPr>
        <p:txBody>
          <a:bodyPr wrap="square" lIns="0" tIns="0" rIns="0" bIns="0" rtlCol="0" anchor="ctr"/>
          <a:lstStyle/>
          <a:p>
            <a:pPr indent="0" marL="0">
              <a:buNone/>
            </a:pPr>
            <a:r>
              <a:rPr lang="en-US" sz="1200" spc="200" kern="0" dirty="0">
                <a:solidFill>
                  <a:srgbClr val="8FB8A6"/>
                </a:solidFill>
              </a:rPr>
              <a:t>AlbShkenca 2026 · Shkenca Kompjuterike</a:t>
            </a:r>
            <a:endParaRPr lang="en-US" sz="1200" dirty="0"/>
          </a:p>
        </p:txBody>
      </p:sp>
      <p:sp>
        <p:nvSpPr>
          <p:cNvPr id="14" name="Text 12"/>
          <p:cNvSpPr txBox="1"/>
          <p:nvPr/>
        </p:nvSpPr>
        <p:spPr>
          <a:xfrm>
            <a:off x="566928" y="1600200"/>
            <a:ext cx="8595360" cy="192024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Çfarë vërteton, dhe çfarë nuk vërteton,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një tabelë krahasuese</a:t>
            </a:r>
            <a:endParaRPr lang="en-US" sz="4000" dirty="0"/>
          </a:p>
        </p:txBody>
      </p:sp>
      <p:sp>
        <p:nvSpPr>
          <p:cNvPr id="15" name="Text 13"/>
          <p:cNvSpPr txBox="1"/>
          <p:nvPr/>
        </p:nvSpPr>
        <p:spPr>
          <a:xfrm>
            <a:off x="566928" y="3703320"/>
            <a:ext cx="7680960" cy="914400"/>
          </a:xfrm>
          <a:prstGeom prst="rect">
            <a:avLst/>
          </a:prstGeom>
          <a:noFill/>
          <a:ln/>
        </p:spPr>
        <p:txBody>
          <a:bodyPr wrap="square" lIns="0" tIns="0" rIns="0" bIns="0" rtlCol="0" anchor="ctr"/>
          <a:lstStyle/>
          <a:p>
            <a:pPr indent="0" marL="0">
              <a:lnSpc>
                <a:spcPts val="2200"/>
              </a:lnSpc>
              <a:buNone/>
            </a:pPr>
            <a:r>
              <a:rPr lang="en-US" sz="1500" i="1" dirty="0">
                <a:solidFill>
                  <a:srgbClr val="B9CFC4"/>
                </a:solidFill>
              </a:rPr>
              <a:t>Një studim i kontrolluar mbi një problem grafesh me dy objektiva,</a:t>
            </a:r>
            <a:endParaRPr lang="en-US" sz="1500" dirty="0"/>
          </a:p>
          <a:p>
            <a:pPr indent="0" marL="0">
              <a:lnSpc>
                <a:spcPts val="2200"/>
              </a:lnSpc>
              <a:buNone/>
            </a:pPr>
            <a:r>
              <a:rPr lang="en-US" sz="1500" i="1" dirty="0">
                <a:solidFill>
                  <a:srgbClr val="B9CFC4"/>
                </a:solidFill>
              </a:rPr>
              <a:t>dhe mbi aparatin që përdoret për të nxjerrë rezultate rreth tij</a:t>
            </a:r>
            <a:endParaRPr lang="en-US" sz="1500" dirty="0"/>
          </a:p>
        </p:txBody>
      </p:sp>
      <p:sp>
        <p:nvSpPr>
          <p:cNvPr id="16" name="Shape 14"/>
          <p:cNvSpPr/>
          <p:nvPr/>
        </p:nvSpPr>
        <p:spPr>
          <a:xfrm>
            <a:off x="566928" y="4892040"/>
            <a:ext cx="1463040" cy="914"/>
          </a:xfrm>
          <a:prstGeom prst="line">
            <a:avLst/>
          </a:prstGeom>
          <a:noFill/>
          <a:ln w="27940">
            <a:solidFill>
              <a:srgbClr val="3E8E72"/>
            </a:solidFill>
            <a:prstDash val="solid"/>
          </a:ln>
        </p:spPr>
      </p:sp>
      <p:sp>
        <p:nvSpPr>
          <p:cNvPr id="17" name="Text 15"/>
          <p:cNvSpPr txBox="1"/>
          <p:nvPr/>
        </p:nvSpPr>
        <p:spPr>
          <a:xfrm>
            <a:off x="566928" y="5074920"/>
            <a:ext cx="7315200" cy="274320"/>
          </a:xfrm>
          <a:prstGeom prst="rect">
            <a:avLst/>
          </a:prstGeom>
          <a:noFill/>
          <a:ln/>
        </p:spPr>
        <p:txBody>
          <a:bodyPr wrap="square" lIns="0" tIns="0" rIns="0" bIns="0" rtlCol="0" anchor="ctr"/>
          <a:lstStyle/>
          <a:p>
            <a:pPr indent="0" marL="0">
              <a:buNone/>
            </a:pPr>
            <a:r>
              <a:rPr lang="en-US" sz="1350" dirty="0">
                <a:solidFill>
                  <a:srgbClr val="FFFFFF"/>
                </a:solidFill>
              </a:rPr>
              <a:t>Adrian Ymeri · Universiteti i Prishtinës</a:t>
            </a:r>
            <a:endParaRPr lang="en-US" sz="1350" dirty="0"/>
          </a:p>
        </p:txBody>
      </p:sp>
      <p:sp>
        <p:nvSpPr>
          <p:cNvPr id="18" name="Text 16"/>
          <p:cNvSpPr txBox="1"/>
          <p:nvPr/>
        </p:nvSpPr>
        <p:spPr>
          <a:xfrm>
            <a:off x="566928" y="6144768"/>
            <a:ext cx="11057839" cy="274320"/>
          </a:xfrm>
          <a:prstGeom prst="rect">
            <a:avLst/>
          </a:prstGeom>
          <a:noFill/>
          <a:ln/>
        </p:spPr>
        <p:txBody>
          <a:bodyPr wrap="square" lIns="0" tIns="0" rIns="0" bIns="0" rtlCol="0" anchor="ctr"/>
          <a:lstStyle/>
          <a:p>
            <a:pPr indent="0" marL="0">
              <a:buNone/>
            </a:pPr>
            <a:r>
              <a:rPr lang="en-US" sz="1000" dirty="0">
                <a:solidFill>
                  <a:srgbClr val="B9CFC4"/>
                </a:solidFill>
              </a:rPr>
              <a:t>ESA SpOC-3 Torso Decompositions · 10 instanca · 7 metoda · 17 operatorë · 3 buxhete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Ku shkon kjo kumtesë</a:t>
            </a:r>
            <a:endParaRPr lang="en-US" sz="2600" dirty="0"/>
          </a:p>
        </p:txBody>
      </p:sp>
      <p:sp>
        <p:nvSpPr>
          <p:cNvPr id="3" name="Shape 1"/>
          <p:cNvSpPr/>
          <p:nvPr/>
        </p:nvSpPr>
        <p:spPr>
          <a:xfrm>
            <a:off x="841248" y="1335024"/>
            <a:ext cx="914" cy="3236976"/>
          </a:xfrm>
          <a:prstGeom prst="line">
            <a:avLst/>
          </a:prstGeom>
          <a:noFill/>
          <a:ln w="17780">
            <a:solidFill>
              <a:srgbClr val="B9CFC4"/>
            </a:solidFill>
            <a:prstDash val="solid"/>
          </a:ln>
        </p:spPr>
      </p:sp>
      <p:sp>
        <p:nvSpPr>
          <p:cNvPr id="4" name="Shape 2"/>
          <p:cNvSpPr/>
          <p:nvPr/>
        </p:nvSpPr>
        <p:spPr>
          <a:xfrm>
            <a:off x="621792" y="1325880"/>
            <a:ext cx="438912" cy="438912"/>
          </a:xfrm>
          <a:prstGeom prst="ellipse">
            <a:avLst/>
          </a:prstGeom>
          <a:solidFill>
            <a:srgbClr val="FFFFFF"/>
          </a:solidFill>
          <a:ln w="16510">
            <a:solidFill>
              <a:srgbClr val="3E8E72"/>
            </a:solidFill>
            <a:prstDash val="solid"/>
          </a:ln>
        </p:spPr>
      </p:sp>
      <p:sp>
        <p:nvSpPr>
          <p:cNvPr id="5" name="Text 3"/>
          <p:cNvSpPr txBox="1"/>
          <p:nvPr/>
        </p:nvSpPr>
        <p:spPr>
          <a:xfrm>
            <a:off x="621792" y="1325880"/>
            <a:ext cx="438912" cy="438912"/>
          </a:xfrm>
          <a:prstGeom prst="rect">
            <a:avLst/>
          </a:prstGeom>
          <a:noFill/>
          <a:ln/>
        </p:spPr>
        <p:txBody>
          <a:bodyPr wrap="square" lIns="0" tIns="0" rIns="0" bIns="0" rtlCol="0" anchor="ctr"/>
          <a:lstStyle/>
          <a:p>
            <a:pPr algn="ctr" indent="0" marL="0">
              <a:buNone/>
            </a:pPr>
            <a:r>
              <a:rPr lang="en-US" sz="1150" b="1" dirty="0">
                <a:solidFill>
                  <a:srgbClr val="2A5247"/>
                </a:solidFill>
                <a:latin typeface="Cambria" pitchFamily="34" charset="0"/>
                <a:ea typeface="Cambria" pitchFamily="34" charset="-122"/>
                <a:cs typeface="Cambria" pitchFamily="34" charset="-120"/>
              </a:rPr>
              <a:t>I</a:t>
            </a:r>
            <a:endParaRPr lang="en-US" sz="1150" dirty="0"/>
          </a:p>
        </p:txBody>
      </p:sp>
      <p:sp>
        <p:nvSpPr>
          <p:cNvPr id="6" name="Text 4"/>
          <p:cNvSpPr txBox="1"/>
          <p:nvPr/>
        </p:nvSpPr>
        <p:spPr>
          <a:xfrm>
            <a:off x="1280160" y="1316736"/>
            <a:ext cx="4846320" cy="274320"/>
          </a:xfrm>
          <a:prstGeom prst="rect">
            <a:avLst/>
          </a:prstGeom>
          <a:noFill/>
          <a:ln/>
        </p:spPr>
        <p:txBody>
          <a:bodyPr wrap="square" lIns="0" tIns="0" rIns="0" bIns="0" rtlCol="0" anchor="ctr"/>
          <a:lstStyle/>
          <a:p>
            <a:pPr indent="0" marL="0">
              <a:buNone/>
            </a:pPr>
            <a:r>
              <a:rPr lang="en-US" sz="1450" b="1" dirty="0">
                <a:solidFill>
                  <a:srgbClr val="11211C"/>
                </a:solidFill>
              </a:rPr>
              <a:t>Objekti</a:t>
            </a:r>
            <a:endParaRPr lang="en-US" sz="1450" dirty="0"/>
          </a:p>
        </p:txBody>
      </p:sp>
      <p:sp>
        <p:nvSpPr>
          <p:cNvPr id="7" name="Text 5"/>
          <p:cNvSpPr txBox="1"/>
          <p:nvPr/>
        </p:nvSpPr>
        <p:spPr>
          <a:xfrm>
            <a:off x="1280160" y="1591056"/>
            <a:ext cx="6309360" cy="274320"/>
          </a:xfrm>
          <a:prstGeom prst="rect">
            <a:avLst/>
          </a:prstGeom>
          <a:noFill/>
          <a:ln/>
        </p:spPr>
        <p:txBody>
          <a:bodyPr wrap="square" lIns="0" tIns="0" rIns="0" bIns="0" rtlCol="0" anchor="ctr"/>
          <a:lstStyle/>
          <a:p>
            <a:pPr indent="0" marL="0">
              <a:buNone/>
            </a:pPr>
            <a:r>
              <a:rPr lang="en-US" sz="1150" dirty="0">
                <a:solidFill>
                  <a:srgbClr val="6B7A75"/>
                </a:solidFill>
              </a:rPr>
              <a:t>Çfarë kërkoi ESA, dhe mekanizmi i vetëm mbi të cilin qëndron gjithë problemi</a:t>
            </a:r>
            <a:endParaRPr lang="en-US" sz="1150" dirty="0"/>
          </a:p>
        </p:txBody>
      </p:sp>
      <p:sp>
        <p:nvSpPr>
          <p:cNvPr id="8" name="Text 6"/>
          <p:cNvSpPr txBox="1"/>
          <p:nvPr/>
        </p:nvSpPr>
        <p:spPr>
          <a:xfrm>
            <a:off x="7114032" y="1353312"/>
            <a:ext cx="640080" cy="237744"/>
          </a:xfrm>
          <a:prstGeom prst="rect">
            <a:avLst/>
          </a:prstGeom>
          <a:noFill/>
          <a:ln/>
        </p:spPr>
        <p:txBody>
          <a:bodyPr wrap="square" lIns="0" tIns="0" rIns="0" bIns="0" rtlCol="0" anchor="ctr"/>
          <a:lstStyle/>
          <a:p>
            <a:pPr algn="r" indent="0" marL="0">
              <a:buNone/>
            </a:pPr>
            <a:r>
              <a:rPr lang="en-US" sz="1050" dirty="0">
                <a:solidFill>
                  <a:srgbClr val="6B7A75"/>
                </a:solidFill>
              </a:rPr>
              <a:t>3 min</a:t>
            </a:r>
            <a:endParaRPr lang="en-US" sz="1050" dirty="0"/>
          </a:p>
        </p:txBody>
      </p:sp>
      <p:sp>
        <p:nvSpPr>
          <p:cNvPr id="9" name="Shape 7"/>
          <p:cNvSpPr/>
          <p:nvPr/>
        </p:nvSpPr>
        <p:spPr>
          <a:xfrm>
            <a:off x="621792" y="1984248"/>
            <a:ext cx="438912" cy="438912"/>
          </a:xfrm>
          <a:prstGeom prst="ellipse">
            <a:avLst/>
          </a:prstGeom>
          <a:solidFill>
            <a:srgbClr val="FFFFFF"/>
          </a:solidFill>
          <a:ln w="16510">
            <a:solidFill>
              <a:srgbClr val="3E8E72"/>
            </a:solidFill>
            <a:prstDash val="solid"/>
          </a:ln>
        </p:spPr>
      </p:sp>
      <p:sp>
        <p:nvSpPr>
          <p:cNvPr id="10" name="Text 8"/>
          <p:cNvSpPr txBox="1"/>
          <p:nvPr/>
        </p:nvSpPr>
        <p:spPr>
          <a:xfrm>
            <a:off x="621792" y="1984248"/>
            <a:ext cx="438912" cy="438912"/>
          </a:xfrm>
          <a:prstGeom prst="rect">
            <a:avLst/>
          </a:prstGeom>
          <a:noFill/>
          <a:ln/>
        </p:spPr>
        <p:txBody>
          <a:bodyPr wrap="square" lIns="0" tIns="0" rIns="0" bIns="0" rtlCol="0" anchor="ctr"/>
          <a:lstStyle/>
          <a:p>
            <a:pPr algn="ctr" indent="0" marL="0">
              <a:buNone/>
            </a:pPr>
            <a:r>
              <a:rPr lang="en-US" sz="1150" b="1" dirty="0">
                <a:solidFill>
                  <a:srgbClr val="2A5247"/>
                </a:solidFill>
                <a:latin typeface="Cambria" pitchFamily="34" charset="0"/>
                <a:ea typeface="Cambria" pitchFamily="34" charset="-122"/>
                <a:cs typeface="Cambria" pitchFamily="34" charset="-120"/>
              </a:rPr>
              <a:t>II</a:t>
            </a:r>
            <a:endParaRPr lang="en-US" sz="1150" dirty="0"/>
          </a:p>
        </p:txBody>
      </p:sp>
      <p:sp>
        <p:nvSpPr>
          <p:cNvPr id="11" name="Text 9"/>
          <p:cNvSpPr txBox="1"/>
          <p:nvPr/>
        </p:nvSpPr>
        <p:spPr>
          <a:xfrm>
            <a:off x="1280160" y="1975104"/>
            <a:ext cx="4846320" cy="274320"/>
          </a:xfrm>
          <a:prstGeom prst="rect">
            <a:avLst/>
          </a:prstGeom>
          <a:noFill/>
          <a:ln/>
        </p:spPr>
        <p:txBody>
          <a:bodyPr wrap="square" lIns="0" tIns="0" rIns="0" bIns="0" rtlCol="0" anchor="ctr"/>
          <a:lstStyle/>
          <a:p>
            <a:pPr indent="0" marL="0">
              <a:buNone/>
            </a:pPr>
            <a:r>
              <a:rPr lang="en-US" sz="1450" b="1" dirty="0">
                <a:solidFill>
                  <a:srgbClr val="11211C"/>
                </a:solidFill>
              </a:rPr>
              <a:t>Pse është i vështirë, dhe sa i mirë do të mund të ishte çdo përgjigje</a:t>
            </a:r>
            <a:endParaRPr lang="en-US" sz="1450" dirty="0"/>
          </a:p>
        </p:txBody>
      </p:sp>
      <p:sp>
        <p:nvSpPr>
          <p:cNvPr id="12" name="Text 10"/>
          <p:cNvSpPr txBox="1"/>
          <p:nvPr/>
        </p:nvSpPr>
        <p:spPr>
          <a:xfrm>
            <a:off x="1280160" y="2249424"/>
            <a:ext cx="6309360" cy="274320"/>
          </a:xfrm>
          <a:prstGeom prst="rect">
            <a:avLst/>
          </a:prstGeom>
          <a:noFill/>
          <a:ln/>
        </p:spPr>
        <p:txBody>
          <a:bodyPr wrap="square" lIns="0" tIns="0" rIns="0" bIns="0" rtlCol="0" anchor="ctr"/>
          <a:lstStyle/>
          <a:p>
            <a:pPr indent="0" marL="0">
              <a:buNone/>
            </a:pPr>
            <a:r>
              <a:rPr lang="en-US" sz="1150" dirty="0">
                <a:solidFill>
                  <a:srgbClr val="6B7A75"/>
                </a:solidFill>
              </a:rPr>
              <a:t>Dy probleme NP-të vështira të ngulitura, dhe një tavan i vërtetueshëm</a:t>
            </a:r>
            <a:endParaRPr lang="en-US" sz="1150" dirty="0"/>
          </a:p>
        </p:txBody>
      </p:sp>
      <p:sp>
        <p:nvSpPr>
          <p:cNvPr id="13" name="Text 11"/>
          <p:cNvSpPr txBox="1"/>
          <p:nvPr/>
        </p:nvSpPr>
        <p:spPr>
          <a:xfrm>
            <a:off x="7114032" y="2011680"/>
            <a:ext cx="640080" cy="237744"/>
          </a:xfrm>
          <a:prstGeom prst="rect">
            <a:avLst/>
          </a:prstGeom>
          <a:noFill/>
          <a:ln/>
        </p:spPr>
        <p:txBody>
          <a:bodyPr wrap="square" lIns="0" tIns="0" rIns="0" bIns="0" rtlCol="0" anchor="ctr"/>
          <a:lstStyle/>
          <a:p>
            <a:pPr algn="r" indent="0" marL="0">
              <a:buNone/>
            </a:pPr>
            <a:r>
              <a:rPr lang="en-US" sz="1050" dirty="0">
                <a:solidFill>
                  <a:srgbClr val="6B7A75"/>
                </a:solidFill>
              </a:rPr>
              <a:t>3 min</a:t>
            </a:r>
            <a:endParaRPr lang="en-US" sz="1050" dirty="0"/>
          </a:p>
        </p:txBody>
      </p:sp>
      <p:sp>
        <p:nvSpPr>
          <p:cNvPr id="14" name="Shape 12"/>
          <p:cNvSpPr/>
          <p:nvPr/>
        </p:nvSpPr>
        <p:spPr>
          <a:xfrm>
            <a:off x="621792" y="2642616"/>
            <a:ext cx="438912" cy="438912"/>
          </a:xfrm>
          <a:prstGeom prst="ellipse">
            <a:avLst/>
          </a:prstGeom>
          <a:solidFill>
            <a:srgbClr val="FFFFFF"/>
          </a:solidFill>
          <a:ln w="16510">
            <a:solidFill>
              <a:srgbClr val="3E8E72"/>
            </a:solidFill>
            <a:prstDash val="solid"/>
          </a:ln>
        </p:spPr>
      </p:sp>
      <p:sp>
        <p:nvSpPr>
          <p:cNvPr id="15" name="Text 13"/>
          <p:cNvSpPr txBox="1"/>
          <p:nvPr/>
        </p:nvSpPr>
        <p:spPr>
          <a:xfrm>
            <a:off x="621792" y="2642616"/>
            <a:ext cx="438912" cy="438912"/>
          </a:xfrm>
          <a:prstGeom prst="rect">
            <a:avLst/>
          </a:prstGeom>
          <a:noFill/>
          <a:ln/>
        </p:spPr>
        <p:txBody>
          <a:bodyPr wrap="square" lIns="0" tIns="0" rIns="0" bIns="0" rtlCol="0" anchor="ctr"/>
          <a:lstStyle/>
          <a:p>
            <a:pPr algn="ctr" indent="0" marL="0">
              <a:buNone/>
            </a:pPr>
            <a:r>
              <a:rPr lang="en-US" sz="1150" b="1" dirty="0">
                <a:solidFill>
                  <a:srgbClr val="2A5247"/>
                </a:solidFill>
                <a:latin typeface="Cambria" pitchFamily="34" charset="0"/>
                <a:ea typeface="Cambria" pitchFamily="34" charset="-122"/>
                <a:cs typeface="Cambria" pitchFamily="34" charset="-120"/>
              </a:rPr>
              <a:t>III</a:t>
            </a:r>
            <a:endParaRPr lang="en-US" sz="1150" dirty="0"/>
          </a:p>
        </p:txBody>
      </p:sp>
      <p:sp>
        <p:nvSpPr>
          <p:cNvPr id="16" name="Text 14"/>
          <p:cNvSpPr txBox="1"/>
          <p:nvPr/>
        </p:nvSpPr>
        <p:spPr>
          <a:xfrm>
            <a:off x="1280160" y="2633472"/>
            <a:ext cx="4846320" cy="274320"/>
          </a:xfrm>
          <a:prstGeom prst="rect">
            <a:avLst/>
          </a:prstGeom>
          <a:noFill/>
          <a:ln/>
        </p:spPr>
        <p:txBody>
          <a:bodyPr wrap="square" lIns="0" tIns="0" rIns="0" bIns="0" rtlCol="0" anchor="ctr"/>
          <a:lstStyle/>
          <a:p>
            <a:pPr indent="0" marL="0">
              <a:buNone/>
            </a:pPr>
            <a:r>
              <a:rPr lang="en-US" sz="1450" b="1" dirty="0">
                <a:solidFill>
                  <a:srgbClr val="11211C"/>
                </a:solidFill>
              </a:rPr>
              <a:t>Tabela që do ta kisha publikuar</a:t>
            </a:r>
            <a:endParaRPr lang="en-US" sz="1450" dirty="0"/>
          </a:p>
        </p:txBody>
      </p:sp>
      <p:sp>
        <p:nvSpPr>
          <p:cNvPr id="17" name="Text 15"/>
          <p:cNvSpPr txBox="1"/>
          <p:nvPr/>
        </p:nvSpPr>
        <p:spPr>
          <a:xfrm>
            <a:off x="1280160" y="2907792"/>
            <a:ext cx="6309360" cy="274320"/>
          </a:xfrm>
          <a:prstGeom prst="rect">
            <a:avLst/>
          </a:prstGeom>
          <a:noFill/>
          <a:ln/>
        </p:spPr>
        <p:txBody>
          <a:bodyPr wrap="square" lIns="0" tIns="0" rIns="0" bIns="0" rtlCol="0" anchor="ctr"/>
          <a:lstStyle/>
          <a:p>
            <a:pPr indent="0" marL="0">
              <a:buNone/>
            </a:pPr>
            <a:r>
              <a:rPr lang="en-US" sz="1150" dirty="0">
                <a:solidFill>
                  <a:srgbClr val="6B7A75"/>
                </a:solidFill>
              </a:rPr>
              <a:t>Dhjetë instanca, shtatë metoda, dhe ngatërruesit që e vendosin atë</a:t>
            </a:r>
            <a:endParaRPr lang="en-US" sz="1150" dirty="0"/>
          </a:p>
        </p:txBody>
      </p:sp>
      <p:sp>
        <p:nvSpPr>
          <p:cNvPr id="18" name="Text 16"/>
          <p:cNvSpPr txBox="1"/>
          <p:nvPr/>
        </p:nvSpPr>
        <p:spPr>
          <a:xfrm>
            <a:off x="7114032" y="2670048"/>
            <a:ext cx="640080" cy="237744"/>
          </a:xfrm>
          <a:prstGeom prst="rect">
            <a:avLst/>
          </a:prstGeom>
          <a:noFill/>
          <a:ln/>
        </p:spPr>
        <p:txBody>
          <a:bodyPr wrap="square" lIns="0" tIns="0" rIns="0" bIns="0" rtlCol="0" anchor="ctr"/>
          <a:lstStyle/>
          <a:p>
            <a:pPr algn="r" indent="0" marL="0">
              <a:buNone/>
            </a:pPr>
            <a:r>
              <a:rPr lang="en-US" sz="1050" dirty="0">
                <a:solidFill>
                  <a:srgbClr val="6B7A75"/>
                </a:solidFill>
              </a:rPr>
              <a:t>3 min</a:t>
            </a:r>
            <a:endParaRPr lang="en-US" sz="1050" dirty="0"/>
          </a:p>
        </p:txBody>
      </p:sp>
      <p:sp>
        <p:nvSpPr>
          <p:cNvPr id="19" name="Shape 17"/>
          <p:cNvSpPr/>
          <p:nvPr/>
        </p:nvSpPr>
        <p:spPr>
          <a:xfrm>
            <a:off x="621792" y="3300984"/>
            <a:ext cx="438912" cy="438912"/>
          </a:xfrm>
          <a:prstGeom prst="ellipse">
            <a:avLst/>
          </a:prstGeom>
          <a:solidFill>
            <a:srgbClr val="FFFFFF"/>
          </a:solidFill>
          <a:ln w="16510">
            <a:solidFill>
              <a:srgbClr val="3E8E72"/>
            </a:solidFill>
            <a:prstDash val="solid"/>
          </a:ln>
        </p:spPr>
      </p:sp>
      <p:sp>
        <p:nvSpPr>
          <p:cNvPr id="20" name="Text 18"/>
          <p:cNvSpPr txBox="1"/>
          <p:nvPr/>
        </p:nvSpPr>
        <p:spPr>
          <a:xfrm>
            <a:off x="621792" y="3300984"/>
            <a:ext cx="438912" cy="438912"/>
          </a:xfrm>
          <a:prstGeom prst="rect">
            <a:avLst/>
          </a:prstGeom>
          <a:noFill/>
          <a:ln/>
        </p:spPr>
        <p:txBody>
          <a:bodyPr wrap="square" lIns="0" tIns="0" rIns="0" bIns="0" rtlCol="0" anchor="ctr"/>
          <a:lstStyle/>
          <a:p>
            <a:pPr algn="ctr" indent="0" marL="0">
              <a:buNone/>
            </a:pPr>
            <a:r>
              <a:rPr lang="en-US" sz="1150" b="1" dirty="0">
                <a:solidFill>
                  <a:srgbClr val="2A5247"/>
                </a:solidFill>
                <a:latin typeface="Cambria" pitchFamily="34" charset="0"/>
                <a:ea typeface="Cambria" pitchFamily="34" charset="-122"/>
                <a:cs typeface="Cambria" pitchFamily="34" charset="-120"/>
              </a:rPr>
              <a:t>IV</a:t>
            </a:r>
            <a:endParaRPr lang="en-US" sz="1150" dirty="0"/>
          </a:p>
        </p:txBody>
      </p:sp>
      <p:sp>
        <p:nvSpPr>
          <p:cNvPr id="21" name="Text 19"/>
          <p:cNvSpPr txBox="1"/>
          <p:nvPr/>
        </p:nvSpPr>
        <p:spPr>
          <a:xfrm>
            <a:off x="1280160" y="3291840"/>
            <a:ext cx="4846320" cy="274320"/>
          </a:xfrm>
          <a:prstGeom prst="rect">
            <a:avLst/>
          </a:prstGeom>
          <a:noFill/>
          <a:ln/>
        </p:spPr>
        <p:txBody>
          <a:bodyPr wrap="square" lIns="0" tIns="0" rIns="0" bIns="0" rtlCol="0" anchor="ctr"/>
          <a:lstStyle/>
          <a:p>
            <a:pPr indent="0" marL="0">
              <a:buNone/>
            </a:pPr>
            <a:r>
              <a:rPr lang="en-US" sz="1450" b="1" dirty="0">
                <a:solidFill>
                  <a:srgbClr val="11211C"/>
                </a:solidFill>
              </a:rPr>
              <a:t>Matja që e prishi</a:t>
            </a:r>
            <a:endParaRPr lang="en-US" sz="1450" dirty="0"/>
          </a:p>
        </p:txBody>
      </p:sp>
      <p:sp>
        <p:nvSpPr>
          <p:cNvPr id="22" name="Text 20"/>
          <p:cNvSpPr txBox="1"/>
          <p:nvPr/>
        </p:nvSpPr>
        <p:spPr>
          <a:xfrm>
            <a:off x="1280160" y="3566160"/>
            <a:ext cx="6309360" cy="274320"/>
          </a:xfrm>
          <a:prstGeom prst="rect">
            <a:avLst/>
          </a:prstGeom>
          <a:noFill/>
          <a:ln/>
        </p:spPr>
        <p:txBody>
          <a:bodyPr wrap="square" lIns="0" tIns="0" rIns="0" bIns="0" rtlCol="0" anchor="ctr"/>
          <a:lstStyle/>
          <a:p>
            <a:pPr indent="0" marL="0">
              <a:buNone/>
            </a:pPr>
            <a:r>
              <a:rPr lang="en-US" sz="1150" dirty="0">
                <a:solidFill>
                  <a:srgbClr val="6B7A75"/>
                </a:solidFill>
              </a:rPr>
              <a:t>Ekzekutimi i kontrollit dy herë, dhe çfarë mbijetoi</a:t>
            </a:r>
            <a:endParaRPr lang="en-US" sz="1150" dirty="0"/>
          </a:p>
        </p:txBody>
      </p:sp>
      <p:sp>
        <p:nvSpPr>
          <p:cNvPr id="23" name="Text 21"/>
          <p:cNvSpPr txBox="1"/>
          <p:nvPr/>
        </p:nvSpPr>
        <p:spPr>
          <a:xfrm>
            <a:off x="7114032" y="3328416"/>
            <a:ext cx="640080" cy="237744"/>
          </a:xfrm>
          <a:prstGeom prst="rect">
            <a:avLst/>
          </a:prstGeom>
          <a:noFill/>
          <a:ln/>
        </p:spPr>
        <p:txBody>
          <a:bodyPr wrap="square" lIns="0" tIns="0" rIns="0" bIns="0" rtlCol="0" anchor="ctr"/>
          <a:lstStyle/>
          <a:p>
            <a:pPr algn="r" indent="0" marL="0">
              <a:buNone/>
            </a:pPr>
            <a:r>
              <a:rPr lang="en-US" sz="1050" dirty="0">
                <a:solidFill>
                  <a:srgbClr val="6B7A75"/>
                </a:solidFill>
              </a:rPr>
              <a:t>4 min</a:t>
            </a:r>
            <a:endParaRPr lang="en-US" sz="1050" dirty="0"/>
          </a:p>
        </p:txBody>
      </p:sp>
      <p:sp>
        <p:nvSpPr>
          <p:cNvPr id="24" name="Shape 22"/>
          <p:cNvSpPr/>
          <p:nvPr/>
        </p:nvSpPr>
        <p:spPr>
          <a:xfrm>
            <a:off x="621792" y="3959352"/>
            <a:ext cx="438912" cy="438912"/>
          </a:xfrm>
          <a:prstGeom prst="ellipse">
            <a:avLst/>
          </a:prstGeom>
          <a:solidFill>
            <a:srgbClr val="FFFFFF"/>
          </a:solidFill>
          <a:ln w="16510">
            <a:solidFill>
              <a:srgbClr val="3E8E72"/>
            </a:solidFill>
            <a:prstDash val="solid"/>
          </a:ln>
        </p:spPr>
      </p:sp>
      <p:sp>
        <p:nvSpPr>
          <p:cNvPr id="25" name="Text 23"/>
          <p:cNvSpPr txBox="1"/>
          <p:nvPr/>
        </p:nvSpPr>
        <p:spPr>
          <a:xfrm>
            <a:off x="621792" y="3959352"/>
            <a:ext cx="438912" cy="438912"/>
          </a:xfrm>
          <a:prstGeom prst="rect">
            <a:avLst/>
          </a:prstGeom>
          <a:noFill/>
          <a:ln/>
        </p:spPr>
        <p:txBody>
          <a:bodyPr wrap="square" lIns="0" tIns="0" rIns="0" bIns="0" rtlCol="0" anchor="ctr"/>
          <a:lstStyle/>
          <a:p>
            <a:pPr algn="ctr" indent="0" marL="0">
              <a:buNone/>
            </a:pPr>
            <a:r>
              <a:rPr lang="en-US" sz="1150" b="1" dirty="0">
                <a:solidFill>
                  <a:srgbClr val="2A5247"/>
                </a:solidFill>
                <a:latin typeface="Cambria" pitchFamily="34" charset="0"/>
                <a:ea typeface="Cambria" pitchFamily="34" charset="-122"/>
                <a:cs typeface="Cambria" pitchFamily="34" charset="-120"/>
              </a:rPr>
              <a:t>V</a:t>
            </a:r>
            <a:endParaRPr lang="en-US" sz="1150" dirty="0"/>
          </a:p>
        </p:txBody>
      </p:sp>
      <p:sp>
        <p:nvSpPr>
          <p:cNvPr id="26" name="Text 24"/>
          <p:cNvSpPr txBox="1"/>
          <p:nvPr/>
        </p:nvSpPr>
        <p:spPr>
          <a:xfrm>
            <a:off x="1280160" y="3950208"/>
            <a:ext cx="4846320" cy="274320"/>
          </a:xfrm>
          <a:prstGeom prst="rect">
            <a:avLst/>
          </a:prstGeom>
          <a:noFill/>
          <a:ln/>
        </p:spPr>
        <p:txBody>
          <a:bodyPr wrap="square" lIns="0" tIns="0" rIns="0" bIns="0" rtlCol="0" anchor="ctr"/>
          <a:lstStyle/>
          <a:p>
            <a:pPr indent="0" marL="0">
              <a:buNone/>
            </a:pPr>
            <a:r>
              <a:rPr lang="en-US" sz="1450" b="1" dirty="0">
                <a:solidFill>
                  <a:srgbClr val="11211C"/>
                </a:solidFill>
              </a:rPr>
              <a:t>Çfarë do të kërkoja nga çdo tabelë krahasuese</a:t>
            </a:r>
            <a:endParaRPr lang="en-US" sz="1450" dirty="0"/>
          </a:p>
        </p:txBody>
      </p:sp>
      <p:sp>
        <p:nvSpPr>
          <p:cNvPr id="27" name="Text 25"/>
          <p:cNvSpPr txBox="1"/>
          <p:nvPr/>
        </p:nvSpPr>
        <p:spPr>
          <a:xfrm>
            <a:off x="1280160" y="4224528"/>
            <a:ext cx="6309360" cy="274320"/>
          </a:xfrm>
          <a:prstGeom prst="rect">
            <a:avLst/>
          </a:prstGeom>
          <a:noFill/>
          <a:ln/>
        </p:spPr>
        <p:txBody>
          <a:bodyPr wrap="square" lIns="0" tIns="0" rIns="0" bIns="0" rtlCol="0" anchor="ctr"/>
          <a:lstStyle/>
          <a:p>
            <a:pPr indent="0" marL="0">
              <a:buNone/>
            </a:pPr>
            <a:r>
              <a:rPr lang="en-US" sz="1150" dirty="0">
                <a:solidFill>
                  <a:srgbClr val="6B7A75"/>
                </a:solidFill>
              </a:rPr>
              <a:t>Tri kërkesa, dhe gabimet që i kapa në punën time</a:t>
            </a:r>
            <a:endParaRPr lang="en-US" sz="1150" dirty="0"/>
          </a:p>
        </p:txBody>
      </p:sp>
      <p:sp>
        <p:nvSpPr>
          <p:cNvPr id="28" name="Text 26"/>
          <p:cNvSpPr txBox="1"/>
          <p:nvPr/>
        </p:nvSpPr>
        <p:spPr>
          <a:xfrm>
            <a:off x="7114032" y="3986784"/>
            <a:ext cx="640080" cy="237744"/>
          </a:xfrm>
          <a:prstGeom prst="rect">
            <a:avLst/>
          </a:prstGeom>
          <a:noFill/>
          <a:ln/>
        </p:spPr>
        <p:txBody>
          <a:bodyPr wrap="square" lIns="0" tIns="0" rIns="0" bIns="0" rtlCol="0" anchor="ctr"/>
          <a:lstStyle/>
          <a:p>
            <a:pPr algn="r" indent="0" marL="0">
              <a:buNone/>
            </a:pPr>
            <a:r>
              <a:rPr lang="en-US" sz="1050" dirty="0">
                <a:solidFill>
                  <a:srgbClr val="6B7A75"/>
                </a:solidFill>
              </a:rPr>
              <a:t>2 min</a:t>
            </a:r>
            <a:endParaRPr lang="en-US" sz="1050" dirty="0"/>
          </a:p>
        </p:txBody>
      </p:sp>
      <p:sp>
        <p:nvSpPr>
          <p:cNvPr id="29" name="Shape 27"/>
          <p:cNvSpPr/>
          <p:nvPr/>
        </p:nvSpPr>
        <p:spPr>
          <a:xfrm>
            <a:off x="8138160" y="1298448"/>
            <a:ext cx="3493008" cy="3291840"/>
          </a:xfrm>
          <a:prstGeom prst="roundRect">
            <a:avLst>
              <a:gd name="adj" fmla="val 1111"/>
            </a:avLst>
          </a:prstGeom>
          <a:solidFill>
            <a:srgbClr val="1F3A33"/>
          </a:solidFill>
          <a:ln w="6350">
            <a:solidFill>
              <a:srgbClr val="1F3A33"/>
            </a:solidFill>
            <a:prstDash val="solid"/>
          </a:ln>
        </p:spPr>
      </p:sp>
      <p:sp>
        <p:nvSpPr>
          <p:cNvPr id="30" name="Text 28"/>
          <p:cNvSpPr txBox="1"/>
          <p:nvPr/>
        </p:nvSpPr>
        <p:spPr>
          <a:xfrm>
            <a:off x="8375904" y="1517904"/>
            <a:ext cx="365760" cy="310896"/>
          </a:xfrm>
          <a:prstGeom prst="rect">
            <a:avLst/>
          </a:prstGeom>
          <a:noFill/>
          <a:ln/>
        </p:spPr>
        <p:txBody>
          <a:bodyPr wrap="square" lIns="0" tIns="0" rIns="0" bIns="0" rtlCol="0" anchor="ctr"/>
          <a:lstStyle/>
          <a:p>
            <a:pPr indent="0" marL="0">
              <a:buNone/>
            </a:pPr>
            <a:r>
              <a:rPr lang="en-US" sz="1500" dirty="0">
                <a:solidFill>
                  <a:srgbClr val="8FB8A6"/>
                </a:solidFill>
              </a:rPr>
              <a:t>①</a:t>
            </a:r>
            <a:endParaRPr lang="en-US" sz="1500" dirty="0"/>
          </a:p>
        </p:txBody>
      </p:sp>
      <p:sp>
        <p:nvSpPr>
          <p:cNvPr id="31" name="Text 29"/>
          <p:cNvSpPr txBox="1"/>
          <p:nvPr/>
        </p:nvSpPr>
        <p:spPr>
          <a:xfrm>
            <a:off x="8375904" y="1901952"/>
            <a:ext cx="3017520" cy="2468880"/>
          </a:xfrm>
          <a:prstGeom prst="rect">
            <a:avLst/>
          </a:prstGeom>
          <a:noFill/>
          <a:ln/>
        </p:spPr>
        <p:txBody>
          <a:bodyPr wrap="square" lIns="0" tIns="0" rIns="0" bIns="0" rtlCol="0" anchor="ctr"/>
          <a:lstStyle/>
          <a:p>
            <a:pPr indent="0" marL="0">
              <a:lnSpc>
                <a:spcPts val="2000"/>
              </a:lnSpc>
              <a:buNone/>
            </a:pPr>
            <a:r>
              <a:rPr lang="en-US" sz="1300" dirty="0">
                <a:solidFill>
                  <a:srgbClr val="FFFFFF"/>
                </a:solidFill>
              </a:rPr>
              <a:t>Një pohim, i thënë që tani që ta provoni kundër gjithçkaje që vjen: në këto dhjetë instanca ndërtimi dominon, tri përbërëset e kërkimit jo, dhe gjysma e tabelës krahasuese është barazim.</a:t>
            </a:r>
            <a:endParaRPr lang="en-US" sz="13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ESA kërkonte një plan montimi për një megastrukturë</a:t>
            </a:r>
            <a:endParaRPr lang="en-US" sz="2600" dirty="0"/>
          </a:p>
        </p:txBody>
      </p:sp>
      <p:sp>
        <p:nvSpPr>
          <p:cNvPr id="3" name="Text 1"/>
          <p:cNvSpPr txBox="1"/>
          <p:nvPr/>
        </p:nvSpPr>
        <p:spPr>
          <a:xfrm>
            <a:off x="566928" y="1298448"/>
            <a:ext cx="6492240" cy="1554480"/>
          </a:xfrm>
          <a:prstGeom prst="rect">
            <a:avLst/>
          </a:prstGeom>
          <a:noFill/>
          <a:ln/>
        </p:spPr>
        <p:txBody>
          <a:bodyPr wrap="square" lIns="0" tIns="0" rIns="0" bIns="0" rtlCol="0" anchor="ctr"/>
          <a:lstStyle/>
          <a:p>
            <a:pPr indent="0" marL="0">
              <a:lnSpc>
                <a:spcPts val="2100"/>
              </a:lnSpc>
              <a:buNone/>
            </a:pPr>
            <a:r>
              <a:rPr lang="en-US" sz="1400" dirty="0">
                <a:solidFill>
                  <a:srgbClr val="11211C"/>
                </a:solidFill>
              </a:rPr>
              <a:t>Ekipi i Koncepteve të Avancuara e formuloi si teori grafesh. Jepet një graf i paorientuar dhe i lidhur: kulmet janë blloqe ndërtimi, brinjët janë ndërveprime çift-çift. Kërkohet një renditje që tregon çfarë mund të montohet njëkohësisht, dhe që kodon një plan rekursiv për pjesën tjetër.</a:t>
            </a:r>
            <a:endParaRPr lang="en-US" sz="1400" dirty="0"/>
          </a:p>
        </p:txBody>
      </p:sp>
      <p:sp>
        <p:nvSpPr>
          <p:cNvPr id="4" name="Shape 2"/>
          <p:cNvSpPr/>
          <p:nvPr/>
        </p:nvSpPr>
        <p:spPr>
          <a:xfrm>
            <a:off x="566928" y="2980944"/>
            <a:ext cx="6492240" cy="1481328"/>
          </a:xfrm>
          <a:prstGeom prst="roundRect">
            <a:avLst>
              <a:gd name="adj" fmla="val 2469"/>
            </a:avLst>
          </a:prstGeom>
          <a:solidFill>
            <a:srgbClr val="EFF3F1"/>
          </a:solidFill>
          <a:ln w="6350">
            <a:solidFill>
              <a:srgbClr val="EFF3F1"/>
            </a:solidFill>
            <a:prstDash val="solid"/>
          </a:ln>
        </p:spPr>
      </p:sp>
      <p:sp>
        <p:nvSpPr>
          <p:cNvPr id="5" name="Text 3"/>
          <p:cNvSpPr txBox="1"/>
          <p:nvPr/>
        </p:nvSpPr>
        <p:spPr>
          <a:xfrm>
            <a:off x="804672" y="3127248"/>
            <a:ext cx="6035040" cy="237744"/>
          </a:xfrm>
          <a:prstGeom prst="rect">
            <a:avLst/>
          </a:prstGeom>
          <a:noFill/>
          <a:ln/>
        </p:spPr>
        <p:txBody>
          <a:bodyPr wrap="square" lIns="0" tIns="0" rIns="0" bIns="0" rtlCol="0" anchor="ctr"/>
          <a:lstStyle/>
          <a:p>
            <a:pPr indent="0" marL="0">
              <a:buNone/>
            </a:pPr>
            <a:r>
              <a:rPr lang="en-US" sz="1100" b="1" spc="100" kern="0" dirty="0">
                <a:solidFill>
                  <a:srgbClr val="2A5247"/>
                </a:solidFill>
              </a:rPr>
              <a:t>Pse i intereson një informaticieni</a:t>
            </a:r>
            <a:endParaRPr lang="en-US" sz="1100" dirty="0"/>
          </a:p>
        </p:txBody>
      </p:sp>
      <p:sp>
        <p:nvSpPr>
          <p:cNvPr id="6" name="Text 4"/>
          <p:cNvSpPr txBox="1"/>
          <p:nvPr/>
        </p:nvSpPr>
        <p:spPr>
          <a:xfrm>
            <a:off x="804672" y="3419856"/>
            <a:ext cx="6035040" cy="914400"/>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Hiqe tregimin dhe mbetet renditja e eliminimit me mbushje: objekti që qëndron nën gjërësinë e pemës, nën Cholesky-n e rrallë dhe nën eliminimin e variablave në përfundimin probabilitar.</a:t>
            </a:r>
            <a:endParaRPr lang="en-US" sz="1250" dirty="0"/>
          </a:p>
        </p:txBody>
      </p:sp>
      <p:sp>
        <p:nvSpPr>
          <p:cNvPr id="7" name="Shape 5"/>
          <p:cNvSpPr/>
          <p:nvPr/>
        </p:nvSpPr>
        <p:spPr>
          <a:xfrm>
            <a:off x="7452360" y="1298448"/>
            <a:ext cx="4169664" cy="3163824"/>
          </a:xfrm>
          <a:prstGeom prst="roundRect">
            <a:avLst>
              <a:gd name="adj" fmla="val 1156"/>
            </a:avLst>
          </a:prstGeom>
          <a:solidFill>
            <a:srgbClr val="1F3A33"/>
          </a:solidFill>
          <a:ln w="6350">
            <a:solidFill>
              <a:srgbClr val="1F3A33"/>
            </a:solidFill>
            <a:prstDash val="solid"/>
          </a:ln>
        </p:spPr>
      </p:sp>
      <p:sp>
        <p:nvSpPr>
          <p:cNvPr id="8" name="Text 6"/>
          <p:cNvSpPr txBox="1"/>
          <p:nvPr/>
        </p:nvSpPr>
        <p:spPr>
          <a:xfrm>
            <a:off x="7699248" y="1499616"/>
            <a:ext cx="3657600" cy="274320"/>
          </a:xfrm>
          <a:prstGeom prst="rect">
            <a:avLst/>
          </a:prstGeom>
          <a:noFill/>
          <a:ln/>
        </p:spPr>
        <p:txBody>
          <a:bodyPr wrap="square" lIns="0" tIns="0" rIns="0" bIns="0" rtlCol="0" anchor="ctr"/>
          <a:lstStyle/>
          <a:p>
            <a:pPr indent="0" marL="0">
              <a:buNone/>
            </a:pPr>
            <a:r>
              <a:rPr lang="en-US" sz="1100" b="1" spc="100" kern="0" dirty="0">
                <a:solidFill>
                  <a:srgbClr val="8FB8A6"/>
                </a:solidFill>
              </a:rPr>
              <a:t>Çfarë dorëzohet</a:t>
            </a:r>
            <a:endParaRPr lang="en-US" sz="1100" dirty="0"/>
          </a:p>
        </p:txBody>
      </p:sp>
      <p:sp>
        <p:nvSpPr>
          <p:cNvPr id="9" name="Text 7"/>
          <p:cNvSpPr txBox="1"/>
          <p:nvPr/>
        </p:nvSpPr>
        <p:spPr>
          <a:xfrm>
            <a:off x="7699248" y="1901952"/>
            <a:ext cx="274320" cy="274320"/>
          </a:xfrm>
          <a:prstGeom prst="rect">
            <a:avLst/>
          </a:prstGeom>
          <a:noFill/>
          <a:ln/>
        </p:spPr>
        <p:txBody>
          <a:bodyPr wrap="square" lIns="0" tIns="0" rIns="0" bIns="0" rtlCol="0" anchor="ctr"/>
          <a:lstStyle/>
          <a:p>
            <a:pPr indent="0" marL="0">
              <a:buNone/>
            </a:pPr>
            <a:r>
              <a:rPr lang="en-US" sz="1500" dirty="0">
                <a:solidFill>
                  <a:srgbClr val="3E8E72"/>
                </a:solidFill>
              </a:rPr>
              <a:t>·</a:t>
            </a:r>
            <a:endParaRPr lang="en-US" sz="1500" dirty="0"/>
          </a:p>
        </p:txBody>
      </p:sp>
      <p:sp>
        <p:nvSpPr>
          <p:cNvPr id="10" name="Text 8"/>
          <p:cNvSpPr txBox="1"/>
          <p:nvPr/>
        </p:nvSpPr>
        <p:spPr>
          <a:xfrm>
            <a:off x="7991856" y="1856232"/>
            <a:ext cx="3438144" cy="566928"/>
          </a:xfrm>
          <a:prstGeom prst="rect">
            <a:avLst/>
          </a:prstGeom>
          <a:noFill/>
          <a:ln/>
        </p:spPr>
        <p:txBody>
          <a:bodyPr wrap="square" lIns="0" tIns="0" rIns="0" bIns="0" rtlCol="0" anchor="ctr"/>
          <a:lstStyle/>
          <a:p>
            <a:pPr indent="0" marL="0">
              <a:lnSpc>
                <a:spcPts val="1800"/>
              </a:lnSpc>
              <a:buNone/>
            </a:pPr>
            <a:r>
              <a:rPr lang="en-US" sz="1250" dirty="0">
                <a:solidFill>
                  <a:srgbClr val="FFFFFF"/>
                </a:solidFill>
              </a:rPr>
              <a:t>Një permutacion i të gjitha n kulmeve, p₁ … pₙ</a:t>
            </a:r>
            <a:endParaRPr lang="en-US" sz="1250" dirty="0"/>
          </a:p>
        </p:txBody>
      </p:sp>
      <p:sp>
        <p:nvSpPr>
          <p:cNvPr id="11" name="Text 9"/>
          <p:cNvSpPr txBox="1"/>
          <p:nvPr/>
        </p:nvSpPr>
        <p:spPr>
          <a:xfrm>
            <a:off x="7699248" y="2542032"/>
            <a:ext cx="274320" cy="274320"/>
          </a:xfrm>
          <a:prstGeom prst="rect">
            <a:avLst/>
          </a:prstGeom>
          <a:noFill/>
          <a:ln/>
        </p:spPr>
        <p:txBody>
          <a:bodyPr wrap="square" lIns="0" tIns="0" rIns="0" bIns="0" rtlCol="0" anchor="ctr"/>
          <a:lstStyle/>
          <a:p>
            <a:pPr indent="0" marL="0">
              <a:buNone/>
            </a:pPr>
            <a:r>
              <a:rPr lang="en-US" sz="1500" dirty="0">
                <a:solidFill>
                  <a:srgbClr val="3E8E72"/>
                </a:solidFill>
              </a:rPr>
              <a:t>·</a:t>
            </a:r>
            <a:endParaRPr lang="en-US" sz="1500" dirty="0"/>
          </a:p>
        </p:txBody>
      </p:sp>
      <p:sp>
        <p:nvSpPr>
          <p:cNvPr id="12" name="Text 10"/>
          <p:cNvSpPr txBox="1"/>
          <p:nvPr/>
        </p:nvSpPr>
        <p:spPr>
          <a:xfrm>
            <a:off x="7991856" y="2496312"/>
            <a:ext cx="3438144" cy="566928"/>
          </a:xfrm>
          <a:prstGeom prst="rect">
            <a:avLst/>
          </a:prstGeom>
          <a:noFill/>
          <a:ln/>
        </p:spPr>
        <p:txBody>
          <a:bodyPr wrap="square" lIns="0" tIns="0" rIns="0" bIns="0" rtlCol="0" anchor="ctr"/>
          <a:lstStyle/>
          <a:p>
            <a:pPr indent="0" marL="0">
              <a:lnSpc>
                <a:spcPts val="1800"/>
              </a:lnSpc>
              <a:buNone/>
            </a:pPr>
            <a:r>
              <a:rPr lang="en-US" sz="1250" dirty="0">
                <a:solidFill>
                  <a:srgbClr val="FFFFFF"/>
                </a:solidFill>
              </a:rPr>
              <a:t>plus një prag t ∈ {0 … n−1}</a:t>
            </a:r>
            <a:endParaRPr lang="en-US" sz="1250" dirty="0"/>
          </a:p>
        </p:txBody>
      </p:sp>
      <p:sp>
        <p:nvSpPr>
          <p:cNvPr id="13" name="Text 11"/>
          <p:cNvSpPr txBox="1"/>
          <p:nvPr/>
        </p:nvSpPr>
        <p:spPr>
          <a:xfrm>
            <a:off x="7699248" y="3182112"/>
            <a:ext cx="274320" cy="274320"/>
          </a:xfrm>
          <a:prstGeom prst="rect">
            <a:avLst/>
          </a:prstGeom>
          <a:noFill/>
          <a:ln/>
        </p:spPr>
        <p:txBody>
          <a:bodyPr wrap="square" lIns="0" tIns="0" rIns="0" bIns="0" rtlCol="0" anchor="ctr"/>
          <a:lstStyle/>
          <a:p>
            <a:pPr indent="0" marL="0">
              <a:buNone/>
            </a:pPr>
            <a:r>
              <a:rPr lang="en-US" sz="1500" dirty="0">
                <a:solidFill>
                  <a:srgbClr val="3E8E72"/>
                </a:solidFill>
              </a:rPr>
              <a:t>·</a:t>
            </a:r>
            <a:endParaRPr lang="en-US" sz="1500" dirty="0"/>
          </a:p>
        </p:txBody>
      </p:sp>
      <p:sp>
        <p:nvSpPr>
          <p:cNvPr id="14" name="Text 12"/>
          <p:cNvSpPr txBox="1"/>
          <p:nvPr/>
        </p:nvSpPr>
        <p:spPr>
          <a:xfrm>
            <a:off x="7991856" y="3136392"/>
            <a:ext cx="3438144" cy="566928"/>
          </a:xfrm>
          <a:prstGeom prst="rect">
            <a:avLst/>
          </a:prstGeom>
          <a:noFill/>
          <a:ln/>
        </p:spPr>
        <p:txBody>
          <a:bodyPr wrap="square" lIns="0" tIns="0" rIns="0" bIns="0" rtlCol="0" anchor="ctr"/>
          <a:lstStyle/>
          <a:p>
            <a:pPr indent="0" marL="0">
              <a:lnSpc>
                <a:spcPts val="1800"/>
              </a:lnSpc>
              <a:buNone/>
            </a:pPr>
            <a:r>
              <a:rPr lang="en-US" sz="1250" dirty="0">
                <a:solidFill>
                  <a:srgbClr val="FFFFFF"/>
                </a:solidFill>
              </a:rPr>
              <a:t>deri në 20 vektorë të tillë për instancë</a:t>
            </a:r>
            <a:endParaRPr lang="en-US" sz="1250" dirty="0"/>
          </a:p>
        </p:txBody>
      </p:sp>
      <p:sp>
        <p:nvSpPr>
          <p:cNvPr id="15" name="Text 13"/>
          <p:cNvSpPr txBox="1"/>
          <p:nvPr/>
        </p:nvSpPr>
        <p:spPr>
          <a:xfrm>
            <a:off x="7699248" y="3895344"/>
            <a:ext cx="3749040" cy="310896"/>
          </a:xfrm>
          <a:prstGeom prst="rect">
            <a:avLst/>
          </a:prstGeom>
          <a:noFill/>
          <a:ln/>
        </p:spPr>
        <p:txBody>
          <a:bodyPr wrap="square" lIns="0" tIns="0" rIns="0" bIns="0" rtlCol="0" anchor="ctr"/>
          <a:lstStyle/>
          <a:p>
            <a:pPr indent="0" marL="0">
              <a:buNone/>
            </a:pPr>
            <a:r>
              <a:rPr lang="en-US" sz="1350" dirty="0">
                <a:solidFill>
                  <a:srgbClr val="8FB8A6"/>
                </a:solidFill>
                <a:latin typeface="Courier New" pitchFamily="34" charset="0"/>
                <a:ea typeface="Courier New" pitchFamily="34" charset="-122"/>
                <a:cs typeface="Courier New" pitchFamily="34" charset="-120"/>
              </a:rPr>
              <a:t>x = [ p₁, p₂, …, pₙ, t ]</a:t>
            </a:r>
            <a:endParaRPr lang="en-US" sz="1350" dirty="0"/>
          </a:p>
        </p:txBody>
      </p:sp>
      <p:sp>
        <p:nvSpPr>
          <p:cNvPr id="16" name="Text 14"/>
          <p:cNvSpPr txBox="1"/>
          <p:nvPr/>
        </p:nvSpPr>
        <p:spPr>
          <a:xfrm>
            <a:off x="566928" y="4718304"/>
            <a:ext cx="6492240" cy="237744"/>
          </a:xfrm>
          <a:prstGeom prst="rect">
            <a:avLst/>
          </a:prstGeom>
          <a:noFill/>
          <a:ln/>
        </p:spPr>
        <p:txBody>
          <a:bodyPr wrap="square" lIns="0" tIns="0" rIns="0" bIns="0" rtlCol="0" anchor="ctr"/>
          <a:lstStyle/>
          <a:p>
            <a:pPr indent="0" marL="0">
              <a:buNone/>
            </a:pPr>
            <a:r>
              <a:rPr lang="en-US" sz="1000" i="1" dirty="0">
                <a:solidFill>
                  <a:srgbClr val="6B7A75"/>
                </a:solidFill>
              </a:rPr>
              <a:t>Burimi: optimise.esa.int, SpOC 3, GECCO 2024</a:t>
            </a:r>
            <a:endParaRPr lang="en-US" sz="10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I gjithë mekanizmi, mbi shembullin dhjetë-kulmësh të vetë ESA-s</a:t>
            </a:r>
            <a:endParaRPr lang="en-US" sz="2600" dirty="0"/>
          </a:p>
        </p:txBody>
      </p:sp>
      <p:sp>
        <p:nvSpPr>
          <p:cNvPr id="3" name="Shape 1"/>
          <p:cNvSpPr/>
          <p:nvPr/>
        </p:nvSpPr>
        <p:spPr>
          <a:xfrm flipV="1">
            <a:off x="978408" y="2057400"/>
            <a:ext cx="1005840" cy="731520"/>
          </a:xfrm>
          <a:prstGeom prst="line">
            <a:avLst/>
          </a:prstGeom>
          <a:noFill/>
          <a:ln w="16510">
            <a:solidFill>
              <a:srgbClr val="6B7A75"/>
            </a:solidFill>
            <a:prstDash val="solid"/>
          </a:ln>
        </p:spPr>
      </p:sp>
      <p:sp>
        <p:nvSpPr>
          <p:cNvPr id="4" name="Shape 2"/>
          <p:cNvSpPr/>
          <p:nvPr/>
        </p:nvSpPr>
        <p:spPr>
          <a:xfrm>
            <a:off x="978408" y="2788920"/>
            <a:ext cx="1005840" cy="731520"/>
          </a:xfrm>
          <a:prstGeom prst="line">
            <a:avLst/>
          </a:prstGeom>
          <a:noFill/>
          <a:ln w="16510">
            <a:solidFill>
              <a:srgbClr val="6B7A75"/>
            </a:solidFill>
            <a:prstDash val="solid"/>
          </a:ln>
        </p:spPr>
      </p:sp>
      <p:sp>
        <p:nvSpPr>
          <p:cNvPr id="5" name="Shape 3"/>
          <p:cNvSpPr/>
          <p:nvPr/>
        </p:nvSpPr>
        <p:spPr>
          <a:xfrm>
            <a:off x="1984248" y="2057400"/>
            <a:ext cx="1097280" cy="914"/>
          </a:xfrm>
          <a:prstGeom prst="line">
            <a:avLst/>
          </a:prstGeom>
          <a:noFill/>
          <a:ln w="16510">
            <a:solidFill>
              <a:srgbClr val="6B7A75"/>
            </a:solidFill>
            <a:prstDash val="solid"/>
          </a:ln>
        </p:spPr>
      </p:sp>
      <p:sp>
        <p:nvSpPr>
          <p:cNvPr id="6" name="Shape 4"/>
          <p:cNvSpPr/>
          <p:nvPr/>
        </p:nvSpPr>
        <p:spPr>
          <a:xfrm>
            <a:off x="1984248" y="3520440"/>
            <a:ext cx="1097280" cy="914"/>
          </a:xfrm>
          <a:prstGeom prst="line">
            <a:avLst/>
          </a:prstGeom>
          <a:noFill/>
          <a:ln w="16510">
            <a:solidFill>
              <a:srgbClr val="6B7A75"/>
            </a:solidFill>
            <a:prstDash val="solid"/>
          </a:ln>
        </p:spPr>
      </p:sp>
      <p:sp>
        <p:nvSpPr>
          <p:cNvPr id="7" name="Shape 5"/>
          <p:cNvSpPr/>
          <p:nvPr/>
        </p:nvSpPr>
        <p:spPr>
          <a:xfrm flipH="1" flipV="1">
            <a:off x="3081528" y="3520440"/>
            <a:ext cx="1097280" cy="301752"/>
          </a:xfrm>
          <a:prstGeom prst="line">
            <a:avLst/>
          </a:prstGeom>
          <a:noFill/>
          <a:ln w="16510">
            <a:solidFill>
              <a:srgbClr val="6B7A75"/>
            </a:solidFill>
            <a:prstDash val="solid"/>
          </a:ln>
        </p:spPr>
      </p:sp>
      <p:sp>
        <p:nvSpPr>
          <p:cNvPr id="8" name="Shape 6"/>
          <p:cNvSpPr/>
          <p:nvPr/>
        </p:nvSpPr>
        <p:spPr>
          <a:xfrm>
            <a:off x="4178808" y="3822192"/>
            <a:ext cx="1005840" cy="246888"/>
          </a:xfrm>
          <a:prstGeom prst="line">
            <a:avLst/>
          </a:prstGeom>
          <a:noFill/>
          <a:ln w="16510">
            <a:solidFill>
              <a:srgbClr val="6B7A75"/>
            </a:solidFill>
            <a:prstDash val="solid"/>
          </a:ln>
        </p:spPr>
      </p:sp>
      <p:sp>
        <p:nvSpPr>
          <p:cNvPr id="9" name="Shape 7"/>
          <p:cNvSpPr/>
          <p:nvPr/>
        </p:nvSpPr>
        <p:spPr>
          <a:xfrm flipV="1">
            <a:off x="4178808" y="1499616"/>
            <a:ext cx="1005840" cy="256032"/>
          </a:xfrm>
          <a:prstGeom prst="line">
            <a:avLst/>
          </a:prstGeom>
          <a:noFill/>
          <a:ln w="16510">
            <a:solidFill>
              <a:srgbClr val="6B7A75"/>
            </a:solidFill>
            <a:prstDash val="solid"/>
          </a:ln>
        </p:spPr>
      </p:sp>
      <p:sp>
        <p:nvSpPr>
          <p:cNvPr id="10" name="Shape 8"/>
          <p:cNvSpPr/>
          <p:nvPr/>
        </p:nvSpPr>
        <p:spPr>
          <a:xfrm flipH="1">
            <a:off x="3081528" y="1755648"/>
            <a:ext cx="1097280" cy="301752"/>
          </a:xfrm>
          <a:prstGeom prst="line">
            <a:avLst/>
          </a:prstGeom>
          <a:noFill/>
          <a:ln w="16510">
            <a:solidFill>
              <a:srgbClr val="6B7A75"/>
            </a:solidFill>
            <a:prstDash val="solid"/>
          </a:ln>
        </p:spPr>
      </p:sp>
      <p:sp>
        <p:nvSpPr>
          <p:cNvPr id="11" name="Shape 9"/>
          <p:cNvSpPr/>
          <p:nvPr/>
        </p:nvSpPr>
        <p:spPr>
          <a:xfrm>
            <a:off x="4178808" y="1755648"/>
            <a:ext cx="1005840" cy="640080"/>
          </a:xfrm>
          <a:prstGeom prst="line">
            <a:avLst/>
          </a:prstGeom>
          <a:noFill/>
          <a:ln w="16510">
            <a:solidFill>
              <a:srgbClr val="6B7A75"/>
            </a:solidFill>
            <a:prstDash val="solid"/>
          </a:ln>
        </p:spPr>
      </p:sp>
      <p:sp>
        <p:nvSpPr>
          <p:cNvPr id="12" name="Shape 10"/>
          <p:cNvSpPr/>
          <p:nvPr/>
        </p:nvSpPr>
        <p:spPr>
          <a:xfrm>
            <a:off x="1984248" y="2057400"/>
            <a:ext cx="914" cy="1463040"/>
          </a:xfrm>
          <a:prstGeom prst="line">
            <a:avLst/>
          </a:prstGeom>
          <a:noFill/>
          <a:ln w="25400">
            <a:solidFill>
              <a:srgbClr val="C0603C"/>
            </a:solidFill>
            <a:prstDash val="dash"/>
          </a:ln>
        </p:spPr>
      </p:sp>
      <p:sp>
        <p:nvSpPr>
          <p:cNvPr id="13" name="Shape 11"/>
          <p:cNvSpPr/>
          <p:nvPr/>
        </p:nvSpPr>
        <p:spPr>
          <a:xfrm>
            <a:off x="822960" y="2633472"/>
            <a:ext cx="310896" cy="310896"/>
          </a:xfrm>
          <a:prstGeom prst="ellipse">
            <a:avLst/>
          </a:prstGeom>
          <a:solidFill>
            <a:srgbClr val="C0603C"/>
          </a:solidFill>
          <a:ln w="15240">
            <a:solidFill>
              <a:srgbClr val="C0603C"/>
            </a:solidFill>
            <a:prstDash val="solid"/>
          </a:ln>
        </p:spPr>
      </p:sp>
      <p:sp>
        <p:nvSpPr>
          <p:cNvPr id="14" name="Text 12"/>
          <p:cNvSpPr txBox="1"/>
          <p:nvPr/>
        </p:nvSpPr>
        <p:spPr>
          <a:xfrm>
            <a:off x="822960" y="2633472"/>
            <a:ext cx="310896" cy="310896"/>
          </a:xfrm>
          <a:prstGeom prst="rect">
            <a:avLst/>
          </a:prstGeom>
          <a:noFill/>
          <a:ln/>
        </p:spPr>
        <p:txBody>
          <a:bodyPr wrap="square" lIns="0" tIns="0" rIns="0" bIns="0" rtlCol="0" anchor="ctr"/>
          <a:lstStyle/>
          <a:p>
            <a:pPr algn="ctr" indent="0" marL="0">
              <a:buNone/>
            </a:pPr>
            <a:r>
              <a:rPr lang="en-US" sz="1050" b="1" dirty="0">
                <a:solidFill>
                  <a:srgbClr val="FFFFFF"/>
                </a:solidFill>
              </a:rPr>
              <a:t>0</a:t>
            </a:r>
            <a:endParaRPr lang="en-US" sz="1050" dirty="0"/>
          </a:p>
        </p:txBody>
      </p:sp>
      <p:sp>
        <p:nvSpPr>
          <p:cNvPr id="15" name="Shape 13"/>
          <p:cNvSpPr/>
          <p:nvPr/>
        </p:nvSpPr>
        <p:spPr>
          <a:xfrm>
            <a:off x="1828800" y="1901952"/>
            <a:ext cx="310896" cy="310896"/>
          </a:xfrm>
          <a:prstGeom prst="ellipse">
            <a:avLst/>
          </a:prstGeom>
          <a:solidFill>
            <a:srgbClr val="FFFFFF"/>
          </a:solidFill>
          <a:ln w="15240">
            <a:solidFill>
              <a:srgbClr val="11211C"/>
            </a:solidFill>
            <a:prstDash val="solid"/>
          </a:ln>
        </p:spPr>
      </p:sp>
      <p:sp>
        <p:nvSpPr>
          <p:cNvPr id="16" name="Text 14"/>
          <p:cNvSpPr txBox="1"/>
          <p:nvPr/>
        </p:nvSpPr>
        <p:spPr>
          <a:xfrm>
            <a:off x="1828800" y="1901952"/>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1</a:t>
            </a:r>
            <a:endParaRPr lang="en-US" sz="1050" dirty="0"/>
          </a:p>
        </p:txBody>
      </p:sp>
      <p:sp>
        <p:nvSpPr>
          <p:cNvPr id="17" name="Shape 15"/>
          <p:cNvSpPr/>
          <p:nvPr/>
        </p:nvSpPr>
        <p:spPr>
          <a:xfrm>
            <a:off x="1828800" y="3364992"/>
            <a:ext cx="310896" cy="310896"/>
          </a:xfrm>
          <a:prstGeom prst="ellipse">
            <a:avLst/>
          </a:prstGeom>
          <a:solidFill>
            <a:srgbClr val="FFFFFF"/>
          </a:solidFill>
          <a:ln w="15240">
            <a:solidFill>
              <a:srgbClr val="11211C"/>
            </a:solidFill>
            <a:prstDash val="solid"/>
          </a:ln>
        </p:spPr>
      </p:sp>
      <p:sp>
        <p:nvSpPr>
          <p:cNvPr id="18" name="Text 16"/>
          <p:cNvSpPr txBox="1"/>
          <p:nvPr/>
        </p:nvSpPr>
        <p:spPr>
          <a:xfrm>
            <a:off x="1828800" y="3364992"/>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2</a:t>
            </a:r>
            <a:endParaRPr lang="en-US" sz="1050" dirty="0"/>
          </a:p>
        </p:txBody>
      </p:sp>
      <p:sp>
        <p:nvSpPr>
          <p:cNvPr id="19" name="Shape 17"/>
          <p:cNvSpPr/>
          <p:nvPr/>
        </p:nvSpPr>
        <p:spPr>
          <a:xfrm>
            <a:off x="4023360" y="3666744"/>
            <a:ext cx="310896" cy="310896"/>
          </a:xfrm>
          <a:prstGeom prst="ellipse">
            <a:avLst/>
          </a:prstGeom>
          <a:solidFill>
            <a:srgbClr val="FFFFFF"/>
          </a:solidFill>
          <a:ln w="15240">
            <a:solidFill>
              <a:srgbClr val="11211C"/>
            </a:solidFill>
            <a:prstDash val="solid"/>
          </a:ln>
        </p:spPr>
      </p:sp>
      <p:sp>
        <p:nvSpPr>
          <p:cNvPr id="20" name="Text 18"/>
          <p:cNvSpPr txBox="1"/>
          <p:nvPr/>
        </p:nvSpPr>
        <p:spPr>
          <a:xfrm>
            <a:off x="4023360" y="3666744"/>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3</a:t>
            </a:r>
            <a:endParaRPr lang="en-US" sz="1050" dirty="0"/>
          </a:p>
        </p:txBody>
      </p:sp>
      <p:sp>
        <p:nvSpPr>
          <p:cNvPr id="21" name="Shape 19"/>
          <p:cNvSpPr/>
          <p:nvPr/>
        </p:nvSpPr>
        <p:spPr>
          <a:xfrm>
            <a:off x="4023360" y="1600200"/>
            <a:ext cx="310896" cy="310896"/>
          </a:xfrm>
          <a:prstGeom prst="ellipse">
            <a:avLst/>
          </a:prstGeom>
          <a:solidFill>
            <a:srgbClr val="FFFFFF"/>
          </a:solidFill>
          <a:ln w="15240">
            <a:solidFill>
              <a:srgbClr val="11211C"/>
            </a:solidFill>
            <a:prstDash val="solid"/>
          </a:ln>
        </p:spPr>
      </p:sp>
      <p:sp>
        <p:nvSpPr>
          <p:cNvPr id="22" name="Text 20"/>
          <p:cNvSpPr txBox="1"/>
          <p:nvPr/>
        </p:nvSpPr>
        <p:spPr>
          <a:xfrm>
            <a:off x="4023360" y="1600200"/>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4</a:t>
            </a:r>
            <a:endParaRPr lang="en-US" sz="1050" dirty="0"/>
          </a:p>
        </p:txBody>
      </p:sp>
      <p:sp>
        <p:nvSpPr>
          <p:cNvPr id="23" name="Shape 21"/>
          <p:cNvSpPr/>
          <p:nvPr/>
        </p:nvSpPr>
        <p:spPr>
          <a:xfrm>
            <a:off x="5029200" y="1344168"/>
            <a:ext cx="310896" cy="310896"/>
          </a:xfrm>
          <a:prstGeom prst="ellipse">
            <a:avLst/>
          </a:prstGeom>
          <a:solidFill>
            <a:srgbClr val="FFFFFF"/>
          </a:solidFill>
          <a:ln w="15240">
            <a:solidFill>
              <a:srgbClr val="11211C"/>
            </a:solidFill>
            <a:prstDash val="solid"/>
          </a:ln>
        </p:spPr>
      </p:sp>
      <p:sp>
        <p:nvSpPr>
          <p:cNvPr id="24" name="Text 22"/>
          <p:cNvSpPr txBox="1"/>
          <p:nvPr/>
        </p:nvSpPr>
        <p:spPr>
          <a:xfrm>
            <a:off x="5029200" y="1344168"/>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5</a:t>
            </a:r>
            <a:endParaRPr lang="en-US" sz="1050" dirty="0"/>
          </a:p>
        </p:txBody>
      </p:sp>
      <p:sp>
        <p:nvSpPr>
          <p:cNvPr id="25" name="Shape 23"/>
          <p:cNvSpPr/>
          <p:nvPr/>
        </p:nvSpPr>
        <p:spPr>
          <a:xfrm>
            <a:off x="2926080" y="1901952"/>
            <a:ext cx="310896" cy="310896"/>
          </a:xfrm>
          <a:prstGeom prst="ellipse">
            <a:avLst/>
          </a:prstGeom>
          <a:solidFill>
            <a:srgbClr val="FFFFFF"/>
          </a:solidFill>
          <a:ln w="15240">
            <a:solidFill>
              <a:srgbClr val="11211C"/>
            </a:solidFill>
            <a:prstDash val="solid"/>
          </a:ln>
        </p:spPr>
      </p:sp>
      <p:sp>
        <p:nvSpPr>
          <p:cNvPr id="26" name="Text 24"/>
          <p:cNvSpPr txBox="1"/>
          <p:nvPr/>
        </p:nvSpPr>
        <p:spPr>
          <a:xfrm>
            <a:off x="2926080" y="1901952"/>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6</a:t>
            </a:r>
            <a:endParaRPr lang="en-US" sz="1050" dirty="0"/>
          </a:p>
        </p:txBody>
      </p:sp>
      <p:sp>
        <p:nvSpPr>
          <p:cNvPr id="27" name="Shape 25"/>
          <p:cNvSpPr/>
          <p:nvPr/>
        </p:nvSpPr>
        <p:spPr>
          <a:xfrm>
            <a:off x="5029200" y="2240280"/>
            <a:ext cx="310896" cy="310896"/>
          </a:xfrm>
          <a:prstGeom prst="ellipse">
            <a:avLst/>
          </a:prstGeom>
          <a:solidFill>
            <a:srgbClr val="FFFFFF"/>
          </a:solidFill>
          <a:ln w="15240">
            <a:solidFill>
              <a:srgbClr val="11211C"/>
            </a:solidFill>
            <a:prstDash val="solid"/>
          </a:ln>
        </p:spPr>
      </p:sp>
      <p:sp>
        <p:nvSpPr>
          <p:cNvPr id="28" name="Text 26"/>
          <p:cNvSpPr txBox="1"/>
          <p:nvPr/>
        </p:nvSpPr>
        <p:spPr>
          <a:xfrm>
            <a:off x="5029200" y="2240280"/>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7</a:t>
            </a:r>
            <a:endParaRPr lang="en-US" sz="1050" dirty="0"/>
          </a:p>
        </p:txBody>
      </p:sp>
      <p:sp>
        <p:nvSpPr>
          <p:cNvPr id="29" name="Shape 27"/>
          <p:cNvSpPr/>
          <p:nvPr/>
        </p:nvSpPr>
        <p:spPr>
          <a:xfrm>
            <a:off x="2926080" y="3364992"/>
            <a:ext cx="310896" cy="310896"/>
          </a:xfrm>
          <a:prstGeom prst="ellipse">
            <a:avLst/>
          </a:prstGeom>
          <a:solidFill>
            <a:srgbClr val="FFFFFF"/>
          </a:solidFill>
          <a:ln w="15240">
            <a:solidFill>
              <a:srgbClr val="11211C"/>
            </a:solidFill>
            <a:prstDash val="solid"/>
          </a:ln>
        </p:spPr>
      </p:sp>
      <p:sp>
        <p:nvSpPr>
          <p:cNvPr id="30" name="Text 28"/>
          <p:cNvSpPr txBox="1"/>
          <p:nvPr/>
        </p:nvSpPr>
        <p:spPr>
          <a:xfrm>
            <a:off x="2926080" y="3364992"/>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8</a:t>
            </a:r>
            <a:endParaRPr lang="en-US" sz="1050" dirty="0"/>
          </a:p>
        </p:txBody>
      </p:sp>
      <p:sp>
        <p:nvSpPr>
          <p:cNvPr id="31" name="Shape 29"/>
          <p:cNvSpPr/>
          <p:nvPr/>
        </p:nvSpPr>
        <p:spPr>
          <a:xfrm>
            <a:off x="5029200" y="3913632"/>
            <a:ext cx="310896" cy="310896"/>
          </a:xfrm>
          <a:prstGeom prst="ellipse">
            <a:avLst/>
          </a:prstGeom>
          <a:solidFill>
            <a:srgbClr val="FFFFFF"/>
          </a:solidFill>
          <a:ln w="15240">
            <a:solidFill>
              <a:srgbClr val="11211C"/>
            </a:solidFill>
            <a:prstDash val="solid"/>
          </a:ln>
        </p:spPr>
      </p:sp>
      <p:sp>
        <p:nvSpPr>
          <p:cNvPr id="32" name="Text 30"/>
          <p:cNvSpPr txBox="1"/>
          <p:nvPr/>
        </p:nvSpPr>
        <p:spPr>
          <a:xfrm>
            <a:off x="5029200" y="3913632"/>
            <a:ext cx="310896" cy="310896"/>
          </a:xfrm>
          <a:prstGeom prst="rect">
            <a:avLst/>
          </a:prstGeom>
          <a:noFill/>
          <a:ln/>
        </p:spPr>
        <p:txBody>
          <a:bodyPr wrap="square" lIns="0" tIns="0" rIns="0" bIns="0" rtlCol="0" anchor="ctr"/>
          <a:lstStyle/>
          <a:p>
            <a:pPr algn="ctr" indent="0" marL="0">
              <a:buNone/>
            </a:pPr>
            <a:r>
              <a:rPr lang="en-US" sz="1050" b="1" dirty="0">
                <a:solidFill>
                  <a:srgbClr val="11211C"/>
                </a:solidFill>
              </a:rPr>
              <a:t>9</a:t>
            </a:r>
            <a:endParaRPr lang="en-US" sz="1050" dirty="0"/>
          </a:p>
        </p:txBody>
      </p:sp>
      <p:sp>
        <p:nvSpPr>
          <p:cNvPr id="33" name="Text 31"/>
          <p:cNvSpPr txBox="1"/>
          <p:nvPr/>
        </p:nvSpPr>
        <p:spPr>
          <a:xfrm>
            <a:off x="566928" y="4553712"/>
            <a:ext cx="5394960" cy="237744"/>
          </a:xfrm>
          <a:prstGeom prst="rect">
            <a:avLst/>
          </a:prstGeom>
          <a:noFill/>
          <a:ln/>
        </p:spPr>
        <p:txBody>
          <a:bodyPr wrap="square" lIns="0" tIns="0" rIns="0" bIns="0" rtlCol="0" anchor="ctr"/>
          <a:lstStyle/>
          <a:p>
            <a:pPr indent="0" marL="0">
              <a:buNone/>
            </a:pPr>
            <a:r>
              <a:rPr lang="en-US" sz="1150" b="1" dirty="0">
                <a:solidFill>
                  <a:srgbClr val="C0603C"/>
                </a:solidFill>
              </a:rPr>
              <a:t>2 · Eliminimi i një kulmi bashkon fqinjët e tij dalës</a:t>
            </a:r>
            <a:endParaRPr lang="en-US" sz="1150" dirty="0"/>
          </a:p>
        </p:txBody>
      </p:sp>
      <p:sp>
        <p:nvSpPr>
          <p:cNvPr id="34" name="Text 32"/>
          <p:cNvSpPr txBox="1"/>
          <p:nvPr/>
        </p:nvSpPr>
        <p:spPr>
          <a:xfrm>
            <a:off x="566928" y="4828032"/>
            <a:ext cx="5394960" cy="768096"/>
          </a:xfrm>
          <a:prstGeom prst="rect">
            <a:avLst/>
          </a:prstGeom>
          <a:noFill/>
          <a:ln/>
        </p:spPr>
        <p:txBody>
          <a:bodyPr wrap="square" lIns="0" tIns="0" rIns="0" bIns="0" rtlCol="0" anchor="ctr"/>
          <a:lstStyle/>
          <a:p>
            <a:pPr indent="0" marL="0">
              <a:lnSpc>
                <a:spcPts val="1700"/>
              </a:lnSpc>
              <a:buNone/>
            </a:pPr>
            <a:r>
              <a:rPr lang="en-US" sz="1150" dirty="0">
                <a:solidFill>
                  <a:srgbClr val="11211C"/>
                </a:solidFill>
              </a:rPr>
              <a:t>Skano nga e majta në të djathtë. Kulmi 0 shkon te 1 dhe 2, që nuk janë fqinjë, prandaj futet brinja {1,2}. Në këtë shembull shfaqen nëntë brinjë të tilla mbushëse.</a:t>
            </a:r>
            <a:endParaRPr lang="en-US" sz="1150" dirty="0"/>
          </a:p>
        </p:txBody>
      </p:sp>
      <p:sp>
        <p:nvSpPr>
          <p:cNvPr id="35" name="Text 33"/>
          <p:cNvSpPr txBox="1"/>
          <p:nvPr/>
        </p:nvSpPr>
        <p:spPr>
          <a:xfrm>
            <a:off x="6355080" y="1371600"/>
            <a:ext cx="5285232" cy="237744"/>
          </a:xfrm>
          <a:prstGeom prst="rect">
            <a:avLst/>
          </a:prstGeom>
          <a:noFill/>
          <a:ln/>
        </p:spPr>
        <p:txBody>
          <a:bodyPr wrap="square" lIns="0" tIns="0" rIns="0" bIns="0" rtlCol="0" anchor="ctr"/>
          <a:lstStyle/>
          <a:p>
            <a:pPr indent="0" marL="0">
              <a:buNone/>
            </a:pPr>
            <a:r>
              <a:rPr lang="en-US" sz="1150" b="1" dirty="0">
                <a:solidFill>
                  <a:srgbClr val="2A5247"/>
                </a:solidFill>
              </a:rPr>
              <a:t>1 · Renditja orienton çdo brinjë</a:t>
            </a:r>
            <a:endParaRPr lang="en-US" sz="1150" dirty="0"/>
          </a:p>
        </p:txBody>
      </p:sp>
      <p:sp>
        <p:nvSpPr>
          <p:cNvPr id="36" name="Text 34"/>
          <p:cNvSpPr txBox="1"/>
          <p:nvPr/>
        </p:nvSpPr>
        <p:spPr>
          <a:xfrm>
            <a:off x="6355080" y="1645920"/>
            <a:ext cx="5285232" cy="274320"/>
          </a:xfrm>
          <a:prstGeom prst="rect">
            <a:avLst/>
          </a:prstGeom>
          <a:noFill/>
          <a:ln/>
        </p:spPr>
        <p:txBody>
          <a:bodyPr wrap="square" lIns="0" tIns="0" rIns="0" bIns="0" rtlCol="0" anchor="ctr"/>
          <a:lstStyle/>
          <a:p>
            <a:pPr indent="0" marL="0">
              <a:buNone/>
            </a:pPr>
            <a:r>
              <a:rPr lang="en-US" sz="1150" dirty="0">
                <a:solidFill>
                  <a:srgbClr val="11211C"/>
                </a:solidFill>
              </a:rPr>
              <a:t>{u,v} shkon u → v kur u vjen i pari në permutacion.</a:t>
            </a:r>
            <a:endParaRPr lang="en-US" sz="1150" dirty="0"/>
          </a:p>
        </p:txBody>
      </p:sp>
      <p:sp>
        <p:nvSpPr>
          <p:cNvPr id="37" name="Text 35"/>
          <p:cNvSpPr txBox="1"/>
          <p:nvPr/>
        </p:nvSpPr>
        <p:spPr>
          <a:xfrm>
            <a:off x="6355080" y="2103120"/>
            <a:ext cx="5285232" cy="219456"/>
          </a:xfrm>
          <a:prstGeom prst="rect">
            <a:avLst/>
          </a:prstGeom>
          <a:noFill/>
          <a:ln/>
        </p:spPr>
        <p:txBody>
          <a:bodyPr wrap="square" lIns="0" tIns="0" rIns="0" bIns="0" rtlCol="0" anchor="ctr"/>
          <a:lstStyle/>
          <a:p>
            <a:pPr indent="0" marL="0">
              <a:buNone/>
            </a:pPr>
            <a:r>
              <a:rPr lang="en-US" sz="1000" dirty="0">
                <a:solidFill>
                  <a:srgbClr val="6B7A75"/>
                </a:solidFill>
              </a:rPr>
              <a:t>permutacioni →</a:t>
            </a:r>
            <a:endParaRPr lang="en-US" sz="1000" dirty="0"/>
          </a:p>
        </p:txBody>
      </p:sp>
      <p:sp>
        <p:nvSpPr>
          <p:cNvPr id="38" name="Shape 36"/>
          <p:cNvSpPr/>
          <p:nvPr/>
        </p:nvSpPr>
        <p:spPr>
          <a:xfrm>
            <a:off x="9526219" y="2359152"/>
            <a:ext cx="2114093" cy="512064"/>
          </a:xfrm>
          <a:prstGeom prst="rect">
            <a:avLst/>
          </a:prstGeom>
          <a:solidFill>
            <a:srgbClr val="EFF3F1"/>
          </a:solidFill>
          <a:ln w="16510">
            <a:solidFill>
              <a:srgbClr val="3E8E72"/>
            </a:solidFill>
            <a:prstDash val="solid"/>
          </a:ln>
        </p:spPr>
      </p:sp>
      <p:sp>
        <p:nvSpPr>
          <p:cNvPr id="39" name="Text 37"/>
          <p:cNvSpPr txBox="1"/>
          <p:nvPr/>
        </p:nvSpPr>
        <p:spPr>
          <a:xfrm>
            <a:off x="6355080" y="2359152"/>
            <a:ext cx="528523" cy="512064"/>
          </a:xfrm>
          <a:prstGeom prst="rect">
            <a:avLst/>
          </a:prstGeom>
          <a:noFill/>
          <a:ln/>
        </p:spPr>
        <p:txBody>
          <a:bodyPr wrap="square" lIns="0" tIns="0" rIns="0" bIns="0" rtlCol="0" anchor="ctr"/>
          <a:lstStyle/>
          <a:p>
            <a:pPr algn="ctr" indent="0" marL="0">
              <a:buNone/>
            </a:pPr>
            <a:r>
              <a:rPr lang="en-US" sz="1300" dirty="0">
                <a:solidFill>
                  <a:srgbClr val="11211C"/>
                </a:solidFill>
              </a:rPr>
              <a:t>0</a:t>
            </a:r>
            <a:endParaRPr lang="en-US" sz="1300" dirty="0"/>
          </a:p>
        </p:txBody>
      </p:sp>
      <p:sp>
        <p:nvSpPr>
          <p:cNvPr id="40" name="Text 38"/>
          <p:cNvSpPr txBox="1"/>
          <p:nvPr/>
        </p:nvSpPr>
        <p:spPr>
          <a:xfrm>
            <a:off x="6883603" y="2359152"/>
            <a:ext cx="528523" cy="512064"/>
          </a:xfrm>
          <a:prstGeom prst="rect">
            <a:avLst/>
          </a:prstGeom>
          <a:noFill/>
          <a:ln/>
        </p:spPr>
        <p:txBody>
          <a:bodyPr wrap="square" lIns="0" tIns="0" rIns="0" bIns="0" rtlCol="0" anchor="ctr"/>
          <a:lstStyle/>
          <a:p>
            <a:pPr algn="ctr" indent="0" marL="0">
              <a:buNone/>
            </a:pPr>
            <a:r>
              <a:rPr lang="en-US" sz="1300" dirty="0">
                <a:solidFill>
                  <a:srgbClr val="11211C"/>
                </a:solidFill>
              </a:rPr>
              <a:t>1</a:t>
            </a:r>
            <a:endParaRPr lang="en-US" sz="1300" dirty="0"/>
          </a:p>
        </p:txBody>
      </p:sp>
      <p:sp>
        <p:nvSpPr>
          <p:cNvPr id="41" name="Text 39"/>
          <p:cNvSpPr txBox="1"/>
          <p:nvPr/>
        </p:nvSpPr>
        <p:spPr>
          <a:xfrm>
            <a:off x="7412126" y="2359152"/>
            <a:ext cx="528523" cy="512064"/>
          </a:xfrm>
          <a:prstGeom prst="rect">
            <a:avLst/>
          </a:prstGeom>
          <a:noFill/>
          <a:ln/>
        </p:spPr>
        <p:txBody>
          <a:bodyPr wrap="square" lIns="0" tIns="0" rIns="0" bIns="0" rtlCol="0" anchor="ctr"/>
          <a:lstStyle/>
          <a:p>
            <a:pPr algn="ctr" indent="0" marL="0">
              <a:buNone/>
            </a:pPr>
            <a:r>
              <a:rPr lang="en-US" sz="1300" dirty="0">
                <a:solidFill>
                  <a:srgbClr val="11211C"/>
                </a:solidFill>
              </a:rPr>
              <a:t>2</a:t>
            </a:r>
            <a:endParaRPr lang="en-US" sz="1300" dirty="0"/>
          </a:p>
        </p:txBody>
      </p:sp>
      <p:sp>
        <p:nvSpPr>
          <p:cNvPr id="42" name="Text 40"/>
          <p:cNvSpPr txBox="1"/>
          <p:nvPr/>
        </p:nvSpPr>
        <p:spPr>
          <a:xfrm>
            <a:off x="7940650" y="2359152"/>
            <a:ext cx="528523" cy="512064"/>
          </a:xfrm>
          <a:prstGeom prst="rect">
            <a:avLst/>
          </a:prstGeom>
          <a:noFill/>
          <a:ln/>
        </p:spPr>
        <p:txBody>
          <a:bodyPr wrap="square" lIns="0" tIns="0" rIns="0" bIns="0" rtlCol="0" anchor="ctr"/>
          <a:lstStyle/>
          <a:p>
            <a:pPr algn="ctr" indent="0" marL="0">
              <a:buNone/>
            </a:pPr>
            <a:r>
              <a:rPr lang="en-US" sz="1300" dirty="0">
                <a:solidFill>
                  <a:srgbClr val="11211C"/>
                </a:solidFill>
              </a:rPr>
              <a:t>4</a:t>
            </a:r>
            <a:endParaRPr lang="en-US" sz="1300" dirty="0"/>
          </a:p>
        </p:txBody>
      </p:sp>
      <p:sp>
        <p:nvSpPr>
          <p:cNvPr id="43" name="Text 41"/>
          <p:cNvSpPr txBox="1"/>
          <p:nvPr/>
        </p:nvSpPr>
        <p:spPr>
          <a:xfrm>
            <a:off x="8469173" y="2359152"/>
            <a:ext cx="528523" cy="512064"/>
          </a:xfrm>
          <a:prstGeom prst="rect">
            <a:avLst/>
          </a:prstGeom>
          <a:noFill/>
          <a:ln/>
        </p:spPr>
        <p:txBody>
          <a:bodyPr wrap="square" lIns="0" tIns="0" rIns="0" bIns="0" rtlCol="0" anchor="ctr"/>
          <a:lstStyle/>
          <a:p>
            <a:pPr algn="ctr" indent="0" marL="0">
              <a:buNone/>
            </a:pPr>
            <a:r>
              <a:rPr lang="en-US" sz="1300" dirty="0">
                <a:solidFill>
                  <a:srgbClr val="11211C"/>
                </a:solidFill>
              </a:rPr>
              <a:t>5</a:t>
            </a:r>
            <a:endParaRPr lang="en-US" sz="1300" dirty="0"/>
          </a:p>
        </p:txBody>
      </p:sp>
      <p:sp>
        <p:nvSpPr>
          <p:cNvPr id="44" name="Text 42"/>
          <p:cNvSpPr txBox="1"/>
          <p:nvPr/>
        </p:nvSpPr>
        <p:spPr>
          <a:xfrm>
            <a:off x="8997696" y="2359152"/>
            <a:ext cx="528523" cy="512064"/>
          </a:xfrm>
          <a:prstGeom prst="rect">
            <a:avLst/>
          </a:prstGeom>
          <a:noFill/>
          <a:ln/>
        </p:spPr>
        <p:txBody>
          <a:bodyPr wrap="square" lIns="0" tIns="0" rIns="0" bIns="0" rtlCol="0" anchor="ctr"/>
          <a:lstStyle/>
          <a:p>
            <a:pPr algn="ctr" indent="0" marL="0">
              <a:buNone/>
            </a:pPr>
            <a:r>
              <a:rPr lang="en-US" sz="1300" dirty="0">
                <a:solidFill>
                  <a:srgbClr val="11211C"/>
                </a:solidFill>
              </a:rPr>
              <a:t>3</a:t>
            </a:r>
            <a:endParaRPr lang="en-US" sz="1300" dirty="0"/>
          </a:p>
        </p:txBody>
      </p:sp>
      <p:sp>
        <p:nvSpPr>
          <p:cNvPr id="45" name="Text 43"/>
          <p:cNvSpPr txBox="1"/>
          <p:nvPr/>
        </p:nvSpPr>
        <p:spPr>
          <a:xfrm>
            <a:off x="9526219" y="2359152"/>
            <a:ext cx="528523" cy="512064"/>
          </a:xfrm>
          <a:prstGeom prst="rect">
            <a:avLst/>
          </a:prstGeom>
          <a:noFill/>
          <a:ln/>
        </p:spPr>
        <p:txBody>
          <a:bodyPr wrap="square" lIns="0" tIns="0" rIns="0" bIns="0" rtlCol="0" anchor="ctr"/>
          <a:lstStyle/>
          <a:p>
            <a:pPr algn="ctr" indent="0" marL="0">
              <a:buNone/>
            </a:pPr>
            <a:r>
              <a:rPr lang="en-US" sz="1300" b="1" dirty="0">
                <a:solidFill>
                  <a:srgbClr val="2A5247"/>
                </a:solidFill>
              </a:rPr>
              <a:t>6</a:t>
            </a:r>
            <a:endParaRPr lang="en-US" sz="1300" dirty="0"/>
          </a:p>
        </p:txBody>
      </p:sp>
      <p:sp>
        <p:nvSpPr>
          <p:cNvPr id="46" name="Text 44"/>
          <p:cNvSpPr txBox="1"/>
          <p:nvPr/>
        </p:nvSpPr>
        <p:spPr>
          <a:xfrm>
            <a:off x="10054742" y="2359152"/>
            <a:ext cx="528523" cy="512064"/>
          </a:xfrm>
          <a:prstGeom prst="rect">
            <a:avLst/>
          </a:prstGeom>
          <a:noFill/>
          <a:ln/>
        </p:spPr>
        <p:txBody>
          <a:bodyPr wrap="square" lIns="0" tIns="0" rIns="0" bIns="0" rtlCol="0" anchor="ctr"/>
          <a:lstStyle/>
          <a:p>
            <a:pPr algn="ctr" indent="0" marL="0">
              <a:buNone/>
            </a:pPr>
            <a:r>
              <a:rPr lang="en-US" sz="1300" b="1" dirty="0">
                <a:solidFill>
                  <a:srgbClr val="2A5247"/>
                </a:solidFill>
              </a:rPr>
              <a:t>8</a:t>
            </a:r>
            <a:endParaRPr lang="en-US" sz="1300" dirty="0"/>
          </a:p>
        </p:txBody>
      </p:sp>
      <p:sp>
        <p:nvSpPr>
          <p:cNvPr id="47" name="Text 45"/>
          <p:cNvSpPr txBox="1"/>
          <p:nvPr/>
        </p:nvSpPr>
        <p:spPr>
          <a:xfrm>
            <a:off x="10583266" y="2359152"/>
            <a:ext cx="528523" cy="512064"/>
          </a:xfrm>
          <a:prstGeom prst="rect">
            <a:avLst/>
          </a:prstGeom>
          <a:noFill/>
          <a:ln/>
        </p:spPr>
        <p:txBody>
          <a:bodyPr wrap="square" lIns="0" tIns="0" rIns="0" bIns="0" rtlCol="0" anchor="ctr"/>
          <a:lstStyle/>
          <a:p>
            <a:pPr algn="ctr" indent="0" marL="0">
              <a:buNone/>
            </a:pPr>
            <a:r>
              <a:rPr lang="en-US" sz="1300" b="1" dirty="0">
                <a:solidFill>
                  <a:srgbClr val="2A5247"/>
                </a:solidFill>
              </a:rPr>
              <a:t>9</a:t>
            </a:r>
            <a:endParaRPr lang="en-US" sz="1300" dirty="0"/>
          </a:p>
        </p:txBody>
      </p:sp>
      <p:sp>
        <p:nvSpPr>
          <p:cNvPr id="48" name="Text 46"/>
          <p:cNvSpPr txBox="1"/>
          <p:nvPr/>
        </p:nvSpPr>
        <p:spPr>
          <a:xfrm>
            <a:off x="11111789" y="2359152"/>
            <a:ext cx="528523" cy="512064"/>
          </a:xfrm>
          <a:prstGeom prst="rect">
            <a:avLst/>
          </a:prstGeom>
          <a:noFill/>
          <a:ln/>
        </p:spPr>
        <p:txBody>
          <a:bodyPr wrap="square" lIns="0" tIns="0" rIns="0" bIns="0" rtlCol="0" anchor="ctr"/>
          <a:lstStyle/>
          <a:p>
            <a:pPr algn="ctr" indent="0" marL="0">
              <a:buNone/>
            </a:pPr>
            <a:r>
              <a:rPr lang="en-US" sz="1300" b="1" dirty="0">
                <a:solidFill>
                  <a:srgbClr val="2A5247"/>
                </a:solidFill>
              </a:rPr>
              <a:t>7</a:t>
            </a:r>
            <a:endParaRPr lang="en-US" sz="1300" dirty="0"/>
          </a:p>
        </p:txBody>
      </p:sp>
      <p:sp>
        <p:nvSpPr>
          <p:cNvPr id="49" name="Shape 47"/>
          <p:cNvSpPr/>
          <p:nvPr/>
        </p:nvSpPr>
        <p:spPr>
          <a:xfrm>
            <a:off x="6883603" y="2359152"/>
            <a:ext cx="914" cy="512064"/>
          </a:xfrm>
          <a:prstGeom prst="line">
            <a:avLst/>
          </a:prstGeom>
          <a:noFill/>
          <a:ln w="7620">
            <a:solidFill>
              <a:srgbClr val="D9E0DC"/>
            </a:solidFill>
            <a:prstDash val="solid"/>
          </a:ln>
        </p:spPr>
      </p:sp>
      <p:sp>
        <p:nvSpPr>
          <p:cNvPr id="50" name="Shape 48"/>
          <p:cNvSpPr/>
          <p:nvPr/>
        </p:nvSpPr>
        <p:spPr>
          <a:xfrm>
            <a:off x="7412126" y="2359152"/>
            <a:ext cx="914" cy="512064"/>
          </a:xfrm>
          <a:prstGeom prst="line">
            <a:avLst/>
          </a:prstGeom>
          <a:noFill/>
          <a:ln w="7620">
            <a:solidFill>
              <a:srgbClr val="D9E0DC"/>
            </a:solidFill>
            <a:prstDash val="solid"/>
          </a:ln>
        </p:spPr>
      </p:sp>
      <p:sp>
        <p:nvSpPr>
          <p:cNvPr id="51" name="Shape 49"/>
          <p:cNvSpPr/>
          <p:nvPr/>
        </p:nvSpPr>
        <p:spPr>
          <a:xfrm>
            <a:off x="7940650" y="2359152"/>
            <a:ext cx="914" cy="512064"/>
          </a:xfrm>
          <a:prstGeom prst="line">
            <a:avLst/>
          </a:prstGeom>
          <a:noFill/>
          <a:ln w="7620">
            <a:solidFill>
              <a:srgbClr val="D9E0DC"/>
            </a:solidFill>
            <a:prstDash val="solid"/>
          </a:ln>
        </p:spPr>
      </p:sp>
      <p:sp>
        <p:nvSpPr>
          <p:cNvPr id="52" name="Shape 50"/>
          <p:cNvSpPr/>
          <p:nvPr/>
        </p:nvSpPr>
        <p:spPr>
          <a:xfrm>
            <a:off x="8469173" y="2359152"/>
            <a:ext cx="914" cy="512064"/>
          </a:xfrm>
          <a:prstGeom prst="line">
            <a:avLst/>
          </a:prstGeom>
          <a:noFill/>
          <a:ln w="7620">
            <a:solidFill>
              <a:srgbClr val="D9E0DC"/>
            </a:solidFill>
            <a:prstDash val="solid"/>
          </a:ln>
        </p:spPr>
      </p:sp>
      <p:sp>
        <p:nvSpPr>
          <p:cNvPr id="53" name="Shape 51"/>
          <p:cNvSpPr/>
          <p:nvPr/>
        </p:nvSpPr>
        <p:spPr>
          <a:xfrm>
            <a:off x="8997696" y="2359152"/>
            <a:ext cx="914" cy="512064"/>
          </a:xfrm>
          <a:prstGeom prst="line">
            <a:avLst/>
          </a:prstGeom>
          <a:noFill/>
          <a:ln w="7620">
            <a:solidFill>
              <a:srgbClr val="D9E0DC"/>
            </a:solidFill>
            <a:prstDash val="solid"/>
          </a:ln>
        </p:spPr>
      </p:sp>
      <p:sp>
        <p:nvSpPr>
          <p:cNvPr id="54" name="Shape 52"/>
          <p:cNvSpPr/>
          <p:nvPr/>
        </p:nvSpPr>
        <p:spPr>
          <a:xfrm>
            <a:off x="9526219" y="2359152"/>
            <a:ext cx="914" cy="512064"/>
          </a:xfrm>
          <a:prstGeom prst="line">
            <a:avLst/>
          </a:prstGeom>
          <a:noFill/>
          <a:ln w="7620">
            <a:solidFill>
              <a:srgbClr val="D9E0DC"/>
            </a:solidFill>
            <a:prstDash val="solid"/>
          </a:ln>
        </p:spPr>
      </p:sp>
      <p:sp>
        <p:nvSpPr>
          <p:cNvPr id="55" name="Shape 53"/>
          <p:cNvSpPr/>
          <p:nvPr/>
        </p:nvSpPr>
        <p:spPr>
          <a:xfrm>
            <a:off x="10054742" y="2359152"/>
            <a:ext cx="914" cy="512064"/>
          </a:xfrm>
          <a:prstGeom prst="line">
            <a:avLst/>
          </a:prstGeom>
          <a:noFill/>
          <a:ln w="7620">
            <a:solidFill>
              <a:srgbClr val="D9E0DC"/>
            </a:solidFill>
            <a:prstDash val="solid"/>
          </a:ln>
        </p:spPr>
      </p:sp>
      <p:sp>
        <p:nvSpPr>
          <p:cNvPr id="56" name="Shape 54"/>
          <p:cNvSpPr/>
          <p:nvPr/>
        </p:nvSpPr>
        <p:spPr>
          <a:xfrm>
            <a:off x="10583266" y="2359152"/>
            <a:ext cx="914" cy="512064"/>
          </a:xfrm>
          <a:prstGeom prst="line">
            <a:avLst/>
          </a:prstGeom>
          <a:noFill/>
          <a:ln w="7620">
            <a:solidFill>
              <a:srgbClr val="D9E0DC"/>
            </a:solidFill>
            <a:prstDash val="solid"/>
          </a:ln>
        </p:spPr>
      </p:sp>
      <p:sp>
        <p:nvSpPr>
          <p:cNvPr id="57" name="Shape 55"/>
          <p:cNvSpPr/>
          <p:nvPr/>
        </p:nvSpPr>
        <p:spPr>
          <a:xfrm>
            <a:off x="11111789" y="2359152"/>
            <a:ext cx="914" cy="512064"/>
          </a:xfrm>
          <a:prstGeom prst="line">
            <a:avLst/>
          </a:prstGeom>
          <a:noFill/>
          <a:ln w="7620">
            <a:solidFill>
              <a:srgbClr val="D9E0DC"/>
            </a:solidFill>
            <a:prstDash val="solid"/>
          </a:ln>
        </p:spPr>
      </p:sp>
      <p:sp>
        <p:nvSpPr>
          <p:cNvPr id="58" name="Shape 56"/>
          <p:cNvSpPr/>
          <p:nvPr/>
        </p:nvSpPr>
        <p:spPr>
          <a:xfrm>
            <a:off x="6355080" y="2871216"/>
            <a:ext cx="5285232" cy="914"/>
          </a:xfrm>
          <a:prstGeom prst="line">
            <a:avLst/>
          </a:prstGeom>
          <a:noFill/>
          <a:ln w="11430">
            <a:solidFill>
              <a:srgbClr val="11211C"/>
            </a:solidFill>
            <a:prstDash val="solid"/>
          </a:ln>
        </p:spPr>
      </p:sp>
      <p:sp>
        <p:nvSpPr>
          <p:cNvPr id="59" name="Text 57"/>
          <p:cNvSpPr txBox="1"/>
          <p:nvPr/>
        </p:nvSpPr>
        <p:spPr>
          <a:xfrm>
            <a:off x="9069019" y="2907792"/>
            <a:ext cx="914400" cy="219456"/>
          </a:xfrm>
          <a:prstGeom prst="rect">
            <a:avLst/>
          </a:prstGeom>
          <a:noFill/>
          <a:ln/>
        </p:spPr>
        <p:txBody>
          <a:bodyPr wrap="square" lIns="0" tIns="0" rIns="0" bIns="0" rtlCol="0" anchor="ctr"/>
          <a:lstStyle/>
          <a:p>
            <a:pPr algn="ctr" indent="0" marL="0">
              <a:buNone/>
            </a:pPr>
            <a:r>
              <a:rPr lang="en-US" sz="1000" b="1" dirty="0">
                <a:solidFill>
                  <a:srgbClr val="C0603C"/>
                </a:solidFill>
              </a:rPr>
              <a:t>t = 6</a:t>
            </a:r>
            <a:endParaRPr lang="en-US" sz="1000" dirty="0"/>
          </a:p>
        </p:txBody>
      </p:sp>
      <p:sp>
        <p:nvSpPr>
          <p:cNvPr id="60" name="Text 58"/>
          <p:cNvSpPr txBox="1"/>
          <p:nvPr/>
        </p:nvSpPr>
        <p:spPr>
          <a:xfrm>
            <a:off x="9526219" y="3145536"/>
            <a:ext cx="2114093" cy="219456"/>
          </a:xfrm>
          <a:prstGeom prst="rect">
            <a:avLst/>
          </a:prstGeom>
          <a:noFill/>
          <a:ln/>
        </p:spPr>
        <p:txBody>
          <a:bodyPr wrap="square" lIns="0" tIns="0" rIns="0" bIns="0" rtlCol="0" anchor="ctr"/>
          <a:lstStyle/>
          <a:p>
            <a:pPr algn="ctr" indent="0" marL="0">
              <a:buNone/>
            </a:pPr>
            <a:r>
              <a:rPr lang="en-US" sz="1000" dirty="0">
                <a:solidFill>
                  <a:srgbClr val="2A5247"/>
                </a:solidFill>
              </a:rPr>
              <a:t>torso (n − t = 4)</a:t>
            </a:r>
            <a:endParaRPr lang="en-US" sz="1000" dirty="0"/>
          </a:p>
        </p:txBody>
      </p:sp>
      <p:sp>
        <p:nvSpPr>
          <p:cNvPr id="61" name="Text 59"/>
          <p:cNvSpPr txBox="1"/>
          <p:nvPr/>
        </p:nvSpPr>
        <p:spPr>
          <a:xfrm>
            <a:off x="6355080" y="3584448"/>
            <a:ext cx="5285232" cy="237744"/>
          </a:xfrm>
          <a:prstGeom prst="rect">
            <a:avLst/>
          </a:prstGeom>
          <a:noFill/>
          <a:ln/>
        </p:spPr>
        <p:txBody>
          <a:bodyPr wrap="square" lIns="0" tIns="0" rIns="0" bIns="0" rtlCol="0" anchor="ctr"/>
          <a:lstStyle/>
          <a:p>
            <a:pPr indent="0" marL="0">
              <a:buNone/>
            </a:pPr>
            <a:r>
              <a:rPr lang="en-US" sz="1150" b="1" dirty="0">
                <a:solidFill>
                  <a:srgbClr val="2A5247"/>
                </a:solidFill>
              </a:rPr>
              <a:t>3 · Kulmet e fundit n − t formojnë torson</a:t>
            </a:r>
            <a:endParaRPr lang="en-US" sz="1150" dirty="0"/>
          </a:p>
        </p:txBody>
      </p:sp>
      <p:sp>
        <p:nvSpPr>
          <p:cNvPr id="62" name="Text 60"/>
          <p:cNvSpPr txBox="1"/>
          <p:nvPr/>
        </p:nvSpPr>
        <p:spPr>
          <a:xfrm>
            <a:off x="6355080" y="3858768"/>
            <a:ext cx="5285232" cy="274320"/>
          </a:xfrm>
          <a:prstGeom prst="rect">
            <a:avLst/>
          </a:prstGeom>
          <a:noFill/>
          <a:ln/>
        </p:spPr>
        <p:txBody>
          <a:bodyPr wrap="square" lIns="0" tIns="0" rIns="0" bIns="0" rtlCol="0" anchor="ctr"/>
          <a:lstStyle/>
          <a:p>
            <a:pPr indent="0" marL="0">
              <a:buNone/>
            </a:pPr>
            <a:r>
              <a:rPr lang="en-US" sz="1150" dirty="0">
                <a:solidFill>
                  <a:srgbClr val="11211C"/>
                </a:solidFill>
              </a:rPr>
              <a:t>Gjërësia e saj është shkalla më e madhe dalëse brenda saj, duke përfshirë brinjët mbushëse.</a:t>
            </a:r>
            <a:endParaRPr lang="en-US" sz="1150" dirty="0"/>
          </a:p>
        </p:txBody>
      </p:sp>
      <p:sp>
        <p:nvSpPr>
          <p:cNvPr id="63" name="Shape 61"/>
          <p:cNvSpPr/>
          <p:nvPr/>
        </p:nvSpPr>
        <p:spPr>
          <a:xfrm>
            <a:off x="6355080" y="4315968"/>
            <a:ext cx="5285232" cy="1051560"/>
          </a:xfrm>
          <a:prstGeom prst="roundRect">
            <a:avLst>
              <a:gd name="adj" fmla="val 3478"/>
            </a:avLst>
          </a:prstGeom>
          <a:solidFill>
            <a:srgbClr val="1F3A33"/>
          </a:solidFill>
          <a:ln w="6350">
            <a:solidFill>
              <a:srgbClr val="1F3A33"/>
            </a:solidFill>
            <a:prstDash val="solid"/>
          </a:ln>
        </p:spPr>
      </p:sp>
      <p:sp>
        <p:nvSpPr>
          <p:cNvPr id="64" name="Text 62"/>
          <p:cNvSpPr txBox="1"/>
          <p:nvPr/>
        </p:nvSpPr>
        <p:spPr>
          <a:xfrm>
            <a:off x="6611112" y="4480560"/>
            <a:ext cx="4773168"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 = 6  →  madhësia e torsos 4,  gjërësia 2</a:t>
            </a:r>
            <a:endParaRPr lang="en-US" sz="1700" dirty="0"/>
          </a:p>
        </p:txBody>
      </p:sp>
      <p:sp>
        <p:nvSpPr>
          <p:cNvPr id="65" name="Text 63"/>
          <p:cNvSpPr txBox="1"/>
          <p:nvPr/>
        </p:nvSpPr>
        <p:spPr>
          <a:xfrm>
            <a:off x="6611112" y="4882896"/>
            <a:ext cx="4773168" cy="274320"/>
          </a:xfrm>
          <a:prstGeom prst="rect">
            <a:avLst/>
          </a:prstGeom>
          <a:noFill/>
          <a:ln/>
        </p:spPr>
        <p:txBody>
          <a:bodyPr wrap="square" lIns="0" tIns="0" rIns="0" bIns="0" rtlCol="0" anchor="ctr"/>
          <a:lstStyle/>
          <a:p>
            <a:pPr indent="0" marL="0">
              <a:buNone/>
            </a:pPr>
            <a:r>
              <a:rPr lang="en-US" sz="1050" i="1" dirty="0">
                <a:solidFill>
                  <a:srgbClr val="8FB8A6"/>
                </a:solidFill>
              </a:rPr>
              <a:t>E verifikuar kundër përgjigjes që jep vetë ESA për këtë vektor.</a:t>
            </a:r>
            <a:endParaRPr lang="en-US" sz="10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Dy objektiva, dhe një rezultat që është syprinë</a:t>
            </a:r>
            <a:endParaRPr lang="en-US" sz="2600" dirty="0"/>
          </a:p>
        </p:txBody>
      </p:sp>
      <p:sp>
        <p:nvSpPr>
          <p:cNvPr id="3" name="Shape 1"/>
          <p:cNvSpPr/>
          <p:nvPr/>
        </p:nvSpPr>
        <p:spPr>
          <a:xfrm>
            <a:off x="566928" y="1371600"/>
            <a:ext cx="274320" cy="274320"/>
          </a:xfrm>
          <a:prstGeom prst="ellipse">
            <a:avLst/>
          </a:prstGeom>
          <a:solidFill>
            <a:srgbClr val="3E8E72"/>
          </a:solidFill>
          <a:ln w="12700">
            <a:solidFill>
              <a:srgbClr val="3E8E72"/>
            </a:solidFill>
            <a:prstDash val="solid"/>
          </a:ln>
        </p:spPr>
      </p:sp>
      <p:sp>
        <p:nvSpPr>
          <p:cNvPr id="4" name="Text 2"/>
          <p:cNvSpPr txBox="1"/>
          <p:nvPr/>
        </p:nvSpPr>
        <p:spPr>
          <a:xfrm>
            <a:off x="566928" y="13716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5" name="Text 3"/>
          <p:cNvSpPr txBox="1"/>
          <p:nvPr/>
        </p:nvSpPr>
        <p:spPr>
          <a:xfrm>
            <a:off x="969264" y="1371600"/>
            <a:ext cx="2651760" cy="274320"/>
          </a:xfrm>
          <a:prstGeom prst="rect">
            <a:avLst/>
          </a:prstGeom>
          <a:noFill/>
          <a:ln/>
        </p:spPr>
        <p:txBody>
          <a:bodyPr wrap="square" lIns="0" tIns="0" rIns="0" bIns="0" rtlCol="0" anchor="ctr"/>
          <a:lstStyle/>
          <a:p>
            <a:pPr indent="0" marL="0">
              <a:buNone/>
            </a:pPr>
            <a:r>
              <a:rPr lang="en-US" sz="1400" b="1" dirty="0">
                <a:solidFill>
                  <a:srgbClr val="11211C"/>
                </a:solidFill>
              </a:rPr>
              <a:t>Maksimizo madhësinë e torsos</a:t>
            </a:r>
            <a:endParaRPr lang="en-US" sz="1400" dirty="0"/>
          </a:p>
        </p:txBody>
      </p:sp>
      <p:sp>
        <p:nvSpPr>
          <p:cNvPr id="6" name="Text 4"/>
          <p:cNvSpPr txBox="1"/>
          <p:nvPr/>
        </p:nvSpPr>
        <p:spPr>
          <a:xfrm>
            <a:off x="969264" y="1682496"/>
            <a:ext cx="2651760" cy="457200"/>
          </a:xfrm>
          <a:prstGeom prst="rect">
            <a:avLst/>
          </a:prstGeom>
          <a:noFill/>
          <a:ln/>
        </p:spPr>
        <p:txBody>
          <a:bodyPr wrap="square" lIns="0" tIns="0" rIns="0" bIns="0" rtlCol="0" anchor="ctr"/>
          <a:lstStyle/>
          <a:p>
            <a:pPr indent="0" marL="0">
              <a:lnSpc>
                <a:spcPts val="1600"/>
              </a:lnSpc>
              <a:buNone/>
            </a:pPr>
            <a:r>
              <a:rPr lang="en-US" sz="1200" dirty="0">
                <a:solidFill>
                  <a:srgbClr val="6B7A75"/>
                </a:solidFill>
              </a:rPr>
              <a:t>në mënyrë ekuivalente, minimizo t</a:t>
            </a:r>
            <a:endParaRPr lang="en-US" sz="1200" dirty="0"/>
          </a:p>
        </p:txBody>
      </p:sp>
      <p:sp>
        <p:nvSpPr>
          <p:cNvPr id="7" name="Shape 5"/>
          <p:cNvSpPr/>
          <p:nvPr/>
        </p:nvSpPr>
        <p:spPr>
          <a:xfrm>
            <a:off x="3785616" y="1371600"/>
            <a:ext cx="274320" cy="274320"/>
          </a:xfrm>
          <a:prstGeom prst="ellipse">
            <a:avLst/>
          </a:prstGeom>
          <a:solidFill>
            <a:srgbClr val="3E8E72"/>
          </a:solidFill>
          <a:ln w="12700">
            <a:solidFill>
              <a:srgbClr val="3E8E72"/>
            </a:solidFill>
            <a:prstDash val="solid"/>
          </a:ln>
        </p:spPr>
      </p:sp>
      <p:sp>
        <p:nvSpPr>
          <p:cNvPr id="8" name="Text 6"/>
          <p:cNvSpPr txBox="1"/>
          <p:nvPr/>
        </p:nvSpPr>
        <p:spPr>
          <a:xfrm>
            <a:off x="3785616" y="13716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9" name="Text 7"/>
          <p:cNvSpPr txBox="1"/>
          <p:nvPr/>
        </p:nvSpPr>
        <p:spPr>
          <a:xfrm>
            <a:off x="4187952" y="1371600"/>
            <a:ext cx="2651760" cy="274320"/>
          </a:xfrm>
          <a:prstGeom prst="rect">
            <a:avLst/>
          </a:prstGeom>
          <a:noFill/>
          <a:ln/>
        </p:spPr>
        <p:txBody>
          <a:bodyPr wrap="square" lIns="0" tIns="0" rIns="0" bIns="0" rtlCol="0" anchor="ctr"/>
          <a:lstStyle/>
          <a:p>
            <a:pPr indent="0" marL="0">
              <a:buNone/>
            </a:pPr>
            <a:r>
              <a:rPr lang="en-US" sz="1400" b="1" dirty="0">
                <a:solidFill>
                  <a:srgbClr val="11211C"/>
                </a:solidFill>
              </a:rPr>
              <a:t>Minimizo gjërësinë e torsos</a:t>
            </a:r>
            <a:endParaRPr lang="en-US" sz="1400" dirty="0"/>
          </a:p>
        </p:txBody>
      </p:sp>
      <p:sp>
        <p:nvSpPr>
          <p:cNvPr id="10" name="Text 8"/>
          <p:cNvSpPr txBox="1"/>
          <p:nvPr/>
        </p:nvSpPr>
        <p:spPr>
          <a:xfrm>
            <a:off x="4187952" y="1682496"/>
            <a:ext cx="2651760" cy="457200"/>
          </a:xfrm>
          <a:prstGeom prst="rect">
            <a:avLst/>
          </a:prstGeom>
          <a:noFill/>
          <a:ln/>
        </p:spPr>
        <p:txBody>
          <a:bodyPr wrap="square" lIns="0" tIns="0" rIns="0" bIns="0" rtlCol="0" anchor="ctr"/>
          <a:lstStyle/>
          <a:p>
            <a:pPr indent="0" marL="0">
              <a:lnSpc>
                <a:spcPts val="1600"/>
              </a:lnSpc>
              <a:buNone/>
            </a:pPr>
            <a:r>
              <a:rPr lang="en-US" sz="1200" dirty="0">
                <a:solidFill>
                  <a:srgbClr val="6B7A75"/>
                </a:solidFill>
              </a:rPr>
              <a:t>shkalla më e madhe dalëse brenda torsos</a:t>
            </a:r>
            <a:endParaRPr lang="en-US" sz="1200" dirty="0"/>
          </a:p>
        </p:txBody>
      </p:sp>
      <p:sp>
        <p:nvSpPr>
          <p:cNvPr id="11" name="Text 9"/>
          <p:cNvSpPr txBox="1"/>
          <p:nvPr/>
        </p:nvSpPr>
        <p:spPr>
          <a:xfrm>
            <a:off x="566928" y="2395728"/>
            <a:ext cx="6400800" cy="1371600"/>
          </a:xfrm>
          <a:prstGeom prst="rect">
            <a:avLst/>
          </a:prstGeom>
          <a:noFill/>
          <a:ln/>
        </p:spPr>
        <p:txBody>
          <a:bodyPr wrap="square" lIns="0" tIns="0" rIns="0" bIns="0" rtlCol="0" anchor="ctr"/>
          <a:lstStyle/>
          <a:p>
            <a:pPr indent="0" marL="0">
              <a:lnSpc>
                <a:spcPts val="2000"/>
              </a:lnSpc>
              <a:buNone/>
            </a:pPr>
            <a:r>
              <a:rPr lang="en-US" sz="1350" dirty="0">
                <a:solidFill>
                  <a:srgbClr val="11211C"/>
                </a:solidFill>
              </a:rPr>
              <a:t>Çdo vektor jep një pikë (gjërësi, t). Të dyja minimizohen, prandaj një dorëzim është një shkallare Pareto me deri në 20 pika, e vlerësuar me hipervolum kundër këndit (n, n) dhe e raportuar negative sepse platforma minimizon.</a:t>
            </a:r>
            <a:endParaRPr lang="en-US" sz="1350" dirty="0"/>
          </a:p>
        </p:txBody>
      </p:sp>
      <p:sp>
        <p:nvSpPr>
          <p:cNvPr id="12" name="Shape 10"/>
          <p:cNvSpPr/>
          <p:nvPr/>
        </p:nvSpPr>
        <p:spPr>
          <a:xfrm>
            <a:off x="566928" y="3931920"/>
            <a:ext cx="6400800" cy="1463040"/>
          </a:xfrm>
          <a:prstGeom prst="roundRect">
            <a:avLst>
              <a:gd name="adj" fmla="val 2500"/>
            </a:avLst>
          </a:prstGeom>
          <a:solidFill>
            <a:srgbClr val="FBF0EA"/>
          </a:solidFill>
          <a:ln w="6350">
            <a:solidFill>
              <a:srgbClr val="FBF0EA"/>
            </a:solidFill>
            <a:prstDash val="solid"/>
          </a:ln>
        </p:spPr>
      </p:sp>
      <p:sp>
        <p:nvSpPr>
          <p:cNvPr id="13" name="Text 11"/>
          <p:cNvSpPr txBox="1"/>
          <p:nvPr/>
        </p:nvSpPr>
        <p:spPr>
          <a:xfrm>
            <a:off x="804672" y="4096512"/>
            <a:ext cx="5943600" cy="237744"/>
          </a:xfrm>
          <a:prstGeom prst="rect">
            <a:avLst/>
          </a:prstGeom>
          <a:noFill/>
          <a:ln/>
        </p:spPr>
        <p:txBody>
          <a:bodyPr wrap="square" lIns="0" tIns="0" rIns="0" bIns="0" rtlCol="0" anchor="ctr"/>
          <a:lstStyle/>
          <a:p>
            <a:pPr indent="0" marL="0">
              <a:buNone/>
            </a:pPr>
            <a:r>
              <a:rPr lang="en-US" sz="1100" b="1" spc="100" kern="0" dirty="0">
                <a:solidFill>
                  <a:srgbClr val="C0603C"/>
                </a:solidFill>
              </a:rPr>
              <a:t>Kufizimi që e bën peizazhin me gremëina</a:t>
            </a:r>
            <a:endParaRPr lang="en-US" sz="1100" dirty="0"/>
          </a:p>
        </p:txBody>
      </p:sp>
      <p:sp>
        <p:nvSpPr>
          <p:cNvPr id="14" name="Text 12"/>
          <p:cNvSpPr txBox="1"/>
          <p:nvPr/>
        </p:nvSpPr>
        <p:spPr>
          <a:xfrm>
            <a:off x="804672" y="4389120"/>
            <a:ext cx="5943600" cy="877824"/>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Gjërësia e tërë permutacionit duhet të mbetet ≤ 500. Çdo gjë mbi të vlerësohet si 501, prandaj një prefiks i keq e asgjëson të gjithë vektorin.</a:t>
            </a:r>
            <a:endParaRPr lang="en-US" sz="1250" dirty="0"/>
          </a:p>
        </p:txBody>
      </p:sp>
      <p:sp>
        <p:nvSpPr>
          <p:cNvPr id="15" name="Shape 13"/>
          <p:cNvSpPr/>
          <p:nvPr/>
        </p:nvSpPr>
        <p:spPr>
          <a:xfrm>
            <a:off x="7680960" y="1572768"/>
            <a:ext cx="914" cy="3200400"/>
          </a:xfrm>
          <a:prstGeom prst="line">
            <a:avLst/>
          </a:prstGeom>
          <a:noFill/>
          <a:ln w="12700">
            <a:solidFill>
              <a:srgbClr val="11211C"/>
            </a:solidFill>
            <a:prstDash val="solid"/>
          </a:ln>
        </p:spPr>
      </p:sp>
      <p:sp>
        <p:nvSpPr>
          <p:cNvPr id="16" name="Shape 14"/>
          <p:cNvSpPr/>
          <p:nvPr/>
        </p:nvSpPr>
        <p:spPr>
          <a:xfrm>
            <a:off x="7680960" y="4773168"/>
            <a:ext cx="3657600" cy="914"/>
          </a:xfrm>
          <a:prstGeom prst="line">
            <a:avLst/>
          </a:prstGeom>
          <a:noFill/>
          <a:ln w="12700">
            <a:solidFill>
              <a:srgbClr val="11211C"/>
            </a:solidFill>
            <a:prstDash val="solid"/>
          </a:ln>
        </p:spPr>
      </p:sp>
      <p:sp>
        <p:nvSpPr>
          <p:cNvPr id="17" name="Text 15"/>
          <p:cNvSpPr txBox="1"/>
          <p:nvPr/>
        </p:nvSpPr>
        <p:spPr>
          <a:xfrm>
            <a:off x="7296912" y="1517904"/>
            <a:ext cx="310896" cy="219456"/>
          </a:xfrm>
          <a:prstGeom prst="rect">
            <a:avLst/>
          </a:prstGeom>
          <a:noFill/>
          <a:ln/>
        </p:spPr>
        <p:txBody>
          <a:bodyPr wrap="square" lIns="0" tIns="0" rIns="0" bIns="0" rtlCol="0" anchor="ctr"/>
          <a:lstStyle/>
          <a:p>
            <a:pPr algn="r" indent="0" marL="0">
              <a:buNone/>
            </a:pPr>
            <a:r>
              <a:rPr lang="en-US" sz="1100" i="1" dirty="0">
                <a:solidFill>
                  <a:srgbClr val="11211C"/>
                </a:solidFill>
              </a:rPr>
              <a:t>t</a:t>
            </a:r>
            <a:endParaRPr lang="en-US" sz="1100" dirty="0"/>
          </a:p>
        </p:txBody>
      </p:sp>
      <p:sp>
        <p:nvSpPr>
          <p:cNvPr id="18" name="Text 16"/>
          <p:cNvSpPr txBox="1"/>
          <p:nvPr/>
        </p:nvSpPr>
        <p:spPr>
          <a:xfrm>
            <a:off x="10515600" y="4864608"/>
            <a:ext cx="822960" cy="219456"/>
          </a:xfrm>
          <a:prstGeom prst="rect">
            <a:avLst/>
          </a:prstGeom>
          <a:noFill/>
          <a:ln/>
        </p:spPr>
        <p:txBody>
          <a:bodyPr wrap="square" lIns="0" tIns="0" rIns="0" bIns="0" rtlCol="0" anchor="ctr"/>
          <a:lstStyle/>
          <a:p>
            <a:pPr algn="r" indent="0" marL="0">
              <a:buNone/>
            </a:pPr>
            <a:r>
              <a:rPr lang="en-US" sz="1100" i="1" dirty="0">
                <a:solidFill>
                  <a:srgbClr val="11211C"/>
                </a:solidFill>
              </a:rPr>
              <a:t>width</a:t>
            </a:r>
            <a:endParaRPr lang="en-US" sz="1100" dirty="0"/>
          </a:p>
        </p:txBody>
      </p:sp>
      <p:sp>
        <p:nvSpPr>
          <p:cNvPr id="19" name="Shape 17"/>
          <p:cNvSpPr/>
          <p:nvPr/>
        </p:nvSpPr>
        <p:spPr>
          <a:xfrm>
            <a:off x="8003195" y="1739189"/>
            <a:ext cx="128016" cy="128016"/>
          </a:xfrm>
          <a:prstGeom prst="ellipse">
            <a:avLst/>
          </a:prstGeom>
          <a:solidFill>
            <a:srgbClr val="2A5247"/>
          </a:solidFill>
          <a:ln w="6350">
            <a:solidFill>
              <a:srgbClr val="2A5247"/>
            </a:solidFill>
            <a:prstDash val="solid"/>
          </a:ln>
        </p:spPr>
      </p:sp>
      <p:sp>
        <p:nvSpPr>
          <p:cNvPr id="20" name="Shape 18"/>
          <p:cNvSpPr/>
          <p:nvPr/>
        </p:nvSpPr>
        <p:spPr>
          <a:xfrm>
            <a:off x="8067203" y="1803197"/>
            <a:ext cx="257495" cy="914"/>
          </a:xfrm>
          <a:prstGeom prst="line">
            <a:avLst/>
          </a:prstGeom>
          <a:noFill/>
          <a:ln w="22860">
            <a:solidFill>
              <a:srgbClr val="3E8E72"/>
            </a:solidFill>
            <a:prstDash val="solid"/>
          </a:ln>
        </p:spPr>
      </p:sp>
      <p:sp>
        <p:nvSpPr>
          <p:cNvPr id="21" name="Shape 19"/>
          <p:cNvSpPr/>
          <p:nvPr/>
        </p:nvSpPr>
        <p:spPr>
          <a:xfrm>
            <a:off x="8324698" y="1803197"/>
            <a:ext cx="914" cy="576072"/>
          </a:xfrm>
          <a:prstGeom prst="line">
            <a:avLst/>
          </a:prstGeom>
          <a:noFill/>
          <a:ln w="22860">
            <a:solidFill>
              <a:srgbClr val="3E8E72"/>
            </a:solidFill>
            <a:prstDash val="solid"/>
          </a:ln>
        </p:spPr>
      </p:sp>
      <p:sp>
        <p:nvSpPr>
          <p:cNvPr id="22" name="Shape 20"/>
          <p:cNvSpPr/>
          <p:nvPr/>
        </p:nvSpPr>
        <p:spPr>
          <a:xfrm>
            <a:off x="8260690" y="2315261"/>
            <a:ext cx="128016" cy="128016"/>
          </a:xfrm>
          <a:prstGeom prst="ellipse">
            <a:avLst/>
          </a:prstGeom>
          <a:solidFill>
            <a:srgbClr val="2A5247"/>
          </a:solidFill>
          <a:ln w="6350">
            <a:solidFill>
              <a:srgbClr val="2A5247"/>
            </a:solidFill>
            <a:prstDash val="solid"/>
          </a:ln>
        </p:spPr>
      </p:sp>
      <p:sp>
        <p:nvSpPr>
          <p:cNvPr id="23" name="Shape 21"/>
          <p:cNvSpPr/>
          <p:nvPr/>
        </p:nvSpPr>
        <p:spPr>
          <a:xfrm>
            <a:off x="8324698" y="2379269"/>
            <a:ext cx="418429" cy="914"/>
          </a:xfrm>
          <a:prstGeom prst="line">
            <a:avLst/>
          </a:prstGeom>
          <a:noFill/>
          <a:ln w="22860">
            <a:solidFill>
              <a:srgbClr val="3E8E72"/>
            </a:solidFill>
            <a:prstDash val="solid"/>
          </a:ln>
        </p:spPr>
      </p:sp>
      <p:sp>
        <p:nvSpPr>
          <p:cNvPr id="24" name="Shape 22"/>
          <p:cNvSpPr/>
          <p:nvPr/>
        </p:nvSpPr>
        <p:spPr>
          <a:xfrm>
            <a:off x="8743127" y="2379269"/>
            <a:ext cx="914" cy="489661"/>
          </a:xfrm>
          <a:prstGeom prst="line">
            <a:avLst/>
          </a:prstGeom>
          <a:noFill/>
          <a:ln w="22860">
            <a:solidFill>
              <a:srgbClr val="3E8E72"/>
            </a:solidFill>
            <a:prstDash val="solid"/>
          </a:ln>
        </p:spPr>
      </p:sp>
      <p:sp>
        <p:nvSpPr>
          <p:cNvPr id="25" name="Shape 23"/>
          <p:cNvSpPr/>
          <p:nvPr/>
        </p:nvSpPr>
        <p:spPr>
          <a:xfrm>
            <a:off x="8679119" y="2804922"/>
            <a:ext cx="128016" cy="128016"/>
          </a:xfrm>
          <a:prstGeom prst="ellipse">
            <a:avLst/>
          </a:prstGeom>
          <a:solidFill>
            <a:srgbClr val="2A5247"/>
          </a:solidFill>
          <a:ln w="6350">
            <a:solidFill>
              <a:srgbClr val="2A5247"/>
            </a:solidFill>
            <a:prstDash val="solid"/>
          </a:ln>
        </p:spPr>
      </p:sp>
      <p:sp>
        <p:nvSpPr>
          <p:cNvPr id="26" name="Shape 24"/>
          <p:cNvSpPr/>
          <p:nvPr/>
        </p:nvSpPr>
        <p:spPr>
          <a:xfrm>
            <a:off x="8743127" y="2868930"/>
            <a:ext cx="547177" cy="914"/>
          </a:xfrm>
          <a:prstGeom prst="line">
            <a:avLst/>
          </a:prstGeom>
          <a:noFill/>
          <a:ln w="22860">
            <a:solidFill>
              <a:srgbClr val="3E8E72"/>
            </a:solidFill>
            <a:prstDash val="solid"/>
          </a:ln>
        </p:spPr>
      </p:sp>
      <p:sp>
        <p:nvSpPr>
          <p:cNvPr id="27" name="Shape 25"/>
          <p:cNvSpPr/>
          <p:nvPr/>
        </p:nvSpPr>
        <p:spPr>
          <a:xfrm>
            <a:off x="9290304" y="2868930"/>
            <a:ext cx="914" cy="489661"/>
          </a:xfrm>
          <a:prstGeom prst="line">
            <a:avLst/>
          </a:prstGeom>
          <a:noFill/>
          <a:ln w="22860">
            <a:solidFill>
              <a:srgbClr val="3E8E72"/>
            </a:solidFill>
            <a:prstDash val="solid"/>
          </a:ln>
        </p:spPr>
      </p:sp>
      <p:sp>
        <p:nvSpPr>
          <p:cNvPr id="28" name="Shape 26"/>
          <p:cNvSpPr/>
          <p:nvPr/>
        </p:nvSpPr>
        <p:spPr>
          <a:xfrm>
            <a:off x="9226296" y="3294583"/>
            <a:ext cx="128016" cy="128016"/>
          </a:xfrm>
          <a:prstGeom prst="ellipse">
            <a:avLst/>
          </a:prstGeom>
          <a:solidFill>
            <a:srgbClr val="2A5247"/>
          </a:solidFill>
          <a:ln w="6350">
            <a:solidFill>
              <a:srgbClr val="2A5247"/>
            </a:solidFill>
            <a:prstDash val="solid"/>
          </a:ln>
        </p:spPr>
      </p:sp>
      <p:sp>
        <p:nvSpPr>
          <p:cNvPr id="29" name="Shape 27"/>
          <p:cNvSpPr/>
          <p:nvPr/>
        </p:nvSpPr>
        <p:spPr>
          <a:xfrm>
            <a:off x="9290304" y="3358591"/>
            <a:ext cx="708111" cy="914"/>
          </a:xfrm>
          <a:prstGeom prst="line">
            <a:avLst/>
          </a:prstGeom>
          <a:noFill/>
          <a:ln w="22860">
            <a:solidFill>
              <a:srgbClr val="3E8E72"/>
            </a:solidFill>
            <a:prstDash val="solid"/>
          </a:ln>
        </p:spPr>
      </p:sp>
      <p:sp>
        <p:nvSpPr>
          <p:cNvPr id="30" name="Shape 28"/>
          <p:cNvSpPr/>
          <p:nvPr/>
        </p:nvSpPr>
        <p:spPr>
          <a:xfrm>
            <a:off x="9998415" y="3358591"/>
            <a:ext cx="914" cy="460858"/>
          </a:xfrm>
          <a:prstGeom prst="line">
            <a:avLst/>
          </a:prstGeom>
          <a:noFill/>
          <a:ln w="22860">
            <a:solidFill>
              <a:srgbClr val="3E8E72"/>
            </a:solidFill>
            <a:prstDash val="solid"/>
          </a:ln>
        </p:spPr>
      </p:sp>
      <p:sp>
        <p:nvSpPr>
          <p:cNvPr id="31" name="Shape 29"/>
          <p:cNvSpPr/>
          <p:nvPr/>
        </p:nvSpPr>
        <p:spPr>
          <a:xfrm>
            <a:off x="9934407" y="3755441"/>
            <a:ext cx="128016" cy="128016"/>
          </a:xfrm>
          <a:prstGeom prst="ellipse">
            <a:avLst/>
          </a:prstGeom>
          <a:solidFill>
            <a:srgbClr val="2A5247"/>
          </a:solidFill>
          <a:ln w="6350">
            <a:solidFill>
              <a:srgbClr val="2A5247"/>
            </a:solidFill>
            <a:prstDash val="solid"/>
          </a:ln>
        </p:spPr>
      </p:sp>
      <p:sp>
        <p:nvSpPr>
          <p:cNvPr id="32" name="Shape 30"/>
          <p:cNvSpPr/>
          <p:nvPr/>
        </p:nvSpPr>
        <p:spPr>
          <a:xfrm>
            <a:off x="9998415" y="3819449"/>
            <a:ext cx="643738" cy="914"/>
          </a:xfrm>
          <a:prstGeom prst="line">
            <a:avLst/>
          </a:prstGeom>
          <a:noFill/>
          <a:ln w="22860">
            <a:solidFill>
              <a:srgbClr val="3E8E72"/>
            </a:solidFill>
            <a:prstDash val="solid"/>
          </a:ln>
        </p:spPr>
      </p:sp>
      <p:sp>
        <p:nvSpPr>
          <p:cNvPr id="33" name="Shape 31"/>
          <p:cNvSpPr/>
          <p:nvPr/>
        </p:nvSpPr>
        <p:spPr>
          <a:xfrm>
            <a:off x="10642153" y="3819449"/>
            <a:ext cx="914" cy="345643"/>
          </a:xfrm>
          <a:prstGeom prst="line">
            <a:avLst/>
          </a:prstGeom>
          <a:noFill/>
          <a:ln w="22860">
            <a:solidFill>
              <a:srgbClr val="3E8E72"/>
            </a:solidFill>
            <a:prstDash val="solid"/>
          </a:ln>
        </p:spPr>
      </p:sp>
      <p:sp>
        <p:nvSpPr>
          <p:cNvPr id="34" name="Shape 32"/>
          <p:cNvSpPr/>
          <p:nvPr/>
        </p:nvSpPr>
        <p:spPr>
          <a:xfrm>
            <a:off x="10578145" y="4101084"/>
            <a:ext cx="128016" cy="128016"/>
          </a:xfrm>
          <a:prstGeom prst="ellipse">
            <a:avLst/>
          </a:prstGeom>
          <a:solidFill>
            <a:srgbClr val="2A5247"/>
          </a:solidFill>
          <a:ln w="6350">
            <a:solidFill>
              <a:srgbClr val="2A5247"/>
            </a:solidFill>
            <a:prstDash val="solid"/>
          </a:ln>
        </p:spPr>
      </p:sp>
      <p:sp>
        <p:nvSpPr>
          <p:cNvPr id="35" name="Shape 33"/>
          <p:cNvSpPr/>
          <p:nvPr/>
        </p:nvSpPr>
        <p:spPr>
          <a:xfrm>
            <a:off x="11100816" y="4555998"/>
            <a:ext cx="146304" cy="146304"/>
          </a:xfrm>
          <a:prstGeom prst="ellipse">
            <a:avLst/>
          </a:prstGeom>
          <a:solidFill>
            <a:srgbClr val="C0603C"/>
          </a:solidFill>
          <a:ln w="6350">
            <a:solidFill>
              <a:srgbClr val="C0603C"/>
            </a:solidFill>
            <a:prstDash val="solid"/>
          </a:ln>
        </p:spPr>
      </p:sp>
      <p:sp>
        <p:nvSpPr>
          <p:cNvPr id="36" name="Text 34"/>
          <p:cNvSpPr txBox="1"/>
          <p:nvPr/>
        </p:nvSpPr>
        <p:spPr>
          <a:xfrm>
            <a:off x="10314432" y="4677156"/>
            <a:ext cx="822960" cy="219456"/>
          </a:xfrm>
          <a:prstGeom prst="rect">
            <a:avLst/>
          </a:prstGeom>
          <a:noFill/>
          <a:ln/>
        </p:spPr>
        <p:txBody>
          <a:bodyPr wrap="square" lIns="0" tIns="0" rIns="0" bIns="0" rtlCol="0" anchor="ctr"/>
          <a:lstStyle/>
          <a:p>
            <a:pPr indent="0" marL="0">
              <a:buNone/>
            </a:pPr>
            <a:r>
              <a:rPr lang="en-US" sz="1000" dirty="0">
                <a:solidFill>
                  <a:srgbClr val="C0603C"/>
                </a:solidFill>
              </a:rPr>
              <a:t>(n, n)</a:t>
            </a:r>
            <a:endParaRPr lang="en-US" sz="1000" dirty="0"/>
          </a:p>
        </p:txBody>
      </p:sp>
      <p:sp>
        <p:nvSpPr>
          <p:cNvPr id="37" name="Text 35"/>
          <p:cNvSpPr txBox="1"/>
          <p:nvPr/>
        </p:nvSpPr>
        <p:spPr>
          <a:xfrm>
            <a:off x="8138160" y="2029968"/>
            <a:ext cx="1737360" cy="237744"/>
          </a:xfrm>
          <a:prstGeom prst="rect">
            <a:avLst/>
          </a:prstGeom>
          <a:noFill/>
          <a:ln/>
        </p:spPr>
        <p:txBody>
          <a:bodyPr wrap="square" lIns="0" tIns="0" rIns="0" bIns="0" rtlCol="0" anchor="ctr"/>
          <a:lstStyle/>
          <a:p>
            <a:pPr indent="0" marL="0">
              <a:buNone/>
            </a:pPr>
            <a:r>
              <a:rPr lang="en-US" sz="1100" i="1" dirty="0">
                <a:solidFill>
                  <a:srgbClr val="6B7A75"/>
                </a:solidFill>
              </a:rPr>
              <a:t>hypervolume</a:t>
            </a:r>
            <a:endParaRPr lang="en-US" sz="11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Në instancat e rralla problemi është fshehtas njëpërmasor</a:t>
            </a:r>
            <a:endParaRPr lang="en-US" sz="2600" dirty="0"/>
          </a:p>
        </p:txBody>
      </p:sp>
      <p:sp>
        <p:nvSpPr>
          <p:cNvPr id="3" name="Text 1"/>
          <p:cNvSpPr txBox="1"/>
          <p:nvPr/>
        </p:nvSpPr>
        <p:spPr>
          <a:xfrm>
            <a:off x="566928" y="1261872"/>
            <a:ext cx="10936224" cy="822960"/>
          </a:xfrm>
          <a:prstGeom prst="rect">
            <a:avLst/>
          </a:prstGeom>
          <a:noFill/>
          <a:ln/>
        </p:spPr>
        <p:txBody>
          <a:bodyPr wrap="square" lIns="0" tIns="0" rIns="0" bIns="0" rtlCol="0" anchor="ctr"/>
          <a:lstStyle/>
          <a:p>
            <a:pPr indent="0" marL="0">
              <a:lnSpc>
                <a:spcPts val="1900"/>
              </a:lnSpc>
              <a:buNone/>
            </a:pPr>
            <a:r>
              <a:rPr lang="en-US" sz="1300" dirty="0">
                <a:solidFill>
                  <a:srgbClr val="11211C"/>
                </a:solidFill>
              </a:rPr>
              <a:t>Një pikë (w, t) mbulon drejtkëndëshin (n − w)(n − t). Në t = 0 gjërësia është të paktën tw(G), pra drejtkëndëshi më i madh që një pikë e vetme mund të mbulojë është (n − tw)·n. Krahasimi me të gjithë katrorin e zgjidh sa mund të vlejnë nëntëmbëdhjetë pikat e tjera.</a:t>
            </a:r>
            <a:endParaRPr lang="en-US" sz="1300" dirty="0"/>
          </a:p>
        </p:txBody>
      </p:sp>
      <p:sp>
        <p:nvSpPr>
          <p:cNvPr id="4" name="Text 2"/>
          <p:cNvSpPr txBox="1"/>
          <p:nvPr/>
        </p:nvSpPr>
        <p:spPr>
          <a:xfrm>
            <a:off x="566928" y="2322576"/>
            <a:ext cx="4389120" cy="237744"/>
          </a:xfrm>
          <a:prstGeom prst="rect">
            <a:avLst/>
          </a:prstGeom>
          <a:noFill/>
          <a:ln/>
        </p:spPr>
        <p:txBody>
          <a:bodyPr wrap="square" lIns="0" tIns="0" rIns="0" bIns="0" rtlCol="0" anchor="ctr"/>
          <a:lstStyle/>
          <a:p>
            <a:pPr indent="0" marL="0">
              <a:buNone/>
            </a:pPr>
            <a:r>
              <a:rPr lang="en-US" sz="1250" b="1" dirty="0">
                <a:solidFill>
                  <a:srgbClr val="3E8E72"/>
                </a:solidFill>
                <a:latin typeface="Courier New" pitchFamily="34" charset="0"/>
                <a:ea typeface="Courier New" pitchFamily="34" charset="-122"/>
                <a:cs typeface="Courier New" pitchFamily="34" charset="-120"/>
              </a:rPr>
              <a:t>small-graph</a:t>
            </a:r>
            <a:endParaRPr lang="en-US" sz="1250" dirty="0"/>
          </a:p>
        </p:txBody>
      </p:sp>
      <p:sp>
        <p:nvSpPr>
          <p:cNvPr id="5" name="Text 3"/>
          <p:cNvSpPr txBox="1"/>
          <p:nvPr/>
        </p:nvSpPr>
        <p:spPr>
          <a:xfrm>
            <a:off x="566928" y="2560320"/>
            <a:ext cx="4389120" cy="219456"/>
          </a:xfrm>
          <a:prstGeom prst="rect">
            <a:avLst/>
          </a:prstGeom>
          <a:noFill/>
          <a:ln/>
        </p:spPr>
        <p:txBody>
          <a:bodyPr wrap="square" lIns="0" tIns="0" rIns="0" bIns="0" rtlCol="0" anchor="ctr"/>
          <a:lstStyle/>
          <a:p>
            <a:pPr indent="0" marL="0">
              <a:buNone/>
            </a:pPr>
            <a:r>
              <a:rPr lang="en-US" sz="1050" dirty="0">
                <a:solidFill>
                  <a:srgbClr val="6B7A75"/>
                </a:solidFill>
              </a:rPr>
              <a:t>n = 1,357 · tw ≥ 5</a:t>
            </a:r>
            <a:endParaRPr lang="en-US" sz="1050" dirty="0"/>
          </a:p>
        </p:txBody>
      </p:sp>
      <p:sp>
        <p:nvSpPr>
          <p:cNvPr id="6" name="Shape 4"/>
          <p:cNvSpPr/>
          <p:nvPr/>
        </p:nvSpPr>
        <p:spPr>
          <a:xfrm>
            <a:off x="566928" y="2798064"/>
            <a:ext cx="1920240" cy="1920240"/>
          </a:xfrm>
          <a:prstGeom prst="rect">
            <a:avLst/>
          </a:prstGeom>
          <a:solidFill>
            <a:srgbClr val="FFFFFF"/>
          </a:solidFill>
          <a:ln w="11430">
            <a:solidFill>
              <a:srgbClr val="6B7A75"/>
            </a:solidFill>
            <a:prstDash val="solid"/>
          </a:ln>
        </p:spPr>
      </p:sp>
      <p:sp>
        <p:nvSpPr>
          <p:cNvPr id="7" name="Shape 5"/>
          <p:cNvSpPr/>
          <p:nvPr/>
        </p:nvSpPr>
        <p:spPr>
          <a:xfrm>
            <a:off x="566928" y="2805169"/>
            <a:ext cx="1920240" cy="1913135"/>
          </a:xfrm>
          <a:prstGeom prst="rect">
            <a:avLst/>
          </a:prstGeom>
          <a:solidFill>
            <a:srgbClr val="3E8E72">
              <a:alpha val="38000"/>
            </a:srgbClr>
          </a:solidFill>
          <a:ln w="3175">
            <a:solidFill>
              <a:srgbClr val="3E8E72">
                <a:alpha val="38000"/>
              </a:srgbClr>
            </a:solidFill>
            <a:prstDash val="solid"/>
          </a:ln>
        </p:spPr>
      </p:sp>
      <p:sp>
        <p:nvSpPr>
          <p:cNvPr id="8" name="Shape 6"/>
          <p:cNvSpPr/>
          <p:nvPr/>
        </p:nvSpPr>
        <p:spPr>
          <a:xfrm>
            <a:off x="566928" y="2805169"/>
            <a:ext cx="1920240" cy="914"/>
          </a:xfrm>
          <a:prstGeom prst="line">
            <a:avLst/>
          </a:prstGeom>
          <a:noFill/>
          <a:ln w="20320">
            <a:solidFill>
              <a:srgbClr val="3E8E72"/>
            </a:solidFill>
            <a:prstDash val="solid"/>
          </a:ln>
        </p:spPr>
      </p:sp>
      <p:sp>
        <p:nvSpPr>
          <p:cNvPr id="9" name="Text 7"/>
          <p:cNvSpPr txBox="1"/>
          <p:nvPr/>
        </p:nvSpPr>
        <p:spPr>
          <a:xfrm>
            <a:off x="566928" y="2896609"/>
            <a:ext cx="1920240" cy="365760"/>
          </a:xfrm>
          <a:prstGeom prst="rect">
            <a:avLst/>
          </a:prstGeom>
          <a:noFill/>
          <a:ln/>
        </p:spPr>
        <p:txBody>
          <a:bodyPr wrap="square" lIns="0" tIns="0" rIns="0" bIns="0" rtlCol="0" anchor="ctr"/>
          <a:lstStyle/>
          <a:p>
            <a:pPr algn="ctr" indent="0" marL="0">
              <a:buNone/>
            </a:pPr>
            <a:r>
              <a:rPr lang="en-US" sz="1700" b="1" dirty="0">
                <a:solidFill>
                  <a:srgbClr val="3E8E72"/>
                </a:solidFill>
                <a:latin typeface="Cambria" pitchFamily="34" charset="0"/>
                <a:ea typeface="Cambria" pitchFamily="34" charset="-122"/>
                <a:cs typeface="Cambria" pitchFamily="34" charset="-120"/>
              </a:rPr>
              <a:t>99.63%</a:t>
            </a:r>
            <a:endParaRPr lang="en-US" sz="1700" dirty="0"/>
          </a:p>
        </p:txBody>
      </p:sp>
      <p:sp>
        <p:nvSpPr>
          <p:cNvPr id="10" name="Text 8"/>
          <p:cNvSpPr txBox="1"/>
          <p:nvPr/>
        </p:nvSpPr>
        <p:spPr>
          <a:xfrm>
            <a:off x="566928" y="4791456"/>
            <a:ext cx="1920240" cy="219456"/>
          </a:xfrm>
          <a:prstGeom prst="rect">
            <a:avLst/>
          </a:prstGeom>
          <a:noFill/>
          <a:ln/>
        </p:spPr>
        <p:txBody>
          <a:bodyPr wrap="square" lIns="0" tIns="0" rIns="0" bIns="0" rtlCol="0" anchor="ctr"/>
          <a:lstStyle/>
          <a:p>
            <a:pPr algn="ctr" indent="0" marL="0">
              <a:buNone/>
            </a:pPr>
            <a:r>
              <a:rPr lang="en-US" sz="950" dirty="0">
                <a:solidFill>
                  <a:srgbClr val="6B7A75"/>
                </a:solidFill>
              </a:rPr>
              <a:t>n × n</a:t>
            </a:r>
            <a:endParaRPr lang="en-US" sz="950" dirty="0"/>
          </a:p>
        </p:txBody>
      </p:sp>
      <p:sp>
        <p:nvSpPr>
          <p:cNvPr id="11" name="Text 9"/>
          <p:cNvSpPr txBox="1"/>
          <p:nvPr/>
        </p:nvSpPr>
        <p:spPr>
          <a:xfrm>
            <a:off x="2743200" y="2871216"/>
            <a:ext cx="2212848" cy="1920240"/>
          </a:xfrm>
          <a:prstGeom prst="rect">
            <a:avLst/>
          </a:prstGeom>
          <a:noFill/>
          <a:ln/>
        </p:spPr>
        <p:txBody>
          <a:bodyPr wrap="square" lIns="0" tIns="0" rIns="0" bIns="0" rtlCol="0" anchor="ctr"/>
          <a:lstStyle/>
          <a:p>
            <a:pPr indent="0" marL="0">
              <a:lnSpc>
                <a:spcPts val="1700"/>
              </a:lnSpc>
              <a:buNone/>
            </a:pPr>
            <a:r>
              <a:rPr lang="en-US" sz="1150" dirty="0">
                <a:solidFill>
                  <a:srgbClr val="11211C"/>
                </a:solidFill>
              </a:rPr>
              <a:t>Një pikë mund të mbulonte 99.63% të n². I gjithë fronti me 20 pika arrin 99.37%, pra një pikë e vetme do të mjaftonte për të gjithë rezultatin.</a:t>
            </a:r>
            <a:endParaRPr lang="en-US" sz="1150" dirty="0"/>
          </a:p>
        </p:txBody>
      </p:sp>
      <p:sp>
        <p:nvSpPr>
          <p:cNvPr id="12" name="Text 10"/>
          <p:cNvSpPr txBox="1"/>
          <p:nvPr/>
        </p:nvSpPr>
        <p:spPr>
          <a:xfrm>
            <a:off x="5184648" y="2322576"/>
            <a:ext cx="4389120" cy="237744"/>
          </a:xfrm>
          <a:prstGeom prst="rect">
            <a:avLst/>
          </a:prstGeom>
          <a:noFill/>
          <a:ln/>
        </p:spPr>
        <p:txBody>
          <a:bodyPr wrap="square" lIns="0" tIns="0" rIns="0" bIns="0" rtlCol="0" anchor="ctr"/>
          <a:lstStyle/>
          <a:p>
            <a:pPr indent="0" marL="0">
              <a:buNone/>
            </a:pPr>
            <a:r>
              <a:rPr lang="en-US" sz="1250" b="1" dirty="0">
                <a:solidFill>
                  <a:srgbClr val="C0603C"/>
                </a:solidFill>
                <a:latin typeface="Courier New" pitchFamily="34" charset="0"/>
                <a:ea typeface="Courier New" pitchFamily="34" charset="-122"/>
                <a:cs typeface="Courier New" pitchFamily="34" charset="-120"/>
              </a:rPr>
              <a:t>large-graph</a:t>
            </a:r>
            <a:endParaRPr lang="en-US" sz="1250" dirty="0"/>
          </a:p>
        </p:txBody>
      </p:sp>
      <p:sp>
        <p:nvSpPr>
          <p:cNvPr id="13" name="Text 11"/>
          <p:cNvSpPr txBox="1"/>
          <p:nvPr/>
        </p:nvSpPr>
        <p:spPr>
          <a:xfrm>
            <a:off x="5184648" y="2560320"/>
            <a:ext cx="4389120" cy="219456"/>
          </a:xfrm>
          <a:prstGeom prst="rect">
            <a:avLst/>
          </a:prstGeom>
          <a:noFill/>
          <a:ln/>
        </p:spPr>
        <p:txBody>
          <a:bodyPr wrap="square" lIns="0" tIns="0" rIns="0" bIns="0" rtlCol="0" anchor="ctr"/>
          <a:lstStyle/>
          <a:p>
            <a:pPr indent="0" marL="0">
              <a:buNone/>
            </a:pPr>
            <a:r>
              <a:rPr lang="en-US" sz="1050" dirty="0">
                <a:solidFill>
                  <a:srgbClr val="6B7A75"/>
                </a:solidFill>
              </a:rPr>
              <a:t>n = 2,426 · tw ≥ 499</a:t>
            </a:r>
            <a:endParaRPr lang="en-US" sz="1050" dirty="0"/>
          </a:p>
        </p:txBody>
      </p:sp>
      <p:sp>
        <p:nvSpPr>
          <p:cNvPr id="14" name="Shape 12"/>
          <p:cNvSpPr/>
          <p:nvPr/>
        </p:nvSpPr>
        <p:spPr>
          <a:xfrm>
            <a:off x="5184648" y="2798064"/>
            <a:ext cx="1920240" cy="1920240"/>
          </a:xfrm>
          <a:prstGeom prst="rect">
            <a:avLst/>
          </a:prstGeom>
          <a:solidFill>
            <a:srgbClr val="FFFFFF"/>
          </a:solidFill>
          <a:ln w="11430">
            <a:solidFill>
              <a:srgbClr val="6B7A75"/>
            </a:solidFill>
            <a:prstDash val="solid"/>
          </a:ln>
        </p:spPr>
      </p:sp>
      <p:sp>
        <p:nvSpPr>
          <p:cNvPr id="15" name="Shape 13"/>
          <p:cNvSpPr/>
          <p:nvPr/>
        </p:nvSpPr>
        <p:spPr>
          <a:xfrm>
            <a:off x="5184648" y="3193633"/>
            <a:ext cx="1920240" cy="1524671"/>
          </a:xfrm>
          <a:prstGeom prst="rect">
            <a:avLst/>
          </a:prstGeom>
          <a:solidFill>
            <a:srgbClr val="C0603C">
              <a:alpha val="38000"/>
            </a:srgbClr>
          </a:solidFill>
          <a:ln w="3175">
            <a:solidFill>
              <a:srgbClr val="C0603C">
                <a:alpha val="38000"/>
              </a:srgbClr>
            </a:solidFill>
            <a:prstDash val="solid"/>
          </a:ln>
        </p:spPr>
      </p:sp>
      <p:sp>
        <p:nvSpPr>
          <p:cNvPr id="16" name="Shape 14"/>
          <p:cNvSpPr/>
          <p:nvPr/>
        </p:nvSpPr>
        <p:spPr>
          <a:xfrm>
            <a:off x="5184648" y="3193633"/>
            <a:ext cx="1920240" cy="914"/>
          </a:xfrm>
          <a:prstGeom prst="line">
            <a:avLst/>
          </a:prstGeom>
          <a:noFill/>
          <a:ln w="20320">
            <a:solidFill>
              <a:srgbClr val="C0603C"/>
            </a:solidFill>
            <a:prstDash val="solid"/>
          </a:ln>
        </p:spPr>
      </p:sp>
      <p:sp>
        <p:nvSpPr>
          <p:cNvPr id="17" name="Text 15"/>
          <p:cNvSpPr txBox="1"/>
          <p:nvPr/>
        </p:nvSpPr>
        <p:spPr>
          <a:xfrm>
            <a:off x="5184648" y="3285073"/>
            <a:ext cx="1920240" cy="365760"/>
          </a:xfrm>
          <a:prstGeom prst="rect">
            <a:avLst/>
          </a:prstGeom>
          <a:noFill/>
          <a:ln/>
        </p:spPr>
        <p:txBody>
          <a:bodyPr wrap="square" lIns="0" tIns="0" rIns="0" bIns="0" rtlCol="0" anchor="ctr"/>
          <a:lstStyle/>
          <a:p>
            <a:pPr algn="ctr" indent="0" marL="0">
              <a:buNone/>
            </a:pPr>
            <a:r>
              <a:rPr lang="en-US" sz="1700" b="1" dirty="0">
                <a:solidFill>
                  <a:srgbClr val="C0603C"/>
                </a:solidFill>
                <a:latin typeface="Cambria" pitchFamily="34" charset="0"/>
                <a:ea typeface="Cambria" pitchFamily="34" charset="-122"/>
                <a:cs typeface="Cambria" pitchFamily="34" charset="-120"/>
              </a:rPr>
              <a:t>79.4%</a:t>
            </a:r>
            <a:endParaRPr lang="en-US" sz="1700" dirty="0"/>
          </a:p>
        </p:txBody>
      </p:sp>
      <p:sp>
        <p:nvSpPr>
          <p:cNvPr id="18" name="Text 16"/>
          <p:cNvSpPr txBox="1"/>
          <p:nvPr/>
        </p:nvSpPr>
        <p:spPr>
          <a:xfrm>
            <a:off x="5184648" y="4791456"/>
            <a:ext cx="1920240" cy="219456"/>
          </a:xfrm>
          <a:prstGeom prst="rect">
            <a:avLst/>
          </a:prstGeom>
          <a:noFill/>
          <a:ln/>
        </p:spPr>
        <p:txBody>
          <a:bodyPr wrap="square" lIns="0" tIns="0" rIns="0" bIns="0" rtlCol="0" anchor="ctr"/>
          <a:lstStyle/>
          <a:p>
            <a:pPr algn="ctr" indent="0" marL="0">
              <a:buNone/>
            </a:pPr>
            <a:r>
              <a:rPr lang="en-US" sz="950" dirty="0">
                <a:solidFill>
                  <a:srgbClr val="6B7A75"/>
                </a:solidFill>
              </a:rPr>
              <a:t>n × n</a:t>
            </a:r>
            <a:endParaRPr lang="en-US" sz="950" dirty="0"/>
          </a:p>
        </p:txBody>
      </p:sp>
      <p:sp>
        <p:nvSpPr>
          <p:cNvPr id="19" name="Text 17"/>
          <p:cNvSpPr txBox="1"/>
          <p:nvPr/>
        </p:nvSpPr>
        <p:spPr>
          <a:xfrm>
            <a:off x="7360920" y="2871216"/>
            <a:ext cx="2212848" cy="1920240"/>
          </a:xfrm>
          <a:prstGeom prst="rect">
            <a:avLst/>
          </a:prstGeom>
          <a:noFill/>
          <a:ln/>
        </p:spPr>
        <p:txBody>
          <a:bodyPr wrap="square" lIns="0" tIns="0" rIns="0" bIns="0" rtlCol="0" anchor="ctr"/>
          <a:lstStyle/>
          <a:p>
            <a:pPr indent="0" marL="0">
              <a:lnSpc>
                <a:spcPts val="1700"/>
              </a:lnSpc>
              <a:buNone/>
            </a:pPr>
            <a:r>
              <a:rPr lang="en-US" sz="1150" dirty="0">
                <a:solidFill>
                  <a:srgbClr val="11211C"/>
                </a:solidFill>
              </a:rPr>
              <a:t>Një pikë mbulon së shumti 79.4%. Rezultati i arritur është 93.3%, pra këtu shkallarja vërtet bën punë.</a:t>
            </a:r>
            <a:endParaRPr lang="en-US" sz="1150" dirty="0"/>
          </a:p>
        </p:txBody>
      </p:sp>
      <p:sp>
        <p:nvSpPr>
          <p:cNvPr id="20" name="Text 18"/>
          <p:cNvSpPr txBox="1"/>
          <p:nvPr/>
        </p:nvSpPr>
        <p:spPr>
          <a:xfrm>
            <a:off x="566928" y="2084832"/>
            <a:ext cx="9235440" cy="201168"/>
          </a:xfrm>
          <a:prstGeom prst="rect">
            <a:avLst/>
          </a:prstGeom>
          <a:noFill/>
          <a:ln/>
        </p:spPr>
        <p:txBody>
          <a:bodyPr wrap="square" lIns="0" tIns="0" rIns="0" bIns="0" rtlCol="0" anchor="ctr"/>
          <a:lstStyle/>
          <a:p>
            <a:pPr indent="0" marL="0">
              <a:buNone/>
            </a:pPr>
            <a:r>
              <a:rPr lang="en-US" sz="950" i="1" dirty="0">
                <a:solidFill>
                  <a:srgbClr val="6B7A75"/>
                </a:solidFill>
              </a:rPr>
              <a:t>e mbuluar nga një pikë në t = 0</a:t>
            </a:r>
            <a:endParaRPr lang="en-US" sz="950" dirty="0"/>
          </a:p>
        </p:txBody>
      </p:sp>
      <p:sp>
        <p:nvSpPr>
          <p:cNvPr id="21" name="Shape 19"/>
          <p:cNvSpPr/>
          <p:nvPr/>
        </p:nvSpPr>
        <p:spPr>
          <a:xfrm>
            <a:off x="566928" y="5138928"/>
            <a:ext cx="10936224" cy="914400"/>
          </a:xfrm>
          <a:prstGeom prst="roundRect">
            <a:avLst>
              <a:gd name="adj" fmla="val 4000"/>
            </a:avLst>
          </a:prstGeom>
          <a:solidFill>
            <a:srgbClr val="1F3A33"/>
          </a:solidFill>
          <a:ln w="6350">
            <a:solidFill>
              <a:srgbClr val="1F3A33"/>
            </a:solidFill>
            <a:prstDash val="solid"/>
          </a:ln>
        </p:spPr>
      </p:sp>
      <p:sp>
        <p:nvSpPr>
          <p:cNvPr id="22" name="Text 20"/>
          <p:cNvSpPr txBox="1"/>
          <p:nvPr/>
        </p:nvSpPr>
        <p:spPr>
          <a:xfrm>
            <a:off x="859536" y="5303520"/>
            <a:ext cx="10332720" cy="621792"/>
          </a:xfrm>
          <a:prstGeom prst="rect">
            <a:avLst/>
          </a:prstGeom>
          <a:noFill/>
          <a:ln/>
        </p:spPr>
        <p:txBody>
          <a:bodyPr wrap="square" lIns="0" tIns="0" rIns="0" bIns="0" rtlCol="0" anchor="ctr"/>
          <a:lstStyle/>
          <a:p>
            <a:pPr indent="0" marL="0">
              <a:lnSpc>
                <a:spcPts val="1800"/>
              </a:lnSpc>
              <a:buNone/>
            </a:pPr>
            <a:r>
              <a:rPr lang="en-US" sz="1250" dirty="0">
                <a:solidFill>
                  <a:srgbClr val="FFFFFF"/>
                </a:solidFill>
              </a:rPr>
              <a:t>Në instancat e rralla sfida me dy objektiva reduktohet, në praktikë, në minimizimin e gjërësisë së eliminimit të tërë permutacionit: minimizim i gjërësisë së pemës. Në ato të dendura, jo.</a:t>
            </a:r>
            <a:endParaRPr lang="en-US" sz="12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I vështirë dy herë, dhe i dyti është i ngulitur brenda të parit</a:t>
            </a:r>
            <a:endParaRPr lang="en-US" sz="2600" dirty="0"/>
          </a:p>
        </p:txBody>
      </p:sp>
      <p:sp>
        <p:nvSpPr>
          <p:cNvPr id="3" name="Shape 1"/>
          <p:cNvSpPr/>
          <p:nvPr/>
        </p:nvSpPr>
        <p:spPr>
          <a:xfrm>
            <a:off x="566928" y="1325880"/>
            <a:ext cx="5321808" cy="1938528"/>
          </a:xfrm>
          <a:prstGeom prst="roundRect">
            <a:avLst>
              <a:gd name="adj" fmla="val 1887"/>
            </a:avLst>
          </a:prstGeom>
          <a:solidFill>
            <a:srgbClr val="EFF3F1"/>
          </a:solidFill>
          <a:ln w="6350">
            <a:solidFill>
              <a:srgbClr val="EFF3F1"/>
            </a:solidFill>
            <a:prstDash val="solid"/>
          </a:ln>
        </p:spPr>
      </p:sp>
      <p:sp>
        <p:nvSpPr>
          <p:cNvPr id="4" name="Text 2"/>
          <p:cNvSpPr txBox="1"/>
          <p:nvPr/>
        </p:nvSpPr>
        <p:spPr>
          <a:xfrm>
            <a:off x="841248" y="1517904"/>
            <a:ext cx="365760" cy="402336"/>
          </a:xfrm>
          <a:prstGeom prst="rect">
            <a:avLst/>
          </a:prstGeom>
          <a:noFill/>
          <a:ln/>
        </p:spPr>
        <p:txBody>
          <a:bodyPr wrap="square" lIns="0" tIns="0" rIns="0" bIns="0" rtlCol="0" anchor="ctr"/>
          <a:lstStyle/>
          <a:p>
            <a:pPr indent="0" marL="0">
              <a:buNone/>
            </a:pPr>
            <a:r>
              <a:rPr lang="en-US" sz="2400" b="1" dirty="0">
                <a:solidFill>
                  <a:srgbClr val="B9CFC4"/>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316736" y="1572768"/>
            <a:ext cx="4352544" cy="292608"/>
          </a:xfrm>
          <a:prstGeom prst="rect">
            <a:avLst/>
          </a:prstGeom>
          <a:noFill/>
          <a:ln/>
        </p:spPr>
        <p:txBody>
          <a:bodyPr wrap="square" lIns="0" tIns="0" rIns="0" bIns="0" rtlCol="0" anchor="ctr"/>
          <a:lstStyle/>
          <a:p>
            <a:pPr indent="0" marL="0">
              <a:buNone/>
            </a:pPr>
            <a:r>
              <a:rPr lang="en-US" sz="1400" b="1" dirty="0">
                <a:solidFill>
                  <a:srgbClr val="11211C"/>
                </a:solidFill>
              </a:rPr>
              <a:t>Zgjidh cilët t kulme të eliminohen</a:t>
            </a:r>
            <a:endParaRPr lang="en-US" sz="1400" dirty="0"/>
          </a:p>
        </p:txBody>
      </p:sp>
      <p:sp>
        <p:nvSpPr>
          <p:cNvPr id="6" name="Text 4"/>
          <p:cNvSpPr txBox="1"/>
          <p:nvPr/>
        </p:nvSpPr>
        <p:spPr>
          <a:xfrm>
            <a:off x="1316736" y="1938528"/>
            <a:ext cx="4352544" cy="1152144"/>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Me n = 1,357 dhe t ≈ 600 këto janë rreth 10⁴⁰⁵ nënbashkësi. Universi i vëzhgueshëm ka rreth 10⁸⁰ atome.</a:t>
            </a:r>
            <a:endParaRPr lang="en-US" sz="1250" dirty="0"/>
          </a:p>
        </p:txBody>
      </p:sp>
      <p:sp>
        <p:nvSpPr>
          <p:cNvPr id="7" name="Shape 5"/>
          <p:cNvSpPr/>
          <p:nvPr/>
        </p:nvSpPr>
        <p:spPr>
          <a:xfrm>
            <a:off x="6163056" y="1325880"/>
            <a:ext cx="5321808" cy="1938528"/>
          </a:xfrm>
          <a:prstGeom prst="roundRect">
            <a:avLst>
              <a:gd name="adj" fmla="val 1887"/>
            </a:avLst>
          </a:prstGeom>
          <a:solidFill>
            <a:srgbClr val="EFF3F1"/>
          </a:solidFill>
          <a:ln w="6350">
            <a:solidFill>
              <a:srgbClr val="EFF3F1"/>
            </a:solidFill>
            <a:prstDash val="solid"/>
          </a:ln>
        </p:spPr>
      </p:sp>
      <p:sp>
        <p:nvSpPr>
          <p:cNvPr id="8" name="Text 6"/>
          <p:cNvSpPr txBox="1"/>
          <p:nvPr/>
        </p:nvSpPr>
        <p:spPr>
          <a:xfrm>
            <a:off x="6437376" y="1517904"/>
            <a:ext cx="365760" cy="402336"/>
          </a:xfrm>
          <a:prstGeom prst="rect">
            <a:avLst/>
          </a:prstGeom>
          <a:noFill/>
          <a:ln/>
        </p:spPr>
        <p:txBody>
          <a:bodyPr wrap="square" lIns="0" tIns="0" rIns="0" bIns="0" rtlCol="0" anchor="ctr"/>
          <a:lstStyle/>
          <a:p>
            <a:pPr indent="0" marL="0">
              <a:buNone/>
            </a:pPr>
            <a:r>
              <a:rPr lang="en-US" sz="2400" b="1" dirty="0">
                <a:solidFill>
                  <a:srgbClr val="B9CFC4"/>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6912864" y="1572768"/>
            <a:ext cx="4352544" cy="292608"/>
          </a:xfrm>
          <a:prstGeom prst="rect">
            <a:avLst/>
          </a:prstGeom>
          <a:noFill/>
          <a:ln/>
        </p:spPr>
        <p:txBody>
          <a:bodyPr wrap="square" lIns="0" tIns="0" rIns="0" bIns="0" rtlCol="0" anchor="ctr"/>
          <a:lstStyle/>
          <a:p>
            <a:pPr indent="0" marL="0">
              <a:buNone/>
            </a:pPr>
            <a:r>
              <a:rPr lang="en-US" sz="1400" b="1" dirty="0">
                <a:solidFill>
                  <a:srgbClr val="11211C"/>
                </a:solidFill>
              </a:rPr>
              <a:t>Pastaj minimizo gjërësinë brenda asaj që mbetet</a:t>
            </a:r>
            <a:endParaRPr lang="en-US" sz="1400" dirty="0"/>
          </a:p>
        </p:txBody>
      </p:sp>
      <p:sp>
        <p:nvSpPr>
          <p:cNvPr id="10" name="Text 8"/>
          <p:cNvSpPr txBox="1"/>
          <p:nvPr/>
        </p:nvSpPr>
        <p:spPr>
          <a:xfrm>
            <a:off x="6912864" y="1938528"/>
            <a:ext cx="4352544" cy="1152144"/>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Gjërësia minimale e eliminimit e një grafi është pikërisht gjërësia e pemës së tij. Llogaritja e saj është NP-e vështirë (Arnborg, Corneil &amp; Proskurowski, 1987); po ashtu edhe mbushja minimale (Yannakakis, 1981).</a:t>
            </a:r>
            <a:endParaRPr lang="en-US" sz="1250" dirty="0"/>
          </a:p>
        </p:txBody>
      </p:sp>
      <p:sp>
        <p:nvSpPr>
          <p:cNvPr id="11" name="Shape 9"/>
          <p:cNvSpPr/>
          <p:nvPr/>
        </p:nvSpPr>
        <p:spPr>
          <a:xfrm>
            <a:off x="5742432" y="2148840"/>
            <a:ext cx="384048" cy="274320"/>
          </a:xfrm>
          <a:prstGeom prst="rightArrow">
            <a:avLst/>
          </a:prstGeom>
          <a:solidFill>
            <a:srgbClr val="3E8E72"/>
          </a:solidFill>
          <a:ln w="12700">
            <a:solidFill>
              <a:srgbClr val="3E8E72"/>
            </a:solidFill>
            <a:prstDash val="solid"/>
          </a:ln>
        </p:spPr>
      </p:sp>
      <p:sp>
        <p:nvSpPr>
          <p:cNvPr id="12" name="Shape 10"/>
          <p:cNvSpPr/>
          <p:nvPr/>
        </p:nvSpPr>
        <p:spPr>
          <a:xfrm>
            <a:off x="566928" y="3493008"/>
            <a:ext cx="10936224" cy="1005840"/>
          </a:xfrm>
          <a:prstGeom prst="roundRect">
            <a:avLst>
              <a:gd name="adj" fmla="val 3636"/>
            </a:avLst>
          </a:prstGeom>
          <a:solidFill>
            <a:srgbClr val="1F3A33"/>
          </a:solidFill>
          <a:ln w="6350">
            <a:solidFill>
              <a:srgbClr val="1F3A33"/>
            </a:solidFill>
            <a:prstDash val="solid"/>
          </a:ln>
        </p:spPr>
      </p:sp>
      <p:sp>
        <p:nvSpPr>
          <p:cNvPr id="13" name="Text 11"/>
          <p:cNvSpPr txBox="1"/>
          <p:nvPr/>
        </p:nvSpPr>
        <p:spPr>
          <a:xfrm>
            <a:off x="859536" y="3675888"/>
            <a:ext cx="10332720" cy="676656"/>
          </a:xfrm>
          <a:prstGeom prst="rect">
            <a:avLst/>
          </a:prstGeom>
          <a:noFill/>
          <a:ln/>
        </p:spPr>
        <p:txBody>
          <a:bodyPr wrap="square" lIns="0" tIns="0" rIns="0" bIns="0" rtlCol="0" anchor="ctr"/>
          <a:lstStyle/>
          <a:p>
            <a:pPr indent="0" marL="0">
              <a:lnSpc>
                <a:spcPts val="1900"/>
              </a:lnSpc>
              <a:buNone/>
            </a:pPr>
            <a:r>
              <a:rPr lang="en-US" sz="1300" dirty="0">
                <a:solidFill>
                  <a:srgbClr val="FFFFFF"/>
                </a:solidFill>
              </a:rPr>
              <a:t>Optimumi në pragun t është min mbi të gjitha nënbashkësitë S me t elemente i tw(torso(G,S)): një madësi NP-e vështirë, e minimizuar mbi një familje eksponenciale nënbashkësish.</a:t>
            </a:r>
            <a:endParaRPr lang="en-US" sz="1300" dirty="0"/>
          </a:p>
        </p:txBody>
      </p:sp>
      <p:sp>
        <p:nvSpPr>
          <p:cNvPr id="14" name="Text 12"/>
          <p:cNvSpPr txBox="1"/>
          <p:nvPr/>
        </p:nvSpPr>
        <p:spPr>
          <a:xfrm>
            <a:off x="566928" y="4736592"/>
            <a:ext cx="10936224" cy="822960"/>
          </a:xfrm>
          <a:prstGeom prst="rect">
            <a:avLst/>
          </a:prstGeom>
          <a:noFill/>
          <a:ln/>
        </p:spPr>
        <p:txBody>
          <a:bodyPr wrap="square" lIns="0" tIns="0" rIns="0" bIns="0" rtlCol="0" anchor="ctr"/>
          <a:lstStyle/>
          <a:p>
            <a:pPr indent="0" marL="0">
              <a:lnSpc>
                <a:spcPts val="1800"/>
              </a:lnSpc>
              <a:buNone/>
            </a:pPr>
            <a:r>
              <a:rPr lang="en-US" sz="1250" i="1" dirty="0">
                <a:solidFill>
                  <a:srgbClr val="6B7A75"/>
                </a:solidFill>
              </a:rPr>
              <a:t>Vlerësimi, përkundrazi, është falas: hipervolumi në dy përmasa është O(k log k) për k ≤ 20 pika. Vështirësia qëndron tërësisht në hapësirën e kërkimit, jo në vlerësim, dhe ai asimetri e formëson çdo metodë në këtë fushë.</a:t>
            </a:r>
            <a:endParaRPr lang="en-US" sz="12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Sa i mirë do të mund të ishte çdo përgjigje</a:t>
            </a:r>
            <a:endParaRPr lang="en-US" sz="2600" dirty="0"/>
          </a:p>
        </p:txBody>
      </p:sp>
      <p:sp>
        <p:nvSpPr>
          <p:cNvPr id="3" name="Text 1"/>
          <p:cNvSpPr txBox="1"/>
          <p:nvPr/>
        </p:nvSpPr>
        <p:spPr>
          <a:xfrm>
            <a:off x="566928" y="1280160"/>
            <a:ext cx="5943600" cy="1097280"/>
          </a:xfrm>
          <a:prstGeom prst="rect">
            <a:avLst/>
          </a:prstGeom>
          <a:noFill/>
          <a:ln/>
        </p:spPr>
        <p:txBody>
          <a:bodyPr wrap="square" lIns="0" tIns="0" rIns="0" bIns="0" rtlCol="0" anchor="ctr"/>
          <a:lstStyle/>
          <a:p>
            <a:pPr indent="0" marL="0">
              <a:lnSpc>
                <a:spcPts val="1900"/>
              </a:lnSpc>
              <a:buNone/>
            </a:pPr>
            <a:r>
              <a:rPr lang="en-US" sz="1250" dirty="0">
                <a:solidFill>
                  <a:srgbClr val="11211C"/>
                </a:solidFill>
              </a:rPr>
              <a:t>Merr një dekompozim peme të torsos mbi S dhe shto S në çdo qese: rezultati është një dekompozim peme i vlefshëm i G. Pra tw(G) ≤ tw(torso(G,S)) + t, dhe çdo pikë që mund të raportojë ndonjë metodë i bindet  gjërësi ≥ tw(G) − t.</a:t>
            </a:r>
            <a:endParaRPr lang="en-US" sz="1250" dirty="0"/>
          </a:p>
        </p:txBody>
      </p:sp>
      <p:sp>
        <p:nvSpPr>
          <p:cNvPr id="4" name="Text 2"/>
          <p:cNvSpPr txBox="1"/>
          <p:nvPr/>
        </p:nvSpPr>
        <p:spPr>
          <a:xfrm>
            <a:off x="566928" y="2487168"/>
            <a:ext cx="5943600" cy="1371600"/>
          </a:xfrm>
          <a:prstGeom prst="rect">
            <a:avLst/>
          </a:prstGeom>
          <a:noFill/>
          <a:ln/>
        </p:spPr>
        <p:txBody>
          <a:bodyPr wrap="square" lIns="0" tIns="0" rIns="0" bIns="0" rtlCol="0" anchor="ctr"/>
          <a:lstStyle/>
          <a:p>
            <a:pPr indent="0" marL="0">
              <a:lnSpc>
                <a:spcPts val="1800"/>
              </a:lnSpc>
              <a:buNone/>
            </a:pPr>
            <a:r>
              <a:rPr lang="en-US" sz="1200" dirty="0">
                <a:solidFill>
                  <a:srgbClr val="6B7A75"/>
                </a:solidFill>
              </a:rPr>
              <a:t>Gjërësia e pemës është NP-e vështirë, por kufijtë e poshtëm për të janë të lirë dhe monotonë ndaj minorëve; degjeneriteti me kontraktim mjafton. Çdo kufi L jep një mur, dhe tavani është hipervolumi më i madh që 20 pika mund të kenë mbi frontin (L − t, t), me programim dinamik. Empirikisht sillet si n² − L²/2.</a:t>
            </a:r>
            <a:endParaRPr lang="en-US" sz="1200" dirty="0"/>
          </a:p>
        </p:txBody>
      </p:sp>
      <p:sp>
        <p:nvSpPr>
          <p:cNvPr id="5" name="Shape 3"/>
          <p:cNvSpPr/>
          <p:nvPr/>
        </p:nvSpPr>
        <p:spPr>
          <a:xfrm>
            <a:off x="566928" y="3968496"/>
            <a:ext cx="5943600" cy="1426464"/>
          </a:xfrm>
          <a:prstGeom prst="roundRect">
            <a:avLst>
              <a:gd name="adj" fmla="val 2564"/>
            </a:avLst>
          </a:prstGeom>
          <a:solidFill>
            <a:srgbClr val="FBF0EA"/>
          </a:solidFill>
          <a:ln w="6350">
            <a:solidFill>
              <a:srgbClr val="FBF0EA"/>
            </a:solidFill>
            <a:prstDash val="solid"/>
          </a:ln>
        </p:spPr>
      </p:sp>
      <p:sp>
        <p:nvSpPr>
          <p:cNvPr id="6" name="Text 4"/>
          <p:cNvSpPr txBox="1"/>
          <p:nvPr/>
        </p:nvSpPr>
        <p:spPr>
          <a:xfrm>
            <a:off x="822960" y="4133088"/>
            <a:ext cx="5431536" cy="1115568"/>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large-graph përmban një klikë me 500 kulme, pra tw ≥ 499; dhe ekzistojnë zgjidhje të lejuara brenda kufirit 500, pra tw ≤ 500. Gjërësia e pemës është e ngulitur brenda njëshit, dhe kjo e bën ate 4.54% hapësirë reale e jo shkarje.</a:t>
            </a:r>
            <a:endParaRPr lang="en-US" sz="1200" dirty="0"/>
          </a:p>
        </p:txBody>
      </p:sp>
      <p:sp>
        <p:nvSpPr>
          <p:cNvPr id="7" name="Shape 5"/>
          <p:cNvSpPr/>
          <p:nvPr/>
        </p:nvSpPr>
        <p:spPr>
          <a:xfrm>
            <a:off x="6766560" y="1773936"/>
            <a:ext cx="5385816" cy="914"/>
          </a:xfrm>
          <a:prstGeom prst="line">
            <a:avLst/>
          </a:prstGeom>
          <a:noFill/>
          <a:ln w="13970">
            <a:solidFill>
              <a:srgbClr val="11211C"/>
            </a:solidFill>
            <a:prstDash val="solid"/>
          </a:ln>
        </p:spPr>
      </p:sp>
      <p:sp>
        <p:nvSpPr>
          <p:cNvPr id="8" name="Text 6"/>
          <p:cNvSpPr txBox="1"/>
          <p:nvPr/>
        </p:nvSpPr>
        <p:spPr>
          <a:xfrm>
            <a:off x="6766560" y="1389888"/>
            <a:ext cx="1463040" cy="420624"/>
          </a:xfrm>
          <a:prstGeom prst="rect">
            <a:avLst/>
          </a:prstGeom>
          <a:noFill/>
          <a:ln/>
        </p:spPr>
        <p:txBody>
          <a:bodyPr wrap="square" lIns="0" tIns="0" rIns="0" bIns="0" rtlCol="0" anchor="ctr"/>
          <a:lstStyle/>
          <a:p>
            <a:pPr algn="l" indent="0" marL="0">
              <a:buNone/>
            </a:pPr>
            <a:r>
              <a:rPr lang="en-US" sz="1000" b="1" dirty="0">
                <a:solidFill>
                  <a:srgbClr val="2A5247"/>
                </a:solidFill>
              </a:rPr>
              <a:t>instanca</a:t>
            </a:r>
            <a:endParaRPr lang="en-US" sz="1000" dirty="0"/>
          </a:p>
        </p:txBody>
      </p:sp>
      <p:sp>
        <p:nvSpPr>
          <p:cNvPr id="9" name="Text 7"/>
          <p:cNvSpPr txBox="1"/>
          <p:nvPr/>
        </p:nvSpPr>
        <p:spPr>
          <a:xfrm>
            <a:off x="8229600" y="1389888"/>
            <a:ext cx="493776" cy="420624"/>
          </a:xfrm>
          <a:prstGeom prst="rect">
            <a:avLst/>
          </a:prstGeom>
          <a:noFill/>
          <a:ln/>
        </p:spPr>
        <p:txBody>
          <a:bodyPr wrap="square" lIns="0" tIns="0" rIns="0" bIns="0" rtlCol="0" anchor="ctr"/>
          <a:lstStyle/>
          <a:p>
            <a:pPr algn="r" indent="0" marL="0">
              <a:buNone/>
            </a:pPr>
            <a:r>
              <a:rPr lang="en-US" sz="1000" b="1" dirty="0">
                <a:solidFill>
                  <a:srgbClr val="2A5247"/>
                </a:solidFill>
              </a:rPr>
              <a:t>n</a:t>
            </a:r>
            <a:endParaRPr lang="en-US" sz="1000" dirty="0"/>
          </a:p>
        </p:txBody>
      </p:sp>
      <p:sp>
        <p:nvSpPr>
          <p:cNvPr id="10" name="Text 8"/>
          <p:cNvSpPr txBox="1"/>
          <p:nvPr/>
        </p:nvSpPr>
        <p:spPr>
          <a:xfrm>
            <a:off x="8723376" y="1389888"/>
            <a:ext cx="521208" cy="420624"/>
          </a:xfrm>
          <a:prstGeom prst="rect">
            <a:avLst/>
          </a:prstGeom>
          <a:noFill/>
          <a:ln/>
        </p:spPr>
        <p:txBody>
          <a:bodyPr wrap="square" lIns="0" tIns="0" rIns="0" bIns="0" rtlCol="0" anchor="ctr"/>
          <a:lstStyle/>
          <a:p>
            <a:pPr algn="r" indent="0" marL="0">
              <a:buNone/>
            </a:pPr>
            <a:r>
              <a:rPr lang="en-US" sz="1000" b="1" dirty="0">
                <a:solidFill>
                  <a:srgbClr val="2A5247"/>
                </a:solidFill>
              </a:rPr>
              <a:t>tw ≥</a:t>
            </a:r>
            <a:endParaRPr lang="en-US" sz="1000" dirty="0"/>
          </a:p>
        </p:txBody>
      </p:sp>
      <p:sp>
        <p:nvSpPr>
          <p:cNvPr id="11" name="Text 9"/>
          <p:cNvSpPr txBox="1"/>
          <p:nvPr/>
        </p:nvSpPr>
        <p:spPr>
          <a:xfrm>
            <a:off x="9244584" y="1389888"/>
            <a:ext cx="1188720" cy="420624"/>
          </a:xfrm>
          <a:prstGeom prst="rect">
            <a:avLst/>
          </a:prstGeom>
          <a:noFill/>
          <a:ln/>
        </p:spPr>
        <p:txBody>
          <a:bodyPr wrap="square" lIns="0" tIns="0" rIns="0" bIns="0" rtlCol="0" anchor="ctr"/>
          <a:lstStyle/>
          <a:p>
            <a:pPr algn="r" indent="0" marL="0">
              <a:buNone/>
            </a:pPr>
            <a:r>
              <a:rPr lang="en-US" sz="1000" b="1" dirty="0">
                <a:solidFill>
                  <a:srgbClr val="2A5247"/>
                </a:solidFill>
              </a:rPr>
              <a:t>tavani i vërtetueshëm</a:t>
            </a:r>
            <a:endParaRPr lang="en-US" sz="1000" dirty="0"/>
          </a:p>
        </p:txBody>
      </p:sp>
      <p:sp>
        <p:nvSpPr>
          <p:cNvPr id="12" name="Text 10"/>
          <p:cNvSpPr txBox="1"/>
          <p:nvPr/>
        </p:nvSpPr>
        <p:spPr>
          <a:xfrm>
            <a:off x="10433304" y="1389888"/>
            <a:ext cx="1170432" cy="420624"/>
          </a:xfrm>
          <a:prstGeom prst="rect">
            <a:avLst/>
          </a:prstGeom>
          <a:noFill/>
          <a:ln/>
        </p:spPr>
        <p:txBody>
          <a:bodyPr wrap="square" lIns="0" tIns="0" rIns="0" bIns="0" rtlCol="0" anchor="ctr"/>
          <a:lstStyle/>
          <a:p>
            <a:pPr algn="r" indent="0" marL="0">
              <a:buNone/>
            </a:pPr>
            <a:r>
              <a:rPr lang="en-US" sz="1000" b="1" dirty="0">
                <a:solidFill>
                  <a:srgbClr val="2A5247"/>
                </a:solidFill>
              </a:rPr>
              <a:t>më i miri i njohur</a:t>
            </a:r>
            <a:endParaRPr lang="en-US" sz="1000" dirty="0"/>
          </a:p>
        </p:txBody>
      </p:sp>
      <p:sp>
        <p:nvSpPr>
          <p:cNvPr id="13" name="Text 11"/>
          <p:cNvSpPr txBox="1"/>
          <p:nvPr/>
        </p:nvSpPr>
        <p:spPr>
          <a:xfrm>
            <a:off x="11603736" y="1389888"/>
            <a:ext cx="548640" cy="420624"/>
          </a:xfrm>
          <a:prstGeom prst="rect">
            <a:avLst/>
          </a:prstGeom>
          <a:noFill/>
          <a:ln/>
        </p:spPr>
        <p:txBody>
          <a:bodyPr wrap="square" lIns="0" tIns="0" rIns="0" bIns="0" rtlCol="0" anchor="ctr"/>
          <a:lstStyle/>
          <a:p>
            <a:pPr algn="r" indent="0" marL="0">
              <a:buNone/>
            </a:pPr>
            <a:r>
              <a:rPr lang="en-US" sz="1000" b="1" dirty="0">
                <a:solidFill>
                  <a:srgbClr val="2A5247"/>
                </a:solidFill>
              </a:rPr>
              <a:t>hendeku</a:t>
            </a:r>
            <a:endParaRPr lang="en-US" sz="1000" dirty="0"/>
          </a:p>
        </p:txBody>
      </p:sp>
      <p:sp>
        <p:nvSpPr>
          <p:cNvPr id="14" name="Shape 12"/>
          <p:cNvSpPr/>
          <p:nvPr/>
        </p:nvSpPr>
        <p:spPr>
          <a:xfrm>
            <a:off x="6766560" y="2194560"/>
            <a:ext cx="5385816" cy="914"/>
          </a:xfrm>
          <a:prstGeom prst="line">
            <a:avLst/>
          </a:prstGeom>
          <a:noFill/>
          <a:ln w="7620">
            <a:solidFill>
              <a:srgbClr val="D9E0DC"/>
            </a:solidFill>
            <a:prstDash val="solid"/>
          </a:ln>
        </p:spPr>
      </p:sp>
      <p:sp>
        <p:nvSpPr>
          <p:cNvPr id="15" name="Text 13"/>
          <p:cNvSpPr txBox="1"/>
          <p:nvPr/>
        </p:nvSpPr>
        <p:spPr>
          <a:xfrm>
            <a:off x="6766560" y="1810512"/>
            <a:ext cx="1463040" cy="420624"/>
          </a:xfrm>
          <a:prstGeom prst="rect">
            <a:avLst/>
          </a:prstGeom>
          <a:noFill/>
          <a:ln/>
        </p:spPr>
        <p:txBody>
          <a:bodyPr wrap="square" lIns="0" tIns="0" rIns="0" bIns="0" rtlCol="0" anchor="ctr"/>
          <a:lstStyle/>
          <a:p>
            <a:pPr algn="l" indent="0" marL="0">
              <a:buNone/>
            </a:pPr>
            <a:r>
              <a:rPr lang="en-US" sz="1150" dirty="0">
                <a:solidFill>
                  <a:srgbClr val="11211C"/>
                </a:solidFill>
              </a:rPr>
              <a:t>small-graph</a:t>
            </a:r>
            <a:endParaRPr lang="en-US" sz="1150" dirty="0"/>
          </a:p>
        </p:txBody>
      </p:sp>
      <p:sp>
        <p:nvSpPr>
          <p:cNvPr id="16" name="Text 14"/>
          <p:cNvSpPr txBox="1"/>
          <p:nvPr/>
        </p:nvSpPr>
        <p:spPr>
          <a:xfrm>
            <a:off x="8229600" y="1810512"/>
            <a:ext cx="493776" cy="420624"/>
          </a:xfrm>
          <a:prstGeom prst="rect">
            <a:avLst/>
          </a:prstGeom>
          <a:noFill/>
          <a:ln/>
        </p:spPr>
        <p:txBody>
          <a:bodyPr wrap="square" lIns="0" tIns="0" rIns="0" bIns="0" rtlCol="0" anchor="ctr"/>
          <a:lstStyle/>
          <a:p>
            <a:pPr algn="r" indent="0" marL="0">
              <a:buNone/>
            </a:pPr>
            <a:r>
              <a:rPr lang="en-US" sz="1150" dirty="0">
                <a:solidFill>
                  <a:srgbClr val="11211C"/>
                </a:solidFill>
              </a:rPr>
              <a:t>1,357</a:t>
            </a:r>
            <a:endParaRPr lang="en-US" sz="1150" dirty="0"/>
          </a:p>
        </p:txBody>
      </p:sp>
      <p:sp>
        <p:nvSpPr>
          <p:cNvPr id="17" name="Text 15"/>
          <p:cNvSpPr txBox="1"/>
          <p:nvPr/>
        </p:nvSpPr>
        <p:spPr>
          <a:xfrm>
            <a:off x="8723376" y="1810512"/>
            <a:ext cx="521208" cy="420624"/>
          </a:xfrm>
          <a:prstGeom prst="rect">
            <a:avLst/>
          </a:prstGeom>
          <a:noFill/>
          <a:ln/>
        </p:spPr>
        <p:txBody>
          <a:bodyPr wrap="square" lIns="0" tIns="0" rIns="0" bIns="0" rtlCol="0" anchor="ctr"/>
          <a:lstStyle/>
          <a:p>
            <a:pPr algn="r" indent="0" marL="0">
              <a:buNone/>
            </a:pPr>
            <a:r>
              <a:rPr lang="en-US" sz="1150" dirty="0">
                <a:solidFill>
                  <a:srgbClr val="11211C"/>
                </a:solidFill>
              </a:rPr>
              <a:t>5</a:t>
            </a:r>
            <a:endParaRPr lang="en-US" sz="1150" dirty="0"/>
          </a:p>
        </p:txBody>
      </p:sp>
      <p:sp>
        <p:nvSpPr>
          <p:cNvPr id="18" name="Text 16"/>
          <p:cNvSpPr txBox="1"/>
          <p:nvPr/>
        </p:nvSpPr>
        <p:spPr>
          <a:xfrm>
            <a:off x="9244584" y="1810512"/>
            <a:ext cx="1188720" cy="420624"/>
          </a:xfrm>
          <a:prstGeom prst="rect">
            <a:avLst/>
          </a:prstGeom>
          <a:noFill/>
          <a:ln/>
        </p:spPr>
        <p:txBody>
          <a:bodyPr wrap="square" lIns="0" tIns="0" rIns="0" bIns="0" rtlCol="0" anchor="ctr"/>
          <a:lstStyle/>
          <a:p>
            <a:pPr algn="r" indent="0" marL="0">
              <a:buNone/>
            </a:pPr>
            <a:r>
              <a:rPr lang="en-US" sz="1150" dirty="0">
                <a:solidFill>
                  <a:srgbClr val="11211C"/>
                </a:solidFill>
              </a:rPr>
              <a:t>−1,841,434</a:t>
            </a:r>
            <a:endParaRPr lang="en-US" sz="1150" dirty="0"/>
          </a:p>
        </p:txBody>
      </p:sp>
      <p:sp>
        <p:nvSpPr>
          <p:cNvPr id="19" name="Text 17"/>
          <p:cNvSpPr txBox="1"/>
          <p:nvPr/>
        </p:nvSpPr>
        <p:spPr>
          <a:xfrm>
            <a:off x="10433304" y="1810512"/>
            <a:ext cx="1170432" cy="420624"/>
          </a:xfrm>
          <a:prstGeom prst="rect">
            <a:avLst/>
          </a:prstGeom>
          <a:noFill/>
          <a:ln/>
        </p:spPr>
        <p:txBody>
          <a:bodyPr wrap="square" lIns="0" tIns="0" rIns="0" bIns="0" rtlCol="0" anchor="ctr"/>
          <a:lstStyle/>
          <a:p>
            <a:pPr algn="r" indent="0" marL="0">
              <a:buNone/>
            </a:pPr>
            <a:r>
              <a:rPr lang="en-US" sz="1150" dirty="0">
                <a:solidFill>
                  <a:srgbClr val="11211C"/>
                </a:solidFill>
              </a:rPr>
              <a:t>−1,829,919</a:t>
            </a:r>
            <a:endParaRPr lang="en-US" sz="1150" dirty="0"/>
          </a:p>
        </p:txBody>
      </p:sp>
      <p:sp>
        <p:nvSpPr>
          <p:cNvPr id="20" name="Text 18"/>
          <p:cNvSpPr txBox="1"/>
          <p:nvPr/>
        </p:nvSpPr>
        <p:spPr>
          <a:xfrm>
            <a:off x="11603736" y="1810512"/>
            <a:ext cx="548640" cy="420624"/>
          </a:xfrm>
          <a:prstGeom prst="rect">
            <a:avLst/>
          </a:prstGeom>
          <a:noFill/>
          <a:ln/>
        </p:spPr>
        <p:txBody>
          <a:bodyPr wrap="square" lIns="0" tIns="0" rIns="0" bIns="0" rtlCol="0" anchor="ctr"/>
          <a:lstStyle/>
          <a:p>
            <a:pPr algn="r" indent="0" marL="0">
              <a:buNone/>
            </a:pPr>
            <a:r>
              <a:rPr lang="en-US" sz="1150" dirty="0">
                <a:solidFill>
                  <a:srgbClr val="11211C"/>
                </a:solidFill>
              </a:rPr>
              <a:t>0.63%</a:t>
            </a:r>
            <a:endParaRPr lang="en-US" sz="1150" dirty="0"/>
          </a:p>
        </p:txBody>
      </p:sp>
      <p:sp>
        <p:nvSpPr>
          <p:cNvPr id="21" name="Shape 19"/>
          <p:cNvSpPr/>
          <p:nvPr/>
        </p:nvSpPr>
        <p:spPr>
          <a:xfrm>
            <a:off x="6766560" y="2615184"/>
            <a:ext cx="5385816" cy="914"/>
          </a:xfrm>
          <a:prstGeom prst="line">
            <a:avLst/>
          </a:prstGeom>
          <a:noFill/>
          <a:ln w="7620">
            <a:solidFill>
              <a:srgbClr val="D9E0DC"/>
            </a:solidFill>
            <a:prstDash val="solid"/>
          </a:ln>
        </p:spPr>
      </p:sp>
      <p:sp>
        <p:nvSpPr>
          <p:cNvPr id="22" name="Text 20"/>
          <p:cNvSpPr txBox="1"/>
          <p:nvPr/>
        </p:nvSpPr>
        <p:spPr>
          <a:xfrm>
            <a:off x="6766560" y="2231136"/>
            <a:ext cx="1463040" cy="420624"/>
          </a:xfrm>
          <a:prstGeom prst="rect">
            <a:avLst/>
          </a:prstGeom>
          <a:noFill/>
          <a:ln/>
        </p:spPr>
        <p:txBody>
          <a:bodyPr wrap="square" lIns="0" tIns="0" rIns="0" bIns="0" rtlCol="0" anchor="ctr"/>
          <a:lstStyle/>
          <a:p>
            <a:pPr algn="l" indent="0" marL="0">
              <a:buNone/>
            </a:pPr>
            <a:r>
              <a:rPr lang="en-US" sz="1150" dirty="0">
                <a:solidFill>
                  <a:srgbClr val="11211C"/>
                </a:solidFill>
              </a:rPr>
              <a:t>medium-graph</a:t>
            </a:r>
            <a:endParaRPr lang="en-US" sz="1150" dirty="0"/>
          </a:p>
        </p:txBody>
      </p:sp>
      <p:sp>
        <p:nvSpPr>
          <p:cNvPr id="23" name="Text 21"/>
          <p:cNvSpPr txBox="1"/>
          <p:nvPr/>
        </p:nvSpPr>
        <p:spPr>
          <a:xfrm>
            <a:off x="8229600" y="2231136"/>
            <a:ext cx="493776" cy="420624"/>
          </a:xfrm>
          <a:prstGeom prst="rect">
            <a:avLst/>
          </a:prstGeom>
          <a:noFill/>
          <a:ln/>
        </p:spPr>
        <p:txBody>
          <a:bodyPr wrap="square" lIns="0" tIns="0" rIns="0" bIns="0" rtlCol="0" anchor="ctr"/>
          <a:lstStyle/>
          <a:p>
            <a:pPr algn="r" indent="0" marL="0">
              <a:buNone/>
            </a:pPr>
            <a:r>
              <a:rPr lang="en-US" sz="1150" dirty="0">
                <a:solidFill>
                  <a:srgbClr val="11211C"/>
                </a:solidFill>
              </a:rPr>
              <a:t>1,399</a:t>
            </a:r>
            <a:endParaRPr lang="en-US" sz="1150" dirty="0"/>
          </a:p>
        </p:txBody>
      </p:sp>
      <p:sp>
        <p:nvSpPr>
          <p:cNvPr id="24" name="Text 22"/>
          <p:cNvSpPr txBox="1"/>
          <p:nvPr/>
        </p:nvSpPr>
        <p:spPr>
          <a:xfrm>
            <a:off x="8723376" y="2231136"/>
            <a:ext cx="521208" cy="420624"/>
          </a:xfrm>
          <a:prstGeom prst="rect">
            <a:avLst/>
          </a:prstGeom>
          <a:noFill/>
          <a:ln/>
        </p:spPr>
        <p:txBody>
          <a:bodyPr wrap="square" lIns="0" tIns="0" rIns="0" bIns="0" rtlCol="0" anchor="ctr"/>
          <a:lstStyle/>
          <a:p>
            <a:pPr algn="r" indent="0" marL="0">
              <a:buNone/>
            </a:pPr>
            <a:r>
              <a:rPr lang="en-US" sz="1150" dirty="0">
                <a:solidFill>
                  <a:srgbClr val="11211C"/>
                </a:solidFill>
              </a:rPr>
              <a:t>63</a:t>
            </a:r>
            <a:endParaRPr lang="en-US" sz="1150" dirty="0"/>
          </a:p>
        </p:txBody>
      </p:sp>
      <p:sp>
        <p:nvSpPr>
          <p:cNvPr id="25" name="Text 23"/>
          <p:cNvSpPr txBox="1"/>
          <p:nvPr/>
        </p:nvSpPr>
        <p:spPr>
          <a:xfrm>
            <a:off x="9244584" y="2231136"/>
            <a:ext cx="1188720" cy="420624"/>
          </a:xfrm>
          <a:prstGeom prst="rect">
            <a:avLst/>
          </a:prstGeom>
          <a:noFill/>
          <a:ln/>
        </p:spPr>
        <p:txBody>
          <a:bodyPr wrap="square" lIns="0" tIns="0" rIns="0" bIns="0" rtlCol="0" anchor="ctr"/>
          <a:lstStyle/>
          <a:p>
            <a:pPr algn="r" indent="0" marL="0">
              <a:buNone/>
            </a:pPr>
            <a:r>
              <a:rPr lang="en-US" sz="1150" dirty="0">
                <a:solidFill>
                  <a:srgbClr val="11211C"/>
                </a:solidFill>
              </a:rPr>
              <a:t>−1,955,110</a:t>
            </a:r>
            <a:endParaRPr lang="en-US" sz="1150" dirty="0"/>
          </a:p>
        </p:txBody>
      </p:sp>
      <p:sp>
        <p:nvSpPr>
          <p:cNvPr id="26" name="Text 24"/>
          <p:cNvSpPr txBox="1"/>
          <p:nvPr/>
        </p:nvSpPr>
        <p:spPr>
          <a:xfrm>
            <a:off x="10433304" y="2231136"/>
            <a:ext cx="1170432" cy="420624"/>
          </a:xfrm>
          <a:prstGeom prst="rect">
            <a:avLst/>
          </a:prstGeom>
          <a:noFill/>
          <a:ln/>
        </p:spPr>
        <p:txBody>
          <a:bodyPr wrap="square" lIns="0" tIns="0" rIns="0" bIns="0" rtlCol="0" anchor="ctr"/>
          <a:lstStyle/>
          <a:p>
            <a:pPr algn="r" indent="0" marL="0">
              <a:buNone/>
            </a:pPr>
            <a:r>
              <a:rPr lang="en-US" sz="1150" dirty="0">
                <a:solidFill>
                  <a:srgbClr val="11211C"/>
                </a:solidFill>
              </a:rPr>
              <a:t>−1,745,122</a:t>
            </a:r>
            <a:endParaRPr lang="en-US" sz="1150" dirty="0"/>
          </a:p>
        </p:txBody>
      </p:sp>
      <p:sp>
        <p:nvSpPr>
          <p:cNvPr id="27" name="Text 25"/>
          <p:cNvSpPr txBox="1"/>
          <p:nvPr/>
        </p:nvSpPr>
        <p:spPr>
          <a:xfrm>
            <a:off x="11603736" y="2231136"/>
            <a:ext cx="548640" cy="420624"/>
          </a:xfrm>
          <a:prstGeom prst="rect">
            <a:avLst/>
          </a:prstGeom>
          <a:noFill/>
          <a:ln/>
        </p:spPr>
        <p:txBody>
          <a:bodyPr wrap="square" lIns="0" tIns="0" rIns="0" bIns="0" rtlCol="0" anchor="ctr"/>
          <a:lstStyle/>
          <a:p>
            <a:pPr algn="r" indent="0" marL="0">
              <a:buNone/>
            </a:pPr>
            <a:r>
              <a:rPr lang="en-US" sz="1150" dirty="0">
                <a:solidFill>
                  <a:srgbClr val="11211C"/>
                </a:solidFill>
              </a:rPr>
              <a:t>10.74%</a:t>
            </a:r>
            <a:endParaRPr lang="en-US" sz="1150" dirty="0"/>
          </a:p>
        </p:txBody>
      </p:sp>
      <p:sp>
        <p:nvSpPr>
          <p:cNvPr id="28" name="Shape 26"/>
          <p:cNvSpPr/>
          <p:nvPr/>
        </p:nvSpPr>
        <p:spPr>
          <a:xfrm>
            <a:off x="6766560" y="3035808"/>
            <a:ext cx="5385816" cy="914"/>
          </a:xfrm>
          <a:prstGeom prst="line">
            <a:avLst/>
          </a:prstGeom>
          <a:noFill/>
          <a:ln w="7620">
            <a:solidFill>
              <a:srgbClr val="D9E0DC"/>
            </a:solidFill>
            <a:prstDash val="solid"/>
          </a:ln>
        </p:spPr>
      </p:sp>
      <p:sp>
        <p:nvSpPr>
          <p:cNvPr id="29" name="Text 27"/>
          <p:cNvSpPr txBox="1"/>
          <p:nvPr/>
        </p:nvSpPr>
        <p:spPr>
          <a:xfrm>
            <a:off x="6766560" y="2651760"/>
            <a:ext cx="1463040" cy="420624"/>
          </a:xfrm>
          <a:prstGeom prst="rect">
            <a:avLst/>
          </a:prstGeom>
          <a:noFill/>
          <a:ln/>
        </p:spPr>
        <p:txBody>
          <a:bodyPr wrap="square" lIns="0" tIns="0" rIns="0" bIns="0" rtlCol="0" anchor="ctr"/>
          <a:lstStyle/>
          <a:p>
            <a:pPr algn="l" indent="0" marL="0">
              <a:buNone/>
            </a:pPr>
            <a:r>
              <a:rPr lang="en-US" sz="1150" dirty="0">
                <a:solidFill>
                  <a:srgbClr val="11211C"/>
                </a:solidFill>
              </a:rPr>
              <a:t>large-graph</a:t>
            </a:r>
            <a:endParaRPr lang="en-US" sz="1150" dirty="0"/>
          </a:p>
        </p:txBody>
      </p:sp>
      <p:sp>
        <p:nvSpPr>
          <p:cNvPr id="30" name="Text 28"/>
          <p:cNvSpPr txBox="1"/>
          <p:nvPr/>
        </p:nvSpPr>
        <p:spPr>
          <a:xfrm>
            <a:off x="8229600" y="2651760"/>
            <a:ext cx="493776" cy="420624"/>
          </a:xfrm>
          <a:prstGeom prst="rect">
            <a:avLst/>
          </a:prstGeom>
          <a:noFill/>
          <a:ln/>
        </p:spPr>
        <p:txBody>
          <a:bodyPr wrap="square" lIns="0" tIns="0" rIns="0" bIns="0" rtlCol="0" anchor="ctr"/>
          <a:lstStyle/>
          <a:p>
            <a:pPr algn="r" indent="0" marL="0">
              <a:buNone/>
            </a:pPr>
            <a:r>
              <a:rPr lang="en-US" sz="1150" dirty="0">
                <a:solidFill>
                  <a:srgbClr val="11211C"/>
                </a:solidFill>
              </a:rPr>
              <a:t>2,426</a:t>
            </a:r>
            <a:endParaRPr lang="en-US" sz="1150" dirty="0"/>
          </a:p>
        </p:txBody>
      </p:sp>
      <p:sp>
        <p:nvSpPr>
          <p:cNvPr id="31" name="Text 29"/>
          <p:cNvSpPr txBox="1"/>
          <p:nvPr/>
        </p:nvSpPr>
        <p:spPr>
          <a:xfrm>
            <a:off x="8723376" y="2651760"/>
            <a:ext cx="521208" cy="420624"/>
          </a:xfrm>
          <a:prstGeom prst="rect">
            <a:avLst/>
          </a:prstGeom>
          <a:noFill/>
          <a:ln/>
        </p:spPr>
        <p:txBody>
          <a:bodyPr wrap="square" lIns="0" tIns="0" rIns="0" bIns="0" rtlCol="0" anchor="ctr"/>
          <a:lstStyle/>
          <a:p>
            <a:pPr algn="r" indent="0" marL="0">
              <a:buNone/>
            </a:pPr>
            <a:r>
              <a:rPr lang="en-US" sz="1150" dirty="0">
                <a:solidFill>
                  <a:srgbClr val="11211C"/>
                </a:solidFill>
              </a:rPr>
              <a:t>499</a:t>
            </a:r>
            <a:endParaRPr lang="en-US" sz="1150" dirty="0"/>
          </a:p>
        </p:txBody>
      </p:sp>
      <p:sp>
        <p:nvSpPr>
          <p:cNvPr id="32" name="Text 30"/>
          <p:cNvSpPr txBox="1"/>
          <p:nvPr/>
        </p:nvSpPr>
        <p:spPr>
          <a:xfrm>
            <a:off x="9244584" y="2651760"/>
            <a:ext cx="1188720" cy="420624"/>
          </a:xfrm>
          <a:prstGeom prst="rect">
            <a:avLst/>
          </a:prstGeom>
          <a:noFill/>
          <a:ln/>
        </p:spPr>
        <p:txBody>
          <a:bodyPr wrap="square" lIns="0" tIns="0" rIns="0" bIns="0" rtlCol="0" anchor="ctr"/>
          <a:lstStyle/>
          <a:p>
            <a:pPr algn="r" indent="0" marL="0">
              <a:buNone/>
            </a:pPr>
            <a:r>
              <a:rPr lang="en-US" sz="1150" dirty="0">
                <a:solidFill>
                  <a:srgbClr val="11211C"/>
                </a:solidFill>
              </a:rPr>
              <a:t>−5,754,421</a:t>
            </a:r>
            <a:endParaRPr lang="en-US" sz="1150" dirty="0"/>
          </a:p>
        </p:txBody>
      </p:sp>
      <p:sp>
        <p:nvSpPr>
          <p:cNvPr id="33" name="Text 31"/>
          <p:cNvSpPr txBox="1"/>
          <p:nvPr/>
        </p:nvSpPr>
        <p:spPr>
          <a:xfrm>
            <a:off x="10433304" y="2651760"/>
            <a:ext cx="1170432" cy="420624"/>
          </a:xfrm>
          <a:prstGeom prst="rect">
            <a:avLst/>
          </a:prstGeom>
          <a:noFill/>
          <a:ln/>
        </p:spPr>
        <p:txBody>
          <a:bodyPr wrap="square" lIns="0" tIns="0" rIns="0" bIns="0" rtlCol="0" anchor="ctr"/>
          <a:lstStyle/>
          <a:p>
            <a:pPr algn="r" indent="0" marL="0">
              <a:buNone/>
            </a:pPr>
            <a:r>
              <a:rPr lang="en-US" sz="1150" dirty="0">
                <a:solidFill>
                  <a:srgbClr val="11211C"/>
                </a:solidFill>
              </a:rPr>
              <a:t>−5,493,062</a:t>
            </a:r>
            <a:endParaRPr lang="en-US" sz="1150" dirty="0"/>
          </a:p>
        </p:txBody>
      </p:sp>
      <p:sp>
        <p:nvSpPr>
          <p:cNvPr id="34" name="Text 32"/>
          <p:cNvSpPr txBox="1"/>
          <p:nvPr/>
        </p:nvSpPr>
        <p:spPr>
          <a:xfrm>
            <a:off x="11603736" y="2651760"/>
            <a:ext cx="548640" cy="420624"/>
          </a:xfrm>
          <a:prstGeom prst="rect">
            <a:avLst/>
          </a:prstGeom>
          <a:noFill/>
          <a:ln/>
        </p:spPr>
        <p:txBody>
          <a:bodyPr wrap="square" lIns="0" tIns="0" rIns="0" bIns="0" rtlCol="0" anchor="ctr"/>
          <a:lstStyle/>
          <a:p>
            <a:pPr algn="r" indent="0" marL="0">
              <a:buNone/>
            </a:pPr>
            <a:r>
              <a:rPr lang="en-US" sz="1150" dirty="0">
                <a:solidFill>
                  <a:srgbClr val="11211C"/>
                </a:solidFill>
              </a:rPr>
              <a:t>4.54%</a:t>
            </a:r>
            <a:endParaRPr lang="en-US" sz="1150" dirty="0"/>
          </a:p>
        </p:txBody>
      </p:sp>
      <p:sp>
        <p:nvSpPr>
          <p:cNvPr id="35" name="Text 33"/>
          <p:cNvSpPr txBox="1"/>
          <p:nvPr/>
        </p:nvSpPr>
        <p:spPr>
          <a:xfrm>
            <a:off x="6766560" y="4041648"/>
            <a:ext cx="4873752" cy="1371600"/>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Një hendek është shuma e dy të panjohurave: largësia nga më i miri te optimumi, plus largësia nga optimumi te kufiri. Hendek i vogël do të thotë se të dyja janë të vogla. Hendek i gjerë zakonisht do të thotë se kufiri është i lirshëm.</a:t>
            </a:r>
            <a:endParaRPr lang="en-US" sz="12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Dhjetë rreshta, por vetëm tri probleme në themel</a:t>
            </a:r>
            <a:endParaRPr lang="en-US" sz="2600" dirty="0"/>
          </a:p>
        </p:txBody>
      </p:sp>
      <p:sp>
        <p:nvSpPr>
          <p:cNvPr id="3" name="Text 1"/>
          <p:cNvSpPr txBox="1"/>
          <p:nvPr/>
        </p:nvSpPr>
        <p:spPr>
          <a:xfrm>
            <a:off x="566928" y="1261872"/>
            <a:ext cx="10936224" cy="822960"/>
          </a:xfrm>
          <a:prstGeom prst="rect">
            <a:avLst/>
          </a:prstGeom>
          <a:noFill/>
          <a:ln/>
        </p:spPr>
        <p:txBody>
          <a:bodyPr wrap="square" lIns="0" tIns="0" rIns="0" bIns="0" rtlCol="0" anchor="ctr"/>
          <a:lstStyle/>
          <a:p>
            <a:pPr indent="0" marL="0">
              <a:lnSpc>
                <a:spcPts val="1900"/>
              </a:lnSpc>
              <a:buNone/>
            </a:pPr>
            <a:r>
              <a:rPr lang="en-US" sz="1250" dirty="0">
                <a:solidFill>
                  <a:srgbClr val="11211C"/>
                </a:solidFill>
              </a:rPr>
              <a:t>Instancat formojnë tri familje. Brenda çdo familjeje n dhe numri i brinjëve janë identike dhe ndryshon vetëm struktura, prandaj një renditje që ndryshon mes familjeve është pohim për strukturën e jo për madhësinë. Numërime si “tabela zyrtare mban tetë nga dhjetë” duhen lexuar ashtu: dhjetë mostra, tri struktura.</a:t>
            </a:r>
            <a:endParaRPr lang="en-US" sz="1250" dirty="0"/>
          </a:p>
        </p:txBody>
      </p:sp>
      <p:sp>
        <p:nvSpPr>
          <p:cNvPr id="4" name="Shape 2"/>
          <p:cNvSpPr/>
          <p:nvPr/>
        </p:nvSpPr>
        <p:spPr>
          <a:xfrm>
            <a:off x="475488" y="2670048"/>
            <a:ext cx="8668512" cy="1298448"/>
          </a:xfrm>
          <a:prstGeom prst="rect">
            <a:avLst/>
          </a:prstGeom>
          <a:solidFill>
            <a:srgbClr val="EFF3F1"/>
          </a:solidFill>
          <a:ln w="3175">
            <a:solidFill>
              <a:srgbClr val="EFF3F1"/>
            </a:solidFill>
            <a:prstDash val="solid"/>
          </a:ln>
        </p:spPr>
      </p:sp>
      <p:sp>
        <p:nvSpPr>
          <p:cNvPr id="5" name="Shape 3"/>
          <p:cNvSpPr/>
          <p:nvPr/>
        </p:nvSpPr>
        <p:spPr>
          <a:xfrm>
            <a:off x="475488" y="3968496"/>
            <a:ext cx="8668512" cy="973836"/>
          </a:xfrm>
          <a:prstGeom prst="rect">
            <a:avLst/>
          </a:prstGeom>
          <a:solidFill>
            <a:srgbClr val="FFFFFF"/>
          </a:solidFill>
          <a:ln w="3175">
            <a:solidFill>
              <a:srgbClr val="FFFFFF"/>
            </a:solidFill>
            <a:prstDash val="solid"/>
          </a:ln>
        </p:spPr>
      </p:sp>
      <p:sp>
        <p:nvSpPr>
          <p:cNvPr id="6" name="Shape 4"/>
          <p:cNvSpPr/>
          <p:nvPr/>
        </p:nvSpPr>
        <p:spPr>
          <a:xfrm>
            <a:off x="475488" y="4942332"/>
            <a:ext cx="8668512" cy="973836"/>
          </a:xfrm>
          <a:prstGeom prst="rect">
            <a:avLst/>
          </a:prstGeom>
          <a:solidFill>
            <a:srgbClr val="EFF3F1"/>
          </a:solidFill>
          <a:ln w="3175">
            <a:solidFill>
              <a:srgbClr val="EFF3F1"/>
            </a:solidFill>
            <a:prstDash val="solid"/>
          </a:ln>
        </p:spPr>
      </p:sp>
      <p:sp>
        <p:nvSpPr>
          <p:cNvPr id="7" name="Text 5"/>
          <p:cNvSpPr txBox="1"/>
          <p:nvPr/>
        </p:nvSpPr>
        <p:spPr>
          <a:xfrm>
            <a:off x="0" y="0"/>
            <a:ext cx="91440" cy="91440"/>
          </a:xfrm>
          <a:prstGeom prst="rect">
            <a:avLst/>
          </a:prstGeom>
          <a:noFill/>
          <a:ln/>
        </p:spPr>
        <p:txBody>
          <a:bodyPr wrap="square" lIns="0" tIns="0" rIns="0" bIns="0" rtlCol="0" anchor="ctr"/>
          <a:lstStyle/>
          <a:p>
            <a:pPr indent="0" marL="0">
              <a:buNone/>
            </a:pPr>
            <a:endParaRPr lang="en-US" dirty="0"/>
          </a:p>
        </p:txBody>
      </p:sp>
      <p:sp>
        <p:nvSpPr>
          <p:cNvPr id="8" name="Text 6"/>
          <p:cNvSpPr txBox="1"/>
          <p:nvPr/>
        </p:nvSpPr>
        <p:spPr>
          <a:xfrm>
            <a:off x="566928" y="2286000"/>
            <a:ext cx="1481328" cy="329184"/>
          </a:xfrm>
          <a:prstGeom prst="rect">
            <a:avLst/>
          </a:prstGeom>
          <a:noFill/>
          <a:ln/>
        </p:spPr>
        <p:txBody>
          <a:bodyPr wrap="square" lIns="0" tIns="0" rIns="0" bIns="0" rtlCol="0" anchor="b"/>
          <a:lstStyle/>
          <a:p>
            <a:pPr algn="l" indent="0" marL="0">
              <a:buNone/>
            </a:pPr>
            <a:r>
              <a:rPr lang="en-US" sz="1050" b="1" dirty="0">
                <a:solidFill>
                  <a:srgbClr val="2A5247"/>
                </a:solidFill>
              </a:rPr>
              <a:t>instanca</a:t>
            </a:r>
            <a:endParaRPr lang="en-US" sz="1050" dirty="0"/>
          </a:p>
        </p:txBody>
      </p:sp>
      <p:sp>
        <p:nvSpPr>
          <p:cNvPr id="9" name="Text 7"/>
          <p:cNvSpPr txBox="1"/>
          <p:nvPr/>
        </p:nvSpPr>
        <p:spPr>
          <a:xfrm>
            <a:off x="2048256" y="2286000"/>
            <a:ext cx="658368" cy="329184"/>
          </a:xfrm>
          <a:prstGeom prst="rect">
            <a:avLst/>
          </a:prstGeom>
          <a:noFill/>
          <a:ln/>
        </p:spPr>
        <p:txBody>
          <a:bodyPr wrap="square" lIns="0" tIns="0" rIns="0" bIns="0" rtlCol="0" anchor="b"/>
          <a:lstStyle/>
          <a:p>
            <a:pPr algn="r" indent="0" marL="0">
              <a:buNone/>
            </a:pPr>
            <a:r>
              <a:rPr lang="en-US" sz="1050" b="1" dirty="0">
                <a:solidFill>
                  <a:srgbClr val="2A5247"/>
                </a:solidFill>
              </a:rPr>
              <a:t>n</a:t>
            </a:r>
            <a:endParaRPr lang="en-US" sz="1050" dirty="0"/>
          </a:p>
        </p:txBody>
      </p:sp>
      <p:sp>
        <p:nvSpPr>
          <p:cNvPr id="10" name="Text 8"/>
          <p:cNvSpPr txBox="1"/>
          <p:nvPr/>
        </p:nvSpPr>
        <p:spPr>
          <a:xfrm>
            <a:off x="2706624" y="2286000"/>
            <a:ext cx="987552" cy="329184"/>
          </a:xfrm>
          <a:prstGeom prst="rect">
            <a:avLst/>
          </a:prstGeom>
          <a:noFill/>
          <a:ln/>
        </p:spPr>
        <p:txBody>
          <a:bodyPr wrap="square" lIns="0" tIns="0" rIns="0" bIns="0" rtlCol="0" anchor="b"/>
          <a:lstStyle/>
          <a:p>
            <a:pPr algn="r" indent="0" marL="0">
              <a:buNone/>
            </a:pPr>
            <a:r>
              <a:rPr lang="en-US" sz="1050" b="1" dirty="0">
                <a:solidFill>
                  <a:srgbClr val="2A5247"/>
                </a:solidFill>
              </a:rPr>
              <a:t>brinjë</a:t>
            </a:r>
            <a:endParaRPr lang="en-US" sz="1050" dirty="0"/>
          </a:p>
        </p:txBody>
      </p:sp>
      <p:sp>
        <p:nvSpPr>
          <p:cNvPr id="11" name="Text 9"/>
          <p:cNvSpPr txBox="1"/>
          <p:nvPr/>
        </p:nvSpPr>
        <p:spPr>
          <a:xfrm>
            <a:off x="3694176" y="2286000"/>
            <a:ext cx="566928" cy="329184"/>
          </a:xfrm>
          <a:prstGeom prst="rect">
            <a:avLst/>
          </a:prstGeom>
          <a:noFill/>
          <a:ln/>
        </p:spPr>
        <p:txBody>
          <a:bodyPr wrap="square" lIns="0" tIns="0" rIns="0" bIns="0" rtlCol="0" anchor="b"/>
          <a:lstStyle/>
          <a:p>
            <a:pPr algn="r" indent="0" marL="0">
              <a:buNone/>
            </a:pPr>
            <a:r>
              <a:rPr lang="en-US" sz="1050" b="1" dirty="0">
                <a:solidFill>
                  <a:srgbClr val="2A5247"/>
                </a:solidFill>
              </a:rPr>
              <a:t>tw ≥</a:t>
            </a:r>
            <a:endParaRPr lang="en-US" sz="1050" dirty="0"/>
          </a:p>
        </p:txBody>
      </p:sp>
      <p:sp>
        <p:nvSpPr>
          <p:cNvPr id="12" name="Text 10"/>
          <p:cNvSpPr txBox="1"/>
          <p:nvPr/>
        </p:nvSpPr>
        <p:spPr>
          <a:xfrm>
            <a:off x="4261104" y="2286000"/>
            <a:ext cx="237744" cy="329184"/>
          </a:xfrm>
          <a:prstGeom prst="rect">
            <a:avLst/>
          </a:prstGeom>
          <a:noFill/>
          <a:ln/>
        </p:spPr>
        <p:txBody>
          <a:bodyPr wrap="square" lIns="0" tIns="0" rIns="0" bIns="0" rtlCol="0" anchor="b"/>
          <a:lstStyle/>
          <a:p>
            <a:pPr algn="l" indent="0" marL="0">
              <a:buNone/>
            </a:pPr>
            <a:endParaRPr lang="en-US" sz="1050" dirty="0"/>
          </a:p>
        </p:txBody>
      </p:sp>
      <p:sp>
        <p:nvSpPr>
          <p:cNvPr id="13" name="Text 11"/>
          <p:cNvSpPr txBox="1"/>
          <p:nvPr/>
        </p:nvSpPr>
        <p:spPr>
          <a:xfrm>
            <a:off x="4498848" y="2286000"/>
            <a:ext cx="4517136" cy="329184"/>
          </a:xfrm>
          <a:prstGeom prst="rect">
            <a:avLst/>
          </a:prstGeom>
          <a:noFill/>
          <a:ln/>
        </p:spPr>
        <p:txBody>
          <a:bodyPr wrap="square" lIns="0" tIns="0" rIns="0" bIns="0" rtlCol="0" anchor="b"/>
          <a:lstStyle/>
          <a:p>
            <a:pPr algn="l" indent="0" marL="0">
              <a:buNone/>
            </a:pPr>
            <a:r>
              <a:rPr lang="en-US" sz="1050" b="1" dirty="0">
                <a:solidFill>
                  <a:srgbClr val="2A5247"/>
                </a:solidFill>
              </a:rPr>
              <a:t>origjina</a:t>
            </a:r>
            <a:endParaRPr lang="en-US" sz="1050" dirty="0"/>
          </a:p>
        </p:txBody>
      </p:sp>
      <p:sp>
        <p:nvSpPr>
          <p:cNvPr id="14" name="Shape 12"/>
          <p:cNvSpPr/>
          <p:nvPr/>
        </p:nvSpPr>
        <p:spPr>
          <a:xfrm>
            <a:off x="566928" y="2651760"/>
            <a:ext cx="8449056" cy="914"/>
          </a:xfrm>
          <a:prstGeom prst="line">
            <a:avLst/>
          </a:prstGeom>
          <a:noFill/>
          <a:ln w="13970">
            <a:solidFill>
              <a:srgbClr val="11211C"/>
            </a:solidFill>
            <a:prstDash val="solid"/>
          </a:ln>
        </p:spPr>
      </p:sp>
      <p:sp>
        <p:nvSpPr>
          <p:cNvPr id="15" name="Text 13"/>
          <p:cNvSpPr txBox="1"/>
          <p:nvPr/>
        </p:nvSpPr>
        <p:spPr>
          <a:xfrm>
            <a:off x="566928" y="2670048"/>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small-graph</a:t>
            </a:r>
            <a:endParaRPr lang="en-US" sz="1000" dirty="0"/>
          </a:p>
        </p:txBody>
      </p:sp>
      <p:sp>
        <p:nvSpPr>
          <p:cNvPr id="16" name="Text 14"/>
          <p:cNvSpPr txBox="1"/>
          <p:nvPr/>
        </p:nvSpPr>
        <p:spPr>
          <a:xfrm>
            <a:off x="2048256" y="2670048"/>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1,357</a:t>
            </a:r>
            <a:endParaRPr lang="en-US" sz="1000" dirty="0"/>
          </a:p>
        </p:txBody>
      </p:sp>
      <p:sp>
        <p:nvSpPr>
          <p:cNvPr id="17" name="Text 15"/>
          <p:cNvSpPr txBox="1"/>
          <p:nvPr/>
        </p:nvSpPr>
        <p:spPr>
          <a:xfrm>
            <a:off x="2706624" y="2670048"/>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2,280</a:t>
            </a:r>
            <a:endParaRPr lang="en-US" sz="1000" dirty="0"/>
          </a:p>
        </p:txBody>
      </p:sp>
      <p:sp>
        <p:nvSpPr>
          <p:cNvPr id="18" name="Text 16"/>
          <p:cNvSpPr txBox="1"/>
          <p:nvPr/>
        </p:nvSpPr>
        <p:spPr>
          <a:xfrm>
            <a:off x="3694176" y="2670048"/>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5</a:t>
            </a:r>
            <a:endParaRPr lang="en-US" sz="1000" dirty="0"/>
          </a:p>
        </p:txBody>
      </p:sp>
      <p:sp>
        <p:nvSpPr>
          <p:cNvPr id="19" name="Text 17"/>
          <p:cNvSpPr txBox="1"/>
          <p:nvPr/>
        </p:nvSpPr>
        <p:spPr>
          <a:xfrm>
            <a:off x="4261104" y="2670048"/>
            <a:ext cx="237744" cy="324612"/>
          </a:xfrm>
          <a:prstGeom prst="rect">
            <a:avLst/>
          </a:prstGeom>
          <a:noFill/>
          <a:ln/>
        </p:spPr>
        <p:txBody>
          <a:bodyPr wrap="square" lIns="0" tIns="0" rIns="0" bIns="0" rtlCol="0" anchor="ctr"/>
          <a:lstStyle/>
          <a:p>
            <a:pPr algn="l" indent="0" marL="0">
              <a:buNone/>
            </a:pPr>
            <a:endParaRPr lang="en-US" sz="1000" dirty="0"/>
          </a:p>
        </p:txBody>
      </p:sp>
      <p:sp>
        <p:nvSpPr>
          <p:cNvPr id="20" name="Text 18"/>
          <p:cNvSpPr txBox="1"/>
          <p:nvPr/>
        </p:nvSpPr>
        <p:spPr>
          <a:xfrm>
            <a:off x="4498848" y="2670048"/>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ESA SpOC-3, zyrtare</a:t>
            </a:r>
            <a:endParaRPr lang="en-US" sz="1000" dirty="0"/>
          </a:p>
        </p:txBody>
      </p:sp>
      <p:sp>
        <p:nvSpPr>
          <p:cNvPr id="21" name="Text 19"/>
          <p:cNvSpPr txBox="1"/>
          <p:nvPr/>
        </p:nvSpPr>
        <p:spPr>
          <a:xfrm>
            <a:off x="566928" y="2994660"/>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synth-1</a:t>
            </a:r>
            <a:endParaRPr lang="en-US" sz="1000" dirty="0"/>
          </a:p>
        </p:txBody>
      </p:sp>
      <p:sp>
        <p:nvSpPr>
          <p:cNvPr id="22" name="Text 20"/>
          <p:cNvSpPr txBox="1"/>
          <p:nvPr/>
        </p:nvSpPr>
        <p:spPr>
          <a:xfrm>
            <a:off x="2048256" y="2994660"/>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1,357</a:t>
            </a:r>
            <a:endParaRPr lang="en-US" sz="1000" dirty="0"/>
          </a:p>
        </p:txBody>
      </p:sp>
      <p:sp>
        <p:nvSpPr>
          <p:cNvPr id="23" name="Text 21"/>
          <p:cNvSpPr txBox="1"/>
          <p:nvPr/>
        </p:nvSpPr>
        <p:spPr>
          <a:xfrm>
            <a:off x="2706624" y="2994660"/>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2,282</a:t>
            </a:r>
            <a:endParaRPr lang="en-US" sz="1000" dirty="0"/>
          </a:p>
        </p:txBody>
      </p:sp>
      <p:sp>
        <p:nvSpPr>
          <p:cNvPr id="24" name="Text 22"/>
          <p:cNvSpPr txBox="1"/>
          <p:nvPr/>
        </p:nvSpPr>
        <p:spPr>
          <a:xfrm>
            <a:off x="3694176" y="2994660"/>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5</a:t>
            </a:r>
            <a:endParaRPr lang="en-US" sz="1000" dirty="0"/>
          </a:p>
        </p:txBody>
      </p:sp>
      <p:sp>
        <p:nvSpPr>
          <p:cNvPr id="25" name="Text 23"/>
          <p:cNvSpPr txBox="1"/>
          <p:nvPr/>
        </p:nvSpPr>
        <p:spPr>
          <a:xfrm>
            <a:off x="4261104" y="2994660"/>
            <a:ext cx="237744" cy="324612"/>
          </a:xfrm>
          <a:prstGeom prst="rect">
            <a:avLst/>
          </a:prstGeom>
          <a:noFill/>
          <a:ln/>
        </p:spPr>
        <p:txBody>
          <a:bodyPr wrap="square" lIns="0" tIns="0" rIns="0" bIns="0" rtlCol="0" anchor="ctr"/>
          <a:lstStyle/>
          <a:p>
            <a:pPr algn="l" indent="0" marL="0">
              <a:buNone/>
            </a:pPr>
            <a:endParaRPr lang="en-US" sz="1000" dirty="0"/>
          </a:p>
        </p:txBody>
      </p:sp>
      <p:sp>
        <p:nvSpPr>
          <p:cNvPr id="26" name="Text 24"/>
          <p:cNvSpPr txBox="1"/>
          <p:nvPr/>
        </p:nvSpPr>
        <p:spPr>
          <a:xfrm>
            <a:off x="4498848" y="2994660"/>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rrjetë 10 × 115, 100 brinjë të hequra, 207 varëse</a:t>
            </a:r>
            <a:endParaRPr lang="en-US" sz="1000" dirty="0"/>
          </a:p>
        </p:txBody>
      </p:sp>
      <p:sp>
        <p:nvSpPr>
          <p:cNvPr id="27" name="Text 25"/>
          <p:cNvSpPr txBox="1"/>
          <p:nvPr/>
        </p:nvSpPr>
        <p:spPr>
          <a:xfrm>
            <a:off x="566928" y="3319272"/>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synth-2</a:t>
            </a:r>
            <a:endParaRPr lang="en-US" sz="1000" dirty="0"/>
          </a:p>
        </p:txBody>
      </p:sp>
      <p:sp>
        <p:nvSpPr>
          <p:cNvPr id="28" name="Text 26"/>
          <p:cNvSpPr txBox="1"/>
          <p:nvPr/>
        </p:nvSpPr>
        <p:spPr>
          <a:xfrm>
            <a:off x="2048256" y="3319272"/>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1,357</a:t>
            </a:r>
            <a:endParaRPr lang="en-US" sz="1000" dirty="0"/>
          </a:p>
        </p:txBody>
      </p:sp>
      <p:sp>
        <p:nvSpPr>
          <p:cNvPr id="29" name="Text 27"/>
          <p:cNvSpPr txBox="1"/>
          <p:nvPr/>
        </p:nvSpPr>
        <p:spPr>
          <a:xfrm>
            <a:off x="2706624" y="3319272"/>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2,282</a:t>
            </a:r>
            <a:endParaRPr lang="en-US" sz="1000" dirty="0"/>
          </a:p>
        </p:txBody>
      </p:sp>
      <p:sp>
        <p:nvSpPr>
          <p:cNvPr id="30" name="Text 28"/>
          <p:cNvSpPr txBox="1"/>
          <p:nvPr/>
        </p:nvSpPr>
        <p:spPr>
          <a:xfrm>
            <a:off x="3694176" y="3319272"/>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5</a:t>
            </a:r>
            <a:endParaRPr lang="en-US" sz="1000" dirty="0"/>
          </a:p>
        </p:txBody>
      </p:sp>
      <p:sp>
        <p:nvSpPr>
          <p:cNvPr id="31" name="Text 29"/>
          <p:cNvSpPr txBox="1"/>
          <p:nvPr/>
        </p:nvSpPr>
        <p:spPr>
          <a:xfrm>
            <a:off x="4261104" y="3319272"/>
            <a:ext cx="237744" cy="324612"/>
          </a:xfrm>
          <a:prstGeom prst="rect">
            <a:avLst/>
          </a:prstGeom>
          <a:noFill/>
          <a:ln/>
        </p:spPr>
        <p:txBody>
          <a:bodyPr wrap="square" lIns="0" tIns="0" rIns="0" bIns="0" rtlCol="0" anchor="ctr"/>
          <a:lstStyle/>
          <a:p>
            <a:pPr algn="l" indent="0" marL="0">
              <a:buNone/>
            </a:pPr>
            <a:endParaRPr lang="en-US" sz="1000" dirty="0"/>
          </a:p>
        </p:txBody>
      </p:sp>
      <p:sp>
        <p:nvSpPr>
          <p:cNvPr id="32" name="Text 30"/>
          <p:cNvSpPr txBox="1"/>
          <p:nvPr/>
        </p:nvSpPr>
        <p:spPr>
          <a:xfrm>
            <a:off x="4498848" y="3319272"/>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rrjetë 10 × 115, 100 brinjë të hequra, 207 varëse</a:t>
            </a:r>
            <a:endParaRPr lang="en-US" sz="1000" dirty="0"/>
          </a:p>
        </p:txBody>
      </p:sp>
      <p:sp>
        <p:nvSpPr>
          <p:cNvPr id="33" name="Text 31"/>
          <p:cNvSpPr txBox="1"/>
          <p:nvPr/>
        </p:nvSpPr>
        <p:spPr>
          <a:xfrm>
            <a:off x="566928" y="3643884"/>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synth-3</a:t>
            </a:r>
            <a:endParaRPr lang="en-US" sz="1000" dirty="0"/>
          </a:p>
        </p:txBody>
      </p:sp>
      <p:sp>
        <p:nvSpPr>
          <p:cNvPr id="34" name="Text 32"/>
          <p:cNvSpPr txBox="1"/>
          <p:nvPr/>
        </p:nvSpPr>
        <p:spPr>
          <a:xfrm>
            <a:off x="2048256" y="3643884"/>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1,357</a:t>
            </a:r>
            <a:endParaRPr lang="en-US" sz="1000" dirty="0"/>
          </a:p>
        </p:txBody>
      </p:sp>
      <p:sp>
        <p:nvSpPr>
          <p:cNvPr id="35" name="Text 33"/>
          <p:cNvSpPr txBox="1"/>
          <p:nvPr/>
        </p:nvSpPr>
        <p:spPr>
          <a:xfrm>
            <a:off x="2706624" y="3643884"/>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2,282</a:t>
            </a:r>
            <a:endParaRPr lang="en-US" sz="1000" dirty="0"/>
          </a:p>
        </p:txBody>
      </p:sp>
      <p:sp>
        <p:nvSpPr>
          <p:cNvPr id="36" name="Text 34"/>
          <p:cNvSpPr txBox="1"/>
          <p:nvPr/>
        </p:nvSpPr>
        <p:spPr>
          <a:xfrm>
            <a:off x="3694176" y="3643884"/>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5</a:t>
            </a:r>
            <a:endParaRPr lang="en-US" sz="1000" dirty="0"/>
          </a:p>
        </p:txBody>
      </p:sp>
      <p:sp>
        <p:nvSpPr>
          <p:cNvPr id="37" name="Text 35"/>
          <p:cNvSpPr txBox="1"/>
          <p:nvPr/>
        </p:nvSpPr>
        <p:spPr>
          <a:xfrm>
            <a:off x="4261104" y="3643884"/>
            <a:ext cx="237744" cy="324612"/>
          </a:xfrm>
          <a:prstGeom prst="rect">
            <a:avLst/>
          </a:prstGeom>
          <a:noFill/>
          <a:ln/>
        </p:spPr>
        <p:txBody>
          <a:bodyPr wrap="square" lIns="0" tIns="0" rIns="0" bIns="0" rtlCol="0" anchor="ctr"/>
          <a:lstStyle/>
          <a:p>
            <a:pPr algn="l" indent="0" marL="0">
              <a:buNone/>
            </a:pPr>
            <a:endParaRPr lang="en-US" sz="1000" dirty="0"/>
          </a:p>
        </p:txBody>
      </p:sp>
      <p:sp>
        <p:nvSpPr>
          <p:cNvPr id="38" name="Text 36"/>
          <p:cNvSpPr txBox="1"/>
          <p:nvPr/>
        </p:nvSpPr>
        <p:spPr>
          <a:xfrm>
            <a:off x="4498848" y="3643884"/>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rrjetë 10 × 115, 100 brinjë të hequra, 207 varëse</a:t>
            </a:r>
            <a:endParaRPr lang="en-US" sz="1000" dirty="0"/>
          </a:p>
        </p:txBody>
      </p:sp>
      <p:sp>
        <p:nvSpPr>
          <p:cNvPr id="39" name="Text 37"/>
          <p:cNvSpPr txBox="1"/>
          <p:nvPr/>
        </p:nvSpPr>
        <p:spPr>
          <a:xfrm>
            <a:off x="566928" y="3968496"/>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medium-graph</a:t>
            </a:r>
            <a:endParaRPr lang="en-US" sz="1000" dirty="0"/>
          </a:p>
        </p:txBody>
      </p:sp>
      <p:sp>
        <p:nvSpPr>
          <p:cNvPr id="40" name="Text 38"/>
          <p:cNvSpPr txBox="1"/>
          <p:nvPr/>
        </p:nvSpPr>
        <p:spPr>
          <a:xfrm>
            <a:off x="2048256" y="3968496"/>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1,399</a:t>
            </a:r>
            <a:endParaRPr lang="en-US" sz="1000" dirty="0"/>
          </a:p>
        </p:txBody>
      </p:sp>
      <p:sp>
        <p:nvSpPr>
          <p:cNvPr id="41" name="Text 39"/>
          <p:cNvSpPr txBox="1"/>
          <p:nvPr/>
        </p:nvSpPr>
        <p:spPr>
          <a:xfrm>
            <a:off x="2706624" y="3968496"/>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13,799</a:t>
            </a:r>
            <a:endParaRPr lang="en-US" sz="1000" dirty="0"/>
          </a:p>
        </p:txBody>
      </p:sp>
      <p:sp>
        <p:nvSpPr>
          <p:cNvPr id="42" name="Text 40"/>
          <p:cNvSpPr txBox="1"/>
          <p:nvPr/>
        </p:nvSpPr>
        <p:spPr>
          <a:xfrm>
            <a:off x="3694176" y="3968496"/>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63</a:t>
            </a:r>
            <a:endParaRPr lang="en-US" sz="1000" dirty="0"/>
          </a:p>
        </p:txBody>
      </p:sp>
      <p:sp>
        <p:nvSpPr>
          <p:cNvPr id="43" name="Text 41"/>
          <p:cNvSpPr txBox="1"/>
          <p:nvPr/>
        </p:nvSpPr>
        <p:spPr>
          <a:xfrm>
            <a:off x="4261104" y="3968496"/>
            <a:ext cx="237744" cy="324612"/>
          </a:xfrm>
          <a:prstGeom prst="rect">
            <a:avLst/>
          </a:prstGeom>
          <a:noFill/>
          <a:ln/>
        </p:spPr>
        <p:txBody>
          <a:bodyPr wrap="square" lIns="0" tIns="0" rIns="0" bIns="0" rtlCol="0" anchor="ctr"/>
          <a:lstStyle/>
          <a:p>
            <a:pPr algn="l" indent="0" marL="0">
              <a:buNone/>
            </a:pPr>
            <a:endParaRPr lang="en-US" sz="1000" dirty="0"/>
          </a:p>
        </p:txBody>
      </p:sp>
      <p:sp>
        <p:nvSpPr>
          <p:cNvPr id="44" name="Text 42"/>
          <p:cNvSpPr txBox="1"/>
          <p:nvPr/>
        </p:nvSpPr>
        <p:spPr>
          <a:xfrm>
            <a:off x="4498848" y="3968496"/>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ESA SpOC-3, zyrtare</a:t>
            </a:r>
            <a:endParaRPr lang="en-US" sz="1000" dirty="0"/>
          </a:p>
        </p:txBody>
      </p:sp>
      <p:sp>
        <p:nvSpPr>
          <p:cNvPr id="45" name="Text 43"/>
          <p:cNvSpPr txBox="1"/>
          <p:nvPr/>
        </p:nvSpPr>
        <p:spPr>
          <a:xfrm>
            <a:off x="566928" y="4293108"/>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synth-4</a:t>
            </a:r>
            <a:endParaRPr lang="en-US" sz="1000" dirty="0"/>
          </a:p>
        </p:txBody>
      </p:sp>
      <p:sp>
        <p:nvSpPr>
          <p:cNvPr id="46" name="Text 44"/>
          <p:cNvSpPr txBox="1"/>
          <p:nvPr/>
        </p:nvSpPr>
        <p:spPr>
          <a:xfrm>
            <a:off x="2048256" y="4293108"/>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1,399</a:t>
            </a:r>
            <a:endParaRPr lang="en-US" sz="1000" dirty="0"/>
          </a:p>
        </p:txBody>
      </p:sp>
      <p:sp>
        <p:nvSpPr>
          <p:cNvPr id="47" name="Text 45"/>
          <p:cNvSpPr txBox="1"/>
          <p:nvPr/>
        </p:nvSpPr>
        <p:spPr>
          <a:xfrm>
            <a:off x="2706624" y="4293108"/>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13,799</a:t>
            </a:r>
            <a:endParaRPr lang="en-US" sz="1000" dirty="0"/>
          </a:p>
        </p:txBody>
      </p:sp>
      <p:sp>
        <p:nvSpPr>
          <p:cNvPr id="48" name="Text 46"/>
          <p:cNvSpPr txBox="1"/>
          <p:nvPr/>
        </p:nvSpPr>
        <p:spPr>
          <a:xfrm>
            <a:off x="3694176" y="4293108"/>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72</a:t>
            </a:r>
            <a:endParaRPr lang="en-US" sz="1000" dirty="0"/>
          </a:p>
        </p:txBody>
      </p:sp>
      <p:sp>
        <p:nvSpPr>
          <p:cNvPr id="49" name="Text 47"/>
          <p:cNvSpPr txBox="1"/>
          <p:nvPr/>
        </p:nvSpPr>
        <p:spPr>
          <a:xfrm>
            <a:off x="4261104" y="4293108"/>
            <a:ext cx="237744" cy="324612"/>
          </a:xfrm>
          <a:prstGeom prst="rect">
            <a:avLst/>
          </a:prstGeom>
          <a:noFill/>
          <a:ln/>
        </p:spPr>
        <p:txBody>
          <a:bodyPr wrap="square" lIns="0" tIns="0" rIns="0" bIns="0" rtlCol="0" anchor="ctr"/>
          <a:lstStyle/>
          <a:p>
            <a:pPr algn="l" indent="0" marL="0">
              <a:buNone/>
            </a:pPr>
            <a:endParaRPr lang="en-US" sz="1000" dirty="0"/>
          </a:p>
        </p:txBody>
      </p:sp>
      <p:sp>
        <p:nvSpPr>
          <p:cNvPr id="50" name="Text 48"/>
          <p:cNvSpPr txBox="1"/>
          <p:nvPr/>
        </p:nvSpPr>
        <p:spPr>
          <a:xfrm>
            <a:off x="4498848" y="4293108"/>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rilidhje që ruan shkallët, nga medium-graph</a:t>
            </a:r>
            <a:endParaRPr lang="en-US" sz="1000" dirty="0"/>
          </a:p>
        </p:txBody>
      </p:sp>
      <p:sp>
        <p:nvSpPr>
          <p:cNvPr id="51" name="Text 49"/>
          <p:cNvSpPr txBox="1"/>
          <p:nvPr/>
        </p:nvSpPr>
        <p:spPr>
          <a:xfrm>
            <a:off x="566928" y="4617720"/>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synth-5</a:t>
            </a:r>
            <a:endParaRPr lang="en-US" sz="1000" dirty="0"/>
          </a:p>
        </p:txBody>
      </p:sp>
      <p:sp>
        <p:nvSpPr>
          <p:cNvPr id="52" name="Text 50"/>
          <p:cNvSpPr txBox="1"/>
          <p:nvPr/>
        </p:nvSpPr>
        <p:spPr>
          <a:xfrm>
            <a:off x="2048256" y="4617720"/>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1,399</a:t>
            </a:r>
            <a:endParaRPr lang="en-US" sz="1000" dirty="0"/>
          </a:p>
        </p:txBody>
      </p:sp>
      <p:sp>
        <p:nvSpPr>
          <p:cNvPr id="53" name="Text 51"/>
          <p:cNvSpPr txBox="1"/>
          <p:nvPr/>
        </p:nvSpPr>
        <p:spPr>
          <a:xfrm>
            <a:off x="2706624" y="4617720"/>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13,799</a:t>
            </a:r>
            <a:endParaRPr lang="en-US" sz="1000" dirty="0"/>
          </a:p>
        </p:txBody>
      </p:sp>
      <p:sp>
        <p:nvSpPr>
          <p:cNvPr id="54" name="Text 52"/>
          <p:cNvSpPr txBox="1"/>
          <p:nvPr/>
        </p:nvSpPr>
        <p:spPr>
          <a:xfrm>
            <a:off x="3694176" y="4617720"/>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73</a:t>
            </a:r>
            <a:endParaRPr lang="en-US" sz="1000" dirty="0"/>
          </a:p>
        </p:txBody>
      </p:sp>
      <p:sp>
        <p:nvSpPr>
          <p:cNvPr id="55" name="Text 53"/>
          <p:cNvSpPr txBox="1"/>
          <p:nvPr/>
        </p:nvSpPr>
        <p:spPr>
          <a:xfrm>
            <a:off x="4261104" y="4617720"/>
            <a:ext cx="237744" cy="324612"/>
          </a:xfrm>
          <a:prstGeom prst="rect">
            <a:avLst/>
          </a:prstGeom>
          <a:noFill/>
          <a:ln/>
        </p:spPr>
        <p:txBody>
          <a:bodyPr wrap="square" lIns="0" tIns="0" rIns="0" bIns="0" rtlCol="0" anchor="ctr"/>
          <a:lstStyle/>
          <a:p>
            <a:pPr algn="l" indent="0" marL="0">
              <a:buNone/>
            </a:pPr>
            <a:endParaRPr lang="en-US" sz="1000" dirty="0"/>
          </a:p>
        </p:txBody>
      </p:sp>
      <p:sp>
        <p:nvSpPr>
          <p:cNvPr id="56" name="Text 54"/>
          <p:cNvSpPr txBox="1"/>
          <p:nvPr/>
        </p:nvSpPr>
        <p:spPr>
          <a:xfrm>
            <a:off x="4498848" y="4617720"/>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rilidhje që ruan shkallët, nga medium-graph</a:t>
            </a:r>
            <a:endParaRPr lang="en-US" sz="1000" dirty="0"/>
          </a:p>
        </p:txBody>
      </p:sp>
      <p:sp>
        <p:nvSpPr>
          <p:cNvPr id="57" name="Text 55"/>
          <p:cNvSpPr txBox="1"/>
          <p:nvPr/>
        </p:nvSpPr>
        <p:spPr>
          <a:xfrm>
            <a:off x="566928" y="4942332"/>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large-graph</a:t>
            </a:r>
            <a:endParaRPr lang="en-US" sz="1000" dirty="0"/>
          </a:p>
        </p:txBody>
      </p:sp>
      <p:sp>
        <p:nvSpPr>
          <p:cNvPr id="58" name="Text 56"/>
          <p:cNvSpPr txBox="1"/>
          <p:nvPr/>
        </p:nvSpPr>
        <p:spPr>
          <a:xfrm>
            <a:off x="2048256" y="4942332"/>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2,426</a:t>
            </a:r>
            <a:endParaRPr lang="en-US" sz="1000" dirty="0"/>
          </a:p>
        </p:txBody>
      </p:sp>
      <p:sp>
        <p:nvSpPr>
          <p:cNvPr id="59" name="Text 57"/>
          <p:cNvSpPr txBox="1"/>
          <p:nvPr/>
        </p:nvSpPr>
        <p:spPr>
          <a:xfrm>
            <a:off x="2706624" y="4942332"/>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253,895</a:t>
            </a:r>
            <a:endParaRPr lang="en-US" sz="1000" dirty="0"/>
          </a:p>
        </p:txBody>
      </p:sp>
      <p:sp>
        <p:nvSpPr>
          <p:cNvPr id="60" name="Text 58"/>
          <p:cNvSpPr txBox="1"/>
          <p:nvPr/>
        </p:nvSpPr>
        <p:spPr>
          <a:xfrm>
            <a:off x="3694176" y="4942332"/>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499</a:t>
            </a:r>
            <a:endParaRPr lang="en-US" sz="1000" dirty="0"/>
          </a:p>
        </p:txBody>
      </p:sp>
      <p:sp>
        <p:nvSpPr>
          <p:cNvPr id="61" name="Text 59"/>
          <p:cNvSpPr txBox="1"/>
          <p:nvPr/>
        </p:nvSpPr>
        <p:spPr>
          <a:xfrm>
            <a:off x="4261104" y="4942332"/>
            <a:ext cx="237744" cy="324612"/>
          </a:xfrm>
          <a:prstGeom prst="rect">
            <a:avLst/>
          </a:prstGeom>
          <a:noFill/>
          <a:ln/>
        </p:spPr>
        <p:txBody>
          <a:bodyPr wrap="square" lIns="0" tIns="0" rIns="0" bIns="0" rtlCol="0" anchor="ctr"/>
          <a:lstStyle/>
          <a:p>
            <a:pPr algn="l" indent="0" marL="0">
              <a:buNone/>
            </a:pPr>
            <a:endParaRPr lang="en-US" sz="1000" dirty="0"/>
          </a:p>
        </p:txBody>
      </p:sp>
      <p:sp>
        <p:nvSpPr>
          <p:cNvPr id="62" name="Text 60"/>
          <p:cNvSpPr txBox="1"/>
          <p:nvPr/>
        </p:nvSpPr>
        <p:spPr>
          <a:xfrm>
            <a:off x="4498848" y="4942332"/>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ESA zyrtare, përmban klikë me 500</a:t>
            </a:r>
            <a:endParaRPr lang="en-US" sz="1000" dirty="0"/>
          </a:p>
        </p:txBody>
      </p:sp>
      <p:sp>
        <p:nvSpPr>
          <p:cNvPr id="63" name="Text 61"/>
          <p:cNvSpPr txBox="1"/>
          <p:nvPr/>
        </p:nvSpPr>
        <p:spPr>
          <a:xfrm>
            <a:off x="566928" y="5266944"/>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synth-6</a:t>
            </a:r>
            <a:endParaRPr lang="en-US" sz="1000" dirty="0"/>
          </a:p>
        </p:txBody>
      </p:sp>
      <p:sp>
        <p:nvSpPr>
          <p:cNvPr id="64" name="Text 62"/>
          <p:cNvSpPr txBox="1"/>
          <p:nvPr/>
        </p:nvSpPr>
        <p:spPr>
          <a:xfrm>
            <a:off x="2048256" y="5266944"/>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2,426</a:t>
            </a:r>
            <a:endParaRPr lang="en-US" sz="1000" dirty="0"/>
          </a:p>
        </p:txBody>
      </p:sp>
      <p:sp>
        <p:nvSpPr>
          <p:cNvPr id="65" name="Text 63"/>
          <p:cNvSpPr txBox="1"/>
          <p:nvPr/>
        </p:nvSpPr>
        <p:spPr>
          <a:xfrm>
            <a:off x="2706624" y="5266944"/>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253,895</a:t>
            </a:r>
            <a:endParaRPr lang="en-US" sz="1000" dirty="0"/>
          </a:p>
        </p:txBody>
      </p:sp>
      <p:sp>
        <p:nvSpPr>
          <p:cNvPr id="66" name="Text 64"/>
          <p:cNvSpPr txBox="1"/>
          <p:nvPr/>
        </p:nvSpPr>
        <p:spPr>
          <a:xfrm>
            <a:off x="3694176" y="5266944"/>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499</a:t>
            </a:r>
            <a:endParaRPr lang="en-US" sz="1000" dirty="0"/>
          </a:p>
        </p:txBody>
      </p:sp>
      <p:sp>
        <p:nvSpPr>
          <p:cNvPr id="67" name="Text 65"/>
          <p:cNvSpPr txBox="1"/>
          <p:nvPr/>
        </p:nvSpPr>
        <p:spPr>
          <a:xfrm>
            <a:off x="4261104" y="5266944"/>
            <a:ext cx="237744" cy="324612"/>
          </a:xfrm>
          <a:prstGeom prst="rect">
            <a:avLst/>
          </a:prstGeom>
          <a:noFill/>
          <a:ln/>
        </p:spPr>
        <p:txBody>
          <a:bodyPr wrap="square" lIns="0" tIns="0" rIns="0" bIns="0" rtlCol="0" anchor="ctr"/>
          <a:lstStyle/>
          <a:p>
            <a:pPr algn="l" indent="0" marL="0">
              <a:buNone/>
            </a:pPr>
            <a:endParaRPr lang="en-US" sz="1000" dirty="0"/>
          </a:p>
        </p:txBody>
      </p:sp>
      <p:sp>
        <p:nvSpPr>
          <p:cNvPr id="68" name="Text 66"/>
          <p:cNvSpPr txBox="1"/>
          <p:nvPr/>
        </p:nvSpPr>
        <p:spPr>
          <a:xfrm>
            <a:off x="4498848" y="5266944"/>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rilidhje e large-graph, klikat e ruajtura</a:t>
            </a:r>
            <a:endParaRPr lang="en-US" sz="1000" dirty="0"/>
          </a:p>
        </p:txBody>
      </p:sp>
      <p:sp>
        <p:nvSpPr>
          <p:cNvPr id="69" name="Text 67"/>
          <p:cNvSpPr txBox="1"/>
          <p:nvPr/>
        </p:nvSpPr>
        <p:spPr>
          <a:xfrm>
            <a:off x="566928" y="5591556"/>
            <a:ext cx="1481328" cy="324612"/>
          </a:xfrm>
          <a:prstGeom prst="rect">
            <a:avLst/>
          </a:prstGeom>
          <a:noFill/>
          <a:ln/>
        </p:spPr>
        <p:txBody>
          <a:bodyPr wrap="square" lIns="0" tIns="0" rIns="0" bIns="0" rtlCol="0" anchor="ctr"/>
          <a:lstStyle/>
          <a:p>
            <a:pPr algn="l" indent="0" marL="0">
              <a:buNone/>
            </a:pPr>
            <a:r>
              <a:rPr lang="en-US" sz="1000" dirty="0">
                <a:solidFill>
                  <a:srgbClr val="11211C"/>
                </a:solidFill>
              </a:rPr>
              <a:t>synth-7</a:t>
            </a:r>
            <a:endParaRPr lang="en-US" sz="1000" dirty="0"/>
          </a:p>
        </p:txBody>
      </p:sp>
      <p:sp>
        <p:nvSpPr>
          <p:cNvPr id="70" name="Text 68"/>
          <p:cNvSpPr txBox="1"/>
          <p:nvPr/>
        </p:nvSpPr>
        <p:spPr>
          <a:xfrm>
            <a:off x="2048256" y="5591556"/>
            <a:ext cx="658368" cy="324612"/>
          </a:xfrm>
          <a:prstGeom prst="rect">
            <a:avLst/>
          </a:prstGeom>
          <a:noFill/>
          <a:ln/>
        </p:spPr>
        <p:txBody>
          <a:bodyPr wrap="square" lIns="0" tIns="0" rIns="0" bIns="0" rtlCol="0" anchor="ctr"/>
          <a:lstStyle/>
          <a:p>
            <a:pPr algn="r" indent="0" marL="0">
              <a:buNone/>
            </a:pPr>
            <a:r>
              <a:rPr lang="en-US" sz="1000" dirty="0">
                <a:solidFill>
                  <a:srgbClr val="11211C"/>
                </a:solidFill>
              </a:rPr>
              <a:t>2,426</a:t>
            </a:r>
            <a:endParaRPr lang="en-US" sz="1000" dirty="0"/>
          </a:p>
        </p:txBody>
      </p:sp>
      <p:sp>
        <p:nvSpPr>
          <p:cNvPr id="71" name="Text 69"/>
          <p:cNvSpPr txBox="1"/>
          <p:nvPr/>
        </p:nvSpPr>
        <p:spPr>
          <a:xfrm>
            <a:off x="2706624" y="5591556"/>
            <a:ext cx="987552" cy="324612"/>
          </a:xfrm>
          <a:prstGeom prst="rect">
            <a:avLst/>
          </a:prstGeom>
          <a:noFill/>
          <a:ln/>
        </p:spPr>
        <p:txBody>
          <a:bodyPr wrap="square" lIns="0" tIns="0" rIns="0" bIns="0" rtlCol="0" anchor="ctr"/>
          <a:lstStyle/>
          <a:p>
            <a:pPr algn="r" indent="0" marL="0">
              <a:buNone/>
            </a:pPr>
            <a:r>
              <a:rPr lang="en-US" sz="1000" dirty="0">
                <a:solidFill>
                  <a:srgbClr val="11211C"/>
                </a:solidFill>
              </a:rPr>
              <a:t>253,895</a:t>
            </a:r>
            <a:endParaRPr lang="en-US" sz="1000" dirty="0"/>
          </a:p>
        </p:txBody>
      </p:sp>
      <p:sp>
        <p:nvSpPr>
          <p:cNvPr id="72" name="Text 70"/>
          <p:cNvSpPr txBox="1"/>
          <p:nvPr/>
        </p:nvSpPr>
        <p:spPr>
          <a:xfrm>
            <a:off x="3694176" y="5591556"/>
            <a:ext cx="566928" cy="324612"/>
          </a:xfrm>
          <a:prstGeom prst="rect">
            <a:avLst/>
          </a:prstGeom>
          <a:noFill/>
          <a:ln/>
        </p:spPr>
        <p:txBody>
          <a:bodyPr wrap="square" lIns="0" tIns="0" rIns="0" bIns="0" rtlCol="0" anchor="ctr"/>
          <a:lstStyle/>
          <a:p>
            <a:pPr algn="r" indent="0" marL="0">
              <a:buNone/>
            </a:pPr>
            <a:r>
              <a:rPr lang="en-US" sz="1000" dirty="0">
                <a:solidFill>
                  <a:srgbClr val="11211C"/>
                </a:solidFill>
              </a:rPr>
              <a:t>499</a:t>
            </a:r>
            <a:endParaRPr lang="en-US" sz="1000" dirty="0"/>
          </a:p>
        </p:txBody>
      </p:sp>
      <p:sp>
        <p:nvSpPr>
          <p:cNvPr id="73" name="Text 71"/>
          <p:cNvSpPr txBox="1"/>
          <p:nvPr/>
        </p:nvSpPr>
        <p:spPr>
          <a:xfrm>
            <a:off x="4261104" y="5591556"/>
            <a:ext cx="237744" cy="324612"/>
          </a:xfrm>
          <a:prstGeom prst="rect">
            <a:avLst/>
          </a:prstGeom>
          <a:noFill/>
          <a:ln/>
        </p:spPr>
        <p:txBody>
          <a:bodyPr wrap="square" lIns="0" tIns="0" rIns="0" bIns="0" rtlCol="0" anchor="ctr"/>
          <a:lstStyle/>
          <a:p>
            <a:pPr algn="l" indent="0" marL="0">
              <a:buNone/>
            </a:pPr>
            <a:endParaRPr lang="en-US" sz="1000" dirty="0"/>
          </a:p>
        </p:txBody>
      </p:sp>
      <p:sp>
        <p:nvSpPr>
          <p:cNvPr id="74" name="Text 72"/>
          <p:cNvSpPr txBox="1"/>
          <p:nvPr/>
        </p:nvSpPr>
        <p:spPr>
          <a:xfrm>
            <a:off x="4498848" y="5591556"/>
            <a:ext cx="4517136" cy="324612"/>
          </a:xfrm>
          <a:prstGeom prst="rect">
            <a:avLst/>
          </a:prstGeom>
          <a:noFill/>
          <a:ln/>
        </p:spPr>
        <p:txBody>
          <a:bodyPr wrap="square" lIns="0" tIns="0" rIns="0" bIns="0" rtlCol="0" anchor="ctr"/>
          <a:lstStyle/>
          <a:p>
            <a:pPr algn="l" indent="0" marL="0">
              <a:buNone/>
            </a:pPr>
            <a:r>
              <a:rPr lang="en-US" sz="1000" dirty="0">
                <a:solidFill>
                  <a:srgbClr val="6B7A75"/>
                </a:solidFill>
              </a:rPr>
              <a:t>rilidhje e large-graph, klikat e ruajtura</a:t>
            </a:r>
            <a:endParaRPr lang="en-US" sz="1000" dirty="0"/>
          </a:p>
        </p:txBody>
      </p:sp>
      <p:sp>
        <p:nvSpPr>
          <p:cNvPr id="75" name="Shape 73"/>
          <p:cNvSpPr/>
          <p:nvPr/>
        </p:nvSpPr>
        <p:spPr>
          <a:xfrm>
            <a:off x="9235440" y="2706624"/>
            <a:ext cx="914" cy="1225296"/>
          </a:xfrm>
          <a:prstGeom prst="line">
            <a:avLst/>
          </a:prstGeom>
          <a:noFill/>
          <a:ln w="25400">
            <a:solidFill>
              <a:srgbClr val="3E8E72"/>
            </a:solidFill>
            <a:prstDash val="solid"/>
          </a:ln>
        </p:spPr>
      </p:sp>
      <p:sp>
        <p:nvSpPr>
          <p:cNvPr id="76" name="Text 74"/>
          <p:cNvSpPr txBox="1"/>
          <p:nvPr/>
        </p:nvSpPr>
        <p:spPr>
          <a:xfrm>
            <a:off x="9381744" y="2670048"/>
            <a:ext cx="2194560" cy="1298448"/>
          </a:xfrm>
          <a:prstGeom prst="rect">
            <a:avLst/>
          </a:prstGeom>
          <a:noFill/>
          <a:ln/>
        </p:spPr>
        <p:txBody>
          <a:bodyPr wrap="square" lIns="0" tIns="0" rIns="0" bIns="0" rtlCol="0" anchor="ctr"/>
          <a:lstStyle/>
          <a:p>
            <a:pPr indent="0" marL="0">
              <a:buNone/>
            </a:pPr>
            <a:r>
              <a:rPr lang="en-US" sz="1150" b="1" dirty="0">
                <a:solidFill>
                  <a:srgbClr val="2A5247"/>
                </a:solidFill>
              </a:rPr>
              <a:t>të rralla</a:t>
            </a:r>
            <a:endParaRPr lang="en-US" sz="1150" dirty="0"/>
          </a:p>
        </p:txBody>
      </p:sp>
      <p:sp>
        <p:nvSpPr>
          <p:cNvPr id="77" name="Shape 75"/>
          <p:cNvSpPr/>
          <p:nvPr/>
        </p:nvSpPr>
        <p:spPr>
          <a:xfrm>
            <a:off x="9235440" y="4005072"/>
            <a:ext cx="914" cy="900684"/>
          </a:xfrm>
          <a:prstGeom prst="line">
            <a:avLst/>
          </a:prstGeom>
          <a:noFill/>
          <a:ln w="25400">
            <a:solidFill>
              <a:srgbClr val="3E8E72"/>
            </a:solidFill>
            <a:prstDash val="solid"/>
          </a:ln>
        </p:spPr>
      </p:sp>
      <p:sp>
        <p:nvSpPr>
          <p:cNvPr id="78" name="Text 76"/>
          <p:cNvSpPr txBox="1"/>
          <p:nvPr/>
        </p:nvSpPr>
        <p:spPr>
          <a:xfrm>
            <a:off x="9381744" y="3968496"/>
            <a:ext cx="2194560" cy="973836"/>
          </a:xfrm>
          <a:prstGeom prst="rect">
            <a:avLst/>
          </a:prstGeom>
          <a:noFill/>
          <a:ln/>
        </p:spPr>
        <p:txBody>
          <a:bodyPr wrap="square" lIns="0" tIns="0" rIns="0" bIns="0" rtlCol="0" anchor="ctr"/>
          <a:lstStyle/>
          <a:p>
            <a:pPr indent="0" marL="0">
              <a:buNone/>
            </a:pPr>
            <a:r>
              <a:rPr lang="en-US" sz="1150" b="1" dirty="0">
                <a:solidFill>
                  <a:srgbClr val="2A5247"/>
                </a:solidFill>
              </a:rPr>
              <a:t>medium të rilidhura</a:t>
            </a:r>
            <a:endParaRPr lang="en-US" sz="1150" dirty="0"/>
          </a:p>
        </p:txBody>
      </p:sp>
      <p:sp>
        <p:nvSpPr>
          <p:cNvPr id="79" name="Shape 77"/>
          <p:cNvSpPr/>
          <p:nvPr/>
        </p:nvSpPr>
        <p:spPr>
          <a:xfrm>
            <a:off x="9235440" y="4978908"/>
            <a:ext cx="914" cy="900684"/>
          </a:xfrm>
          <a:prstGeom prst="line">
            <a:avLst/>
          </a:prstGeom>
          <a:noFill/>
          <a:ln w="25400">
            <a:solidFill>
              <a:srgbClr val="3E8E72"/>
            </a:solidFill>
            <a:prstDash val="solid"/>
          </a:ln>
        </p:spPr>
      </p:sp>
      <p:sp>
        <p:nvSpPr>
          <p:cNvPr id="80" name="Text 78"/>
          <p:cNvSpPr txBox="1"/>
          <p:nvPr/>
        </p:nvSpPr>
        <p:spPr>
          <a:xfrm>
            <a:off x="9381744" y="4942332"/>
            <a:ext cx="2194560" cy="973836"/>
          </a:xfrm>
          <a:prstGeom prst="rect">
            <a:avLst/>
          </a:prstGeom>
          <a:noFill/>
          <a:ln/>
        </p:spPr>
        <p:txBody>
          <a:bodyPr wrap="square" lIns="0" tIns="0" rIns="0" bIns="0" rtlCol="0" anchor="ctr"/>
          <a:lstStyle/>
          <a:p>
            <a:pPr indent="0" marL="0">
              <a:buNone/>
            </a:pPr>
            <a:r>
              <a:rPr lang="en-US" sz="1150" b="1" dirty="0">
                <a:solidFill>
                  <a:srgbClr val="2A5247"/>
                </a:solidFill>
              </a:rPr>
              <a:t>të ngulitura me klikë</a:t>
            </a:r>
            <a:endParaRPr lang="en-US" sz="11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Pikat e nisjes e vendosin këtë tabelë, jo kërkimet</a:t>
            </a:r>
            <a:endParaRPr lang="en-US" sz="2600" dirty="0"/>
          </a:p>
        </p:txBody>
      </p:sp>
      <p:sp>
        <p:nvSpPr>
          <p:cNvPr id="3" name="Text 1"/>
          <p:cNvSpPr txBox="1"/>
          <p:nvPr/>
        </p:nvSpPr>
        <p:spPr>
          <a:xfrm>
            <a:off x="566928" y="1261872"/>
            <a:ext cx="5669280" cy="786384"/>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Para se të krahasohen kërkimet, të dy zgjidhësit në hapësirën e permutacioneve duhet të nisen diku. Zgjedhja e dukshme e drejtë, një renditje e rastësishme, nuk funksionon këtu, dhe arsyeja është kufiri 500.</a:t>
            </a:r>
            <a:endParaRPr lang="en-US" sz="1250" dirty="0"/>
          </a:p>
        </p:txBody>
      </p:sp>
      <p:sp>
        <p:nvSpPr>
          <p:cNvPr id="4" name="Text 2"/>
          <p:cNvSpPr txBox="1"/>
          <p:nvPr/>
        </p:nvSpPr>
        <p:spPr>
          <a:xfrm>
            <a:off x="566928" y="2139696"/>
            <a:ext cx="5669280" cy="1463040"/>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Në gjashtë nga dhjetë instancat një permutacion i rastësishëm nuk jep asgjë fare: çdo prefiks e thyen kufirin, pra nuk ka asnjë pikë të lejuar mbi të cilën të qëndrosh. Një zgjidhës pa asnjë pikë të lejuar nuk ka ku të ngjitet, dhe kërkimi degjeneron në ecje të rastësishme. I matur në medium-graph, 25 s nga nisje e rastësishme: LNS i Team HRI bëri 193 iteracione dhe pranoi zero.</a:t>
            </a:r>
            <a:endParaRPr lang="en-US" sz="1200" dirty="0"/>
          </a:p>
        </p:txBody>
      </p:sp>
      <p:sp>
        <p:nvSpPr>
          <p:cNvPr id="5" name="Shape 3"/>
          <p:cNvSpPr/>
          <p:nvPr/>
        </p:nvSpPr>
        <p:spPr>
          <a:xfrm>
            <a:off x="566928" y="3712464"/>
            <a:ext cx="5669280" cy="1700784"/>
          </a:xfrm>
          <a:prstGeom prst="roundRect">
            <a:avLst>
              <a:gd name="adj" fmla="val 2151"/>
            </a:avLst>
          </a:prstGeom>
          <a:solidFill>
            <a:srgbClr val="EFF3F1"/>
          </a:solidFill>
          <a:ln w="6350">
            <a:solidFill>
              <a:srgbClr val="EFF3F1"/>
            </a:solidFill>
            <a:prstDash val="solid"/>
          </a:ln>
        </p:spPr>
      </p:sp>
      <p:sp>
        <p:nvSpPr>
          <p:cNvPr id="6" name="Text 4"/>
          <p:cNvSpPr txBox="1"/>
          <p:nvPr/>
        </p:nvSpPr>
        <p:spPr>
          <a:xfrm>
            <a:off x="804672" y="3858768"/>
            <a:ext cx="5212080" cy="237744"/>
          </a:xfrm>
          <a:prstGeom prst="rect">
            <a:avLst/>
          </a:prstGeom>
          <a:noFill/>
          <a:ln/>
        </p:spPr>
        <p:txBody>
          <a:bodyPr wrap="square" lIns="0" tIns="0" rIns="0" bIns="0" rtlCol="0" anchor="ctr"/>
          <a:lstStyle/>
          <a:p>
            <a:pPr indent="0" marL="0">
              <a:buNone/>
            </a:pPr>
            <a:r>
              <a:rPr lang="en-US" sz="1100" b="1" spc="100" kern="0" dirty="0">
                <a:solidFill>
                  <a:srgbClr val="2A5247"/>
                </a:solidFill>
              </a:rPr>
              <a:t>Çfarë i bën kjo një krahasimi</a:t>
            </a:r>
            <a:endParaRPr lang="en-US" sz="1100" dirty="0"/>
          </a:p>
        </p:txBody>
      </p:sp>
      <p:sp>
        <p:nvSpPr>
          <p:cNvPr id="7" name="Text 5"/>
          <p:cNvSpPr txBox="1"/>
          <p:nvPr/>
        </p:nvSpPr>
        <p:spPr>
          <a:xfrm>
            <a:off x="804672" y="4133088"/>
            <a:ext cx="5212080" cy="1152144"/>
          </a:xfrm>
          <a:prstGeom prst="rect">
            <a:avLst/>
          </a:prstGeom>
          <a:noFill/>
          <a:ln/>
        </p:spPr>
        <p:txBody>
          <a:bodyPr wrap="square" lIns="0" tIns="0" rIns="0" bIns="0" rtlCol="0" anchor="ctr"/>
          <a:lstStyle/>
          <a:p>
            <a:pPr indent="0" marL="0">
              <a:lnSpc>
                <a:spcPts val="1700"/>
              </a:lnSpc>
              <a:buNone/>
            </a:pPr>
            <a:r>
              <a:rPr lang="en-US" sz="1150" dirty="0">
                <a:solidFill>
                  <a:srgbClr val="11211C"/>
                </a:solidFill>
              </a:rPr>
              <a:t>Një krahasim i mëhershëm e nisi hill climbing nga min-degree dhe Team HRI nga e rastësishmja, siç e përcakton punimi i tyre. Në synth-1 me 8 s kjo lexonte HRI −1,543,392 kundër hill climbing −1,818,617, që duket shkatërrim. Jepi HRI-së të njëjtën nisje dhe lexon −1,818,667 kundër −1,819,901: i njëjti rezultat brenda një rrumbullakimi.</a:t>
            </a:r>
            <a:endParaRPr lang="en-US" sz="1150" dirty="0"/>
          </a:p>
        </p:txBody>
      </p:sp>
      <p:sp>
        <p:nvSpPr>
          <p:cNvPr id="8" name="Text 6"/>
          <p:cNvSpPr txBox="1"/>
          <p:nvPr/>
        </p:nvSpPr>
        <p:spPr>
          <a:xfrm>
            <a:off x="566928" y="5541264"/>
            <a:ext cx="5669280" cy="457200"/>
          </a:xfrm>
          <a:prstGeom prst="rect">
            <a:avLst/>
          </a:prstGeom>
          <a:noFill/>
          <a:ln/>
        </p:spPr>
        <p:txBody>
          <a:bodyPr wrap="square" lIns="0" tIns="0" rIns="0" bIns="0" rtlCol="0" anchor="ctr"/>
          <a:lstStyle/>
          <a:p>
            <a:pPr indent="0" marL="0">
              <a:lnSpc>
                <a:spcPts val="1900"/>
              </a:lnSpc>
              <a:buNone/>
            </a:pPr>
            <a:r>
              <a:rPr lang="en-US" sz="1400" b="1" dirty="0">
                <a:solidFill>
                  <a:srgbClr val="C0603C"/>
                </a:solidFill>
                <a:latin typeface="Cambria" pitchFamily="34" charset="0"/>
                <a:ea typeface="Cambria" pitchFamily="34" charset="-122"/>
                <a:cs typeface="Cambria" pitchFamily="34" charset="-120"/>
              </a:rPr>
              <a:t>Thuajse i gjithë hendeku i dukshëm ishte heuristika e nisjes, jo kërkimi.</a:t>
            </a:r>
            <a:endParaRPr lang="en-US" sz="1400" dirty="0"/>
          </a:p>
        </p:txBody>
      </p:sp>
      <p:sp>
        <p:nvSpPr>
          <p:cNvPr id="9" name="Text 7"/>
          <p:cNvSpPr txBox="1"/>
          <p:nvPr/>
        </p:nvSpPr>
        <p:spPr>
          <a:xfrm>
            <a:off x="6492240" y="1280160"/>
            <a:ext cx="5138928" cy="237744"/>
          </a:xfrm>
          <a:prstGeom prst="rect">
            <a:avLst/>
          </a:prstGeom>
          <a:noFill/>
          <a:ln/>
        </p:spPr>
        <p:txBody>
          <a:bodyPr wrap="square" lIns="0" tIns="0" rIns="0" bIns="0" rtlCol="0" anchor="ctr"/>
          <a:lstStyle/>
          <a:p>
            <a:pPr indent="0" marL="0">
              <a:buNone/>
            </a:pPr>
            <a:r>
              <a:rPr lang="en-US" sz="1050" b="1" spc="100" kern="0" dirty="0">
                <a:solidFill>
                  <a:srgbClr val="2A5247"/>
                </a:solidFill>
              </a:rPr>
              <a:t>pika Pareto të lejuara nga një renditje</a:t>
            </a:r>
            <a:endParaRPr lang="en-US" sz="1050" dirty="0"/>
          </a:p>
        </p:txBody>
      </p:sp>
      <p:sp>
        <p:nvSpPr>
          <p:cNvPr id="10" name="Text 8"/>
          <p:cNvSpPr txBox="1"/>
          <p:nvPr/>
        </p:nvSpPr>
        <p:spPr>
          <a:xfrm>
            <a:off x="7818120" y="1609344"/>
            <a:ext cx="1796796" cy="219456"/>
          </a:xfrm>
          <a:prstGeom prst="rect">
            <a:avLst/>
          </a:prstGeom>
          <a:noFill/>
          <a:ln/>
        </p:spPr>
        <p:txBody>
          <a:bodyPr wrap="square" lIns="0" tIns="0" rIns="0" bIns="0" rtlCol="0" anchor="ctr"/>
          <a:lstStyle/>
          <a:p>
            <a:pPr indent="0" marL="0">
              <a:buNone/>
            </a:pPr>
            <a:r>
              <a:rPr lang="en-US" sz="950" b="1" dirty="0">
                <a:solidFill>
                  <a:srgbClr val="C0603C"/>
                </a:solidFill>
              </a:rPr>
              <a:t>renditje e rastësishme</a:t>
            </a:r>
            <a:endParaRPr lang="en-US" sz="950" dirty="0"/>
          </a:p>
        </p:txBody>
      </p:sp>
      <p:sp>
        <p:nvSpPr>
          <p:cNvPr id="11" name="Text 9"/>
          <p:cNvSpPr txBox="1"/>
          <p:nvPr/>
        </p:nvSpPr>
        <p:spPr>
          <a:xfrm>
            <a:off x="9834372" y="1609344"/>
            <a:ext cx="1796796" cy="219456"/>
          </a:xfrm>
          <a:prstGeom prst="rect">
            <a:avLst/>
          </a:prstGeom>
          <a:noFill/>
          <a:ln/>
        </p:spPr>
        <p:txBody>
          <a:bodyPr wrap="square" lIns="0" tIns="0" rIns="0" bIns="0" rtlCol="0" anchor="ctr"/>
          <a:lstStyle/>
          <a:p>
            <a:pPr indent="0" marL="0">
              <a:buNone/>
            </a:pPr>
            <a:r>
              <a:rPr lang="en-US" sz="950" b="1" dirty="0">
                <a:solidFill>
                  <a:srgbClr val="3E8E72"/>
                </a:solidFill>
              </a:rPr>
              <a:t>min-degree</a:t>
            </a:r>
            <a:endParaRPr lang="en-US" sz="950" dirty="0"/>
          </a:p>
        </p:txBody>
      </p:sp>
      <p:sp>
        <p:nvSpPr>
          <p:cNvPr id="12" name="Text 10"/>
          <p:cNvSpPr txBox="1"/>
          <p:nvPr/>
        </p:nvSpPr>
        <p:spPr>
          <a:xfrm>
            <a:off x="6492240" y="1883664"/>
            <a:ext cx="1261872" cy="365760"/>
          </a:xfrm>
          <a:prstGeom prst="rect">
            <a:avLst/>
          </a:prstGeom>
          <a:noFill/>
          <a:ln/>
        </p:spPr>
        <p:txBody>
          <a:bodyPr wrap="square" lIns="0" tIns="0" rIns="0" bIns="0" rtlCol="0" anchor="ctr"/>
          <a:lstStyle/>
          <a:p>
            <a:pPr indent="0" marL="0">
              <a:buNone/>
            </a:pPr>
            <a:r>
              <a:rPr lang="en-US" sz="900" dirty="0">
                <a:solidFill>
                  <a:srgbClr val="11211C"/>
                </a:solidFill>
              </a:rPr>
              <a:t>small-graph</a:t>
            </a:r>
            <a:endParaRPr lang="en-US" sz="900" dirty="0"/>
          </a:p>
        </p:txBody>
      </p:sp>
      <p:sp>
        <p:nvSpPr>
          <p:cNvPr id="13" name="Shape 11"/>
          <p:cNvSpPr/>
          <p:nvPr/>
        </p:nvSpPr>
        <p:spPr>
          <a:xfrm>
            <a:off x="7818120" y="1920240"/>
            <a:ext cx="420450" cy="274320"/>
          </a:xfrm>
          <a:prstGeom prst="rect">
            <a:avLst/>
          </a:prstGeom>
          <a:solidFill>
            <a:srgbClr val="C0603C">
              <a:alpha val="75000"/>
            </a:srgbClr>
          </a:solidFill>
          <a:ln w="3175">
            <a:solidFill>
              <a:srgbClr val="C0603C">
                <a:alpha val="75000"/>
              </a:srgbClr>
            </a:solidFill>
            <a:prstDash val="solid"/>
          </a:ln>
        </p:spPr>
      </p:sp>
      <p:sp>
        <p:nvSpPr>
          <p:cNvPr id="14" name="Shape 12"/>
          <p:cNvSpPr/>
          <p:nvPr/>
        </p:nvSpPr>
        <p:spPr>
          <a:xfrm>
            <a:off x="9834372" y="1920240"/>
            <a:ext cx="79059" cy="274320"/>
          </a:xfrm>
          <a:prstGeom prst="rect">
            <a:avLst/>
          </a:prstGeom>
          <a:solidFill>
            <a:srgbClr val="3E8E72">
              <a:alpha val="75000"/>
            </a:srgbClr>
          </a:solidFill>
          <a:ln w="3175">
            <a:solidFill>
              <a:srgbClr val="3E8E72">
                <a:alpha val="75000"/>
              </a:srgbClr>
            </a:solidFill>
            <a:prstDash val="solid"/>
          </a:ln>
        </p:spPr>
      </p:sp>
      <p:sp>
        <p:nvSpPr>
          <p:cNvPr id="15" name="Text 13"/>
          <p:cNvSpPr txBox="1"/>
          <p:nvPr/>
        </p:nvSpPr>
        <p:spPr>
          <a:xfrm>
            <a:off x="9968295" y="1883664"/>
            <a:ext cx="384048" cy="365760"/>
          </a:xfrm>
          <a:prstGeom prst="rect">
            <a:avLst/>
          </a:prstGeom>
          <a:noFill/>
          <a:ln/>
        </p:spPr>
        <p:txBody>
          <a:bodyPr wrap="square" lIns="0" tIns="0" rIns="0" bIns="0" rtlCol="0" anchor="ctr"/>
          <a:lstStyle/>
          <a:p>
            <a:pPr indent="0" marL="0">
              <a:buNone/>
            </a:pPr>
            <a:r>
              <a:rPr lang="en-US" sz="800" dirty="0">
                <a:solidFill>
                  <a:srgbClr val="6B7A75"/>
                </a:solidFill>
              </a:rPr>
              <a:t>22</a:t>
            </a:r>
            <a:endParaRPr lang="en-US" sz="800" dirty="0"/>
          </a:p>
        </p:txBody>
      </p:sp>
      <p:sp>
        <p:nvSpPr>
          <p:cNvPr id="16" name="Text 14"/>
          <p:cNvSpPr txBox="1"/>
          <p:nvPr/>
        </p:nvSpPr>
        <p:spPr>
          <a:xfrm>
            <a:off x="6492240" y="2249424"/>
            <a:ext cx="1261872" cy="365760"/>
          </a:xfrm>
          <a:prstGeom prst="rect">
            <a:avLst/>
          </a:prstGeom>
          <a:noFill/>
          <a:ln/>
        </p:spPr>
        <p:txBody>
          <a:bodyPr wrap="square" lIns="0" tIns="0" rIns="0" bIns="0" rtlCol="0" anchor="ctr"/>
          <a:lstStyle/>
          <a:p>
            <a:pPr indent="0" marL="0">
              <a:buNone/>
            </a:pPr>
            <a:r>
              <a:rPr lang="en-US" sz="900" dirty="0">
                <a:solidFill>
                  <a:srgbClr val="11211C"/>
                </a:solidFill>
              </a:rPr>
              <a:t>medium-graph</a:t>
            </a:r>
            <a:endParaRPr lang="en-US" sz="900" dirty="0"/>
          </a:p>
        </p:txBody>
      </p:sp>
      <p:sp>
        <p:nvSpPr>
          <p:cNvPr id="17" name="Text 15"/>
          <p:cNvSpPr txBox="1"/>
          <p:nvPr/>
        </p:nvSpPr>
        <p:spPr>
          <a:xfrm>
            <a:off x="7818120" y="2249424"/>
            <a:ext cx="274320" cy="365760"/>
          </a:xfrm>
          <a:prstGeom prst="rect">
            <a:avLst/>
          </a:prstGeom>
          <a:noFill/>
          <a:ln/>
        </p:spPr>
        <p:txBody>
          <a:bodyPr wrap="square" lIns="0" tIns="0" rIns="0" bIns="0" rtlCol="0" anchor="ctr"/>
          <a:lstStyle/>
          <a:p>
            <a:pPr indent="0" marL="0">
              <a:buNone/>
            </a:pPr>
            <a:r>
              <a:rPr lang="en-US" sz="900" b="1" dirty="0">
                <a:solidFill>
                  <a:srgbClr val="C0603C"/>
                </a:solidFill>
              </a:rPr>
              <a:t>0</a:t>
            </a:r>
            <a:endParaRPr lang="en-US" sz="900" dirty="0"/>
          </a:p>
        </p:txBody>
      </p:sp>
      <p:sp>
        <p:nvSpPr>
          <p:cNvPr id="18" name="Shape 16"/>
          <p:cNvSpPr/>
          <p:nvPr/>
        </p:nvSpPr>
        <p:spPr>
          <a:xfrm>
            <a:off x="9834372" y="2286000"/>
            <a:ext cx="1024174" cy="274320"/>
          </a:xfrm>
          <a:prstGeom prst="rect">
            <a:avLst/>
          </a:prstGeom>
          <a:solidFill>
            <a:srgbClr val="3E8E72">
              <a:alpha val="75000"/>
            </a:srgbClr>
          </a:solidFill>
          <a:ln w="3175">
            <a:solidFill>
              <a:srgbClr val="3E8E72">
                <a:alpha val="75000"/>
              </a:srgbClr>
            </a:solidFill>
            <a:prstDash val="solid"/>
          </a:ln>
        </p:spPr>
      </p:sp>
      <p:sp>
        <p:nvSpPr>
          <p:cNvPr id="19" name="Text 17"/>
          <p:cNvSpPr txBox="1"/>
          <p:nvPr/>
        </p:nvSpPr>
        <p:spPr>
          <a:xfrm>
            <a:off x="10913410" y="2249424"/>
            <a:ext cx="384048" cy="365760"/>
          </a:xfrm>
          <a:prstGeom prst="rect">
            <a:avLst/>
          </a:prstGeom>
          <a:noFill/>
          <a:ln/>
        </p:spPr>
        <p:txBody>
          <a:bodyPr wrap="square" lIns="0" tIns="0" rIns="0" bIns="0" rtlCol="0" anchor="ctr"/>
          <a:lstStyle/>
          <a:p>
            <a:pPr indent="0" marL="0">
              <a:buNone/>
            </a:pPr>
            <a:r>
              <a:rPr lang="en-US" sz="800" dirty="0">
                <a:solidFill>
                  <a:srgbClr val="6B7A75"/>
                </a:solidFill>
              </a:rPr>
              <a:t>285</a:t>
            </a:r>
            <a:endParaRPr lang="en-US" sz="800" dirty="0"/>
          </a:p>
        </p:txBody>
      </p:sp>
      <p:sp>
        <p:nvSpPr>
          <p:cNvPr id="20" name="Text 18"/>
          <p:cNvSpPr txBox="1"/>
          <p:nvPr/>
        </p:nvSpPr>
        <p:spPr>
          <a:xfrm>
            <a:off x="6492240" y="2615184"/>
            <a:ext cx="1261872" cy="365760"/>
          </a:xfrm>
          <a:prstGeom prst="rect">
            <a:avLst/>
          </a:prstGeom>
          <a:noFill/>
          <a:ln/>
        </p:spPr>
        <p:txBody>
          <a:bodyPr wrap="square" lIns="0" tIns="0" rIns="0" bIns="0" rtlCol="0" anchor="ctr"/>
          <a:lstStyle/>
          <a:p>
            <a:pPr indent="0" marL="0">
              <a:buNone/>
            </a:pPr>
            <a:r>
              <a:rPr lang="en-US" sz="900" dirty="0">
                <a:solidFill>
                  <a:srgbClr val="11211C"/>
                </a:solidFill>
              </a:rPr>
              <a:t>large-graph</a:t>
            </a:r>
            <a:endParaRPr lang="en-US" sz="900" dirty="0"/>
          </a:p>
        </p:txBody>
      </p:sp>
      <p:sp>
        <p:nvSpPr>
          <p:cNvPr id="21" name="Text 19"/>
          <p:cNvSpPr txBox="1"/>
          <p:nvPr/>
        </p:nvSpPr>
        <p:spPr>
          <a:xfrm>
            <a:off x="7818120" y="2615184"/>
            <a:ext cx="274320" cy="365760"/>
          </a:xfrm>
          <a:prstGeom prst="rect">
            <a:avLst/>
          </a:prstGeom>
          <a:noFill/>
          <a:ln/>
        </p:spPr>
        <p:txBody>
          <a:bodyPr wrap="square" lIns="0" tIns="0" rIns="0" bIns="0" rtlCol="0" anchor="ctr"/>
          <a:lstStyle/>
          <a:p>
            <a:pPr indent="0" marL="0">
              <a:buNone/>
            </a:pPr>
            <a:r>
              <a:rPr lang="en-US" sz="900" b="1" dirty="0">
                <a:solidFill>
                  <a:srgbClr val="C0603C"/>
                </a:solidFill>
              </a:rPr>
              <a:t>0</a:t>
            </a:r>
            <a:endParaRPr lang="en-US" sz="900" dirty="0"/>
          </a:p>
        </p:txBody>
      </p:sp>
      <p:sp>
        <p:nvSpPr>
          <p:cNvPr id="22" name="Shape 20"/>
          <p:cNvSpPr/>
          <p:nvPr/>
        </p:nvSpPr>
        <p:spPr>
          <a:xfrm>
            <a:off x="9834372" y="2651760"/>
            <a:ext cx="1796796" cy="274320"/>
          </a:xfrm>
          <a:prstGeom prst="rect">
            <a:avLst/>
          </a:prstGeom>
          <a:solidFill>
            <a:srgbClr val="3E8E72">
              <a:alpha val="75000"/>
            </a:srgbClr>
          </a:solidFill>
          <a:ln w="3175">
            <a:solidFill>
              <a:srgbClr val="3E8E72">
                <a:alpha val="75000"/>
              </a:srgbClr>
            </a:solidFill>
            <a:prstDash val="solid"/>
          </a:ln>
        </p:spPr>
      </p:sp>
      <p:sp>
        <p:nvSpPr>
          <p:cNvPr id="23" name="Text 21"/>
          <p:cNvSpPr txBox="1"/>
          <p:nvPr/>
        </p:nvSpPr>
        <p:spPr>
          <a:xfrm>
            <a:off x="11686032" y="2615184"/>
            <a:ext cx="384048" cy="365760"/>
          </a:xfrm>
          <a:prstGeom prst="rect">
            <a:avLst/>
          </a:prstGeom>
          <a:noFill/>
          <a:ln/>
        </p:spPr>
        <p:txBody>
          <a:bodyPr wrap="square" lIns="0" tIns="0" rIns="0" bIns="0" rtlCol="0" anchor="ctr"/>
          <a:lstStyle/>
          <a:p>
            <a:pPr indent="0" marL="0">
              <a:buNone/>
            </a:pPr>
            <a:r>
              <a:rPr lang="en-US" sz="800" dirty="0">
                <a:solidFill>
                  <a:srgbClr val="6B7A75"/>
                </a:solidFill>
              </a:rPr>
              <a:t>500</a:t>
            </a:r>
            <a:endParaRPr lang="en-US" sz="800" dirty="0"/>
          </a:p>
        </p:txBody>
      </p:sp>
      <p:sp>
        <p:nvSpPr>
          <p:cNvPr id="24" name="Text 22"/>
          <p:cNvSpPr txBox="1"/>
          <p:nvPr/>
        </p:nvSpPr>
        <p:spPr>
          <a:xfrm>
            <a:off x="6492240" y="2980944"/>
            <a:ext cx="1261872" cy="365760"/>
          </a:xfrm>
          <a:prstGeom prst="rect">
            <a:avLst/>
          </a:prstGeom>
          <a:noFill/>
          <a:ln/>
        </p:spPr>
        <p:txBody>
          <a:bodyPr wrap="square" lIns="0" tIns="0" rIns="0" bIns="0" rtlCol="0" anchor="ctr"/>
          <a:lstStyle/>
          <a:p>
            <a:pPr indent="0" marL="0">
              <a:buNone/>
            </a:pPr>
            <a:r>
              <a:rPr lang="en-US" sz="900" dirty="0">
                <a:solidFill>
                  <a:srgbClr val="11211C"/>
                </a:solidFill>
              </a:rPr>
              <a:t>synth-1</a:t>
            </a:r>
            <a:endParaRPr lang="en-US" sz="900" dirty="0"/>
          </a:p>
        </p:txBody>
      </p:sp>
      <p:sp>
        <p:nvSpPr>
          <p:cNvPr id="25" name="Shape 23"/>
          <p:cNvSpPr/>
          <p:nvPr/>
        </p:nvSpPr>
        <p:spPr>
          <a:xfrm>
            <a:off x="7818120" y="3017520"/>
            <a:ext cx="898398" cy="274320"/>
          </a:xfrm>
          <a:prstGeom prst="rect">
            <a:avLst/>
          </a:prstGeom>
          <a:solidFill>
            <a:srgbClr val="C0603C">
              <a:alpha val="75000"/>
            </a:srgbClr>
          </a:solidFill>
          <a:ln w="3175">
            <a:solidFill>
              <a:srgbClr val="C0603C">
                <a:alpha val="75000"/>
              </a:srgbClr>
            </a:solidFill>
            <a:prstDash val="solid"/>
          </a:ln>
        </p:spPr>
      </p:sp>
      <p:sp>
        <p:nvSpPr>
          <p:cNvPr id="26" name="Shape 24"/>
          <p:cNvSpPr/>
          <p:nvPr/>
        </p:nvSpPr>
        <p:spPr>
          <a:xfrm>
            <a:off x="9834372" y="3017520"/>
            <a:ext cx="64685" cy="274320"/>
          </a:xfrm>
          <a:prstGeom prst="rect">
            <a:avLst/>
          </a:prstGeom>
          <a:solidFill>
            <a:srgbClr val="3E8E72">
              <a:alpha val="75000"/>
            </a:srgbClr>
          </a:solidFill>
          <a:ln w="3175">
            <a:solidFill>
              <a:srgbClr val="3E8E72">
                <a:alpha val="75000"/>
              </a:srgbClr>
            </a:solidFill>
            <a:prstDash val="solid"/>
          </a:ln>
        </p:spPr>
      </p:sp>
      <p:sp>
        <p:nvSpPr>
          <p:cNvPr id="27" name="Text 25"/>
          <p:cNvSpPr txBox="1"/>
          <p:nvPr/>
        </p:nvSpPr>
        <p:spPr>
          <a:xfrm>
            <a:off x="9953921" y="2980944"/>
            <a:ext cx="384048" cy="365760"/>
          </a:xfrm>
          <a:prstGeom prst="rect">
            <a:avLst/>
          </a:prstGeom>
          <a:noFill/>
          <a:ln/>
        </p:spPr>
        <p:txBody>
          <a:bodyPr wrap="square" lIns="0" tIns="0" rIns="0" bIns="0" rtlCol="0" anchor="ctr"/>
          <a:lstStyle/>
          <a:p>
            <a:pPr indent="0" marL="0">
              <a:buNone/>
            </a:pPr>
            <a:r>
              <a:rPr lang="en-US" sz="800" dirty="0">
                <a:solidFill>
                  <a:srgbClr val="6B7A75"/>
                </a:solidFill>
              </a:rPr>
              <a:t>18</a:t>
            </a:r>
            <a:endParaRPr lang="en-US" sz="800" dirty="0"/>
          </a:p>
        </p:txBody>
      </p:sp>
      <p:sp>
        <p:nvSpPr>
          <p:cNvPr id="28" name="Text 26"/>
          <p:cNvSpPr txBox="1"/>
          <p:nvPr/>
        </p:nvSpPr>
        <p:spPr>
          <a:xfrm>
            <a:off x="6492240" y="3346704"/>
            <a:ext cx="1261872" cy="365760"/>
          </a:xfrm>
          <a:prstGeom prst="rect">
            <a:avLst/>
          </a:prstGeom>
          <a:noFill/>
          <a:ln/>
        </p:spPr>
        <p:txBody>
          <a:bodyPr wrap="square" lIns="0" tIns="0" rIns="0" bIns="0" rtlCol="0" anchor="ctr"/>
          <a:lstStyle/>
          <a:p>
            <a:pPr indent="0" marL="0">
              <a:buNone/>
            </a:pPr>
            <a:r>
              <a:rPr lang="en-US" sz="900" dirty="0">
                <a:solidFill>
                  <a:srgbClr val="11211C"/>
                </a:solidFill>
              </a:rPr>
              <a:t>synth-2</a:t>
            </a:r>
            <a:endParaRPr lang="en-US" sz="900" dirty="0"/>
          </a:p>
        </p:txBody>
      </p:sp>
      <p:sp>
        <p:nvSpPr>
          <p:cNvPr id="29" name="Shape 27"/>
          <p:cNvSpPr/>
          <p:nvPr/>
        </p:nvSpPr>
        <p:spPr>
          <a:xfrm>
            <a:off x="7818120" y="3383280"/>
            <a:ext cx="1067297" cy="274320"/>
          </a:xfrm>
          <a:prstGeom prst="rect">
            <a:avLst/>
          </a:prstGeom>
          <a:solidFill>
            <a:srgbClr val="C0603C">
              <a:alpha val="75000"/>
            </a:srgbClr>
          </a:solidFill>
          <a:ln w="3175">
            <a:solidFill>
              <a:srgbClr val="C0603C">
                <a:alpha val="75000"/>
              </a:srgbClr>
            </a:solidFill>
            <a:prstDash val="solid"/>
          </a:ln>
        </p:spPr>
      </p:sp>
      <p:sp>
        <p:nvSpPr>
          <p:cNvPr id="30" name="Shape 28"/>
          <p:cNvSpPr/>
          <p:nvPr/>
        </p:nvSpPr>
        <p:spPr>
          <a:xfrm>
            <a:off x="9834372" y="3383280"/>
            <a:ext cx="68278" cy="274320"/>
          </a:xfrm>
          <a:prstGeom prst="rect">
            <a:avLst/>
          </a:prstGeom>
          <a:solidFill>
            <a:srgbClr val="3E8E72">
              <a:alpha val="75000"/>
            </a:srgbClr>
          </a:solidFill>
          <a:ln w="3175">
            <a:solidFill>
              <a:srgbClr val="3E8E72">
                <a:alpha val="75000"/>
              </a:srgbClr>
            </a:solidFill>
            <a:prstDash val="solid"/>
          </a:ln>
        </p:spPr>
      </p:sp>
      <p:sp>
        <p:nvSpPr>
          <p:cNvPr id="31" name="Text 29"/>
          <p:cNvSpPr txBox="1"/>
          <p:nvPr/>
        </p:nvSpPr>
        <p:spPr>
          <a:xfrm>
            <a:off x="9957514" y="3346704"/>
            <a:ext cx="384048" cy="365760"/>
          </a:xfrm>
          <a:prstGeom prst="rect">
            <a:avLst/>
          </a:prstGeom>
          <a:noFill/>
          <a:ln/>
        </p:spPr>
        <p:txBody>
          <a:bodyPr wrap="square" lIns="0" tIns="0" rIns="0" bIns="0" rtlCol="0" anchor="ctr"/>
          <a:lstStyle/>
          <a:p>
            <a:pPr indent="0" marL="0">
              <a:buNone/>
            </a:pPr>
            <a:r>
              <a:rPr lang="en-US" sz="800" dirty="0">
                <a:solidFill>
                  <a:srgbClr val="6B7A75"/>
                </a:solidFill>
              </a:rPr>
              <a:t>19</a:t>
            </a:r>
            <a:endParaRPr lang="en-US" sz="800" dirty="0"/>
          </a:p>
        </p:txBody>
      </p:sp>
      <p:sp>
        <p:nvSpPr>
          <p:cNvPr id="32" name="Text 30"/>
          <p:cNvSpPr txBox="1"/>
          <p:nvPr/>
        </p:nvSpPr>
        <p:spPr>
          <a:xfrm>
            <a:off x="6492240" y="3712464"/>
            <a:ext cx="1261872" cy="365760"/>
          </a:xfrm>
          <a:prstGeom prst="rect">
            <a:avLst/>
          </a:prstGeom>
          <a:noFill/>
          <a:ln/>
        </p:spPr>
        <p:txBody>
          <a:bodyPr wrap="square" lIns="0" tIns="0" rIns="0" bIns="0" rtlCol="0" anchor="ctr"/>
          <a:lstStyle/>
          <a:p>
            <a:pPr indent="0" marL="0">
              <a:buNone/>
            </a:pPr>
            <a:r>
              <a:rPr lang="en-US" sz="900" dirty="0">
                <a:solidFill>
                  <a:srgbClr val="11211C"/>
                </a:solidFill>
              </a:rPr>
              <a:t>synth-3</a:t>
            </a:r>
            <a:endParaRPr lang="en-US" sz="900" dirty="0"/>
          </a:p>
        </p:txBody>
      </p:sp>
      <p:sp>
        <p:nvSpPr>
          <p:cNvPr id="33" name="Shape 31"/>
          <p:cNvSpPr/>
          <p:nvPr/>
        </p:nvSpPr>
        <p:spPr>
          <a:xfrm>
            <a:off x="7818120" y="3749040"/>
            <a:ext cx="1060110" cy="274320"/>
          </a:xfrm>
          <a:prstGeom prst="rect">
            <a:avLst/>
          </a:prstGeom>
          <a:solidFill>
            <a:srgbClr val="C0603C">
              <a:alpha val="75000"/>
            </a:srgbClr>
          </a:solidFill>
          <a:ln w="3175">
            <a:solidFill>
              <a:srgbClr val="C0603C">
                <a:alpha val="75000"/>
              </a:srgbClr>
            </a:solidFill>
            <a:prstDash val="solid"/>
          </a:ln>
        </p:spPr>
      </p:sp>
      <p:sp>
        <p:nvSpPr>
          <p:cNvPr id="34" name="Shape 32"/>
          <p:cNvSpPr/>
          <p:nvPr/>
        </p:nvSpPr>
        <p:spPr>
          <a:xfrm>
            <a:off x="9834372" y="3749040"/>
            <a:ext cx="68278" cy="274320"/>
          </a:xfrm>
          <a:prstGeom prst="rect">
            <a:avLst/>
          </a:prstGeom>
          <a:solidFill>
            <a:srgbClr val="3E8E72">
              <a:alpha val="75000"/>
            </a:srgbClr>
          </a:solidFill>
          <a:ln w="3175">
            <a:solidFill>
              <a:srgbClr val="3E8E72">
                <a:alpha val="75000"/>
              </a:srgbClr>
            </a:solidFill>
            <a:prstDash val="solid"/>
          </a:ln>
        </p:spPr>
      </p:sp>
      <p:sp>
        <p:nvSpPr>
          <p:cNvPr id="35" name="Text 33"/>
          <p:cNvSpPr txBox="1"/>
          <p:nvPr/>
        </p:nvSpPr>
        <p:spPr>
          <a:xfrm>
            <a:off x="9957514" y="3712464"/>
            <a:ext cx="384048" cy="365760"/>
          </a:xfrm>
          <a:prstGeom prst="rect">
            <a:avLst/>
          </a:prstGeom>
          <a:noFill/>
          <a:ln/>
        </p:spPr>
        <p:txBody>
          <a:bodyPr wrap="square" lIns="0" tIns="0" rIns="0" bIns="0" rtlCol="0" anchor="ctr"/>
          <a:lstStyle/>
          <a:p>
            <a:pPr indent="0" marL="0">
              <a:buNone/>
            </a:pPr>
            <a:r>
              <a:rPr lang="en-US" sz="800" dirty="0">
                <a:solidFill>
                  <a:srgbClr val="6B7A75"/>
                </a:solidFill>
              </a:rPr>
              <a:t>19</a:t>
            </a:r>
            <a:endParaRPr lang="en-US" sz="800" dirty="0"/>
          </a:p>
        </p:txBody>
      </p:sp>
      <p:sp>
        <p:nvSpPr>
          <p:cNvPr id="36" name="Text 34"/>
          <p:cNvSpPr txBox="1"/>
          <p:nvPr/>
        </p:nvSpPr>
        <p:spPr>
          <a:xfrm>
            <a:off x="6492240" y="4078224"/>
            <a:ext cx="1261872" cy="365760"/>
          </a:xfrm>
          <a:prstGeom prst="rect">
            <a:avLst/>
          </a:prstGeom>
          <a:noFill/>
          <a:ln/>
        </p:spPr>
        <p:txBody>
          <a:bodyPr wrap="square" lIns="0" tIns="0" rIns="0" bIns="0" rtlCol="0" anchor="ctr"/>
          <a:lstStyle/>
          <a:p>
            <a:pPr indent="0" marL="0">
              <a:buNone/>
            </a:pPr>
            <a:r>
              <a:rPr lang="en-US" sz="900" dirty="0">
                <a:solidFill>
                  <a:srgbClr val="11211C"/>
                </a:solidFill>
              </a:rPr>
              <a:t>synth-4</a:t>
            </a:r>
            <a:endParaRPr lang="en-US" sz="900" dirty="0"/>
          </a:p>
        </p:txBody>
      </p:sp>
      <p:sp>
        <p:nvSpPr>
          <p:cNvPr id="37" name="Text 35"/>
          <p:cNvSpPr txBox="1"/>
          <p:nvPr/>
        </p:nvSpPr>
        <p:spPr>
          <a:xfrm>
            <a:off x="7818120" y="4078224"/>
            <a:ext cx="274320" cy="365760"/>
          </a:xfrm>
          <a:prstGeom prst="rect">
            <a:avLst/>
          </a:prstGeom>
          <a:noFill/>
          <a:ln/>
        </p:spPr>
        <p:txBody>
          <a:bodyPr wrap="square" lIns="0" tIns="0" rIns="0" bIns="0" rtlCol="0" anchor="ctr"/>
          <a:lstStyle/>
          <a:p>
            <a:pPr indent="0" marL="0">
              <a:buNone/>
            </a:pPr>
            <a:r>
              <a:rPr lang="en-US" sz="900" b="1" dirty="0">
                <a:solidFill>
                  <a:srgbClr val="C0603C"/>
                </a:solidFill>
              </a:rPr>
              <a:t>0</a:t>
            </a:r>
            <a:endParaRPr lang="en-US" sz="900" dirty="0"/>
          </a:p>
        </p:txBody>
      </p:sp>
      <p:sp>
        <p:nvSpPr>
          <p:cNvPr id="38" name="Shape 36"/>
          <p:cNvSpPr/>
          <p:nvPr/>
        </p:nvSpPr>
        <p:spPr>
          <a:xfrm>
            <a:off x="9834372" y="4114800"/>
            <a:ext cx="1121201" cy="274320"/>
          </a:xfrm>
          <a:prstGeom prst="rect">
            <a:avLst/>
          </a:prstGeom>
          <a:solidFill>
            <a:srgbClr val="3E8E72">
              <a:alpha val="75000"/>
            </a:srgbClr>
          </a:solidFill>
          <a:ln w="3175">
            <a:solidFill>
              <a:srgbClr val="3E8E72">
                <a:alpha val="75000"/>
              </a:srgbClr>
            </a:solidFill>
            <a:prstDash val="solid"/>
          </a:ln>
        </p:spPr>
      </p:sp>
      <p:sp>
        <p:nvSpPr>
          <p:cNvPr id="39" name="Text 37"/>
          <p:cNvSpPr txBox="1"/>
          <p:nvPr/>
        </p:nvSpPr>
        <p:spPr>
          <a:xfrm>
            <a:off x="11010437" y="4078224"/>
            <a:ext cx="384048" cy="365760"/>
          </a:xfrm>
          <a:prstGeom prst="rect">
            <a:avLst/>
          </a:prstGeom>
          <a:noFill/>
          <a:ln/>
        </p:spPr>
        <p:txBody>
          <a:bodyPr wrap="square" lIns="0" tIns="0" rIns="0" bIns="0" rtlCol="0" anchor="ctr"/>
          <a:lstStyle/>
          <a:p>
            <a:pPr indent="0" marL="0">
              <a:buNone/>
            </a:pPr>
            <a:r>
              <a:rPr lang="en-US" sz="800" dirty="0">
                <a:solidFill>
                  <a:srgbClr val="6B7A75"/>
                </a:solidFill>
              </a:rPr>
              <a:t>312</a:t>
            </a:r>
            <a:endParaRPr lang="en-US" sz="800" dirty="0"/>
          </a:p>
        </p:txBody>
      </p:sp>
      <p:sp>
        <p:nvSpPr>
          <p:cNvPr id="40" name="Text 38"/>
          <p:cNvSpPr txBox="1"/>
          <p:nvPr/>
        </p:nvSpPr>
        <p:spPr>
          <a:xfrm>
            <a:off x="6492240" y="4443984"/>
            <a:ext cx="1261872" cy="365760"/>
          </a:xfrm>
          <a:prstGeom prst="rect">
            <a:avLst/>
          </a:prstGeom>
          <a:noFill/>
          <a:ln/>
        </p:spPr>
        <p:txBody>
          <a:bodyPr wrap="square" lIns="0" tIns="0" rIns="0" bIns="0" rtlCol="0" anchor="ctr"/>
          <a:lstStyle/>
          <a:p>
            <a:pPr indent="0" marL="0">
              <a:buNone/>
            </a:pPr>
            <a:r>
              <a:rPr lang="en-US" sz="900" dirty="0">
                <a:solidFill>
                  <a:srgbClr val="11211C"/>
                </a:solidFill>
              </a:rPr>
              <a:t>synth-5</a:t>
            </a:r>
            <a:endParaRPr lang="en-US" sz="900" dirty="0"/>
          </a:p>
        </p:txBody>
      </p:sp>
      <p:sp>
        <p:nvSpPr>
          <p:cNvPr id="41" name="Text 39"/>
          <p:cNvSpPr txBox="1"/>
          <p:nvPr/>
        </p:nvSpPr>
        <p:spPr>
          <a:xfrm>
            <a:off x="7818120" y="4443984"/>
            <a:ext cx="274320" cy="365760"/>
          </a:xfrm>
          <a:prstGeom prst="rect">
            <a:avLst/>
          </a:prstGeom>
          <a:noFill/>
          <a:ln/>
        </p:spPr>
        <p:txBody>
          <a:bodyPr wrap="square" lIns="0" tIns="0" rIns="0" bIns="0" rtlCol="0" anchor="ctr"/>
          <a:lstStyle/>
          <a:p>
            <a:pPr indent="0" marL="0">
              <a:buNone/>
            </a:pPr>
            <a:r>
              <a:rPr lang="en-US" sz="900" b="1" dirty="0">
                <a:solidFill>
                  <a:srgbClr val="C0603C"/>
                </a:solidFill>
              </a:rPr>
              <a:t>0</a:t>
            </a:r>
            <a:endParaRPr lang="en-US" sz="900" dirty="0"/>
          </a:p>
        </p:txBody>
      </p:sp>
      <p:sp>
        <p:nvSpPr>
          <p:cNvPr id="42" name="Shape 40"/>
          <p:cNvSpPr/>
          <p:nvPr/>
        </p:nvSpPr>
        <p:spPr>
          <a:xfrm>
            <a:off x="9834372" y="4480560"/>
            <a:ext cx="1254164" cy="274320"/>
          </a:xfrm>
          <a:prstGeom prst="rect">
            <a:avLst/>
          </a:prstGeom>
          <a:solidFill>
            <a:srgbClr val="3E8E72">
              <a:alpha val="75000"/>
            </a:srgbClr>
          </a:solidFill>
          <a:ln w="3175">
            <a:solidFill>
              <a:srgbClr val="3E8E72">
                <a:alpha val="75000"/>
              </a:srgbClr>
            </a:solidFill>
            <a:prstDash val="solid"/>
          </a:ln>
        </p:spPr>
      </p:sp>
      <p:sp>
        <p:nvSpPr>
          <p:cNvPr id="43" name="Text 41"/>
          <p:cNvSpPr txBox="1"/>
          <p:nvPr/>
        </p:nvSpPr>
        <p:spPr>
          <a:xfrm>
            <a:off x="11143400" y="4443984"/>
            <a:ext cx="384048" cy="365760"/>
          </a:xfrm>
          <a:prstGeom prst="rect">
            <a:avLst/>
          </a:prstGeom>
          <a:noFill/>
          <a:ln/>
        </p:spPr>
        <p:txBody>
          <a:bodyPr wrap="square" lIns="0" tIns="0" rIns="0" bIns="0" rtlCol="0" anchor="ctr"/>
          <a:lstStyle/>
          <a:p>
            <a:pPr indent="0" marL="0">
              <a:buNone/>
            </a:pPr>
            <a:r>
              <a:rPr lang="en-US" sz="800" dirty="0">
                <a:solidFill>
                  <a:srgbClr val="6B7A75"/>
                </a:solidFill>
              </a:rPr>
              <a:t>349</a:t>
            </a:r>
            <a:endParaRPr lang="en-US" sz="800" dirty="0"/>
          </a:p>
        </p:txBody>
      </p:sp>
      <p:sp>
        <p:nvSpPr>
          <p:cNvPr id="44" name="Text 42"/>
          <p:cNvSpPr txBox="1"/>
          <p:nvPr/>
        </p:nvSpPr>
        <p:spPr>
          <a:xfrm>
            <a:off x="6492240" y="4809744"/>
            <a:ext cx="1261872" cy="365760"/>
          </a:xfrm>
          <a:prstGeom prst="rect">
            <a:avLst/>
          </a:prstGeom>
          <a:noFill/>
          <a:ln/>
        </p:spPr>
        <p:txBody>
          <a:bodyPr wrap="square" lIns="0" tIns="0" rIns="0" bIns="0" rtlCol="0" anchor="ctr"/>
          <a:lstStyle/>
          <a:p>
            <a:pPr indent="0" marL="0">
              <a:buNone/>
            </a:pPr>
            <a:r>
              <a:rPr lang="en-US" sz="900" dirty="0">
                <a:solidFill>
                  <a:srgbClr val="11211C"/>
                </a:solidFill>
              </a:rPr>
              <a:t>synth-6</a:t>
            </a:r>
            <a:endParaRPr lang="en-US" sz="900" dirty="0"/>
          </a:p>
        </p:txBody>
      </p:sp>
      <p:sp>
        <p:nvSpPr>
          <p:cNvPr id="45" name="Text 43"/>
          <p:cNvSpPr txBox="1"/>
          <p:nvPr/>
        </p:nvSpPr>
        <p:spPr>
          <a:xfrm>
            <a:off x="7818120" y="4809744"/>
            <a:ext cx="274320" cy="365760"/>
          </a:xfrm>
          <a:prstGeom prst="rect">
            <a:avLst/>
          </a:prstGeom>
          <a:noFill/>
          <a:ln/>
        </p:spPr>
        <p:txBody>
          <a:bodyPr wrap="square" lIns="0" tIns="0" rIns="0" bIns="0" rtlCol="0" anchor="ctr"/>
          <a:lstStyle/>
          <a:p>
            <a:pPr indent="0" marL="0">
              <a:buNone/>
            </a:pPr>
            <a:r>
              <a:rPr lang="en-US" sz="900" b="1" dirty="0">
                <a:solidFill>
                  <a:srgbClr val="C0603C"/>
                </a:solidFill>
              </a:rPr>
              <a:t>0</a:t>
            </a:r>
            <a:endParaRPr lang="en-US" sz="900" dirty="0"/>
          </a:p>
        </p:txBody>
      </p:sp>
      <p:sp>
        <p:nvSpPr>
          <p:cNvPr id="46" name="Shape 44"/>
          <p:cNvSpPr/>
          <p:nvPr/>
        </p:nvSpPr>
        <p:spPr>
          <a:xfrm>
            <a:off x="9834372" y="4846320"/>
            <a:ext cx="1796796" cy="274320"/>
          </a:xfrm>
          <a:prstGeom prst="rect">
            <a:avLst/>
          </a:prstGeom>
          <a:solidFill>
            <a:srgbClr val="3E8E72">
              <a:alpha val="75000"/>
            </a:srgbClr>
          </a:solidFill>
          <a:ln w="3175">
            <a:solidFill>
              <a:srgbClr val="3E8E72">
                <a:alpha val="75000"/>
              </a:srgbClr>
            </a:solidFill>
            <a:prstDash val="solid"/>
          </a:ln>
        </p:spPr>
      </p:sp>
      <p:sp>
        <p:nvSpPr>
          <p:cNvPr id="47" name="Text 45"/>
          <p:cNvSpPr txBox="1"/>
          <p:nvPr/>
        </p:nvSpPr>
        <p:spPr>
          <a:xfrm>
            <a:off x="11686032" y="4809744"/>
            <a:ext cx="384048" cy="365760"/>
          </a:xfrm>
          <a:prstGeom prst="rect">
            <a:avLst/>
          </a:prstGeom>
          <a:noFill/>
          <a:ln/>
        </p:spPr>
        <p:txBody>
          <a:bodyPr wrap="square" lIns="0" tIns="0" rIns="0" bIns="0" rtlCol="0" anchor="ctr"/>
          <a:lstStyle/>
          <a:p>
            <a:pPr indent="0" marL="0">
              <a:buNone/>
            </a:pPr>
            <a:r>
              <a:rPr lang="en-US" sz="800" dirty="0">
                <a:solidFill>
                  <a:srgbClr val="6B7A75"/>
                </a:solidFill>
              </a:rPr>
              <a:t>500</a:t>
            </a:r>
            <a:endParaRPr lang="en-US" sz="800" dirty="0"/>
          </a:p>
        </p:txBody>
      </p:sp>
      <p:sp>
        <p:nvSpPr>
          <p:cNvPr id="48" name="Text 46"/>
          <p:cNvSpPr txBox="1"/>
          <p:nvPr/>
        </p:nvSpPr>
        <p:spPr>
          <a:xfrm>
            <a:off x="6492240" y="5175504"/>
            <a:ext cx="1261872" cy="365760"/>
          </a:xfrm>
          <a:prstGeom prst="rect">
            <a:avLst/>
          </a:prstGeom>
          <a:noFill/>
          <a:ln/>
        </p:spPr>
        <p:txBody>
          <a:bodyPr wrap="square" lIns="0" tIns="0" rIns="0" bIns="0" rtlCol="0" anchor="ctr"/>
          <a:lstStyle/>
          <a:p>
            <a:pPr indent="0" marL="0">
              <a:buNone/>
            </a:pPr>
            <a:r>
              <a:rPr lang="en-US" sz="900" dirty="0">
                <a:solidFill>
                  <a:srgbClr val="11211C"/>
                </a:solidFill>
              </a:rPr>
              <a:t>synth-7</a:t>
            </a:r>
            <a:endParaRPr lang="en-US" sz="900" dirty="0"/>
          </a:p>
        </p:txBody>
      </p:sp>
      <p:sp>
        <p:nvSpPr>
          <p:cNvPr id="49" name="Text 47"/>
          <p:cNvSpPr txBox="1"/>
          <p:nvPr/>
        </p:nvSpPr>
        <p:spPr>
          <a:xfrm>
            <a:off x="7818120" y="5175504"/>
            <a:ext cx="274320" cy="365760"/>
          </a:xfrm>
          <a:prstGeom prst="rect">
            <a:avLst/>
          </a:prstGeom>
          <a:noFill/>
          <a:ln/>
        </p:spPr>
        <p:txBody>
          <a:bodyPr wrap="square" lIns="0" tIns="0" rIns="0" bIns="0" rtlCol="0" anchor="ctr"/>
          <a:lstStyle/>
          <a:p>
            <a:pPr indent="0" marL="0">
              <a:buNone/>
            </a:pPr>
            <a:r>
              <a:rPr lang="en-US" sz="900" b="1" dirty="0">
                <a:solidFill>
                  <a:srgbClr val="C0603C"/>
                </a:solidFill>
              </a:rPr>
              <a:t>0</a:t>
            </a:r>
            <a:endParaRPr lang="en-US" sz="900" dirty="0"/>
          </a:p>
        </p:txBody>
      </p:sp>
      <p:sp>
        <p:nvSpPr>
          <p:cNvPr id="50" name="Shape 48"/>
          <p:cNvSpPr/>
          <p:nvPr/>
        </p:nvSpPr>
        <p:spPr>
          <a:xfrm>
            <a:off x="9834372" y="5212080"/>
            <a:ext cx="1796796" cy="274320"/>
          </a:xfrm>
          <a:prstGeom prst="rect">
            <a:avLst/>
          </a:prstGeom>
          <a:solidFill>
            <a:srgbClr val="3E8E72">
              <a:alpha val="75000"/>
            </a:srgbClr>
          </a:solidFill>
          <a:ln w="3175">
            <a:solidFill>
              <a:srgbClr val="3E8E72">
                <a:alpha val="75000"/>
              </a:srgbClr>
            </a:solidFill>
            <a:prstDash val="solid"/>
          </a:ln>
        </p:spPr>
      </p:sp>
      <p:sp>
        <p:nvSpPr>
          <p:cNvPr id="51" name="Text 49"/>
          <p:cNvSpPr txBox="1"/>
          <p:nvPr/>
        </p:nvSpPr>
        <p:spPr>
          <a:xfrm>
            <a:off x="11686032" y="5175504"/>
            <a:ext cx="384048" cy="365760"/>
          </a:xfrm>
          <a:prstGeom prst="rect">
            <a:avLst/>
          </a:prstGeom>
          <a:noFill/>
          <a:ln/>
        </p:spPr>
        <p:txBody>
          <a:bodyPr wrap="square" lIns="0" tIns="0" rIns="0" bIns="0" rtlCol="0" anchor="ctr"/>
          <a:lstStyle/>
          <a:p>
            <a:pPr indent="0" marL="0">
              <a:buNone/>
            </a:pPr>
            <a:r>
              <a:rPr lang="en-US" sz="800" dirty="0">
                <a:solidFill>
                  <a:srgbClr val="6B7A75"/>
                </a:solidFill>
              </a:rPr>
              <a:t>500</a:t>
            </a:r>
            <a:endParaRPr lang="en-US" sz="8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Dhjetë instanca, shtatë metoda, një matricë</a:t>
            </a:r>
            <a:endParaRPr lang="en-US" sz="2600" dirty="0"/>
          </a:p>
        </p:txBody>
      </p:sp>
      <p:sp>
        <p:nvSpPr>
          <p:cNvPr id="3" name="Text 1"/>
          <p:cNvSpPr txBox="1"/>
          <p:nvPr/>
        </p:nvSpPr>
        <p:spPr>
          <a:xfrm>
            <a:off x="566928" y="1207008"/>
            <a:ext cx="5852160" cy="1133856"/>
          </a:xfrm>
          <a:prstGeom prst="rect">
            <a:avLst/>
          </a:prstGeom>
          <a:noFill/>
          <a:ln/>
        </p:spPr>
        <p:txBody>
          <a:bodyPr wrap="square" lIns="0" tIns="0" rIns="0" bIns="0" rtlCol="0" anchor="ctr"/>
          <a:lstStyle/>
          <a:p>
            <a:pPr indent="0" marL="0">
              <a:lnSpc>
                <a:spcPts val="1600"/>
              </a:lnSpc>
              <a:buNone/>
            </a:pPr>
            <a:r>
              <a:rPr lang="en-US" sz="1100" dirty="0">
                <a:solidFill>
                  <a:srgbClr val="11211C"/>
                </a:solidFill>
              </a:rPr>
              <a:t>Tri hyrje nga tabela zyrtare, të riimplementuara dhe të rivlerësuara përmes vlerësuesit zyrtar, kundër katër metodave të shkruara për këtë studim. 1,200 s për instancë për seed, tre seed-a, më i miri nga tre, një bërthamë CPU secila, përveç Spacekangaroos, hyrja e së cilës kërkon GPU dhe u ekzekutua në një Kaggle T4.</a:t>
            </a:r>
            <a:endParaRPr lang="en-US" sz="1100" dirty="0"/>
          </a:p>
        </p:txBody>
      </p:sp>
      <p:sp>
        <p:nvSpPr>
          <p:cNvPr id="4" name="Text 2"/>
          <p:cNvSpPr txBox="1"/>
          <p:nvPr/>
        </p:nvSpPr>
        <p:spPr>
          <a:xfrm>
            <a:off x="1865376" y="2139696"/>
            <a:ext cx="566928" cy="365760"/>
          </a:xfrm>
          <a:prstGeom prst="rect">
            <a:avLst/>
          </a:prstGeom>
          <a:noFill/>
          <a:ln/>
        </p:spPr>
        <p:txBody>
          <a:bodyPr wrap="square" lIns="0" tIns="0" rIns="0" bIns="0" rtlCol="0" anchor="b"/>
          <a:lstStyle/>
          <a:p>
            <a:pPr algn="ctr" indent="0" marL="0">
              <a:buNone/>
            </a:pPr>
            <a:r>
              <a:rPr lang="en-US" sz="900" b="1" dirty="0">
                <a:solidFill>
                  <a:srgbClr val="2A5247"/>
                </a:solidFill>
              </a:rPr>
              <a:t>fcmaes</a:t>
            </a:r>
            <a:endParaRPr lang="en-US" sz="900" dirty="0"/>
          </a:p>
        </p:txBody>
      </p:sp>
      <p:sp>
        <p:nvSpPr>
          <p:cNvPr id="5" name="Text 3"/>
          <p:cNvSpPr txBox="1"/>
          <p:nvPr/>
        </p:nvSpPr>
        <p:spPr>
          <a:xfrm>
            <a:off x="2432304" y="2139696"/>
            <a:ext cx="566928" cy="365760"/>
          </a:xfrm>
          <a:prstGeom prst="rect">
            <a:avLst/>
          </a:prstGeom>
          <a:noFill/>
          <a:ln/>
        </p:spPr>
        <p:txBody>
          <a:bodyPr wrap="square" lIns="0" tIns="0" rIns="0" bIns="0" rtlCol="0" anchor="b"/>
          <a:lstStyle/>
          <a:p>
            <a:pPr algn="ctr" indent="0" marL="0">
              <a:buNone/>
            </a:pPr>
            <a:r>
              <a:rPr lang="en-US" sz="900" b="1" dirty="0">
                <a:solidFill>
                  <a:srgbClr val="2A5247"/>
                </a:solidFill>
              </a:rPr>
              <a:t>HRI</a:t>
            </a:r>
            <a:endParaRPr lang="en-US" sz="900" dirty="0"/>
          </a:p>
        </p:txBody>
      </p:sp>
      <p:sp>
        <p:nvSpPr>
          <p:cNvPr id="6" name="Text 4"/>
          <p:cNvSpPr txBox="1"/>
          <p:nvPr/>
        </p:nvSpPr>
        <p:spPr>
          <a:xfrm>
            <a:off x="2999232" y="2139696"/>
            <a:ext cx="566928" cy="365760"/>
          </a:xfrm>
          <a:prstGeom prst="rect">
            <a:avLst/>
          </a:prstGeom>
          <a:noFill/>
          <a:ln/>
        </p:spPr>
        <p:txBody>
          <a:bodyPr wrap="square" lIns="0" tIns="0" rIns="0" bIns="0" rtlCol="0" anchor="b"/>
          <a:lstStyle/>
          <a:p>
            <a:pPr algn="ctr" indent="0" marL="0">
              <a:buNone/>
            </a:pPr>
            <a:r>
              <a:rPr lang="en-US" sz="900" b="1" dirty="0">
                <a:solidFill>
                  <a:srgbClr val="2A5247"/>
                </a:solidFill>
              </a:rPr>
              <a:t>S.kang</a:t>
            </a:r>
            <a:endParaRPr lang="en-US" sz="900" dirty="0"/>
          </a:p>
        </p:txBody>
      </p:sp>
      <p:sp>
        <p:nvSpPr>
          <p:cNvPr id="7" name="Text 5"/>
          <p:cNvSpPr txBox="1"/>
          <p:nvPr/>
        </p:nvSpPr>
        <p:spPr>
          <a:xfrm>
            <a:off x="3566160" y="2139696"/>
            <a:ext cx="566928" cy="365760"/>
          </a:xfrm>
          <a:prstGeom prst="rect">
            <a:avLst/>
          </a:prstGeom>
          <a:noFill/>
          <a:ln/>
        </p:spPr>
        <p:txBody>
          <a:bodyPr wrap="square" lIns="0" tIns="0" rIns="0" bIns="0" rtlCol="0" anchor="b"/>
          <a:lstStyle/>
          <a:p>
            <a:pPr algn="ctr" indent="0" marL="0">
              <a:buNone/>
            </a:pPr>
            <a:r>
              <a:rPr lang="en-US" sz="900" b="1" dirty="0">
                <a:solidFill>
                  <a:srgbClr val="2A5247"/>
                </a:solidFill>
              </a:rPr>
              <a:t>HillCl</a:t>
            </a:r>
            <a:endParaRPr lang="en-US" sz="900" dirty="0"/>
          </a:p>
        </p:txBody>
      </p:sp>
      <p:sp>
        <p:nvSpPr>
          <p:cNvPr id="8" name="Text 6"/>
          <p:cNvSpPr txBox="1"/>
          <p:nvPr/>
        </p:nvSpPr>
        <p:spPr>
          <a:xfrm>
            <a:off x="4133088" y="2139696"/>
            <a:ext cx="566928" cy="365760"/>
          </a:xfrm>
          <a:prstGeom prst="rect">
            <a:avLst/>
          </a:prstGeom>
          <a:noFill/>
          <a:ln/>
        </p:spPr>
        <p:txBody>
          <a:bodyPr wrap="square" lIns="0" tIns="0" rIns="0" bIns="0" rtlCol="0" anchor="b"/>
          <a:lstStyle/>
          <a:p>
            <a:pPr algn="ctr" indent="0" marL="0">
              <a:buNone/>
            </a:pPr>
            <a:r>
              <a:rPr lang="en-US" sz="900" b="1" dirty="0">
                <a:solidFill>
                  <a:srgbClr val="2A5247"/>
                </a:solidFill>
              </a:rPr>
              <a:t>SimAnn</a:t>
            </a:r>
            <a:endParaRPr lang="en-US" sz="900" dirty="0"/>
          </a:p>
        </p:txBody>
      </p:sp>
      <p:sp>
        <p:nvSpPr>
          <p:cNvPr id="9" name="Text 7"/>
          <p:cNvSpPr txBox="1"/>
          <p:nvPr/>
        </p:nvSpPr>
        <p:spPr>
          <a:xfrm>
            <a:off x="4700016" y="2139696"/>
            <a:ext cx="566928" cy="365760"/>
          </a:xfrm>
          <a:prstGeom prst="rect">
            <a:avLst/>
          </a:prstGeom>
          <a:noFill/>
          <a:ln/>
        </p:spPr>
        <p:txBody>
          <a:bodyPr wrap="square" lIns="0" tIns="0" rIns="0" bIns="0" rtlCol="0" anchor="b"/>
          <a:lstStyle/>
          <a:p>
            <a:pPr algn="ctr" indent="0" marL="0">
              <a:buNone/>
            </a:pPr>
            <a:r>
              <a:rPr lang="en-US" sz="900" b="1" dirty="0">
                <a:solidFill>
                  <a:srgbClr val="2A5247"/>
                </a:solidFill>
              </a:rPr>
              <a:t>VNS</a:t>
            </a:r>
            <a:endParaRPr lang="en-US" sz="900" dirty="0"/>
          </a:p>
        </p:txBody>
      </p:sp>
      <p:sp>
        <p:nvSpPr>
          <p:cNvPr id="10" name="Text 8"/>
          <p:cNvSpPr txBox="1"/>
          <p:nvPr/>
        </p:nvSpPr>
        <p:spPr>
          <a:xfrm>
            <a:off x="5266944" y="2139696"/>
            <a:ext cx="566928" cy="365760"/>
          </a:xfrm>
          <a:prstGeom prst="rect">
            <a:avLst/>
          </a:prstGeom>
          <a:noFill/>
          <a:ln/>
        </p:spPr>
        <p:txBody>
          <a:bodyPr wrap="square" lIns="0" tIns="0" rIns="0" bIns="0" rtlCol="0" anchor="b"/>
          <a:lstStyle/>
          <a:p>
            <a:pPr algn="ctr" indent="0" marL="0">
              <a:buNone/>
            </a:pPr>
            <a:r>
              <a:rPr lang="en-US" sz="900" b="1" dirty="0">
                <a:solidFill>
                  <a:srgbClr val="2A5247"/>
                </a:solidFill>
              </a:rPr>
              <a:t>GRASP</a:t>
            </a:r>
            <a:endParaRPr lang="en-US" sz="900" dirty="0"/>
          </a:p>
        </p:txBody>
      </p:sp>
      <p:sp>
        <p:nvSpPr>
          <p:cNvPr id="11" name="Text 9"/>
          <p:cNvSpPr txBox="1"/>
          <p:nvPr/>
        </p:nvSpPr>
        <p:spPr>
          <a:xfrm>
            <a:off x="566928" y="2542032"/>
            <a:ext cx="1225296" cy="297180"/>
          </a:xfrm>
          <a:prstGeom prst="rect">
            <a:avLst/>
          </a:prstGeom>
          <a:noFill/>
          <a:ln/>
        </p:spPr>
        <p:txBody>
          <a:bodyPr wrap="square" lIns="0" tIns="0" rIns="0" bIns="0" rtlCol="0" anchor="ctr"/>
          <a:lstStyle/>
          <a:p>
            <a:pPr indent="0" marL="0">
              <a:buNone/>
            </a:pPr>
            <a:r>
              <a:rPr lang="en-US" sz="950" dirty="0">
                <a:solidFill>
                  <a:srgbClr val="11211C"/>
                </a:solidFill>
              </a:rPr>
              <a:t>small-graph</a:t>
            </a:r>
            <a:endParaRPr lang="en-US" sz="950" dirty="0"/>
          </a:p>
        </p:txBody>
      </p:sp>
      <p:sp>
        <p:nvSpPr>
          <p:cNvPr id="12" name="Shape 10"/>
          <p:cNvSpPr/>
          <p:nvPr/>
        </p:nvSpPr>
        <p:spPr>
          <a:xfrm>
            <a:off x="1865376" y="2542032"/>
            <a:ext cx="539496" cy="269748"/>
          </a:xfrm>
          <a:prstGeom prst="rect">
            <a:avLst/>
          </a:prstGeom>
          <a:solidFill>
            <a:srgbClr val="3E8E72">
              <a:alpha val="8000"/>
            </a:srgbClr>
          </a:solidFill>
          <a:ln w="3175">
            <a:solidFill>
              <a:srgbClr val="3E8E72">
                <a:alpha val="8000"/>
              </a:srgbClr>
            </a:solidFill>
            <a:prstDash val="solid"/>
          </a:ln>
        </p:spPr>
      </p:sp>
      <p:sp>
        <p:nvSpPr>
          <p:cNvPr id="13" name="Text 11"/>
          <p:cNvSpPr txBox="1"/>
          <p:nvPr/>
        </p:nvSpPr>
        <p:spPr>
          <a:xfrm>
            <a:off x="1865376" y="254203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-1808</a:t>
            </a:r>
            <a:endParaRPr lang="en-US" sz="800" dirty="0"/>
          </a:p>
        </p:txBody>
      </p:sp>
      <p:sp>
        <p:nvSpPr>
          <p:cNvPr id="14" name="Shape 12"/>
          <p:cNvSpPr/>
          <p:nvPr/>
        </p:nvSpPr>
        <p:spPr>
          <a:xfrm>
            <a:off x="2432304" y="2542032"/>
            <a:ext cx="539496" cy="269748"/>
          </a:xfrm>
          <a:prstGeom prst="rect">
            <a:avLst/>
          </a:prstGeom>
          <a:solidFill>
            <a:srgbClr val="3E8E72">
              <a:alpha val="61000"/>
            </a:srgbClr>
          </a:solidFill>
          <a:ln w="3175">
            <a:solidFill>
              <a:srgbClr val="3E8E72">
                <a:alpha val="61000"/>
              </a:srgbClr>
            </a:solidFill>
            <a:prstDash val="solid"/>
          </a:ln>
        </p:spPr>
      </p:sp>
      <p:sp>
        <p:nvSpPr>
          <p:cNvPr id="15" name="Text 13"/>
          <p:cNvSpPr txBox="1"/>
          <p:nvPr/>
        </p:nvSpPr>
        <p:spPr>
          <a:xfrm>
            <a:off x="2432304" y="254203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-1821</a:t>
            </a:r>
            <a:endParaRPr lang="en-US" sz="800" dirty="0"/>
          </a:p>
        </p:txBody>
      </p:sp>
      <p:sp>
        <p:nvSpPr>
          <p:cNvPr id="16" name="Shape 14"/>
          <p:cNvSpPr/>
          <p:nvPr/>
        </p:nvSpPr>
        <p:spPr>
          <a:xfrm>
            <a:off x="2999232" y="2542032"/>
            <a:ext cx="539496" cy="269748"/>
          </a:xfrm>
          <a:prstGeom prst="rect">
            <a:avLst/>
          </a:prstGeom>
          <a:solidFill>
            <a:srgbClr val="3E8E72">
              <a:alpha val="88000"/>
            </a:srgbClr>
          </a:solidFill>
          <a:ln w="19050">
            <a:solidFill>
              <a:srgbClr val="1F3A33"/>
            </a:solidFill>
            <a:prstDash val="solid"/>
          </a:ln>
        </p:spPr>
      </p:sp>
      <p:sp>
        <p:nvSpPr>
          <p:cNvPr id="17" name="Text 15"/>
          <p:cNvSpPr txBox="1"/>
          <p:nvPr/>
        </p:nvSpPr>
        <p:spPr>
          <a:xfrm>
            <a:off x="2999232" y="254203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-1827</a:t>
            </a:r>
            <a:endParaRPr lang="en-US" sz="800" dirty="0"/>
          </a:p>
        </p:txBody>
      </p:sp>
      <p:sp>
        <p:nvSpPr>
          <p:cNvPr id="18" name="Shape 16"/>
          <p:cNvSpPr/>
          <p:nvPr/>
        </p:nvSpPr>
        <p:spPr>
          <a:xfrm>
            <a:off x="3566160" y="2542032"/>
            <a:ext cx="539496" cy="269748"/>
          </a:xfrm>
          <a:prstGeom prst="rect">
            <a:avLst/>
          </a:prstGeom>
          <a:solidFill>
            <a:srgbClr val="3E8E72">
              <a:alpha val="35000"/>
            </a:srgbClr>
          </a:solidFill>
          <a:ln w="3175">
            <a:solidFill>
              <a:srgbClr val="3E8E72">
                <a:alpha val="35000"/>
              </a:srgbClr>
            </a:solidFill>
            <a:prstDash val="solid"/>
          </a:ln>
        </p:spPr>
      </p:sp>
      <p:sp>
        <p:nvSpPr>
          <p:cNvPr id="19" name="Text 17"/>
          <p:cNvSpPr txBox="1"/>
          <p:nvPr/>
        </p:nvSpPr>
        <p:spPr>
          <a:xfrm>
            <a:off x="3566160" y="254203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-1815</a:t>
            </a:r>
            <a:endParaRPr lang="en-US" sz="800" dirty="0"/>
          </a:p>
        </p:txBody>
      </p:sp>
      <p:sp>
        <p:nvSpPr>
          <p:cNvPr id="20" name="Shape 18"/>
          <p:cNvSpPr/>
          <p:nvPr/>
        </p:nvSpPr>
        <p:spPr>
          <a:xfrm>
            <a:off x="4133088" y="2542032"/>
            <a:ext cx="539496" cy="269748"/>
          </a:xfrm>
          <a:prstGeom prst="rect">
            <a:avLst/>
          </a:prstGeom>
          <a:solidFill>
            <a:srgbClr val="3E8E72">
              <a:alpha val="40000"/>
            </a:srgbClr>
          </a:solidFill>
          <a:ln w="3175">
            <a:solidFill>
              <a:srgbClr val="3E8E72">
                <a:alpha val="40000"/>
              </a:srgbClr>
            </a:solidFill>
            <a:prstDash val="solid"/>
          </a:ln>
        </p:spPr>
      </p:sp>
      <p:sp>
        <p:nvSpPr>
          <p:cNvPr id="21" name="Text 19"/>
          <p:cNvSpPr txBox="1"/>
          <p:nvPr/>
        </p:nvSpPr>
        <p:spPr>
          <a:xfrm>
            <a:off x="4133088" y="254203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-1816</a:t>
            </a:r>
            <a:endParaRPr lang="en-US" sz="800" dirty="0"/>
          </a:p>
        </p:txBody>
      </p:sp>
      <p:sp>
        <p:nvSpPr>
          <p:cNvPr id="22" name="Shape 20"/>
          <p:cNvSpPr/>
          <p:nvPr/>
        </p:nvSpPr>
        <p:spPr>
          <a:xfrm>
            <a:off x="4700016" y="2542032"/>
            <a:ext cx="539496" cy="269748"/>
          </a:xfrm>
          <a:prstGeom prst="rect">
            <a:avLst/>
          </a:prstGeom>
          <a:solidFill>
            <a:srgbClr val="3E8E72">
              <a:alpha val="37000"/>
            </a:srgbClr>
          </a:solidFill>
          <a:ln w="3175">
            <a:solidFill>
              <a:srgbClr val="3E8E72">
                <a:alpha val="37000"/>
              </a:srgbClr>
            </a:solidFill>
            <a:prstDash val="solid"/>
          </a:ln>
        </p:spPr>
      </p:sp>
      <p:sp>
        <p:nvSpPr>
          <p:cNvPr id="23" name="Text 21"/>
          <p:cNvSpPr txBox="1"/>
          <p:nvPr/>
        </p:nvSpPr>
        <p:spPr>
          <a:xfrm>
            <a:off x="4700016" y="254203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-1815</a:t>
            </a:r>
            <a:endParaRPr lang="en-US" sz="800" dirty="0"/>
          </a:p>
        </p:txBody>
      </p:sp>
      <p:sp>
        <p:nvSpPr>
          <p:cNvPr id="24" name="Shape 22"/>
          <p:cNvSpPr/>
          <p:nvPr/>
        </p:nvSpPr>
        <p:spPr>
          <a:xfrm>
            <a:off x="5266944" y="2542032"/>
            <a:ext cx="539496" cy="269748"/>
          </a:xfrm>
          <a:prstGeom prst="rect">
            <a:avLst/>
          </a:prstGeom>
          <a:solidFill>
            <a:srgbClr val="3E8E72">
              <a:alpha val="41000"/>
            </a:srgbClr>
          </a:solidFill>
          <a:ln w="3175">
            <a:solidFill>
              <a:srgbClr val="3E8E72">
                <a:alpha val="41000"/>
              </a:srgbClr>
            </a:solidFill>
            <a:prstDash val="solid"/>
          </a:ln>
        </p:spPr>
      </p:sp>
      <p:sp>
        <p:nvSpPr>
          <p:cNvPr id="25" name="Text 23"/>
          <p:cNvSpPr txBox="1"/>
          <p:nvPr/>
        </p:nvSpPr>
        <p:spPr>
          <a:xfrm>
            <a:off x="5266944" y="254203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-1816</a:t>
            </a:r>
            <a:endParaRPr lang="en-US" sz="800" dirty="0"/>
          </a:p>
        </p:txBody>
      </p:sp>
      <p:sp>
        <p:nvSpPr>
          <p:cNvPr id="26" name="Text 24"/>
          <p:cNvSpPr txBox="1"/>
          <p:nvPr/>
        </p:nvSpPr>
        <p:spPr>
          <a:xfrm>
            <a:off x="566928" y="2839212"/>
            <a:ext cx="1225296" cy="297180"/>
          </a:xfrm>
          <a:prstGeom prst="rect">
            <a:avLst/>
          </a:prstGeom>
          <a:noFill/>
          <a:ln/>
        </p:spPr>
        <p:txBody>
          <a:bodyPr wrap="square" lIns="0" tIns="0" rIns="0" bIns="0" rtlCol="0" anchor="ctr"/>
          <a:lstStyle/>
          <a:p>
            <a:pPr indent="0" marL="0">
              <a:buNone/>
            </a:pPr>
            <a:r>
              <a:rPr lang="en-US" sz="950" dirty="0">
                <a:solidFill>
                  <a:srgbClr val="11211C"/>
                </a:solidFill>
              </a:rPr>
              <a:t>medium-graph</a:t>
            </a:r>
            <a:endParaRPr lang="en-US" sz="950" dirty="0"/>
          </a:p>
        </p:txBody>
      </p:sp>
      <p:sp>
        <p:nvSpPr>
          <p:cNvPr id="27" name="Shape 25"/>
          <p:cNvSpPr/>
          <p:nvPr/>
        </p:nvSpPr>
        <p:spPr>
          <a:xfrm>
            <a:off x="1865376" y="2839212"/>
            <a:ext cx="539496" cy="269748"/>
          </a:xfrm>
          <a:prstGeom prst="rect">
            <a:avLst/>
          </a:prstGeom>
          <a:solidFill>
            <a:srgbClr val="3E8E72">
              <a:alpha val="75000"/>
            </a:srgbClr>
          </a:solidFill>
          <a:ln w="3175">
            <a:solidFill>
              <a:srgbClr val="3E8E72">
                <a:alpha val="75000"/>
              </a:srgbClr>
            </a:solidFill>
            <a:prstDash val="solid"/>
          </a:ln>
        </p:spPr>
      </p:sp>
      <p:sp>
        <p:nvSpPr>
          <p:cNvPr id="28" name="Text 26"/>
          <p:cNvSpPr txBox="1"/>
          <p:nvPr/>
        </p:nvSpPr>
        <p:spPr>
          <a:xfrm>
            <a:off x="1865376" y="283921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-1663</a:t>
            </a:r>
            <a:endParaRPr lang="en-US" sz="800" dirty="0"/>
          </a:p>
        </p:txBody>
      </p:sp>
      <p:sp>
        <p:nvSpPr>
          <p:cNvPr id="29" name="Shape 27"/>
          <p:cNvSpPr/>
          <p:nvPr/>
        </p:nvSpPr>
        <p:spPr>
          <a:xfrm>
            <a:off x="2432304" y="2839212"/>
            <a:ext cx="539496" cy="269748"/>
          </a:xfrm>
          <a:prstGeom prst="rect">
            <a:avLst/>
          </a:prstGeom>
          <a:solidFill>
            <a:srgbClr val="3E8E72">
              <a:alpha val="88000"/>
            </a:srgbClr>
          </a:solidFill>
          <a:ln w="19050">
            <a:solidFill>
              <a:srgbClr val="1F3A33"/>
            </a:solidFill>
            <a:prstDash val="solid"/>
          </a:ln>
        </p:spPr>
      </p:sp>
      <p:sp>
        <p:nvSpPr>
          <p:cNvPr id="30" name="Text 28"/>
          <p:cNvSpPr txBox="1"/>
          <p:nvPr/>
        </p:nvSpPr>
        <p:spPr>
          <a:xfrm>
            <a:off x="2432304" y="283921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-1682</a:t>
            </a:r>
            <a:endParaRPr lang="en-US" sz="800" dirty="0"/>
          </a:p>
        </p:txBody>
      </p:sp>
      <p:sp>
        <p:nvSpPr>
          <p:cNvPr id="31" name="Shape 29"/>
          <p:cNvSpPr/>
          <p:nvPr/>
        </p:nvSpPr>
        <p:spPr>
          <a:xfrm>
            <a:off x="2999232" y="2839212"/>
            <a:ext cx="539496" cy="269748"/>
          </a:xfrm>
          <a:prstGeom prst="rect">
            <a:avLst/>
          </a:prstGeom>
          <a:solidFill>
            <a:srgbClr val="3E8E72">
              <a:alpha val="8000"/>
            </a:srgbClr>
          </a:solidFill>
          <a:ln w="3175">
            <a:solidFill>
              <a:srgbClr val="3E8E72">
                <a:alpha val="8000"/>
              </a:srgbClr>
            </a:solidFill>
            <a:prstDash val="solid"/>
          </a:ln>
        </p:spPr>
      </p:sp>
      <p:sp>
        <p:nvSpPr>
          <p:cNvPr id="32" name="Text 30"/>
          <p:cNvSpPr txBox="1"/>
          <p:nvPr/>
        </p:nvSpPr>
        <p:spPr>
          <a:xfrm>
            <a:off x="2999232" y="28392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-1567</a:t>
            </a:r>
            <a:endParaRPr lang="en-US" sz="800" dirty="0"/>
          </a:p>
        </p:txBody>
      </p:sp>
      <p:sp>
        <p:nvSpPr>
          <p:cNvPr id="33" name="Shape 31"/>
          <p:cNvSpPr/>
          <p:nvPr/>
        </p:nvSpPr>
        <p:spPr>
          <a:xfrm>
            <a:off x="3566160" y="2839212"/>
            <a:ext cx="539496" cy="269748"/>
          </a:xfrm>
          <a:prstGeom prst="rect">
            <a:avLst/>
          </a:prstGeom>
          <a:solidFill>
            <a:srgbClr val="3E8E72">
              <a:alpha val="38000"/>
            </a:srgbClr>
          </a:solidFill>
          <a:ln w="3175">
            <a:solidFill>
              <a:srgbClr val="3E8E72">
                <a:alpha val="38000"/>
              </a:srgbClr>
            </a:solidFill>
            <a:prstDash val="solid"/>
          </a:ln>
        </p:spPr>
      </p:sp>
      <p:sp>
        <p:nvSpPr>
          <p:cNvPr id="34" name="Text 32"/>
          <p:cNvSpPr txBox="1"/>
          <p:nvPr/>
        </p:nvSpPr>
        <p:spPr>
          <a:xfrm>
            <a:off x="3566160" y="28392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-1610</a:t>
            </a:r>
            <a:endParaRPr lang="en-US" sz="800" dirty="0"/>
          </a:p>
        </p:txBody>
      </p:sp>
      <p:sp>
        <p:nvSpPr>
          <p:cNvPr id="35" name="Shape 33"/>
          <p:cNvSpPr/>
          <p:nvPr/>
        </p:nvSpPr>
        <p:spPr>
          <a:xfrm>
            <a:off x="4133088" y="2839212"/>
            <a:ext cx="539496" cy="269748"/>
          </a:xfrm>
          <a:prstGeom prst="rect">
            <a:avLst/>
          </a:prstGeom>
          <a:solidFill>
            <a:srgbClr val="3E8E72">
              <a:alpha val="38000"/>
            </a:srgbClr>
          </a:solidFill>
          <a:ln w="3175">
            <a:solidFill>
              <a:srgbClr val="3E8E72">
                <a:alpha val="38000"/>
              </a:srgbClr>
            </a:solidFill>
            <a:prstDash val="solid"/>
          </a:ln>
        </p:spPr>
      </p:sp>
      <p:sp>
        <p:nvSpPr>
          <p:cNvPr id="36" name="Text 34"/>
          <p:cNvSpPr txBox="1"/>
          <p:nvPr/>
        </p:nvSpPr>
        <p:spPr>
          <a:xfrm>
            <a:off x="4133088" y="28392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-1609</a:t>
            </a:r>
            <a:endParaRPr lang="en-US" sz="800" dirty="0"/>
          </a:p>
        </p:txBody>
      </p:sp>
      <p:sp>
        <p:nvSpPr>
          <p:cNvPr id="37" name="Shape 35"/>
          <p:cNvSpPr/>
          <p:nvPr/>
        </p:nvSpPr>
        <p:spPr>
          <a:xfrm>
            <a:off x="4700016" y="2839212"/>
            <a:ext cx="539496" cy="269748"/>
          </a:xfrm>
          <a:prstGeom prst="rect">
            <a:avLst/>
          </a:prstGeom>
          <a:solidFill>
            <a:srgbClr val="3E8E72">
              <a:alpha val="41000"/>
            </a:srgbClr>
          </a:solidFill>
          <a:ln w="3175">
            <a:solidFill>
              <a:srgbClr val="3E8E72">
                <a:alpha val="41000"/>
              </a:srgbClr>
            </a:solidFill>
            <a:prstDash val="solid"/>
          </a:ln>
        </p:spPr>
      </p:sp>
      <p:sp>
        <p:nvSpPr>
          <p:cNvPr id="38" name="Text 36"/>
          <p:cNvSpPr txBox="1"/>
          <p:nvPr/>
        </p:nvSpPr>
        <p:spPr>
          <a:xfrm>
            <a:off x="4700016" y="28392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-1615</a:t>
            </a:r>
            <a:endParaRPr lang="en-US" sz="800" dirty="0"/>
          </a:p>
        </p:txBody>
      </p:sp>
      <p:sp>
        <p:nvSpPr>
          <p:cNvPr id="39" name="Shape 37"/>
          <p:cNvSpPr/>
          <p:nvPr/>
        </p:nvSpPr>
        <p:spPr>
          <a:xfrm>
            <a:off x="5266944" y="2839212"/>
            <a:ext cx="539496" cy="269748"/>
          </a:xfrm>
          <a:prstGeom prst="rect">
            <a:avLst/>
          </a:prstGeom>
          <a:solidFill>
            <a:srgbClr val="3E8E72">
              <a:alpha val="39000"/>
            </a:srgbClr>
          </a:solidFill>
          <a:ln w="3175">
            <a:solidFill>
              <a:srgbClr val="3E8E72">
                <a:alpha val="39000"/>
              </a:srgbClr>
            </a:solidFill>
            <a:prstDash val="solid"/>
          </a:ln>
        </p:spPr>
      </p:sp>
      <p:sp>
        <p:nvSpPr>
          <p:cNvPr id="40" name="Text 38"/>
          <p:cNvSpPr txBox="1"/>
          <p:nvPr/>
        </p:nvSpPr>
        <p:spPr>
          <a:xfrm>
            <a:off x="5266944" y="28392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-1612</a:t>
            </a:r>
            <a:endParaRPr lang="en-US" sz="800" dirty="0"/>
          </a:p>
        </p:txBody>
      </p:sp>
      <p:sp>
        <p:nvSpPr>
          <p:cNvPr id="41" name="Text 39"/>
          <p:cNvSpPr txBox="1"/>
          <p:nvPr/>
        </p:nvSpPr>
        <p:spPr>
          <a:xfrm>
            <a:off x="566928" y="3136392"/>
            <a:ext cx="1225296" cy="297180"/>
          </a:xfrm>
          <a:prstGeom prst="rect">
            <a:avLst/>
          </a:prstGeom>
          <a:noFill/>
          <a:ln/>
        </p:spPr>
        <p:txBody>
          <a:bodyPr wrap="square" lIns="0" tIns="0" rIns="0" bIns="0" rtlCol="0" anchor="ctr"/>
          <a:lstStyle/>
          <a:p>
            <a:pPr indent="0" marL="0">
              <a:buNone/>
            </a:pPr>
            <a:r>
              <a:rPr lang="en-US" sz="950" dirty="0">
                <a:solidFill>
                  <a:srgbClr val="11211C"/>
                </a:solidFill>
              </a:rPr>
              <a:t>large-graph</a:t>
            </a:r>
            <a:endParaRPr lang="en-US" sz="950" dirty="0"/>
          </a:p>
        </p:txBody>
      </p:sp>
      <p:sp>
        <p:nvSpPr>
          <p:cNvPr id="42" name="Shape 40"/>
          <p:cNvSpPr/>
          <p:nvPr/>
        </p:nvSpPr>
        <p:spPr>
          <a:xfrm>
            <a:off x="1865376" y="3136392"/>
            <a:ext cx="539496" cy="269748"/>
          </a:xfrm>
          <a:prstGeom prst="rect">
            <a:avLst/>
          </a:prstGeom>
          <a:solidFill>
            <a:srgbClr val="3E8E72">
              <a:alpha val="88000"/>
            </a:srgbClr>
          </a:solidFill>
          <a:ln w="19050">
            <a:solidFill>
              <a:srgbClr val="1F3A33"/>
            </a:solidFill>
            <a:prstDash val="solid"/>
          </a:ln>
        </p:spPr>
      </p:sp>
      <p:sp>
        <p:nvSpPr>
          <p:cNvPr id="43" name="Text 41"/>
          <p:cNvSpPr txBox="1"/>
          <p:nvPr/>
        </p:nvSpPr>
        <p:spPr>
          <a:xfrm>
            <a:off x="1865376" y="313639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-5329</a:t>
            </a:r>
            <a:endParaRPr lang="en-US" sz="800" dirty="0"/>
          </a:p>
        </p:txBody>
      </p:sp>
      <p:sp>
        <p:nvSpPr>
          <p:cNvPr id="44" name="Shape 42"/>
          <p:cNvSpPr/>
          <p:nvPr/>
        </p:nvSpPr>
        <p:spPr>
          <a:xfrm>
            <a:off x="2432304" y="3136392"/>
            <a:ext cx="539496" cy="269748"/>
          </a:xfrm>
          <a:prstGeom prst="rect">
            <a:avLst/>
          </a:prstGeom>
          <a:solidFill>
            <a:srgbClr val="3E8E72">
              <a:alpha val="14000"/>
            </a:srgbClr>
          </a:solidFill>
          <a:ln w="3175">
            <a:solidFill>
              <a:srgbClr val="3E8E72">
                <a:alpha val="14000"/>
              </a:srgbClr>
            </a:solidFill>
            <a:prstDash val="solid"/>
          </a:ln>
        </p:spPr>
      </p:sp>
      <p:sp>
        <p:nvSpPr>
          <p:cNvPr id="45" name="Text 43"/>
          <p:cNvSpPr txBox="1"/>
          <p:nvPr/>
        </p:nvSpPr>
        <p:spPr>
          <a:xfrm>
            <a:off x="2432304" y="31363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-4837</a:t>
            </a:r>
            <a:endParaRPr lang="en-US" sz="800" dirty="0"/>
          </a:p>
        </p:txBody>
      </p:sp>
      <p:sp>
        <p:nvSpPr>
          <p:cNvPr id="46" name="Shape 44"/>
          <p:cNvSpPr/>
          <p:nvPr/>
        </p:nvSpPr>
        <p:spPr>
          <a:xfrm>
            <a:off x="2999232" y="3136392"/>
            <a:ext cx="539496" cy="269748"/>
          </a:xfrm>
          <a:prstGeom prst="rect">
            <a:avLst/>
          </a:prstGeom>
          <a:solidFill>
            <a:srgbClr val="F2EDE9"/>
          </a:solidFill>
          <a:ln w="6350">
            <a:solidFill>
              <a:srgbClr val="E4D5CC"/>
            </a:solidFill>
            <a:prstDash val="solid"/>
          </a:ln>
        </p:spPr>
      </p:sp>
      <p:sp>
        <p:nvSpPr>
          <p:cNvPr id="47" name="Text 45"/>
          <p:cNvSpPr txBox="1"/>
          <p:nvPr/>
        </p:nvSpPr>
        <p:spPr>
          <a:xfrm>
            <a:off x="2999232" y="3136392"/>
            <a:ext cx="539496" cy="269748"/>
          </a:xfrm>
          <a:prstGeom prst="rect">
            <a:avLst/>
          </a:prstGeom>
          <a:noFill/>
          <a:ln/>
        </p:spPr>
        <p:txBody>
          <a:bodyPr wrap="square" lIns="0" tIns="0" rIns="0" bIns="0" rtlCol="0" anchor="ctr"/>
          <a:lstStyle/>
          <a:p>
            <a:pPr algn="ctr" indent="0" marL="0">
              <a:buNone/>
            </a:pPr>
            <a:r>
              <a:rPr lang="en-US" sz="750" i="1" dirty="0">
                <a:solidFill>
                  <a:srgbClr val="C0603C"/>
                </a:solidFill>
              </a:rPr>
              <a:t>asnjë</a:t>
            </a:r>
            <a:endParaRPr lang="en-US" sz="750" dirty="0"/>
          </a:p>
        </p:txBody>
      </p:sp>
      <p:sp>
        <p:nvSpPr>
          <p:cNvPr id="48" name="Shape 46"/>
          <p:cNvSpPr/>
          <p:nvPr/>
        </p:nvSpPr>
        <p:spPr>
          <a:xfrm>
            <a:off x="3566160" y="3136392"/>
            <a:ext cx="539496" cy="269748"/>
          </a:xfrm>
          <a:prstGeom prst="rect">
            <a:avLst/>
          </a:prstGeom>
          <a:solidFill>
            <a:srgbClr val="3E8E72">
              <a:alpha val="8000"/>
            </a:srgbClr>
          </a:solidFill>
          <a:ln w="3175">
            <a:solidFill>
              <a:srgbClr val="3E8E72">
                <a:alpha val="8000"/>
              </a:srgbClr>
            </a:solidFill>
            <a:prstDash val="solid"/>
          </a:ln>
        </p:spPr>
      </p:sp>
      <p:sp>
        <p:nvSpPr>
          <p:cNvPr id="49" name="Text 47"/>
          <p:cNvSpPr txBox="1"/>
          <p:nvPr/>
        </p:nvSpPr>
        <p:spPr>
          <a:xfrm>
            <a:off x="3566160" y="31363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-4799</a:t>
            </a:r>
            <a:endParaRPr lang="en-US" sz="800" dirty="0"/>
          </a:p>
        </p:txBody>
      </p:sp>
      <p:sp>
        <p:nvSpPr>
          <p:cNvPr id="50" name="Shape 48"/>
          <p:cNvSpPr/>
          <p:nvPr/>
        </p:nvSpPr>
        <p:spPr>
          <a:xfrm>
            <a:off x="4133088" y="3136392"/>
            <a:ext cx="539496" cy="269748"/>
          </a:xfrm>
          <a:prstGeom prst="rect">
            <a:avLst/>
          </a:prstGeom>
          <a:solidFill>
            <a:srgbClr val="3E8E72">
              <a:alpha val="11000"/>
            </a:srgbClr>
          </a:solidFill>
          <a:ln w="3175">
            <a:solidFill>
              <a:srgbClr val="3E8E72">
                <a:alpha val="11000"/>
              </a:srgbClr>
            </a:solidFill>
            <a:prstDash val="solid"/>
          </a:ln>
        </p:spPr>
      </p:sp>
      <p:sp>
        <p:nvSpPr>
          <p:cNvPr id="51" name="Text 49"/>
          <p:cNvSpPr txBox="1"/>
          <p:nvPr/>
        </p:nvSpPr>
        <p:spPr>
          <a:xfrm>
            <a:off x="4133088" y="31363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-4819</a:t>
            </a:r>
            <a:endParaRPr lang="en-US" sz="800" dirty="0"/>
          </a:p>
        </p:txBody>
      </p:sp>
      <p:sp>
        <p:nvSpPr>
          <p:cNvPr id="52" name="Shape 50"/>
          <p:cNvSpPr/>
          <p:nvPr/>
        </p:nvSpPr>
        <p:spPr>
          <a:xfrm>
            <a:off x="4700016" y="3136392"/>
            <a:ext cx="539496" cy="269748"/>
          </a:xfrm>
          <a:prstGeom prst="rect">
            <a:avLst/>
          </a:prstGeom>
          <a:solidFill>
            <a:srgbClr val="3E8E72">
              <a:alpha val="9000"/>
            </a:srgbClr>
          </a:solidFill>
          <a:ln w="3175">
            <a:solidFill>
              <a:srgbClr val="3E8E72">
                <a:alpha val="9000"/>
              </a:srgbClr>
            </a:solidFill>
            <a:prstDash val="solid"/>
          </a:ln>
        </p:spPr>
      </p:sp>
      <p:sp>
        <p:nvSpPr>
          <p:cNvPr id="53" name="Text 51"/>
          <p:cNvSpPr txBox="1"/>
          <p:nvPr/>
        </p:nvSpPr>
        <p:spPr>
          <a:xfrm>
            <a:off x="4700016" y="31363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-4802</a:t>
            </a:r>
            <a:endParaRPr lang="en-US" sz="800" dirty="0"/>
          </a:p>
        </p:txBody>
      </p:sp>
      <p:sp>
        <p:nvSpPr>
          <p:cNvPr id="54" name="Shape 52"/>
          <p:cNvSpPr/>
          <p:nvPr/>
        </p:nvSpPr>
        <p:spPr>
          <a:xfrm>
            <a:off x="5266944" y="3136392"/>
            <a:ext cx="539496" cy="269748"/>
          </a:xfrm>
          <a:prstGeom prst="rect">
            <a:avLst/>
          </a:prstGeom>
          <a:solidFill>
            <a:srgbClr val="3E8E72">
              <a:alpha val="28000"/>
            </a:srgbClr>
          </a:solidFill>
          <a:ln w="3175">
            <a:solidFill>
              <a:srgbClr val="3E8E72">
                <a:alpha val="28000"/>
              </a:srgbClr>
            </a:solidFill>
            <a:prstDash val="solid"/>
          </a:ln>
        </p:spPr>
      </p:sp>
      <p:sp>
        <p:nvSpPr>
          <p:cNvPr id="55" name="Text 53"/>
          <p:cNvSpPr txBox="1"/>
          <p:nvPr/>
        </p:nvSpPr>
        <p:spPr>
          <a:xfrm>
            <a:off x="5266944" y="31363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-4932</a:t>
            </a:r>
            <a:endParaRPr lang="en-US" sz="800" dirty="0"/>
          </a:p>
        </p:txBody>
      </p:sp>
      <p:sp>
        <p:nvSpPr>
          <p:cNvPr id="56" name="Text 54"/>
          <p:cNvSpPr txBox="1"/>
          <p:nvPr/>
        </p:nvSpPr>
        <p:spPr>
          <a:xfrm>
            <a:off x="566928" y="3433572"/>
            <a:ext cx="1225296" cy="297180"/>
          </a:xfrm>
          <a:prstGeom prst="rect">
            <a:avLst/>
          </a:prstGeom>
          <a:noFill/>
          <a:ln/>
        </p:spPr>
        <p:txBody>
          <a:bodyPr wrap="square" lIns="0" tIns="0" rIns="0" bIns="0" rtlCol="0" anchor="ctr"/>
          <a:lstStyle/>
          <a:p>
            <a:pPr indent="0" marL="0">
              <a:buNone/>
            </a:pPr>
            <a:r>
              <a:rPr lang="en-US" sz="950" dirty="0">
                <a:solidFill>
                  <a:srgbClr val="11211C"/>
                </a:solidFill>
              </a:rPr>
              <a:t>synth-1</a:t>
            </a:r>
            <a:endParaRPr lang="en-US" sz="950" dirty="0"/>
          </a:p>
        </p:txBody>
      </p:sp>
      <p:sp>
        <p:nvSpPr>
          <p:cNvPr id="57" name="Shape 55"/>
          <p:cNvSpPr/>
          <p:nvPr/>
        </p:nvSpPr>
        <p:spPr>
          <a:xfrm>
            <a:off x="1865376" y="3433572"/>
            <a:ext cx="539496" cy="269748"/>
          </a:xfrm>
          <a:prstGeom prst="rect">
            <a:avLst/>
          </a:prstGeom>
          <a:solidFill>
            <a:srgbClr val="3E8E72">
              <a:alpha val="8000"/>
            </a:srgbClr>
          </a:solidFill>
          <a:ln w="3175">
            <a:solidFill>
              <a:srgbClr val="3E8E72">
                <a:alpha val="8000"/>
              </a:srgbClr>
            </a:solidFill>
            <a:prstDash val="solid"/>
          </a:ln>
        </p:spPr>
      </p:sp>
      <p:sp>
        <p:nvSpPr>
          <p:cNvPr id="58" name="Text 56"/>
          <p:cNvSpPr txBox="1"/>
          <p:nvPr/>
        </p:nvSpPr>
        <p:spPr>
          <a:xfrm>
            <a:off x="1865376" y="343357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-1805</a:t>
            </a:r>
            <a:endParaRPr lang="en-US" sz="800" dirty="0"/>
          </a:p>
        </p:txBody>
      </p:sp>
      <p:sp>
        <p:nvSpPr>
          <p:cNvPr id="59" name="Shape 57"/>
          <p:cNvSpPr/>
          <p:nvPr/>
        </p:nvSpPr>
        <p:spPr>
          <a:xfrm>
            <a:off x="2432304" y="3433572"/>
            <a:ext cx="539496" cy="269748"/>
          </a:xfrm>
          <a:prstGeom prst="rect">
            <a:avLst/>
          </a:prstGeom>
          <a:solidFill>
            <a:srgbClr val="3E8E72">
              <a:alpha val="76000"/>
            </a:srgbClr>
          </a:solidFill>
          <a:ln w="3175">
            <a:solidFill>
              <a:srgbClr val="3E8E72">
                <a:alpha val="76000"/>
              </a:srgbClr>
            </a:solidFill>
            <a:prstDash val="solid"/>
          </a:ln>
        </p:spPr>
      </p:sp>
      <p:sp>
        <p:nvSpPr>
          <p:cNvPr id="60" name="Text 58"/>
          <p:cNvSpPr txBox="1"/>
          <p:nvPr/>
        </p:nvSpPr>
        <p:spPr>
          <a:xfrm>
            <a:off x="2432304" y="343357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-1819</a:t>
            </a:r>
            <a:endParaRPr lang="en-US" sz="800" dirty="0"/>
          </a:p>
        </p:txBody>
      </p:sp>
      <p:sp>
        <p:nvSpPr>
          <p:cNvPr id="61" name="Shape 59"/>
          <p:cNvSpPr/>
          <p:nvPr/>
        </p:nvSpPr>
        <p:spPr>
          <a:xfrm>
            <a:off x="2999232" y="3433572"/>
            <a:ext cx="539496" cy="269748"/>
          </a:xfrm>
          <a:prstGeom prst="rect">
            <a:avLst/>
          </a:prstGeom>
          <a:solidFill>
            <a:srgbClr val="3E8E72">
              <a:alpha val="67000"/>
            </a:srgbClr>
          </a:solidFill>
          <a:ln w="3175">
            <a:solidFill>
              <a:srgbClr val="3E8E72">
                <a:alpha val="67000"/>
              </a:srgbClr>
            </a:solidFill>
            <a:prstDash val="solid"/>
          </a:ln>
        </p:spPr>
      </p:sp>
      <p:sp>
        <p:nvSpPr>
          <p:cNvPr id="62" name="Text 60"/>
          <p:cNvSpPr txBox="1"/>
          <p:nvPr/>
        </p:nvSpPr>
        <p:spPr>
          <a:xfrm>
            <a:off x="2999232" y="343357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-1817</a:t>
            </a:r>
            <a:endParaRPr lang="en-US" sz="800" dirty="0"/>
          </a:p>
        </p:txBody>
      </p:sp>
      <p:sp>
        <p:nvSpPr>
          <p:cNvPr id="63" name="Shape 61"/>
          <p:cNvSpPr/>
          <p:nvPr/>
        </p:nvSpPr>
        <p:spPr>
          <a:xfrm>
            <a:off x="3566160" y="3433572"/>
            <a:ext cx="539496" cy="269748"/>
          </a:xfrm>
          <a:prstGeom prst="rect">
            <a:avLst/>
          </a:prstGeom>
          <a:solidFill>
            <a:srgbClr val="3E8E72">
              <a:alpha val="88000"/>
            </a:srgbClr>
          </a:solidFill>
          <a:ln w="19050">
            <a:solidFill>
              <a:srgbClr val="1F3A33"/>
            </a:solidFill>
            <a:prstDash val="solid"/>
          </a:ln>
        </p:spPr>
      </p:sp>
      <p:sp>
        <p:nvSpPr>
          <p:cNvPr id="64" name="Text 62"/>
          <p:cNvSpPr txBox="1"/>
          <p:nvPr/>
        </p:nvSpPr>
        <p:spPr>
          <a:xfrm>
            <a:off x="3566160" y="343357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-1821</a:t>
            </a:r>
            <a:endParaRPr lang="en-US" sz="800" dirty="0"/>
          </a:p>
        </p:txBody>
      </p:sp>
      <p:sp>
        <p:nvSpPr>
          <p:cNvPr id="65" name="Shape 63"/>
          <p:cNvSpPr/>
          <p:nvPr/>
        </p:nvSpPr>
        <p:spPr>
          <a:xfrm>
            <a:off x="4133088" y="3433572"/>
            <a:ext cx="539496" cy="269748"/>
          </a:xfrm>
          <a:prstGeom prst="rect">
            <a:avLst/>
          </a:prstGeom>
          <a:solidFill>
            <a:srgbClr val="3E8E72">
              <a:alpha val="81000"/>
            </a:srgbClr>
          </a:solidFill>
          <a:ln w="3175">
            <a:solidFill>
              <a:srgbClr val="3E8E72">
                <a:alpha val="81000"/>
              </a:srgbClr>
            </a:solidFill>
            <a:prstDash val="solid"/>
          </a:ln>
        </p:spPr>
      </p:sp>
      <p:sp>
        <p:nvSpPr>
          <p:cNvPr id="66" name="Text 64"/>
          <p:cNvSpPr txBox="1"/>
          <p:nvPr/>
        </p:nvSpPr>
        <p:spPr>
          <a:xfrm>
            <a:off x="4133088" y="343357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67" name="Shape 65"/>
          <p:cNvSpPr/>
          <p:nvPr/>
        </p:nvSpPr>
        <p:spPr>
          <a:xfrm>
            <a:off x="4700016" y="3433572"/>
            <a:ext cx="539496" cy="269748"/>
          </a:xfrm>
          <a:prstGeom prst="rect">
            <a:avLst/>
          </a:prstGeom>
          <a:solidFill>
            <a:srgbClr val="3E8E72">
              <a:alpha val="76000"/>
            </a:srgbClr>
          </a:solidFill>
          <a:ln w="3175">
            <a:solidFill>
              <a:srgbClr val="3E8E72">
                <a:alpha val="76000"/>
              </a:srgbClr>
            </a:solidFill>
            <a:prstDash val="solid"/>
          </a:ln>
        </p:spPr>
      </p:sp>
      <p:sp>
        <p:nvSpPr>
          <p:cNvPr id="68" name="Text 66"/>
          <p:cNvSpPr txBox="1"/>
          <p:nvPr/>
        </p:nvSpPr>
        <p:spPr>
          <a:xfrm>
            <a:off x="4700016" y="343357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-1819</a:t>
            </a:r>
            <a:endParaRPr lang="en-US" sz="800" dirty="0"/>
          </a:p>
        </p:txBody>
      </p:sp>
      <p:sp>
        <p:nvSpPr>
          <p:cNvPr id="69" name="Shape 67"/>
          <p:cNvSpPr/>
          <p:nvPr/>
        </p:nvSpPr>
        <p:spPr>
          <a:xfrm>
            <a:off x="5266944" y="3433572"/>
            <a:ext cx="539496" cy="269748"/>
          </a:xfrm>
          <a:prstGeom prst="rect">
            <a:avLst/>
          </a:prstGeom>
          <a:solidFill>
            <a:srgbClr val="3E8E72">
              <a:alpha val="76000"/>
            </a:srgbClr>
          </a:solidFill>
          <a:ln w="3175">
            <a:solidFill>
              <a:srgbClr val="3E8E72">
                <a:alpha val="76000"/>
              </a:srgbClr>
            </a:solidFill>
            <a:prstDash val="solid"/>
          </a:ln>
        </p:spPr>
      </p:sp>
      <p:sp>
        <p:nvSpPr>
          <p:cNvPr id="70" name="Text 68"/>
          <p:cNvSpPr txBox="1"/>
          <p:nvPr/>
        </p:nvSpPr>
        <p:spPr>
          <a:xfrm>
            <a:off x="5266944" y="343357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-1819</a:t>
            </a:r>
            <a:endParaRPr lang="en-US" sz="800" dirty="0"/>
          </a:p>
        </p:txBody>
      </p:sp>
      <p:sp>
        <p:nvSpPr>
          <p:cNvPr id="71" name="Text 69"/>
          <p:cNvSpPr txBox="1"/>
          <p:nvPr/>
        </p:nvSpPr>
        <p:spPr>
          <a:xfrm>
            <a:off x="566928" y="3730752"/>
            <a:ext cx="1225296" cy="297180"/>
          </a:xfrm>
          <a:prstGeom prst="rect">
            <a:avLst/>
          </a:prstGeom>
          <a:noFill/>
          <a:ln/>
        </p:spPr>
        <p:txBody>
          <a:bodyPr wrap="square" lIns="0" tIns="0" rIns="0" bIns="0" rtlCol="0" anchor="ctr"/>
          <a:lstStyle/>
          <a:p>
            <a:pPr indent="0" marL="0">
              <a:buNone/>
            </a:pPr>
            <a:r>
              <a:rPr lang="en-US" sz="950" dirty="0">
                <a:solidFill>
                  <a:srgbClr val="11211C"/>
                </a:solidFill>
              </a:rPr>
              <a:t>synth-2</a:t>
            </a:r>
            <a:endParaRPr lang="en-US" sz="950" dirty="0"/>
          </a:p>
        </p:txBody>
      </p:sp>
      <p:sp>
        <p:nvSpPr>
          <p:cNvPr id="72" name="Shape 70"/>
          <p:cNvSpPr/>
          <p:nvPr/>
        </p:nvSpPr>
        <p:spPr>
          <a:xfrm>
            <a:off x="1865376" y="3730752"/>
            <a:ext cx="539496" cy="269748"/>
          </a:xfrm>
          <a:prstGeom prst="rect">
            <a:avLst/>
          </a:prstGeom>
          <a:solidFill>
            <a:srgbClr val="3E8E72">
              <a:alpha val="8000"/>
            </a:srgbClr>
          </a:solidFill>
          <a:ln w="3175">
            <a:solidFill>
              <a:srgbClr val="3E8E72">
                <a:alpha val="8000"/>
              </a:srgbClr>
            </a:solidFill>
            <a:prstDash val="solid"/>
          </a:ln>
        </p:spPr>
      </p:sp>
      <p:sp>
        <p:nvSpPr>
          <p:cNvPr id="73" name="Text 71"/>
          <p:cNvSpPr txBox="1"/>
          <p:nvPr/>
        </p:nvSpPr>
        <p:spPr>
          <a:xfrm>
            <a:off x="1865376" y="373075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-1804</a:t>
            </a:r>
            <a:endParaRPr lang="en-US" sz="800" dirty="0"/>
          </a:p>
        </p:txBody>
      </p:sp>
      <p:sp>
        <p:nvSpPr>
          <p:cNvPr id="74" name="Shape 72"/>
          <p:cNvSpPr/>
          <p:nvPr/>
        </p:nvSpPr>
        <p:spPr>
          <a:xfrm>
            <a:off x="2432304" y="3730752"/>
            <a:ext cx="539496" cy="269748"/>
          </a:xfrm>
          <a:prstGeom prst="rect">
            <a:avLst/>
          </a:prstGeom>
          <a:solidFill>
            <a:srgbClr val="3E8E72">
              <a:alpha val="88000"/>
            </a:srgbClr>
          </a:solidFill>
          <a:ln w="19050">
            <a:solidFill>
              <a:srgbClr val="1F3A33"/>
            </a:solidFill>
            <a:prstDash val="solid"/>
          </a:ln>
        </p:spPr>
      </p:sp>
      <p:sp>
        <p:nvSpPr>
          <p:cNvPr id="75" name="Text 73"/>
          <p:cNvSpPr txBox="1"/>
          <p:nvPr/>
        </p:nvSpPr>
        <p:spPr>
          <a:xfrm>
            <a:off x="2432304" y="373075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-1820</a:t>
            </a:r>
            <a:endParaRPr lang="en-US" sz="800" dirty="0"/>
          </a:p>
        </p:txBody>
      </p:sp>
      <p:sp>
        <p:nvSpPr>
          <p:cNvPr id="76" name="Shape 74"/>
          <p:cNvSpPr/>
          <p:nvPr/>
        </p:nvSpPr>
        <p:spPr>
          <a:xfrm>
            <a:off x="2999232" y="3730752"/>
            <a:ext cx="539496" cy="269748"/>
          </a:xfrm>
          <a:prstGeom prst="rect">
            <a:avLst/>
          </a:prstGeom>
          <a:solidFill>
            <a:srgbClr val="3E8E72">
              <a:alpha val="75000"/>
            </a:srgbClr>
          </a:solidFill>
          <a:ln w="3175">
            <a:solidFill>
              <a:srgbClr val="3E8E72">
                <a:alpha val="75000"/>
              </a:srgbClr>
            </a:solidFill>
            <a:prstDash val="solid"/>
          </a:ln>
        </p:spPr>
      </p:sp>
      <p:sp>
        <p:nvSpPr>
          <p:cNvPr id="77" name="Text 75"/>
          <p:cNvSpPr txBox="1"/>
          <p:nvPr/>
        </p:nvSpPr>
        <p:spPr>
          <a:xfrm>
            <a:off x="2999232" y="373075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-1817</a:t>
            </a:r>
            <a:endParaRPr lang="en-US" sz="800" dirty="0"/>
          </a:p>
        </p:txBody>
      </p:sp>
      <p:sp>
        <p:nvSpPr>
          <p:cNvPr id="78" name="Shape 76"/>
          <p:cNvSpPr/>
          <p:nvPr/>
        </p:nvSpPr>
        <p:spPr>
          <a:xfrm>
            <a:off x="3566160" y="3730752"/>
            <a:ext cx="539496" cy="269748"/>
          </a:xfrm>
          <a:prstGeom prst="rect">
            <a:avLst/>
          </a:prstGeom>
          <a:solidFill>
            <a:srgbClr val="3E8E72">
              <a:alpha val="87000"/>
            </a:srgbClr>
          </a:solidFill>
          <a:ln w="3175">
            <a:solidFill>
              <a:srgbClr val="3E8E72">
                <a:alpha val="87000"/>
              </a:srgbClr>
            </a:solidFill>
            <a:prstDash val="solid"/>
          </a:ln>
        </p:spPr>
      </p:sp>
      <p:sp>
        <p:nvSpPr>
          <p:cNvPr id="79" name="Text 77"/>
          <p:cNvSpPr txBox="1"/>
          <p:nvPr/>
        </p:nvSpPr>
        <p:spPr>
          <a:xfrm>
            <a:off x="3566160" y="373075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80" name="Shape 78"/>
          <p:cNvSpPr/>
          <p:nvPr/>
        </p:nvSpPr>
        <p:spPr>
          <a:xfrm>
            <a:off x="4133088" y="3730752"/>
            <a:ext cx="539496" cy="269748"/>
          </a:xfrm>
          <a:prstGeom prst="rect">
            <a:avLst/>
          </a:prstGeom>
          <a:solidFill>
            <a:srgbClr val="3E8E72">
              <a:alpha val="87000"/>
            </a:srgbClr>
          </a:solidFill>
          <a:ln w="3175">
            <a:solidFill>
              <a:srgbClr val="3E8E72">
                <a:alpha val="87000"/>
              </a:srgbClr>
            </a:solidFill>
            <a:prstDash val="solid"/>
          </a:ln>
        </p:spPr>
      </p:sp>
      <p:sp>
        <p:nvSpPr>
          <p:cNvPr id="81" name="Text 79"/>
          <p:cNvSpPr txBox="1"/>
          <p:nvPr/>
        </p:nvSpPr>
        <p:spPr>
          <a:xfrm>
            <a:off x="4133088" y="373075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82" name="Shape 80"/>
          <p:cNvSpPr/>
          <p:nvPr/>
        </p:nvSpPr>
        <p:spPr>
          <a:xfrm>
            <a:off x="4700016" y="3730752"/>
            <a:ext cx="539496" cy="269748"/>
          </a:xfrm>
          <a:prstGeom prst="rect">
            <a:avLst/>
          </a:prstGeom>
          <a:solidFill>
            <a:srgbClr val="3E8E72">
              <a:alpha val="87000"/>
            </a:srgbClr>
          </a:solidFill>
          <a:ln w="3175">
            <a:solidFill>
              <a:srgbClr val="3E8E72">
                <a:alpha val="87000"/>
              </a:srgbClr>
            </a:solidFill>
            <a:prstDash val="solid"/>
          </a:ln>
        </p:spPr>
      </p:sp>
      <p:sp>
        <p:nvSpPr>
          <p:cNvPr id="83" name="Text 81"/>
          <p:cNvSpPr txBox="1"/>
          <p:nvPr/>
        </p:nvSpPr>
        <p:spPr>
          <a:xfrm>
            <a:off x="4700016" y="373075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84" name="Shape 82"/>
          <p:cNvSpPr/>
          <p:nvPr/>
        </p:nvSpPr>
        <p:spPr>
          <a:xfrm>
            <a:off x="5266944" y="3730752"/>
            <a:ext cx="539496" cy="269748"/>
          </a:xfrm>
          <a:prstGeom prst="rect">
            <a:avLst/>
          </a:prstGeom>
          <a:solidFill>
            <a:srgbClr val="3E8E72">
              <a:alpha val="87000"/>
            </a:srgbClr>
          </a:solidFill>
          <a:ln w="3175">
            <a:solidFill>
              <a:srgbClr val="3E8E72">
                <a:alpha val="87000"/>
              </a:srgbClr>
            </a:solidFill>
            <a:prstDash val="solid"/>
          </a:ln>
        </p:spPr>
      </p:sp>
      <p:sp>
        <p:nvSpPr>
          <p:cNvPr id="85" name="Text 83"/>
          <p:cNvSpPr txBox="1"/>
          <p:nvPr/>
        </p:nvSpPr>
        <p:spPr>
          <a:xfrm>
            <a:off x="5266944" y="373075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86" name="Text 84"/>
          <p:cNvSpPr txBox="1"/>
          <p:nvPr/>
        </p:nvSpPr>
        <p:spPr>
          <a:xfrm>
            <a:off x="566928" y="4027932"/>
            <a:ext cx="1225296" cy="297180"/>
          </a:xfrm>
          <a:prstGeom prst="rect">
            <a:avLst/>
          </a:prstGeom>
          <a:noFill/>
          <a:ln/>
        </p:spPr>
        <p:txBody>
          <a:bodyPr wrap="square" lIns="0" tIns="0" rIns="0" bIns="0" rtlCol="0" anchor="ctr"/>
          <a:lstStyle/>
          <a:p>
            <a:pPr indent="0" marL="0">
              <a:buNone/>
            </a:pPr>
            <a:r>
              <a:rPr lang="en-US" sz="950" dirty="0">
                <a:solidFill>
                  <a:srgbClr val="11211C"/>
                </a:solidFill>
              </a:rPr>
              <a:t>synth-3</a:t>
            </a:r>
            <a:endParaRPr lang="en-US" sz="950" dirty="0"/>
          </a:p>
        </p:txBody>
      </p:sp>
      <p:sp>
        <p:nvSpPr>
          <p:cNvPr id="87" name="Shape 85"/>
          <p:cNvSpPr/>
          <p:nvPr/>
        </p:nvSpPr>
        <p:spPr>
          <a:xfrm>
            <a:off x="1865376" y="4027932"/>
            <a:ext cx="539496" cy="269748"/>
          </a:xfrm>
          <a:prstGeom prst="rect">
            <a:avLst/>
          </a:prstGeom>
          <a:solidFill>
            <a:srgbClr val="3E8E72">
              <a:alpha val="8000"/>
            </a:srgbClr>
          </a:solidFill>
          <a:ln w="3175">
            <a:solidFill>
              <a:srgbClr val="3E8E72">
                <a:alpha val="8000"/>
              </a:srgbClr>
            </a:solidFill>
            <a:prstDash val="solid"/>
          </a:ln>
        </p:spPr>
      </p:sp>
      <p:sp>
        <p:nvSpPr>
          <p:cNvPr id="88" name="Text 86"/>
          <p:cNvSpPr txBox="1"/>
          <p:nvPr/>
        </p:nvSpPr>
        <p:spPr>
          <a:xfrm>
            <a:off x="1865376" y="402793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-1804</a:t>
            </a:r>
            <a:endParaRPr lang="en-US" sz="800" dirty="0"/>
          </a:p>
        </p:txBody>
      </p:sp>
      <p:sp>
        <p:nvSpPr>
          <p:cNvPr id="89" name="Shape 87"/>
          <p:cNvSpPr/>
          <p:nvPr/>
        </p:nvSpPr>
        <p:spPr>
          <a:xfrm>
            <a:off x="2432304" y="4027932"/>
            <a:ext cx="539496" cy="269748"/>
          </a:xfrm>
          <a:prstGeom prst="rect">
            <a:avLst/>
          </a:prstGeom>
          <a:solidFill>
            <a:srgbClr val="3E8E72">
              <a:alpha val="71000"/>
            </a:srgbClr>
          </a:solidFill>
          <a:ln w="3175">
            <a:solidFill>
              <a:srgbClr val="3E8E72">
                <a:alpha val="71000"/>
              </a:srgbClr>
            </a:solidFill>
            <a:prstDash val="solid"/>
          </a:ln>
        </p:spPr>
      </p:sp>
      <p:sp>
        <p:nvSpPr>
          <p:cNvPr id="90" name="Text 88"/>
          <p:cNvSpPr txBox="1"/>
          <p:nvPr/>
        </p:nvSpPr>
        <p:spPr>
          <a:xfrm>
            <a:off x="2432304" y="402793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-1818</a:t>
            </a:r>
            <a:endParaRPr lang="en-US" sz="800" dirty="0"/>
          </a:p>
        </p:txBody>
      </p:sp>
      <p:sp>
        <p:nvSpPr>
          <p:cNvPr id="91" name="Shape 89"/>
          <p:cNvSpPr/>
          <p:nvPr/>
        </p:nvSpPr>
        <p:spPr>
          <a:xfrm>
            <a:off x="2999232" y="4027932"/>
            <a:ext cx="539496" cy="269748"/>
          </a:xfrm>
          <a:prstGeom prst="rect">
            <a:avLst/>
          </a:prstGeom>
          <a:solidFill>
            <a:srgbClr val="3E8E72">
              <a:alpha val="66000"/>
            </a:srgbClr>
          </a:solidFill>
          <a:ln w="3175">
            <a:solidFill>
              <a:srgbClr val="3E8E72">
                <a:alpha val="66000"/>
              </a:srgbClr>
            </a:solidFill>
            <a:prstDash val="solid"/>
          </a:ln>
        </p:spPr>
      </p:sp>
      <p:sp>
        <p:nvSpPr>
          <p:cNvPr id="92" name="Text 90"/>
          <p:cNvSpPr txBox="1"/>
          <p:nvPr/>
        </p:nvSpPr>
        <p:spPr>
          <a:xfrm>
            <a:off x="2999232" y="402793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-1817</a:t>
            </a:r>
            <a:endParaRPr lang="en-US" sz="800" dirty="0"/>
          </a:p>
        </p:txBody>
      </p:sp>
      <p:sp>
        <p:nvSpPr>
          <p:cNvPr id="93" name="Shape 91"/>
          <p:cNvSpPr/>
          <p:nvPr/>
        </p:nvSpPr>
        <p:spPr>
          <a:xfrm>
            <a:off x="3566160" y="4027932"/>
            <a:ext cx="539496" cy="269748"/>
          </a:xfrm>
          <a:prstGeom prst="rect">
            <a:avLst/>
          </a:prstGeom>
          <a:solidFill>
            <a:srgbClr val="3E8E72">
              <a:alpha val="82000"/>
            </a:srgbClr>
          </a:solidFill>
          <a:ln w="3175">
            <a:solidFill>
              <a:srgbClr val="3E8E72">
                <a:alpha val="82000"/>
              </a:srgbClr>
            </a:solidFill>
            <a:prstDash val="solid"/>
          </a:ln>
        </p:spPr>
      </p:sp>
      <p:sp>
        <p:nvSpPr>
          <p:cNvPr id="94" name="Text 92"/>
          <p:cNvSpPr txBox="1"/>
          <p:nvPr/>
        </p:nvSpPr>
        <p:spPr>
          <a:xfrm>
            <a:off x="3566160" y="402793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95" name="Shape 93"/>
          <p:cNvSpPr/>
          <p:nvPr/>
        </p:nvSpPr>
        <p:spPr>
          <a:xfrm>
            <a:off x="4133088" y="4027932"/>
            <a:ext cx="539496" cy="269748"/>
          </a:xfrm>
          <a:prstGeom prst="rect">
            <a:avLst/>
          </a:prstGeom>
          <a:solidFill>
            <a:srgbClr val="3E8E72">
              <a:alpha val="82000"/>
            </a:srgbClr>
          </a:solidFill>
          <a:ln w="3175">
            <a:solidFill>
              <a:srgbClr val="3E8E72">
                <a:alpha val="82000"/>
              </a:srgbClr>
            </a:solidFill>
            <a:prstDash val="solid"/>
          </a:ln>
        </p:spPr>
      </p:sp>
      <p:sp>
        <p:nvSpPr>
          <p:cNvPr id="96" name="Text 94"/>
          <p:cNvSpPr txBox="1"/>
          <p:nvPr/>
        </p:nvSpPr>
        <p:spPr>
          <a:xfrm>
            <a:off x="4133088" y="402793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97" name="Shape 95"/>
          <p:cNvSpPr/>
          <p:nvPr/>
        </p:nvSpPr>
        <p:spPr>
          <a:xfrm>
            <a:off x="4700016" y="4027932"/>
            <a:ext cx="539496" cy="269748"/>
          </a:xfrm>
          <a:prstGeom prst="rect">
            <a:avLst/>
          </a:prstGeom>
          <a:solidFill>
            <a:srgbClr val="3E8E72">
              <a:alpha val="88000"/>
            </a:srgbClr>
          </a:solidFill>
          <a:ln w="19050">
            <a:solidFill>
              <a:srgbClr val="1F3A33"/>
            </a:solidFill>
            <a:prstDash val="solid"/>
          </a:ln>
        </p:spPr>
      </p:sp>
      <p:sp>
        <p:nvSpPr>
          <p:cNvPr id="98" name="Text 96"/>
          <p:cNvSpPr txBox="1"/>
          <p:nvPr/>
        </p:nvSpPr>
        <p:spPr>
          <a:xfrm>
            <a:off x="4700016" y="402793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-1821</a:t>
            </a:r>
            <a:endParaRPr lang="en-US" sz="800" dirty="0"/>
          </a:p>
        </p:txBody>
      </p:sp>
      <p:sp>
        <p:nvSpPr>
          <p:cNvPr id="99" name="Shape 97"/>
          <p:cNvSpPr/>
          <p:nvPr/>
        </p:nvSpPr>
        <p:spPr>
          <a:xfrm>
            <a:off x="5266944" y="4027932"/>
            <a:ext cx="539496" cy="269748"/>
          </a:xfrm>
          <a:prstGeom prst="rect">
            <a:avLst/>
          </a:prstGeom>
          <a:solidFill>
            <a:srgbClr val="3E8E72">
              <a:alpha val="82000"/>
            </a:srgbClr>
          </a:solidFill>
          <a:ln w="3175">
            <a:solidFill>
              <a:srgbClr val="3E8E72">
                <a:alpha val="82000"/>
              </a:srgbClr>
            </a:solidFill>
            <a:prstDash val="solid"/>
          </a:ln>
        </p:spPr>
      </p:sp>
      <p:sp>
        <p:nvSpPr>
          <p:cNvPr id="100" name="Text 98"/>
          <p:cNvSpPr txBox="1"/>
          <p:nvPr/>
        </p:nvSpPr>
        <p:spPr>
          <a:xfrm>
            <a:off x="5266944" y="402793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-1820</a:t>
            </a:r>
            <a:endParaRPr lang="en-US" sz="800" dirty="0"/>
          </a:p>
        </p:txBody>
      </p:sp>
      <p:sp>
        <p:nvSpPr>
          <p:cNvPr id="101" name="Text 99"/>
          <p:cNvSpPr txBox="1"/>
          <p:nvPr/>
        </p:nvSpPr>
        <p:spPr>
          <a:xfrm>
            <a:off x="566928" y="4325112"/>
            <a:ext cx="1225296" cy="297180"/>
          </a:xfrm>
          <a:prstGeom prst="rect">
            <a:avLst/>
          </a:prstGeom>
          <a:noFill/>
          <a:ln/>
        </p:spPr>
        <p:txBody>
          <a:bodyPr wrap="square" lIns="0" tIns="0" rIns="0" bIns="0" rtlCol="0" anchor="ctr"/>
          <a:lstStyle/>
          <a:p>
            <a:pPr indent="0" marL="0">
              <a:buNone/>
            </a:pPr>
            <a:r>
              <a:rPr lang="en-US" sz="950" dirty="0">
                <a:solidFill>
                  <a:srgbClr val="11211C"/>
                </a:solidFill>
              </a:rPr>
              <a:t>synth-4</a:t>
            </a:r>
            <a:endParaRPr lang="en-US" sz="950" dirty="0"/>
          </a:p>
        </p:txBody>
      </p:sp>
      <p:sp>
        <p:nvSpPr>
          <p:cNvPr id="102" name="Shape 100"/>
          <p:cNvSpPr/>
          <p:nvPr/>
        </p:nvSpPr>
        <p:spPr>
          <a:xfrm>
            <a:off x="1865376" y="4325112"/>
            <a:ext cx="539496" cy="269748"/>
          </a:xfrm>
          <a:prstGeom prst="rect">
            <a:avLst/>
          </a:prstGeom>
          <a:solidFill>
            <a:srgbClr val="3E8E72">
              <a:alpha val="84000"/>
            </a:srgbClr>
          </a:solidFill>
          <a:ln w="3175">
            <a:solidFill>
              <a:srgbClr val="3E8E72">
                <a:alpha val="84000"/>
              </a:srgbClr>
            </a:solidFill>
            <a:prstDash val="solid"/>
          </a:ln>
        </p:spPr>
      </p:sp>
      <p:sp>
        <p:nvSpPr>
          <p:cNvPr id="103" name="Text 101"/>
          <p:cNvSpPr txBox="1"/>
          <p:nvPr/>
        </p:nvSpPr>
        <p:spPr>
          <a:xfrm>
            <a:off x="1865376" y="432511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-1586</a:t>
            </a:r>
            <a:endParaRPr lang="en-US" sz="800" dirty="0"/>
          </a:p>
        </p:txBody>
      </p:sp>
      <p:sp>
        <p:nvSpPr>
          <p:cNvPr id="104" name="Shape 102"/>
          <p:cNvSpPr/>
          <p:nvPr/>
        </p:nvSpPr>
        <p:spPr>
          <a:xfrm>
            <a:off x="2432304" y="4325112"/>
            <a:ext cx="539496" cy="269748"/>
          </a:xfrm>
          <a:prstGeom prst="rect">
            <a:avLst/>
          </a:prstGeom>
          <a:solidFill>
            <a:srgbClr val="3E8E72">
              <a:alpha val="88000"/>
            </a:srgbClr>
          </a:solidFill>
          <a:ln w="19050">
            <a:solidFill>
              <a:srgbClr val="1F3A33"/>
            </a:solidFill>
            <a:prstDash val="solid"/>
          </a:ln>
        </p:spPr>
      </p:sp>
      <p:sp>
        <p:nvSpPr>
          <p:cNvPr id="105" name="Text 103"/>
          <p:cNvSpPr txBox="1"/>
          <p:nvPr/>
        </p:nvSpPr>
        <p:spPr>
          <a:xfrm>
            <a:off x="2432304" y="432511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-1592</a:t>
            </a:r>
            <a:endParaRPr lang="en-US" sz="800" dirty="0"/>
          </a:p>
        </p:txBody>
      </p:sp>
      <p:sp>
        <p:nvSpPr>
          <p:cNvPr id="106" name="Shape 104"/>
          <p:cNvSpPr/>
          <p:nvPr/>
        </p:nvSpPr>
        <p:spPr>
          <a:xfrm>
            <a:off x="2999232" y="4325112"/>
            <a:ext cx="539496" cy="269748"/>
          </a:xfrm>
          <a:prstGeom prst="rect">
            <a:avLst/>
          </a:prstGeom>
          <a:solidFill>
            <a:srgbClr val="3E8E72">
              <a:alpha val="8000"/>
            </a:srgbClr>
          </a:solidFill>
          <a:ln w="3175">
            <a:solidFill>
              <a:srgbClr val="3E8E72">
                <a:alpha val="8000"/>
              </a:srgbClr>
            </a:solidFill>
            <a:prstDash val="solid"/>
          </a:ln>
        </p:spPr>
      </p:sp>
      <p:sp>
        <p:nvSpPr>
          <p:cNvPr id="107" name="Text 105"/>
          <p:cNvSpPr txBox="1"/>
          <p:nvPr/>
        </p:nvSpPr>
        <p:spPr>
          <a:xfrm>
            <a:off x="2999232" y="43251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-1484</a:t>
            </a:r>
            <a:endParaRPr lang="en-US" sz="800" dirty="0"/>
          </a:p>
        </p:txBody>
      </p:sp>
      <p:sp>
        <p:nvSpPr>
          <p:cNvPr id="108" name="Shape 106"/>
          <p:cNvSpPr/>
          <p:nvPr/>
        </p:nvSpPr>
        <p:spPr>
          <a:xfrm>
            <a:off x="3566160" y="4325112"/>
            <a:ext cx="539496" cy="269748"/>
          </a:xfrm>
          <a:prstGeom prst="rect">
            <a:avLst/>
          </a:prstGeom>
          <a:solidFill>
            <a:srgbClr val="3E8E72">
              <a:alpha val="61000"/>
            </a:srgbClr>
          </a:solidFill>
          <a:ln w="3175">
            <a:solidFill>
              <a:srgbClr val="3E8E72">
                <a:alpha val="61000"/>
              </a:srgbClr>
            </a:solidFill>
            <a:prstDash val="solid"/>
          </a:ln>
        </p:spPr>
      </p:sp>
      <p:sp>
        <p:nvSpPr>
          <p:cNvPr id="109" name="Text 107"/>
          <p:cNvSpPr txBox="1"/>
          <p:nvPr/>
        </p:nvSpPr>
        <p:spPr>
          <a:xfrm>
            <a:off x="3566160" y="43251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-1556</a:t>
            </a:r>
            <a:endParaRPr lang="en-US" sz="800" dirty="0"/>
          </a:p>
        </p:txBody>
      </p:sp>
      <p:sp>
        <p:nvSpPr>
          <p:cNvPr id="110" name="Shape 108"/>
          <p:cNvSpPr/>
          <p:nvPr/>
        </p:nvSpPr>
        <p:spPr>
          <a:xfrm>
            <a:off x="4133088" y="4325112"/>
            <a:ext cx="539496" cy="269748"/>
          </a:xfrm>
          <a:prstGeom prst="rect">
            <a:avLst/>
          </a:prstGeom>
          <a:solidFill>
            <a:srgbClr val="3E8E72">
              <a:alpha val="67000"/>
            </a:srgbClr>
          </a:solidFill>
          <a:ln w="3175">
            <a:solidFill>
              <a:srgbClr val="3E8E72">
                <a:alpha val="67000"/>
              </a:srgbClr>
            </a:solidFill>
            <a:prstDash val="solid"/>
          </a:ln>
        </p:spPr>
      </p:sp>
      <p:sp>
        <p:nvSpPr>
          <p:cNvPr id="111" name="Text 109"/>
          <p:cNvSpPr txBox="1"/>
          <p:nvPr/>
        </p:nvSpPr>
        <p:spPr>
          <a:xfrm>
            <a:off x="4133088" y="432511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-1564</a:t>
            </a:r>
            <a:endParaRPr lang="en-US" sz="800" dirty="0"/>
          </a:p>
        </p:txBody>
      </p:sp>
      <p:sp>
        <p:nvSpPr>
          <p:cNvPr id="112" name="Shape 110"/>
          <p:cNvSpPr/>
          <p:nvPr/>
        </p:nvSpPr>
        <p:spPr>
          <a:xfrm>
            <a:off x="4700016" y="4325112"/>
            <a:ext cx="539496" cy="269748"/>
          </a:xfrm>
          <a:prstGeom prst="rect">
            <a:avLst/>
          </a:prstGeom>
          <a:solidFill>
            <a:srgbClr val="3E8E72">
              <a:alpha val="62000"/>
            </a:srgbClr>
          </a:solidFill>
          <a:ln w="3175">
            <a:solidFill>
              <a:srgbClr val="3E8E72">
                <a:alpha val="62000"/>
              </a:srgbClr>
            </a:solidFill>
            <a:prstDash val="solid"/>
          </a:ln>
        </p:spPr>
      </p:sp>
      <p:sp>
        <p:nvSpPr>
          <p:cNvPr id="113" name="Text 111"/>
          <p:cNvSpPr txBox="1"/>
          <p:nvPr/>
        </p:nvSpPr>
        <p:spPr>
          <a:xfrm>
            <a:off x="4700016" y="43251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-1557</a:t>
            </a:r>
            <a:endParaRPr lang="en-US" sz="800" dirty="0"/>
          </a:p>
        </p:txBody>
      </p:sp>
      <p:sp>
        <p:nvSpPr>
          <p:cNvPr id="114" name="Shape 112"/>
          <p:cNvSpPr/>
          <p:nvPr/>
        </p:nvSpPr>
        <p:spPr>
          <a:xfrm>
            <a:off x="5266944" y="4325112"/>
            <a:ext cx="539496" cy="269748"/>
          </a:xfrm>
          <a:prstGeom prst="rect">
            <a:avLst/>
          </a:prstGeom>
          <a:solidFill>
            <a:srgbClr val="3E8E72">
              <a:alpha val="59000"/>
            </a:srgbClr>
          </a:solidFill>
          <a:ln w="3175">
            <a:solidFill>
              <a:srgbClr val="3E8E72">
                <a:alpha val="59000"/>
              </a:srgbClr>
            </a:solidFill>
            <a:prstDash val="solid"/>
          </a:ln>
        </p:spPr>
      </p:sp>
      <p:sp>
        <p:nvSpPr>
          <p:cNvPr id="115" name="Text 113"/>
          <p:cNvSpPr txBox="1"/>
          <p:nvPr/>
        </p:nvSpPr>
        <p:spPr>
          <a:xfrm>
            <a:off x="5266944" y="432511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-1553</a:t>
            </a:r>
            <a:endParaRPr lang="en-US" sz="800" dirty="0"/>
          </a:p>
        </p:txBody>
      </p:sp>
      <p:sp>
        <p:nvSpPr>
          <p:cNvPr id="116" name="Text 114"/>
          <p:cNvSpPr txBox="1"/>
          <p:nvPr/>
        </p:nvSpPr>
        <p:spPr>
          <a:xfrm>
            <a:off x="566928" y="4622292"/>
            <a:ext cx="1225296" cy="297180"/>
          </a:xfrm>
          <a:prstGeom prst="rect">
            <a:avLst/>
          </a:prstGeom>
          <a:noFill/>
          <a:ln/>
        </p:spPr>
        <p:txBody>
          <a:bodyPr wrap="square" lIns="0" tIns="0" rIns="0" bIns="0" rtlCol="0" anchor="ctr"/>
          <a:lstStyle/>
          <a:p>
            <a:pPr indent="0" marL="0">
              <a:buNone/>
            </a:pPr>
            <a:r>
              <a:rPr lang="en-US" sz="950" dirty="0">
                <a:solidFill>
                  <a:srgbClr val="11211C"/>
                </a:solidFill>
              </a:rPr>
              <a:t>synth-5</a:t>
            </a:r>
            <a:endParaRPr lang="en-US" sz="950" dirty="0"/>
          </a:p>
        </p:txBody>
      </p:sp>
      <p:sp>
        <p:nvSpPr>
          <p:cNvPr id="117" name="Shape 115"/>
          <p:cNvSpPr/>
          <p:nvPr/>
        </p:nvSpPr>
        <p:spPr>
          <a:xfrm>
            <a:off x="1865376" y="4622292"/>
            <a:ext cx="539496" cy="269748"/>
          </a:xfrm>
          <a:prstGeom prst="rect">
            <a:avLst/>
          </a:prstGeom>
          <a:solidFill>
            <a:srgbClr val="3E8E72">
              <a:alpha val="79000"/>
            </a:srgbClr>
          </a:solidFill>
          <a:ln w="3175">
            <a:solidFill>
              <a:srgbClr val="3E8E72">
                <a:alpha val="79000"/>
              </a:srgbClr>
            </a:solidFill>
            <a:prstDash val="solid"/>
          </a:ln>
        </p:spPr>
      </p:sp>
      <p:sp>
        <p:nvSpPr>
          <p:cNvPr id="118" name="Text 116"/>
          <p:cNvSpPr txBox="1"/>
          <p:nvPr/>
        </p:nvSpPr>
        <p:spPr>
          <a:xfrm>
            <a:off x="1865376" y="462229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-1583</a:t>
            </a:r>
            <a:endParaRPr lang="en-US" sz="800" dirty="0"/>
          </a:p>
        </p:txBody>
      </p:sp>
      <p:sp>
        <p:nvSpPr>
          <p:cNvPr id="119" name="Shape 117"/>
          <p:cNvSpPr/>
          <p:nvPr/>
        </p:nvSpPr>
        <p:spPr>
          <a:xfrm>
            <a:off x="2432304" y="4622292"/>
            <a:ext cx="539496" cy="269748"/>
          </a:xfrm>
          <a:prstGeom prst="rect">
            <a:avLst/>
          </a:prstGeom>
          <a:solidFill>
            <a:srgbClr val="3E8E72">
              <a:alpha val="88000"/>
            </a:srgbClr>
          </a:solidFill>
          <a:ln w="19050">
            <a:solidFill>
              <a:srgbClr val="1F3A33"/>
            </a:solidFill>
            <a:prstDash val="solid"/>
          </a:ln>
        </p:spPr>
      </p:sp>
      <p:sp>
        <p:nvSpPr>
          <p:cNvPr id="120" name="Text 118"/>
          <p:cNvSpPr txBox="1"/>
          <p:nvPr/>
        </p:nvSpPr>
        <p:spPr>
          <a:xfrm>
            <a:off x="2432304" y="462229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-1597</a:t>
            </a:r>
            <a:endParaRPr lang="en-US" sz="800" dirty="0"/>
          </a:p>
        </p:txBody>
      </p:sp>
      <p:sp>
        <p:nvSpPr>
          <p:cNvPr id="121" name="Shape 119"/>
          <p:cNvSpPr/>
          <p:nvPr/>
        </p:nvSpPr>
        <p:spPr>
          <a:xfrm>
            <a:off x="2999232" y="4622292"/>
            <a:ext cx="539496" cy="269748"/>
          </a:xfrm>
          <a:prstGeom prst="rect">
            <a:avLst/>
          </a:prstGeom>
          <a:solidFill>
            <a:srgbClr val="3E8E72">
              <a:alpha val="8000"/>
            </a:srgbClr>
          </a:solidFill>
          <a:ln w="3175">
            <a:solidFill>
              <a:srgbClr val="3E8E72">
                <a:alpha val="8000"/>
              </a:srgbClr>
            </a:solidFill>
            <a:prstDash val="solid"/>
          </a:ln>
        </p:spPr>
      </p:sp>
      <p:sp>
        <p:nvSpPr>
          <p:cNvPr id="122" name="Text 120"/>
          <p:cNvSpPr txBox="1"/>
          <p:nvPr/>
        </p:nvSpPr>
        <p:spPr>
          <a:xfrm>
            <a:off x="2999232" y="46222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-1473</a:t>
            </a:r>
            <a:endParaRPr lang="en-US" sz="800" dirty="0"/>
          </a:p>
        </p:txBody>
      </p:sp>
      <p:sp>
        <p:nvSpPr>
          <p:cNvPr id="123" name="Shape 121"/>
          <p:cNvSpPr/>
          <p:nvPr/>
        </p:nvSpPr>
        <p:spPr>
          <a:xfrm>
            <a:off x="3566160" y="4622292"/>
            <a:ext cx="539496" cy="269748"/>
          </a:xfrm>
          <a:prstGeom prst="rect">
            <a:avLst/>
          </a:prstGeom>
          <a:solidFill>
            <a:srgbClr val="3E8E72">
              <a:alpha val="63000"/>
            </a:srgbClr>
          </a:solidFill>
          <a:ln w="3175">
            <a:solidFill>
              <a:srgbClr val="3E8E72">
                <a:alpha val="63000"/>
              </a:srgbClr>
            </a:solidFill>
            <a:prstDash val="solid"/>
          </a:ln>
        </p:spPr>
      </p:sp>
      <p:sp>
        <p:nvSpPr>
          <p:cNvPr id="124" name="Text 122"/>
          <p:cNvSpPr txBox="1"/>
          <p:nvPr/>
        </p:nvSpPr>
        <p:spPr>
          <a:xfrm>
            <a:off x="3566160" y="46222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-1559</a:t>
            </a:r>
            <a:endParaRPr lang="en-US" sz="800" dirty="0"/>
          </a:p>
        </p:txBody>
      </p:sp>
      <p:sp>
        <p:nvSpPr>
          <p:cNvPr id="125" name="Shape 123"/>
          <p:cNvSpPr/>
          <p:nvPr/>
        </p:nvSpPr>
        <p:spPr>
          <a:xfrm>
            <a:off x="4133088" y="4622292"/>
            <a:ext cx="539496" cy="269748"/>
          </a:xfrm>
          <a:prstGeom prst="rect">
            <a:avLst/>
          </a:prstGeom>
          <a:solidFill>
            <a:srgbClr val="3E8E72">
              <a:alpha val="64000"/>
            </a:srgbClr>
          </a:solidFill>
          <a:ln w="3175">
            <a:solidFill>
              <a:srgbClr val="3E8E72">
                <a:alpha val="64000"/>
              </a:srgbClr>
            </a:solidFill>
            <a:prstDash val="solid"/>
          </a:ln>
        </p:spPr>
      </p:sp>
      <p:sp>
        <p:nvSpPr>
          <p:cNvPr id="126" name="Text 124"/>
          <p:cNvSpPr txBox="1"/>
          <p:nvPr/>
        </p:nvSpPr>
        <p:spPr>
          <a:xfrm>
            <a:off x="4133088" y="46222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-1561</a:t>
            </a:r>
            <a:endParaRPr lang="en-US" sz="800" dirty="0"/>
          </a:p>
        </p:txBody>
      </p:sp>
      <p:sp>
        <p:nvSpPr>
          <p:cNvPr id="127" name="Shape 125"/>
          <p:cNvSpPr/>
          <p:nvPr/>
        </p:nvSpPr>
        <p:spPr>
          <a:xfrm>
            <a:off x="4700016" y="4622292"/>
            <a:ext cx="539496" cy="269748"/>
          </a:xfrm>
          <a:prstGeom prst="rect">
            <a:avLst/>
          </a:prstGeom>
          <a:solidFill>
            <a:srgbClr val="3E8E72">
              <a:alpha val="68000"/>
            </a:srgbClr>
          </a:solidFill>
          <a:ln w="3175">
            <a:solidFill>
              <a:srgbClr val="3E8E72">
                <a:alpha val="68000"/>
              </a:srgbClr>
            </a:solidFill>
            <a:prstDash val="solid"/>
          </a:ln>
        </p:spPr>
      </p:sp>
      <p:sp>
        <p:nvSpPr>
          <p:cNvPr id="128" name="Text 126"/>
          <p:cNvSpPr txBox="1"/>
          <p:nvPr/>
        </p:nvSpPr>
        <p:spPr>
          <a:xfrm>
            <a:off x="4700016" y="4622292"/>
            <a:ext cx="539496" cy="269748"/>
          </a:xfrm>
          <a:prstGeom prst="rect">
            <a:avLst/>
          </a:prstGeom>
          <a:noFill/>
          <a:ln/>
        </p:spPr>
        <p:txBody>
          <a:bodyPr wrap="square" lIns="0" tIns="0" rIns="0" bIns="0" rtlCol="0" anchor="ctr"/>
          <a:lstStyle/>
          <a:p>
            <a:pPr algn="ctr" indent="0" marL="0">
              <a:buNone/>
            </a:pPr>
            <a:r>
              <a:rPr lang="en-US" sz="800" dirty="0">
                <a:solidFill>
                  <a:srgbClr val="FFFFFF"/>
                </a:solidFill>
              </a:rPr>
              <a:t>-1566</a:t>
            </a:r>
            <a:endParaRPr lang="en-US" sz="800" dirty="0"/>
          </a:p>
        </p:txBody>
      </p:sp>
      <p:sp>
        <p:nvSpPr>
          <p:cNvPr id="129" name="Shape 127"/>
          <p:cNvSpPr/>
          <p:nvPr/>
        </p:nvSpPr>
        <p:spPr>
          <a:xfrm>
            <a:off x="5266944" y="4622292"/>
            <a:ext cx="539496" cy="269748"/>
          </a:xfrm>
          <a:prstGeom prst="rect">
            <a:avLst/>
          </a:prstGeom>
          <a:solidFill>
            <a:srgbClr val="3E8E72">
              <a:alpha val="63000"/>
            </a:srgbClr>
          </a:solidFill>
          <a:ln w="3175">
            <a:solidFill>
              <a:srgbClr val="3E8E72">
                <a:alpha val="63000"/>
              </a:srgbClr>
            </a:solidFill>
            <a:prstDash val="solid"/>
          </a:ln>
        </p:spPr>
      </p:sp>
      <p:sp>
        <p:nvSpPr>
          <p:cNvPr id="130" name="Text 128"/>
          <p:cNvSpPr txBox="1"/>
          <p:nvPr/>
        </p:nvSpPr>
        <p:spPr>
          <a:xfrm>
            <a:off x="5266944" y="462229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-1559</a:t>
            </a:r>
            <a:endParaRPr lang="en-US" sz="800" dirty="0"/>
          </a:p>
        </p:txBody>
      </p:sp>
      <p:sp>
        <p:nvSpPr>
          <p:cNvPr id="131" name="Text 129"/>
          <p:cNvSpPr txBox="1"/>
          <p:nvPr/>
        </p:nvSpPr>
        <p:spPr>
          <a:xfrm>
            <a:off x="566928" y="4919472"/>
            <a:ext cx="1225296" cy="297180"/>
          </a:xfrm>
          <a:prstGeom prst="rect">
            <a:avLst/>
          </a:prstGeom>
          <a:noFill/>
          <a:ln/>
        </p:spPr>
        <p:txBody>
          <a:bodyPr wrap="square" lIns="0" tIns="0" rIns="0" bIns="0" rtlCol="0" anchor="ctr"/>
          <a:lstStyle/>
          <a:p>
            <a:pPr indent="0" marL="0">
              <a:buNone/>
            </a:pPr>
            <a:r>
              <a:rPr lang="en-US" sz="950" dirty="0">
                <a:solidFill>
                  <a:srgbClr val="11211C"/>
                </a:solidFill>
              </a:rPr>
              <a:t>synth-6</a:t>
            </a:r>
            <a:endParaRPr lang="en-US" sz="950" dirty="0"/>
          </a:p>
        </p:txBody>
      </p:sp>
      <p:sp>
        <p:nvSpPr>
          <p:cNvPr id="132" name="Shape 130"/>
          <p:cNvSpPr/>
          <p:nvPr/>
        </p:nvSpPr>
        <p:spPr>
          <a:xfrm>
            <a:off x="1865376" y="4919472"/>
            <a:ext cx="539496" cy="269748"/>
          </a:xfrm>
          <a:prstGeom prst="rect">
            <a:avLst/>
          </a:prstGeom>
          <a:solidFill>
            <a:srgbClr val="3E8E72">
              <a:alpha val="88000"/>
            </a:srgbClr>
          </a:solidFill>
          <a:ln w="19050">
            <a:solidFill>
              <a:srgbClr val="1F3A33"/>
            </a:solidFill>
            <a:prstDash val="solid"/>
          </a:ln>
        </p:spPr>
      </p:sp>
      <p:sp>
        <p:nvSpPr>
          <p:cNvPr id="133" name="Text 131"/>
          <p:cNvSpPr txBox="1"/>
          <p:nvPr/>
        </p:nvSpPr>
        <p:spPr>
          <a:xfrm>
            <a:off x="1865376" y="491947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-5167</a:t>
            </a:r>
            <a:endParaRPr lang="en-US" sz="800" dirty="0"/>
          </a:p>
        </p:txBody>
      </p:sp>
      <p:sp>
        <p:nvSpPr>
          <p:cNvPr id="134" name="Shape 132"/>
          <p:cNvSpPr/>
          <p:nvPr/>
        </p:nvSpPr>
        <p:spPr>
          <a:xfrm>
            <a:off x="2432304" y="4919472"/>
            <a:ext cx="539496" cy="269748"/>
          </a:xfrm>
          <a:prstGeom prst="rect">
            <a:avLst/>
          </a:prstGeom>
          <a:solidFill>
            <a:srgbClr val="3E8E72">
              <a:alpha val="8000"/>
            </a:srgbClr>
          </a:solidFill>
          <a:ln w="3175">
            <a:solidFill>
              <a:srgbClr val="3E8E72">
                <a:alpha val="8000"/>
              </a:srgbClr>
            </a:solidFill>
            <a:prstDash val="solid"/>
          </a:ln>
        </p:spPr>
      </p:sp>
      <p:sp>
        <p:nvSpPr>
          <p:cNvPr id="135" name="Text 133"/>
          <p:cNvSpPr txBox="1"/>
          <p:nvPr/>
        </p:nvSpPr>
        <p:spPr>
          <a:xfrm>
            <a:off x="2432304" y="491947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-4798</a:t>
            </a:r>
            <a:endParaRPr lang="en-US" sz="800" dirty="0"/>
          </a:p>
        </p:txBody>
      </p:sp>
      <p:sp>
        <p:nvSpPr>
          <p:cNvPr id="136" name="Shape 134"/>
          <p:cNvSpPr/>
          <p:nvPr/>
        </p:nvSpPr>
        <p:spPr>
          <a:xfrm>
            <a:off x="2999232" y="4919472"/>
            <a:ext cx="539496" cy="269748"/>
          </a:xfrm>
          <a:prstGeom prst="rect">
            <a:avLst/>
          </a:prstGeom>
          <a:solidFill>
            <a:srgbClr val="F2EDE9"/>
          </a:solidFill>
          <a:ln w="6350">
            <a:solidFill>
              <a:srgbClr val="E4D5CC"/>
            </a:solidFill>
            <a:prstDash val="solid"/>
          </a:ln>
        </p:spPr>
      </p:sp>
      <p:sp>
        <p:nvSpPr>
          <p:cNvPr id="137" name="Text 135"/>
          <p:cNvSpPr txBox="1"/>
          <p:nvPr/>
        </p:nvSpPr>
        <p:spPr>
          <a:xfrm>
            <a:off x="2999232" y="4919472"/>
            <a:ext cx="539496" cy="269748"/>
          </a:xfrm>
          <a:prstGeom prst="rect">
            <a:avLst/>
          </a:prstGeom>
          <a:noFill/>
          <a:ln/>
        </p:spPr>
        <p:txBody>
          <a:bodyPr wrap="square" lIns="0" tIns="0" rIns="0" bIns="0" rtlCol="0" anchor="ctr"/>
          <a:lstStyle/>
          <a:p>
            <a:pPr algn="ctr" indent="0" marL="0">
              <a:buNone/>
            </a:pPr>
            <a:r>
              <a:rPr lang="en-US" sz="750" i="1" dirty="0">
                <a:solidFill>
                  <a:srgbClr val="C0603C"/>
                </a:solidFill>
              </a:rPr>
              <a:t>asnjë</a:t>
            </a:r>
            <a:endParaRPr lang="en-US" sz="750" dirty="0"/>
          </a:p>
        </p:txBody>
      </p:sp>
      <p:sp>
        <p:nvSpPr>
          <p:cNvPr id="138" name="Shape 136"/>
          <p:cNvSpPr/>
          <p:nvPr/>
        </p:nvSpPr>
        <p:spPr>
          <a:xfrm>
            <a:off x="3566160" y="4919472"/>
            <a:ext cx="539496" cy="269748"/>
          </a:xfrm>
          <a:prstGeom prst="rect">
            <a:avLst/>
          </a:prstGeom>
          <a:solidFill>
            <a:srgbClr val="3E8E72">
              <a:alpha val="8000"/>
            </a:srgbClr>
          </a:solidFill>
          <a:ln w="3175">
            <a:solidFill>
              <a:srgbClr val="3E8E72">
                <a:alpha val="8000"/>
              </a:srgbClr>
            </a:solidFill>
            <a:prstDash val="solid"/>
          </a:ln>
        </p:spPr>
      </p:sp>
      <p:sp>
        <p:nvSpPr>
          <p:cNvPr id="139" name="Text 137"/>
          <p:cNvSpPr txBox="1"/>
          <p:nvPr/>
        </p:nvSpPr>
        <p:spPr>
          <a:xfrm>
            <a:off x="3566160" y="491947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-4796</a:t>
            </a:r>
            <a:endParaRPr lang="en-US" sz="800" dirty="0"/>
          </a:p>
        </p:txBody>
      </p:sp>
      <p:sp>
        <p:nvSpPr>
          <p:cNvPr id="140" name="Shape 138"/>
          <p:cNvSpPr/>
          <p:nvPr/>
        </p:nvSpPr>
        <p:spPr>
          <a:xfrm>
            <a:off x="4133088" y="4919472"/>
            <a:ext cx="539496" cy="269748"/>
          </a:xfrm>
          <a:prstGeom prst="rect">
            <a:avLst/>
          </a:prstGeom>
          <a:solidFill>
            <a:srgbClr val="3E8E72">
              <a:alpha val="9000"/>
            </a:srgbClr>
          </a:solidFill>
          <a:ln w="3175">
            <a:solidFill>
              <a:srgbClr val="3E8E72">
                <a:alpha val="9000"/>
              </a:srgbClr>
            </a:solidFill>
            <a:prstDash val="solid"/>
          </a:ln>
        </p:spPr>
      </p:sp>
      <p:sp>
        <p:nvSpPr>
          <p:cNvPr id="141" name="Text 139"/>
          <p:cNvSpPr txBox="1"/>
          <p:nvPr/>
        </p:nvSpPr>
        <p:spPr>
          <a:xfrm>
            <a:off x="4133088" y="491947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-4801</a:t>
            </a:r>
            <a:endParaRPr lang="en-US" sz="800" dirty="0"/>
          </a:p>
        </p:txBody>
      </p:sp>
      <p:sp>
        <p:nvSpPr>
          <p:cNvPr id="142" name="Shape 140"/>
          <p:cNvSpPr/>
          <p:nvPr/>
        </p:nvSpPr>
        <p:spPr>
          <a:xfrm>
            <a:off x="4700016" y="4919472"/>
            <a:ext cx="539496" cy="269748"/>
          </a:xfrm>
          <a:prstGeom prst="rect">
            <a:avLst/>
          </a:prstGeom>
          <a:solidFill>
            <a:srgbClr val="3E8E72">
              <a:alpha val="8000"/>
            </a:srgbClr>
          </a:solidFill>
          <a:ln w="3175">
            <a:solidFill>
              <a:srgbClr val="3E8E72">
                <a:alpha val="8000"/>
              </a:srgbClr>
            </a:solidFill>
            <a:prstDash val="solid"/>
          </a:ln>
        </p:spPr>
      </p:sp>
      <p:sp>
        <p:nvSpPr>
          <p:cNvPr id="143" name="Text 141"/>
          <p:cNvSpPr txBox="1"/>
          <p:nvPr/>
        </p:nvSpPr>
        <p:spPr>
          <a:xfrm>
            <a:off x="4700016" y="491947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-4797</a:t>
            </a:r>
            <a:endParaRPr lang="en-US" sz="800" dirty="0"/>
          </a:p>
        </p:txBody>
      </p:sp>
      <p:sp>
        <p:nvSpPr>
          <p:cNvPr id="144" name="Shape 142"/>
          <p:cNvSpPr/>
          <p:nvPr/>
        </p:nvSpPr>
        <p:spPr>
          <a:xfrm>
            <a:off x="5266944" y="4919472"/>
            <a:ext cx="539496" cy="269748"/>
          </a:xfrm>
          <a:prstGeom prst="rect">
            <a:avLst/>
          </a:prstGeom>
          <a:solidFill>
            <a:srgbClr val="3E8E72">
              <a:alpha val="33000"/>
            </a:srgbClr>
          </a:solidFill>
          <a:ln w="3175">
            <a:solidFill>
              <a:srgbClr val="3E8E72">
                <a:alpha val="33000"/>
              </a:srgbClr>
            </a:solidFill>
            <a:prstDash val="solid"/>
          </a:ln>
        </p:spPr>
      </p:sp>
      <p:sp>
        <p:nvSpPr>
          <p:cNvPr id="145" name="Text 143"/>
          <p:cNvSpPr txBox="1"/>
          <p:nvPr/>
        </p:nvSpPr>
        <p:spPr>
          <a:xfrm>
            <a:off x="5266944" y="491947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-4911</a:t>
            </a:r>
            <a:endParaRPr lang="en-US" sz="800" dirty="0"/>
          </a:p>
        </p:txBody>
      </p:sp>
      <p:sp>
        <p:nvSpPr>
          <p:cNvPr id="146" name="Text 144"/>
          <p:cNvSpPr txBox="1"/>
          <p:nvPr/>
        </p:nvSpPr>
        <p:spPr>
          <a:xfrm>
            <a:off x="566928" y="5216652"/>
            <a:ext cx="1225296" cy="297180"/>
          </a:xfrm>
          <a:prstGeom prst="rect">
            <a:avLst/>
          </a:prstGeom>
          <a:noFill/>
          <a:ln/>
        </p:spPr>
        <p:txBody>
          <a:bodyPr wrap="square" lIns="0" tIns="0" rIns="0" bIns="0" rtlCol="0" anchor="ctr"/>
          <a:lstStyle/>
          <a:p>
            <a:pPr indent="0" marL="0">
              <a:buNone/>
            </a:pPr>
            <a:r>
              <a:rPr lang="en-US" sz="950" dirty="0">
                <a:solidFill>
                  <a:srgbClr val="11211C"/>
                </a:solidFill>
              </a:rPr>
              <a:t>synth-7</a:t>
            </a:r>
            <a:endParaRPr lang="en-US" sz="950" dirty="0"/>
          </a:p>
        </p:txBody>
      </p:sp>
      <p:sp>
        <p:nvSpPr>
          <p:cNvPr id="147" name="Shape 145"/>
          <p:cNvSpPr/>
          <p:nvPr/>
        </p:nvSpPr>
        <p:spPr>
          <a:xfrm>
            <a:off x="1865376" y="5216652"/>
            <a:ext cx="539496" cy="269748"/>
          </a:xfrm>
          <a:prstGeom prst="rect">
            <a:avLst/>
          </a:prstGeom>
          <a:solidFill>
            <a:srgbClr val="3E8E72">
              <a:alpha val="88000"/>
            </a:srgbClr>
          </a:solidFill>
          <a:ln w="19050">
            <a:solidFill>
              <a:srgbClr val="1F3A33"/>
            </a:solidFill>
            <a:prstDash val="solid"/>
          </a:ln>
        </p:spPr>
      </p:sp>
      <p:sp>
        <p:nvSpPr>
          <p:cNvPr id="148" name="Text 146"/>
          <p:cNvSpPr txBox="1"/>
          <p:nvPr/>
        </p:nvSpPr>
        <p:spPr>
          <a:xfrm>
            <a:off x="1865376" y="5216652"/>
            <a:ext cx="539496" cy="269748"/>
          </a:xfrm>
          <a:prstGeom prst="rect">
            <a:avLst/>
          </a:prstGeom>
          <a:noFill/>
          <a:ln/>
        </p:spPr>
        <p:txBody>
          <a:bodyPr wrap="square" lIns="0" tIns="0" rIns="0" bIns="0" rtlCol="0" anchor="ctr"/>
          <a:lstStyle/>
          <a:p>
            <a:pPr algn="ctr" indent="0" marL="0">
              <a:buNone/>
            </a:pPr>
            <a:r>
              <a:rPr lang="en-US" sz="800" b="1" dirty="0">
                <a:solidFill>
                  <a:srgbClr val="FFFFFF"/>
                </a:solidFill>
              </a:rPr>
              <a:t>-5204</a:t>
            </a:r>
            <a:endParaRPr lang="en-US" sz="800" dirty="0"/>
          </a:p>
        </p:txBody>
      </p:sp>
      <p:sp>
        <p:nvSpPr>
          <p:cNvPr id="149" name="Shape 147"/>
          <p:cNvSpPr/>
          <p:nvPr/>
        </p:nvSpPr>
        <p:spPr>
          <a:xfrm>
            <a:off x="2432304" y="5216652"/>
            <a:ext cx="539496" cy="269748"/>
          </a:xfrm>
          <a:prstGeom prst="rect">
            <a:avLst/>
          </a:prstGeom>
          <a:solidFill>
            <a:srgbClr val="3E8E72">
              <a:alpha val="9000"/>
            </a:srgbClr>
          </a:solidFill>
          <a:ln w="3175">
            <a:solidFill>
              <a:srgbClr val="3E8E72">
                <a:alpha val="9000"/>
              </a:srgbClr>
            </a:solidFill>
            <a:prstDash val="solid"/>
          </a:ln>
        </p:spPr>
      </p:sp>
      <p:sp>
        <p:nvSpPr>
          <p:cNvPr id="150" name="Text 148"/>
          <p:cNvSpPr txBox="1"/>
          <p:nvPr/>
        </p:nvSpPr>
        <p:spPr>
          <a:xfrm>
            <a:off x="2432304" y="521665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-4800</a:t>
            </a:r>
            <a:endParaRPr lang="en-US" sz="800" dirty="0"/>
          </a:p>
        </p:txBody>
      </p:sp>
      <p:sp>
        <p:nvSpPr>
          <p:cNvPr id="151" name="Shape 149"/>
          <p:cNvSpPr/>
          <p:nvPr/>
        </p:nvSpPr>
        <p:spPr>
          <a:xfrm>
            <a:off x="2999232" y="5216652"/>
            <a:ext cx="539496" cy="269748"/>
          </a:xfrm>
          <a:prstGeom prst="rect">
            <a:avLst/>
          </a:prstGeom>
          <a:solidFill>
            <a:srgbClr val="F2EDE9"/>
          </a:solidFill>
          <a:ln w="6350">
            <a:solidFill>
              <a:srgbClr val="E4D5CC"/>
            </a:solidFill>
            <a:prstDash val="solid"/>
          </a:ln>
        </p:spPr>
      </p:sp>
      <p:sp>
        <p:nvSpPr>
          <p:cNvPr id="152" name="Text 150"/>
          <p:cNvSpPr txBox="1"/>
          <p:nvPr/>
        </p:nvSpPr>
        <p:spPr>
          <a:xfrm>
            <a:off x="2999232" y="5216652"/>
            <a:ext cx="539496" cy="269748"/>
          </a:xfrm>
          <a:prstGeom prst="rect">
            <a:avLst/>
          </a:prstGeom>
          <a:noFill/>
          <a:ln/>
        </p:spPr>
        <p:txBody>
          <a:bodyPr wrap="square" lIns="0" tIns="0" rIns="0" bIns="0" rtlCol="0" anchor="ctr"/>
          <a:lstStyle/>
          <a:p>
            <a:pPr algn="ctr" indent="0" marL="0">
              <a:buNone/>
            </a:pPr>
            <a:r>
              <a:rPr lang="en-US" sz="750" i="1" dirty="0">
                <a:solidFill>
                  <a:srgbClr val="C0603C"/>
                </a:solidFill>
              </a:rPr>
              <a:t>asnjë</a:t>
            </a:r>
            <a:endParaRPr lang="en-US" sz="750" dirty="0"/>
          </a:p>
        </p:txBody>
      </p:sp>
      <p:sp>
        <p:nvSpPr>
          <p:cNvPr id="153" name="Shape 151"/>
          <p:cNvSpPr/>
          <p:nvPr/>
        </p:nvSpPr>
        <p:spPr>
          <a:xfrm>
            <a:off x="3566160" y="5216652"/>
            <a:ext cx="539496" cy="269748"/>
          </a:xfrm>
          <a:prstGeom prst="rect">
            <a:avLst/>
          </a:prstGeom>
          <a:solidFill>
            <a:srgbClr val="3E8E72">
              <a:alpha val="8000"/>
            </a:srgbClr>
          </a:solidFill>
          <a:ln w="3175">
            <a:solidFill>
              <a:srgbClr val="3E8E72">
                <a:alpha val="8000"/>
              </a:srgbClr>
            </a:solidFill>
            <a:prstDash val="solid"/>
          </a:ln>
        </p:spPr>
      </p:sp>
      <p:sp>
        <p:nvSpPr>
          <p:cNvPr id="154" name="Text 152"/>
          <p:cNvSpPr txBox="1"/>
          <p:nvPr/>
        </p:nvSpPr>
        <p:spPr>
          <a:xfrm>
            <a:off x="3566160" y="521665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-4795</a:t>
            </a:r>
            <a:endParaRPr lang="en-US" sz="800" dirty="0"/>
          </a:p>
        </p:txBody>
      </p:sp>
      <p:sp>
        <p:nvSpPr>
          <p:cNvPr id="155" name="Shape 153"/>
          <p:cNvSpPr/>
          <p:nvPr/>
        </p:nvSpPr>
        <p:spPr>
          <a:xfrm>
            <a:off x="4133088" y="5216652"/>
            <a:ext cx="539496" cy="269748"/>
          </a:xfrm>
          <a:prstGeom prst="rect">
            <a:avLst/>
          </a:prstGeom>
          <a:solidFill>
            <a:srgbClr val="3E8E72">
              <a:alpha val="9000"/>
            </a:srgbClr>
          </a:solidFill>
          <a:ln w="3175">
            <a:solidFill>
              <a:srgbClr val="3E8E72">
                <a:alpha val="9000"/>
              </a:srgbClr>
            </a:solidFill>
            <a:prstDash val="solid"/>
          </a:ln>
        </p:spPr>
      </p:sp>
      <p:sp>
        <p:nvSpPr>
          <p:cNvPr id="156" name="Text 154"/>
          <p:cNvSpPr txBox="1"/>
          <p:nvPr/>
        </p:nvSpPr>
        <p:spPr>
          <a:xfrm>
            <a:off x="4133088" y="521665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-4803</a:t>
            </a:r>
            <a:endParaRPr lang="en-US" sz="800" dirty="0"/>
          </a:p>
        </p:txBody>
      </p:sp>
      <p:sp>
        <p:nvSpPr>
          <p:cNvPr id="157" name="Shape 155"/>
          <p:cNvSpPr/>
          <p:nvPr/>
        </p:nvSpPr>
        <p:spPr>
          <a:xfrm>
            <a:off x="4700016" y="5216652"/>
            <a:ext cx="539496" cy="269748"/>
          </a:xfrm>
          <a:prstGeom prst="rect">
            <a:avLst/>
          </a:prstGeom>
          <a:solidFill>
            <a:srgbClr val="3E8E72">
              <a:alpha val="8000"/>
            </a:srgbClr>
          </a:solidFill>
          <a:ln w="3175">
            <a:solidFill>
              <a:srgbClr val="3E8E72">
                <a:alpha val="8000"/>
              </a:srgbClr>
            </a:solidFill>
            <a:prstDash val="solid"/>
          </a:ln>
        </p:spPr>
      </p:sp>
      <p:sp>
        <p:nvSpPr>
          <p:cNvPr id="158" name="Text 156"/>
          <p:cNvSpPr txBox="1"/>
          <p:nvPr/>
        </p:nvSpPr>
        <p:spPr>
          <a:xfrm>
            <a:off x="4700016" y="521665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-4797</a:t>
            </a:r>
            <a:endParaRPr lang="en-US" sz="800" dirty="0"/>
          </a:p>
        </p:txBody>
      </p:sp>
      <p:sp>
        <p:nvSpPr>
          <p:cNvPr id="159" name="Shape 157"/>
          <p:cNvSpPr/>
          <p:nvPr/>
        </p:nvSpPr>
        <p:spPr>
          <a:xfrm>
            <a:off x="5266944" y="5216652"/>
            <a:ext cx="539496" cy="269748"/>
          </a:xfrm>
          <a:prstGeom prst="rect">
            <a:avLst/>
          </a:prstGeom>
          <a:solidFill>
            <a:srgbClr val="3E8E72">
              <a:alpha val="26000"/>
            </a:srgbClr>
          </a:solidFill>
          <a:ln w="3175">
            <a:solidFill>
              <a:srgbClr val="3E8E72">
                <a:alpha val="26000"/>
              </a:srgbClr>
            </a:solidFill>
            <a:prstDash val="solid"/>
          </a:ln>
        </p:spPr>
      </p:sp>
      <p:sp>
        <p:nvSpPr>
          <p:cNvPr id="160" name="Text 158"/>
          <p:cNvSpPr txBox="1"/>
          <p:nvPr/>
        </p:nvSpPr>
        <p:spPr>
          <a:xfrm>
            <a:off x="5266944" y="5216652"/>
            <a:ext cx="539496" cy="269748"/>
          </a:xfrm>
          <a:prstGeom prst="rect">
            <a:avLst/>
          </a:prstGeom>
          <a:noFill/>
          <a:ln/>
        </p:spPr>
        <p:txBody>
          <a:bodyPr wrap="square" lIns="0" tIns="0" rIns="0" bIns="0" rtlCol="0" anchor="ctr"/>
          <a:lstStyle/>
          <a:p>
            <a:pPr algn="ctr" indent="0" marL="0">
              <a:buNone/>
            </a:pPr>
            <a:r>
              <a:rPr lang="en-US" sz="800" dirty="0">
                <a:solidFill>
                  <a:srgbClr val="11211C"/>
                </a:solidFill>
              </a:rPr>
              <a:t>-4890</a:t>
            </a:r>
            <a:endParaRPr lang="en-US" sz="800" dirty="0"/>
          </a:p>
        </p:txBody>
      </p:sp>
      <p:sp>
        <p:nvSpPr>
          <p:cNvPr id="161" name="Text 159"/>
          <p:cNvSpPr txBox="1"/>
          <p:nvPr/>
        </p:nvSpPr>
        <p:spPr>
          <a:xfrm>
            <a:off x="566928" y="5586984"/>
            <a:ext cx="5266944" cy="219456"/>
          </a:xfrm>
          <a:prstGeom prst="rect">
            <a:avLst/>
          </a:prstGeom>
          <a:noFill/>
          <a:ln/>
        </p:spPr>
        <p:txBody>
          <a:bodyPr wrap="square" lIns="0" tIns="0" rIns="0" bIns="0" rtlCol="0" anchor="ctr"/>
          <a:lstStyle/>
          <a:p>
            <a:pPr indent="0" marL="0">
              <a:buNone/>
            </a:pPr>
            <a:r>
              <a:rPr lang="en-US" sz="900" i="1" dirty="0">
                <a:solidFill>
                  <a:srgbClr val="6B7A75"/>
                </a:solidFill>
              </a:rPr>
              <a:t>ngjyrosur sipas largësisë nga më i miri i rreshtit · qeliza me kontur = fituesi i rreshtit</a:t>
            </a:r>
            <a:endParaRPr lang="en-US" sz="900" dirty="0"/>
          </a:p>
        </p:txBody>
      </p:sp>
      <p:sp>
        <p:nvSpPr>
          <p:cNvPr id="162" name="Text 160"/>
          <p:cNvSpPr txBox="1"/>
          <p:nvPr/>
        </p:nvSpPr>
        <p:spPr>
          <a:xfrm>
            <a:off x="6675120" y="1316736"/>
            <a:ext cx="182880" cy="237744"/>
          </a:xfrm>
          <a:prstGeom prst="rect">
            <a:avLst/>
          </a:prstGeom>
          <a:noFill/>
          <a:ln/>
        </p:spPr>
        <p:txBody>
          <a:bodyPr wrap="square" lIns="0" tIns="0" rIns="0" bIns="0" rtlCol="0" anchor="ctr"/>
          <a:lstStyle/>
          <a:p>
            <a:pPr indent="0" marL="0">
              <a:buNone/>
            </a:pPr>
            <a:r>
              <a:rPr lang="en-US" sz="1500" dirty="0">
                <a:solidFill>
                  <a:srgbClr val="3E8E72"/>
                </a:solidFill>
              </a:rPr>
              <a:t>·</a:t>
            </a:r>
            <a:endParaRPr lang="en-US" sz="1500" dirty="0"/>
          </a:p>
        </p:txBody>
      </p:sp>
      <p:sp>
        <p:nvSpPr>
          <p:cNvPr id="163" name="Text 161"/>
          <p:cNvSpPr txBox="1"/>
          <p:nvPr/>
        </p:nvSpPr>
        <p:spPr>
          <a:xfrm>
            <a:off x="6912864" y="1280160"/>
            <a:ext cx="4718304" cy="914400"/>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Tri hyrjet zyrtare mbajnë rezultatin më të mirë në tetë nga dhjetë rreshtat.</a:t>
            </a:r>
            <a:endParaRPr lang="en-US" sz="1200" dirty="0"/>
          </a:p>
        </p:txBody>
      </p:sp>
      <p:sp>
        <p:nvSpPr>
          <p:cNvPr id="164" name="Text 162"/>
          <p:cNvSpPr txBox="1"/>
          <p:nvPr/>
        </p:nvSpPr>
        <p:spPr>
          <a:xfrm>
            <a:off x="6675120" y="2340864"/>
            <a:ext cx="182880" cy="237744"/>
          </a:xfrm>
          <a:prstGeom prst="rect">
            <a:avLst/>
          </a:prstGeom>
          <a:noFill/>
          <a:ln/>
        </p:spPr>
        <p:txBody>
          <a:bodyPr wrap="square" lIns="0" tIns="0" rIns="0" bIns="0" rtlCol="0" anchor="ctr"/>
          <a:lstStyle/>
          <a:p>
            <a:pPr indent="0" marL="0">
              <a:buNone/>
            </a:pPr>
            <a:r>
              <a:rPr lang="en-US" sz="1500" dirty="0">
                <a:solidFill>
                  <a:srgbClr val="3E8E72"/>
                </a:solidFill>
              </a:rPr>
              <a:t>·</a:t>
            </a:r>
            <a:endParaRPr lang="en-US" sz="1500" dirty="0"/>
          </a:p>
        </p:txBody>
      </p:sp>
      <p:sp>
        <p:nvSpPr>
          <p:cNvPr id="165" name="Text 163"/>
          <p:cNvSpPr txBox="1"/>
          <p:nvPr/>
        </p:nvSpPr>
        <p:spPr>
          <a:xfrm>
            <a:off x="6912864" y="2304288"/>
            <a:ext cx="4718304" cy="914400"/>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Spacekangaroos fiton small-graph bindshëm, por nuk kthen asnjë pikë të lejuar në tri instancat me 2,426 kulme: çdo renditje që gjeti e theu kufirin 500.</a:t>
            </a:r>
            <a:endParaRPr lang="en-US" sz="1200" dirty="0"/>
          </a:p>
        </p:txBody>
      </p:sp>
      <p:sp>
        <p:nvSpPr>
          <p:cNvPr id="166" name="Text 164"/>
          <p:cNvSpPr txBox="1"/>
          <p:nvPr/>
        </p:nvSpPr>
        <p:spPr>
          <a:xfrm>
            <a:off x="6675120" y="3364992"/>
            <a:ext cx="182880" cy="237744"/>
          </a:xfrm>
          <a:prstGeom prst="rect">
            <a:avLst/>
          </a:prstGeom>
          <a:noFill/>
          <a:ln/>
        </p:spPr>
        <p:txBody>
          <a:bodyPr wrap="square" lIns="0" tIns="0" rIns="0" bIns="0" rtlCol="0" anchor="ctr"/>
          <a:lstStyle/>
          <a:p>
            <a:pPr indent="0" marL="0">
              <a:buNone/>
            </a:pPr>
            <a:r>
              <a:rPr lang="en-US" sz="1500" dirty="0">
                <a:solidFill>
                  <a:srgbClr val="3E8E72"/>
                </a:solidFill>
              </a:rPr>
              <a:t>·</a:t>
            </a:r>
            <a:endParaRPr lang="en-US" sz="1500" dirty="0"/>
          </a:p>
        </p:txBody>
      </p:sp>
      <p:sp>
        <p:nvSpPr>
          <p:cNvPr id="167" name="Text 165"/>
          <p:cNvSpPr txBox="1"/>
          <p:nvPr/>
        </p:nvSpPr>
        <p:spPr>
          <a:xfrm>
            <a:off x="6912864" y="3328416"/>
            <a:ext cx="4718304" cy="914400"/>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Koha e njëjtë reale nuk është llogaritje e njëjtë. Procesi në CPU qëndroi në 929%, rreth nëntë bërthama, ndërsa hill climbing është Python i pastër dhe përdor një. Handikapi punon kundër këtij studimi, jo për të.</a:t>
            </a:r>
            <a:endParaRPr lang="en-US" sz="1200" dirty="0"/>
          </a:p>
        </p:txBody>
      </p:sp>
      <p:sp>
        <p:nvSpPr>
          <p:cNvPr id="168" name="Shape 166"/>
          <p:cNvSpPr/>
          <p:nvPr/>
        </p:nvSpPr>
        <p:spPr>
          <a:xfrm>
            <a:off x="6675120" y="4498848"/>
            <a:ext cx="4956048" cy="841248"/>
          </a:xfrm>
          <a:prstGeom prst="roundRect">
            <a:avLst>
              <a:gd name="adj" fmla="val 4348"/>
            </a:avLst>
          </a:prstGeom>
          <a:solidFill>
            <a:srgbClr val="1F3A33"/>
          </a:solidFill>
          <a:ln w="6350">
            <a:solidFill>
              <a:srgbClr val="1F3A33"/>
            </a:solidFill>
            <a:prstDash val="solid"/>
          </a:ln>
        </p:spPr>
      </p:sp>
      <p:sp>
        <p:nvSpPr>
          <p:cNvPr id="169" name="Text 167"/>
          <p:cNvSpPr txBox="1"/>
          <p:nvPr/>
        </p:nvSpPr>
        <p:spPr>
          <a:xfrm>
            <a:off x="6931152" y="4626864"/>
            <a:ext cx="4480560" cy="585216"/>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Ai lexim nuk i mbijetoi matjes së radhës.</a:t>
            </a:r>
            <a:endParaRPr lang="en-US" sz="14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Pastaj e ekzekutova kontrollin dy herë</a:t>
            </a:r>
            <a:endParaRPr lang="en-US" sz="2600" dirty="0"/>
          </a:p>
        </p:txBody>
      </p:sp>
      <p:sp>
        <p:nvSpPr>
          <p:cNvPr id="3" name="Text 1"/>
          <p:cNvSpPr txBox="1"/>
          <p:nvPr/>
        </p:nvSpPr>
        <p:spPr>
          <a:xfrm>
            <a:off x="566928" y="1280160"/>
            <a:ext cx="10936224" cy="841248"/>
          </a:xfrm>
          <a:prstGeom prst="rect">
            <a:avLst/>
          </a:prstGeom>
          <a:noFill/>
          <a:ln/>
        </p:spPr>
        <p:txBody>
          <a:bodyPr wrap="square" lIns="0" tIns="0" rIns="0" bIns="0" rtlCol="0" anchor="ctr"/>
          <a:lstStyle/>
          <a:p>
            <a:pPr indent="0" marL="0">
              <a:lnSpc>
                <a:spcPts val="2000"/>
              </a:lnSpc>
              <a:buNone/>
            </a:pPr>
            <a:r>
              <a:rPr lang="en-US" sz="1300" dirty="0">
                <a:solidFill>
                  <a:srgbClr val="11211C"/>
                </a:solidFill>
              </a:rPr>
              <a:t>Ngjitësi kufizohet nga koha reale, jo nga një numër iteracionesh, prandaj dy ekzekutime me buxhet të plotë të së njëjtës metodë janë dy mostra të pavarura e jo një përsëritje. I kisha të dyja. Krahasimi i tyre është matja më e dobishme e gjithë studimit.</a:t>
            </a:r>
            <a:endParaRPr lang="en-US" sz="1300" dirty="0"/>
          </a:p>
        </p:txBody>
      </p:sp>
      <p:sp>
        <p:nvSpPr>
          <p:cNvPr id="4" name="Text 2"/>
          <p:cNvSpPr txBox="1"/>
          <p:nvPr/>
        </p:nvSpPr>
        <p:spPr>
          <a:xfrm>
            <a:off x="566928" y="2249424"/>
            <a:ext cx="3429000" cy="658368"/>
          </a:xfrm>
          <a:prstGeom prst="rect">
            <a:avLst/>
          </a:prstGeom>
          <a:noFill/>
          <a:ln/>
        </p:spPr>
        <p:txBody>
          <a:bodyPr wrap="square" lIns="0" tIns="0" rIns="0" bIns="0" rtlCol="0" anchor="ctr"/>
          <a:lstStyle/>
          <a:p>
            <a:pPr indent="0" marL="0">
              <a:buNone/>
            </a:pPr>
            <a:r>
              <a:rPr lang="en-US" sz="3400" b="1" dirty="0">
                <a:solidFill>
                  <a:srgbClr val="6B7A75"/>
                </a:solidFill>
                <a:latin typeface="Cambria" pitchFamily="34" charset="0"/>
                <a:ea typeface="Cambria" pitchFamily="34" charset="-122"/>
                <a:cs typeface="Cambria" pitchFamily="34" charset="-120"/>
              </a:rPr>
              <a:t>1,528 HV</a:t>
            </a:r>
            <a:endParaRPr lang="en-US" sz="3400" dirty="0"/>
          </a:p>
        </p:txBody>
      </p:sp>
      <p:sp>
        <p:nvSpPr>
          <p:cNvPr id="5" name="Shape 3"/>
          <p:cNvSpPr/>
          <p:nvPr/>
        </p:nvSpPr>
        <p:spPr>
          <a:xfrm>
            <a:off x="566928" y="2999232"/>
            <a:ext cx="3246120" cy="914"/>
          </a:xfrm>
          <a:prstGeom prst="line">
            <a:avLst/>
          </a:prstGeom>
          <a:noFill/>
          <a:ln w="25400">
            <a:solidFill>
              <a:srgbClr val="6B7A75"/>
            </a:solidFill>
            <a:prstDash val="solid"/>
          </a:ln>
        </p:spPr>
      </p:sp>
      <p:sp>
        <p:nvSpPr>
          <p:cNvPr id="6" name="Text 4"/>
          <p:cNvSpPr txBox="1"/>
          <p:nvPr/>
        </p:nvSpPr>
        <p:spPr>
          <a:xfrm>
            <a:off x="566928" y="3108960"/>
            <a:ext cx="3429000" cy="822960"/>
          </a:xfrm>
          <a:prstGeom prst="rect">
            <a:avLst/>
          </a:prstGeom>
          <a:noFill/>
          <a:ln/>
        </p:spPr>
        <p:txBody>
          <a:bodyPr wrap="square" lIns="0" tIns="0" rIns="0" bIns="0" rtlCol="0" anchor="ctr"/>
          <a:lstStyle/>
          <a:p>
            <a:pPr indent="0" marL="0">
              <a:lnSpc>
                <a:spcPts val="1600"/>
              </a:lnSpc>
              <a:buNone/>
            </a:pPr>
            <a:r>
              <a:rPr lang="en-US" sz="1150" dirty="0">
                <a:solidFill>
                  <a:srgbClr val="11211C"/>
                </a:solidFill>
              </a:rPr>
              <a:t>shpërndarja mesatare mes dy seed-ave brenda një ekzekutimi: pragu që ky punim citonte fillimisht</a:t>
            </a:r>
            <a:endParaRPr lang="en-US" sz="1150" dirty="0"/>
          </a:p>
        </p:txBody>
      </p:sp>
      <p:sp>
        <p:nvSpPr>
          <p:cNvPr id="7" name="Text 5"/>
          <p:cNvSpPr txBox="1"/>
          <p:nvPr/>
        </p:nvSpPr>
        <p:spPr>
          <a:xfrm>
            <a:off x="4288536" y="2249424"/>
            <a:ext cx="3429000" cy="658368"/>
          </a:xfrm>
          <a:prstGeom prst="rect">
            <a:avLst/>
          </a:prstGeom>
          <a:noFill/>
          <a:ln/>
        </p:spPr>
        <p:txBody>
          <a:bodyPr wrap="square" lIns="0" tIns="0" rIns="0" bIns="0" rtlCol="0" anchor="ctr"/>
          <a:lstStyle/>
          <a:p>
            <a:pPr indent="0" marL="0">
              <a:buNone/>
            </a:pPr>
            <a:r>
              <a:rPr lang="en-US" sz="3400" b="1" dirty="0">
                <a:solidFill>
                  <a:srgbClr val="C0603C"/>
                </a:solidFill>
                <a:latin typeface="Cambria" pitchFamily="34" charset="0"/>
                <a:ea typeface="Cambria" pitchFamily="34" charset="-122"/>
                <a:cs typeface="Cambria" pitchFamily="34" charset="-120"/>
              </a:rPr>
              <a:t>7,881 HV</a:t>
            </a:r>
            <a:endParaRPr lang="en-US" sz="3400" dirty="0"/>
          </a:p>
        </p:txBody>
      </p:sp>
      <p:sp>
        <p:nvSpPr>
          <p:cNvPr id="8" name="Shape 6"/>
          <p:cNvSpPr/>
          <p:nvPr/>
        </p:nvSpPr>
        <p:spPr>
          <a:xfrm>
            <a:off x="4288536" y="2999232"/>
            <a:ext cx="3246120" cy="914"/>
          </a:xfrm>
          <a:prstGeom prst="line">
            <a:avLst/>
          </a:prstGeom>
          <a:noFill/>
          <a:ln w="25400">
            <a:solidFill>
              <a:srgbClr val="C0603C"/>
            </a:solidFill>
            <a:prstDash val="solid"/>
          </a:ln>
        </p:spPr>
      </p:sp>
      <p:sp>
        <p:nvSpPr>
          <p:cNvPr id="9" name="Text 7"/>
          <p:cNvSpPr txBox="1"/>
          <p:nvPr/>
        </p:nvSpPr>
        <p:spPr>
          <a:xfrm>
            <a:off x="4288536" y="3108960"/>
            <a:ext cx="3429000" cy="822960"/>
          </a:xfrm>
          <a:prstGeom prst="rect">
            <a:avLst/>
          </a:prstGeom>
          <a:noFill/>
          <a:ln/>
        </p:spPr>
        <p:txBody>
          <a:bodyPr wrap="square" lIns="0" tIns="0" rIns="0" bIns="0" rtlCol="0" anchor="ctr"/>
          <a:lstStyle/>
          <a:p>
            <a:pPr indent="0" marL="0">
              <a:lnSpc>
                <a:spcPts val="1600"/>
              </a:lnSpc>
              <a:buNone/>
            </a:pPr>
            <a:r>
              <a:rPr lang="en-US" sz="1150" dirty="0">
                <a:solidFill>
                  <a:srgbClr val="11211C"/>
                </a:solidFill>
              </a:rPr>
              <a:t>sa më shumë lëvizi baza në një instancë të vetme mes dy ekzekutimeve</a:t>
            </a:r>
            <a:endParaRPr lang="en-US" sz="1150" dirty="0"/>
          </a:p>
        </p:txBody>
      </p:sp>
      <p:sp>
        <p:nvSpPr>
          <p:cNvPr id="10" name="Text 8"/>
          <p:cNvSpPr txBox="1"/>
          <p:nvPr/>
        </p:nvSpPr>
        <p:spPr>
          <a:xfrm>
            <a:off x="8010144" y="2249424"/>
            <a:ext cx="3429000" cy="658368"/>
          </a:xfrm>
          <a:prstGeom prst="rect">
            <a:avLst/>
          </a:prstGeom>
          <a:noFill/>
          <a:ln/>
        </p:spPr>
        <p:txBody>
          <a:bodyPr wrap="square" lIns="0" tIns="0" rIns="0" bIns="0" rtlCol="0" anchor="ctr"/>
          <a:lstStyle/>
          <a:p>
            <a:pPr indent="0" marL="0">
              <a:buNone/>
            </a:pPr>
            <a:r>
              <a:rPr lang="en-US" sz="3400" b="1" dirty="0">
                <a:solidFill>
                  <a:srgbClr val="2A5247"/>
                </a:solidFill>
                <a:latin typeface="Cambria" pitchFamily="34" charset="0"/>
                <a:ea typeface="Cambria" pitchFamily="34" charset="-122"/>
                <a:cs typeface="Cambria" pitchFamily="34" charset="-120"/>
              </a:rPr>
              <a:t>21,519 HV</a:t>
            </a:r>
            <a:endParaRPr lang="en-US" sz="3400" dirty="0"/>
          </a:p>
        </p:txBody>
      </p:sp>
      <p:sp>
        <p:nvSpPr>
          <p:cNvPr id="11" name="Shape 9"/>
          <p:cNvSpPr/>
          <p:nvPr/>
        </p:nvSpPr>
        <p:spPr>
          <a:xfrm>
            <a:off x="8010144" y="2999232"/>
            <a:ext cx="3246120" cy="914"/>
          </a:xfrm>
          <a:prstGeom prst="line">
            <a:avLst/>
          </a:prstGeom>
          <a:noFill/>
          <a:ln w="25400">
            <a:solidFill>
              <a:srgbClr val="2A5247"/>
            </a:solidFill>
            <a:prstDash val="solid"/>
          </a:ln>
        </p:spPr>
      </p:sp>
      <p:sp>
        <p:nvSpPr>
          <p:cNvPr id="12" name="Text 10"/>
          <p:cNvSpPr txBox="1"/>
          <p:nvPr/>
        </p:nvSpPr>
        <p:spPr>
          <a:xfrm>
            <a:off x="8010144" y="3108960"/>
            <a:ext cx="3429000" cy="822960"/>
          </a:xfrm>
          <a:prstGeom prst="rect">
            <a:avLst/>
          </a:prstGeom>
          <a:noFill/>
          <a:ln/>
        </p:spPr>
        <p:txBody>
          <a:bodyPr wrap="square" lIns="0" tIns="0" rIns="0" bIns="0" rtlCol="0" anchor="ctr"/>
          <a:lstStyle/>
          <a:p>
            <a:pPr indent="0" marL="0">
              <a:lnSpc>
                <a:spcPts val="1600"/>
              </a:lnSpc>
              <a:buNone/>
            </a:pPr>
            <a:r>
              <a:rPr lang="en-US" sz="1150" dirty="0">
                <a:solidFill>
                  <a:srgbClr val="11211C"/>
                </a:solidFill>
              </a:rPr>
              <a:t>sa lëvizi totali mbi dhjetë instanca mes dy ekzekutimeve</a:t>
            </a:r>
            <a:endParaRPr lang="en-US" sz="1150" dirty="0"/>
          </a:p>
        </p:txBody>
      </p:sp>
      <p:sp>
        <p:nvSpPr>
          <p:cNvPr id="13" name="Text 11"/>
          <p:cNvSpPr txBox="1"/>
          <p:nvPr/>
        </p:nvSpPr>
        <p:spPr>
          <a:xfrm>
            <a:off x="566928" y="4133088"/>
            <a:ext cx="6583680" cy="1188720"/>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Baza ndryshon nga vetvetja katërmbëdhjetë herë më shumë se shpërndarja mes seed-ave brenda një ekzekutimi. Dy seed-a në një sesion ndajnë një makinë, një gjendje termike dhe një planifikues; dy sesione nuk ndajnë asgjë nga këto. Figura brenda një ekzekutimi nuk është shirit gabimi, dhe përdorimi i saj si i tillë prodhon rezultate të rreme.</a:t>
            </a:r>
            <a:endParaRPr lang="en-US" sz="1250" dirty="0"/>
          </a:p>
        </p:txBody>
      </p:sp>
      <p:sp>
        <p:nvSpPr>
          <p:cNvPr id="14" name="Shape 12"/>
          <p:cNvSpPr/>
          <p:nvPr/>
        </p:nvSpPr>
        <p:spPr>
          <a:xfrm>
            <a:off x="7406640" y="4078224"/>
            <a:ext cx="4224528" cy="1371600"/>
          </a:xfrm>
          <a:prstGeom prst="roundRect">
            <a:avLst>
              <a:gd name="adj" fmla="val 2667"/>
            </a:avLst>
          </a:prstGeom>
          <a:solidFill>
            <a:srgbClr val="EFF3F1"/>
          </a:solidFill>
          <a:ln w="6350">
            <a:solidFill>
              <a:srgbClr val="EFF3F1"/>
            </a:solidFill>
            <a:prstDash val="solid"/>
          </a:ln>
        </p:spPr>
      </p:sp>
      <p:sp>
        <p:nvSpPr>
          <p:cNvPr id="15" name="Text 13"/>
          <p:cNvSpPr txBox="1"/>
          <p:nvPr/>
        </p:nvSpPr>
        <p:spPr>
          <a:xfrm>
            <a:off x="7644384" y="4224528"/>
            <a:ext cx="3749040" cy="1097280"/>
          </a:xfrm>
          <a:prstGeom prst="rect">
            <a:avLst/>
          </a:prstGeom>
          <a:noFill/>
          <a:ln/>
        </p:spPr>
        <p:txBody>
          <a:bodyPr wrap="square" lIns="0" tIns="0" rIns="0" bIns="0" rtlCol="0" anchor="ctr"/>
          <a:lstStyle/>
          <a:p>
            <a:pPr indent="0" marL="0">
              <a:lnSpc>
                <a:spcPts val="1700"/>
              </a:lnSpc>
              <a:buNone/>
            </a:pPr>
            <a:r>
              <a:rPr lang="en-US" sz="1150" dirty="0">
                <a:solidFill>
                  <a:srgbClr val="11211C"/>
                </a:solidFill>
              </a:rPr>
              <a:t>As dy të fundit nuk janë të këmbyeshme. 21,519 është shumë mbi dhjetë instanca dhe i përket një shume tjetër të tillë; të mbash një rresht të vetëm kundër saj e fryn pragun rreth sa numëri i instancave dhe shpik barazime.</a:t>
            </a:r>
            <a:endParaRPr lang="en-US" sz="11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Gjysma e krahasimit është barazim</a:t>
            </a:r>
            <a:endParaRPr lang="en-US" sz="2600" dirty="0"/>
          </a:p>
        </p:txBody>
      </p:sp>
      <p:sp>
        <p:nvSpPr>
          <p:cNvPr id="3" name="Text 1"/>
          <p:cNvSpPr txBox="1"/>
          <p:nvPr/>
        </p:nvSpPr>
        <p:spPr>
          <a:xfrm>
            <a:off x="566928" y="1261872"/>
            <a:ext cx="10936224" cy="329184"/>
          </a:xfrm>
          <a:prstGeom prst="rect">
            <a:avLst/>
          </a:prstGeom>
          <a:noFill/>
          <a:ln/>
        </p:spPr>
        <p:txBody>
          <a:bodyPr wrap="square" lIns="0" tIns="0" rIns="0" bIns="0" rtlCol="0" anchor="ctr"/>
          <a:lstStyle/>
          <a:p>
            <a:pPr indent="0" marL="0">
              <a:buNone/>
            </a:pPr>
            <a:r>
              <a:rPr lang="en-US" sz="1300" dirty="0">
                <a:solidFill>
                  <a:srgbClr val="11211C"/>
                </a:solidFill>
              </a:rPr>
              <a:t>Diferenca e çdo rreshti mes vendit të parë dhe të dytët, në bosht logaritmik, kundër pragut për instancë.</a:t>
            </a:r>
            <a:endParaRPr lang="en-US" sz="1300" dirty="0"/>
          </a:p>
        </p:txBody>
      </p:sp>
      <p:sp>
        <p:nvSpPr>
          <p:cNvPr id="4" name="Shape 2"/>
          <p:cNvSpPr/>
          <p:nvPr/>
        </p:nvSpPr>
        <p:spPr>
          <a:xfrm>
            <a:off x="1389888" y="4078224"/>
            <a:ext cx="10058400" cy="914"/>
          </a:xfrm>
          <a:prstGeom prst="line">
            <a:avLst/>
          </a:prstGeom>
          <a:noFill/>
          <a:ln w="12700">
            <a:solidFill>
              <a:srgbClr val="11211C"/>
            </a:solidFill>
            <a:prstDash val="solid"/>
          </a:ln>
        </p:spPr>
      </p:sp>
      <p:sp>
        <p:nvSpPr>
          <p:cNvPr id="5" name="Shape 3"/>
          <p:cNvSpPr/>
          <p:nvPr/>
        </p:nvSpPr>
        <p:spPr>
          <a:xfrm>
            <a:off x="1389888" y="4078224"/>
            <a:ext cx="914" cy="109728"/>
          </a:xfrm>
          <a:prstGeom prst="line">
            <a:avLst/>
          </a:prstGeom>
          <a:noFill/>
          <a:ln w="10160">
            <a:solidFill>
              <a:srgbClr val="6B7A75"/>
            </a:solidFill>
            <a:prstDash val="solid"/>
          </a:ln>
        </p:spPr>
      </p:sp>
      <p:sp>
        <p:nvSpPr>
          <p:cNvPr id="6" name="Text 4"/>
          <p:cNvSpPr txBox="1"/>
          <p:nvPr/>
        </p:nvSpPr>
        <p:spPr>
          <a:xfrm>
            <a:off x="932688" y="4224528"/>
            <a:ext cx="914400" cy="201168"/>
          </a:xfrm>
          <a:prstGeom prst="rect">
            <a:avLst/>
          </a:prstGeom>
          <a:noFill/>
          <a:ln/>
        </p:spPr>
        <p:txBody>
          <a:bodyPr wrap="square" lIns="0" tIns="0" rIns="0" bIns="0" rtlCol="0" anchor="ctr"/>
          <a:lstStyle/>
          <a:p>
            <a:pPr algn="ctr" indent="0" marL="0">
              <a:buNone/>
            </a:pPr>
            <a:r>
              <a:rPr lang="en-US" sz="900" dirty="0">
                <a:solidFill>
                  <a:srgbClr val="6B7A75"/>
                </a:solidFill>
              </a:rPr>
              <a:t>100</a:t>
            </a:r>
            <a:endParaRPr lang="en-US" sz="900" dirty="0"/>
          </a:p>
        </p:txBody>
      </p:sp>
      <p:sp>
        <p:nvSpPr>
          <p:cNvPr id="7" name="Shape 5"/>
          <p:cNvSpPr/>
          <p:nvPr/>
        </p:nvSpPr>
        <p:spPr>
          <a:xfrm>
            <a:off x="4036835" y="4078224"/>
            <a:ext cx="914" cy="109728"/>
          </a:xfrm>
          <a:prstGeom prst="line">
            <a:avLst/>
          </a:prstGeom>
          <a:noFill/>
          <a:ln w="10160">
            <a:solidFill>
              <a:srgbClr val="6B7A75"/>
            </a:solidFill>
            <a:prstDash val="solid"/>
          </a:ln>
        </p:spPr>
      </p:sp>
      <p:sp>
        <p:nvSpPr>
          <p:cNvPr id="8" name="Text 6"/>
          <p:cNvSpPr txBox="1"/>
          <p:nvPr/>
        </p:nvSpPr>
        <p:spPr>
          <a:xfrm>
            <a:off x="3579635" y="4224528"/>
            <a:ext cx="914400" cy="201168"/>
          </a:xfrm>
          <a:prstGeom prst="rect">
            <a:avLst/>
          </a:prstGeom>
          <a:noFill/>
          <a:ln/>
        </p:spPr>
        <p:txBody>
          <a:bodyPr wrap="square" lIns="0" tIns="0" rIns="0" bIns="0" rtlCol="0" anchor="ctr"/>
          <a:lstStyle/>
          <a:p>
            <a:pPr algn="ctr" indent="0" marL="0">
              <a:buNone/>
            </a:pPr>
            <a:r>
              <a:rPr lang="en-US" sz="900" dirty="0">
                <a:solidFill>
                  <a:srgbClr val="6B7A75"/>
                </a:solidFill>
              </a:rPr>
              <a:t>1,000</a:t>
            </a:r>
            <a:endParaRPr lang="en-US" sz="900" dirty="0"/>
          </a:p>
        </p:txBody>
      </p:sp>
      <p:sp>
        <p:nvSpPr>
          <p:cNvPr id="9" name="Shape 7"/>
          <p:cNvSpPr/>
          <p:nvPr/>
        </p:nvSpPr>
        <p:spPr>
          <a:xfrm>
            <a:off x="6683783" y="4078224"/>
            <a:ext cx="914" cy="109728"/>
          </a:xfrm>
          <a:prstGeom prst="line">
            <a:avLst/>
          </a:prstGeom>
          <a:noFill/>
          <a:ln w="10160">
            <a:solidFill>
              <a:srgbClr val="6B7A75"/>
            </a:solidFill>
            <a:prstDash val="solid"/>
          </a:ln>
        </p:spPr>
      </p:sp>
      <p:sp>
        <p:nvSpPr>
          <p:cNvPr id="10" name="Text 8"/>
          <p:cNvSpPr txBox="1"/>
          <p:nvPr/>
        </p:nvSpPr>
        <p:spPr>
          <a:xfrm>
            <a:off x="6226583" y="4224528"/>
            <a:ext cx="914400" cy="201168"/>
          </a:xfrm>
          <a:prstGeom prst="rect">
            <a:avLst/>
          </a:prstGeom>
          <a:noFill/>
          <a:ln/>
        </p:spPr>
        <p:txBody>
          <a:bodyPr wrap="square" lIns="0" tIns="0" rIns="0" bIns="0" rtlCol="0" anchor="ctr"/>
          <a:lstStyle/>
          <a:p>
            <a:pPr algn="ctr" indent="0" marL="0">
              <a:buNone/>
            </a:pPr>
            <a:r>
              <a:rPr lang="en-US" sz="900" dirty="0">
                <a:solidFill>
                  <a:srgbClr val="6B7A75"/>
                </a:solidFill>
              </a:rPr>
              <a:t>10,000</a:t>
            </a:r>
            <a:endParaRPr lang="en-US" sz="900" dirty="0"/>
          </a:p>
        </p:txBody>
      </p:sp>
      <p:sp>
        <p:nvSpPr>
          <p:cNvPr id="11" name="Shape 9"/>
          <p:cNvSpPr/>
          <p:nvPr/>
        </p:nvSpPr>
        <p:spPr>
          <a:xfrm>
            <a:off x="9330730" y="4078224"/>
            <a:ext cx="914" cy="109728"/>
          </a:xfrm>
          <a:prstGeom prst="line">
            <a:avLst/>
          </a:prstGeom>
          <a:noFill/>
          <a:ln w="10160">
            <a:solidFill>
              <a:srgbClr val="6B7A75"/>
            </a:solidFill>
            <a:prstDash val="solid"/>
          </a:ln>
        </p:spPr>
      </p:sp>
      <p:sp>
        <p:nvSpPr>
          <p:cNvPr id="12" name="Text 10"/>
          <p:cNvSpPr txBox="1"/>
          <p:nvPr/>
        </p:nvSpPr>
        <p:spPr>
          <a:xfrm>
            <a:off x="8873530" y="4224528"/>
            <a:ext cx="914400" cy="201168"/>
          </a:xfrm>
          <a:prstGeom prst="rect">
            <a:avLst/>
          </a:prstGeom>
          <a:noFill/>
          <a:ln/>
        </p:spPr>
        <p:txBody>
          <a:bodyPr wrap="square" lIns="0" tIns="0" rIns="0" bIns="0" rtlCol="0" anchor="ctr"/>
          <a:lstStyle/>
          <a:p>
            <a:pPr algn="ctr" indent="0" marL="0">
              <a:buNone/>
            </a:pPr>
            <a:r>
              <a:rPr lang="en-US" sz="900" dirty="0">
                <a:solidFill>
                  <a:srgbClr val="6B7A75"/>
                </a:solidFill>
              </a:rPr>
              <a:t>100,000</a:t>
            </a:r>
            <a:endParaRPr lang="en-US" sz="900" dirty="0"/>
          </a:p>
        </p:txBody>
      </p:sp>
      <p:sp>
        <p:nvSpPr>
          <p:cNvPr id="13" name="Shape 11"/>
          <p:cNvSpPr/>
          <p:nvPr/>
        </p:nvSpPr>
        <p:spPr>
          <a:xfrm>
            <a:off x="6410039" y="1993392"/>
            <a:ext cx="914" cy="2103120"/>
          </a:xfrm>
          <a:prstGeom prst="line">
            <a:avLst/>
          </a:prstGeom>
          <a:noFill/>
          <a:ln w="22860">
            <a:solidFill>
              <a:srgbClr val="C0603C"/>
            </a:solidFill>
            <a:prstDash val="dash"/>
          </a:ln>
        </p:spPr>
      </p:sp>
      <p:sp>
        <p:nvSpPr>
          <p:cNvPr id="14" name="Text 12"/>
          <p:cNvSpPr txBox="1"/>
          <p:nvPr/>
        </p:nvSpPr>
        <p:spPr>
          <a:xfrm>
            <a:off x="5038439" y="1719072"/>
            <a:ext cx="2743200" cy="219456"/>
          </a:xfrm>
          <a:prstGeom prst="rect">
            <a:avLst/>
          </a:prstGeom>
          <a:noFill/>
          <a:ln/>
        </p:spPr>
        <p:txBody>
          <a:bodyPr wrap="square" lIns="0" tIns="0" rIns="0" bIns="0" rtlCol="0" anchor="ctr"/>
          <a:lstStyle/>
          <a:p>
            <a:pPr algn="ctr" indent="0" marL="0">
              <a:buNone/>
            </a:pPr>
            <a:r>
              <a:rPr lang="en-US" sz="1050" b="1" dirty="0">
                <a:solidFill>
                  <a:srgbClr val="C0603C"/>
                </a:solidFill>
              </a:rPr>
              <a:t>pragu 7,881 HV</a:t>
            </a:r>
            <a:endParaRPr lang="en-US" sz="1050" dirty="0"/>
          </a:p>
        </p:txBody>
      </p:sp>
      <p:sp>
        <p:nvSpPr>
          <p:cNvPr id="15" name="Shape 13"/>
          <p:cNvSpPr/>
          <p:nvPr/>
        </p:nvSpPr>
        <p:spPr>
          <a:xfrm>
            <a:off x="2019984" y="3813048"/>
            <a:ext cx="914" cy="237744"/>
          </a:xfrm>
          <a:prstGeom prst="line">
            <a:avLst/>
          </a:prstGeom>
          <a:noFill/>
          <a:ln w="11430">
            <a:solidFill>
              <a:srgbClr val="C0603C"/>
            </a:solidFill>
            <a:prstDash val="solid"/>
          </a:ln>
        </p:spPr>
      </p:sp>
      <p:sp>
        <p:nvSpPr>
          <p:cNvPr id="16" name="Shape 14"/>
          <p:cNvSpPr/>
          <p:nvPr/>
        </p:nvSpPr>
        <p:spPr>
          <a:xfrm>
            <a:off x="1969692" y="3735324"/>
            <a:ext cx="100584" cy="100584"/>
          </a:xfrm>
          <a:prstGeom prst="ellipse">
            <a:avLst/>
          </a:prstGeom>
          <a:solidFill>
            <a:srgbClr val="C0603C"/>
          </a:solidFill>
          <a:ln w="6350">
            <a:solidFill>
              <a:srgbClr val="C0603C"/>
            </a:solidFill>
            <a:prstDash val="solid"/>
          </a:ln>
        </p:spPr>
      </p:sp>
      <p:sp>
        <p:nvSpPr>
          <p:cNvPr id="17" name="Text 15"/>
          <p:cNvSpPr txBox="1"/>
          <p:nvPr/>
        </p:nvSpPr>
        <p:spPr>
          <a:xfrm>
            <a:off x="-46560" y="3602736"/>
            <a:ext cx="2011680" cy="219456"/>
          </a:xfrm>
          <a:prstGeom prst="rect">
            <a:avLst/>
          </a:prstGeom>
          <a:noFill/>
          <a:ln/>
        </p:spPr>
        <p:txBody>
          <a:bodyPr wrap="square" lIns="0" tIns="0" rIns="0" bIns="0" rtlCol="0" anchor="ctr"/>
          <a:lstStyle/>
          <a:p>
            <a:pPr algn="r" indent="0" marL="0">
              <a:buNone/>
            </a:pPr>
            <a:r>
              <a:rPr lang="en-US" sz="950" b="1" dirty="0">
                <a:solidFill>
                  <a:srgbClr val="C0603C"/>
                </a:solidFill>
              </a:rPr>
              <a:t>synth-2  173</a:t>
            </a:r>
            <a:endParaRPr lang="en-US" sz="950" dirty="0"/>
          </a:p>
        </p:txBody>
      </p:sp>
      <p:sp>
        <p:nvSpPr>
          <p:cNvPr id="18" name="Shape 16"/>
          <p:cNvSpPr/>
          <p:nvPr/>
        </p:nvSpPr>
        <p:spPr>
          <a:xfrm>
            <a:off x="4263539" y="3474720"/>
            <a:ext cx="914" cy="576072"/>
          </a:xfrm>
          <a:prstGeom prst="line">
            <a:avLst/>
          </a:prstGeom>
          <a:noFill/>
          <a:ln w="11430">
            <a:solidFill>
              <a:srgbClr val="C0603C"/>
            </a:solidFill>
            <a:prstDash val="solid"/>
          </a:ln>
        </p:spPr>
      </p:sp>
      <p:sp>
        <p:nvSpPr>
          <p:cNvPr id="19" name="Shape 17"/>
          <p:cNvSpPr/>
          <p:nvPr/>
        </p:nvSpPr>
        <p:spPr>
          <a:xfrm>
            <a:off x="4213247" y="3396996"/>
            <a:ext cx="100584" cy="100584"/>
          </a:xfrm>
          <a:prstGeom prst="ellipse">
            <a:avLst/>
          </a:prstGeom>
          <a:solidFill>
            <a:srgbClr val="C0603C"/>
          </a:solidFill>
          <a:ln w="6350">
            <a:solidFill>
              <a:srgbClr val="C0603C"/>
            </a:solidFill>
            <a:prstDash val="solid"/>
          </a:ln>
        </p:spPr>
      </p:sp>
      <p:sp>
        <p:nvSpPr>
          <p:cNvPr id="20" name="Text 18"/>
          <p:cNvSpPr txBox="1"/>
          <p:nvPr/>
        </p:nvSpPr>
        <p:spPr>
          <a:xfrm>
            <a:off x="2196995" y="3264408"/>
            <a:ext cx="2011680" cy="219456"/>
          </a:xfrm>
          <a:prstGeom prst="rect">
            <a:avLst/>
          </a:prstGeom>
          <a:noFill/>
          <a:ln/>
        </p:spPr>
        <p:txBody>
          <a:bodyPr wrap="square" lIns="0" tIns="0" rIns="0" bIns="0" rtlCol="0" anchor="ctr"/>
          <a:lstStyle/>
          <a:p>
            <a:pPr algn="r" indent="0" marL="0">
              <a:buNone/>
            </a:pPr>
            <a:r>
              <a:rPr lang="en-US" sz="950" b="1" dirty="0">
                <a:solidFill>
                  <a:srgbClr val="C0603C"/>
                </a:solidFill>
              </a:rPr>
              <a:t>synth-3  1,218</a:t>
            </a:r>
            <a:endParaRPr lang="en-US" sz="950" dirty="0"/>
          </a:p>
        </p:txBody>
      </p:sp>
      <p:sp>
        <p:nvSpPr>
          <p:cNvPr id="21" name="Shape 19"/>
          <p:cNvSpPr/>
          <p:nvPr/>
        </p:nvSpPr>
        <p:spPr>
          <a:xfrm>
            <a:off x="4398728" y="3136392"/>
            <a:ext cx="914" cy="914400"/>
          </a:xfrm>
          <a:prstGeom prst="line">
            <a:avLst/>
          </a:prstGeom>
          <a:noFill/>
          <a:ln w="11430">
            <a:solidFill>
              <a:srgbClr val="C0603C"/>
            </a:solidFill>
            <a:prstDash val="solid"/>
          </a:ln>
        </p:spPr>
      </p:sp>
      <p:sp>
        <p:nvSpPr>
          <p:cNvPr id="22" name="Shape 20"/>
          <p:cNvSpPr/>
          <p:nvPr/>
        </p:nvSpPr>
        <p:spPr>
          <a:xfrm>
            <a:off x="4348436" y="3058668"/>
            <a:ext cx="100584" cy="100584"/>
          </a:xfrm>
          <a:prstGeom prst="ellipse">
            <a:avLst/>
          </a:prstGeom>
          <a:solidFill>
            <a:srgbClr val="C0603C"/>
          </a:solidFill>
          <a:ln w="6350">
            <a:solidFill>
              <a:srgbClr val="C0603C"/>
            </a:solidFill>
            <a:prstDash val="solid"/>
          </a:ln>
        </p:spPr>
      </p:sp>
      <p:sp>
        <p:nvSpPr>
          <p:cNvPr id="23" name="Text 21"/>
          <p:cNvSpPr txBox="1"/>
          <p:nvPr/>
        </p:nvSpPr>
        <p:spPr>
          <a:xfrm>
            <a:off x="2332184" y="2926080"/>
            <a:ext cx="2011680" cy="219456"/>
          </a:xfrm>
          <a:prstGeom prst="rect">
            <a:avLst/>
          </a:prstGeom>
          <a:noFill/>
          <a:ln/>
        </p:spPr>
        <p:txBody>
          <a:bodyPr wrap="square" lIns="0" tIns="0" rIns="0" bIns="0" rtlCol="0" anchor="ctr"/>
          <a:lstStyle/>
          <a:p>
            <a:pPr algn="r" indent="0" marL="0">
              <a:buNone/>
            </a:pPr>
            <a:r>
              <a:rPr lang="en-US" sz="950" b="1" dirty="0">
                <a:solidFill>
                  <a:srgbClr val="C0603C"/>
                </a:solidFill>
              </a:rPr>
              <a:t>synth-1  1,370</a:t>
            </a:r>
            <a:endParaRPr lang="en-US" sz="950" dirty="0"/>
          </a:p>
        </p:txBody>
      </p:sp>
      <p:sp>
        <p:nvSpPr>
          <p:cNvPr id="24" name="Shape 22"/>
          <p:cNvSpPr/>
          <p:nvPr/>
        </p:nvSpPr>
        <p:spPr>
          <a:xfrm>
            <a:off x="6098858" y="2798064"/>
            <a:ext cx="914" cy="1252728"/>
          </a:xfrm>
          <a:prstGeom prst="line">
            <a:avLst/>
          </a:prstGeom>
          <a:noFill/>
          <a:ln w="11430">
            <a:solidFill>
              <a:srgbClr val="C0603C"/>
            </a:solidFill>
            <a:prstDash val="solid"/>
          </a:ln>
        </p:spPr>
      </p:sp>
      <p:sp>
        <p:nvSpPr>
          <p:cNvPr id="25" name="Shape 23"/>
          <p:cNvSpPr/>
          <p:nvPr/>
        </p:nvSpPr>
        <p:spPr>
          <a:xfrm>
            <a:off x="6048566" y="2720340"/>
            <a:ext cx="100584" cy="100584"/>
          </a:xfrm>
          <a:prstGeom prst="ellipse">
            <a:avLst/>
          </a:prstGeom>
          <a:solidFill>
            <a:srgbClr val="C0603C"/>
          </a:solidFill>
          <a:ln w="6350">
            <a:solidFill>
              <a:srgbClr val="C0603C"/>
            </a:solidFill>
            <a:prstDash val="solid"/>
          </a:ln>
        </p:spPr>
      </p:sp>
      <p:sp>
        <p:nvSpPr>
          <p:cNvPr id="26" name="Text 24"/>
          <p:cNvSpPr txBox="1"/>
          <p:nvPr/>
        </p:nvSpPr>
        <p:spPr>
          <a:xfrm>
            <a:off x="4032314" y="2587752"/>
            <a:ext cx="2011680" cy="219456"/>
          </a:xfrm>
          <a:prstGeom prst="rect">
            <a:avLst/>
          </a:prstGeom>
          <a:noFill/>
          <a:ln/>
        </p:spPr>
        <p:txBody>
          <a:bodyPr wrap="square" lIns="0" tIns="0" rIns="0" bIns="0" rtlCol="0" anchor="ctr"/>
          <a:lstStyle/>
          <a:p>
            <a:pPr algn="r" indent="0" marL="0">
              <a:buNone/>
            </a:pPr>
            <a:r>
              <a:rPr lang="en-US" sz="950" b="1" dirty="0">
                <a:solidFill>
                  <a:srgbClr val="C0603C"/>
                </a:solidFill>
              </a:rPr>
              <a:t>synth-4  6,012</a:t>
            </a:r>
            <a:endParaRPr lang="en-US" sz="950" dirty="0"/>
          </a:p>
        </p:txBody>
      </p:sp>
      <p:sp>
        <p:nvSpPr>
          <p:cNvPr id="27" name="Shape 25"/>
          <p:cNvSpPr/>
          <p:nvPr/>
        </p:nvSpPr>
        <p:spPr>
          <a:xfrm>
            <a:off x="6207518" y="2459736"/>
            <a:ext cx="914" cy="1591056"/>
          </a:xfrm>
          <a:prstGeom prst="line">
            <a:avLst/>
          </a:prstGeom>
          <a:noFill/>
          <a:ln w="11430">
            <a:solidFill>
              <a:srgbClr val="C0603C"/>
            </a:solidFill>
            <a:prstDash val="solid"/>
          </a:ln>
        </p:spPr>
      </p:sp>
      <p:sp>
        <p:nvSpPr>
          <p:cNvPr id="28" name="Shape 26"/>
          <p:cNvSpPr/>
          <p:nvPr/>
        </p:nvSpPr>
        <p:spPr>
          <a:xfrm>
            <a:off x="6157226" y="2382012"/>
            <a:ext cx="100584" cy="100584"/>
          </a:xfrm>
          <a:prstGeom prst="ellipse">
            <a:avLst/>
          </a:prstGeom>
          <a:solidFill>
            <a:srgbClr val="C0603C"/>
          </a:solidFill>
          <a:ln w="6350">
            <a:solidFill>
              <a:srgbClr val="C0603C"/>
            </a:solidFill>
            <a:prstDash val="solid"/>
          </a:ln>
        </p:spPr>
      </p:sp>
      <p:sp>
        <p:nvSpPr>
          <p:cNvPr id="29" name="Text 27"/>
          <p:cNvSpPr txBox="1"/>
          <p:nvPr/>
        </p:nvSpPr>
        <p:spPr>
          <a:xfrm>
            <a:off x="4140974" y="2249424"/>
            <a:ext cx="2011680" cy="219456"/>
          </a:xfrm>
          <a:prstGeom prst="rect">
            <a:avLst/>
          </a:prstGeom>
          <a:noFill/>
          <a:ln/>
        </p:spPr>
        <p:txBody>
          <a:bodyPr wrap="square" lIns="0" tIns="0" rIns="0" bIns="0" rtlCol="0" anchor="ctr"/>
          <a:lstStyle/>
          <a:p>
            <a:pPr algn="r" indent="0" marL="0">
              <a:buNone/>
            </a:pPr>
            <a:r>
              <a:rPr lang="en-US" sz="950" b="1" dirty="0">
                <a:solidFill>
                  <a:srgbClr val="C0603C"/>
                </a:solidFill>
              </a:rPr>
              <a:t>small-graph  6,608</a:t>
            </a:r>
            <a:endParaRPr lang="en-US" sz="950" dirty="0"/>
          </a:p>
        </p:txBody>
      </p:sp>
      <p:sp>
        <p:nvSpPr>
          <p:cNvPr id="30" name="Shape 28"/>
          <p:cNvSpPr/>
          <p:nvPr/>
        </p:nvSpPr>
        <p:spPr>
          <a:xfrm>
            <a:off x="7112500" y="3813048"/>
            <a:ext cx="914" cy="237744"/>
          </a:xfrm>
          <a:prstGeom prst="line">
            <a:avLst/>
          </a:prstGeom>
          <a:noFill/>
          <a:ln w="11430">
            <a:solidFill>
              <a:srgbClr val="3E8E72"/>
            </a:solidFill>
            <a:prstDash val="solid"/>
          </a:ln>
        </p:spPr>
      </p:sp>
      <p:sp>
        <p:nvSpPr>
          <p:cNvPr id="31" name="Shape 29"/>
          <p:cNvSpPr/>
          <p:nvPr/>
        </p:nvSpPr>
        <p:spPr>
          <a:xfrm>
            <a:off x="7062208" y="3735324"/>
            <a:ext cx="100584" cy="100584"/>
          </a:xfrm>
          <a:prstGeom prst="ellipse">
            <a:avLst/>
          </a:prstGeom>
          <a:solidFill>
            <a:srgbClr val="3E8E72"/>
          </a:solidFill>
          <a:ln w="6350">
            <a:solidFill>
              <a:srgbClr val="3E8E72"/>
            </a:solidFill>
            <a:prstDash val="solid"/>
          </a:ln>
        </p:spPr>
      </p:sp>
      <p:sp>
        <p:nvSpPr>
          <p:cNvPr id="32" name="Text 30"/>
          <p:cNvSpPr txBox="1"/>
          <p:nvPr/>
        </p:nvSpPr>
        <p:spPr>
          <a:xfrm>
            <a:off x="7021060" y="3602736"/>
            <a:ext cx="2011680" cy="219456"/>
          </a:xfrm>
          <a:prstGeom prst="rect">
            <a:avLst/>
          </a:prstGeom>
          <a:noFill/>
          <a:ln/>
        </p:spPr>
        <p:txBody>
          <a:bodyPr wrap="square" lIns="0" tIns="0" rIns="0" bIns="0" rtlCol="0" anchor="ctr"/>
          <a:lstStyle/>
          <a:p>
            <a:pPr algn="l" indent="0" marL="0">
              <a:buNone/>
            </a:pPr>
            <a:r>
              <a:rPr lang="en-US" sz="950" b="1" dirty="0">
                <a:solidFill>
                  <a:srgbClr val="3E8E72"/>
                </a:solidFill>
              </a:rPr>
              <a:t>synth-5  14,520</a:t>
            </a:r>
            <a:endParaRPr lang="en-US" sz="950" dirty="0"/>
          </a:p>
        </p:txBody>
      </p:sp>
      <p:sp>
        <p:nvSpPr>
          <p:cNvPr id="33" name="Shape 31"/>
          <p:cNvSpPr/>
          <p:nvPr/>
        </p:nvSpPr>
        <p:spPr>
          <a:xfrm>
            <a:off x="7438506" y="3474720"/>
            <a:ext cx="914" cy="576072"/>
          </a:xfrm>
          <a:prstGeom prst="line">
            <a:avLst/>
          </a:prstGeom>
          <a:noFill/>
          <a:ln w="11430">
            <a:solidFill>
              <a:srgbClr val="3E8E72"/>
            </a:solidFill>
            <a:prstDash val="solid"/>
          </a:ln>
        </p:spPr>
      </p:sp>
      <p:sp>
        <p:nvSpPr>
          <p:cNvPr id="34" name="Shape 32"/>
          <p:cNvSpPr/>
          <p:nvPr/>
        </p:nvSpPr>
        <p:spPr>
          <a:xfrm>
            <a:off x="7388214" y="3396996"/>
            <a:ext cx="100584" cy="100584"/>
          </a:xfrm>
          <a:prstGeom prst="ellipse">
            <a:avLst/>
          </a:prstGeom>
          <a:solidFill>
            <a:srgbClr val="3E8E72"/>
          </a:solidFill>
          <a:ln w="6350">
            <a:solidFill>
              <a:srgbClr val="3E8E72"/>
            </a:solidFill>
            <a:prstDash val="solid"/>
          </a:ln>
        </p:spPr>
      </p:sp>
      <p:sp>
        <p:nvSpPr>
          <p:cNvPr id="35" name="Text 33"/>
          <p:cNvSpPr txBox="1"/>
          <p:nvPr/>
        </p:nvSpPr>
        <p:spPr>
          <a:xfrm>
            <a:off x="7347066" y="3264408"/>
            <a:ext cx="2011680" cy="219456"/>
          </a:xfrm>
          <a:prstGeom prst="rect">
            <a:avLst/>
          </a:prstGeom>
          <a:noFill/>
          <a:ln/>
        </p:spPr>
        <p:txBody>
          <a:bodyPr wrap="square" lIns="0" tIns="0" rIns="0" bIns="0" rtlCol="0" anchor="ctr"/>
          <a:lstStyle/>
          <a:p>
            <a:pPr algn="l" indent="0" marL="0">
              <a:buNone/>
            </a:pPr>
            <a:r>
              <a:rPr lang="en-US" sz="950" b="1" dirty="0">
                <a:solidFill>
                  <a:srgbClr val="3E8E72"/>
                </a:solidFill>
              </a:rPr>
              <a:t>medium-graph  19,281</a:t>
            </a:r>
            <a:endParaRPr lang="en-US" sz="950" dirty="0"/>
          </a:p>
        </p:txBody>
      </p:sp>
      <p:sp>
        <p:nvSpPr>
          <p:cNvPr id="36" name="Shape 34"/>
          <p:cNvSpPr/>
          <p:nvPr/>
        </p:nvSpPr>
        <p:spPr>
          <a:xfrm>
            <a:off x="10410314" y="3136392"/>
            <a:ext cx="914" cy="914400"/>
          </a:xfrm>
          <a:prstGeom prst="line">
            <a:avLst/>
          </a:prstGeom>
          <a:noFill/>
          <a:ln w="11430">
            <a:solidFill>
              <a:srgbClr val="3E8E72"/>
            </a:solidFill>
            <a:prstDash val="solid"/>
          </a:ln>
        </p:spPr>
      </p:sp>
      <p:sp>
        <p:nvSpPr>
          <p:cNvPr id="37" name="Shape 35"/>
          <p:cNvSpPr/>
          <p:nvPr/>
        </p:nvSpPr>
        <p:spPr>
          <a:xfrm>
            <a:off x="10360022" y="3058668"/>
            <a:ext cx="100584" cy="100584"/>
          </a:xfrm>
          <a:prstGeom prst="ellipse">
            <a:avLst/>
          </a:prstGeom>
          <a:solidFill>
            <a:srgbClr val="3E8E72"/>
          </a:solidFill>
          <a:ln w="6350">
            <a:solidFill>
              <a:srgbClr val="3E8E72"/>
            </a:solidFill>
            <a:prstDash val="solid"/>
          </a:ln>
        </p:spPr>
      </p:sp>
      <p:sp>
        <p:nvSpPr>
          <p:cNvPr id="38" name="Text 36"/>
          <p:cNvSpPr txBox="1"/>
          <p:nvPr/>
        </p:nvSpPr>
        <p:spPr>
          <a:xfrm>
            <a:off x="10318874" y="2926080"/>
            <a:ext cx="2011680" cy="219456"/>
          </a:xfrm>
          <a:prstGeom prst="rect">
            <a:avLst/>
          </a:prstGeom>
          <a:noFill/>
          <a:ln/>
        </p:spPr>
        <p:txBody>
          <a:bodyPr wrap="square" lIns="0" tIns="0" rIns="0" bIns="0" rtlCol="0" anchor="ctr"/>
          <a:lstStyle/>
          <a:p>
            <a:pPr algn="l" indent="0" marL="0">
              <a:buNone/>
            </a:pPr>
            <a:r>
              <a:rPr lang="en-US" sz="950" b="1" dirty="0">
                <a:solidFill>
                  <a:srgbClr val="3E8E72"/>
                </a:solidFill>
              </a:rPr>
              <a:t>synth-6  255,776</a:t>
            </a:r>
            <a:endParaRPr lang="en-US" sz="950" dirty="0"/>
          </a:p>
        </p:txBody>
      </p:sp>
      <p:sp>
        <p:nvSpPr>
          <p:cNvPr id="39" name="Shape 37"/>
          <p:cNvSpPr/>
          <p:nvPr/>
        </p:nvSpPr>
        <p:spPr>
          <a:xfrm>
            <a:off x="10646234" y="2798064"/>
            <a:ext cx="914" cy="1252728"/>
          </a:xfrm>
          <a:prstGeom prst="line">
            <a:avLst/>
          </a:prstGeom>
          <a:noFill/>
          <a:ln w="11430">
            <a:solidFill>
              <a:srgbClr val="3E8E72"/>
            </a:solidFill>
            <a:prstDash val="solid"/>
          </a:ln>
        </p:spPr>
      </p:sp>
      <p:sp>
        <p:nvSpPr>
          <p:cNvPr id="40" name="Shape 38"/>
          <p:cNvSpPr/>
          <p:nvPr/>
        </p:nvSpPr>
        <p:spPr>
          <a:xfrm>
            <a:off x="10595942" y="2720340"/>
            <a:ext cx="100584" cy="100584"/>
          </a:xfrm>
          <a:prstGeom prst="ellipse">
            <a:avLst/>
          </a:prstGeom>
          <a:solidFill>
            <a:srgbClr val="3E8E72"/>
          </a:solidFill>
          <a:ln w="6350">
            <a:solidFill>
              <a:srgbClr val="3E8E72"/>
            </a:solidFill>
            <a:prstDash val="solid"/>
          </a:ln>
        </p:spPr>
      </p:sp>
      <p:sp>
        <p:nvSpPr>
          <p:cNvPr id="41" name="Text 39"/>
          <p:cNvSpPr txBox="1"/>
          <p:nvPr/>
        </p:nvSpPr>
        <p:spPr>
          <a:xfrm>
            <a:off x="10554794" y="2587752"/>
            <a:ext cx="2011680" cy="219456"/>
          </a:xfrm>
          <a:prstGeom prst="rect">
            <a:avLst/>
          </a:prstGeom>
          <a:noFill/>
          <a:ln/>
        </p:spPr>
        <p:txBody>
          <a:bodyPr wrap="square" lIns="0" tIns="0" rIns="0" bIns="0" rtlCol="0" anchor="ctr"/>
          <a:lstStyle/>
          <a:p>
            <a:pPr algn="l" indent="0" marL="0">
              <a:buNone/>
            </a:pPr>
            <a:r>
              <a:rPr lang="en-US" sz="950" b="1" dirty="0">
                <a:solidFill>
                  <a:srgbClr val="3E8E72"/>
                </a:solidFill>
              </a:rPr>
              <a:t>synth-7  314,043</a:t>
            </a:r>
            <a:endParaRPr lang="en-US" sz="950" dirty="0"/>
          </a:p>
        </p:txBody>
      </p:sp>
      <p:sp>
        <p:nvSpPr>
          <p:cNvPr id="42" name="Shape 40"/>
          <p:cNvSpPr/>
          <p:nvPr/>
        </p:nvSpPr>
        <p:spPr>
          <a:xfrm>
            <a:off x="10916062" y="2459736"/>
            <a:ext cx="914" cy="1591056"/>
          </a:xfrm>
          <a:prstGeom prst="line">
            <a:avLst/>
          </a:prstGeom>
          <a:noFill/>
          <a:ln w="11430">
            <a:solidFill>
              <a:srgbClr val="3E8E72"/>
            </a:solidFill>
            <a:prstDash val="solid"/>
          </a:ln>
        </p:spPr>
      </p:sp>
      <p:sp>
        <p:nvSpPr>
          <p:cNvPr id="43" name="Shape 41"/>
          <p:cNvSpPr/>
          <p:nvPr/>
        </p:nvSpPr>
        <p:spPr>
          <a:xfrm>
            <a:off x="10865770" y="2382012"/>
            <a:ext cx="100584" cy="100584"/>
          </a:xfrm>
          <a:prstGeom prst="ellipse">
            <a:avLst/>
          </a:prstGeom>
          <a:solidFill>
            <a:srgbClr val="3E8E72"/>
          </a:solidFill>
          <a:ln w="6350">
            <a:solidFill>
              <a:srgbClr val="3E8E72"/>
            </a:solidFill>
            <a:prstDash val="solid"/>
          </a:ln>
        </p:spPr>
      </p:sp>
      <p:sp>
        <p:nvSpPr>
          <p:cNvPr id="44" name="Text 42"/>
          <p:cNvSpPr txBox="1"/>
          <p:nvPr/>
        </p:nvSpPr>
        <p:spPr>
          <a:xfrm>
            <a:off x="10824622" y="2249424"/>
            <a:ext cx="2011680" cy="219456"/>
          </a:xfrm>
          <a:prstGeom prst="rect">
            <a:avLst/>
          </a:prstGeom>
          <a:noFill/>
          <a:ln/>
        </p:spPr>
        <p:txBody>
          <a:bodyPr wrap="square" lIns="0" tIns="0" rIns="0" bIns="0" rtlCol="0" anchor="ctr"/>
          <a:lstStyle/>
          <a:p>
            <a:pPr algn="l" indent="0" marL="0">
              <a:buNone/>
            </a:pPr>
            <a:r>
              <a:rPr lang="en-US" sz="950" b="1" dirty="0">
                <a:solidFill>
                  <a:srgbClr val="3E8E72"/>
                </a:solidFill>
              </a:rPr>
              <a:t>large-graph  397,126</a:t>
            </a:r>
            <a:endParaRPr lang="en-US" sz="950" dirty="0"/>
          </a:p>
        </p:txBody>
      </p:sp>
      <p:sp>
        <p:nvSpPr>
          <p:cNvPr id="45" name="Shape 43"/>
          <p:cNvSpPr/>
          <p:nvPr/>
        </p:nvSpPr>
        <p:spPr>
          <a:xfrm>
            <a:off x="1394460" y="4594860"/>
            <a:ext cx="100584" cy="100584"/>
          </a:xfrm>
          <a:prstGeom prst="ellipse">
            <a:avLst/>
          </a:prstGeom>
          <a:solidFill>
            <a:srgbClr val="C0603C"/>
          </a:solidFill>
          <a:ln w="6350">
            <a:solidFill>
              <a:srgbClr val="C0603C"/>
            </a:solidFill>
            <a:prstDash val="solid"/>
          </a:ln>
        </p:spPr>
      </p:sp>
      <p:sp>
        <p:nvSpPr>
          <p:cNvPr id="46" name="Text 44"/>
          <p:cNvSpPr txBox="1"/>
          <p:nvPr/>
        </p:nvSpPr>
        <p:spPr>
          <a:xfrm>
            <a:off x="1572768" y="4535424"/>
            <a:ext cx="1280160" cy="219456"/>
          </a:xfrm>
          <a:prstGeom prst="rect">
            <a:avLst/>
          </a:prstGeom>
          <a:noFill/>
          <a:ln/>
        </p:spPr>
        <p:txBody>
          <a:bodyPr wrap="square" lIns="0" tIns="0" rIns="0" bIns="0" rtlCol="0" anchor="ctr"/>
          <a:lstStyle/>
          <a:p>
            <a:pPr indent="0" marL="0">
              <a:buNone/>
            </a:pPr>
            <a:r>
              <a:rPr lang="en-US" sz="1000" b="1" dirty="0">
                <a:solidFill>
                  <a:srgbClr val="C0603C"/>
                </a:solidFill>
              </a:rPr>
              <a:t>barazim</a:t>
            </a:r>
            <a:endParaRPr lang="en-US" sz="1000" dirty="0"/>
          </a:p>
        </p:txBody>
      </p:sp>
      <p:sp>
        <p:nvSpPr>
          <p:cNvPr id="47" name="Shape 45"/>
          <p:cNvSpPr/>
          <p:nvPr/>
        </p:nvSpPr>
        <p:spPr>
          <a:xfrm>
            <a:off x="2766060" y="4594860"/>
            <a:ext cx="100584" cy="100584"/>
          </a:xfrm>
          <a:prstGeom prst="ellipse">
            <a:avLst/>
          </a:prstGeom>
          <a:solidFill>
            <a:srgbClr val="3E8E72"/>
          </a:solidFill>
          <a:ln w="6350">
            <a:solidFill>
              <a:srgbClr val="3E8E72"/>
            </a:solidFill>
            <a:prstDash val="solid"/>
          </a:ln>
        </p:spPr>
      </p:sp>
      <p:sp>
        <p:nvSpPr>
          <p:cNvPr id="48" name="Text 46"/>
          <p:cNvSpPr txBox="1"/>
          <p:nvPr/>
        </p:nvSpPr>
        <p:spPr>
          <a:xfrm>
            <a:off x="2944368" y="4535424"/>
            <a:ext cx="1280160" cy="219456"/>
          </a:xfrm>
          <a:prstGeom prst="rect">
            <a:avLst/>
          </a:prstGeom>
          <a:noFill/>
          <a:ln/>
        </p:spPr>
        <p:txBody>
          <a:bodyPr wrap="square" lIns="0" tIns="0" rIns="0" bIns="0" rtlCol="0" anchor="ctr"/>
          <a:lstStyle/>
          <a:p>
            <a:pPr indent="0" marL="0">
              <a:buNone/>
            </a:pPr>
            <a:r>
              <a:rPr lang="en-US" sz="1000" b="1" dirty="0">
                <a:solidFill>
                  <a:srgbClr val="3E8E72"/>
                </a:solidFill>
              </a:rPr>
              <a:t>të ndara</a:t>
            </a:r>
            <a:endParaRPr lang="en-US" sz="1000" dirty="0"/>
          </a:p>
        </p:txBody>
      </p:sp>
      <p:sp>
        <p:nvSpPr>
          <p:cNvPr id="49" name="Text 47"/>
          <p:cNvSpPr txBox="1"/>
          <p:nvPr/>
        </p:nvSpPr>
        <p:spPr>
          <a:xfrm>
            <a:off x="566928" y="4992624"/>
            <a:ext cx="5669280" cy="822960"/>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Në pesë nga dhjetë rreshtat fituesi i emëruar fitoi me më pak se sa ndryshon metoda referente nga vetvetja. Tabela emëron një metodë më të mirë në çdo rresht; ajo mbështet një renditje në pesë.</a:t>
            </a:r>
            <a:endParaRPr lang="en-US" sz="1200" dirty="0"/>
          </a:p>
        </p:txBody>
      </p:sp>
      <p:sp>
        <p:nvSpPr>
          <p:cNvPr id="50" name="Shape 48"/>
          <p:cNvSpPr/>
          <p:nvPr/>
        </p:nvSpPr>
        <p:spPr>
          <a:xfrm>
            <a:off x="6492240" y="4937760"/>
            <a:ext cx="5138928" cy="914400"/>
          </a:xfrm>
          <a:prstGeom prst="roundRect">
            <a:avLst>
              <a:gd name="adj" fmla="val 4000"/>
            </a:avLst>
          </a:prstGeom>
          <a:solidFill>
            <a:srgbClr val="EFF3F1"/>
          </a:solidFill>
          <a:ln w="6350">
            <a:solidFill>
              <a:srgbClr val="EFF3F1"/>
            </a:solidFill>
            <a:prstDash val="solid"/>
          </a:ln>
        </p:spPr>
      </p:sp>
      <p:sp>
        <p:nvSpPr>
          <p:cNvPr id="51" name="Text 49"/>
          <p:cNvSpPr txBox="1"/>
          <p:nvPr/>
        </p:nvSpPr>
        <p:spPr>
          <a:xfrm>
            <a:off x="6729984" y="5084064"/>
            <a:ext cx="4663440" cy="713232"/>
          </a:xfrm>
          <a:prstGeom prst="rect">
            <a:avLst/>
          </a:prstGeom>
          <a:noFill/>
          <a:ln/>
        </p:spPr>
        <p:txBody>
          <a:bodyPr wrap="square" lIns="0" tIns="0" rIns="0" bIns="0" rtlCol="0" anchor="ctr"/>
          <a:lstStyle/>
          <a:p>
            <a:pPr indent="0" marL="0">
              <a:lnSpc>
                <a:spcPts val="1700"/>
              </a:lnSpc>
              <a:buNone/>
            </a:pPr>
            <a:r>
              <a:rPr lang="en-US" sz="1150" dirty="0">
                <a:solidFill>
                  <a:srgbClr val="11211C"/>
                </a:solidFill>
              </a:rPr>
              <a:t>Vëreni cilët rreshta mbijetojnë. Çdo rresht i ndarë është ose instancë e dendur ose njëra nga dy rilidhjet e medium-graph: pikërisht instancat ku ka ende hapësirë nën kufi.</a:t>
            </a:r>
            <a:endParaRPr lang="en-US" sz="11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Cila përbërëse e kërkimit lokal e bën punën</a:t>
            </a:r>
            <a:endParaRPr lang="en-US" sz="2600" dirty="0"/>
          </a:p>
        </p:txBody>
      </p:sp>
      <p:sp>
        <p:nvSpPr>
          <p:cNvPr id="3" name="Text 1"/>
          <p:cNvSpPr txBox="1"/>
          <p:nvPr/>
        </p:nvSpPr>
        <p:spPr>
          <a:xfrm>
            <a:off x="566928" y="1261872"/>
            <a:ext cx="10936224" cy="786384"/>
          </a:xfrm>
          <a:prstGeom prst="rect">
            <a:avLst/>
          </a:prstGeom>
          <a:noFill/>
          <a:ln/>
        </p:spPr>
        <p:txBody>
          <a:bodyPr wrap="square" lIns="0" tIns="0" rIns="0" bIns="0" rtlCol="0" anchor="ctr"/>
          <a:lstStyle/>
          <a:p>
            <a:pPr indent="0" marL="0">
              <a:lnSpc>
                <a:spcPts val="1900"/>
              </a:lnSpc>
              <a:buNone/>
            </a:pPr>
            <a:r>
              <a:rPr lang="en-US" sz="1250" dirty="0">
                <a:solidFill>
                  <a:srgbClr val="11211C"/>
                </a:solidFill>
              </a:rPr>
              <a:t>Një kërkim lokal ka saktësisht tri pjesë: ndërtimin që i jep renditjen fillestare, grupin e lëvizjeve nga i cili nxjerr kandidatë, dhe rregullin e pranimit që vendos çfarë mban. Zëvendësova secilën, veçmas, kundër të njëjtës bazë, me gjithçka tjetër të fiksuar.</a:t>
            </a:r>
            <a:endParaRPr lang="en-US" sz="1250" dirty="0"/>
          </a:p>
        </p:txBody>
      </p:sp>
      <p:sp>
        <p:nvSpPr>
          <p:cNvPr id="4" name="Shape 2"/>
          <p:cNvSpPr/>
          <p:nvPr/>
        </p:nvSpPr>
        <p:spPr>
          <a:xfrm>
            <a:off x="566928" y="2651760"/>
            <a:ext cx="9582912" cy="914"/>
          </a:xfrm>
          <a:prstGeom prst="line">
            <a:avLst/>
          </a:prstGeom>
          <a:noFill/>
          <a:ln w="13970">
            <a:solidFill>
              <a:srgbClr val="11211C"/>
            </a:solidFill>
            <a:prstDash val="solid"/>
          </a:ln>
        </p:spPr>
      </p:sp>
      <p:sp>
        <p:nvSpPr>
          <p:cNvPr id="5" name="Text 3"/>
          <p:cNvSpPr txBox="1"/>
          <p:nvPr/>
        </p:nvSpPr>
        <p:spPr>
          <a:xfrm>
            <a:off x="566928" y="2231136"/>
            <a:ext cx="2286000" cy="457200"/>
          </a:xfrm>
          <a:prstGeom prst="rect">
            <a:avLst/>
          </a:prstGeom>
          <a:noFill/>
          <a:ln/>
        </p:spPr>
        <p:txBody>
          <a:bodyPr wrap="square" lIns="0" tIns="0" rIns="0" bIns="0" rtlCol="0" anchor="ctr"/>
          <a:lstStyle/>
          <a:p>
            <a:pPr algn="l" indent="0" marL="0">
              <a:buNone/>
            </a:pPr>
            <a:r>
              <a:rPr lang="en-US" sz="1150" b="1" dirty="0">
                <a:solidFill>
                  <a:srgbClr val="2A5247"/>
                </a:solidFill>
              </a:rPr>
              <a:t>përbërësja e zëvendësuar</a:t>
            </a:r>
            <a:endParaRPr lang="en-US" sz="1150" dirty="0"/>
          </a:p>
        </p:txBody>
      </p:sp>
      <p:sp>
        <p:nvSpPr>
          <p:cNvPr id="6" name="Text 4"/>
          <p:cNvSpPr txBox="1"/>
          <p:nvPr/>
        </p:nvSpPr>
        <p:spPr>
          <a:xfrm>
            <a:off x="2852928" y="2231136"/>
            <a:ext cx="2606040" cy="457200"/>
          </a:xfrm>
          <a:prstGeom prst="rect">
            <a:avLst/>
          </a:prstGeom>
          <a:noFill/>
          <a:ln/>
        </p:spPr>
        <p:txBody>
          <a:bodyPr wrap="square" lIns="0" tIns="0" rIns="0" bIns="0" rtlCol="0" anchor="ctr"/>
          <a:lstStyle/>
          <a:p>
            <a:pPr algn="l" indent="0" marL="0">
              <a:buNone/>
            </a:pPr>
            <a:r>
              <a:rPr lang="en-US" sz="1150" b="1" dirty="0">
                <a:solidFill>
                  <a:srgbClr val="2A5247"/>
                </a:solidFill>
              </a:rPr>
              <a:t>varianti</a:t>
            </a:r>
            <a:endParaRPr lang="en-US" sz="1150" dirty="0"/>
          </a:p>
        </p:txBody>
      </p:sp>
      <p:sp>
        <p:nvSpPr>
          <p:cNvPr id="7" name="Text 5"/>
          <p:cNvSpPr txBox="1"/>
          <p:nvPr/>
        </p:nvSpPr>
        <p:spPr>
          <a:xfrm>
            <a:off x="5458968" y="2231136"/>
            <a:ext cx="1371600" cy="457200"/>
          </a:xfrm>
          <a:prstGeom prst="rect">
            <a:avLst/>
          </a:prstGeom>
          <a:noFill/>
          <a:ln/>
        </p:spPr>
        <p:txBody>
          <a:bodyPr wrap="square" lIns="0" tIns="0" rIns="0" bIns="0" rtlCol="0" anchor="ctr"/>
          <a:lstStyle/>
          <a:p>
            <a:pPr algn="r" indent="0" marL="0">
              <a:buNone/>
            </a:pPr>
            <a:r>
              <a:rPr lang="en-US" sz="1150" b="1" dirty="0">
                <a:solidFill>
                  <a:srgbClr val="2A5247"/>
                </a:solidFill>
              </a:rPr>
              <a:t>HV neto</a:t>
            </a:r>
            <a:endParaRPr lang="en-US" sz="1150" dirty="0"/>
          </a:p>
        </p:txBody>
      </p:sp>
      <p:sp>
        <p:nvSpPr>
          <p:cNvPr id="8" name="Text 6"/>
          <p:cNvSpPr txBox="1"/>
          <p:nvPr/>
        </p:nvSpPr>
        <p:spPr>
          <a:xfrm>
            <a:off x="6830568" y="2231136"/>
            <a:ext cx="1143000" cy="457200"/>
          </a:xfrm>
          <a:prstGeom prst="rect">
            <a:avLst/>
          </a:prstGeom>
          <a:noFill/>
          <a:ln/>
        </p:spPr>
        <p:txBody>
          <a:bodyPr wrap="square" lIns="0" tIns="0" rIns="0" bIns="0" rtlCol="0" anchor="ctr"/>
          <a:lstStyle/>
          <a:p>
            <a:pPr algn="r" indent="0" marL="0">
              <a:buNone/>
            </a:pPr>
            <a:r>
              <a:rPr lang="en-US" sz="1150" b="1" dirty="0">
                <a:solidFill>
                  <a:srgbClr val="2A5247"/>
                </a:solidFill>
              </a:rPr>
              <a:t>÷ 21,519</a:t>
            </a:r>
            <a:endParaRPr lang="en-US" sz="1150" dirty="0"/>
          </a:p>
        </p:txBody>
      </p:sp>
      <p:sp>
        <p:nvSpPr>
          <p:cNvPr id="9" name="Text 7"/>
          <p:cNvSpPr txBox="1"/>
          <p:nvPr/>
        </p:nvSpPr>
        <p:spPr>
          <a:xfrm>
            <a:off x="7973568" y="2231136"/>
            <a:ext cx="256032" cy="457200"/>
          </a:xfrm>
          <a:prstGeom prst="rect">
            <a:avLst/>
          </a:prstGeom>
          <a:noFill/>
          <a:ln/>
        </p:spPr>
        <p:txBody>
          <a:bodyPr wrap="square" lIns="0" tIns="0" rIns="0" bIns="0" rtlCol="0" anchor="ctr"/>
          <a:lstStyle/>
          <a:p>
            <a:pPr algn="l" indent="0" marL="0">
              <a:buNone/>
            </a:pPr>
            <a:endParaRPr lang="en-US" sz="1150" dirty="0"/>
          </a:p>
        </p:txBody>
      </p:sp>
      <p:sp>
        <p:nvSpPr>
          <p:cNvPr id="10" name="Text 8"/>
          <p:cNvSpPr txBox="1"/>
          <p:nvPr/>
        </p:nvSpPr>
        <p:spPr>
          <a:xfrm>
            <a:off x="8229600" y="2231136"/>
            <a:ext cx="1920240" cy="457200"/>
          </a:xfrm>
          <a:prstGeom prst="rect">
            <a:avLst/>
          </a:prstGeom>
          <a:noFill/>
          <a:ln/>
        </p:spPr>
        <p:txBody>
          <a:bodyPr wrap="square" lIns="0" tIns="0" rIns="0" bIns="0" rtlCol="0" anchor="ctr"/>
          <a:lstStyle/>
          <a:p>
            <a:pPr algn="l" indent="0" marL="0">
              <a:buNone/>
            </a:pPr>
            <a:endParaRPr lang="en-US" sz="1150" dirty="0"/>
          </a:p>
        </p:txBody>
      </p:sp>
      <p:sp>
        <p:nvSpPr>
          <p:cNvPr id="11" name="Shape 9"/>
          <p:cNvSpPr/>
          <p:nvPr/>
        </p:nvSpPr>
        <p:spPr>
          <a:xfrm>
            <a:off x="566928" y="3108960"/>
            <a:ext cx="9582912" cy="914"/>
          </a:xfrm>
          <a:prstGeom prst="line">
            <a:avLst/>
          </a:prstGeom>
          <a:noFill/>
          <a:ln w="7620">
            <a:solidFill>
              <a:srgbClr val="D9E0DC"/>
            </a:solidFill>
            <a:prstDash val="solid"/>
          </a:ln>
        </p:spPr>
      </p:sp>
      <p:sp>
        <p:nvSpPr>
          <p:cNvPr id="12" name="Text 10"/>
          <p:cNvSpPr txBox="1"/>
          <p:nvPr/>
        </p:nvSpPr>
        <p:spPr>
          <a:xfrm>
            <a:off x="566928" y="2688336"/>
            <a:ext cx="2286000" cy="457200"/>
          </a:xfrm>
          <a:prstGeom prst="rect">
            <a:avLst/>
          </a:prstGeom>
          <a:noFill/>
          <a:ln/>
        </p:spPr>
        <p:txBody>
          <a:bodyPr wrap="square" lIns="0" tIns="0" rIns="0" bIns="0" rtlCol="0" anchor="ctr"/>
          <a:lstStyle/>
          <a:p>
            <a:pPr algn="l" indent="0" marL="0">
              <a:buNone/>
            </a:pPr>
            <a:r>
              <a:rPr lang="en-US" sz="1300" dirty="0">
                <a:solidFill>
                  <a:srgbClr val="11211C"/>
                </a:solidFill>
              </a:rPr>
              <a:t>grupi i lëvizjeve</a:t>
            </a:r>
            <a:endParaRPr lang="en-US" sz="1300" dirty="0"/>
          </a:p>
        </p:txBody>
      </p:sp>
      <p:sp>
        <p:nvSpPr>
          <p:cNvPr id="13" name="Text 11"/>
          <p:cNvSpPr txBox="1"/>
          <p:nvPr/>
        </p:nvSpPr>
        <p:spPr>
          <a:xfrm>
            <a:off x="2852928" y="2688336"/>
            <a:ext cx="2606040" cy="457200"/>
          </a:xfrm>
          <a:prstGeom prst="rect">
            <a:avLst/>
          </a:prstGeom>
          <a:noFill/>
          <a:ln/>
        </p:spPr>
        <p:txBody>
          <a:bodyPr wrap="square" lIns="0" tIns="0" rIns="0" bIns="0" rtlCol="0" anchor="ctr"/>
          <a:lstStyle/>
          <a:p>
            <a:pPr algn="l" indent="0" marL="0">
              <a:buNone/>
            </a:pPr>
            <a:r>
              <a:rPr lang="en-US" sz="1300" dirty="0">
                <a:solidFill>
                  <a:srgbClr val="11211C"/>
                </a:solidFill>
              </a:rPr>
              <a:t>i orientuar nga bottleneck</a:t>
            </a:r>
            <a:endParaRPr lang="en-US" sz="1300" dirty="0"/>
          </a:p>
        </p:txBody>
      </p:sp>
      <p:sp>
        <p:nvSpPr>
          <p:cNvPr id="14" name="Text 12"/>
          <p:cNvSpPr txBox="1"/>
          <p:nvPr/>
        </p:nvSpPr>
        <p:spPr>
          <a:xfrm>
            <a:off x="5458968" y="2688336"/>
            <a:ext cx="1371600" cy="457200"/>
          </a:xfrm>
          <a:prstGeom prst="rect">
            <a:avLst/>
          </a:prstGeom>
          <a:noFill/>
          <a:ln/>
        </p:spPr>
        <p:txBody>
          <a:bodyPr wrap="square" lIns="0" tIns="0" rIns="0" bIns="0" rtlCol="0" anchor="ctr"/>
          <a:lstStyle/>
          <a:p>
            <a:pPr algn="r" indent="0" marL="0">
              <a:buNone/>
            </a:pPr>
            <a:r>
              <a:rPr lang="en-US" sz="1300" dirty="0">
                <a:solidFill>
                  <a:srgbClr val="11211C"/>
                </a:solidFill>
              </a:rPr>
              <a:t>+9,562</a:t>
            </a:r>
            <a:endParaRPr lang="en-US" sz="1300" dirty="0"/>
          </a:p>
        </p:txBody>
      </p:sp>
      <p:sp>
        <p:nvSpPr>
          <p:cNvPr id="15" name="Text 13"/>
          <p:cNvSpPr txBox="1"/>
          <p:nvPr/>
        </p:nvSpPr>
        <p:spPr>
          <a:xfrm>
            <a:off x="6830568" y="2688336"/>
            <a:ext cx="1143000" cy="457200"/>
          </a:xfrm>
          <a:prstGeom prst="rect">
            <a:avLst/>
          </a:prstGeom>
          <a:noFill/>
          <a:ln/>
        </p:spPr>
        <p:txBody>
          <a:bodyPr wrap="square" lIns="0" tIns="0" rIns="0" bIns="0" rtlCol="0" anchor="ctr"/>
          <a:lstStyle/>
          <a:p>
            <a:pPr algn="r" indent="0" marL="0">
              <a:buNone/>
            </a:pPr>
            <a:r>
              <a:rPr lang="en-US" sz="1300" dirty="0">
                <a:solidFill>
                  <a:srgbClr val="11211C"/>
                </a:solidFill>
              </a:rPr>
              <a:t>0.4×</a:t>
            </a:r>
            <a:endParaRPr lang="en-US" sz="1300" dirty="0"/>
          </a:p>
        </p:txBody>
      </p:sp>
      <p:sp>
        <p:nvSpPr>
          <p:cNvPr id="16" name="Text 14"/>
          <p:cNvSpPr txBox="1"/>
          <p:nvPr/>
        </p:nvSpPr>
        <p:spPr>
          <a:xfrm>
            <a:off x="7973568" y="2688336"/>
            <a:ext cx="256032" cy="457200"/>
          </a:xfrm>
          <a:prstGeom prst="rect">
            <a:avLst/>
          </a:prstGeom>
          <a:noFill/>
          <a:ln/>
        </p:spPr>
        <p:txBody>
          <a:bodyPr wrap="square" lIns="0" tIns="0" rIns="0" bIns="0" rtlCol="0" anchor="ctr"/>
          <a:lstStyle/>
          <a:p>
            <a:pPr algn="l" indent="0" marL="0">
              <a:buNone/>
            </a:pPr>
            <a:endParaRPr lang="en-US" sz="1300" dirty="0"/>
          </a:p>
        </p:txBody>
      </p:sp>
      <p:sp>
        <p:nvSpPr>
          <p:cNvPr id="17" name="Text 15"/>
          <p:cNvSpPr txBox="1"/>
          <p:nvPr/>
        </p:nvSpPr>
        <p:spPr>
          <a:xfrm>
            <a:off x="8229600" y="2688336"/>
            <a:ext cx="1920240" cy="457200"/>
          </a:xfrm>
          <a:prstGeom prst="rect">
            <a:avLst/>
          </a:prstGeom>
          <a:noFill/>
          <a:ln/>
        </p:spPr>
        <p:txBody>
          <a:bodyPr wrap="square" lIns="0" tIns="0" rIns="0" bIns="0" rtlCol="0" anchor="ctr"/>
          <a:lstStyle/>
          <a:p>
            <a:pPr algn="l" indent="0" marL="0">
              <a:buNone/>
            </a:pPr>
            <a:endParaRPr lang="en-US" sz="1300" dirty="0"/>
          </a:p>
        </p:txBody>
      </p:sp>
      <p:sp>
        <p:nvSpPr>
          <p:cNvPr id="18" name="Shape 16"/>
          <p:cNvSpPr/>
          <p:nvPr/>
        </p:nvSpPr>
        <p:spPr>
          <a:xfrm>
            <a:off x="566928" y="3566160"/>
            <a:ext cx="9582912" cy="914"/>
          </a:xfrm>
          <a:prstGeom prst="line">
            <a:avLst/>
          </a:prstGeom>
          <a:noFill/>
          <a:ln w="7620">
            <a:solidFill>
              <a:srgbClr val="D9E0DC"/>
            </a:solidFill>
            <a:prstDash val="solid"/>
          </a:ln>
        </p:spPr>
      </p:sp>
      <p:sp>
        <p:nvSpPr>
          <p:cNvPr id="19" name="Text 17"/>
          <p:cNvSpPr txBox="1"/>
          <p:nvPr/>
        </p:nvSpPr>
        <p:spPr>
          <a:xfrm>
            <a:off x="566928" y="3145536"/>
            <a:ext cx="2286000" cy="457200"/>
          </a:xfrm>
          <a:prstGeom prst="rect">
            <a:avLst/>
          </a:prstGeom>
          <a:noFill/>
          <a:ln/>
        </p:spPr>
        <p:txBody>
          <a:bodyPr wrap="square" lIns="0" tIns="0" rIns="0" bIns="0" rtlCol="0" anchor="ctr"/>
          <a:lstStyle/>
          <a:p>
            <a:pPr algn="l" indent="0" marL="0">
              <a:buNone/>
            </a:pPr>
            <a:r>
              <a:rPr lang="en-US" sz="1300" dirty="0">
                <a:solidFill>
                  <a:srgbClr val="11211C"/>
                </a:solidFill>
              </a:rPr>
              <a:t>rregulli i pranimit</a:t>
            </a:r>
            <a:endParaRPr lang="en-US" sz="1300" dirty="0"/>
          </a:p>
        </p:txBody>
      </p:sp>
      <p:sp>
        <p:nvSpPr>
          <p:cNvPr id="20" name="Text 18"/>
          <p:cNvSpPr txBox="1"/>
          <p:nvPr/>
        </p:nvSpPr>
        <p:spPr>
          <a:xfrm>
            <a:off x="2852928" y="3145536"/>
            <a:ext cx="2606040" cy="457200"/>
          </a:xfrm>
          <a:prstGeom prst="rect">
            <a:avLst/>
          </a:prstGeom>
          <a:noFill/>
          <a:ln/>
        </p:spPr>
        <p:txBody>
          <a:bodyPr wrap="square" lIns="0" tIns="0" rIns="0" bIns="0" rtlCol="0" anchor="ctr"/>
          <a:lstStyle/>
          <a:p>
            <a:pPr algn="l" indent="0" marL="0">
              <a:buNone/>
            </a:pPr>
            <a:r>
              <a:rPr lang="en-US" sz="1300" dirty="0">
                <a:solidFill>
                  <a:srgbClr val="11211C"/>
                </a:solidFill>
              </a:rPr>
              <a:t>shkalla e VNS-së</a:t>
            </a:r>
            <a:endParaRPr lang="en-US" sz="1300" dirty="0"/>
          </a:p>
        </p:txBody>
      </p:sp>
      <p:sp>
        <p:nvSpPr>
          <p:cNvPr id="21" name="Text 19"/>
          <p:cNvSpPr txBox="1"/>
          <p:nvPr/>
        </p:nvSpPr>
        <p:spPr>
          <a:xfrm>
            <a:off x="5458968" y="3145536"/>
            <a:ext cx="1371600" cy="457200"/>
          </a:xfrm>
          <a:prstGeom prst="rect">
            <a:avLst/>
          </a:prstGeom>
          <a:noFill/>
          <a:ln/>
        </p:spPr>
        <p:txBody>
          <a:bodyPr wrap="square" lIns="0" tIns="0" rIns="0" bIns="0" rtlCol="0" anchor="ctr"/>
          <a:lstStyle/>
          <a:p>
            <a:pPr algn="r" indent="0" marL="0">
              <a:buNone/>
            </a:pPr>
            <a:r>
              <a:rPr lang="en-US" sz="1300" dirty="0">
                <a:solidFill>
                  <a:srgbClr val="11211C"/>
                </a:solidFill>
              </a:rPr>
              <a:t>+19,623</a:t>
            </a:r>
            <a:endParaRPr lang="en-US" sz="1300" dirty="0"/>
          </a:p>
        </p:txBody>
      </p:sp>
      <p:sp>
        <p:nvSpPr>
          <p:cNvPr id="22" name="Text 20"/>
          <p:cNvSpPr txBox="1"/>
          <p:nvPr/>
        </p:nvSpPr>
        <p:spPr>
          <a:xfrm>
            <a:off x="6830568" y="3145536"/>
            <a:ext cx="1143000" cy="457200"/>
          </a:xfrm>
          <a:prstGeom prst="rect">
            <a:avLst/>
          </a:prstGeom>
          <a:noFill/>
          <a:ln/>
        </p:spPr>
        <p:txBody>
          <a:bodyPr wrap="square" lIns="0" tIns="0" rIns="0" bIns="0" rtlCol="0" anchor="ctr"/>
          <a:lstStyle/>
          <a:p>
            <a:pPr algn="r" indent="0" marL="0">
              <a:buNone/>
            </a:pPr>
            <a:r>
              <a:rPr lang="en-US" sz="1300" dirty="0">
                <a:solidFill>
                  <a:srgbClr val="11211C"/>
                </a:solidFill>
              </a:rPr>
              <a:t>0.9×</a:t>
            </a:r>
            <a:endParaRPr lang="en-US" sz="1300" dirty="0"/>
          </a:p>
        </p:txBody>
      </p:sp>
      <p:sp>
        <p:nvSpPr>
          <p:cNvPr id="23" name="Text 21"/>
          <p:cNvSpPr txBox="1"/>
          <p:nvPr/>
        </p:nvSpPr>
        <p:spPr>
          <a:xfrm>
            <a:off x="7973568" y="3145536"/>
            <a:ext cx="256032" cy="457200"/>
          </a:xfrm>
          <a:prstGeom prst="rect">
            <a:avLst/>
          </a:prstGeom>
          <a:noFill/>
          <a:ln/>
        </p:spPr>
        <p:txBody>
          <a:bodyPr wrap="square" lIns="0" tIns="0" rIns="0" bIns="0" rtlCol="0" anchor="ctr"/>
          <a:lstStyle/>
          <a:p>
            <a:pPr algn="l" indent="0" marL="0">
              <a:buNone/>
            </a:pPr>
            <a:endParaRPr lang="en-US" sz="1300" dirty="0"/>
          </a:p>
        </p:txBody>
      </p:sp>
      <p:sp>
        <p:nvSpPr>
          <p:cNvPr id="24" name="Text 22"/>
          <p:cNvSpPr txBox="1"/>
          <p:nvPr/>
        </p:nvSpPr>
        <p:spPr>
          <a:xfrm>
            <a:off x="8229600" y="3145536"/>
            <a:ext cx="1920240" cy="457200"/>
          </a:xfrm>
          <a:prstGeom prst="rect">
            <a:avLst/>
          </a:prstGeom>
          <a:noFill/>
          <a:ln/>
        </p:spPr>
        <p:txBody>
          <a:bodyPr wrap="square" lIns="0" tIns="0" rIns="0" bIns="0" rtlCol="0" anchor="ctr"/>
          <a:lstStyle/>
          <a:p>
            <a:pPr algn="l" indent="0" marL="0">
              <a:buNone/>
            </a:pPr>
            <a:endParaRPr lang="en-US" sz="1300" dirty="0"/>
          </a:p>
        </p:txBody>
      </p:sp>
      <p:sp>
        <p:nvSpPr>
          <p:cNvPr id="25" name="Shape 23"/>
          <p:cNvSpPr/>
          <p:nvPr/>
        </p:nvSpPr>
        <p:spPr>
          <a:xfrm>
            <a:off x="566928" y="4023360"/>
            <a:ext cx="9582912" cy="914"/>
          </a:xfrm>
          <a:prstGeom prst="line">
            <a:avLst/>
          </a:prstGeom>
          <a:noFill/>
          <a:ln w="7620">
            <a:solidFill>
              <a:srgbClr val="D9E0DC"/>
            </a:solidFill>
            <a:prstDash val="solid"/>
          </a:ln>
        </p:spPr>
      </p:sp>
      <p:sp>
        <p:nvSpPr>
          <p:cNvPr id="26" name="Text 24"/>
          <p:cNvSpPr txBox="1"/>
          <p:nvPr/>
        </p:nvSpPr>
        <p:spPr>
          <a:xfrm>
            <a:off x="566928" y="3602736"/>
            <a:ext cx="2286000" cy="457200"/>
          </a:xfrm>
          <a:prstGeom prst="rect">
            <a:avLst/>
          </a:prstGeom>
          <a:noFill/>
          <a:ln/>
        </p:spPr>
        <p:txBody>
          <a:bodyPr wrap="square" lIns="0" tIns="0" rIns="0" bIns="0" rtlCol="0" anchor="ctr"/>
          <a:lstStyle/>
          <a:p>
            <a:pPr algn="l" indent="0" marL="0">
              <a:buNone/>
            </a:pPr>
            <a:r>
              <a:rPr lang="en-US" sz="1300" dirty="0">
                <a:solidFill>
                  <a:srgbClr val="11211C"/>
                </a:solidFill>
              </a:rPr>
              <a:t>rregulli i pranimit</a:t>
            </a:r>
            <a:endParaRPr lang="en-US" sz="1300" dirty="0"/>
          </a:p>
        </p:txBody>
      </p:sp>
      <p:sp>
        <p:nvSpPr>
          <p:cNvPr id="27" name="Text 25"/>
          <p:cNvSpPr txBox="1"/>
          <p:nvPr/>
        </p:nvSpPr>
        <p:spPr>
          <a:xfrm>
            <a:off x="2852928" y="3602736"/>
            <a:ext cx="2606040" cy="457200"/>
          </a:xfrm>
          <a:prstGeom prst="rect">
            <a:avLst/>
          </a:prstGeom>
          <a:noFill/>
          <a:ln/>
        </p:spPr>
        <p:txBody>
          <a:bodyPr wrap="square" lIns="0" tIns="0" rIns="0" bIns="0" rtlCol="0" anchor="ctr"/>
          <a:lstStyle/>
          <a:p>
            <a:pPr algn="l" indent="0" marL="0">
              <a:buNone/>
            </a:pPr>
            <a:r>
              <a:rPr lang="en-US" sz="1300" dirty="0">
                <a:solidFill>
                  <a:srgbClr val="11211C"/>
                </a:solidFill>
              </a:rPr>
              <a:t>mpirje e simuluar</a:t>
            </a:r>
            <a:endParaRPr lang="en-US" sz="1300" dirty="0"/>
          </a:p>
        </p:txBody>
      </p:sp>
      <p:sp>
        <p:nvSpPr>
          <p:cNvPr id="28" name="Text 26"/>
          <p:cNvSpPr txBox="1"/>
          <p:nvPr/>
        </p:nvSpPr>
        <p:spPr>
          <a:xfrm>
            <a:off x="5458968" y="3602736"/>
            <a:ext cx="1371600" cy="457200"/>
          </a:xfrm>
          <a:prstGeom prst="rect">
            <a:avLst/>
          </a:prstGeom>
          <a:noFill/>
          <a:ln/>
        </p:spPr>
        <p:txBody>
          <a:bodyPr wrap="square" lIns="0" tIns="0" rIns="0" bIns="0" rtlCol="0" anchor="ctr"/>
          <a:lstStyle/>
          <a:p>
            <a:pPr algn="r" indent="0" marL="0">
              <a:buNone/>
            </a:pPr>
            <a:r>
              <a:rPr lang="en-US" sz="1300" dirty="0">
                <a:solidFill>
                  <a:srgbClr val="11211C"/>
                </a:solidFill>
              </a:rPr>
              <a:t>+42,468</a:t>
            </a:r>
            <a:endParaRPr lang="en-US" sz="1300" dirty="0"/>
          </a:p>
        </p:txBody>
      </p:sp>
      <p:sp>
        <p:nvSpPr>
          <p:cNvPr id="29" name="Text 27"/>
          <p:cNvSpPr txBox="1"/>
          <p:nvPr/>
        </p:nvSpPr>
        <p:spPr>
          <a:xfrm>
            <a:off x="6830568" y="3602736"/>
            <a:ext cx="1143000" cy="457200"/>
          </a:xfrm>
          <a:prstGeom prst="rect">
            <a:avLst/>
          </a:prstGeom>
          <a:noFill/>
          <a:ln/>
        </p:spPr>
        <p:txBody>
          <a:bodyPr wrap="square" lIns="0" tIns="0" rIns="0" bIns="0" rtlCol="0" anchor="ctr"/>
          <a:lstStyle/>
          <a:p>
            <a:pPr algn="r" indent="0" marL="0">
              <a:buNone/>
            </a:pPr>
            <a:r>
              <a:rPr lang="en-US" sz="1300" dirty="0">
                <a:solidFill>
                  <a:srgbClr val="11211C"/>
                </a:solidFill>
              </a:rPr>
              <a:t>2.0×</a:t>
            </a:r>
            <a:endParaRPr lang="en-US" sz="1300" dirty="0"/>
          </a:p>
        </p:txBody>
      </p:sp>
      <p:sp>
        <p:nvSpPr>
          <p:cNvPr id="30" name="Text 28"/>
          <p:cNvSpPr txBox="1"/>
          <p:nvPr/>
        </p:nvSpPr>
        <p:spPr>
          <a:xfrm>
            <a:off x="7973568" y="3602736"/>
            <a:ext cx="256032" cy="457200"/>
          </a:xfrm>
          <a:prstGeom prst="rect">
            <a:avLst/>
          </a:prstGeom>
          <a:noFill/>
          <a:ln/>
        </p:spPr>
        <p:txBody>
          <a:bodyPr wrap="square" lIns="0" tIns="0" rIns="0" bIns="0" rtlCol="0" anchor="ctr"/>
          <a:lstStyle/>
          <a:p>
            <a:pPr algn="l" indent="0" marL="0">
              <a:buNone/>
            </a:pPr>
            <a:endParaRPr lang="en-US" sz="1300" dirty="0"/>
          </a:p>
        </p:txBody>
      </p:sp>
      <p:sp>
        <p:nvSpPr>
          <p:cNvPr id="31" name="Text 29"/>
          <p:cNvSpPr txBox="1"/>
          <p:nvPr/>
        </p:nvSpPr>
        <p:spPr>
          <a:xfrm>
            <a:off x="8229600" y="3602736"/>
            <a:ext cx="1920240" cy="457200"/>
          </a:xfrm>
          <a:prstGeom prst="rect">
            <a:avLst/>
          </a:prstGeom>
          <a:noFill/>
          <a:ln/>
        </p:spPr>
        <p:txBody>
          <a:bodyPr wrap="square" lIns="0" tIns="0" rIns="0" bIns="0" rtlCol="0" anchor="ctr"/>
          <a:lstStyle/>
          <a:p>
            <a:pPr algn="l" indent="0" marL="0">
              <a:buNone/>
            </a:pPr>
            <a:endParaRPr lang="en-US" sz="1300" dirty="0"/>
          </a:p>
        </p:txBody>
      </p:sp>
      <p:sp>
        <p:nvSpPr>
          <p:cNvPr id="32" name="Shape 30"/>
          <p:cNvSpPr/>
          <p:nvPr/>
        </p:nvSpPr>
        <p:spPr>
          <a:xfrm>
            <a:off x="566928" y="4480560"/>
            <a:ext cx="9582912" cy="914"/>
          </a:xfrm>
          <a:prstGeom prst="line">
            <a:avLst/>
          </a:prstGeom>
          <a:noFill/>
          <a:ln w="7620">
            <a:solidFill>
              <a:srgbClr val="D9E0DC"/>
            </a:solidFill>
            <a:prstDash val="solid"/>
          </a:ln>
        </p:spPr>
      </p:sp>
      <p:sp>
        <p:nvSpPr>
          <p:cNvPr id="33" name="Text 31"/>
          <p:cNvSpPr txBox="1"/>
          <p:nvPr/>
        </p:nvSpPr>
        <p:spPr>
          <a:xfrm>
            <a:off x="566928" y="4059936"/>
            <a:ext cx="2286000" cy="457200"/>
          </a:xfrm>
          <a:prstGeom prst="rect">
            <a:avLst/>
          </a:prstGeom>
          <a:noFill/>
          <a:ln/>
        </p:spPr>
        <p:txBody>
          <a:bodyPr wrap="square" lIns="0" tIns="0" rIns="0" bIns="0" rtlCol="0" anchor="ctr"/>
          <a:lstStyle/>
          <a:p>
            <a:pPr algn="l" indent="0" marL="0">
              <a:buNone/>
            </a:pPr>
            <a:r>
              <a:rPr lang="en-US" sz="1300" dirty="0">
                <a:solidFill>
                  <a:srgbClr val="11211C"/>
                </a:solidFill>
              </a:rPr>
              <a:t>ndërtimi</a:t>
            </a:r>
            <a:endParaRPr lang="en-US" sz="1300" dirty="0"/>
          </a:p>
        </p:txBody>
      </p:sp>
      <p:sp>
        <p:nvSpPr>
          <p:cNvPr id="34" name="Text 32"/>
          <p:cNvSpPr txBox="1"/>
          <p:nvPr/>
        </p:nvSpPr>
        <p:spPr>
          <a:xfrm>
            <a:off x="2852928" y="4059936"/>
            <a:ext cx="2606040" cy="457200"/>
          </a:xfrm>
          <a:prstGeom prst="rect">
            <a:avLst/>
          </a:prstGeom>
          <a:noFill/>
          <a:ln/>
        </p:spPr>
        <p:txBody>
          <a:bodyPr wrap="square" lIns="0" tIns="0" rIns="0" bIns="0" rtlCol="0" anchor="ctr"/>
          <a:lstStyle/>
          <a:p>
            <a:pPr algn="l" indent="0" marL="0">
              <a:buNone/>
            </a:pPr>
            <a:r>
              <a:rPr lang="en-US" sz="1300" dirty="0">
                <a:solidFill>
                  <a:srgbClr val="11211C"/>
                </a:solidFill>
              </a:rPr>
              <a:t>GRASP i rastësishëm</a:t>
            </a:r>
            <a:endParaRPr lang="en-US" sz="1300" dirty="0"/>
          </a:p>
        </p:txBody>
      </p:sp>
      <p:sp>
        <p:nvSpPr>
          <p:cNvPr id="35" name="Text 33"/>
          <p:cNvSpPr txBox="1"/>
          <p:nvPr/>
        </p:nvSpPr>
        <p:spPr>
          <a:xfrm>
            <a:off x="5458968" y="4059936"/>
            <a:ext cx="1371600" cy="457200"/>
          </a:xfrm>
          <a:prstGeom prst="rect">
            <a:avLst/>
          </a:prstGeom>
          <a:noFill/>
          <a:ln/>
        </p:spPr>
        <p:txBody>
          <a:bodyPr wrap="square" lIns="0" tIns="0" rIns="0" bIns="0" rtlCol="0" anchor="ctr"/>
          <a:lstStyle/>
          <a:p>
            <a:pPr algn="r" indent="0" marL="0">
              <a:buNone/>
            </a:pPr>
            <a:r>
              <a:rPr lang="en-US" sz="1300" dirty="0">
                <a:solidFill>
                  <a:srgbClr val="11211C"/>
                </a:solidFill>
              </a:rPr>
              <a:t>+341,263</a:t>
            </a:r>
            <a:endParaRPr lang="en-US" sz="1300" dirty="0"/>
          </a:p>
        </p:txBody>
      </p:sp>
      <p:sp>
        <p:nvSpPr>
          <p:cNvPr id="36" name="Text 34"/>
          <p:cNvSpPr txBox="1"/>
          <p:nvPr/>
        </p:nvSpPr>
        <p:spPr>
          <a:xfrm>
            <a:off x="6830568" y="4059936"/>
            <a:ext cx="1143000" cy="457200"/>
          </a:xfrm>
          <a:prstGeom prst="rect">
            <a:avLst/>
          </a:prstGeom>
          <a:noFill/>
          <a:ln/>
        </p:spPr>
        <p:txBody>
          <a:bodyPr wrap="square" lIns="0" tIns="0" rIns="0" bIns="0" rtlCol="0" anchor="ctr"/>
          <a:lstStyle/>
          <a:p>
            <a:pPr algn="r" indent="0" marL="0">
              <a:buNone/>
            </a:pPr>
            <a:r>
              <a:rPr lang="en-US" sz="1300" dirty="0">
                <a:solidFill>
                  <a:srgbClr val="11211C"/>
                </a:solidFill>
              </a:rPr>
              <a:t>15.9×</a:t>
            </a:r>
            <a:endParaRPr lang="en-US" sz="1300" dirty="0"/>
          </a:p>
        </p:txBody>
      </p:sp>
      <p:sp>
        <p:nvSpPr>
          <p:cNvPr id="37" name="Text 35"/>
          <p:cNvSpPr txBox="1"/>
          <p:nvPr/>
        </p:nvSpPr>
        <p:spPr>
          <a:xfrm>
            <a:off x="7973568" y="4059936"/>
            <a:ext cx="256032" cy="457200"/>
          </a:xfrm>
          <a:prstGeom prst="rect">
            <a:avLst/>
          </a:prstGeom>
          <a:noFill/>
          <a:ln/>
        </p:spPr>
        <p:txBody>
          <a:bodyPr wrap="square" lIns="0" tIns="0" rIns="0" bIns="0" rtlCol="0" anchor="ctr"/>
          <a:lstStyle/>
          <a:p>
            <a:pPr algn="l" indent="0" marL="0">
              <a:buNone/>
            </a:pPr>
            <a:endParaRPr lang="en-US" sz="1300" dirty="0"/>
          </a:p>
        </p:txBody>
      </p:sp>
      <p:sp>
        <p:nvSpPr>
          <p:cNvPr id="38" name="Text 36"/>
          <p:cNvSpPr txBox="1"/>
          <p:nvPr/>
        </p:nvSpPr>
        <p:spPr>
          <a:xfrm>
            <a:off x="8229600" y="4059936"/>
            <a:ext cx="1920240" cy="457200"/>
          </a:xfrm>
          <a:prstGeom prst="rect">
            <a:avLst/>
          </a:prstGeom>
          <a:noFill/>
          <a:ln/>
        </p:spPr>
        <p:txBody>
          <a:bodyPr wrap="square" lIns="0" tIns="0" rIns="0" bIns="0" rtlCol="0" anchor="ctr"/>
          <a:lstStyle/>
          <a:p>
            <a:pPr algn="l" indent="0" marL="0">
              <a:buNone/>
            </a:pPr>
            <a:endParaRPr lang="en-US" sz="1300" dirty="0"/>
          </a:p>
        </p:txBody>
      </p:sp>
      <p:sp>
        <p:nvSpPr>
          <p:cNvPr id="39" name="Text 37"/>
          <p:cNvSpPr txBox="1"/>
          <p:nvPr/>
        </p:nvSpPr>
        <p:spPr>
          <a:xfrm>
            <a:off x="8321040" y="2231136"/>
            <a:ext cx="1737360" cy="457200"/>
          </a:xfrm>
          <a:prstGeom prst="rect">
            <a:avLst/>
          </a:prstGeom>
          <a:noFill/>
          <a:ln/>
        </p:spPr>
        <p:txBody>
          <a:bodyPr wrap="square" lIns="0" tIns="0" rIns="0" bIns="0" rtlCol="0" anchor="ctr"/>
          <a:lstStyle/>
          <a:p>
            <a:pPr indent="0" marL="0">
              <a:buNone/>
            </a:pPr>
            <a:r>
              <a:rPr lang="en-US" sz="1150" b="1" dirty="0">
                <a:solidFill>
                  <a:srgbClr val="2A5247"/>
                </a:solidFill>
              </a:rPr>
              <a:t>verdikti</a:t>
            </a:r>
            <a:endParaRPr lang="en-US" sz="1150" dirty="0"/>
          </a:p>
        </p:txBody>
      </p:sp>
      <p:sp>
        <p:nvSpPr>
          <p:cNvPr id="40" name="Shape 38"/>
          <p:cNvSpPr/>
          <p:nvPr/>
        </p:nvSpPr>
        <p:spPr>
          <a:xfrm>
            <a:off x="8284464" y="2752344"/>
            <a:ext cx="1792224" cy="310896"/>
          </a:xfrm>
          <a:prstGeom prst="roundRect">
            <a:avLst>
              <a:gd name="adj" fmla="val 88235"/>
            </a:avLst>
          </a:prstGeom>
          <a:solidFill>
            <a:srgbClr val="EFF3F1"/>
          </a:solidFill>
          <a:ln w="9525">
            <a:solidFill>
              <a:srgbClr val="DEE6E2"/>
            </a:solidFill>
            <a:prstDash val="solid"/>
          </a:ln>
        </p:spPr>
      </p:sp>
      <p:sp>
        <p:nvSpPr>
          <p:cNvPr id="41" name="Text 39"/>
          <p:cNvSpPr txBox="1"/>
          <p:nvPr/>
        </p:nvSpPr>
        <p:spPr>
          <a:xfrm>
            <a:off x="8284464" y="2752344"/>
            <a:ext cx="1792224" cy="310896"/>
          </a:xfrm>
          <a:prstGeom prst="rect">
            <a:avLst/>
          </a:prstGeom>
          <a:noFill/>
          <a:ln/>
        </p:spPr>
        <p:txBody>
          <a:bodyPr wrap="square" lIns="0" tIns="0" rIns="0" bIns="0" rtlCol="0" anchor="ctr"/>
          <a:lstStyle/>
          <a:p>
            <a:pPr algn="ctr" indent="0" marL="0">
              <a:buNone/>
            </a:pPr>
            <a:r>
              <a:rPr lang="en-US" sz="1100" b="1" dirty="0">
                <a:solidFill>
                  <a:srgbClr val="6B7A75"/>
                </a:solidFill>
              </a:rPr>
              <a:t>i pavërtetuar</a:t>
            </a:r>
            <a:endParaRPr lang="en-US" sz="1100" dirty="0"/>
          </a:p>
        </p:txBody>
      </p:sp>
      <p:sp>
        <p:nvSpPr>
          <p:cNvPr id="42" name="Shape 40"/>
          <p:cNvSpPr/>
          <p:nvPr/>
        </p:nvSpPr>
        <p:spPr>
          <a:xfrm>
            <a:off x="8284464" y="3209544"/>
            <a:ext cx="1792224" cy="310896"/>
          </a:xfrm>
          <a:prstGeom prst="roundRect">
            <a:avLst>
              <a:gd name="adj" fmla="val 88235"/>
            </a:avLst>
          </a:prstGeom>
          <a:solidFill>
            <a:srgbClr val="EFF3F1"/>
          </a:solidFill>
          <a:ln w="9525">
            <a:solidFill>
              <a:srgbClr val="DEE6E2"/>
            </a:solidFill>
            <a:prstDash val="solid"/>
          </a:ln>
        </p:spPr>
      </p:sp>
      <p:sp>
        <p:nvSpPr>
          <p:cNvPr id="43" name="Text 41"/>
          <p:cNvSpPr txBox="1"/>
          <p:nvPr/>
        </p:nvSpPr>
        <p:spPr>
          <a:xfrm>
            <a:off x="8284464" y="3209544"/>
            <a:ext cx="1792224" cy="310896"/>
          </a:xfrm>
          <a:prstGeom prst="rect">
            <a:avLst/>
          </a:prstGeom>
          <a:noFill/>
          <a:ln/>
        </p:spPr>
        <p:txBody>
          <a:bodyPr wrap="square" lIns="0" tIns="0" rIns="0" bIns="0" rtlCol="0" anchor="ctr"/>
          <a:lstStyle/>
          <a:p>
            <a:pPr algn="ctr" indent="0" marL="0">
              <a:buNone/>
            </a:pPr>
            <a:r>
              <a:rPr lang="en-US" sz="1100" b="1" dirty="0">
                <a:solidFill>
                  <a:srgbClr val="6B7A75"/>
                </a:solidFill>
              </a:rPr>
              <a:t>i pavërtetuar</a:t>
            </a:r>
            <a:endParaRPr lang="en-US" sz="1100" dirty="0"/>
          </a:p>
        </p:txBody>
      </p:sp>
      <p:sp>
        <p:nvSpPr>
          <p:cNvPr id="44" name="Shape 42"/>
          <p:cNvSpPr/>
          <p:nvPr/>
        </p:nvSpPr>
        <p:spPr>
          <a:xfrm>
            <a:off x="8284464" y="3666744"/>
            <a:ext cx="1792224" cy="310896"/>
          </a:xfrm>
          <a:prstGeom prst="roundRect">
            <a:avLst>
              <a:gd name="adj" fmla="val 88235"/>
            </a:avLst>
          </a:prstGeom>
          <a:solidFill>
            <a:srgbClr val="F0E0D4"/>
          </a:solidFill>
          <a:ln w="9525">
            <a:solidFill>
              <a:srgbClr val="E5CDBA"/>
            </a:solidFill>
            <a:prstDash val="solid"/>
          </a:ln>
        </p:spPr>
      </p:sp>
      <p:sp>
        <p:nvSpPr>
          <p:cNvPr id="45" name="Text 43"/>
          <p:cNvSpPr txBox="1"/>
          <p:nvPr/>
        </p:nvSpPr>
        <p:spPr>
          <a:xfrm>
            <a:off x="8284464" y="3666744"/>
            <a:ext cx="1792224" cy="310896"/>
          </a:xfrm>
          <a:prstGeom prst="rect">
            <a:avLst/>
          </a:prstGeom>
          <a:noFill/>
          <a:ln/>
        </p:spPr>
        <p:txBody>
          <a:bodyPr wrap="square" lIns="0" tIns="0" rIns="0" bIns="0" rtlCol="0" anchor="ctr"/>
          <a:lstStyle/>
          <a:p>
            <a:pPr algn="ctr" indent="0" marL="0">
              <a:buNone/>
            </a:pPr>
            <a:r>
              <a:rPr lang="en-US" sz="1100" b="1" dirty="0">
                <a:solidFill>
                  <a:srgbClr val="C0603C"/>
                </a:solidFill>
              </a:rPr>
              <a:t>margjinal</a:t>
            </a:r>
            <a:endParaRPr lang="en-US" sz="1100" dirty="0"/>
          </a:p>
        </p:txBody>
      </p:sp>
      <p:sp>
        <p:nvSpPr>
          <p:cNvPr id="46" name="Shape 44"/>
          <p:cNvSpPr/>
          <p:nvPr/>
        </p:nvSpPr>
        <p:spPr>
          <a:xfrm>
            <a:off x="8284464" y="4123944"/>
            <a:ext cx="1792224" cy="310896"/>
          </a:xfrm>
          <a:prstGeom prst="roundRect">
            <a:avLst>
              <a:gd name="adj" fmla="val 88235"/>
            </a:avLst>
          </a:prstGeom>
          <a:solidFill>
            <a:srgbClr val="3E8E72"/>
          </a:solidFill>
          <a:ln w="9525">
            <a:solidFill>
              <a:srgbClr val="3E8E72"/>
            </a:solidFill>
            <a:prstDash val="solid"/>
          </a:ln>
        </p:spPr>
      </p:sp>
      <p:sp>
        <p:nvSpPr>
          <p:cNvPr id="47" name="Text 45"/>
          <p:cNvSpPr txBox="1"/>
          <p:nvPr/>
        </p:nvSpPr>
        <p:spPr>
          <a:xfrm>
            <a:off x="8284464" y="4123944"/>
            <a:ext cx="1792224" cy="310896"/>
          </a:xfrm>
          <a:prstGeom prst="rect">
            <a:avLst/>
          </a:prstGeom>
          <a:noFill/>
          <a:ln/>
        </p:spPr>
        <p:txBody>
          <a:bodyPr wrap="square" lIns="0" tIns="0" rIns="0" bIns="0" rtlCol="0" anchor="ctr"/>
          <a:lstStyle/>
          <a:p>
            <a:pPr algn="ctr" indent="0" marL="0">
              <a:buNone/>
            </a:pPr>
            <a:r>
              <a:rPr lang="en-US" sz="1100" b="1" dirty="0">
                <a:solidFill>
                  <a:srgbClr val="FFFFFF"/>
                </a:solidFill>
              </a:rPr>
              <a:t>real</a:t>
            </a:r>
            <a:endParaRPr lang="en-US" sz="1100" dirty="0"/>
          </a:p>
        </p:txBody>
      </p:sp>
      <p:sp>
        <p:nvSpPr>
          <p:cNvPr id="48" name="Shape 46"/>
          <p:cNvSpPr/>
          <p:nvPr/>
        </p:nvSpPr>
        <p:spPr>
          <a:xfrm>
            <a:off x="566928" y="4572000"/>
            <a:ext cx="10936224" cy="914400"/>
          </a:xfrm>
          <a:prstGeom prst="roundRect">
            <a:avLst>
              <a:gd name="adj" fmla="val 4000"/>
            </a:avLst>
          </a:prstGeom>
          <a:solidFill>
            <a:srgbClr val="1F3A33"/>
          </a:solidFill>
          <a:ln w="6350">
            <a:solidFill>
              <a:srgbClr val="1F3A33"/>
            </a:solidFill>
            <a:prstDash val="solid"/>
          </a:ln>
        </p:spPr>
      </p:sp>
      <p:sp>
        <p:nvSpPr>
          <p:cNvPr id="49" name="Text 47"/>
          <p:cNvSpPr txBox="1"/>
          <p:nvPr/>
        </p:nvSpPr>
        <p:spPr>
          <a:xfrm>
            <a:off x="859536" y="4718304"/>
            <a:ext cx="10332720" cy="640080"/>
          </a:xfrm>
          <a:prstGeom prst="rect">
            <a:avLst/>
          </a:prstGeom>
          <a:noFill/>
          <a:ln/>
        </p:spPr>
        <p:txBody>
          <a:bodyPr wrap="square" lIns="0" tIns="0" rIns="0" bIns="0" rtlCol="0" anchor="ctr"/>
          <a:lstStyle/>
          <a:p>
            <a:pPr indent="0" marL="0">
              <a:lnSpc>
                <a:spcPts val="1800"/>
              </a:lnSpc>
              <a:buNone/>
            </a:pPr>
            <a:r>
              <a:rPr lang="en-US" sz="1250" dirty="0">
                <a:solidFill>
                  <a:srgbClr val="FFFFFF"/>
                </a:solidFill>
              </a:rPr>
              <a:t>Të matura kundër pragut të vjetër 1,528 HV, grupi i lëvizjeve dhe VNS ishin fitore. Të matura kundër një kontrolli që u rivizatua vërtet, të dyja zhduken, dhe kundër mostrës tjetër të bazës të dyja dalin negative. Një efekt që ndërron shenjë kur rivizaton kontrollin nuk ka ekzistuar kurrë.</a:t>
            </a:r>
            <a:endParaRPr lang="en-US" sz="12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I vetmi efekt real jeton në tri instanca</a:t>
            </a:r>
            <a:endParaRPr lang="en-US" sz="2600" dirty="0"/>
          </a:p>
        </p:txBody>
      </p:sp>
      <p:sp>
        <p:nvSpPr>
          <p:cNvPr id="3" name="Text 1"/>
          <p:cNvSpPr txBox="1"/>
          <p:nvPr/>
        </p:nvSpPr>
        <p:spPr>
          <a:xfrm>
            <a:off x="566928" y="1280160"/>
            <a:ext cx="10936224" cy="786384"/>
          </a:xfrm>
          <a:prstGeom prst="rect">
            <a:avLst/>
          </a:prstGeom>
          <a:noFill/>
          <a:ln/>
        </p:spPr>
        <p:txBody>
          <a:bodyPr wrap="square" lIns="0" tIns="0" rIns="0" bIns="0" rtlCol="0" anchor="ctr"/>
          <a:lstStyle/>
          <a:p>
            <a:pPr indent="0" marL="0">
              <a:lnSpc>
                <a:spcPts val="1900"/>
              </a:lnSpc>
              <a:buNone/>
            </a:pPr>
            <a:r>
              <a:rPr lang="en-US" sz="1300" dirty="0">
                <a:solidFill>
                  <a:srgbClr val="11211C"/>
                </a:solidFill>
              </a:rPr>
              <a:t>GRASP ndryshon nga baza në një pikë të vetme: e nxjerr renditjen nga një listë e kufizuar kandidatësh në vend që të marrë gjithmonë minimumin lakmitar. Gjithë diferenca e tij vjen nga tri grafet që mbajnë një klikë të mbjellë me 500 kulme.</a:t>
            </a:r>
            <a:endParaRPr lang="en-US" sz="1300" dirty="0"/>
          </a:p>
        </p:txBody>
      </p:sp>
      <p:sp>
        <p:nvSpPr>
          <p:cNvPr id="4" name="Shape 2"/>
          <p:cNvSpPr/>
          <p:nvPr/>
        </p:nvSpPr>
        <p:spPr>
          <a:xfrm>
            <a:off x="566928" y="2212848"/>
            <a:ext cx="2615184" cy="1463040"/>
          </a:xfrm>
          <a:prstGeom prst="roundRect">
            <a:avLst>
              <a:gd name="adj" fmla="val 2500"/>
            </a:avLst>
          </a:prstGeom>
          <a:solidFill>
            <a:srgbClr val="EFF3F1"/>
          </a:solidFill>
          <a:ln w="6350">
            <a:solidFill>
              <a:srgbClr val="EFF3F1"/>
            </a:solidFill>
            <a:prstDash val="solid"/>
          </a:ln>
        </p:spPr>
      </p:sp>
      <p:sp>
        <p:nvSpPr>
          <p:cNvPr id="5" name="Text 3"/>
          <p:cNvSpPr txBox="1"/>
          <p:nvPr/>
        </p:nvSpPr>
        <p:spPr>
          <a:xfrm>
            <a:off x="786384" y="2395728"/>
            <a:ext cx="2194560" cy="512064"/>
          </a:xfrm>
          <a:prstGeom prst="rect">
            <a:avLst/>
          </a:prstGeom>
          <a:noFill/>
          <a:ln/>
        </p:spPr>
        <p:txBody>
          <a:bodyPr wrap="square" lIns="0" tIns="0" rIns="0" bIns="0" rtlCol="0" anchor="ctr"/>
          <a:lstStyle/>
          <a:p>
            <a:pPr indent="0" marL="0">
              <a:buNone/>
            </a:pPr>
            <a:r>
              <a:rPr lang="en-US" sz="2300" b="1" dirty="0">
                <a:solidFill>
                  <a:srgbClr val="3E8E72"/>
                </a:solidFill>
                <a:latin typeface="Cambria" pitchFamily="34" charset="0"/>
                <a:ea typeface="Cambria" pitchFamily="34" charset="-122"/>
                <a:cs typeface="Cambria" pitchFamily="34" charset="-120"/>
              </a:rPr>
              <a:t>+343,623 HV</a:t>
            </a:r>
            <a:endParaRPr lang="en-US" sz="2300" dirty="0"/>
          </a:p>
        </p:txBody>
      </p:sp>
      <p:sp>
        <p:nvSpPr>
          <p:cNvPr id="6" name="Text 4"/>
          <p:cNvSpPr txBox="1"/>
          <p:nvPr/>
        </p:nvSpPr>
        <p:spPr>
          <a:xfrm>
            <a:off x="786384" y="2944368"/>
            <a:ext cx="2194560" cy="603504"/>
          </a:xfrm>
          <a:prstGeom prst="rect">
            <a:avLst/>
          </a:prstGeom>
          <a:noFill/>
          <a:ln/>
        </p:spPr>
        <p:txBody>
          <a:bodyPr wrap="square" lIns="0" tIns="0" rIns="0" bIns="0" rtlCol="0" anchor="ctr"/>
          <a:lstStyle/>
          <a:p>
            <a:pPr indent="0" marL="0">
              <a:lnSpc>
                <a:spcPts val="1600"/>
              </a:lnSpc>
              <a:buNone/>
            </a:pPr>
            <a:r>
              <a:rPr lang="en-US" sz="1150" dirty="0">
                <a:solidFill>
                  <a:srgbClr val="11211C"/>
                </a:solidFill>
              </a:rPr>
              <a:t>në large-graph, synth-6 dhe synth-7</a:t>
            </a:r>
            <a:endParaRPr lang="en-US" sz="1150" dirty="0"/>
          </a:p>
        </p:txBody>
      </p:sp>
      <p:sp>
        <p:nvSpPr>
          <p:cNvPr id="7" name="Shape 5"/>
          <p:cNvSpPr/>
          <p:nvPr/>
        </p:nvSpPr>
        <p:spPr>
          <a:xfrm>
            <a:off x="3401568" y="2212848"/>
            <a:ext cx="2615184" cy="1463040"/>
          </a:xfrm>
          <a:prstGeom prst="roundRect">
            <a:avLst>
              <a:gd name="adj" fmla="val 2500"/>
            </a:avLst>
          </a:prstGeom>
          <a:solidFill>
            <a:srgbClr val="FBF0EA"/>
          </a:solidFill>
          <a:ln w="6350">
            <a:solidFill>
              <a:srgbClr val="FBF0EA"/>
            </a:solidFill>
            <a:prstDash val="solid"/>
          </a:ln>
        </p:spPr>
      </p:sp>
      <p:sp>
        <p:nvSpPr>
          <p:cNvPr id="8" name="Text 6"/>
          <p:cNvSpPr txBox="1"/>
          <p:nvPr/>
        </p:nvSpPr>
        <p:spPr>
          <a:xfrm>
            <a:off x="3621024" y="2395728"/>
            <a:ext cx="2194560" cy="512064"/>
          </a:xfrm>
          <a:prstGeom prst="rect">
            <a:avLst/>
          </a:prstGeom>
          <a:noFill/>
          <a:ln/>
        </p:spPr>
        <p:txBody>
          <a:bodyPr wrap="square" lIns="0" tIns="0" rIns="0" bIns="0" rtlCol="0" anchor="ctr"/>
          <a:lstStyle/>
          <a:p>
            <a:pPr indent="0" marL="0">
              <a:buNone/>
            </a:pPr>
            <a:r>
              <a:rPr lang="en-US" sz="2300" b="1" dirty="0">
                <a:solidFill>
                  <a:srgbClr val="C0603C"/>
                </a:solidFill>
                <a:latin typeface="Cambria" pitchFamily="34" charset="0"/>
                <a:ea typeface="Cambria" pitchFamily="34" charset="-122"/>
                <a:cs typeface="Cambria" pitchFamily="34" charset="-120"/>
              </a:rPr>
              <a:t>−2,360 HV</a:t>
            </a:r>
            <a:endParaRPr lang="en-US" sz="2300" dirty="0"/>
          </a:p>
        </p:txBody>
      </p:sp>
      <p:sp>
        <p:nvSpPr>
          <p:cNvPr id="9" name="Text 7"/>
          <p:cNvSpPr txBox="1"/>
          <p:nvPr/>
        </p:nvSpPr>
        <p:spPr>
          <a:xfrm>
            <a:off x="3621024" y="2944368"/>
            <a:ext cx="2194560" cy="603504"/>
          </a:xfrm>
          <a:prstGeom prst="rect">
            <a:avLst/>
          </a:prstGeom>
          <a:noFill/>
          <a:ln/>
        </p:spPr>
        <p:txBody>
          <a:bodyPr wrap="square" lIns="0" tIns="0" rIns="0" bIns="0" rtlCol="0" anchor="ctr"/>
          <a:lstStyle/>
          <a:p>
            <a:pPr indent="0" marL="0">
              <a:lnSpc>
                <a:spcPts val="1600"/>
              </a:lnSpc>
              <a:buNone/>
            </a:pPr>
            <a:r>
              <a:rPr lang="en-US" sz="1150" dirty="0">
                <a:solidFill>
                  <a:srgbClr val="11211C"/>
                </a:solidFill>
              </a:rPr>
              <a:t>në shtatë instancat e tjera së bashku</a:t>
            </a:r>
            <a:endParaRPr lang="en-US" sz="1150" dirty="0"/>
          </a:p>
        </p:txBody>
      </p:sp>
      <p:sp>
        <p:nvSpPr>
          <p:cNvPr id="10" name="Text 8"/>
          <p:cNvSpPr txBox="1"/>
          <p:nvPr/>
        </p:nvSpPr>
        <p:spPr>
          <a:xfrm>
            <a:off x="6400800" y="2212848"/>
            <a:ext cx="5230368" cy="1463040"/>
          </a:xfrm>
          <a:prstGeom prst="rect">
            <a:avLst/>
          </a:prstGeom>
          <a:noFill/>
          <a:ln/>
        </p:spPr>
        <p:txBody>
          <a:bodyPr wrap="square" lIns="0" tIns="0" rIns="0" bIns="0" rtlCol="0" anchor="ctr"/>
          <a:lstStyle/>
          <a:p>
            <a:pPr indent="0" marL="0">
              <a:lnSpc>
                <a:spcPts val="1900"/>
              </a:lnSpc>
              <a:buNone/>
            </a:pPr>
            <a:r>
              <a:rPr lang="en-US" sz="1250" dirty="0">
                <a:solidFill>
                  <a:srgbClr val="11211C"/>
                </a:solidFill>
              </a:rPr>
              <a:t>Dhe është diversiteti, jo numri. Hill Climbing ndërton tashmë tetë konstruksione, një për çdo gjërësi synimi. Por min-degree me ndarje të rastësishme barazimesh rindërton renditjen identike në gjashtë nga dhjetë instancat, prandaj tetë nisjet e tij janë një nisje. Të tetët e GRASP-it janë tetë.</a:t>
            </a:r>
            <a:endParaRPr lang="en-US" sz="1250" dirty="0"/>
          </a:p>
        </p:txBody>
      </p:sp>
      <p:sp>
        <p:nvSpPr>
          <p:cNvPr id="11" name="Shape 9"/>
          <p:cNvSpPr/>
          <p:nvPr/>
        </p:nvSpPr>
        <p:spPr>
          <a:xfrm>
            <a:off x="566928" y="3931920"/>
            <a:ext cx="10936224" cy="1005840"/>
          </a:xfrm>
          <a:prstGeom prst="roundRect">
            <a:avLst>
              <a:gd name="adj" fmla="val 3636"/>
            </a:avLst>
          </a:prstGeom>
          <a:solidFill>
            <a:srgbClr val="EFF3F1"/>
          </a:solidFill>
          <a:ln w="6350">
            <a:solidFill>
              <a:srgbClr val="EFF3F1"/>
            </a:solidFill>
            <a:prstDash val="solid"/>
          </a:ln>
        </p:spPr>
      </p:sp>
      <p:sp>
        <p:nvSpPr>
          <p:cNvPr id="12" name="Text 10"/>
          <p:cNvSpPr txBox="1"/>
          <p:nvPr/>
        </p:nvSpPr>
        <p:spPr>
          <a:xfrm>
            <a:off x="859536" y="4114800"/>
            <a:ext cx="10332720" cy="676656"/>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Raportohet si total mbi dhjetë instanca sepse ashtu është ndërtuar tabela. Është rezultat për instanca të dendura, dhe dy nga ato tri u gjeneruan për të ngjarë me të parën.</a:t>
            </a:r>
            <a:endParaRPr lang="en-US" sz="12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Shtatëmbëdhjetë operatorë, dhe një peizazh ku s’ka ku të ngjitesh</a:t>
            </a:r>
            <a:endParaRPr lang="en-US" sz="2600" dirty="0"/>
          </a:p>
        </p:txBody>
      </p:sp>
      <p:sp>
        <p:nvSpPr>
          <p:cNvPr id="3" name="Text 1"/>
          <p:cNvSpPr txBox="1"/>
          <p:nvPr/>
        </p:nvSpPr>
        <p:spPr>
          <a:xfrm>
            <a:off x="566928" y="1261872"/>
            <a:ext cx="5486400" cy="1005840"/>
          </a:xfrm>
          <a:prstGeom prst="rect">
            <a:avLst/>
          </a:prstGeom>
          <a:noFill/>
          <a:ln/>
        </p:spPr>
        <p:txBody>
          <a:bodyPr wrap="square" lIns="0" tIns="0" rIns="0" bIns="0" rtlCol="0" anchor="ctr"/>
          <a:lstStyle/>
          <a:p>
            <a:pPr indent="0" marL="0">
              <a:lnSpc>
                <a:spcPts val="1800"/>
              </a:lnSpc>
              <a:buNone/>
            </a:pPr>
            <a:r>
              <a:rPr lang="en-US" sz="1200" dirty="0">
                <a:solidFill>
                  <a:srgbClr val="11211C"/>
                </a:solidFill>
              </a:rPr>
              <a:t>Trembëdhjetë operatorë të rinj në pesë familje, secili i ekzekutuar vetëm kundër bazës me katër operatorë. Asnjëri nga katërmbëdhjetë variantë nuk e kalon atë më shumë se pragu agregat, dhe grupi i plotë me shtatëmbëdhjetë përfundon 738 HV prapa saj.</a:t>
            </a:r>
            <a:endParaRPr lang="en-US" sz="1200" dirty="0"/>
          </a:p>
        </p:txBody>
      </p:sp>
      <p:sp>
        <p:nvSpPr>
          <p:cNvPr id="4" name="Text 2"/>
          <p:cNvSpPr txBox="1"/>
          <p:nvPr/>
        </p:nvSpPr>
        <p:spPr>
          <a:xfrm>
            <a:off x="566928" y="2395728"/>
            <a:ext cx="2103120" cy="548640"/>
          </a:xfrm>
          <a:prstGeom prst="rect">
            <a:avLst/>
          </a:prstGeom>
          <a:noFill/>
          <a:ln/>
        </p:spPr>
        <p:txBody>
          <a:bodyPr wrap="square" lIns="0" tIns="0" rIns="0" bIns="0" rtlCol="0" anchor="ctr"/>
          <a:lstStyle/>
          <a:p>
            <a:pPr indent="0" marL="0">
              <a:buNone/>
            </a:pPr>
            <a:r>
              <a:rPr lang="en-US" sz="3000" b="1" dirty="0">
                <a:solidFill>
                  <a:srgbClr val="C0603C"/>
                </a:solidFill>
                <a:latin typeface="Cambria" pitchFamily="34" charset="0"/>
                <a:ea typeface="Cambria" pitchFamily="34" charset="-122"/>
                <a:cs typeface="Cambria" pitchFamily="34" charset="-120"/>
              </a:rPr>
              <a:t>0.2327%</a:t>
            </a:r>
            <a:endParaRPr lang="en-US" sz="3000" dirty="0"/>
          </a:p>
        </p:txBody>
      </p:sp>
      <p:sp>
        <p:nvSpPr>
          <p:cNvPr id="5" name="Text 3"/>
          <p:cNvSpPr txBox="1"/>
          <p:nvPr/>
        </p:nvSpPr>
        <p:spPr>
          <a:xfrm>
            <a:off x="566928" y="2980944"/>
            <a:ext cx="5394960" cy="512064"/>
          </a:xfrm>
          <a:prstGeom prst="rect">
            <a:avLst/>
          </a:prstGeom>
          <a:noFill/>
          <a:ln/>
        </p:spPr>
        <p:txBody>
          <a:bodyPr wrap="square" lIns="0" tIns="0" rIns="0" bIns="0" rtlCol="0" anchor="ctr"/>
          <a:lstStyle/>
          <a:p>
            <a:pPr indent="0" marL="0">
              <a:lnSpc>
                <a:spcPts val="1600"/>
              </a:lnSpc>
              <a:buNone/>
            </a:pPr>
            <a:r>
              <a:rPr lang="en-US" sz="1150" dirty="0">
                <a:solidFill>
                  <a:srgbClr val="11211C"/>
                </a:solidFill>
              </a:rPr>
              <a:t>shkalla më e lartë e pranimit e matur kudo, mbi katër operatorë dhe dhjetë instanca</a:t>
            </a:r>
            <a:endParaRPr lang="en-US" sz="1150" dirty="0"/>
          </a:p>
        </p:txBody>
      </p:sp>
      <p:sp>
        <p:nvSpPr>
          <p:cNvPr id="6" name="Shape 4"/>
          <p:cNvSpPr/>
          <p:nvPr/>
        </p:nvSpPr>
        <p:spPr>
          <a:xfrm>
            <a:off x="566928" y="3675888"/>
            <a:ext cx="5486400" cy="1920240"/>
          </a:xfrm>
          <a:prstGeom prst="roundRect">
            <a:avLst>
              <a:gd name="adj" fmla="val 1905"/>
            </a:avLst>
          </a:prstGeom>
          <a:solidFill>
            <a:srgbClr val="1F3A33"/>
          </a:solidFill>
          <a:ln w="6350">
            <a:solidFill>
              <a:srgbClr val="1F3A33"/>
            </a:solidFill>
            <a:prstDash val="solid"/>
          </a:ln>
        </p:spPr>
      </p:sp>
      <p:sp>
        <p:nvSpPr>
          <p:cNvPr id="7" name="Text 5"/>
          <p:cNvSpPr txBox="1"/>
          <p:nvPr/>
        </p:nvSpPr>
        <p:spPr>
          <a:xfrm>
            <a:off x="804672" y="3840480"/>
            <a:ext cx="5029200" cy="237744"/>
          </a:xfrm>
          <a:prstGeom prst="rect">
            <a:avLst/>
          </a:prstGeom>
          <a:noFill/>
          <a:ln/>
        </p:spPr>
        <p:txBody>
          <a:bodyPr wrap="square" lIns="0" tIns="0" rIns="0" bIns="0" rtlCol="0" anchor="ctr"/>
          <a:lstStyle/>
          <a:p>
            <a:pPr indent="0" marL="0">
              <a:buNone/>
            </a:pPr>
            <a:r>
              <a:rPr lang="en-US" sz="1100" b="1" spc="100" kern="0" dirty="0">
                <a:solidFill>
                  <a:srgbClr val="8FB8A6"/>
                </a:solidFill>
              </a:rPr>
              <a:t>Paradoksi që shpjegon gjithçka</a:t>
            </a:r>
            <a:endParaRPr lang="en-US" sz="1100" dirty="0"/>
          </a:p>
        </p:txBody>
      </p:sp>
      <p:sp>
        <p:nvSpPr>
          <p:cNvPr id="8" name="Text 6"/>
          <p:cNvSpPr txBox="1"/>
          <p:nvPr/>
        </p:nvSpPr>
        <p:spPr>
          <a:xfrm>
            <a:off x="804672" y="4133088"/>
            <a:ext cx="5029200" cy="1353312"/>
          </a:xfrm>
          <a:prstGeom prst="rect">
            <a:avLst/>
          </a:prstGeom>
          <a:noFill/>
          <a:ln/>
        </p:spPr>
        <p:txBody>
          <a:bodyPr wrap="square" lIns="0" tIns="0" rIns="0" bIns="0" rtlCol="0" anchor="ctr"/>
          <a:lstStyle/>
          <a:p>
            <a:pPr indent="0" marL="0">
              <a:lnSpc>
                <a:spcPts val="1700"/>
              </a:lnSpc>
              <a:buNone/>
            </a:pPr>
            <a:r>
              <a:rPr lang="en-US" sz="1150" dirty="0">
                <a:solidFill>
                  <a:srgbClr val="FFFFFF"/>
                </a:solidFill>
              </a:rPr>
              <a:t>Në medium-graph operatori me rezultatin më të mirë është reverse_segment, i cili aty nuk pranoi asgjë fare. Në synth-7 asnjëri nga të katërt nuk pranon kurrë, dhe katër rezultatet prapëseprapë ndryshojnë me 1,841 HV. Rezultati nuk vjen nga lëvizjet e pranuara. Vjen nga çdo kandidat i vlerësuar që dhuron shkallaren e tij të plotë në një front të përbashkët.</a:t>
            </a:r>
            <a:endParaRPr lang="en-US" sz="1150" dirty="0"/>
          </a:p>
        </p:txBody>
      </p:sp>
      <p:sp>
        <p:nvSpPr>
          <p:cNvPr id="9" name="Text 7"/>
          <p:cNvSpPr txBox="1"/>
          <p:nvPr/>
        </p:nvSpPr>
        <p:spPr>
          <a:xfrm>
            <a:off x="7790688" y="1298448"/>
            <a:ext cx="932688" cy="475488"/>
          </a:xfrm>
          <a:prstGeom prst="rect">
            <a:avLst/>
          </a:prstGeom>
          <a:noFill/>
          <a:ln/>
        </p:spPr>
        <p:txBody>
          <a:bodyPr wrap="square" lIns="0" tIns="0" rIns="0" bIns="0" rtlCol="0" anchor="b"/>
          <a:lstStyle/>
          <a:p>
            <a:pPr algn="ctr" indent="0" marL="0">
              <a:buNone/>
            </a:pPr>
            <a:r>
              <a:rPr lang="en-US" sz="800" b="1" dirty="0">
                <a:solidFill>
                  <a:srgbClr val="2A5247"/>
                </a:solidFill>
              </a:rPr>
              <a:t>move_</a:t>
            </a:r>
            <a:endParaRPr lang="en-US" sz="800" dirty="0"/>
          </a:p>
          <a:p>
            <a:pPr algn="ctr" indent="0" marL="0">
              <a:buNone/>
            </a:pPr>
            <a:r>
              <a:rPr lang="en-US" sz="800" b="1" dirty="0">
                <a:solidFill>
                  <a:srgbClr val="2A5247"/>
                </a:solidFill>
              </a:rPr>
              <a:t>vertex</a:t>
            </a:r>
            <a:endParaRPr lang="en-US" sz="800" dirty="0"/>
          </a:p>
        </p:txBody>
      </p:sp>
      <p:sp>
        <p:nvSpPr>
          <p:cNvPr id="10" name="Text 8"/>
          <p:cNvSpPr txBox="1"/>
          <p:nvPr/>
        </p:nvSpPr>
        <p:spPr>
          <a:xfrm>
            <a:off x="8723376" y="1298448"/>
            <a:ext cx="932688" cy="475488"/>
          </a:xfrm>
          <a:prstGeom prst="rect">
            <a:avLst/>
          </a:prstGeom>
          <a:noFill/>
          <a:ln/>
        </p:spPr>
        <p:txBody>
          <a:bodyPr wrap="square" lIns="0" tIns="0" rIns="0" bIns="0" rtlCol="0" anchor="b"/>
          <a:lstStyle/>
          <a:p>
            <a:pPr algn="ctr" indent="0" marL="0">
              <a:buNone/>
            </a:pPr>
            <a:r>
              <a:rPr lang="en-US" sz="800" b="1" dirty="0">
                <a:solidFill>
                  <a:srgbClr val="2A5247"/>
                </a:solidFill>
              </a:rPr>
              <a:t>swap_</a:t>
            </a:r>
            <a:endParaRPr lang="en-US" sz="800" dirty="0"/>
          </a:p>
          <a:p>
            <a:pPr algn="ctr" indent="0" marL="0">
              <a:buNone/>
            </a:pPr>
            <a:r>
              <a:rPr lang="en-US" sz="800" b="1" dirty="0">
                <a:solidFill>
                  <a:srgbClr val="2A5247"/>
                </a:solidFill>
              </a:rPr>
              <a:t>any</a:t>
            </a:r>
            <a:endParaRPr lang="en-US" sz="800" dirty="0"/>
          </a:p>
        </p:txBody>
      </p:sp>
      <p:sp>
        <p:nvSpPr>
          <p:cNvPr id="11" name="Text 9"/>
          <p:cNvSpPr txBox="1"/>
          <p:nvPr/>
        </p:nvSpPr>
        <p:spPr>
          <a:xfrm>
            <a:off x="9656064" y="1298448"/>
            <a:ext cx="932688" cy="475488"/>
          </a:xfrm>
          <a:prstGeom prst="rect">
            <a:avLst/>
          </a:prstGeom>
          <a:noFill/>
          <a:ln/>
        </p:spPr>
        <p:txBody>
          <a:bodyPr wrap="square" lIns="0" tIns="0" rIns="0" bIns="0" rtlCol="0" anchor="b"/>
          <a:lstStyle/>
          <a:p>
            <a:pPr algn="ctr" indent="0" marL="0">
              <a:buNone/>
            </a:pPr>
            <a:r>
              <a:rPr lang="en-US" sz="800" b="1" dirty="0">
                <a:solidFill>
                  <a:srgbClr val="2A5247"/>
                </a:solidFill>
              </a:rPr>
              <a:t>reverse_</a:t>
            </a:r>
            <a:endParaRPr lang="en-US" sz="800" dirty="0"/>
          </a:p>
          <a:p>
            <a:pPr algn="ctr" indent="0" marL="0">
              <a:buNone/>
            </a:pPr>
            <a:r>
              <a:rPr lang="en-US" sz="800" b="1" dirty="0">
                <a:solidFill>
                  <a:srgbClr val="2A5247"/>
                </a:solidFill>
              </a:rPr>
              <a:t>segment</a:t>
            </a:r>
            <a:endParaRPr lang="en-US" sz="800" dirty="0"/>
          </a:p>
        </p:txBody>
      </p:sp>
      <p:sp>
        <p:nvSpPr>
          <p:cNvPr id="12" name="Text 10"/>
          <p:cNvSpPr txBox="1"/>
          <p:nvPr/>
        </p:nvSpPr>
        <p:spPr>
          <a:xfrm>
            <a:off x="10588752" y="1298448"/>
            <a:ext cx="932688" cy="475488"/>
          </a:xfrm>
          <a:prstGeom prst="rect">
            <a:avLst/>
          </a:prstGeom>
          <a:noFill/>
          <a:ln/>
        </p:spPr>
        <p:txBody>
          <a:bodyPr wrap="square" lIns="0" tIns="0" rIns="0" bIns="0" rtlCol="0" anchor="b"/>
          <a:lstStyle/>
          <a:p>
            <a:pPr algn="ctr" indent="0" marL="0">
              <a:buNone/>
            </a:pPr>
            <a:r>
              <a:rPr lang="en-US" sz="800" b="1" dirty="0">
                <a:solidFill>
                  <a:srgbClr val="2A5247"/>
                </a:solidFill>
              </a:rPr>
              <a:t>swap_</a:t>
            </a:r>
            <a:endParaRPr lang="en-US" sz="800" dirty="0"/>
          </a:p>
          <a:p>
            <a:pPr algn="ctr" indent="0" marL="0">
              <a:buNone/>
            </a:pPr>
            <a:r>
              <a:rPr lang="en-US" sz="800" b="1" dirty="0">
                <a:solidFill>
                  <a:srgbClr val="2A5247"/>
                </a:solidFill>
              </a:rPr>
              <a:t>neighbours</a:t>
            </a:r>
            <a:endParaRPr lang="en-US" sz="800" dirty="0"/>
          </a:p>
        </p:txBody>
      </p:sp>
      <p:sp>
        <p:nvSpPr>
          <p:cNvPr id="13" name="Text 11"/>
          <p:cNvSpPr txBox="1"/>
          <p:nvPr/>
        </p:nvSpPr>
        <p:spPr>
          <a:xfrm>
            <a:off x="6492240" y="1810512"/>
            <a:ext cx="1225296" cy="324612"/>
          </a:xfrm>
          <a:prstGeom prst="rect">
            <a:avLst/>
          </a:prstGeom>
          <a:noFill/>
          <a:ln/>
        </p:spPr>
        <p:txBody>
          <a:bodyPr wrap="square" lIns="0" tIns="0" rIns="0" bIns="0" rtlCol="0" anchor="ctr"/>
          <a:lstStyle/>
          <a:p>
            <a:pPr indent="0" marL="0">
              <a:buNone/>
            </a:pPr>
            <a:r>
              <a:rPr lang="en-US" sz="950" dirty="0">
                <a:solidFill>
                  <a:srgbClr val="11211C"/>
                </a:solidFill>
              </a:rPr>
              <a:t>small-graph</a:t>
            </a:r>
            <a:endParaRPr lang="en-US" sz="950" dirty="0"/>
          </a:p>
        </p:txBody>
      </p:sp>
      <p:sp>
        <p:nvSpPr>
          <p:cNvPr id="14" name="Shape 12"/>
          <p:cNvSpPr/>
          <p:nvPr/>
        </p:nvSpPr>
        <p:spPr>
          <a:xfrm>
            <a:off x="7790688" y="1810512"/>
            <a:ext cx="905256" cy="297180"/>
          </a:xfrm>
          <a:prstGeom prst="rect">
            <a:avLst/>
          </a:prstGeom>
          <a:solidFill>
            <a:srgbClr val="2A5247">
              <a:alpha val="44000"/>
            </a:srgbClr>
          </a:solidFill>
          <a:ln w="3175">
            <a:solidFill>
              <a:srgbClr val="2A5247">
                <a:alpha val="44000"/>
              </a:srgbClr>
            </a:solidFill>
            <a:prstDash val="solid"/>
          </a:ln>
        </p:spPr>
      </p:sp>
      <p:sp>
        <p:nvSpPr>
          <p:cNvPr id="15" name="Text 13"/>
          <p:cNvSpPr txBox="1"/>
          <p:nvPr/>
        </p:nvSpPr>
        <p:spPr>
          <a:xfrm>
            <a:off x="7790688" y="1810512"/>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0.1069%</a:t>
            </a:r>
            <a:endParaRPr lang="en-US" sz="750" dirty="0"/>
          </a:p>
        </p:txBody>
      </p:sp>
      <p:sp>
        <p:nvSpPr>
          <p:cNvPr id="16" name="Shape 14"/>
          <p:cNvSpPr/>
          <p:nvPr/>
        </p:nvSpPr>
        <p:spPr>
          <a:xfrm>
            <a:off x="8723376" y="1810512"/>
            <a:ext cx="905256" cy="297180"/>
          </a:xfrm>
          <a:prstGeom prst="rect">
            <a:avLst/>
          </a:prstGeom>
          <a:solidFill>
            <a:srgbClr val="2A5247">
              <a:alpha val="13000"/>
            </a:srgbClr>
          </a:solidFill>
          <a:ln w="3175">
            <a:solidFill>
              <a:srgbClr val="2A5247">
                <a:alpha val="13000"/>
              </a:srgbClr>
            </a:solidFill>
            <a:prstDash val="solid"/>
          </a:ln>
        </p:spPr>
      </p:sp>
      <p:sp>
        <p:nvSpPr>
          <p:cNvPr id="17" name="Text 15"/>
          <p:cNvSpPr txBox="1"/>
          <p:nvPr/>
        </p:nvSpPr>
        <p:spPr>
          <a:xfrm>
            <a:off x="8723376" y="1810512"/>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0.0210%</a:t>
            </a:r>
            <a:endParaRPr lang="en-US" sz="750" dirty="0"/>
          </a:p>
        </p:txBody>
      </p:sp>
      <p:sp>
        <p:nvSpPr>
          <p:cNvPr id="18" name="Shape 16"/>
          <p:cNvSpPr/>
          <p:nvPr/>
        </p:nvSpPr>
        <p:spPr>
          <a:xfrm>
            <a:off x="9656064" y="1810512"/>
            <a:ext cx="905256" cy="297180"/>
          </a:xfrm>
          <a:prstGeom prst="rect">
            <a:avLst/>
          </a:prstGeom>
          <a:solidFill>
            <a:srgbClr val="2A5247">
              <a:alpha val="7000"/>
            </a:srgbClr>
          </a:solidFill>
          <a:ln w="3175">
            <a:solidFill>
              <a:srgbClr val="2A5247">
                <a:alpha val="7000"/>
              </a:srgbClr>
            </a:solidFill>
            <a:prstDash val="solid"/>
          </a:ln>
        </p:spPr>
      </p:sp>
      <p:sp>
        <p:nvSpPr>
          <p:cNvPr id="19" name="Text 17"/>
          <p:cNvSpPr txBox="1"/>
          <p:nvPr/>
        </p:nvSpPr>
        <p:spPr>
          <a:xfrm>
            <a:off x="9656064" y="1810512"/>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0.0022%</a:t>
            </a:r>
            <a:endParaRPr lang="en-US" sz="750" dirty="0"/>
          </a:p>
        </p:txBody>
      </p:sp>
      <p:sp>
        <p:nvSpPr>
          <p:cNvPr id="20" name="Shape 18"/>
          <p:cNvSpPr/>
          <p:nvPr/>
        </p:nvSpPr>
        <p:spPr>
          <a:xfrm>
            <a:off x="10588752" y="1810512"/>
            <a:ext cx="905256" cy="297180"/>
          </a:xfrm>
          <a:prstGeom prst="rect">
            <a:avLst/>
          </a:prstGeom>
          <a:solidFill>
            <a:srgbClr val="FFFFFF"/>
          </a:solidFill>
          <a:ln w="6350">
            <a:solidFill>
              <a:srgbClr val="E0E6E3"/>
            </a:solidFill>
            <a:prstDash val="solid"/>
          </a:ln>
        </p:spPr>
      </p:sp>
      <p:sp>
        <p:nvSpPr>
          <p:cNvPr id="21" name="Text 19"/>
          <p:cNvSpPr txBox="1"/>
          <p:nvPr/>
        </p:nvSpPr>
        <p:spPr>
          <a:xfrm>
            <a:off x="10588752" y="1810512"/>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22" name="Text 20"/>
          <p:cNvSpPr txBox="1"/>
          <p:nvPr/>
        </p:nvSpPr>
        <p:spPr>
          <a:xfrm>
            <a:off x="6492240" y="2135124"/>
            <a:ext cx="1225296" cy="324612"/>
          </a:xfrm>
          <a:prstGeom prst="rect">
            <a:avLst/>
          </a:prstGeom>
          <a:noFill/>
          <a:ln/>
        </p:spPr>
        <p:txBody>
          <a:bodyPr wrap="square" lIns="0" tIns="0" rIns="0" bIns="0" rtlCol="0" anchor="ctr"/>
          <a:lstStyle/>
          <a:p>
            <a:pPr indent="0" marL="0">
              <a:buNone/>
            </a:pPr>
            <a:r>
              <a:rPr lang="en-US" sz="950" dirty="0">
                <a:solidFill>
                  <a:srgbClr val="11211C"/>
                </a:solidFill>
              </a:rPr>
              <a:t>medium-graph</a:t>
            </a:r>
            <a:endParaRPr lang="en-US" sz="950" dirty="0"/>
          </a:p>
        </p:txBody>
      </p:sp>
      <p:sp>
        <p:nvSpPr>
          <p:cNvPr id="23" name="Shape 21"/>
          <p:cNvSpPr/>
          <p:nvPr/>
        </p:nvSpPr>
        <p:spPr>
          <a:xfrm>
            <a:off x="7790688" y="2135124"/>
            <a:ext cx="905256" cy="297180"/>
          </a:xfrm>
          <a:prstGeom prst="rect">
            <a:avLst/>
          </a:prstGeom>
          <a:solidFill>
            <a:srgbClr val="2A5247">
              <a:alpha val="33000"/>
            </a:srgbClr>
          </a:solidFill>
          <a:ln w="3175">
            <a:solidFill>
              <a:srgbClr val="2A5247">
                <a:alpha val="33000"/>
              </a:srgbClr>
            </a:solidFill>
            <a:prstDash val="solid"/>
          </a:ln>
        </p:spPr>
      </p:sp>
      <p:sp>
        <p:nvSpPr>
          <p:cNvPr id="24" name="Text 22"/>
          <p:cNvSpPr txBox="1"/>
          <p:nvPr/>
        </p:nvSpPr>
        <p:spPr>
          <a:xfrm>
            <a:off x="7790688" y="2135124"/>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0.0774%</a:t>
            </a:r>
            <a:endParaRPr lang="en-US" sz="750" dirty="0"/>
          </a:p>
        </p:txBody>
      </p:sp>
      <p:sp>
        <p:nvSpPr>
          <p:cNvPr id="25" name="Shape 23"/>
          <p:cNvSpPr/>
          <p:nvPr/>
        </p:nvSpPr>
        <p:spPr>
          <a:xfrm>
            <a:off x="8723376" y="2135124"/>
            <a:ext cx="905256" cy="297180"/>
          </a:xfrm>
          <a:prstGeom prst="rect">
            <a:avLst/>
          </a:prstGeom>
          <a:solidFill>
            <a:srgbClr val="2A5247">
              <a:alpha val="37000"/>
            </a:srgbClr>
          </a:solidFill>
          <a:ln w="3175">
            <a:solidFill>
              <a:srgbClr val="2A5247">
                <a:alpha val="37000"/>
              </a:srgbClr>
            </a:solidFill>
            <a:prstDash val="solid"/>
          </a:ln>
        </p:spPr>
      </p:sp>
      <p:sp>
        <p:nvSpPr>
          <p:cNvPr id="26" name="Text 24"/>
          <p:cNvSpPr txBox="1"/>
          <p:nvPr/>
        </p:nvSpPr>
        <p:spPr>
          <a:xfrm>
            <a:off x="8723376" y="2135124"/>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0.0890%</a:t>
            </a:r>
            <a:endParaRPr lang="en-US" sz="750" dirty="0"/>
          </a:p>
        </p:txBody>
      </p:sp>
      <p:sp>
        <p:nvSpPr>
          <p:cNvPr id="27" name="Shape 25"/>
          <p:cNvSpPr/>
          <p:nvPr/>
        </p:nvSpPr>
        <p:spPr>
          <a:xfrm>
            <a:off x="9656064" y="2135124"/>
            <a:ext cx="905256" cy="297180"/>
          </a:xfrm>
          <a:prstGeom prst="rect">
            <a:avLst/>
          </a:prstGeom>
          <a:solidFill>
            <a:srgbClr val="FFFFFF"/>
          </a:solidFill>
          <a:ln w="6350">
            <a:solidFill>
              <a:srgbClr val="E0E6E3"/>
            </a:solidFill>
            <a:prstDash val="solid"/>
          </a:ln>
        </p:spPr>
      </p:sp>
      <p:sp>
        <p:nvSpPr>
          <p:cNvPr id="28" name="Text 26"/>
          <p:cNvSpPr txBox="1"/>
          <p:nvPr/>
        </p:nvSpPr>
        <p:spPr>
          <a:xfrm>
            <a:off x="9656064" y="2135124"/>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29" name="Shape 27"/>
          <p:cNvSpPr/>
          <p:nvPr/>
        </p:nvSpPr>
        <p:spPr>
          <a:xfrm>
            <a:off x="10588752" y="2135124"/>
            <a:ext cx="905256" cy="297180"/>
          </a:xfrm>
          <a:prstGeom prst="rect">
            <a:avLst/>
          </a:prstGeom>
          <a:solidFill>
            <a:srgbClr val="FFFFFF"/>
          </a:solidFill>
          <a:ln w="6350">
            <a:solidFill>
              <a:srgbClr val="E0E6E3"/>
            </a:solidFill>
            <a:prstDash val="solid"/>
          </a:ln>
        </p:spPr>
      </p:sp>
      <p:sp>
        <p:nvSpPr>
          <p:cNvPr id="30" name="Text 28"/>
          <p:cNvSpPr txBox="1"/>
          <p:nvPr/>
        </p:nvSpPr>
        <p:spPr>
          <a:xfrm>
            <a:off x="10588752" y="2135124"/>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31" name="Text 29"/>
          <p:cNvSpPr txBox="1"/>
          <p:nvPr/>
        </p:nvSpPr>
        <p:spPr>
          <a:xfrm>
            <a:off x="6492240" y="2459736"/>
            <a:ext cx="1225296" cy="324612"/>
          </a:xfrm>
          <a:prstGeom prst="rect">
            <a:avLst/>
          </a:prstGeom>
          <a:noFill/>
          <a:ln/>
        </p:spPr>
        <p:txBody>
          <a:bodyPr wrap="square" lIns="0" tIns="0" rIns="0" bIns="0" rtlCol="0" anchor="ctr"/>
          <a:lstStyle/>
          <a:p>
            <a:pPr indent="0" marL="0">
              <a:buNone/>
            </a:pPr>
            <a:r>
              <a:rPr lang="en-US" sz="950" dirty="0">
                <a:solidFill>
                  <a:srgbClr val="11211C"/>
                </a:solidFill>
              </a:rPr>
              <a:t>large-graph</a:t>
            </a:r>
            <a:endParaRPr lang="en-US" sz="950" dirty="0"/>
          </a:p>
        </p:txBody>
      </p:sp>
      <p:sp>
        <p:nvSpPr>
          <p:cNvPr id="32" name="Shape 30"/>
          <p:cNvSpPr/>
          <p:nvPr/>
        </p:nvSpPr>
        <p:spPr>
          <a:xfrm>
            <a:off x="7790688" y="2459736"/>
            <a:ext cx="905256" cy="297180"/>
          </a:xfrm>
          <a:prstGeom prst="rect">
            <a:avLst/>
          </a:prstGeom>
          <a:solidFill>
            <a:srgbClr val="2A5247">
              <a:alpha val="24000"/>
            </a:srgbClr>
          </a:solidFill>
          <a:ln w="3175">
            <a:solidFill>
              <a:srgbClr val="2A5247">
                <a:alpha val="24000"/>
              </a:srgbClr>
            </a:solidFill>
            <a:prstDash val="solid"/>
          </a:ln>
        </p:spPr>
      </p:sp>
      <p:sp>
        <p:nvSpPr>
          <p:cNvPr id="33" name="Text 31"/>
          <p:cNvSpPr txBox="1"/>
          <p:nvPr/>
        </p:nvSpPr>
        <p:spPr>
          <a:xfrm>
            <a:off x="7790688" y="2459736"/>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0.0506%</a:t>
            </a:r>
            <a:endParaRPr lang="en-US" sz="750" dirty="0"/>
          </a:p>
        </p:txBody>
      </p:sp>
      <p:sp>
        <p:nvSpPr>
          <p:cNvPr id="34" name="Shape 32"/>
          <p:cNvSpPr/>
          <p:nvPr/>
        </p:nvSpPr>
        <p:spPr>
          <a:xfrm>
            <a:off x="8723376" y="2459736"/>
            <a:ext cx="905256" cy="297180"/>
          </a:xfrm>
          <a:prstGeom prst="rect">
            <a:avLst/>
          </a:prstGeom>
          <a:solidFill>
            <a:srgbClr val="2A5247">
              <a:alpha val="36000"/>
            </a:srgbClr>
          </a:solidFill>
          <a:ln w="3175">
            <a:solidFill>
              <a:srgbClr val="2A5247">
                <a:alpha val="36000"/>
              </a:srgbClr>
            </a:solidFill>
            <a:prstDash val="solid"/>
          </a:ln>
        </p:spPr>
      </p:sp>
      <p:sp>
        <p:nvSpPr>
          <p:cNvPr id="35" name="Text 33"/>
          <p:cNvSpPr txBox="1"/>
          <p:nvPr/>
        </p:nvSpPr>
        <p:spPr>
          <a:xfrm>
            <a:off x="8723376" y="2459736"/>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0.0855%</a:t>
            </a:r>
            <a:endParaRPr lang="en-US" sz="750" dirty="0"/>
          </a:p>
        </p:txBody>
      </p:sp>
      <p:sp>
        <p:nvSpPr>
          <p:cNvPr id="36" name="Shape 34"/>
          <p:cNvSpPr/>
          <p:nvPr/>
        </p:nvSpPr>
        <p:spPr>
          <a:xfrm>
            <a:off x="9656064" y="2459736"/>
            <a:ext cx="905256" cy="297180"/>
          </a:xfrm>
          <a:prstGeom prst="rect">
            <a:avLst/>
          </a:prstGeom>
          <a:solidFill>
            <a:srgbClr val="FFFFFF"/>
          </a:solidFill>
          <a:ln w="6350">
            <a:solidFill>
              <a:srgbClr val="E0E6E3"/>
            </a:solidFill>
            <a:prstDash val="solid"/>
          </a:ln>
        </p:spPr>
      </p:sp>
      <p:sp>
        <p:nvSpPr>
          <p:cNvPr id="37" name="Text 35"/>
          <p:cNvSpPr txBox="1"/>
          <p:nvPr/>
        </p:nvSpPr>
        <p:spPr>
          <a:xfrm>
            <a:off x="9656064" y="2459736"/>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38" name="Shape 36"/>
          <p:cNvSpPr/>
          <p:nvPr/>
        </p:nvSpPr>
        <p:spPr>
          <a:xfrm>
            <a:off x="10588752" y="2459736"/>
            <a:ext cx="905256" cy="297180"/>
          </a:xfrm>
          <a:prstGeom prst="rect">
            <a:avLst/>
          </a:prstGeom>
          <a:solidFill>
            <a:srgbClr val="FFFFFF"/>
          </a:solidFill>
          <a:ln w="6350">
            <a:solidFill>
              <a:srgbClr val="E0E6E3"/>
            </a:solidFill>
            <a:prstDash val="solid"/>
          </a:ln>
        </p:spPr>
      </p:sp>
      <p:sp>
        <p:nvSpPr>
          <p:cNvPr id="39" name="Text 37"/>
          <p:cNvSpPr txBox="1"/>
          <p:nvPr/>
        </p:nvSpPr>
        <p:spPr>
          <a:xfrm>
            <a:off x="10588752" y="2459736"/>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40" name="Text 38"/>
          <p:cNvSpPr txBox="1"/>
          <p:nvPr/>
        </p:nvSpPr>
        <p:spPr>
          <a:xfrm>
            <a:off x="6492240" y="2784348"/>
            <a:ext cx="1225296" cy="324612"/>
          </a:xfrm>
          <a:prstGeom prst="rect">
            <a:avLst/>
          </a:prstGeom>
          <a:noFill/>
          <a:ln/>
        </p:spPr>
        <p:txBody>
          <a:bodyPr wrap="square" lIns="0" tIns="0" rIns="0" bIns="0" rtlCol="0" anchor="ctr"/>
          <a:lstStyle/>
          <a:p>
            <a:pPr indent="0" marL="0">
              <a:buNone/>
            </a:pPr>
            <a:r>
              <a:rPr lang="en-US" sz="950" dirty="0">
                <a:solidFill>
                  <a:srgbClr val="11211C"/>
                </a:solidFill>
              </a:rPr>
              <a:t>synth-1</a:t>
            </a:r>
            <a:endParaRPr lang="en-US" sz="950" dirty="0"/>
          </a:p>
        </p:txBody>
      </p:sp>
      <p:sp>
        <p:nvSpPr>
          <p:cNvPr id="41" name="Shape 39"/>
          <p:cNvSpPr/>
          <p:nvPr/>
        </p:nvSpPr>
        <p:spPr>
          <a:xfrm>
            <a:off x="7790688" y="2784348"/>
            <a:ext cx="905256" cy="297180"/>
          </a:xfrm>
          <a:prstGeom prst="rect">
            <a:avLst/>
          </a:prstGeom>
          <a:solidFill>
            <a:srgbClr val="2A5247">
              <a:alpha val="23000"/>
            </a:srgbClr>
          </a:solidFill>
          <a:ln w="3175">
            <a:solidFill>
              <a:srgbClr val="2A5247">
                <a:alpha val="23000"/>
              </a:srgbClr>
            </a:solidFill>
            <a:prstDash val="solid"/>
          </a:ln>
        </p:spPr>
      </p:sp>
      <p:sp>
        <p:nvSpPr>
          <p:cNvPr id="42" name="Text 40"/>
          <p:cNvSpPr txBox="1"/>
          <p:nvPr/>
        </p:nvSpPr>
        <p:spPr>
          <a:xfrm>
            <a:off x="7790688" y="2784348"/>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0.0488%</a:t>
            </a:r>
            <a:endParaRPr lang="en-US" sz="750" dirty="0"/>
          </a:p>
        </p:txBody>
      </p:sp>
      <p:sp>
        <p:nvSpPr>
          <p:cNvPr id="43" name="Shape 41"/>
          <p:cNvSpPr/>
          <p:nvPr/>
        </p:nvSpPr>
        <p:spPr>
          <a:xfrm>
            <a:off x="8723376" y="2784348"/>
            <a:ext cx="905256" cy="297180"/>
          </a:xfrm>
          <a:prstGeom prst="rect">
            <a:avLst/>
          </a:prstGeom>
          <a:solidFill>
            <a:srgbClr val="2A5247">
              <a:alpha val="6000"/>
            </a:srgbClr>
          </a:solidFill>
          <a:ln w="3175">
            <a:solidFill>
              <a:srgbClr val="2A5247">
                <a:alpha val="6000"/>
              </a:srgbClr>
            </a:solidFill>
            <a:prstDash val="solid"/>
          </a:ln>
        </p:spPr>
      </p:sp>
      <p:sp>
        <p:nvSpPr>
          <p:cNvPr id="44" name="Text 42"/>
          <p:cNvSpPr txBox="1"/>
          <p:nvPr/>
        </p:nvSpPr>
        <p:spPr>
          <a:xfrm>
            <a:off x="8723376" y="2784348"/>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0.0014%</a:t>
            </a:r>
            <a:endParaRPr lang="en-US" sz="750" dirty="0"/>
          </a:p>
        </p:txBody>
      </p:sp>
      <p:sp>
        <p:nvSpPr>
          <p:cNvPr id="45" name="Shape 43"/>
          <p:cNvSpPr/>
          <p:nvPr/>
        </p:nvSpPr>
        <p:spPr>
          <a:xfrm>
            <a:off x="9656064" y="2784348"/>
            <a:ext cx="905256" cy="297180"/>
          </a:xfrm>
          <a:prstGeom prst="rect">
            <a:avLst/>
          </a:prstGeom>
          <a:solidFill>
            <a:srgbClr val="2A5247">
              <a:alpha val="7000"/>
            </a:srgbClr>
          </a:solidFill>
          <a:ln w="3175">
            <a:solidFill>
              <a:srgbClr val="2A5247">
                <a:alpha val="7000"/>
              </a:srgbClr>
            </a:solidFill>
            <a:prstDash val="solid"/>
          </a:ln>
        </p:spPr>
      </p:sp>
      <p:sp>
        <p:nvSpPr>
          <p:cNvPr id="46" name="Text 44"/>
          <p:cNvSpPr txBox="1"/>
          <p:nvPr/>
        </p:nvSpPr>
        <p:spPr>
          <a:xfrm>
            <a:off x="9656064" y="2784348"/>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0.0019%</a:t>
            </a:r>
            <a:endParaRPr lang="en-US" sz="750" dirty="0"/>
          </a:p>
        </p:txBody>
      </p:sp>
      <p:sp>
        <p:nvSpPr>
          <p:cNvPr id="47" name="Shape 45"/>
          <p:cNvSpPr/>
          <p:nvPr/>
        </p:nvSpPr>
        <p:spPr>
          <a:xfrm>
            <a:off x="10588752" y="2784348"/>
            <a:ext cx="905256" cy="297180"/>
          </a:xfrm>
          <a:prstGeom prst="rect">
            <a:avLst/>
          </a:prstGeom>
          <a:solidFill>
            <a:srgbClr val="2A5247">
              <a:alpha val="7000"/>
            </a:srgbClr>
          </a:solidFill>
          <a:ln w="3175">
            <a:solidFill>
              <a:srgbClr val="2A5247">
                <a:alpha val="7000"/>
              </a:srgbClr>
            </a:solidFill>
            <a:prstDash val="solid"/>
          </a:ln>
        </p:spPr>
      </p:sp>
      <p:sp>
        <p:nvSpPr>
          <p:cNvPr id="48" name="Text 46"/>
          <p:cNvSpPr txBox="1"/>
          <p:nvPr/>
        </p:nvSpPr>
        <p:spPr>
          <a:xfrm>
            <a:off x="10588752" y="2784348"/>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0.0016%</a:t>
            </a:r>
            <a:endParaRPr lang="en-US" sz="750" dirty="0"/>
          </a:p>
        </p:txBody>
      </p:sp>
      <p:sp>
        <p:nvSpPr>
          <p:cNvPr id="49" name="Text 47"/>
          <p:cNvSpPr txBox="1"/>
          <p:nvPr/>
        </p:nvSpPr>
        <p:spPr>
          <a:xfrm>
            <a:off x="6492240" y="3108960"/>
            <a:ext cx="1225296" cy="324612"/>
          </a:xfrm>
          <a:prstGeom prst="rect">
            <a:avLst/>
          </a:prstGeom>
          <a:noFill/>
          <a:ln/>
        </p:spPr>
        <p:txBody>
          <a:bodyPr wrap="square" lIns="0" tIns="0" rIns="0" bIns="0" rtlCol="0" anchor="ctr"/>
          <a:lstStyle/>
          <a:p>
            <a:pPr indent="0" marL="0">
              <a:buNone/>
            </a:pPr>
            <a:r>
              <a:rPr lang="en-US" sz="950" dirty="0">
                <a:solidFill>
                  <a:srgbClr val="11211C"/>
                </a:solidFill>
              </a:rPr>
              <a:t>synth-2</a:t>
            </a:r>
            <a:endParaRPr lang="en-US" sz="950" dirty="0"/>
          </a:p>
        </p:txBody>
      </p:sp>
      <p:sp>
        <p:nvSpPr>
          <p:cNvPr id="50" name="Shape 48"/>
          <p:cNvSpPr/>
          <p:nvPr/>
        </p:nvSpPr>
        <p:spPr>
          <a:xfrm>
            <a:off x="7790688" y="3108960"/>
            <a:ext cx="905256" cy="297180"/>
          </a:xfrm>
          <a:prstGeom prst="rect">
            <a:avLst/>
          </a:prstGeom>
          <a:solidFill>
            <a:srgbClr val="2A5247">
              <a:alpha val="39000"/>
            </a:srgbClr>
          </a:solidFill>
          <a:ln w="3175">
            <a:solidFill>
              <a:srgbClr val="2A5247">
                <a:alpha val="39000"/>
              </a:srgbClr>
            </a:solidFill>
            <a:prstDash val="solid"/>
          </a:ln>
        </p:spPr>
      </p:sp>
      <p:sp>
        <p:nvSpPr>
          <p:cNvPr id="51" name="Text 49"/>
          <p:cNvSpPr txBox="1"/>
          <p:nvPr/>
        </p:nvSpPr>
        <p:spPr>
          <a:xfrm>
            <a:off x="7790688" y="3108960"/>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0.0944%</a:t>
            </a:r>
            <a:endParaRPr lang="en-US" sz="750" dirty="0"/>
          </a:p>
        </p:txBody>
      </p:sp>
      <p:sp>
        <p:nvSpPr>
          <p:cNvPr id="52" name="Shape 50"/>
          <p:cNvSpPr/>
          <p:nvPr/>
        </p:nvSpPr>
        <p:spPr>
          <a:xfrm>
            <a:off x="8723376" y="3108960"/>
            <a:ext cx="905256" cy="297180"/>
          </a:xfrm>
          <a:prstGeom prst="rect">
            <a:avLst/>
          </a:prstGeom>
          <a:solidFill>
            <a:srgbClr val="2A5247">
              <a:alpha val="7000"/>
            </a:srgbClr>
          </a:solidFill>
          <a:ln w="3175">
            <a:solidFill>
              <a:srgbClr val="2A5247">
                <a:alpha val="7000"/>
              </a:srgbClr>
            </a:solidFill>
            <a:prstDash val="solid"/>
          </a:ln>
        </p:spPr>
      </p:sp>
      <p:sp>
        <p:nvSpPr>
          <p:cNvPr id="53" name="Text 51"/>
          <p:cNvSpPr txBox="1"/>
          <p:nvPr/>
        </p:nvSpPr>
        <p:spPr>
          <a:xfrm>
            <a:off x="8723376" y="3108960"/>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0.0020%</a:t>
            </a:r>
            <a:endParaRPr lang="en-US" sz="750" dirty="0"/>
          </a:p>
        </p:txBody>
      </p:sp>
      <p:sp>
        <p:nvSpPr>
          <p:cNvPr id="54" name="Shape 52"/>
          <p:cNvSpPr/>
          <p:nvPr/>
        </p:nvSpPr>
        <p:spPr>
          <a:xfrm>
            <a:off x="9656064" y="3108960"/>
            <a:ext cx="905256" cy="297180"/>
          </a:xfrm>
          <a:prstGeom prst="rect">
            <a:avLst/>
          </a:prstGeom>
          <a:solidFill>
            <a:srgbClr val="2A5247">
              <a:alpha val="6000"/>
            </a:srgbClr>
          </a:solidFill>
          <a:ln w="3175">
            <a:solidFill>
              <a:srgbClr val="2A5247">
                <a:alpha val="6000"/>
              </a:srgbClr>
            </a:solidFill>
            <a:prstDash val="solid"/>
          </a:ln>
        </p:spPr>
      </p:sp>
      <p:sp>
        <p:nvSpPr>
          <p:cNvPr id="55" name="Text 53"/>
          <p:cNvSpPr txBox="1"/>
          <p:nvPr/>
        </p:nvSpPr>
        <p:spPr>
          <a:xfrm>
            <a:off x="9656064" y="3108960"/>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0.0010%</a:t>
            </a:r>
            <a:endParaRPr lang="en-US" sz="750" dirty="0"/>
          </a:p>
        </p:txBody>
      </p:sp>
      <p:sp>
        <p:nvSpPr>
          <p:cNvPr id="56" name="Shape 54"/>
          <p:cNvSpPr/>
          <p:nvPr/>
        </p:nvSpPr>
        <p:spPr>
          <a:xfrm>
            <a:off x="10588752" y="3108960"/>
            <a:ext cx="905256" cy="297180"/>
          </a:xfrm>
          <a:prstGeom prst="rect">
            <a:avLst/>
          </a:prstGeom>
          <a:solidFill>
            <a:srgbClr val="FFFFFF"/>
          </a:solidFill>
          <a:ln w="6350">
            <a:solidFill>
              <a:srgbClr val="E0E6E3"/>
            </a:solidFill>
            <a:prstDash val="solid"/>
          </a:ln>
        </p:spPr>
      </p:sp>
      <p:sp>
        <p:nvSpPr>
          <p:cNvPr id="57" name="Text 55"/>
          <p:cNvSpPr txBox="1"/>
          <p:nvPr/>
        </p:nvSpPr>
        <p:spPr>
          <a:xfrm>
            <a:off x="10588752" y="3108960"/>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58" name="Text 56"/>
          <p:cNvSpPr txBox="1"/>
          <p:nvPr/>
        </p:nvSpPr>
        <p:spPr>
          <a:xfrm>
            <a:off x="6492240" y="3433572"/>
            <a:ext cx="1225296" cy="324612"/>
          </a:xfrm>
          <a:prstGeom prst="rect">
            <a:avLst/>
          </a:prstGeom>
          <a:noFill/>
          <a:ln/>
        </p:spPr>
        <p:txBody>
          <a:bodyPr wrap="square" lIns="0" tIns="0" rIns="0" bIns="0" rtlCol="0" anchor="ctr"/>
          <a:lstStyle/>
          <a:p>
            <a:pPr indent="0" marL="0">
              <a:buNone/>
            </a:pPr>
            <a:r>
              <a:rPr lang="en-US" sz="950" dirty="0">
                <a:solidFill>
                  <a:srgbClr val="11211C"/>
                </a:solidFill>
              </a:rPr>
              <a:t>synth-3</a:t>
            </a:r>
            <a:endParaRPr lang="en-US" sz="950" dirty="0"/>
          </a:p>
        </p:txBody>
      </p:sp>
      <p:sp>
        <p:nvSpPr>
          <p:cNvPr id="59" name="Shape 57"/>
          <p:cNvSpPr/>
          <p:nvPr/>
        </p:nvSpPr>
        <p:spPr>
          <a:xfrm>
            <a:off x="7790688" y="3433572"/>
            <a:ext cx="905256" cy="297180"/>
          </a:xfrm>
          <a:prstGeom prst="rect">
            <a:avLst/>
          </a:prstGeom>
          <a:solidFill>
            <a:srgbClr val="2A5247">
              <a:alpha val="7000"/>
            </a:srgbClr>
          </a:solidFill>
          <a:ln w="3175">
            <a:solidFill>
              <a:srgbClr val="2A5247">
                <a:alpha val="7000"/>
              </a:srgbClr>
            </a:solidFill>
            <a:prstDash val="solid"/>
          </a:ln>
        </p:spPr>
      </p:sp>
      <p:sp>
        <p:nvSpPr>
          <p:cNvPr id="60" name="Text 58"/>
          <p:cNvSpPr txBox="1"/>
          <p:nvPr/>
        </p:nvSpPr>
        <p:spPr>
          <a:xfrm>
            <a:off x="7790688" y="3433572"/>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0.0031%</a:t>
            </a:r>
            <a:endParaRPr lang="en-US" sz="750" dirty="0"/>
          </a:p>
        </p:txBody>
      </p:sp>
      <p:sp>
        <p:nvSpPr>
          <p:cNvPr id="61" name="Shape 59"/>
          <p:cNvSpPr/>
          <p:nvPr/>
        </p:nvSpPr>
        <p:spPr>
          <a:xfrm>
            <a:off x="8723376" y="3433572"/>
            <a:ext cx="905256" cy="297180"/>
          </a:xfrm>
          <a:prstGeom prst="rect">
            <a:avLst/>
          </a:prstGeom>
          <a:solidFill>
            <a:srgbClr val="2A5247">
              <a:alpha val="6000"/>
            </a:srgbClr>
          </a:solidFill>
          <a:ln w="3175">
            <a:solidFill>
              <a:srgbClr val="2A5247">
                <a:alpha val="6000"/>
              </a:srgbClr>
            </a:solidFill>
            <a:prstDash val="solid"/>
          </a:ln>
        </p:spPr>
      </p:sp>
      <p:sp>
        <p:nvSpPr>
          <p:cNvPr id="62" name="Text 60"/>
          <p:cNvSpPr txBox="1"/>
          <p:nvPr/>
        </p:nvSpPr>
        <p:spPr>
          <a:xfrm>
            <a:off x="8723376" y="3433572"/>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0.0006%</a:t>
            </a:r>
            <a:endParaRPr lang="en-US" sz="750" dirty="0"/>
          </a:p>
        </p:txBody>
      </p:sp>
      <p:sp>
        <p:nvSpPr>
          <p:cNvPr id="63" name="Shape 61"/>
          <p:cNvSpPr/>
          <p:nvPr/>
        </p:nvSpPr>
        <p:spPr>
          <a:xfrm>
            <a:off x="9656064" y="3433572"/>
            <a:ext cx="905256" cy="297180"/>
          </a:xfrm>
          <a:prstGeom prst="rect">
            <a:avLst/>
          </a:prstGeom>
          <a:solidFill>
            <a:srgbClr val="2A5247">
              <a:alpha val="6000"/>
            </a:srgbClr>
          </a:solidFill>
          <a:ln w="3175">
            <a:solidFill>
              <a:srgbClr val="2A5247">
                <a:alpha val="6000"/>
              </a:srgbClr>
            </a:solidFill>
            <a:prstDash val="solid"/>
          </a:ln>
        </p:spPr>
      </p:sp>
      <p:sp>
        <p:nvSpPr>
          <p:cNvPr id="64" name="Text 62"/>
          <p:cNvSpPr txBox="1"/>
          <p:nvPr/>
        </p:nvSpPr>
        <p:spPr>
          <a:xfrm>
            <a:off x="9656064" y="3433572"/>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0.0003%</a:t>
            </a:r>
            <a:endParaRPr lang="en-US" sz="750" dirty="0"/>
          </a:p>
        </p:txBody>
      </p:sp>
      <p:sp>
        <p:nvSpPr>
          <p:cNvPr id="65" name="Shape 63"/>
          <p:cNvSpPr/>
          <p:nvPr/>
        </p:nvSpPr>
        <p:spPr>
          <a:xfrm>
            <a:off x="10588752" y="3433572"/>
            <a:ext cx="905256" cy="297180"/>
          </a:xfrm>
          <a:prstGeom prst="rect">
            <a:avLst/>
          </a:prstGeom>
          <a:solidFill>
            <a:srgbClr val="2A5247">
              <a:alpha val="7000"/>
            </a:srgbClr>
          </a:solidFill>
          <a:ln w="3175">
            <a:solidFill>
              <a:srgbClr val="2A5247">
                <a:alpha val="7000"/>
              </a:srgbClr>
            </a:solidFill>
            <a:prstDash val="solid"/>
          </a:ln>
        </p:spPr>
      </p:sp>
      <p:sp>
        <p:nvSpPr>
          <p:cNvPr id="66" name="Text 64"/>
          <p:cNvSpPr txBox="1"/>
          <p:nvPr/>
        </p:nvSpPr>
        <p:spPr>
          <a:xfrm>
            <a:off x="10588752" y="3433572"/>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0.0030%</a:t>
            </a:r>
            <a:endParaRPr lang="en-US" sz="750" dirty="0"/>
          </a:p>
        </p:txBody>
      </p:sp>
      <p:sp>
        <p:nvSpPr>
          <p:cNvPr id="67" name="Text 65"/>
          <p:cNvSpPr txBox="1"/>
          <p:nvPr/>
        </p:nvSpPr>
        <p:spPr>
          <a:xfrm>
            <a:off x="6492240" y="3758184"/>
            <a:ext cx="1225296" cy="324612"/>
          </a:xfrm>
          <a:prstGeom prst="rect">
            <a:avLst/>
          </a:prstGeom>
          <a:noFill/>
          <a:ln/>
        </p:spPr>
        <p:txBody>
          <a:bodyPr wrap="square" lIns="0" tIns="0" rIns="0" bIns="0" rtlCol="0" anchor="ctr"/>
          <a:lstStyle/>
          <a:p>
            <a:pPr indent="0" marL="0">
              <a:buNone/>
            </a:pPr>
            <a:r>
              <a:rPr lang="en-US" sz="950" dirty="0">
                <a:solidFill>
                  <a:srgbClr val="11211C"/>
                </a:solidFill>
              </a:rPr>
              <a:t>synth-4</a:t>
            </a:r>
            <a:endParaRPr lang="en-US" sz="950" dirty="0"/>
          </a:p>
        </p:txBody>
      </p:sp>
      <p:sp>
        <p:nvSpPr>
          <p:cNvPr id="68" name="Shape 66"/>
          <p:cNvSpPr/>
          <p:nvPr/>
        </p:nvSpPr>
        <p:spPr>
          <a:xfrm>
            <a:off x="7790688" y="3758184"/>
            <a:ext cx="905256" cy="297180"/>
          </a:xfrm>
          <a:prstGeom prst="rect">
            <a:avLst/>
          </a:prstGeom>
          <a:solidFill>
            <a:srgbClr val="2A5247">
              <a:alpha val="61000"/>
            </a:srgbClr>
          </a:solidFill>
          <a:ln w="3175">
            <a:solidFill>
              <a:srgbClr val="2A5247">
                <a:alpha val="61000"/>
              </a:srgbClr>
            </a:solidFill>
            <a:prstDash val="solid"/>
          </a:ln>
        </p:spPr>
      </p:sp>
      <p:sp>
        <p:nvSpPr>
          <p:cNvPr id="69" name="Text 67"/>
          <p:cNvSpPr txBox="1"/>
          <p:nvPr/>
        </p:nvSpPr>
        <p:spPr>
          <a:xfrm>
            <a:off x="7790688" y="3758184"/>
            <a:ext cx="905256" cy="297180"/>
          </a:xfrm>
          <a:prstGeom prst="rect">
            <a:avLst/>
          </a:prstGeom>
          <a:noFill/>
          <a:ln/>
        </p:spPr>
        <p:txBody>
          <a:bodyPr wrap="square" lIns="0" tIns="0" rIns="0" bIns="0" rtlCol="0" anchor="ctr"/>
          <a:lstStyle/>
          <a:p>
            <a:pPr algn="ctr" indent="0" marL="0">
              <a:buNone/>
            </a:pPr>
            <a:r>
              <a:rPr lang="en-US" sz="750" dirty="0">
                <a:solidFill>
                  <a:srgbClr val="FFFFFF"/>
                </a:solidFill>
              </a:rPr>
              <a:t>0.1554%</a:t>
            </a:r>
            <a:endParaRPr lang="en-US" sz="750" dirty="0"/>
          </a:p>
        </p:txBody>
      </p:sp>
      <p:sp>
        <p:nvSpPr>
          <p:cNvPr id="70" name="Shape 68"/>
          <p:cNvSpPr/>
          <p:nvPr/>
        </p:nvSpPr>
        <p:spPr>
          <a:xfrm>
            <a:off x="8723376" y="3758184"/>
            <a:ext cx="905256" cy="297180"/>
          </a:xfrm>
          <a:prstGeom prst="rect">
            <a:avLst/>
          </a:prstGeom>
          <a:solidFill>
            <a:srgbClr val="2A5247">
              <a:alpha val="88000"/>
            </a:srgbClr>
          </a:solidFill>
          <a:ln w="3175">
            <a:solidFill>
              <a:srgbClr val="2A5247">
                <a:alpha val="88000"/>
              </a:srgbClr>
            </a:solidFill>
            <a:prstDash val="solid"/>
          </a:ln>
        </p:spPr>
      </p:sp>
      <p:sp>
        <p:nvSpPr>
          <p:cNvPr id="71" name="Text 69"/>
          <p:cNvSpPr txBox="1"/>
          <p:nvPr/>
        </p:nvSpPr>
        <p:spPr>
          <a:xfrm>
            <a:off x="8723376" y="3758184"/>
            <a:ext cx="905256" cy="297180"/>
          </a:xfrm>
          <a:prstGeom prst="rect">
            <a:avLst/>
          </a:prstGeom>
          <a:noFill/>
          <a:ln/>
        </p:spPr>
        <p:txBody>
          <a:bodyPr wrap="square" lIns="0" tIns="0" rIns="0" bIns="0" rtlCol="0" anchor="ctr"/>
          <a:lstStyle/>
          <a:p>
            <a:pPr algn="ctr" indent="0" marL="0">
              <a:buNone/>
            </a:pPr>
            <a:r>
              <a:rPr lang="en-US" sz="750" dirty="0">
                <a:solidFill>
                  <a:srgbClr val="FFFFFF"/>
                </a:solidFill>
              </a:rPr>
              <a:t>0.2327%</a:t>
            </a:r>
            <a:endParaRPr lang="en-US" sz="750" dirty="0"/>
          </a:p>
        </p:txBody>
      </p:sp>
      <p:sp>
        <p:nvSpPr>
          <p:cNvPr id="72" name="Shape 70"/>
          <p:cNvSpPr/>
          <p:nvPr/>
        </p:nvSpPr>
        <p:spPr>
          <a:xfrm>
            <a:off x="9656064" y="3758184"/>
            <a:ext cx="905256" cy="297180"/>
          </a:xfrm>
          <a:prstGeom prst="rect">
            <a:avLst/>
          </a:prstGeom>
          <a:solidFill>
            <a:srgbClr val="FFFFFF"/>
          </a:solidFill>
          <a:ln w="6350">
            <a:solidFill>
              <a:srgbClr val="E0E6E3"/>
            </a:solidFill>
            <a:prstDash val="solid"/>
          </a:ln>
        </p:spPr>
      </p:sp>
      <p:sp>
        <p:nvSpPr>
          <p:cNvPr id="73" name="Text 71"/>
          <p:cNvSpPr txBox="1"/>
          <p:nvPr/>
        </p:nvSpPr>
        <p:spPr>
          <a:xfrm>
            <a:off x="9656064" y="3758184"/>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74" name="Shape 72"/>
          <p:cNvSpPr/>
          <p:nvPr/>
        </p:nvSpPr>
        <p:spPr>
          <a:xfrm>
            <a:off x="10588752" y="3758184"/>
            <a:ext cx="905256" cy="297180"/>
          </a:xfrm>
          <a:prstGeom prst="rect">
            <a:avLst/>
          </a:prstGeom>
          <a:solidFill>
            <a:srgbClr val="FFFFFF"/>
          </a:solidFill>
          <a:ln w="6350">
            <a:solidFill>
              <a:srgbClr val="E0E6E3"/>
            </a:solidFill>
            <a:prstDash val="solid"/>
          </a:ln>
        </p:spPr>
      </p:sp>
      <p:sp>
        <p:nvSpPr>
          <p:cNvPr id="75" name="Text 73"/>
          <p:cNvSpPr txBox="1"/>
          <p:nvPr/>
        </p:nvSpPr>
        <p:spPr>
          <a:xfrm>
            <a:off x="10588752" y="3758184"/>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76" name="Text 74"/>
          <p:cNvSpPr txBox="1"/>
          <p:nvPr/>
        </p:nvSpPr>
        <p:spPr>
          <a:xfrm>
            <a:off x="6492240" y="4082796"/>
            <a:ext cx="1225296" cy="324612"/>
          </a:xfrm>
          <a:prstGeom prst="rect">
            <a:avLst/>
          </a:prstGeom>
          <a:noFill/>
          <a:ln/>
        </p:spPr>
        <p:txBody>
          <a:bodyPr wrap="square" lIns="0" tIns="0" rIns="0" bIns="0" rtlCol="0" anchor="ctr"/>
          <a:lstStyle/>
          <a:p>
            <a:pPr indent="0" marL="0">
              <a:buNone/>
            </a:pPr>
            <a:r>
              <a:rPr lang="en-US" sz="950" dirty="0">
                <a:solidFill>
                  <a:srgbClr val="11211C"/>
                </a:solidFill>
              </a:rPr>
              <a:t>synth-5</a:t>
            </a:r>
            <a:endParaRPr lang="en-US" sz="950" dirty="0"/>
          </a:p>
        </p:txBody>
      </p:sp>
      <p:sp>
        <p:nvSpPr>
          <p:cNvPr id="77" name="Shape 75"/>
          <p:cNvSpPr/>
          <p:nvPr/>
        </p:nvSpPr>
        <p:spPr>
          <a:xfrm>
            <a:off x="7790688" y="4082796"/>
            <a:ext cx="905256" cy="297180"/>
          </a:xfrm>
          <a:prstGeom prst="rect">
            <a:avLst/>
          </a:prstGeom>
          <a:solidFill>
            <a:srgbClr val="2A5247">
              <a:alpha val="27000"/>
            </a:srgbClr>
          </a:solidFill>
          <a:ln w="3175">
            <a:solidFill>
              <a:srgbClr val="2A5247">
                <a:alpha val="27000"/>
              </a:srgbClr>
            </a:solidFill>
            <a:prstDash val="solid"/>
          </a:ln>
        </p:spPr>
      </p:sp>
      <p:sp>
        <p:nvSpPr>
          <p:cNvPr id="78" name="Text 76"/>
          <p:cNvSpPr txBox="1"/>
          <p:nvPr/>
        </p:nvSpPr>
        <p:spPr>
          <a:xfrm>
            <a:off x="7790688" y="4082796"/>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0.0593%</a:t>
            </a:r>
            <a:endParaRPr lang="en-US" sz="750" dirty="0"/>
          </a:p>
        </p:txBody>
      </p:sp>
      <p:sp>
        <p:nvSpPr>
          <p:cNvPr id="79" name="Shape 77"/>
          <p:cNvSpPr/>
          <p:nvPr/>
        </p:nvSpPr>
        <p:spPr>
          <a:xfrm>
            <a:off x="8723376" y="4082796"/>
            <a:ext cx="905256" cy="297180"/>
          </a:xfrm>
          <a:prstGeom prst="rect">
            <a:avLst/>
          </a:prstGeom>
          <a:solidFill>
            <a:srgbClr val="2A5247">
              <a:alpha val="54000"/>
            </a:srgbClr>
          </a:solidFill>
          <a:ln w="3175">
            <a:solidFill>
              <a:srgbClr val="2A5247">
                <a:alpha val="54000"/>
              </a:srgbClr>
            </a:solidFill>
            <a:prstDash val="solid"/>
          </a:ln>
        </p:spPr>
      </p:sp>
      <p:sp>
        <p:nvSpPr>
          <p:cNvPr id="80" name="Text 78"/>
          <p:cNvSpPr txBox="1"/>
          <p:nvPr/>
        </p:nvSpPr>
        <p:spPr>
          <a:xfrm>
            <a:off x="8723376" y="4082796"/>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0.1371%</a:t>
            </a:r>
            <a:endParaRPr lang="en-US" sz="750" dirty="0"/>
          </a:p>
        </p:txBody>
      </p:sp>
      <p:sp>
        <p:nvSpPr>
          <p:cNvPr id="81" name="Shape 79"/>
          <p:cNvSpPr/>
          <p:nvPr/>
        </p:nvSpPr>
        <p:spPr>
          <a:xfrm>
            <a:off x="9656064" y="4082796"/>
            <a:ext cx="905256" cy="297180"/>
          </a:xfrm>
          <a:prstGeom prst="rect">
            <a:avLst/>
          </a:prstGeom>
          <a:solidFill>
            <a:srgbClr val="FFFFFF"/>
          </a:solidFill>
          <a:ln w="6350">
            <a:solidFill>
              <a:srgbClr val="E0E6E3"/>
            </a:solidFill>
            <a:prstDash val="solid"/>
          </a:ln>
        </p:spPr>
      </p:sp>
      <p:sp>
        <p:nvSpPr>
          <p:cNvPr id="82" name="Text 80"/>
          <p:cNvSpPr txBox="1"/>
          <p:nvPr/>
        </p:nvSpPr>
        <p:spPr>
          <a:xfrm>
            <a:off x="9656064" y="4082796"/>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83" name="Shape 81"/>
          <p:cNvSpPr/>
          <p:nvPr/>
        </p:nvSpPr>
        <p:spPr>
          <a:xfrm>
            <a:off x="10588752" y="4082796"/>
            <a:ext cx="905256" cy="297180"/>
          </a:xfrm>
          <a:prstGeom prst="rect">
            <a:avLst/>
          </a:prstGeom>
          <a:solidFill>
            <a:srgbClr val="FFFFFF"/>
          </a:solidFill>
          <a:ln w="6350">
            <a:solidFill>
              <a:srgbClr val="E0E6E3"/>
            </a:solidFill>
            <a:prstDash val="solid"/>
          </a:ln>
        </p:spPr>
      </p:sp>
      <p:sp>
        <p:nvSpPr>
          <p:cNvPr id="84" name="Text 82"/>
          <p:cNvSpPr txBox="1"/>
          <p:nvPr/>
        </p:nvSpPr>
        <p:spPr>
          <a:xfrm>
            <a:off x="10588752" y="4082796"/>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85" name="Text 83"/>
          <p:cNvSpPr txBox="1"/>
          <p:nvPr/>
        </p:nvSpPr>
        <p:spPr>
          <a:xfrm>
            <a:off x="6492240" y="4407408"/>
            <a:ext cx="1225296" cy="324612"/>
          </a:xfrm>
          <a:prstGeom prst="rect">
            <a:avLst/>
          </a:prstGeom>
          <a:noFill/>
          <a:ln/>
        </p:spPr>
        <p:txBody>
          <a:bodyPr wrap="square" lIns="0" tIns="0" rIns="0" bIns="0" rtlCol="0" anchor="ctr"/>
          <a:lstStyle/>
          <a:p>
            <a:pPr indent="0" marL="0">
              <a:buNone/>
            </a:pPr>
            <a:r>
              <a:rPr lang="en-US" sz="950" dirty="0">
                <a:solidFill>
                  <a:srgbClr val="11211C"/>
                </a:solidFill>
              </a:rPr>
              <a:t>synth-6</a:t>
            </a:r>
            <a:endParaRPr lang="en-US" sz="950" dirty="0"/>
          </a:p>
        </p:txBody>
      </p:sp>
      <p:sp>
        <p:nvSpPr>
          <p:cNvPr id="86" name="Shape 84"/>
          <p:cNvSpPr/>
          <p:nvPr/>
        </p:nvSpPr>
        <p:spPr>
          <a:xfrm>
            <a:off x="7790688" y="4407408"/>
            <a:ext cx="905256" cy="297180"/>
          </a:xfrm>
          <a:prstGeom prst="rect">
            <a:avLst/>
          </a:prstGeom>
          <a:solidFill>
            <a:srgbClr val="2A5247">
              <a:alpha val="7000"/>
            </a:srgbClr>
          </a:solidFill>
          <a:ln w="3175">
            <a:solidFill>
              <a:srgbClr val="2A5247">
                <a:alpha val="7000"/>
              </a:srgbClr>
            </a:solidFill>
            <a:prstDash val="solid"/>
          </a:ln>
        </p:spPr>
      </p:sp>
      <p:sp>
        <p:nvSpPr>
          <p:cNvPr id="87" name="Text 85"/>
          <p:cNvSpPr txBox="1"/>
          <p:nvPr/>
        </p:nvSpPr>
        <p:spPr>
          <a:xfrm>
            <a:off x="7790688" y="4407408"/>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0.0033%</a:t>
            </a:r>
            <a:endParaRPr lang="en-US" sz="750" dirty="0"/>
          </a:p>
        </p:txBody>
      </p:sp>
      <p:sp>
        <p:nvSpPr>
          <p:cNvPr id="88" name="Shape 86"/>
          <p:cNvSpPr/>
          <p:nvPr/>
        </p:nvSpPr>
        <p:spPr>
          <a:xfrm>
            <a:off x="8723376" y="4407408"/>
            <a:ext cx="905256" cy="297180"/>
          </a:xfrm>
          <a:prstGeom prst="rect">
            <a:avLst/>
          </a:prstGeom>
          <a:solidFill>
            <a:srgbClr val="2A5247">
              <a:alpha val="7000"/>
            </a:srgbClr>
          </a:solidFill>
          <a:ln w="3175">
            <a:solidFill>
              <a:srgbClr val="2A5247">
                <a:alpha val="7000"/>
              </a:srgbClr>
            </a:solidFill>
            <a:prstDash val="solid"/>
          </a:ln>
        </p:spPr>
      </p:sp>
      <p:sp>
        <p:nvSpPr>
          <p:cNvPr id="89" name="Text 87"/>
          <p:cNvSpPr txBox="1"/>
          <p:nvPr/>
        </p:nvSpPr>
        <p:spPr>
          <a:xfrm>
            <a:off x="8723376" y="4407408"/>
            <a:ext cx="905256" cy="297180"/>
          </a:xfrm>
          <a:prstGeom prst="rect">
            <a:avLst/>
          </a:prstGeom>
          <a:noFill/>
          <a:ln/>
        </p:spPr>
        <p:txBody>
          <a:bodyPr wrap="square" lIns="0" tIns="0" rIns="0" bIns="0" rtlCol="0" anchor="ctr"/>
          <a:lstStyle/>
          <a:p>
            <a:pPr algn="ctr" indent="0" marL="0">
              <a:buNone/>
            </a:pPr>
            <a:r>
              <a:rPr lang="en-US" sz="750" dirty="0">
                <a:solidFill>
                  <a:srgbClr val="11211C"/>
                </a:solidFill>
              </a:rPr>
              <a:t>0.0034%</a:t>
            </a:r>
            <a:endParaRPr lang="en-US" sz="750" dirty="0"/>
          </a:p>
        </p:txBody>
      </p:sp>
      <p:sp>
        <p:nvSpPr>
          <p:cNvPr id="90" name="Shape 88"/>
          <p:cNvSpPr/>
          <p:nvPr/>
        </p:nvSpPr>
        <p:spPr>
          <a:xfrm>
            <a:off x="9656064" y="4407408"/>
            <a:ext cx="905256" cy="297180"/>
          </a:xfrm>
          <a:prstGeom prst="rect">
            <a:avLst/>
          </a:prstGeom>
          <a:solidFill>
            <a:srgbClr val="FFFFFF"/>
          </a:solidFill>
          <a:ln w="6350">
            <a:solidFill>
              <a:srgbClr val="E0E6E3"/>
            </a:solidFill>
            <a:prstDash val="solid"/>
          </a:ln>
        </p:spPr>
      </p:sp>
      <p:sp>
        <p:nvSpPr>
          <p:cNvPr id="91" name="Text 89"/>
          <p:cNvSpPr txBox="1"/>
          <p:nvPr/>
        </p:nvSpPr>
        <p:spPr>
          <a:xfrm>
            <a:off x="9656064" y="4407408"/>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92" name="Shape 90"/>
          <p:cNvSpPr/>
          <p:nvPr/>
        </p:nvSpPr>
        <p:spPr>
          <a:xfrm>
            <a:off x="10588752" y="4407408"/>
            <a:ext cx="905256" cy="297180"/>
          </a:xfrm>
          <a:prstGeom prst="rect">
            <a:avLst/>
          </a:prstGeom>
          <a:solidFill>
            <a:srgbClr val="FFFFFF"/>
          </a:solidFill>
          <a:ln w="6350">
            <a:solidFill>
              <a:srgbClr val="E0E6E3"/>
            </a:solidFill>
            <a:prstDash val="solid"/>
          </a:ln>
        </p:spPr>
      </p:sp>
      <p:sp>
        <p:nvSpPr>
          <p:cNvPr id="93" name="Text 91"/>
          <p:cNvSpPr txBox="1"/>
          <p:nvPr/>
        </p:nvSpPr>
        <p:spPr>
          <a:xfrm>
            <a:off x="10588752" y="4407408"/>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94" name="Text 92"/>
          <p:cNvSpPr txBox="1"/>
          <p:nvPr/>
        </p:nvSpPr>
        <p:spPr>
          <a:xfrm>
            <a:off x="6492240" y="4732020"/>
            <a:ext cx="1225296" cy="324612"/>
          </a:xfrm>
          <a:prstGeom prst="rect">
            <a:avLst/>
          </a:prstGeom>
          <a:noFill/>
          <a:ln/>
        </p:spPr>
        <p:txBody>
          <a:bodyPr wrap="square" lIns="0" tIns="0" rIns="0" bIns="0" rtlCol="0" anchor="ctr"/>
          <a:lstStyle/>
          <a:p>
            <a:pPr indent="0" marL="0">
              <a:buNone/>
            </a:pPr>
            <a:r>
              <a:rPr lang="en-US" sz="950" dirty="0">
                <a:solidFill>
                  <a:srgbClr val="11211C"/>
                </a:solidFill>
              </a:rPr>
              <a:t>synth-7</a:t>
            </a:r>
            <a:endParaRPr lang="en-US" sz="950" dirty="0"/>
          </a:p>
        </p:txBody>
      </p:sp>
      <p:sp>
        <p:nvSpPr>
          <p:cNvPr id="95" name="Shape 93"/>
          <p:cNvSpPr/>
          <p:nvPr/>
        </p:nvSpPr>
        <p:spPr>
          <a:xfrm>
            <a:off x="7790688" y="4732020"/>
            <a:ext cx="905256" cy="297180"/>
          </a:xfrm>
          <a:prstGeom prst="rect">
            <a:avLst/>
          </a:prstGeom>
          <a:solidFill>
            <a:srgbClr val="FFFFFF"/>
          </a:solidFill>
          <a:ln w="6350">
            <a:solidFill>
              <a:srgbClr val="E0E6E3"/>
            </a:solidFill>
            <a:prstDash val="solid"/>
          </a:ln>
        </p:spPr>
      </p:sp>
      <p:sp>
        <p:nvSpPr>
          <p:cNvPr id="96" name="Text 94"/>
          <p:cNvSpPr txBox="1"/>
          <p:nvPr/>
        </p:nvSpPr>
        <p:spPr>
          <a:xfrm>
            <a:off x="7790688" y="4732020"/>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97" name="Shape 95"/>
          <p:cNvSpPr/>
          <p:nvPr/>
        </p:nvSpPr>
        <p:spPr>
          <a:xfrm>
            <a:off x="8723376" y="4732020"/>
            <a:ext cx="905256" cy="297180"/>
          </a:xfrm>
          <a:prstGeom prst="rect">
            <a:avLst/>
          </a:prstGeom>
          <a:solidFill>
            <a:srgbClr val="FFFFFF"/>
          </a:solidFill>
          <a:ln w="6350">
            <a:solidFill>
              <a:srgbClr val="E0E6E3"/>
            </a:solidFill>
            <a:prstDash val="solid"/>
          </a:ln>
        </p:spPr>
      </p:sp>
      <p:sp>
        <p:nvSpPr>
          <p:cNvPr id="98" name="Text 96"/>
          <p:cNvSpPr txBox="1"/>
          <p:nvPr/>
        </p:nvSpPr>
        <p:spPr>
          <a:xfrm>
            <a:off x="8723376" y="4732020"/>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99" name="Shape 97"/>
          <p:cNvSpPr/>
          <p:nvPr/>
        </p:nvSpPr>
        <p:spPr>
          <a:xfrm>
            <a:off x="9656064" y="4732020"/>
            <a:ext cx="905256" cy="297180"/>
          </a:xfrm>
          <a:prstGeom prst="rect">
            <a:avLst/>
          </a:prstGeom>
          <a:solidFill>
            <a:srgbClr val="FFFFFF"/>
          </a:solidFill>
          <a:ln w="6350">
            <a:solidFill>
              <a:srgbClr val="E0E6E3"/>
            </a:solidFill>
            <a:prstDash val="solid"/>
          </a:ln>
        </p:spPr>
      </p:sp>
      <p:sp>
        <p:nvSpPr>
          <p:cNvPr id="100" name="Text 98"/>
          <p:cNvSpPr txBox="1"/>
          <p:nvPr/>
        </p:nvSpPr>
        <p:spPr>
          <a:xfrm>
            <a:off x="9656064" y="4732020"/>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101" name="Shape 99"/>
          <p:cNvSpPr/>
          <p:nvPr/>
        </p:nvSpPr>
        <p:spPr>
          <a:xfrm>
            <a:off x="10588752" y="4732020"/>
            <a:ext cx="905256" cy="297180"/>
          </a:xfrm>
          <a:prstGeom prst="rect">
            <a:avLst/>
          </a:prstGeom>
          <a:solidFill>
            <a:srgbClr val="FFFFFF"/>
          </a:solidFill>
          <a:ln w="6350">
            <a:solidFill>
              <a:srgbClr val="E0E6E3"/>
            </a:solidFill>
            <a:prstDash val="solid"/>
          </a:ln>
        </p:spPr>
      </p:sp>
      <p:sp>
        <p:nvSpPr>
          <p:cNvPr id="102" name="Text 100"/>
          <p:cNvSpPr txBox="1"/>
          <p:nvPr/>
        </p:nvSpPr>
        <p:spPr>
          <a:xfrm>
            <a:off x="10588752" y="4732020"/>
            <a:ext cx="905256" cy="297180"/>
          </a:xfrm>
          <a:prstGeom prst="rect">
            <a:avLst/>
          </a:prstGeom>
          <a:noFill/>
          <a:ln/>
        </p:spPr>
        <p:txBody>
          <a:bodyPr wrap="square" lIns="0" tIns="0" rIns="0" bIns="0" rtlCol="0" anchor="ctr"/>
          <a:lstStyle/>
          <a:p>
            <a:pPr algn="ctr" indent="0" marL="0">
              <a:buNone/>
            </a:pPr>
            <a:r>
              <a:rPr lang="en-US" sz="750" i="1" dirty="0">
                <a:solidFill>
                  <a:srgbClr val="A9B5B0"/>
                </a:solidFill>
              </a:rPr>
              <a:t>asnjë</a:t>
            </a:r>
            <a:endParaRPr lang="en-US" sz="750" dirty="0"/>
          </a:p>
        </p:txBody>
      </p:sp>
      <p:sp>
        <p:nvSpPr>
          <p:cNvPr id="103" name="Text 101"/>
          <p:cNvSpPr txBox="1"/>
          <p:nvPr/>
        </p:nvSpPr>
        <p:spPr>
          <a:xfrm>
            <a:off x="6492240" y="5129784"/>
            <a:ext cx="5029200" cy="219456"/>
          </a:xfrm>
          <a:prstGeom prst="rect">
            <a:avLst/>
          </a:prstGeom>
          <a:noFill/>
          <a:ln/>
        </p:spPr>
        <p:txBody>
          <a:bodyPr wrap="square" lIns="0" tIns="0" rIns="0" bIns="0" rtlCol="0" anchor="ctr"/>
          <a:lstStyle/>
          <a:p>
            <a:pPr indent="0" marL="0">
              <a:buNone/>
            </a:pPr>
            <a:r>
              <a:rPr lang="en-US" sz="900" i="1" dirty="0">
                <a:solidFill>
                  <a:srgbClr val="6B7A75"/>
                </a:solidFill>
              </a:rPr>
              <a:t>shkalla e pranimit e çdo operatori të ekzekutuar vetëm, % e kandidatëve të mbajtur</a:t>
            </a:r>
            <a:endParaRPr lang="en-US" sz="9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Dy gjetje që kanë të bëjnë me problemin, jo me kërkimin</a:t>
            </a:r>
            <a:endParaRPr lang="en-US" sz="2600" dirty="0"/>
          </a:p>
        </p:txBody>
      </p:sp>
      <p:sp>
        <p:nvSpPr>
          <p:cNvPr id="3" name="Text 1"/>
          <p:cNvSpPr txBox="1"/>
          <p:nvPr/>
        </p:nvSpPr>
        <p:spPr>
          <a:xfrm>
            <a:off x="566928" y="1298448"/>
            <a:ext cx="5577840" cy="274320"/>
          </a:xfrm>
          <a:prstGeom prst="rect">
            <a:avLst/>
          </a:prstGeom>
          <a:noFill/>
          <a:ln/>
        </p:spPr>
        <p:txBody>
          <a:bodyPr wrap="square" lIns="0" tIns="0" rIns="0" bIns="0" rtlCol="0" anchor="ctr"/>
          <a:lstStyle/>
          <a:p>
            <a:pPr indent="0" marL="0">
              <a:buNone/>
            </a:pPr>
            <a:r>
              <a:rPr lang="en-US" sz="1500" b="1" dirty="0">
                <a:solidFill>
                  <a:srgbClr val="C0603C"/>
                </a:solidFill>
                <a:latin typeface="Cambria" pitchFamily="34" charset="0"/>
                <a:ea typeface="Cambria" pitchFamily="34" charset="-122"/>
                <a:cs typeface="Cambria" pitchFamily="34" charset="-120"/>
              </a:rPr>
              <a:t>k-opt i thjeshtë nuk transferohet këtu</a:t>
            </a:r>
            <a:endParaRPr lang="en-US" sz="1500" dirty="0"/>
          </a:p>
        </p:txBody>
      </p:sp>
      <p:sp>
        <p:nvSpPr>
          <p:cNvPr id="4" name="Text 2"/>
          <p:cNvSpPr txBox="1"/>
          <p:nvPr/>
        </p:nvSpPr>
        <p:spPr>
          <a:xfrm>
            <a:off x="566928" y="1664208"/>
            <a:ext cx="5577840" cy="2286000"/>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Në problemin e shitësit udhëtues 2-opt është tërheqës sepse shkëmbimi i dy brinjëve e përditëson objektivin në kohë konstante. Këtu eliminimi i një kulmi i bashkon fqinjët e mbijetuar në klikë, prandaj një ndryshim kaskadon nëpër çdo hap pasues. Një lëvizje që rirendit një hark prej L pozicionesh kushton O(L), pavarësisht sa brinjë shkëmben nominalisht. Ajo që transferohet është k-opt i mbyllur në një dritare, pra ajo që reverse_segment ishte tashmë.</a:t>
            </a:r>
            <a:endParaRPr lang="en-US" sz="1250" dirty="0"/>
          </a:p>
        </p:txBody>
      </p:sp>
      <p:sp>
        <p:nvSpPr>
          <p:cNvPr id="5" name="Text 3"/>
          <p:cNvSpPr txBox="1"/>
          <p:nvPr/>
        </p:nvSpPr>
        <p:spPr>
          <a:xfrm>
            <a:off x="6400800" y="1298448"/>
            <a:ext cx="5239512" cy="274320"/>
          </a:xfrm>
          <a:prstGeom prst="rect">
            <a:avLst/>
          </a:prstGeom>
          <a:noFill/>
          <a:ln/>
        </p:spPr>
        <p:txBody>
          <a:bodyPr wrap="square" lIns="0" tIns="0" rIns="0" bIns="0" rtlCol="0" anchor="ctr"/>
          <a:lstStyle/>
          <a:p>
            <a:pPr indent="0" marL="0">
              <a:buNone/>
            </a:pPr>
            <a:r>
              <a:rPr lang="en-US" sz="1500" b="1" dirty="0">
                <a:solidFill>
                  <a:srgbClr val="3E8E72"/>
                </a:solidFill>
                <a:latin typeface="Cambria" pitchFamily="34" charset="0"/>
                <a:ea typeface="Cambria" pitchFamily="34" charset="-122"/>
                <a:cs typeface="Cambria" pitchFamily="34" charset="-120"/>
              </a:rPr>
              <a:t>Një vlerësues delta, nga një fakt i vetëm strukturor</a:t>
            </a:r>
            <a:endParaRPr lang="en-US" sz="1500" dirty="0"/>
          </a:p>
        </p:txBody>
      </p:sp>
      <p:sp>
        <p:nvSpPr>
          <p:cNvPr id="6" name="Text 4"/>
          <p:cNvSpPr txBox="1"/>
          <p:nvPr/>
        </p:nvSpPr>
        <p:spPr>
          <a:xfrm>
            <a:off x="6400800" y="1664208"/>
            <a:ext cx="5239512" cy="1920240"/>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Torso mbi një bashkësi S nuk varet nga renditja brenda S: dy të mbijetuar janë fqinjë saktësisht kur ndonjë shteg i bashkon përmes S, gjë që nuk thotë asgjë për renditjen. Pra shkalla në një pozicion varet vetëm nga kulmi aty dhe nga BASHKËSIA poshtë tij. Një lëvizje me dritare nuk ndryshon asgjë jashtë dritares, as pas saj.</a:t>
            </a:r>
            <a:endParaRPr lang="en-US" sz="1250" dirty="0"/>
          </a:p>
        </p:txBody>
      </p:sp>
      <p:sp>
        <p:nvSpPr>
          <p:cNvPr id="7" name="Shape 5"/>
          <p:cNvSpPr/>
          <p:nvPr/>
        </p:nvSpPr>
        <p:spPr>
          <a:xfrm>
            <a:off x="6400800" y="3675888"/>
            <a:ext cx="5239512" cy="1298448"/>
          </a:xfrm>
          <a:prstGeom prst="roundRect">
            <a:avLst>
              <a:gd name="adj" fmla="val 2817"/>
            </a:avLst>
          </a:prstGeom>
          <a:solidFill>
            <a:srgbClr val="1F3A33"/>
          </a:solidFill>
          <a:ln w="6350">
            <a:solidFill>
              <a:srgbClr val="1F3A33"/>
            </a:solidFill>
            <a:prstDash val="solid"/>
          </a:ln>
        </p:spPr>
      </p:sp>
      <p:sp>
        <p:nvSpPr>
          <p:cNvPr id="8" name="Text 6"/>
          <p:cNvSpPr txBox="1"/>
          <p:nvPr/>
        </p:nvSpPr>
        <p:spPr>
          <a:xfrm>
            <a:off x="6638544" y="3803904"/>
            <a:ext cx="1371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1.81×</a:t>
            </a:r>
            <a:endParaRPr lang="en-US" sz="3000" dirty="0"/>
          </a:p>
        </p:txBody>
      </p:sp>
      <p:sp>
        <p:nvSpPr>
          <p:cNvPr id="9" name="Text 7"/>
          <p:cNvSpPr txBox="1"/>
          <p:nvPr/>
        </p:nvSpPr>
        <p:spPr>
          <a:xfrm>
            <a:off x="7973568" y="3840480"/>
            <a:ext cx="3520440" cy="1005840"/>
          </a:xfrm>
          <a:prstGeom prst="rect">
            <a:avLst/>
          </a:prstGeom>
          <a:noFill/>
          <a:ln/>
        </p:spPr>
        <p:txBody>
          <a:bodyPr wrap="square" lIns="0" tIns="0" rIns="0" bIns="0" rtlCol="0" anchor="ctr"/>
          <a:lstStyle/>
          <a:p>
            <a:pPr indent="0" marL="0">
              <a:lnSpc>
                <a:spcPts val="1500"/>
              </a:lnSpc>
              <a:buNone/>
            </a:pPr>
            <a:r>
              <a:rPr lang="en-US" sz="1050" dirty="0">
                <a:solidFill>
                  <a:srgbClr val="8FB8A6"/>
                </a:solidFill>
              </a:rPr>
              <a:t>më shumë kandidatë në të njëjtën kohë reale, mesatare gjeometrike mbi dhjetë instanca; shkallët identike bit për bit, të kontrolluara në 612 vlerësime dhe 150 permutacione të lidhura</a:t>
            </a:r>
            <a:endParaRPr lang="en-US" sz="1050" dirty="0"/>
          </a:p>
        </p:txBody>
      </p:sp>
      <p:sp>
        <p:nvSpPr>
          <p:cNvPr id="10" name="Text 8"/>
          <p:cNvSpPr txBox="1"/>
          <p:nvPr/>
        </p:nvSpPr>
        <p:spPr>
          <a:xfrm>
            <a:off x="566928" y="4133088"/>
            <a:ext cx="5577840" cy="822960"/>
          </a:xfrm>
          <a:prstGeom prst="rect">
            <a:avLst/>
          </a:prstGeom>
          <a:noFill/>
          <a:ln/>
        </p:spPr>
        <p:txBody>
          <a:bodyPr wrap="square" lIns="0" tIns="0" rIns="0" bIns="0" rtlCol="0" anchor="ctr"/>
          <a:lstStyle/>
          <a:p>
            <a:pPr indent="0" marL="0">
              <a:lnSpc>
                <a:spcPts val="1700"/>
              </a:lnSpc>
              <a:buNone/>
            </a:pPr>
            <a:r>
              <a:rPr lang="en-US" sz="1200" i="1" dirty="0">
                <a:solidFill>
                  <a:srgbClr val="6B7A75"/>
                </a:solidFill>
              </a:rPr>
              <a:t>Ripërsëritja deri në fund të renditjes nuk kursen thuajse asgjë, sepse kostoja e ecëjes së eliminimit kulmon në pozicionet e mesit. Ndalimi në skajin e djathtë të dritares është i gjithë trukku.</a:t>
            </a:r>
            <a:endParaRPr lang="en-US" sz="12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A e lëjon më shumë kohë kërkimin të arrijë ndërtimin</a:t>
            </a:r>
            <a:endParaRPr lang="en-US" sz="2600" dirty="0"/>
          </a:p>
        </p:txBody>
      </p:sp>
      <p:sp>
        <p:nvSpPr>
          <p:cNvPr id="3" name="Text 1"/>
          <p:cNvSpPr txBox="1"/>
          <p:nvPr/>
        </p:nvSpPr>
        <p:spPr>
          <a:xfrm>
            <a:off x="566928" y="1280160"/>
            <a:ext cx="5577840" cy="786384"/>
          </a:xfrm>
          <a:prstGeom prst="rect">
            <a:avLst/>
          </a:prstGeom>
          <a:noFill/>
          <a:ln/>
        </p:spPr>
        <p:txBody>
          <a:bodyPr wrap="square" lIns="0" tIns="0" rIns="0" bIns="0" rtlCol="0" anchor="ctr"/>
          <a:lstStyle/>
          <a:p>
            <a:pPr indent="0" marL="0">
              <a:lnSpc>
                <a:spcPts val="1800"/>
              </a:lnSpc>
              <a:buNone/>
            </a:pPr>
            <a:r>
              <a:rPr lang="en-US" sz="1250" dirty="0">
                <a:solidFill>
                  <a:srgbClr val="11211C"/>
                </a:solidFill>
              </a:rPr>
              <a:t>Kundërshtimi i qartë ndaj një rezultati me një buxhet të vetëm. Katër variantë, dhjetë instanca, tre seed-a, në 1,200 / 3,600 / 12,000 sekonda, të gjithë njëkohësisht në një makinë me 64 bërthama.</a:t>
            </a:r>
            <a:endParaRPr lang="en-US" sz="1250" dirty="0"/>
          </a:p>
        </p:txBody>
      </p:sp>
      <p:sp>
        <p:nvSpPr>
          <p:cNvPr id="4" name="Text 2"/>
          <p:cNvSpPr txBox="1"/>
          <p:nvPr/>
        </p:nvSpPr>
        <p:spPr>
          <a:xfrm>
            <a:off x="566928" y="2157984"/>
            <a:ext cx="5577840" cy="402336"/>
          </a:xfrm>
          <a:prstGeom prst="rect">
            <a:avLst/>
          </a:prstGeom>
          <a:noFill/>
          <a:ln/>
        </p:spPr>
        <p:txBody>
          <a:bodyPr wrap="square" lIns="0" tIns="0" rIns="0" bIns="0" rtlCol="0" anchor="ctr"/>
          <a:lstStyle/>
          <a:p>
            <a:pPr indent="0" marL="0">
              <a:buNone/>
            </a:pPr>
            <a:r>
              <a:rPr lang="en-US" sz="2100" b="1" dirty="0">
                <a:solidFill>
                  <a:srgbClr val="C0603C"/>
                </a:solidFill>
                <a:latin typeface="Cambria" pitchFamily="34" charset="0"/>
                <a:ea typeface="Cambria" pitchFamily="34" charset="-122"/>
                <a:cs typeface="Cambria" pitchFamily="34" charset="-120"/>
              </a:rPr>
              <a:t>Jo, por arsyeja ka rëndësi.</a:t>
            </a:r>
            <a:endParaRPr lang="en-US" sz="2100" dirty="0"/>
          </a:p>
        </p:txBody>
      </p:sp>
      <p:sp>
        <p:nvSpPr>
          <p:cNvPr id="5" name="Text 3"/>
          <p:cNvSpPr txBox="1"/>
          <p:nvPr/>
        </p:nvSpPr>
        <p:spPr>
          <a:xfrm>
            <a:off x="566928" y="2706624"/>
            <a:ext cx="237744" cy="237744"/>
          </a:xfrm>
          <a:prstGeom prst="rect">
            <a:avLst/>
          </a:prstGeom>
          <a:noFill/>
          <a:ln/>
        </p:spPr>
        <p:txBody>
          <a:bodyPr wrap="square" lIns="0" tIns="0" rIns="0" bIns="0" rtlCol="0" anchor="ctr"/>
          <a:lstStyle/>
          <a:p>
            <a:pPr indent="0" marL="0">
              <a:buNone/>
            </a:pPr>
            <a:r>
              <a:rPr lang="en-US" sz="1100" b="1" dirty="0">
                <a:solidFill>
                  <a:srgbClr val="3E8E72"/>
                </a:solidFill>
              </a:rPr>
              <a:t>1</a:t>
            </a:r>
            <a:endParaRPr lang="en-US" sz="1100" dirty="0"/>
          </a:p>
        </p:txBody>
      </p:sp>
      <p:sp>
        <p:nvSpPr>
          <p:cNvPr id="6" name="Text 4"/>
          <p:cNvSpPr txBox="1"/>
          <p:nvPr/>
        </p:nvSpPr>
        <p:spPr>
          <a:xfrm>
            <a:off x="896112" y="2670048"/>
            <a:ext cx="5248656" cy="768096"/>
          </a:xfrm>
          <a:prstGeom prst="rect">
            <a:avLst/>
          </a:prstGeom>
          <a:noFill/>
          <a:ln/>
        </p:spPr>
        <p:txBody>
          <a:bodyPr wrap="square" lIns="0" tIns="0" rIns="0" bIns="0" rtlCol="0" anchor="ctr"/>
          <a:lstStyle/>
          <a:p>
            <a:pPr indent="0" marL="0">
              <a:lnSpc>
                <a:spcPts val="1700"/>
              </a:lnSpc>
              <a:buNone/>
            </a:pPr>
            <a:r>
              <a:rPr lang="en-US" sz="1200" dirty="0">
                <a:solidFill>
                  <a:srgbClr val="11211C"/>
                </a:solidFill>
              </a:rPr>
              <a:t>Më shumë kohë vërtet ndihmon kërkimin: vetë baza përmirësohet me 33,043 HV në intervalin dhjetëfish, shumë mbi pragun. Buxheti po bënte punë reale.</a:t>
            </a:r>
            <a:endParaRPr lang="en-US" sz="1200" dirty="0"/>
          </a:p>
        </p:txBody>
      </p:sp>
      <p:sp>
        <p:nvSpPr>
          <p:cNvPr id="7" name="Text 5"/>
          <p:cNvSpPr txBox="1"/>
          <p:nvPr/>
        </p:nvSpPr>
        <p:spPr>
          <a:xfrm>
            <a:off x="566928" y="3547872"/>
            <a:ext cx="237744" cy="237744"/>
          </a:xfrm>
          <a:prstGeom prst="rect">
            <a:avLst/>
          </a:prstGeom>
          <a:noFill/>
          <a:ln/>
        </p:spPr>
        <p:txBody>
          <a:bodyPr wrap="square" lIns="0" tIns="0" rIns="0" bIns="0" rtlCol="0" anchor="ctr"/>
          <a:lstStyle/>
          <a:p>
            <a:pPr indent="0" marL="0">
              <a:buNone/>
            </a:pPr>
            <a:r>
              <a:rPr lang="en-US" sz="1100" b="1" dirty="0">
                <a:solidFill>
                  <a:srgbClr val="3E8E72"/>
                </a:solidFill>
              </a:rPr>
              <a:t>2</a:t>
            </a:r>
            <a:endParaRPr lang="en-US" sz="1100" dirty="0"/>
          </a:p>
        </p:txBody>
      </p:sp>
      <p:sp>
        <p:nvSpPr>
          <p:cNvPr id="8" name="Text 6"/>
          <p:cNvSpPr txBox="1"/>
          <p:nvPr/>
        </p:nvSpPr>
        <p:spPr>
          <a:xfrm>
            <a:off x="896112" y="3511296"/>
            <a:ext cx="5248656" cy="768096"/>
          </a:xfrm>
          <a:prstGeom prst="rect">
            <a:avLst/>
          </a:prstGeom>
          <a:noFill/>
          <a:ln/>
        </p:spPr>
        <p:txBody>
          <a:bodyPr wrap="square" lIns="0" tIns="0" rIns="0" bIns="0" rtlCol="0" anchor="ctr"/>
          <a:lstStyle/>
          <a:p>
            <a:pPr indent="0" marL="0">
              <a:lnSpc>
                <a:spcPts val="1700"/>
              </a:lnSpc>
              <a:buNone/>
            </a:pPr>
            <a:r>
              <a:rPr lang="en-US" sz="1200" dirty="0">
                <a:solidFill>
                  <a:srgbClr val="11211C"/>
                </a:solidFill>
              </a:rPr>
              <a:t>Thjesht ndihmoi ndërtimin të paktën po aq. Me dhjetëfishin e buxhetit të publikuar, leva e ndërtimit kryeson ende me 269,607 HV dhe renditja nuk përmbyset kurrë.</a:t>
            </a:r>
            <a:endParaRPr lang="en-US" sz="1200" dirty="0"/>
          </a:p>
        </p:txBody>
      </p:sp>
      <p:sp>
        <p:nvSpPr>
          <p:cNvPr id="9" name="Text 7"/>
          <p:cNvSpPr txBox="1"/>
          <p:nvPr/>
        </p:nvSpPr>
        <p:spPr>
          <a:xfrm>
            <a:off x="566928" y="4389120"/>
            <a:ext cx="237744" cy="237744"/>
          </a:xfrm>
          <a:prstGeom prst="rect">
            <a:avLst/>
          </a:prstGeom>
          <a:noFill/>
          <a:ln/>
        </p:spPr>
        <p:txBody>
          <a:bodyPr wrap="square" lIns="0" tIns="0" rIns="0" bIns="0" rtlCol="0" anchor="ctr"/>
          <a:lstStyle/>
          <a:p>
            <a:pPr indent="0" marL="0">
              <a:buNone/>
            </a:pPr>
            <a:r>
              <a:rPr lang="en-US" sz="1100" b="1" dirty="0">
                <a:solidFill>
                  <a:srgbClr val="3E8E72"/>
                </a:solidFill>
              </a:rPr>
              <a:t>3</a:t>
            </a:r>
            <a:endParaRPr lang="en-US" sz="1100" dirty="0"/>
          </a:p>
        </p:txBody>
      </p:sp>
      <p:sp>
        <p:nvSpPr>
          <p:cNvPr id="10" name="Text 8"/>
          <p:cNvSpPr txBox="1"/>
          <p:nvPr/>
        </p:nvSpPr>
        <p:spPr>
          <a:xfrm>
            <a:off x="896112" y="4352544"/>
            <a:ext cx="5248656" cy="768096"/>
          </a:xfrm>
          <a:prstGeom prst="rect">
            <a:avLst/>
          </a:prstGeom>
          <a:noFill/>
          <a:ln/>
        </p:spPr>
        <p:txBody>
          <a:bodyPr wrap="square" lIns="0" tIns="0" rIns="0" bIns="0" rtlCol="0" anchor="ctr"/>
          <a:lstStyle/>
          <a:p>
            <a:pPr indent="0" marL="0">
              <a:lnSpc>
                <a:spcPts val="1700"/>
              </a:lnSpc>
              <a:buNone/>
            </a:pPr>
            <a:r>
              <a:rPr lang="en-US" sz="1200" dirty="0">
                <a:solidFill>
                  <a:srgbClr val="11211C"/>
                </a:solidFill>
              </a:rPr>
              <a:t>Më shumë operatorë kushtojnë në buxhete më të gjata: grupi me shtatëmbëdhjetë kalon nga 1,883 HV përpara bazës me katër në 1,200 s, në 25,602 HV prapa saj në 12,000 s.</a:t>
            </a:r>
            <a:endParaRPr lang="en-US" sz="1200" dirty="0"/>
          </a:p>
        </p:txBody>
      </p:sp>
      <p:graphicFrame>
        <p:nvGraphicFramePr>
          <p:cNvPr id="11" name="Chart 0" descr=""/>
          <p:cNvGraphicFramePr/>
          <p:nvPr/>
        </p:nvGraphicFramePr>
        <p:xfrm>
          <a:off x="6400800" y="1371600"/>
          <a:ext cx="5239512" cy="3163824"/>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6400800" y="4663440"/>
            <a:ext cx="5239512" cy="1005840"/>
          </a:xfrm>
          <a:prstGeom prst="roundRect">
            <a:avLst>
              <a:gd name="adj" fmla="val 3636"/>
            </a:avLst>
          </a:prstGeom>
          <a:solidFill>
            <a:srgbClr val="FBF0EA"/>
          </a:solidFill>
          <a:ln w="6350">
            <a:solidFill>
              <a:srgbClr val="FBF0EA"/>
            </a:solidFill>
            <a:prstDash val="solid"/>
          </a:ln>
        </p:spPr>
      </p:sp>
      <p:sp>
        <p:nvSpPr>
          <p:cNvPr id="13" name="Text 10"/>
          <p:cNvSpPr txBox="1"/>
          <p:nvPr/>
        </p:nvSpPr>
        <p:spPr>
          <a:xfrm>
            <a:off x="6638544" y="4791456"/>
            <a:ext cx="4754880" cy="786384"/>
          </a:xfrm>
          <a:prstGeom prst="rect">
            <a:avLst/>
          </a:prstGeom>
          <a:noFill/>
          <a:ln/>
        </p:spPr>
        <p:txBody>
          <a:bodyPr wrap="square" lIns="0" tIns="0" rIns="0" bIns="0" rtlCol="0" anchor="ctr"/>
          <a:lstStyle/>
          <a:p>
            <a:pPr indent="0" marL="0">
              <a:lnSpc>
                <a:spcPts val="1500"/>
              </a:lnSpc>
              <a:buNone/>
            </a:pPr>
            <a:r>
              <a:rPr lang="en-US" sz="1050" dirty="0">
                <a:solidFill>
                  <a:srgbClr val="11211C"/>
                </a:solidFill>
              </a:rPr>
              <a:t>Vërejtje e ndershëm: shpërndarja e vetë GRASP-it mes tre seed-ave arrin 160,026 HV në large-graph, prandaj rënia e dukshme nga 392 mijë në 270 mijë nuk është e dallueshme me tre seed-a dhe nuk duhet lexuar si trend.</a:t>
            </a:r>
            <a:endParaRPr lang="en-US" sz="105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66928" y="420624"/>
            <a:ext cx="11057839" cy="658368"/>
          </a:xfrm>
          <a:prstGeom prst="rect">
            <a:avLst/>
          </a:prstGeom>
          <a:noFill/>
          <a:ln/>
        </p:spPr>
        <p:txBody>
          <a:bodyPr wrap="square" lIns="0" tIns="0" rIns="0" bIns="0" rtlCol="0" anchor="ctr"/>
          <a:lstStyle/>
          <a:p>
            <a:pPr indent="0" marL="0">
              <a:buNone/>
            </a:pPr>
            <a:r>
              <a:rPr lang="en-US" sz="2600" b="1" dirty="0">
                <a:solidFill>
                  <a:srgbClr val="11211C"/>
                </a:solidFill>
                <a:latin typeface="Cambria" pitchFamily="34" charset="0"/>
                <a:ea typeface="Cambria" pitchFamily="34" charset="-122"/>
                <a:cs typeface="Cambria" pitchFamily="34" charset="-120"/>
              </a:rPr>
              <a:t>Tri mënyra si e gënjeva veten, dhe si u kap secila</a:t>
            </a:r>
            <a:endParaRPr lang="en-US" sz="2600" dirty="0"/>
          </a:p>
        </p:txBody>
      </p:sp>
      <p:sp>
        <p:nvSpPr>
          <p:cNvPr id="3" name="Shape 1"/>
          <p:cNvSpPr/>
          <p:nvPr/>
        </p:nvSpPr>
        <p:spPr>
          <a:xfrm>
            <a:off x="566928" y="1298448"/>
            <a:ext cx="10936224" cy="1152144"/>
          </a:xfrm>
          <a:prstGeom prst="roundRect">
            <a:avLst>
              <a:gd name="adj" fmla="val 3175"/>
            </a:avLst>
          </a:prstGeom>
          <a:solidFill>
            <a:srgbClr val="FFFFFF"/>
          </a:solidFill>
          <a:ln w="6350">
            <a:solidFill>
              <a:srgbClr val="FFFFFF"/>
            </a:solidFill>
            <a:prstDash val="solid"/>
          </a:ln>
        </p:spPr>
      </p:sp>
      <p:sp>
        <p:nvSpPr>
          <p:cNvPr id="4" name="Shape 2"/>
          <p:cNvSpPr/>
          <p:nvPr/>
        </p:nvSpPr>
        <p:spPr>
          <a:xfrm>
            <a:off x="566928" y="1298448"/>
            <a:ext cx="50292" cy="1152144"/>
          </a:xfrm>
          <a:prstGeom prst="rect">
            <a:avLst/>
          </a:prstGeom>
          <a:solidFill>
            <a:srgbClr val="C0603C"/>
          </a:solidFill>
          <a:ln w="3175">
            <a:solidFill>
              <a:srgbClr val="C0603C"/>
            </a:solidFill>
            <a:prstDash val="solid"/>
          </a:ln>
        </p:spPr>
      </p:sp>
      <p:sp>
        <p:nvSpPr>
          <p:cNvPr id="5" name="Text 3"/>
          <p:cNvSpPr txBox="1"/>
          <p:nvPr/>
        </p:nvSpPr>
        <p:spPr>
          <a:xfrm>
            <a:off x="804672" y="1426464"/>
            <a:ext cx="310896" cy="310896"/>
          </a:xfrm>
          <a:prstGeom prst="rect">
            <a:avLst/>
          </a:prstGeom>
          <a:noFill/>
          <a:ln/>
        </p:spPr>
        <p:txBody>
          <a:bodyPr wrap="square" lIns="0" tIns="0" rIns="0" bIns="0" rtlCol="0" anchor="ctr"/>
          <a:lstStyle/>
          <a:p>
            <a:pPr indent="0" marL="0">
              <a:buNone/>
            </a:pPr>
            <a:r>
              <a:rPr lang="en-US" sz="1700" b="1" dirty="0">
                <a:solidFill>
                  <a:srgbClr val="B9CFC4"/>
                </a:solidFill>
                <a:latin typeface="Cambria" pitchFamily="34" charset="0"/>
                <a:ea typeface="Cambria" pitchFamily="34" charset="-122"/>
                <a:cs typeface="Cambria" pitchFamily="34" charset="-120"/>
              </a:rPr>
              <a:t>1</a:t>
            </a:r>
            <a:endParaRPr lang="en-US" sz="1700" dirty="0"/>
          </a:p>
        </p:txBody>
      </p:sp>
      <p:sp>
        <p:nvSpPr>
          <p:cNvPr id="6" name="Text 4"/>
          <p:cNvSpPr txBox="1"/>
          <p:nvPr/>
        </p:nvSpPr>
        <p:spPr>
          <a:xfrm>
            <a:off x="1225296" y="1426464"/>
            <a:ext cx="3200400" cy="548640"/>
          </a:xfrm>
          <a:prstGeom prst="rect">
            <a:avLst/>
          </a:prstGeom>
          <a:noFill/>
          <a:ln/>
        </p:spPr>
        <p:txBody>
          <a:bodyPr wrap="square" lIns="0" tIns="0" rIns="0" bIns="0" rtlCol="0" anchor="ctr"/>
          <a:lstStyle/>
          <a:p>
            <a:pPr indent="0" marL="0">
              <a:lnSpc>
                <a:spcPts val="1700"/>
              </a:lnSpc>
              <a:buNone/>
            </a:pPr>
            <a:r>
              <a:rPr lang="en-US" sz="1300" b="1" dirty="0">
                <a:solidFill>
                  <a:srgbClr val="11211C"/>
                </a:solidFill>
              </a:rPr>
              <a:t>Një sondë që rrjedhte përgjigjen</a:t>
            </a:r>
            <a:endParaRPr lang="en-US" sz="1300" dirty="0"/>
          </a:p>
        </p:txBody>
      </p:sp>
      <p:sp>
        <p:nvSpPr>
          <p:cNvPr id="7" name="Text 5"/>
          <p:cNvSpPr txBox="1"/>
          <p:nvPr/>
        </p:nvSpPr>
        <p:spPr>
          <a:xfrm>
            <a:off x="4553712" y="1408176"/>
            <a:ext cx="4206240" cy="950976"/>
          </a:xfrm>
          <a:prstGeom prst="rect">
            <a:avLst/>
          </a:prstGeom>
          <a:noFill/>
          <a:ln/>
        </p:spPr>
        <p:txBody>
          <a:bodyPr wrap="square" lIns="0" tIns="0" rIns="0" bIns="0" rtlCol="0" anchor="ctr"/>
          <a:lstStyle/>
          <a:p>
            <a:pPr indent="0" marL="0">
              <a:lnSpc>
                <a:spcPts val="1500"/>
              </a:lnSpc>
              <a:buNone/>
            </a:pPr>
            <a:r>
              <a:rPr lang="en-US" sz="1050" dirty="0">
                <a:solidFill>
                  <a:srgbClr val="11211C"/>
                </a:solidFill>
              </a:rPr>
              <a:t>hill_climbing.py i zgjidhte gjërësitë e synimit me një sondë min-degree pavarësisht nisjes së kërkuar, prandaj --start random ia dorëzonte ngjitësit një zgjidhje min-degree falas. Raportonte −1,607,522 në medium-graph për një ekzekutim që kishte pranuar zero lëvizje.</a:t>
            </a:r>
            <a:endParaRPr lang="en-US" sz="1050" dirty="0"/>
          </a:p>
        </p:txBody>
      </p:sp>
      <p:sp>
        <p:nvSpPr>
          <p:cNvPr id="8" name="Text 6"/>
          <p:cNvSpPr txBox="1"/>
          <p:nvPr/>
        </p:nvSpPr>
        <p:spPr>
          <a:xfrm>
            <a:off x="8924544" y="1408176"/>
            <a:ext cx="2414016" cy="950976"/>
          </a:xfrm>
          <a:prstGeom prst="rect">
            <a:avLst/>
          </a:prstGeom>
          <a:noFill/>
          <a:ln/>
        </p:spPr>
        <p:txBody>
          <a:bodyPr wrap="square" lIns="0" tIns="0" rIns="0" bIns="0" rtlCol="0" anchor="ctr"/>
          <a:lstStyle/>
          <a:p>
            <a:pPr indent="0" marL="0">
              <a:lnSpc>
                <a:spcPts val="1500"/>
              </a:lnSpc>
              <a:buNone/>
            </a:pPr>
            <a:r>
              <a:rPr lang="en-US" sz="1050" i="1" dirty="0">
                <a:solidFill>
                  <a:srgbClr val="2A5247"/>
                </a:solidFill>
              </a:rPr>
              <a:t>U kap duke pyetur pse një ekzekutim pa asnjë lëvizje të pranuar kishte fare rezultat.</a:t>
            </a:r>
            <a:endParaRPr lang="en-US" sz="1050" dirty="0"/>
          </a:p>
        </p:txBody>
      </p:sp>
      <p:sp>
        <p:nvSpPr>
          <p:cNvPr id="9" name="Shape 7"/>
          <p:cNvSpPr/>
          <p:nvPr/>
        </p:nvSpPr>
        <p:spPr>
          <a:xfrm>
            <a:off x="566928" y="2596896"/>
            <a:ext cx="10936224" cy="1152144"/>
          </a:xfrm>
          <a:prstGeom prst="roundRect">
            <a:avLst>
              <a:gd name="adj" fmla="val 3175"/>
            </a:avLst>
          </a:prstGeom>
          <a:solidFill>
            <a:srgbClr val="EFF3F1"/>
          </a:solidFill>
          <a:ln w="6350">
            <a:solidFill>
              <a:srgbClr val="EFF3F1"/>
            </a:solidFill>
            <a:prstDash val="solid"/>
          </a:ln>
        </p:spPr>
      </p:sp>
      <p:sp>
        <p:nvSpPr>
          <p:cNvPr id="10" name="Shape 8"/>
          <p:cNvSpPr/>
          <p:nvPr/>
        </p:nvSpPr>
        <p:spPr>
          <a:xfrm>
            <a:off x="566928" y="2596896"/>
            <a:ext cx="50292" cy="1152144"/>
          </a:xfrm>
          <a:prstGeom prst="rect">
            <a:avLst/>
          </a:prstGeom>
          <a:solidFill>
            <a:srgbClr val="C0603C"/>
          </a:solidFill>
          <a:ln w="3175">
            <a:solidFill>
              <a:srgbClr val="C0603C"/>
            </a:solidFill>
            <a:prstDash val="solid"/>
          </a:ln>
        </p:spPr>
      </p:sp>
      <p:sp>
        <p:nvSpPr>
          <p:cNvPr id="11" name="Text 9"/>
          <p:cNvSpPr txBox="1"/>
          <p:nvPr/>
        </p:nvSpPr>
        <p:spPr>
          <a:xfrm>
            <a:off x="804672" y="2724912"/>
            <a:ext cx="310896" cy="310896"/>
          </a:xfrm>
          <a:prstGeom prst="rect">
            <a:avLst/>
          </a:prstGeom>
          <a:noFill/>
          <a:ln/>
        </p:spPr>
        <p:txBody>
          <a:bodyPr wrap="square" lIns="0" tIns="0" rIns="0" bIns="0" rtlCol="0" anchor="ctr"/>
          <a:lstStyle/>
          <a:p>
            <a:pPr indent="0" marL="0">
              <a:buNone/>
            </a:pPr>
            <a:r>
              <a:rPr lang="en-US" sz="1700" b="1" dirty="0">
                <a:solidFill>
                  <a:srgbClr val="B9CFC4"/>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1225296" y="2724912"/>
            <a:ext cx="3200400" cy="548640"/>
          </a:xfrm>
          <a:prstGeom prst="rect">
            <a:avLst/>
          </a:prstGeom>
          <a:noFill/>
          <a:ln/>
        </p:spPr>
        <p:txBody>
          <a:bodyPr wrap="square" lIns="0" tIns="0" rIns="0" bIns="0" rtlCol="0" anchor="ctr"/>
          <a:lstStyle/>
          <a:p>
            <a:pPr indent="0" marL="0">
              <a:lnSpc>
                <a:spcPts val="1700"/>
              </a:lnSpc>
              <a:buNone/>
            </a:pPr>
            <a:r>
              <a:rPr lang="en-US" sz="1300" b="1" dirty="0">
                <a:solidFill>
                  <a:srgbClr val="11211C"/>
                </a:solidFill>
              </a:rPr>
              <a:t>Një verifikim që ishte vetë i gabuar</a:t>
            </a:r>
            <a:endParaRPr lang="en-US" sz="1300" dirty="0"/>
          </a:p>
        </p:txBody>
      </p:sp>
      <p:sp>
        <p:nvSpPr>
          <p:cNvPr id="13" name="Text 11"/>
          <p:cNvSpPr txBox="1"/>
          <p:nvPr/>
        </p:nvSpPr>
        <p:spPr>
          <a:xfrm>
            <a:off x="4553712" y="2706624"/>
            <a:ext cx="4206240" cy="950976"/>
          </a:xfrm>
          <a:prstGeom prst="rect">
            <a:avLst/>
          </a:prstGeom>
          <a:noFill/>
          <a:ln/>
        </p:spPr>
        <p:txBody>
          <a:bodyPr wrap="square" lIns="0" tIns="0" rIns="0" bIns="0" rtlCol="0" anchor="ctr"/>
          <a:lstStyle/>
          <a:p>
            <a:pPr indent="0" marL="0">
              <a:lnSpc>
                <a:spcPts val="1500"/>
              </a:lnSpc>
              <a:buNone/>
            </a:pPr>
            <a:r>
              <a:rPr lang="en-US" sz="1050" dirty="0">
                <a:solidFill>
                  <a:srgbClr val="11211C"/>
                </a:solidFill>
              </a:rPr>
              <a:t>Një përpjekje për të konfirmuar një ekzekutim duke e ripërsëritur nuk përkoi në 29 nga 30 rreshta. Cikli i ngjitjes ndalet në kohë të kaluar, prandaj asnjë ekzekutim nuk riprodhohet saktësisht, vetëm rimostrohet.</a:t>
            </a:r>
            <a:endParaRPr lang="en-US" sz="1050" dirty="0"/>
          </a:p>
        </p:txBody>
      </p:sp>
      <p:sp>
        <p:nvSpPr>
          <p:cNvPr id="14" name="Text 12"/>
          <p:cNvSpPr txBox="1"/>
          <p:nvPr/>
        </p:nvSpPr>
        <p:spPr>
          <a:xfrm>
            <a:off x="8924544" y="2706624"/>
            <a:ext cx="2414016" cy="950976"/>
          </a:xfrm>
          <a:prstGeom prst="rect">
            <a:avLst/>
          </a:prstGeom>
          <a:noFill/>
          <a:ln/>
        </p:spPr>
        <p:txBody>
          <a:bodyPr wrap="square" lIns="0" tIns="0" rIns="0" bIns="0" rtlCol="0" anchor="ctr"/>
          <a:lstStyle/>
          <a:p>
            <a:pPr indent="0" marL="0">
              <a:lnSpc>
                <a:spcPts val="1500"/>
              </a:lnSpc>
              <a:buNone/>
            </a:pPr>
            <a:r>
              <a:rPr lang="en-US" sz="1050" i="1" dirty="0">
                <a:solidFill>
                  <a:srgbClr val="2A5247"/>
                </a:solidFill>
              </a:rPr>
              <a:t>Kontrolli ishte i gabuar, jo harnesi; dhe ai aksident është çka prodhoi dy baza të pavarura.</a:t>
            </a:r>
            <a:endParaRPr lang="en-US" sz="1050" dirty="0"/>
          </a:p>
        </p:txBody>
      </p:sp>
      <p:sp>
        <p:nvSpPr>
          <p:cNvPr id="15" name="Shape 13"/>
          <p:cNvSpPr/>
          <p:nvPr/>
        </p:nvSpPr>
        <p:spPr>
          <a:xfrm>
            <a:off x="566928" y="3895344"/>
            <a:ext cx="10936224" cy="1152144"/>
          </a:xfrm>
          <a:prstGeom prst="roundRect">
            <a:avLst>
              <a:gd name="adj" fmla="val 3175"/>
            </a:avLst>
          </a:prstGeom>
          <a:solidFill>
            <a:srgbClr val="FFFFFF"/>
          </a:solidFill>
          <a:ln w="6350">
            <a:solidFill>
              <a:srgbClr val="FFFFFF"/>
            </a:solidFill>
            <a:prstDash val="solid"/>
          </a:ln>
        </p:spPr>
      </p:sp>
      <p:sp>
        <p:nvSpPr>
          <p:cNvPr id="16" name="Shape 14"/>
          <p:cNvSpPr/>
          <p:nvPr/>
        </p:nvSpPr>
        <p:spPr>
          <a:xfrm>
            <a:off x="566928" y="3895344"/>
            <a:ext cx="50292" cy="1152144"/>
          </a:xfrm>
          <a:prstGeom prst="rect">
            <a:avLst/>
          </a:prstGeom>
          <a:solidFill>
            <a:srgbClr val="C0603C"/>
          </a:solidFill>
          <a:ln w="3175">
            <a:solidFill>
              <a:srgbClr val="C0603C"/>
            </a:solidFill>
            <a:prstDash val="solid"/>
          </a:ln>
        </p:spPr>
      </p:sp>
      <p:sp>
        <p:nvSpPr>
          <p:cNvPr id="17" name="Text 15"/>
          <p:cNvSpPr txBox="1"/>
          <p:nvPr/>
        </p:nvSpPr>
        <p:spPr>
          <a:xfrm>
            <a:off x="804672" y="4023360"/>
            <a:ext cx="310896" cy="310896"/>
          </a:xfrm>
          <a:prstGeom prst="rect">
            <a:avLst/>
          </a:prstGeom>
          <a:noFill/>
          <a:ln/>
        </p:spPr>
        <p:txBody>
          <a:bodyPr wrap="square" lIns="0" tIns="0" rIns="0" bIns="0" rtlCol="0" anchor="ctr"/>
          <a:lstStyle/>
          <a:p>
            <a:pPr indent="0" marL="0">
              <a:buNone/>
            </a:pPr>
            <a:r>
              <a:rPr lang="en-US" sz="1700" b="1" dirty="0">
                <a:solidFill>
                  <a:srgbClr val="B9CFC4"/>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1225296" y="4023360"/>
            <a:ext cx="3200400" cy="548640"/>
          </a:xfrm>
          <a:prstGeom prst="rect">
            <a:avLst/>
          </a:prstGeom>
          <a:noFill/>
          <a:ln/>
        </p:spPr>
        <p:txBody>
          <a:bodyPr wrap="square" lIns="0" tIns="0" rIns="0" bIns="0" rtlCol="0" anchor="ctr"/>
          <a:lstStyle/>
          <a:p>
            <a:pPr indent="0" marL="0">
              <a:lnSpc>
                <a:spcPts val="1700"/>
              </a:lnSpc>
              <a:buNone/>
            </a:pPr>
            <a:r>
              <a:rPr lang="en-US" sz="1300" b="1" dirty="0">
                <a:solidFill>
                  <a:srgbClr val="11211C"/>
                </a:solidFill>
              </a:rPr>
              <a:t>Një mbushullim 32-bitësh në kernelin e dikujt tjetër</a:t>
            </a:r>
            <a:endParaRPr lang="en-US" sz="1300" dirty="0"/>
          </a:p>
        </p:txBody>
      </p:sp>
      <p:sp>
        <p:nvSpPr>
          <p:cNvPr id="19" name="Text 17"/>
          <p:cNvSpPr txBox="1"/>
          <p:nvPr/>
        </p:nvSpPr>
        <p:spPr>
          <a:xfrm>
            <a:off x="4553712" y="4005072"/>
            <a:ext cx="4206240" cy="950976"/>
          </a:xfrm>
          <a:prstGeom prst="rect">
            <a:avLst/>
          </a:prstGeom>
          <a:noFill/>
          <a:ln/>
        </p:spPr>
        <p:txBody>
          <a:bodyPr wrap="square" lIns="0" tIns="0" rIns="0" bIns="0" rtlCol="0" anchor="ctr"/>
          <a:lstStyle/>
          <a:p>
            <a:pPr indent="0" marL="0">
              <a:lnSpc>
                <a:spcPts val="1500"/>
              </a:lnSpc>
              <a:buNone/>
            </a:pPr>
            <a:r>
              <a:rPr lang="en-US" sz="1050" dirty="0">
                <a:solidFill>
                  <a:srgbClr val="11211C"/>
                </a:solidFill>
              </a:rPr>
              <a:t>Vlerësuesi CUDA i vendosur indekson një varg B×N×N me një ofset int, i cili mbështillet pas 2³¹ në n = 2,426, fijja 365 nga 1,024. Çdo ekzekutim me 2,426 kulme vdiste me qasje të palejuar në memorie.</a:t>
            </a:r>
            <a:endParaRPr lang="en-US" sz="1050" dirty="0"/>
          </a:p>
        </p:txBody>
      </p:sp>
      <p:sp>
        <p:nvSpPr>
          <p:cNvPr id="20" name="Text 18"/>
          <p:cNvSpPr txBox="1"/>
          <p:nvPr/>
        </p:nvSpPr>
        <p:spPr>
          <a:xfrm>
            <a:off x="8924544" y="4005072"/>
            <a:ext cx="2414016" cy="950976"/>
          </a:xfrm>
          <a:prstGeom prst="rect">
            <a:avLst/>
          </a:prstGeom>
          <a:noFill/>
          <a:ln/>
        </p:spPr>
        <p:txBody>
          <a:bodyPr wrap="square" lIns="0" tIns="0" rIns="0" bIns="0" rtlCol="0" anchor="ctr"/>
          <a:lstStyle/>
          <a:p>
            <a:pPr indent="0" marL="0">
              <a:lnSpc>
                <a:spcPts val="1500"/>
              </a:lnSpc>
              <a:buNone/>
            </a:pPr>
            <a:r>
              <a:rPr lang="en-US" sz="1050" i="1" dirty="0">
                <a:solidFill>
                  <a:srgbClr val="2A5247"/>
                </a:solidFill>
              </a:rPr>
              <a:t>U gjet duke vërejtur se ekzekutimet mbaronin për dhjetë sekonda në vend të njëzet minutave. Një ndryshim tipi e rregulloi.</a:t>
            </a:r>
            <a:endParaRPr lang="en-US" sz="1050" dirty="0"/>
          </a:p>
        </p:txBody>
      </p:sp>
      <p:sp>
        <p:nvSpPr>
          <p:cNvPr id="21" name="Text 19"/>
          <p:cNvSpPr txBox="1"/>
          <p:nvPr/>
        </p:nvSpPr>
        <p:spPr>
          <a:xfrm>
            <a:off x="566928" y="5285232"/>
            <a:ext cx="10936224" cy="457200"/>
          </a:xfrm>
          <a:prstGeom prst="rect">
            <a:avLst/>
          </a:prstGeom>
          <a:noFill/>
          <a:ln/>
        </p:spPr>
        <p:txBody>
          <a:bodyPr wrap="square" lIns="0" tIns="0" rIns="0" bIns="0" rtlCol="0" anchor="ctr"/>
          <a:lstStyle/>
          <a:p>
            <a:pPr indent="0" marL="0">
              <a:lnSpc>
                <a:spcPts val="1900"/>
              </a:lnSpc>
              <a:buNone/>
            </a:pPr>
            <a:r>
              <a:rPr lang="en-US" sz="1300" b="1" dirty="0">
                <a:solidFill>
                  <a:srgbClr val="C0603C"/>
                </a:solidFill>
                <a:latin typeface="Cambria" pitchFamily="34" charset="0"/>
                <a:ea typeface="Cambria" pitchFamily="34" charset="-122"/>
                <a:cs typeface="Cambria" pitchFamily="34" charset="-120"/>
              </a:rPr>
              <a:t>Asnjëri prej këtyre nuk u kap nga një grup testesh. Të tre u kapën nga një numër që kishte formën e gabuar për historinë e vet.</a:t>
            </a:r>
            <a:endParaRPr lang="en-US" sz="1300" dirty="0"/>
          </a:p>
        </p:txBody>
      </p:sp>
      <p:sp>
        <p:nvSpPr>
          <p:cNvPr id="25" name="Slide Number Placeholder 0"/>
          <p:cNvSpPr>
            <a:spLocks noGrp="1"/>
          </p:cNvSpPr>
          <p:nvPr>
            <p:ph type="sldNum" sz="quarter" idx="4294967295"/>
          </p:nvPr>
        </p:nvSpPr>
        <p:spPr>
          <a:xfrm>
            <a:off x="11167567" y="6437376"/>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6B7A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625535" y="2392680"/>
            <a:ext cx="472440" cy="914"/>
          </a:xfrm>
          <a:prstGeom prst="line">
            <a:avLst/>
          </a:prstGeom>
          <a:noFill/>
          <a:ln w="20320">
            <a:solidFill>
              <a:srgbClr val="2A5247"/>
            </a:solidFill>
            <a:prstDash val="solid"/>
          </a:ln>
        </p:spPr>
      </p:sp>
      <p:sp>
        <p:nvSpPr>
          <p:cNvPr id="3" name="Shape 1"/>
          <p:cNvSpPr/>
          <p:nvPr/>
        </p:nvSpPr>
        <p:spPr>
          <a:xfrm flipV="1">
            <a:off x="9097975" y="2042160"/>
            <a:ext cx="914" cy="350520"/>
          </a:xfrm>
          <a:prstGeom prst="line">
            <a:avLst/>
          </a:prstGeom>
          <a:noFill/>
          <a:ln w="20320">
            <a:solidFill>
              <a:srgbClr val="2A5247"/>
            </a:solidFill>
            <a:prstDash val="solid"/>
          </a:ln>
        </p:spPr>
      </p:sp>
      <p:sp>
        <p:nvSpPr>
          <p:cNvPr id="4" name="Shape 2"/>
          <p:cNvSpPr/>
          <p:nvPr/>
        </p:nvSpPr>
        <p:spPr>
          <a:xfrm>
            <a:off x="9097975" y="2042160"/>
            <a:ext cx="472440" cy="914"/>
          </a:xfrm>
          <a:prstGeom prst="line">
            <a:avLst/>
          </a:prstGeom>
          <a:noFill/>
          <a:ln w="20320">
            <a:solidFill>
              <a:srgbClr val="2A5247"/>
            </a:solidFill>
            <a:prstDash val="solid"/>
          </a:ln>
        </p:spPr>
      </p:sp>
      <p:sp>
        <p:nvSpPr>
          <p:cNvPr id="5" name="Shape 3"/>
          <p:cNvSpPr/>
          <p:nvPr/>
        </p:nvSpPr>
        <p:spPr>
          <a:xfrm flipV="1">
            <a:off x="9570415" y="1691640"/>
            <a:ext cx="914" cy="350520"/>
          </a:xfrm>
          <a:prstGeom prst="line">
            <a:avLst/>
          </a:prstGeom>
          <a:noFill/>
          <a:ln w="20320">
            <a:solidFill>
              <a:srgbClr val="2A5247"/>
            </a:solidFill>
            <a:prstDash val="solid"/>
          </a:ln>
        </p:spPr>
      </p:sp>
      <p:sp>
        <p:nvSpPr>
          <p:cNvPr id="6" name="Shape 4"/>
          <p:cNvSpPr/>
          <p:nvPr/>
        </p:nvSpPr>
        <p:spPr>
          <a:xfrm>
            <a:off x="9570415" y="1691640"/>
            <a:ext cx="472440" cy="914"/>
          </a:xfrm>
          <a:prstGeom prst="line">
            <a:avLst/>
          </a:prstGeom>
          <a:noFill/>
          <a:ln w="20320">
            <a:solidFill>
              <a:srgbClr val="2A5247"/>
            </a:solidFill>
            <a:prstDash val="solid"/>
          </a:ln>
        </p:spPr>
      </p:sp>
      <p:sp>
        <p:nvSpPr>
          <p:cNvPr id="7" name="Shape 5"/>
          <p:cNvSpPr/>
          <p:nvPr/>
        </p:nvSpPr>
        <p:spPr>
          <a:xfrm flipV="1">
            <a:off x="10042855" y="1341120"/>
            <a:ext cx="914" cy="350520"/>
          </a:xfrm>
          <a:prstGeom prst="line">
            <a:avLst/>
          </a:prstGeom>
          <a:noFill/>
          <a:ln w="20320">
            <a:solidFill>
              <a:srgbClr val="2A5247"/>
            </a:solidFill>
            <a:prstDash val="solid"/>
          </a:ln>
        </p:spPr>
      </p:sp>
      <p:sp>
        <p:nvSpPr>
          <p:cNvPr id="8" name="Shape 6"/>
          <p:cNvSpPr/>
          <p:nvPr/>
        </p:nvSpPr>
        <p:spPr>
          <a:xfrm>
            <a:off x="10042855" y="1341120"/>
            <a:ext cx="472440" cy="914"/>
          </a:xfrm>
          <a:prstGeom prst="line">
            <a:avLst/>
          </a:prstGeom>
          <a:noFill/>
          <a:ln w="20320">
            <a:solidFill>
              <a:srgbClr val="2A5247"/>
            </a:solidFill>
            <a:prstDash val="solid"/>
          </a:ln>
        </p:spPr>
      </p:sp>
      <p:sp>
        <p:nvSpPr>
          <p:cNvPr id="9" name="Shape 7"/>
          <p:cNvSpPr/>
          <p:nvPr/>
        </p:nvSpPr>
        <p:spPr>
          <a:xfrm flipV="1">
            <a:off x="10515295" y="990600"/>
            <a:ext cx="914" cy="350520"/>
          </a:xfrm>
          <a:prstGeom prst="line">
            <a:avLst/>
          </a:prstGeom>
          <a:noFill/>
          <a:ln w="20320">
            <a:solidFill>
              <a:srgbClr val="2A5247"/>
            </a:solidFill>
            <a:prstDash val="solid"/>
          </a:ln>
        </p:spPr>
      </p:sp>
      <p:sp>
        <p:nvSpPr>
          <p:cNvPr id="10" name="Shape 8"/>
          <p:cNvSpPr/>
          <p:nvPr/>
        </p:nvSpPr>
        <p:spPr>
          <a:xfrm>
            <a:off x="10515295" y="990600"/>
            <a:ext cx="472440" cy="914"/>
          </a:xfrm>
          <a:prstGeom prst="line">
            <a:avLst/>
          </a:prstGeom>
          <a:noFill/>
          <a:ln w="20320">
            <a:solidFill>
              <a:srgbClr val="2A5247"/>
            </a:solidFill>
            <a:prstDash val="solid"/>
          </a:ln>
        </p:spPr>
      </p:sp>
      <p:sp>
        <p:nvSpPr>
          <p:cNvPr id="11" name="Shape 9"/>
          <p:cNvSpPr/>
          <p:nvPr/>
        </p:nvSpPr>
        <p:spPr>
          <a:xfrm flipV="1">
            <a:off x="10987735" y="640080"/>
            <a:ext cx="914" cy="350520"/>
          </a:xfrm>
          <a:prstGeom prst="line">
            <a:avLst/>
          </a:prstGeom>
          <a:noFill/>
          <a:ln w="20320">
            <a:solidFill>
              <a:srgbClr val="2A5247"/>
            </a:solidFill>
            <a:prstDash val="solid"/>
          </a:ln>
        </p:spPr>
      </p:sp>
      <p:sp>
        <p:nvSpPr>
          <p:cNvPr id="12" name="Shape 10"/>
          <p:cNvSpPr/>
          <p:nvPr/>
        </p:nvSpPr>
        <p:spPr>
          <a:xfrm>
            <a:off x="10987735" y="640080"/>
            <a:ext cx="472440" cy="914"/>
          </a:xfrm>
          <a:prstGeom prst="line">
            <a:avLst/>
          </a:prstGeom>
          <a:noFill/>
          <a:ln w="20320">
            <a:solidFill>
              <a:srgbClr val="2A5247"/>
            </a:solidFill>
            <a:prstDash val="solid"/>
          </a:ln>
        </p:spPr>
      </p:sp>
      <p:sp>
        <p:nvSpPr>
          <p:cNvPr id="13" name="Text 11"/>
          <p:cNvSpPr txBox="1"/>
          <p:nvPr/>
        </p:nvSpPr>
        <p:spPr>
          <a:xfrm>
            <a:off x="566928" y="658368"/>
            <a:ext cx="768096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Çfarë do të kërkoja nga çdo tabelë krahasuese</a:t>
            </a:r>
            <a:endParaRPr lang="en-US" sz="2600" dirty="0"/>
          </a:p>
        </p:txBody>
      </p:sp>
      <p:sp>
        <p:nvSpPr>
          <p:cNvPr id="14" name="Text 12"/>
          <p:cNvSpPr txBox="1"/>
          <p:nvPr/>
        </p:nvSpPr>
        <p:spPr>
          <a:xfrm>
            <a:off x="566928" y="1700784"/>
            <a:ext cx="365760" cy="310896"/>
          </a:xfrm>
          <a:prstGeom prst="rect">
            <a:avLst/>
          </a:prstGeom>
          <a:noFill/>
          <a:ln/>
        </p:spPr>
        <p:txBody>
          <a:bodyPr wrap="square" lIns="0" tIns="0" rIns="0" bIns="0" rtlCol="0" anchor="ctr"/>
          <a:lstStyle/>
          <a:p>
            <a:pPr indent="0" marL="0">
              <a:buNone/>
            </a:pPr>
            <a:r>
              <a:rPr lang="en-US" sz="1800" b="1" dirty="0">
                <a:solidFill>
                  <a:srgbClr val="3E8E72"/>
                </a:solidFill>
                <a:latin typeface="Cambria" pitchFamily="34" charset="0"/>
                <a:ea typeface="Cambria" pitchFamily="34" charset="-122"/>
                <a:cs typeface="Cambria" pitchFamily="34" charset="-120"/>
              </a:rPr>
              <a:t>1</a:t>
            </a:r>
            <a:endParaRPr lang="en-US" sz="1800" dirty="0"/>
          </a:p>
        </p:txBody>
      </p:sp>
      <p:sp>
        <p:nvSpPr>
          <p:cNvPr id="15" name="Text 13"/>
          <p:cNvSpPr txBox="1"/>
          <p:nvPr/>
        </p:nvSpPr>
        <p:spPr>
          <a:xfrm>
            <a:off x="1078992" y="1700784"/>
            <a:ext cx="10424160" cy="292608"/>
          </a:xfrm>
          <a:prstGeom prst="rect">
            <a:avLst/>
          </a:prstGeom>
          <a:noFill/>
          <a:ln/>
        </p:spPr>
        <p:txBody>
          <a:bodyPr wrap="square" lIns="0" tIns="0" rIns="0" bIns="0" rtlCol="0" anchor="ctr"/>
          <a:lstStyle/>
          <a:p>
            <a:pPr indent="0" marL="0">
              <a:buNone/>
            </a:pPr>
            <a:r>
              <a:rPr lang="en-US" sz="1550" b="1" dirty="0">
                <a:solidFill>
                  <a:srgbClr val="FFFFFF"/>
                </a:solidFill>
              </a:rPr>
              <a:t>Ekzekutoje kontrollin dy herë, dhe publikoje diferencën.</a:t>
            </a:r>
            <a:endParaRPr lang="en-US" sz="1550" dirty="0"/>
          </a:p>
        </p:txBody>
      </p:sp>
      <p:sp>
        <p:nvSpPr>
          <p:cNvPr id="16" name="Text 14"/>
          <p:cNvSpPr txBox="1"/>
          <p:nvPr/>
        </p:nvSpPr>
        <p:spPr>
          <a:xfrm>
            <a:off x="1078992" y="2048256"/>
            <a:ext cx="10424160" cy="603504"/>
          </a:xfrm>
          <a:prstGeom prst="rect">
            <a:avLst/>
          </a:prstGeom>
          <a:noFill/>
          <a:ln/>
        </p:spPr>
        <p:txBody>
          <a:bodyPr wrap="square" lIns="0" tIns="0" rIns="0" bIns="0" rtlCol="0" anchor="ctr"/>
          <a:lstStyle/>
          <a:p>
            <a:pPr indent="0" marL="0">
              <a:lnSpc>
                <a:spcPts val="1800"/>
              </a:lnSpc>
              <a:buNone/>
            </a:pPr>
            <a:r>
              <a:rPr lang="en-US" sz="1250" dirty="0">
                <a:solidFill>
                  <a:srgbClr val="B9CFC4"/>
                </a:solidFill>
              </a:rPr>
              <a:t>Jo dy seed-a në një sesion. Dy sesione. Nëse nuk ke matur sa ndryshon metoda jote nga vetvetja, nuk mund të thuash se diçka ndryshon prej saj.</a:t>
            </a:r>
            <a:endParaRPr lang="en-US" sz="1250" dirty="0"/>
          </a:p>
        </p:txBody>
      </p:sp>
      <p:sp>
        <p:nvSpPr>
          <p:cNvPr id="17" name="Text 15"/>
          <p:cNvSpPr txBox="1"/>
          <p:nvPr/>
        </p:nvSpPr>
        <p:spPr>
          <a:xfrm>
            <a:off x="566928" y="2761488"/>
            <a:ext cx="365760" cy="310896"/>
          </a:xfrm>
          <a:prstGeom prst="rect">
            <a:avLst/>
          </a:prstGeom>
          <a:noFill/>
          <a:ln/>
        </p:spPr>
        <p:txBody>
          <a:bodyPr wrap="square" lIns="0" tIns="0" rIns="0" bIns="0" rtlCol="0" anchor="ctr"/>
          <a:lstStyle/>
          <a:p>
            <a:pPr indent="0" marL="0">
              <a:buNone/>
            </a:pPr>
            <a:r>
              <a:rPr lang="en-US" sz="1800" b="1" dirty="0">
                <a:solidFill>
                  <a:srgbClr val="3E8E72"/>
                </a:solidFill>
                <a:latin typeface="Cambria" pitchFamily="34" charset="0"/>
                <a:ea typeface="Cambria" pitchFamily="34" charset="-122"/>
                <a:cs typeface="Cambria" pitchFamily="34" charset="-120"/>
              </a:rPr>
              <a:t>2</a:t>
            </a:r>
            <a:endParaRPr lang="en-US" sz="1800" dirty="0"/>
          </a:p>
        </p:txBody>
      </p:sp>
      <p:sp>
        <p:nvSpPr>
          <p:cNvPr id="18" name="Text 16"/>
          <p:cNvSpPr txBox="1"/>
          <p:nvPr/>
        </p:nvSpPr>
        <p:spPr>
          <a:xfrm>
            <a:off x="1078992" y="2761488"/>
            <a:ext cx="10424160" cy="292608"/>
          </a:xfrm>
          <a:prstGeom prst="rect">
            <a:avLst/>
          </a:prstGeom>
          <a:noFill/>
          <a:ln/>
        </p:spPr>
        <p:txBody>
          <a:bodyPr wrap="square" lIns="0" tIns="0" rIns="0" bIns="0" rtlCol="0" anchor="ctr"/>
          <a:lstStyle/>
          <a:p>
            <a:pPr indent="0" marL="0">
              <a:buNone/>
            </a:pPr>
            <a:r>
              <a:rPr lang="en-US" sz="1550" b="1" dirty="0">
                <a:solidFill>
                  <a:srgbClr val="FFFFFF"/>
                </a:solidFill>
              </a:rPr>
              <a:t>Raportoje pragun pranë rezultatit, dhe përputhi shtrirjet e tyre.</a:t>
            </a:r>
            <a:endParaRPr lang="en-US" sz="1550" dirty="0"/>
          </a:p>
        </p:txBody>
      </p:sp>
      <p:sp>
        <p:nvSpPr>
          <p:cNvPr id="19" name="Text 17"/>
          <p:cNvSpPr txBox="1"/>
          <p:nvPr/>
        </p:nvSpPr>
        <p:spPr>
          <a:xfrm>
            <a:off x="1078992" y="3108960"/>
            <a:ext cx="10424160" cy="603504"/>
          </a:xfrm>
          <a:prstGeom prst="rect">
            <a:avLst/>
          </a:prstGeom>
          <a:noFill/>
          <a:ln/>
        </p:spPr>
        <p:txBody>
          <a:bodyPr wrap="square" lIns="0" tIns="0" rIns="0" bIns="0" rtlCol="0" anchor="ctr"/>
          <a:lstStyle/>
          <a:p>
            <a:pPr indent="0" marL="0">
              <a:lnSpc>
                <a:spcPts val="1800"/>
              </a:lnSpc>
              <a:buNone/>
            </a:pPr>
            <a:r>
              <a:rPr lang="en-US" sz="1250" dirty="0">
                <a:solidFill>
                  <a:srgbClr val="B9CFC4"/>
                </a:solidFill>
              </a:rPr>
              <a:t>Një diferencë për instancë kërkon prag për instancë; një agregat kërkon prag agregat. Ngatërrimi i të dyjave shpik barazime në një drejtim dhe rezultate në tjetrin.</a:t>
            </a:r>
            <a:endParaRPr lang="en-US" sz="1250" dirty="0"/>
          </a:p>
        </p:txBody>
      </p:sp>
      <p:sp>
        <p:nvSpPr>
          <p:cNvPr id="20" name="Text 18"/>
          <p:cNvSpPr txBox="1"/>
          <p:nvPr/>
        </p:nvSpPr>
        <p:spPr>
          <a:xfrm>
            <a:off x="566928" y="3822192"/>
            <a:ext cx="365760" cy="310896"/>
          </a:xfrm>
          <a:prstGeom prst="rect">
            <a:avLst/>
          </a:prstGeom>
          <a:noFill/>
          <a:ln/>
        </p:spPr>
        <p:txBody>
          <a:bodyPr wrap="square" lIns="0" tIns="0" rIns="0" bIns="0" rtlCol="0" anchor="ctr"/>
          <a:lstStyle/>
          <a:p>
            <a:pPr indent="0" marL="0">
              <a:buNone/>
            </a:pPr>
            <a:r>
              <a:rPr lang="en-US" sz="1800" b="1" dirty="0">
                <a:solidFill>
                  <a:srgbClr val="3E8E72"/>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1078992" y="3822192"/>
            <a:ext cx="10424160" cy="292608"/>
          </a:xfrm>
          <a:prstGeom prst="rect">
            <a:avLst/>
          </a:prstGeom>
          <a:noFill/>
          <a:ln/>
        </p:spPr>
        <p:txBody>
          <a:bodyPr wrap="square" lIns="0" tIns="0" rIns="0" bIns="0" rtlCol="0" anchor="ctr"/>
          <a:lstStyle/>
          <a:p>
            <a:pPr indent="0" marL="0">
              <a:buNone/>
            </a:pPr>
            <a:r>
              <a:rPr lang="en-US" sz="1550" b="1" dirty="0">
                <a:solidFill>
                  <a:srgbClr val="FFFFFF"/>
                </a:solidFill>
              </a:rPr>
              <a:t>Emëro se për çfarë është vërtet rezultati.</a:t>
            </a:r>
            <a:endParaRPr lang="en-US" sz="1550" dirty="0"/>
          </a:p>
        </p:txBody>
      </p:sp>
      <p:sp>
        <p:nvSpPr>
          <p:cNvPr id="22" name="Text 20"/>
          <p:cNvSpPr txBox="1"/>
          <p:nvPr/>
        </p:nvSpPr>
        <p:spPr>
          <a:xfrm>
            <a:off x="1078992" y="4169664"/>
            <a:ext cx="10424160" cy="603504"/>
          </a:xfrm>
          <a:prstGeom prst="rect">
            <a:avLst/>
          </a:prstGeom>
          <a:noFill/>
          <a:ln/>
        </p:spPr>
        <p:txBody>
          <a:bodyPr wrap="square" lIns="0" tIns="0" rIns="0" bIns="0" rtlCol="0" anchor="ctr"/>
          <a:lstStyle/>
          <a:p>
            <a:pPr indent="0" marL="0">
              <a:lnSpc>
                <a:spcPts val="1800"/>
              </a:lnSpc>
              <a:buNone/>
            </a:pPr>
            <a:r>
              <a:rPr lang="en-US" sz="1250" dirty="0">
                <a:solidFill>
                  <a:srgbClr val="B9CFC4"/>
                </a:solidFill>
              </a:rPr>
              <a:t>Një total mbi dhjetë instanca i bërë tërësisht në tri grafe të dendura është rezultat për grafe të dendura, sido që ta quajë koka e kolonës.</a:t>
            </a:r>
            <a:endParaRPr lang="en-US" sz="1250" dirty="0"/>
          </a:p>
        </p:txBody>
      </p:sp>
      <p:sp>
        <p:nvSpPr>
          <p:cNvPr id="23" name="Shape 21"/>
          <p:cNvSpPr/>
          <p:nvPr/>
        </p:nvSpPr>
        <p:spPr>
          <a:xfrm>
            <a:off x="566928" y="4992624"/>
            <a:ext cx="11057839" cy="914"/>
          </a:xfrm>
          <a:prstGeom prst="line">
            <a:avLst/>
          </a:prstGeom>
          <a:noFill/>
          <a:ln w="15240">
            <a:solidFill>
              <a:srgbClr val="2A5247"/>
            </a:solidFill>
            <a:prstDash val="solid"/>
          </a:ln>
        </p:spPr>
      </p:sp>
      <p:sp>
        <p:nvSpPr>
          <p:cNvPr id="24" name="Text 22"/>
          <p:cNvSpPr txBox="1"/>
          <p:nvPr/>
        </p:nvSpPr>
        <p:spPr>
          <a:xfrm>
            <a:off x="566928" y="5157216"/>
            <a:ext cx="10936224" cy="914400"/>
          </a:xfrm>
          <a:prstGeom prst="rect">
            <a:avLst/>
          </a:prstGeom>
          <a:noFill/>
          <a:ln/>
        </p:spPr>
        <p:txBody>
          <a:bodyPr wrap="square" lIns="0" tIns="0" rIns="0" bIns="0" rtlCol="0" anchor="ctr"/>
          <a:lstStyle/>
          <a:p>
            <a:pPr indent="0" marL="0">
              <a:lnSpc>
                <a:spcPts val="2100"/>
              </a:lnSpc>
              <a:buNone/>
            </a:pPr>
            <a:r>
              <a:rPr lang="en-US" sz="1400" i="1" dirty="0">
                <a:solidFill>
                  <a:srgbClr val="FFFFFF"/>
                </a:solidFill>
              </a:rPr>
              <a:t>Në këto dhjetë instanca, në këtë buxhet, ndërtimi dominon dhe tri përbërëset e kërkimit jo. Gjysma e krahasimit është barazim. Të dyja janë gjetje, dhe vetëm njëra prej tyre është lloji që nisesh ta gjesh.</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9082735" y="5455920"/>
            <a:ext cx="411480" cy="914"/>
          </a:xfrm>
          <a:prstGeom prst="line">
            <a:avLst/>
          </a:prstGeom>
          <a:noFill/>
          <a:ln w="20320">
            <a:solidFill>
              <a:srgbClr val="2A5247"/>
            </a:solidFill>
            <a:prstDash val="solid"/>
          </a:ln>
        </p:spPr>
      </p:sp>
      <p:sp>
        <p:nvSpPr>
          <p:cNvPr id="3" name="Shape 1"/>
          <p:cNvSpPr/>
          <p:nvPr/>
        </p:nvSpPr>
        <p:spPr>
          <a:xfrm flipV="1">
            <a:off x="9494215" y="5151120"/>
            <a:ext cx="914" cy="304800"/>
          </a:xfrm>
          <a:prstGeom prst="line">
            <a:avLst/>
          </a:prstGeom>
          <a:noFill/>
          <a:ln w="20320">
            <a:solidFill>
              <a:srgbClr val="2A5247"/>
            </a:solidFill>
            <a:prstDash val="solid"/>
          </a:ln>
        </p:spPr>
      </p:sp>
      <p:sp>
        <p:nvSpPr>
          <p:cNvPr id="4" name="Shape 2"/>
          <p:cNvSpPr/>
          <p:nvPr/>
        </p:nvSpPr>
        <p:spPr>
          <a:xfrm>
            <a:off x="9494215" y="5151120"/>
            <a:ext cx="411480" cy="914"/>
          </a:xfrm>
          <a:prstGeom prst="line">
            <a:avLst/>
          </a:prstGeom>
          <a:noFill/>
          <a:ln w="20320">
            <a:solidFill>
              <a:srgbClr val="2A5247"/>
            </a:solidFill>
            <a:prstDash val="solid"/>
          </a:ln>
        </p:spPr>
      </p:sp>
      <p:sp>
        <p:nvSpPr>
          <p:cNvPr id="5" name="Shape 3"/>
          <p:cNvSpPr/>
          <p:nvPr/>
        </p:nvSpPr>
        <p:spPr>
          <a:xfrm flipV="1">
            <a:off x="9905695" y="4846320"/>
            <a:ext cx="914" cy="304800"/>
          </a:xfrm>
          <a:prstGeom prst="line">
            <a:avLst/>
          </a:prstGeom>
          <a:noFill/>
          <a:ln w="20320">
            <a:solidFill>
              <a:srgbClr val="2A5247"/>
            </a:solidFill>
            <a:prstDash val="solid"/>
          </a:ln>
        </p:spPr>
      </p:sp>
      <p:sp>
        <p:nvSpPr>
          <p:cNvPr id="6" name="Shape 4"/>
          <p:cNvSpPr/>
          <p:nvPr/>
        </p:nvSpPr>
        <p:spPr>
          <a:xfrm>
            <a:off x="9905695" y="4846320"/>
            <a:ext cx="411480" cy="914"/>
          </a:xfrm>
          <a:prstGeom prst="line">
            <a:avLst/>
          </a:prstGeom>
          <a:noFill/>
          <a:ln w="20320">
            <a:solidFill>
              <a:srgbClr val="2A5247"/>
            </a:solidFill>
            <a:prstDash val="solid"/>
          </a:ln>
        </p:spPr>
      </p:sp>
      <p:sp>
        <p:nvSpPr>
          <p:cNvPr id="7" name="Shape 5"/>
          <p:cNvSpPr/>
          <p:nvPr/>
        </p:nvSpPr>
        <p:spPr>
          <a:xfrm flipV="1">
            <a:off x="10317175" y="4541520"/>
            <a:ext cx="914" cy="304800"/>
          </a:xfrm>
          <a:prstGeom prst="line">
            <a:avLst/>
          </a:prstGeom>
          <a:noFill/>
          <a:ln w="20320">
            <a:solidFill>
              <a:srgbClr val="2A5247"/>
            </a:solidFill>
            <a:prstDash val="solid"/>
          </a:ln>
        </p:spPr>
      </p:sp>
      <p:sp>
        <p:nvSpPr>
          <p:cNvPr id="8" name="Shape 6"/>
          <p:cNvSpPr/>
          <p:nvPr/>
        </p:nvSpPr>
        <p:spPr>
          <a:xfrm>
            <a:off x="10317175" y="4541520"/>
            <a:ext cx="411480" cy="914"/>
          </a:xfrm>
          <a:prstGeom prst="line">
            <a:avLst/>
          </a:prstGeom>
          <a:noFill/>
          <a:ln w="20320">
            <a:solidFill>
              <a:srgbClr val="2A5247"/>
            </a:solidFill>
            <a:prstDash val="solid"/>
          </a:ln>
        </p:spPr>
      </p:sp>
      <p:sp>
        <p:nvSpPr>
          <p:cNvPr id="9" name="Shape 7"/>
          <p:cNvSpPr/>
          <p:nvPr/>
        </p:nvSpPr>
        <p:spPr>
          <a:xfrm flipV="1">
            <a:off x="10728655" y="4236720"/>
            <a:ext cx="914" cy="304800"/>
          </a:xfrm>
          <a:prstGeom prst="line">
            <a:avLst/>
          </a:prstGeom>
          <a:noFill/>
          <a:ln w="20320">
            <a:solidFill>
              <a:srgbClr val="2A5247"/>
            </a:solidFill>
            <a:prstDash val="solid"/>
          </a:ln>
        </p:spPr>
      </p:sp>
      <p:sp>
        <p:nvSpPr>
          <p:cNvPr id="10" name="Shape 8"/>
          <p:cNvSpPr/>
          <p:nvPr/>
        </p:nvSpPr>
        <p:spPr>
          <a:xfrm>
            <a:off x="10728655" y="4236720"/>
            <a:ext cx="411480" cy="914"/>
          </a:xfrm>
          <a:prstGeom prst="line">
            <a:avLst/>
          </a:prstGeom>
          <a:noFill/>
          <a:ln w="20320">
            <a:solidFill>
              <a:srgbClr val="2A5247"/>
            </a:solidFill>
            <a:prstDash val="solid"/>
          </a:ln>
        </p:spPr>
      </p:sp>
      <p:sp>
        <p:nvSpPr>
          <p:cNvPr id="11" name="Shape 9"/>
          <p:cNvSpPr/>
          <p:nvPr/>
        </p:nvSpPr>
        <p:spPr>
          <a:xfrm flipV="1">
            <a:off x="11140135" y="3931920"/>
            <a:ext cx="914" cy="304800"/>
          </a:xfrm>
          <a:prstGeom prst="line">
            <a:avLst/>
          </a:prstGeom>
          <a:noFill/>
          <a:ln w="20320">
            <a:solidFill>
              <a:srgbClr val="2A5247"/>
            </a:solidFill>
            <a:prstDash val="solid"/>
          </a:ln>
        </p:spPr>
      </p:sp>
      <p:sp>
        <p:nvSpPr>
          <p:cNvPr id="12" name="Shape 10"/>
          <p:cNvSpPr/>
          <p:nvPr/>
        </p:nvSpPr>
        <p:spPr>
          <a:xfrm>
            <a:off x="11140135" y="3931920"/>
            <a:ext cx="411480" cy="914"/>
          </a:xfrm>
          <a:prstGeom prst="line">
            <a:avLst/>
          </a:prstGeom>
          <a:noFill/>
          <a:ln w="20320">
            <a:solidFill>
              <a:srgbClr val="2A5247"/>
            </a:solidFill>
            <a:prstDash val="solid"/>
          </a:ln>
        </p:spPr>
      </p:sp>
      <p:sp>
        <p:nvSpPr>
          <p:cNvPr id="13" name="Text 11"/>
          <p:cNvSpPr txBox="1"/>
          <p:nvPr/>
        </p:nvSpPr>
        <p:spPr>
          <a:xfrm>
            <a:off x="566928" y="868680"/>
            <a:ext cx="676656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Faleminderit</a:t>
            </a:r>
            <a:endParaRPr lang="en-US" sz="4000" dirty="0"/>
          </a:p>
        </p:txBody>
      </p:sp>
      <p:sp>
        <p:nvSpPr>
          <p:cNvPr id="14" name="Text 12"/>
          <p:cNvSpPr txBox="1"/>
          <p:nvPr/>
        </p:nvSpPr>
        <p:spPr>
          <a:xfrm>
            <a:off x="566928" y="1664208"/>
            <a:ext cx="6766560" cy="640080"/>
          </a:xfrm>
          <a:prstGeom prst="rect">
            <a:avLst/>
          </a:prstGeom>
          <a:noFill/>
          <a:ln/>
        </p:spPr>
        <p:txBody>
          <a:bodyPr wrap="square" lIns="0" tIns="0" rIns="0" bIns="0" rtlCol="0" anchor="ctr"/>
          <a:lstStyle/>
          <a:p>
            <a:pPr indent="0" marL="0">
              <a:buNone/>
            </a:pPr>
            <a:r>
              <a:rPr lang="en-US" sz="3400" b="1" dirty="0">
                <a:solidFill>
                  <a:srgbClr val="3E8E72"/>
                </a:solidFill>
                <a:latin typeface="Cambria" pitchFamily="34" charset="0"/>
                <a:ea typeface="Cambria" pitchFamily="34" charset="-122"/>
                <a:cs typeface="Cambria" pitchFamily="34" charset="-120"/>
              </a:rPr>
              <a:t>Pyetje</a:t>
            </a:r>
            <a:endParaRPr lang="en-US" sz="3400" dirty="0"/>
          </a:p>
        </p:txBody>
      </p:sp>
      <p:sp>
        <p:nvSpPr>
          <p:cNvPr id="15" name="Shape 13"/>
          <p:cNvSpPr/>
          <p:nvPr/>
        </p:nvSpPr>
        <p:spPr>
          <a:xfrm>
            <a:off x="566928" y="2596896"/>
            <a:ext cx="1463040" cy="914"/>
          </a:xfrm>
          <a:prstGeom prst="line">
            <a:avLst/>
          </a:prstGeom>
          <a:noFill/>
          <a:ln w="27940">
            <a:solidFill>
              <a:srgbClr val="3E8E72"/>
            </a:solidFill>
            <a:prstDash val="solid"/>
          </a:ln>
        </p:spPr>
      </p:sp>
      <p:sp>
        <p:nvSpPr>
          <p:cNvPr id="16" name="Text 14"/>
          <p:cNvSpPr txBox="1"/>
          <p:nvPr/>
        </p:nvSpPr>
        <p:spPr>
          <a:xfrm>
            <a:off x="566928" y="2871216"/>
            <a:ext cx="6766560" cy="237744"/>
          </a:xfrm>
          <a:prstGeom prst="rect">
            <a:avLst/>
          </a:prstGeom>
          <a:noFill/>
          <a:ln/>
        </p:spPr>
        <p:txBody>
          <a:bodyPr wrap="square" lIns="0" tIns="0" rIns="0" bIns="0" rtlCol="0" anchor="ctr"/>
          <a:lstStyle/>
          <a:p>
            <a:pPr indent="0" marL="0">
              <a:buNone/>
            </a:pPr>
            <a:r>
              <a:rPr lang="en-US" sz="1100" spc="100" kern="0" dirty="0">
                <a:solidFill>
                  <a:srgbClr val="8FB8A6"/>
                </a:solidFill>
              </a:rPr>
              <a:t>Shifra që mund t’ju duhen gjatë diskutimit</a:t>
            </a:r>
            <a:endParaRPr lang="en-US" sz="1100" dirty="0"/>
          </a:p>
        </p:txBody>
      </p:sp>
      <p:sp>
        <p:nvSpPr>
          <p:cNvPr id="17" name="Text 15"/>
          <p:cNvSpPr txBox="1"/>
          <p:nvPr/>
        </p:nvSpPr>
        <p:spPr>
          <a:xfrm>
            <a:off x="566928" y="3255264"/>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7,881 / 21,519 HV</a:t>
            </a:r>
            <a:endParaRPr lang="en-US" sz="1500" dirty="0"/>
          </a:p>
        </p:txBody>
      </p:sp>
      <p:sp>
        <p:nvSpPr>
          <p:cNvPr id="18" name="Text 16"/>
          <p:cNvSpPr txBox="1"/>
          <p:nvPr/>
        </p:nvSpPr>
        <p:spPr>
          <a:xfrm>
            <a:off x="566928" y="3557016"/>
            <a:ext cx="3657600" cy="402336"/>
          </a:xfrm>
          <a:prstGeom prst="rect">
            <a:avLst/>
          </a:prstGeom>
          <a:noFill/>
          <a:ln/>
        </p:spPr>
        <p:txBody>
          <a:bodyPr wrap="square" lIns="0" tIns="0" rIns="0" bIns="0" rtlCol="0" anchor="ctr"/>
          <a:lstStyle/>
          <a:p>
            <a:pPr indent="0" marL="0">
              <a:lnSpc>
                <a:spcPts val="1400"/>
              </a:lnSpc>
              <a:buNone/>
            </a:pPr>
            <a:r>
              <a:rPr lang="en-US" sz="1050" dirty="0">
                <a:solidFill>
                  <a:srgbClr val="B9CFC4"/>
                </a:solidFill>
              </a:rPr>
              <a:t>pragjet e zhurmës për instancë dhe agregat</a:t>
            </a:r>
            <a:endParaRPr lang="en-US" sz="1050" dirty="0"/>
          </a:p>
        </p:txBody>
      </p:sp>
      <p:sp>
        <p:nvSpPr>
          <p:cNvPr id="19" name="Text 17"/>
          <p:cNvSpPr txBox="1"/>
          <p:nvPr/>
        </p:nvSpPr>
        <p:spPr>
          <a:xfrm>
            <a:off x="4498848" y="3255264"/>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5 nga 10</a:t>
            </a:r>
            <a:endParaRPr lang="en-US" sz="1500" dirty="0"/>
          </a:p>
        </p:txBody>
      </p:sp>
      <p:sp>
        <p:nvSpPr>
          <p:cNvPr id="20" name="Text 18"/>
          <p:cNvSpPr txBox="1"/>
          <p:nvPr/>
        </p:nvSpPr>
        <p:spPr>
          <a:xfrm>
            <a:off x="4498848" y="3557016"/>
            <a:ext cx="3657600" cy="402336"/>
          </a:xfrm>
          <a:prstGeom prst="rect">
            <a:avLst/>
          </a:prstGeom>
          <a:noFill/>
          <a:ln/>
        </p:spPr>
        <p:txBody>
          <a:bodyPr wrap="square" lIns="0" tIns="0" rIns="0" bIns="0" rtlCol="0" anchor="ctr"/>
          <a:lstStyle/>
          <a:p>
            <a:pPr indent="0" marL="0">
              <a:lnSpc>
                <a:spcPts val="1400"/>
              </a:lnSpc>
              <a:buNone/>
            </a:pPr>
            <a:r>
              <a:rPr lang="en-US" sz="1050" dirty="0">
                <a:solidFill>
                  <a:srgbClr val="B9CFC4"/>
                </a:solidFill>
              </a:rPr>
              <a:t>rreshta që e ndajnë vendin e parë nga i dyti</a:t>
            </a:r>
            <a:endParaRPr lang="en-US" sz="1050" dirty="0"/>
          </a:p>
        </p:txBody>
      </p:sp>
      <p:sp>
        <p:nvSpPr>
          <p:cNvPr id="21" name="Text 19"/>
          <p:cNvSpPr txBox="1"/>
          <p:nvPr/>
        </p:nvSpPr>
        <p:spPr>
          <a:xfrm>
            <a:off x="566928" y="4041648"/>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15.9× kundër 0.4–2.0×</a:t>
            </a:r>
            <a:endParaRPr lang="en-US" sz="1500" dirty="0"/>
          </a:p>
        </p:txBody>
      </p:sp>
      <p:sp>
        <p:nvSpPr>
          <p:cNvPr id="22" name="Text 20"/>
          <p:cNvSpPr txBox="1"/>
          <p:nvPr/>
        </p:nvSpPr>
        <p:spPr>
          <a:xfrm>
            <a:off x="566928" y="4343400"/>
            <a:ext cx="3657600" cy="402336"/>
          </a:xfrm>
          <a:prstGeom prst="rect">
            <a:avLst/>
          </a:prstGeom>
          <a:noFill/>
          <a:ln/>
        </p:spPr>
        <p:txBody>
          <a:bodyPr wrap="square" lIns="0" tIns="0" rIns="0" bIns="0" rtlCol="0" anchor="ctr"/>
          <a:lstStyle/>
          <a:p>
            <a:pPr indent="0" marL="0">
              <a:lnSpc>
                <a:spcPts val="1400"/>
              </a:lnSpc>
              <a:buNone/>
            </a:pPr>
            <a:r>
              <a:rPr lang="en-US" sz="1050" dirty="0">
                <a:solidFill>
                  <a:srgbClr val="B9CFC4"/>
                </a:solidFill>
              </a:rPr>
              <a:t>ndërtimi kundër tri levave të kërkimit</a:t>
            </a:r>
            <a:endParaRPr lang="en-US" sz="1050" dirty="0"/>
          </a:p>
        </p:txBody>
      </p:sp>
      <p:sp>
        <p:nvSpPr>
          <p:cNvPr id="23" name="Text 21"/>
          <p:cNvSpPr txBox="1"/>
          <p:nvPr/>
        </p:nvSpPr>
        <p:spPr>
          <a:xfrm>
            <a:off x="4498848" y="4041648"/>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0.2327%</a:t>
            </a:r>
            <a:endParaRPr lang="en-US" sz="1500" dirty="0"/>
          </a:p>
        </p:txBody>
      </p:sp>
      <p:sp>
        <p:nvSpPr>
          <p:cNvPr id="24" name="Text 22"/>
          <p:cNvSpPr txBox="1"/>
          <p:nvPr/>
        </p:nvSpPr>
        <p:spPr>
          <a:xfrm>
            <a:off x="4498848" y="4343400"/>
            <a:ext cx="3657600" cy="402336"/>
          </a:xfrm>
          <a:prstGeom prst="rect">
            <a:avLst/>
          </a:prstGeom>
          <a:noFill/>
          <a:ln/>
        </p:spPr>
        <p:txBody>
          <a:bodyPr wrap="square" lIns="0" tIns="0" rIns="0" bIns="0" rtlCol="0" anchor="ctr"/>
          <a:lstStyle/>
          <a:p>
            <a:pPr indent="0" marL="0">
              <a:lnSpc>
                <a:spcPts val="1400"/>
              </a:lnSpc>
              <a:buNone/>
            </a:pPr>
            <a:r>
              <a:rPr lang="en-US" sz="1050" dirty="0">
                <a:solidFill>
                  <a:srgbClr val="B9CFC4"/>
                </a:solidFill>
              </a:rPr>
              <a:t>shkalla më e lartë e pranimit e matur kudo</a:t>
            </a:r>
            <a:endParaRPr lang="en-US" sz="1050" dirty="0"/>
          </a:p>
        </p:txBody>
      </p:sp>
      <p:sp>
        <p:nvSpPr>
          <p:cNvPr id="25" name="Text 23"/>
          <p:cNvSpPr txBox="1"/>
          <p:nvPr/>
        </p:nvSpPr>
        <p:spPr>
          <a:xfrm>
            <a:off x="566928" y="4828032"/>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269,607 HV</a:t>
            </a:r>
            <a:endParaRPr lang="en-US" sz="1500" dirty="0"/>
          </a:p>
        </p:txBody>
      </p:sp>
      <p:sp>
        <p:nvSpPr>
          <p:cNvPr id="26" name="Text 24"/>
          <p:cNvSpPr txBox="1"/>
          <p:nvPr/>
        </p:nvSpPr>
        <p:spPr>
          <a:xfrm>
            <a:off x="566928" y="5129784"/>
            <a:ext cx="3657600" cy="402336"/>
          </a:xfrm>
          <a:prstGeom prst="rect">
            <a:avLst/>
          </a:prstGeom>
          <a:noFill/>
          <a:ln/>
        </p:spPr>
        <p:txBody>
          <a:bodyPr wrap="square" lIns="0" tIns="0" rIns="0" bIns="0" rtlCol="0" anchor="ctr"/>
          <a:lstStyle/>
          <a:p>
            <a:pPr indent="0" marL="0">
              <a:lnSpc>
                <a:spcPts val="1400"/>
              </a:lnSpc>
              <a:buNone/>
            </a:pPr>
            <a:r>
              <a:rPr lang="en-US" sz="1050" dirty="0">
                <a:solidFill>
                  <a:srgbClr val="B9CFC4"/>
                </a:solidFill>
              </a:rPr>
              <a:t>epërsia e ndërtimit me dhjetëfishin e buxhetit</a:t>
            </a:r>
            <a:endParaRPr lang="en-US" sz="1050" dirty="0"/>
          </a:p>
        </p:txBody>
      </p:sp>
      <p:sp>
        <p:nvSpPr>
          <p:cNvPr id="27" name="Text 25"/>
          <p:cNvSpPr txBox="1"/>
          <p:nvPr/>
        </p:nvSpPr>
        <p:spPr>
          <a:xfrm>
            <a:off x="4498848" y="4828032"/>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0.63%</a:t>
            </a:r>
            <a:endParaRPr lang="en-US" sz="1500" dirty="0"/>
          </a:p>
        </p:txBody>
      </p:sp>
      <p:sp>
        <p:nvSpPr>
          <p:cNvPr id="28" name="Text 26"/>
          <p:cNvSpPr txBox="1"/>
          <p:nvPr/>
        </p:nvSpPr>
        <p:spPr>
          <a:xfrm>
            <a:off x="4498848" y="5129784"/>
            <a:ext cx="3657600" cy="402336"/>
          </a:xfrm>
          <a:prstGeom prst="rect">
            <a:avLst/>
          </a:prstGeom>
          <a:noFill/>
          <a:ln/>
        </p:spPr>
        <p:txBody>
          <a:bodyPr wrap="square" lIns="0" tIns="0" rIns="0" bIns="0" rtlCol="0" anchor="ctr"/>
          <a:lstStyle/>
          <a:p>
            <a:pPr indent="0" marL="0">
              <a:lnSpc>
                <a:spcPts val="1400"/>
              </a:lnSpc>
              <a:buNone/>
            </a:pPr>
            <a:r>
              <a:rPr lang="en-US" sz="1050" dirty="0">
                <a:solidFill>
                  <a:srgbClr val="B9CFC4"/>
                </a:solidFill>
              </a:rPr>
              <a:t>largësia e small-graph nga një tavan i vërtetueshëm</a:t>
            </a:r>
            <a:endParaRPr lang="en-US" sz="1050" dirty="0"/>
          </a:p>
        </p:txBody>
      </p:sp>
      <p:sp>
        <p:nvSpPr>
          <p:cNvPr id="29" name="Shape 27"/>
          <p:cNvSpPr/>
          <p:nvPr/>
        </p:nvSpPr>
        <p:spPr>
          <a:xfrm>
            <a:off x="566928" y="5724144"/>
            <a:ext cx="11057839" cy="914"/>
          </a:xfrm>
          <a:prstGeom prst="line">
            <a:avLst/>
          </a:prstGeom>
          <a:noFill/>
          <a:ln w="12700">
            <a:solidFill>
              <a:srgbClr val="2A5247"/>
            </a:solidFill>
            <a:prstDash val="solid"/>
          </a:ln>
        </p:spPr>
      </p:sp>
      <p:sp>
        <p:nvSpPr>
          <p:cNvPr id="30" name="Text 28"/>
          <p:cNvSpPr txBox="1"/>
          <p:nvPr/>
        </p:nvSpPr>
        <p:spPr>
          <a:xfrm>
            <a:off x="566928" y="5870448"/>
            <a:ext cx="6949440" cy="237744"/>
          </a:xfrm>
          <a:prstGeom prst="rect">
            <a:avLst/>
          </a:prstGeom>
          <a:noFill/>
          <a:ln/>
        </p:spPr>
        <p:txBody>
          <a:bodyPr wrap="square" lIns="0" tIns="0" rIns="0" bIns="0" rtlCol="0" anchor="ctr"/>
          <a:lstStyle/>
          <a:p>
            <a:pPr indent="0" marL="0">
              <a:buNone/>
            </a:pPr>
            <a:r>
              <a:rPr lang="en-US" sz="1050" dirty="0">
                <a:solidFill>
                  <a:srgbClr val="8FB8A6"/>
                </a:solidFill>
              </a:rPr>
              <a:t>Kodi, CSV-të e papërpunuara dhe çdo figurë në këtë kumtesë rigjenerohen nga harness/</a:t>
            </a:r>
            <a:endParaRPr lang="en-US" sz="1050" dirty="0"/>
          </a:p>
        </p:txBody>
      </p:sp>
      <p:sp>
        <p:nvSpPr>
          <p:cNvPr id="31" name="Text 29"/>
          <p:cNvSpPr txBox="1"/>
          <p:nvPr/>
        </p:nvSpPr>
        <p:spPr>
          <a:xfrm>
            <a:off x="566928" y="6144768"/>
            <a:ext cx="8229600" cy="237744"/>
          </a:xfrm>
          <a:prstGeom prst="rect">
            <a:avLst/>
          </a:prstGeom>
          <a:noFill/>
          <a:ln/>
        </p:spPr>
        <p:txBody>
          <a:bodyPr wrap="square" lIns="0" tIns="0" rIns="0" bIns="0" rtlCol="0" anchor="ctr"/>
          <a:lstStyle/>
          <a:p>
            <a:pPr indent="0" marL="0">
              <a:buNone/>
            </a:pPr>
            <a:r>
              <a:rPr lang="en-US" sz="1150" dirty="0">
                <a:solidFill>
                  <a:srgbClr val="FFFFFF"/>
                </a:solidFill>
              </a:rPr>
              <a:t>Adrian Ymeri · adrian.ymeri@uni-pr.edu · Universiteti i Prishtinës</a:t>
            </a:r>
            <a:endParaRPr lang="en-US" sz="1150" dirty="0"/>
          </a:p>
        </p:txBody>
      </p:sp>
    </p:spTree>
  </p:cSld>
  <p:clrMapOvr>
    <a:masterClrMapping/>
  </p:clrMapOvr>
</p:sld>
</file>

<file path=ppt/theme/theme1.xml><?xml version="1.0" encoding="utf-8"?>
<a:theme xmlns:a="http://schemas.openxmlformats.org/drawingml/2006/main" name="Torso">
  <a:themeElements>
    <a:clrScheme name="Torso">
      <a:dk1>
        <a:srgbClr val="11211C"/>
      </a:dk1>
      <a:lt1>
        <a:srgbClr val="FFFFFF"/>
      </a:lt1>
      <a:dk2>
        <a:srgbClr val="1F3A33"/>
      </a:dk2>
      <a:lt2>
        <a:srgbClr val="EFF3F1"/>
      </a:lt2>
      <a:accent1>
        <a:srgbClr val="3E8E72"/>
      </a:accent1>
      <a:accent2>
        <a:srgbClr val="C0603C"/>
      </a:accent2>
      <a:accent3>
        <a:srgbClr val="6B7A75"/>
      </a:accent3>
      <a:accent4>
        <a:srgbClr val="8FB8A6"/>
      </a:accent4>
      <a:accent5>
        <a:srgbClr val="2A5247"/>
      </a:accent5>
      <a:accent6>
        <a:srgbClr val="B9CFC4"/>
      </a:accent6>
      <a:hlink>
        <a:srgbClr val="3E8E72"/>
      </a:hlink>
      <a:folHlink>
        <a:srgbClr val="6B7A75"/>
      </a:folHlink>
    </a:clrScheme>
    <a:fontScheme name="Tors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Universiteti i Prishtinës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Dekompozime torso: çfarë vërteton dhe çfarë nuk vërteton një tabelë krahasuese</dc:title>
  <dc:subject>AlbShkenca 2026</dc:subject>
  <dc:creator>Adrian Ymeri</dc:creator>
  <cp:lastModifiedBy>Adrian Ymeri</cp:lastModifiedBy>
  <cp:revision>1</cp:revision>
  <dcterms:created xsi:type="dcterms:W3CDTF">2026-10-13T06:10:14Z</dcterms:created>
  <dcterms:modified xsi:type="dcterms:W3CDTF">2026-10-13T06:10:14Z</dcterms:modified>
</cp:coreProperties>
</file>