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umtesa" id="{19bc2e2b-5203-9d52-ab77-5c06040172a4}">
          <p14:sldIdLst>
            <p14:sldId id="256"/>
            <p14:sldId id="257"/>
            <p14:sldId id="258"/>
            <p14:sldId id="259"/>
            <p14:sldId id="260"/>
            <p14:sldId id="261"/>
            <p14:sldId id="262"/>
            <p14:sldId id="263"/>
            <p14:sldId id="264"/>
            <p14:sldId id="265"/>
            <p14:sldId id="266"/>
            <p14:sldId id="267"/>
            <p14:sldId id="268"/>
            <p14:sldId id="269"/>
          </p14:sldIdLst>
        </p14:section>
        <p14:section name="Shtojcë" id="{8f8c9585-95c8-44d0-7b2b-d5e188cebade}">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20 sekonda. Thuaj se për çfarë është kumtesa: një problem grafesh nga sfida e optimizimit hapësinor e ESA-s dhe, më e rëndësishmja, si vendosim që një numër në një tabelë rezultatesh ka kuptim. Mos e lexo nëntitullin me zë.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Mbi këtë slajd qëndron gjithë kumtesa. Lexoje renditjen nga e majta në të djathtë. Kulmi 0 shkon te 1 dhe 2, që nuk janë fqinjë, prandaj shfaqet brinja mbushëse {1,2}: harku i parë i kuq. Gjithsej shfaqen nëntë të tilla. Pragu t = 6 i hedh gjashtë kulmet e para; katër të fundit janë torsoja, dhe shkalla dalëse më e madhe mes tyre është 2. E verifikova që ky shembull riprodhon përgjigjen e ESA-s para se ta vendosja në slajd. Mbyll me: hiqe tregimin dhe mbetet renditja e eliminimit, që këtu e ka takuar secili si gjerësi peme, Cholesky i rrallë ose eliminim variablash.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60 sekonda. Rezultati është sipërfaqe, jo numërim. Kufiri 500 e bën peizazhin me greminë: kontrollohet në çdo hap eliminimi, përfshirë pjesën që hidhet, dhe një shkelje e vetme e vlerëson tërë vektorin me gjerësi 501. Ky është rregulli i publikuar i ESA-s; mjedisi ynë i matjes është më i rreptë dhe e hedh krejt dorëzimin. Kjo ka rëndësi katër slajde më vonë, kur kërkimi niset nga një renditje e rastësishme.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Ky kufi është pjesa më e ripërdorshme e punës, dhe argumenti zë një rresht: fute bashkësinë e eliminuar në çdo qese. Një hendek është shuma e dy të panjohurave: sa larg optimumit është përgjigja më e mirë, plus sa larg tij është kufiri. Kur hendeku është i vogël, të dyja janë të vogla, prandaj instanca e rrallë është e zgjidhur brenda 0.63%. Në large-graph një klikë me 500 kulme e detyron gjerësinë e pemës të jetë së paku 499, dhe përgjigjet e lejuara brenda kufirit e detyrojnë të jetë së shumti 500: gjerësia e pemës e njohur brenda njëshit në një graf me 2,426 kulme. Hendeku prej 4.54% është hapësirë reale.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40 sekonda. Slajd i shkurtër, vërejtje e rëndësishme. Shtatë instancat sintetike u gjeneruan që të përputhen në madhësi me tri zyrtaret, prandaj çdo gjë që ndryshon mes familjeve ka të bëjë me strukturën. Kjo do të thotë gjithashtu se madhësia efektive e mostrës për çdo pohim në këtë kumtesë është tri, jo dhjetë.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Lexoje sipas kolonave. Spacekangaroos, fituesi i përgjithshëm i ESA-s, merr small-graph, por brenda buxhetit nuk gjen asgjë të lejuar në tri instancat e dendura. fcmaes i zotëron rreshtat e dendur me qindra mijëra. Tabela emëron një fitues në çdo rresht, dhe pikërisht ky është problemi: një tabelë gjithmonë e bën këtë. Pjesa tjetër e kumtesës pyet cilët nga këta dhjetë fitues kanë kuptim.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Gjashtë zerot janë i gjithë argumenti: në gjashtë instanca një renditje e rastësishme nuk është nisje e dobët, është mosnisje. Pastaj krahasimi: një krahasim i mëhershëm e nisi Hill Climbing nga min-degree dhe Team HRI nga e rastësishmja, siç e përcakton punimi i HRI-së, dhe dukej si një shkatërrim prej 275 mijë HV. Jepu të dyve të njëjtin ndërtim dhe hendeku është 1,234 HV. Nëse mbani një gjë për krahasimet nga kjo kumtesë: kontrolloni kushtet e nisjes para se t'i besoni algoritmit.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Ngadalëso; kjo është kthesa. Meqë Hill Climbing ndalon sipas orës, dy sesione janë dy mostra të pavarura, dhe i kisha të dyja. Instancë për instancë, ndryshimi mes sesioneve nuk është më i madh se shpërndarja e seed-ave brenda një sesioni: synth-4 lëvizi 7,881, por seed-at e vet shpërndahen 13,214. Në totalin e dhjetë instancave është ndryshe: rishpërndarja e seed-ave mes sesioneve e lëviz totalin aq sa e vëzhguam vetëm 4.6% të herëve, pra sesionet kanë rëndësi për shumat. Dhe vetë zhurma shtrihet në katër rende madhësie mes metodave dhe instancave, prandaj asnjë prag i vetëm nuk mund të gjykojë çdo rresht.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100 sekonda. Ja çfarë thonë seed-at. Më i miri nga tre është statistikë e njëanshme: shpërblen metodën më të zhurmshme. Në small-graph Spacekangaroos fiton me një seed me fat; dy seed-at e tjerë mbeten pas çdo seed-i të Team HRI. Në synth-5 mediana emëron një fitues tjetër. Në medium-graph fiton HRI, por seed-at e tij shpërndahen 80 mijë HV. Një rresht quhet i vendosur vetëm nëse çdo seed i fituesit mposht çdo seed të çdo rivali; me tre seed-a ky është një test i saktë rangjesh me p = 0.05. Pesë rreshta kalojnë, pesë jo. synth-3 kalon sepse çdo seed i Hill Climbing e mposht pikën e vet të nisjes, me 24 deri në 71 HV: real, dhe i padobishëm. Drafti im i parë e gjykoi çdo rresht kundër një pragu të marrë nga zhurma e Hill Climbing, dhe gaboi në katër nga këto dhjetë rreshta; numri pesë ishte rastësi.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Ky është dizajni i kontrolluar: tre përbërës, një i zëvendësuar në një kohë, gjithçka tjetër e fiksuar. Shiritat janë fitimi mbi kontrollin; rrathët janë i njëjti variant i matur kundër sesionit tjetër të kontrollit; brezi i verdhë është sa lëviz kontrolli kur thjesht e ekzekuton përsëri. Grupi i lëvizjeve dhe VNS e ndërrojnë shenjën kur rimostrohet kontrolli, dhe një efekt që ndërron shenjë kur rimostron kontrollin nuk ka ekzistuar kurrë. Simulated annealing përgjysmohet. Leva e ndërtimit është gati gjashtëmbëdhjetë herë sa brezi, dhe e gjitha jeton në tri instancat e dendura: plus 343,623 atje, minus 2,360 në shtatë të tjerat.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40 sekonda; nëse mungon koha, ky është slajdi i parë që hiqet. Trembëdhjetë operatorë të rinj, nga k-opt te lëvizjet që njohin strukturën, secili vetëm. Asnjë nuk e kalon brezin, dhe kundër të dy sesioneve të kontrollit asnjë nuk fiton qoftë një instancë. Shkalla e pranimit e tregon arsyen: më e larta kudo është 0.23%. Rezultati vjen kryesisht nga kandidatët e vlerësuar që dhurojnë shkallaret e tyre në një front të përbashkët, jo nga lëvizjet e pranuara.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Kundërshtimi i dukshëm ndaj një studimi me një buxhet është se kërkimit i duhet thjesht më shumë kohë. Dhjetëfishi i buxhetit i jep Hill Climbing 33,043 HV, rreth një herë e gjysmë sa rimostrimi i vetë kontrollit, ndërsa ndërtimi prin me 270 deri në 390 mijë në çdo buxhet. Vija e ndërtimit lëviz sepse çdo buxhet merr një mostër tjetër ndërtimesh; një lexim i mëhershëm i këtyre numrave e ngatërroi këtë lëvizje me kërkimin që mbyll hendekun, dhe e kam tërhequr. Edhe një mënyrë për ta parë: vetëm min-degree, tetë ndërtime në më pak se një minutë, do të zinte vendin e shtatë deri të nëntë në të tri tabelat e 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60 sekonda. Tri kërkesa, pastaj fjalia përmbyllëse. Fjalinë e fundit thuaje pa mëdyshje; ajo është teza.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Lëre këtë slajd gjatë diskutimit; gjashtë shifrat janë ato që ka më shumë gjasa të kundërshtohen. Pas tij vijnë slajdet e shtojcës: gabimet që kapa, protokolli, çdo seed, pse familja e rrallë është njëpërmasore, gjetjet për operatorët dhe krahasimi i plotë i buxheteve.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Të katër gabimet ishin të miat ose në kod që e përfshiva unë, dhe asnjë nuk u kap nga një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për pyetje rreth drejtësisë së krahasimit.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Çdo numër në slajdin e vendimeve mund të lexohet nga kjo tabelë.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Dy paragrafët e parë janë derivim, jo matje.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për pyetje rreth operatorëve të kërkimit.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Epërsia matet kundër mesatares së ndërtimit mbi tre buxhetet.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OSING-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0F17"/>
        </a:solidFill>
      </p:bgPr>
    </p:bg>
    <p:spTree>
      <p:nvGrpSpPr>
        <p:cNvPr id="1" name=""/>
        <p:cNvGrpSpPr/>
        <p:nvPr/>
      </p:nvGrpSpPr>
      <p:grpSpPr>
        <a:xfrm>
          <a:off x="0" y="0"/>
          <a:ext cx="0" cy="0"/>
          <a:chOff x="0" y="0"/>
          <a:chExt cx="0" cy="0"/>
        </a:xfrm>
      </p:grpSpPr>
      <p:sp>
        <p:nvSpPr>
          <p:cNvPr id="2" name="Text 0"/>
          <p:cNvSpPr/>
          <p:nvPr/>
        </p:nvSpPr>
        <p:spPr>
          <a:xfrm>
            <a:off x="640080" y="6446520"/>
            <a:ext cx="6400800" cy="219456"/>
          </a:xfrm>
          <a:prstGeom prst="rect">
            <a:avLst/>
          </a:prstGeom>
          <a:noFill/>
          <a:ln/>
        </p:spPr>
        <p:txBody>
          <a:bodyPr wrap="square" lIns="0" tIns="0" rIns="0" bIns="0" rtlCol="0" anchor="ctr"/>
          <a:lstStyle/>
          <a:p>
            <a:pPr indent="0" marL="0">
              <a:buNone/>
            </a:pPr>
            <a:r>
              <a:rPr lang="en-US" sz="900" dirty="0">
                <a:solidFill>
                  <a:srgbClr val="647187"/>
                </a:solidFill>
                <a:latin typeface="Calibri" pitchFamily="34" charset="0"/>
                <a:ea typeface="Calibri" pitchFamily="34" charset="-122"/>
                <a:cs typeface="Calibri" pitchFamily="34" charset="-120"/>
              </a:rPr>
              <a:t>Dekompozime torso · AlbShkenca 2026</a:t>
            </a:r>
            <a:endParaRPr lang="en-US" sz="900" dirty="0"/>
          </a:p>
        </p:txBody>
      </p:sp>
      <p:sp>
        <p:nvSpPr>
          <p:cNvPr id="3" name="Text 1"/>
          <p:cNvSpPr/>
          <p:nvPr>
            <p:ph idx="101" type="body" hasCustomPrompt="1"/>
          </p:nvPr>
        </p:nvSpPr>
        <p:spPr>
          <a:xfrm>
            <a:off x="640080" y="402336"/>
            <a:ext cx="10911535" cy="256032"/>
          </a:xfrm>
          <a:prstGeom prst="rect">
            <a:avLst/>
          </a:prstGeom>
          <a:noFill/>
          <a:ln/>
        </p:spPr>
        <p:txBody>
          <a:bodyPr wrap="square" rtlCol="0"/>
          <a:lstStyle>
            <a:lvl1pPr algn="l" indent="0" marL="0">
              <a:buNone/>
              <a:defRPr lang="en-US" sz="1050" b="1" spc="180" kern="0" dirty="0">
                <a:solidFill>
                  <a:srgbClr val="9AA6B6"/>
                </a:solidFill>
                <a:latin typeface="Calibri" pitchFamily="34" charset="0"/>
                <a:ea typeface="Calibri" pitchFamily="34" charset="-122"/>
                <a:cs typeface="Calibri" pitchFamily="34" charset="-120"/>
              </a:defRPr>
            </a:lvl1pPr>
          </a:lstStyle>
          <a:p>
            <a:pPr algn="l" indent="0" marL="0">
              <a:buNone/>
            </a:pPr>
            <a:endParaRPr lang="en-US" sz="1050" dirty="0"/>
          </a:p>
        </p:txBody>
      </p:sp>
      <p:sp>
        <p:nvSpPr>
          <p:cNvPr id="4" name="Text 1"/>
          <p:cNvSpPr/>
          <p:nvPr>
            <p:ph idx="102" type="title" hasCustomPrompt="1"/>
          </p:nvPr>
        </p:nvSpPr>
        <p:spPr>
          <a:xfrm>
            <a:off x="640080" y="676656"/>
            <a:ext cx="10911535" cy="868680"/>
          </a:xfrm>
          <a:prstGeom prst="rect">
            <a:avLst/>
          </a:prstGeom>
          <a:noFill/>
          <a:ln/>
        </p:spPr>
        <p:txBody>
          <a:bodyPr wrap="square" rtlCol="0"/>
          <a:lstStyle>
            <a:lvl1pPr algn="l" indent="0" marL="0">
              <a:buNone/>
              <a:defRPr lang="en-US" sz="2700" dirty="0">
                <a:solidFill>
                  <a:srgbClr val="E8ECF2"/>
                </a:solidFill>
                <a:latin typeface="Century Schoolbook" pitchFamily="34" charset="0"/>
                <a:ea typeface="Century Schoolbook" pitchFamily="34" charset="-122"/>
                <a:cs typeface="Century Schoolbook"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828800"/>
            <a:ext cx="6400800" cy="237744"/>
          </a:xfrm>
          <a:prstGeom prst="rect">
            <a:avLst/>
          </a:prstGeom>
          <a:noFill/>
          <a:ln/>
        </p:spPr>
        <p:txBody>
          <a:bodyPr wrap="square" lIns="0" tIns="0" rIns="0" bIns="0" rtlCol="0" anchor="t"/>
          <a:lstStyle/>
          <a:p>
            <a:pPr indent="0" marL="0">
              <a:buNone/>
            </a:pPr>
            <a:r>
              <a:rPr lang="en-US" sz="1200" b="1" spc="300" kern="0" dirty="0">
                <a:solidFill>
                  <a:srgbClr val="3DDC97"/>
                </a:solidFill>
                <a:latin typeface="Calibri" pitchFamily="34" charset="0"/>
                <a:ea typeface="Calibri" pitchFamily="34" charset="-122"/>
                <a:cs typeface="Calibri" pitchFamily="34" charset="-120"/>
              </a:rPr>
              <a:t>ALBSHKENCA 2026 · SHKENCA KOMPJUTERIKE</a:t>
            </a:r>
            <a:endParaRPr lang="en-US" sz="1200" dirty="0"/>
          </a:p>
        </p:txBody>
      </p:sp>
      <p:sp>
        <p:nvSpPr>
          <p:cNvPr id="3" name="Text 1"/>
          <p:cNvSpPr txBox="1"/>
          <p:nvPr/>
        </p:nvSpPr>
        <p:spPr>
          <a:xfrm>
            <a:off x="640080" y="2194560"/>
            <a:ext cx="6766560" cy="2011680"/>
          </a:xfrm>
          <a:prstGeom prst="rect">
            <a:avLst/>
          </a:prstGeom>
          <a:noFill/>
          <a:ln/>
        </p:spPr>
        <p:txBody>
          <a:bodyPr wrap="square" lIns="0" tIns="0" rIns="0" bIns="0" rtlCol="0" anchor="t"/>
          <a:lstStyle/>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Çfarë vërteton dhe çfarë</a:t>
            </a:r>
            <a:endParaRPr lang="en-US" sz="3800" dirty="0"/>
          </a:p>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nuk vërteton një tabelë</a:t>
            </a:r>
            <a:endParaRPr lang="en-US" sz="3800" dirty="0"/>
          </a:p>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krahasuese</a:t>
            </a:r>
            <a:endParaRPr lang="en-US" sz="3800" dirty="0"/>
          </a:p>
        </p:txBody>
      </p:sp>
      <p:sp>
        <p:nvSpPr>
          <p:cNvPr id="4" name="Text 2"/>
          <p:cNvSpPr txBox="1"/>
          <p:nvPr/>
        </p:nvSpPr>
        <p:spPr>
          <a:xfrm>
            <a:off x="640080" y="4270248"/>
            <a:ext cx="6309360" cy="411480"/>
          </a:xfrm>
          <a:prstGeom prst="rect">
            <a:avLst/>
          </a:prstGeom>
          <a:noFill/>
          <a:ln/>
        </p:spPr>
        <p:txBody>
          <a:bodyPr wrap="square" lIns="0" tIns="0" rIns="0" bIns="0" rtlCol="0" anchor="t"/>
          <a:lstStyle/>
          <a:p>
            <a:pPr indent="0" marL="0">
              <a:buNone/>
            </a:pPr>
            <a:r>
              <a:rPr lang="en-US" sz="1800" dirty="0">
                <a:solidFill>
                  <a:srgbClr val="9AA6B6"/>
                </a:solidFill>
                <a:latin typeface="Calibri" pitchFamily="34" charset="0"/>
                <a:ea typeface="Calibri" pitchFamily="34" charset="-122"/>
                <a:cs typeface="Calibri" pitchFamily="34" charset="-120"/>
              </a:rPr>
              <a:t>Një studim i kontrolluar mbi SpOC-3 Torso Decompositions të ESA-s</a:t>
            </a:r>
            <a:endParaRPr lang="en-US" sz="1800" dirty="0"/>
          </a:p>
        </p:txBody>
      </p:sp>
      <p:sp>
        <p:nvSpPr>
          <p:cNvPr id="5" name="Text 3"/>
          <p:cNvSpPr txBox="1"/>
          <p:nvPr/>
        </p:nvSpPr>
        <p:spPr>
          <a:xfrm>
            <a:off x="640080" y="5120640"/>
            <a:ext cx="5486400" cy="347472"/>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Adrian Ymeri</a:t>
            </a:r>
            <a:endParaRPr lang="en-US" sz="1800" dirty="0"/>
          </a:p>
        </p:txBody>
      </p:sp>
      <p:sp>
        <p:nvSpPr>
          <p:cNvPr id="6" name="Text 4"/>
          <p:cNvSpPr txBox="1"/>
          <p:nvPr/>
        </p:nvSpPr>
        <p:spPr>
          <a:xfrm>
            <a:off x="640080" y="5477256"/>
            <a:ext cx="5486400" cy="310896"/>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Universiteti i Prishtinës</a:t>
            </a:r>
            <a:endParaRPr lang="en-US" sz="1400" dirty="0"/>
          </a:p>
        </p:txBody>
      </p:sp>
      <p:sp>
        <p:nvSpPr>
          <p:cNvPr id="7" name="Text 5"/>
          <p:cNvSpPr txBox="1"/>
          <p:nvPr/>
        </p:nvSpPr>
        <p:spPr>
          <a:xfrm>
            <a:off x="640080" y="6217920"/>
            <a:ext cx="8229600" cy="256032"/>
          </a:xfrm>
          <a:prstGeom prst="rect">
            <a:avLst/>
          </a:prstGeom>
          <a:noFill/>
          <a:ln/>
        </p:spPr>
        <p:txBody>
          <a:bodyPr wrap="square" lIns="0" tIns="0" rIns="0" bIns="0" rtlCol="0" anchor="t"/>
          <a:lstStyle/>
          <a:p>
            <a:pPr indent="0" marL="0">
              <a:buNone/>
            </a:pPr>
            <a:r>
              <a:rPr lang="en-US" sz="1100" dirty="0">
                <a:solidFill>
                  <a:srgbClr val="647187"/>
                </a:solidFill>
                <a:latin typeface="Calibri" pitchFamily="34" charset="0"/>
                <a:ea typeface="Calibri" pitchFamily="34" charset="-122"/>
                <a:cs typeface="Calibri" pitchFamily="34" charset="-120"/>
              </a:rPr>
              <a:t>10 instanca · 3 hyrje nga tabela e ESA-s, të riekzekutuara · 17 operatorë lëvizjeje · 3 buxhete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OBJEKTI</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Plani i një megastrukture, i shtruar si problem grafesh</a:t>
            </a:r>
            <a:endParaRPr lang="en-US" sz="2700" dirty="0"/>
          </a:p>
        </p:txBody>
      </p:sp>
      <p:sp>
        <p:nvSpPr>
          <p:cNvPr id="4" name="Text 2"/>
          <p:cNvSpPr txBox="1"/>
          <p:nvPr/>
        </p:nvSpPr>
        <p:spPr>
          <a:xfrm>
            <a:off x="640080" y="1783080"/>
            <a:ext cx="4480560" cy="1188720"/>
          </a:xfrm>
          <a:prstGeom prst="rect">
            <a:avLst/>
          </a:prstGeom>
          <a:noFill/>
          <a:ln/>
        </p:spPr>
        <p:txBody>
          <a:bodyPr wrap="square" lIns="0" tIns="0" rIns="0" bIns="0" rtlCol="0" anchor="t"/>
          <a:lstStyle/>
          <a:p>
            <a:pPr indent="0" marL="0">
              <a:lnSpc>
                <a:spcPct val="105000"/>
              </a:lnSpc>
              <a:buNone/>
            </a:pPr>
            <a:r>
              <a:rPr lang="en-US" sz="1600" dirty="0">
                <a:solidFill>
                  <a:srgbClr val="E8ECF2"/>
                </a:solidFill>
                <a:latin typeface="Calibri" pitchFamily="34" charset="0"/>
                <a:ea typeface="Calibri" pitchFamily="34" charset="-122"/>
                <a:cs typeface="Calibri" pitchFamily="34" charset="-120"/>
              </a:rPr>
              <a:t>Kulmet janë blloqe ndërtimi, brinjët janë ndërveprime çift-çift. Gjej një renditje që tregon çfarë mund të montohet njëkohësisht, dhe që kodon një plan rekursiv për pjesën tjetër.</a:t>
            </a:r>
            <a:endParaRPr lang="en-US" sz="1600" dirty="0"/>
          </a:p>
        </p:txBody>
      </p:sp>
      <p:sp>
        <p:nvSpPr>
          <p:cNvPr id="5" name="Shape 3"/>
          <p:cNvSpPr/>
          <p:nvPr/>
        </p:nvSpPr>
        <p:spPr>
          <a:xfrm>
            <a:off x="640080" y="3035808"/>
            <a:ext cx="4480560" cy="2395728"/>
          </a:xfrm>
          <a:prstGeom prst="rect">
            <a:avLst/>
          </a:prstGeom>
          <a:solidFill>
            <a:srgbClr val="131B28"/>
          </a:solidFill>
          <a:ln/>
        </p:spPr>
      </p:sp>
      <p:sp>
        <p:nvSpPr>
          <p:cNvPr id="6" name="Text 4"/>
          <p:cNvSpPr txBox="1"/>
          <p:nvPr/>
        </p:nvSpPr>
        <p:spPr>
          <a:xfrm>
            <a:off x="868680" y="3182112"/>
            <a:ext cx="402336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SI E VLERËSON ESA</a:t>
            </a:r>
            <a:endParaRPr lang="en-US" sz="1050" dirty="0"/>
          </a:p>
        </p:txBody>
      </p:sp>
      <p:sp>
        <p:nvSpPr>
          <p:cNvPr id="7" name="Text 5"/>
          <p:cNvSpPr txBox="1"/>
          <p:nvPr/>
        </p:nvSpPr>
        <p:spPr>
          <a:xfrm>
            <a:off x="868680" y="35295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Hyrja</a:t>
            </a:r>
            <a:endParaRPr lang="en-US" sz="1300" dirty="0"/>
          </a:p>
        </p:txBody>
      </p:sp>
      <p:sp>
        <p:nvSpPr>
          <p:cNvPr id="8" name="Text 6"/>
          <p:cNvSpPr txBox="1"/>
          <p:nvPr/>
        </p:nvSpPr>
        <p:spPr>
          <a:xfrm>
            <a:off x="1847088" y="35295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një graf i lidhur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G</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V</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E</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me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kulme</a:t>
            </a:r>
            <a:endParaRPr lang="en-US" sz="1300" dirty="0"/>
          </a:p>
        </p:txBody>
      </p:sp>
      <p:sp>
        <p:nvSpPr>
          <p:cNvPr id="9" name="Text 7"/>
          <p:cNvSpPr txBox="1"/>
          <p:nvPr/>
        </p:nvSpPr>
        <p:spPr>
          <a:xfrm>
            <a:off x="868680" y="39867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Dorëzohen</a:t>
            </a:r>
            <a:endParaRPr lang="en-US" sz="1300" dirty="0"/>
          </a:p>
        </p:txBody>
      </p:sp>
      <p:sp>
        <p:nvSpPr>
          <p:cNvPr id="10" name="Text 8"/>
          <p:cNvSpPr txBox="1"/>
          <p:nvPr/>
        </p:nvSpPr>
        <p:spPr>
          <a:xfrm>
            <a:off x="1847088" y="39867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deri në 20 vektorë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x</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₁,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pₙ</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a:t>
            </a:r>
            <a:endParaRPr lang="en-US" sz="1300" dirty="0"/>
          </a:p>
        </p:txBody>
      </p:sp>
      <p:sp>
        <p:nvSpPr>
          <p:cNvPr id="11" name="Text 9"/>
          <p:cNvSpPr txBox="1"/>
          <p:nvPr/>
        </p:nvSpPr>
        <p:spPr>
          <a:xfrm>
            <a:off x="868680" y="44439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Eliminimi</a:t>
            </a:r>
            <a:endParaRPr lang="en-US" sz="1300" dirty="0"/>
          </a:p>
        </p:txBody>
      </p:sp>
      <p:sp>
        <p:nvSpPr>
          <p:cNvPr id="12" name="Text 10"/>
          <p:cNvSpPr txBox="1"/>
          <p:nvPr/>
        </p:nvSpPr>
        <p:spPr>
          <a:xfrm>
            <a:off x="1847088" y="44439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₁,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₂, … me radhë: çdo kulm i bashkon fqinjët e tij të mëvonshëm në një klikë</a:t>
            </a:r>
            <a:endParaRPr lang="en-US" sz="1300" dirty="0"/>
          </a:p>
        </p:txBody>
      </p:sp>
      <p:sp>
        <p:nvSpPr>
          <p:cNvPr id="13" name="Text 11"/>
          <p:cNvSpPr txBox="1"/>
          <p:nvPr/>
        </p:nvSpPr>
        <p:spPr>
          <a:xfrm>
            <a:off x="868680" y="49011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Torsoja</a:t>
            </a:r>
            <a:endParaRPr lang="en-US" sz="1300" dirty="0"/>
          </a:p>
        </p:txBody>
      </p:sp>
      <p:sp>
        <p:nvSpPr>
          <p:cNvPr id="14" name="Text 12"/>
          <p:cNvSpPr txBox="1"/>
          <p:nvPr/>
        </p:nvSpPr>
        <p:spPr>
          <a:xfrm>
            <a:off x="1847088" y="49011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kulmet e fundit; gjerësia e saj është shkalla dalëse më e madhe brenda saj</a:t>
            </a:r>
            <a:endParaRPr lang="en-US" sz="1300" dirty="0"/>
          </a:p>
        </p:txBody>
      </p:sp>
      <p:sp>
        <p:nvSpPr>
          <p:cNvPr id="15" name="Text 13"/>
          <p:cNvSpPr txBox="1"/>
          <p:nvPr/>
        </p:nvSpPr>
        <p:spPr>
          <a:xfrm>
            <a:off x="640080" y="5596128"/>
            <a:ext cx="4480560" cy="640080"/>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Nën të: renditjet e eliminimit, objekti që qëndron nën gjerësinë e pemës, faktorizimin e rrallë Cholesky dhe eliminimin e variablave.</a:t>
            </a:r>
            <a:endParaRPr lang="en-US" sz="1250" dirty="0"/>
          </a:p>
        </p:txBody>
      </p:sp>
      <p:sp>
        <p:nvSpPr>
          <p:cNvPr id="16" name="Shape 14"/>
          <p:cNvSpPr/>
          <p:nvPr/>
        </p:nvSpPr>
        <p:spPr>
          <a:xfrm>
            <a:off x="9178290" y="1874520"/>
            <a:ext cx="2419045" cy="3611880"/>
          </a:xfrm>
          <a:prstGeom prst="rect">
            <a:avLst/>
          </a:prstGeom>
          <a:solidFill>
            <a:srgbClr val="3DDC97">
              <a:alpha val="8000"/>
            </a:srgbClr>
          </a:solidFill>
          <a:ln/>
        </p:spPr>
      </p:sp>
      <p:sp>
        <p:nvSpPr>
          <p:cNvPr id="17" name="Shape 15"/>
          <p:cNvSpPr/>
          <p:nvPr/>
        </p:nvSpPr>
        <p:spPr>
          <a:xfrm>
            <a:off x="9178290" y="1874520"/>
            <a:ext cx="0" cy="3611880"/>
          </a:xfrm>
          <a:prstGeom prst="line">
            <a:avLst/>
          </a:prstGeom>
          <a:noFill/>
          <a:ln w="12700">
            <a:solidFill>
              <a:srgbClr val="647187"/>
            </a:solidFill>
            <a:prstDash val="dash"/>
          </a:ln>
        </p:spPr>
      </p:sp>
      <p:sp>
        <p:nvSpPr>
          <p:cNvPr id="18" name="Text 16"/>
          <p:cNvSpPr txBox="1"/>
          <p:nvPr/>
        </p:nvSpPr>
        <p:spPr>
          <a:xfrm>
            <a:off x="5605272" y="1920240"/>
            <a:ext cx="3344418" cy="256032"/>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koka e eliminuar: t = 6</a:t>
            </a:r>
            <a:endParaRPr lang="en-US" sz="1150" dirty="0"/>
          </a:p>
        </p:txBody>
      </p:sp>
      <p:sp>
        <p:nvSpPr>
          <p:cNvPr id="19" name="Text 17"/>
          <p:cNvSpPr txBox="1"/>
          <p:nvPr/>
        </p:nvSpPr>
        <p:spPr>
          <a:xfrm>
            <a:off x="9288018" y="1920240"/>
            <a:ext cx="2286000" cy="256032"/>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torsoja: n − t = 4</a:t>
            </a:r>
            <a:endParaRPr lang="en-US" sz="1150" dirty="0"/>
          </a:p>
        </p:txBody>
      </p:sp>
      <p:sp>
        <p:nvSpPr>
          <p:cNvPr id="20" name="Text 18"/>
          <p:cNvSpPr txBox="1"/>
          <p:nvPr/>
        </p:nvSpPr>
        <p:spPr>
          <a:xfrm>
            <a:off x="5605272" y="2212848"/>
            <a:ext cx="2743200" cy="237744"/>
          </a:xfrm>
          <a:prstGeom prst="rect">
            <a:avLst/>
          </a:prstGeom>
          <a:noFill/>
          <a:ln/>
        </p:spPr>
        <p:txBody>
          <a:bodyPr wrap="square" lIns="0" tIns="0" rIns="0" bIns="0" rtlCol="0" anchor="t"/>
          <a:lstStyle/>
          <a:p>
            <a:pPr indent="0" marL="0">
              <a:buNone/>
            </a:pPr>
            <a:r>
              <a:rPr lang="en-US" sz="1050" dirty="0">
                <a:solidFill>
                  <a:srgbClr val="647187"/>
                </a:solidFill>
                <a:latin typeface="Calibri" pitchFamily="34" charset="0"/>
                <a:ea typeface="Calibri" pitchFamily="34" charset="-122"/>
                <a:cs typeface="Calibri" pitchFamily="34" charset="-120"/>
              </a:rPr>
              <a:t>renditja e eliminimit →</a:t>
            </a:r>
            <a:endParaRPr lang="en-US" sz="1050" dirty="0"/>
          </a:p>
        </p:txBody>
      </p:sp>
      <p:sp>
        <p:nvSpPr>
          <p:cNvPr id="21" name="Shape 19"/>
          <p:cNvSpPr/>
          <p:nvPr/>
        </p:nvSpPr>
        <p:spPr>
          <a:xfrm>
            <a:off x="5833872"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2" name="Shape 20"/>
          <p:cNvSpPr/>
          <p:nvPr/>
        </p:nvSpPr>
        <p:spPr>
          <a:xfrm>
            <a:off x="583387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3" name="Shape 21"/>
          <p:cNvSpPr/>
          <p:nvPr/>
        </p:nvSpPr>
        <p:spPr>
          <a:xfrm>
            <a:off x="6441948"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4" name="Shape 22"/>
          <p:cNvSpPr/>
          <p:nvPr/>
        </p:nvSpPr>
        <p:spPr>
          <a:xfrm>
            <a:off x="7050024"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5" name="Shape 23"/>
          <p:cNvSpPr/>
          <p:nvPr/>
        </p:nvSpPr>
        <p:spPr>
          <a:xfrm>
            <a:off x="887425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6" name="Shape 24"/>
          <p:cNvSpPr/>
          <p:nvPr/>
        </p:nvSpPr>
        <p:spPr>
          <a:xfrm>
            <a:off x="8874252"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7" name="Shape 25"/>
          <p:cNvSpPr/>
          <p:nvPr/>
        </p:nvSpPr>
        <p:spPr>
          <a:xfrm>
            <a:off x="7658100"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8" name="Shape 26"/>
          <p:cNvSpPr/>
          <p:nvPr/>
        </p:nvSpPr>
        <p:spPr>
          <a:xfrm>
            <a:off x="7658100"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9" name="Shape 27"/>
          <p:cNvSpPr/>
          <p:nvPr/>
        </p:nvSpPr>
        <p:spPr>
          <a:xfrm>
            <a:off x="7658100" y="2298192"/>
            <a:ext cx="3648456" cy="1633728"/>
          </a:xfrm>
          <a:custGeom>
            <a:avLst/>
            <a:gdLst/>
            <a:ahLst/>
            <a:cxnLst/>
            <a:rect l="l" t="t" r="r" b="b"/>
            <a:pathLst>
              <a:path w="3648456" h="1633728">
                <a:moveTo>
                  <a:pt x="0" y="1633728"/>
                </a:moveTo>
                <a:cubicBezTo>
                  <a:pt x="72969" y="0"/>
                  <a:pt x="3575487" y="0"/>
                  <a:pt x="3648456" y="1633728"/>
                </a:cubicBezTo>
              </a:path>
            </a:pathLst>
          </a:custGeom>
          <a:ln w="15875">
            <a:solidFill>
              <a:srgbClr val="9AA6B6"/>
            </a:solidFill>
            <a:prstDash val="solid"/>
          </a:ln>
        </p:spPr>
      </p:sp>
      <p:sp>
        <p:nvSpPr>
          <p:cNvPr id="30" name="Shape 28"/>
          <p:cNvSpPr/>
          <p:nvPr/>
        </p:nvSpPr>
        <p:spPr>
          <a:xfrm>
            <a:off x="644194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1" name="Shape 29"/>
          <p:cNvSpPr/>
          <p:nvPr/>
        </p:nvSpPr>
        <p:spPr>
          <a:xfrm>
            <a:off x="7050024" y="3931920"/>
            <a:ext cx="2432304" cy="926592"/>
          </a:xfrm>
          <a:custGeom>
            <a:avLst/>
            <a:gdLst/>
            <a:ahLst/>
            <a:cxnLst/>
            <a:rect l="l" t="t" r="r" b="b"/>
            <a:pathLst>
              <a:path w="2432304" h="926592">
                <a:moveTo>
                  <a:pt x="0" y="0"/>
                </a:moveTo>
                <a:cubicBezTo>
                  <a:pt x="48646" y="926592"/>
                  <a:pt x="2383658" y="926592"/>
                  <a:pt x="2432304" y="0"/>
                </a:cubicBezTo>
              </a:path>
            </a:pathLst>
          </a:custGeom>
          <a:ln w="19050">
            <a:solidFill>
              <a:srgbClr val="FF5A60"/>
            </a:solidFill>
            <a:prstDash val="dash"/>
          </a:ln>
        </p:spPr>
      </p:sp>
      <p:sp>
        <p:nvSpPr>
          <p:cNvPr id="32" name="Shape 30"/>
          <p:cNvSpPr/>
          <p:nvPr/>
        </p:nvSpPr>
        <p:spPr>
          <a:xfrm>
            <a:off x="948232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3" name="Shape 31"/>
          <p:cNvSpPr/>
          <p:nvPr/>
        </p:nvSpPr>
        <p:spPr>
          <a:xfrm>
            <a:off x="8266176"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4" name="Shape 32"/>
          <p:cNvSpPr/>
          <p:nvPr/>
        </p:nvSpPr>
        <p:spPr>
          <a:xfrm>
            <a:off x="8266176" y="3931920"/>
            <a:ext cx="3040380" cy="1109472"/>
          </a:xfrm>
          <a:custGeom>
            <a:avLst/>
            <a:gdLst/>
            <a:ahLst/>
            <a:cxnLst/>
            <a:rect l="l" t="t" r="r" b="b"/>
            <a:pathLst>
              <a:path w="3040380" h="1109472">
                <a:moveTo>
                  <a:pt x="0" y="0"/>
                </a:moveTo>
                <a:cubicBezTo>
                  <a:pt x="60808" y="1109472"/>
                  <a:pt x="2979572" y="1109472"/>
                  <a:pt x="3040380" y="0"/>
                </a:cubicBezTo>
              </a:path>
            </a:pathLst>
          </a:custGeom>
          <a:ln w="19050">
            <a:solidFill>
              <a:srgbClr val="FF5A60"/>
            </a:solidFill>
            <a:prstDash val="dash"/>
          </a:ln>
        </p:spPr>
      </p:sp>
      <p:sp>
        <p:nvSpPr>
          <p:cNvPr id="35" name="Shape 33"/>
          <p:cNvSpPr/>
          <p:nvPr/>
        </p:nvSpPr>
        <p:spPr>
          <a:xfrm>
            <a:off x="9482328" y="3931920"/>
            <a:ext cx="1824228" cy="743712"/>
          </a:xfrm>
          <a:custGeom>
            <a:avLst/>
            <a:gdLst/>
            <a:ahLst/>
            <a:cxnLst/>
            <a:rect l="l" t="t" r="r" b="b"/>
            <a:pathLst>
              <a:path w="1824228" h="743712">
                <a:moveTo>
                  <a:pt x="0" y="0"/>
                </a:moveTo>
                <a:cubicBezTo>
                  <a:pt x="36485" y="743712"/>
                  <a:pt x="1787743" y="743712"/>
                  <a:pt x="1824228" y="0"/>
                </a:cubicBezTo>
              </a:path>
            </a:pathLst>
          </a:custGeom>
          <a:ln w="19050">
            <a:solidFill>
              <a:srgbClr val="FF5A60"/>
            </a:solidFill>
            <a:prstDash val="dash"/>
          </a:ln>
        </p:spPr>
      </p:sp>
      <p:sp>
        <p:nvSpPr>
          <p:cNvPr id="36" name="Shape 34"/>
          <p:cNvSpPr/>
          <p:nvPr/>
        </p:nvSpPr>
        <p:spPr>
          <a:xfrm>
            <a:off x="10090404"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7" name="Shape 35"/>
          <p:cNvSpPr/>
          <p:nvPr/>
        </p:nvSpPr>
        <p:spPr>
          <a:xfrm>
            <a:off x="10090404"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8" name="Shape 36"/>
          <p:cNvSpPr/>
          <p:nvPr/>
        </p:nvSpPr>
        <p:spPr>
          <a:xfrm>
            <a:off x="10698480"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9" name="Shape 37"/>
          <p:cNvSpPr/>
          <p:nvPr/>
        </p:nvSpPr>
        <p:spPr>
          <a:xfrm>
            <a:off x="5650992" y="3749040"/>
            <a:ext cx="365760" cy="365760"/>
          </a:xfrm>
          <a:prstGeom prst="ellipse">
            <a:avLst/>
          </a:prstGeom>
          <a:solidFill>
            <a:srgbClr val="0B0F17"/>
          </a:solidFill>
          <a:ln w="15875">
            <a:solidFill>
              <a:srgbClr val="9AA6B6"/>
            </a:solidFill>
            <a:prstDash val="solid"/>
          </a:ln>
        </p:spPr>
      </p:sp>
      <p:sp>
        <p:nvSpPr>
          <p:cNvPr id="40" name="Text 38"/>
          <p:cNvSpPr txBox="1"/>
          <p:nvPr/>
        </p:nvSpPr>
        <p:spPr>
          <a:xfrm>
            <a:off x="565099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0</a:t>
            </a:r>
            <a:endParaRPr lang="en-US" sz="1200" dirty="0"/>
          </a:p>
        </p:txBody>
      </p:sp>
      <p:sp>
        <p:nvSpPr>
          <p:cNvPr id="41" name="Text 39"/>
          <p:cNvSpPr txBox="1"/>
          <p:nvPr/>
        </p:nvSpPr>
        <p:spPr>
          <a:xfrm>
            <a:off x="5650992"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2</a:t>
            </a:r>
            <a:endParaRPr lang="en-US" sz="1200" dirty="0"/>
          </a:p>
        </p:txBody>
      </p:sp>
      <p:sp>
        <p:nvSpPr>
          <p:cNvPr id="42" name="Shape 40"/>
          <p:cNvSpPr/>
          <p:nvPr/>
        </p:nvSpPr>
        <p:spPr>
          <a:xfrm>
            <a:off x="6259068" y="3749040"/>
            <a:ext cx="365760" cy="365760"/>
          </a:xfrm>
          <a:prstGeom prst="ellipse">
            <a:avLst/>
          </a:prstGeom>
          <a:solidFill>
            <a:srgbClr val="0B0F17"/>
          </a:solidFill>
          <a:ln w="15875">
            <a:solidFill>
              <a:srgbClr val="9AA6B6"/>
            </a:solidFill>
            <a:prstDash val="solid"/>
          </a:ln>
        </p:spPr>
      </p:sp>
      <p:sp>
        <p:nvSpPr>
          <p:cNvPr id="43" name="Text 41"/>
          <p:cNvSpPr txBox="1"/>
          <p:nvPr/>
        </p:nvSpPr>
        <p:spPr>
          <a:xfrm>
            <a:off x="6259068"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1</a:t>
            </a:r>
            <a:endParaRPr lang="en-US" sz="1200" dirty="0"/>
          </a:p>
        </p:txBody>
      </p:sp>
      <p:sp>
        <p:nvSpPr>
          <p:cNvPr id="44" name="Text 42"/>
          <p:cNvSpPr txBox="1"/>
          <p:nvPr/>
        </p:nvSpPr>
        <p:spPr>
          <a:xfrm>
            <a:off x="6259068"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2</a:t>
            </a:r>
            <a:endParaRPr lang="en-US" sz="1200" dirty="0"/>
          </a:p>
        </p:txBody>
      </p:sp>
      <p:sp>
        <p:nvSpPr>
          <p:cNvPr id="45" name="Shape 43"/>
          <p:cNvSpPr/>
          <p:nvPr/>
        </p:nvSpPr>
        <p:spPr>
          <a:xfrm>
            <a:off x="6867144" y="3749040"/>
            <a:ext cx="365760" cy="365760"/>
          </a:xfrm>
          <a:prstGeom prst="ellipse">
            <a:avLst/>
          </a:prstGeom>
          <a:solidFill>
            <a:srgbClr val="0B0F17"/>
          </a:solidFill>
          <a:ln w="15875">
            <a:solidFill>
              <a:srgbClr val="9AA6B6"/>
            </a:solidFill>
            <a:prstDash val="solid"/>
          </a:ln>
        </p:spPr>
      </p:sp>
      <p:sp>
        <p:nvSpPr>
          <p:cNvPr id="46" name="Text 44"/>
          <p:cNvSpPr txBox="1"/>
          <p:nvPr/>
        </p:nvSpPr>
        <p:spPr>
          <a:xfrm>
            <a:off x="6867144"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2</a:t>
            </a:r>
            <a:endParaRPr lang="en-US" sz="1200" dirty="0"/>
          </a:p>
        </p:txBody>
      </p:sp>
      <p:sp>
        <p:nvSpPr>
          <p:cNvPr id="47" name="Text 45"/>
          <p:cNvSpPr txBox="1"/>
          <p:nvPr/>
        </p:nvSpPr>
        <p:spPr>
          <a:xfrm>
            <a:off x="6867144"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2</a:t>
            </a:r>
            <a:endParaRPr lang="en-US" sz="1200" dirty="0"/>
          </a:p>
        </p:txBody>
      </p:sp>
      <p:sp>
        <p:nvSpPr>
          <p:cNvPr id="48" name="Shape 46"/>
          <p:cNvSpPr/>
          <p:nvPr/>
        </p:nvSpPr>
        <p:spPr>
          <a:xfrm>
            <a:off x="7475220" y="3749040"/>
            <a:ext cx="365760" cy="365760"/>
          </a:xfrm>
          <a:prstGeom prst="ellipse">
            <a:avLst/>
          </a:prstGeom>
          <a:solidFill>
            <a:srgbClr val="0B0F17"/>
          </a:solidFill>
          <a:ln w="15875">
            <a:solidFill>
              <a:srgbClr val="9AA6B6"/>
            </a:solidFill>
            <a:prstDash val="solid"/>
          </a:ln>
        </p:spPr>
      </p:sp>
      <p:sp>
        <p:nvSpPr>
          <p:cNvPr id="49" name="Text 47"/>
          <p:cNvSpPr txBox="1"/>
          <p:nvPr/>
        </p:nvSpPr>
        <p:spPr>
          <a:xfrm>
            <a:off x="7475220"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4</a:t>
            </a:r>
            <a:endParaRPr lang="en-US" sz="1200" dirty="0"/>
          </a:p>
        </p:txBody>
      </p:sp>
      <p:sp>
        <p:nvSpPr>
          <p:cNvPr id="50" name="Text 48"/>
          <p:cNvSpPr txBox="1"/>
          <p:nvPr/>
        </p:nvSpPr>
        <p:spPr>
          <a:xfrm>
            <a:off x="7475220"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3</a:t>
            </a:r>
            <a:endParaRPr lang="en-US" sz="1200" dirty="0"/>
          </a:p>
        </p:txBody>
      </p:sp>
      <p:sp>
        <p:nvSpPr>
          <p:cNvPr id="51" name="Shape 49"/>
          <p:cNvSpPr/>
          <p:nvPr/>
        </p:nvSpPr>
        <p:spPr>
          <a:xfrm>
            <a:off x="8083296" y="3749040"/>
            <a:ext cx="365760" cy="365760"/>
          </a:xfrm>
          <a:prstGeom prst="ellipse">
            <a:avLst/>
          </a:prstGeom>
          <a:solidFill>
            <a:srgbClr val="0B0F17"/>
          </a:solidFill>
          <a:ln w="15875">
            <a:solidFill>
              <a:srgbClr val="9AA6B6"/>
            </a:solidFill>
            <a:prstDash val="solid"/>
          </a:ln>
        </p:spPr>
      </p:sp>
      <p:sp>
        <p:nvSpPr>
          <p:cNvPr id="52" name="Text 50"/>
          <p:cNvSpPr txBox="1"/>
          <p:nvPr/>
        </p:nvSpPr>
        <p:spPr>
          <a:xfrm>
            <a:off x="8083296"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5</a:t>
            </a:r>
            <a:endParaRPr lang="en-US" sz="1200" dirty="0"/>
          </a:p>
        </p:txBody>
      </p:sp>
      <p:sp>
        <p:nvSpPr>
          <p:cNvPr id="53" name="Text 51"/>
          <p:cNvSpPr txBox="1"/>
          <p:nvPr/>
        </p:nvSpPr>
        <p:spPr>
          <a:xfrm>
            <a:off x="8083296"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2</a:t>
            </a:r>
            <a:endParaRPr lang="en-US" sz="1200" dirty="0"/>
          </a:p>
        </p:txBody>
      </p:sp>
      <p:sp>
        <p:nvSpPr>
          <p:cNvPr id="54" name="Shape 52"/>
          <p:cNvSpPr/>
          <p:nvPr/>
        </p:nvSpPr>
        <p:spPr>
          <a:xfrm>
            <a:off x="8691372" y="3749040"/>
            <a:ext cx="365760" cy="365760"/>
          </a:xfrm>
          <a:prstGeom prst="ellipse">
            <a:avLst/>
          </a:prstGeom>
          <a:solidFill>
            <a:srgbClr val="0B0F17"/>
          </a:solidFill>
          <a:ln w="15875">
            <a:solidFill>
              <a:srgbClr val="9AA6B6"/>
            </a:solidFill>
            <a:prstDash val="solid"/>
          </a:ln>
        </p:spPr>
      </p:sp>
      <p:sp>
        <p:nvSpPr>
          <p:cNvPr id="55" name="Text 53"/>
          <p:cNvSpPr txBox="1"/>
          <p:nvPr/>
        </p:nvSpPr>
        <p:spPr>
          <a:xfrm>
            <a:off x="869137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3</a:t>
            </a:r>
            <a:endParaRPr lang="en-US" sz="1200" dirty="0"/>
          </a:p>
        </p:txBody>
      </p:sp>
      <p:sp>
        <p:nvSpPr>
          <p:cNvPr id="56" name="Text 54"/>
          <p:cNvSpPr txBox="1"/>
          <p:nvPr/>
        </p:nvSpPr>
        <p:spPr>
          <a:xfrm>
            <a:off x="8691372" y="4956048"/>
            <a:ext cx="365760" cy="237744"/>
          </a:xfrm>
          <a:prstGeom prst="rect">
            <a:avLst/>
          </a:prstGeom>
          <a:noFill/>
          <a:ln/>
        </p:spPr>
        <p:txBody>
          <a:bodyPr wrap="square" lIns="0" tIns="0" rIns="0" bIns="0" rtlCol="0" anchor="t"/>
          <a:lstStyle/>
          <a:p>
            <a:pPr algn="ctr" indent="0" marL="0">
              <a:buNone/>
            </a:pPr>
            <a:r>
              <a:rPr lang="en-US" sz="1200" dirty="0">
                <a:solidFill>
                  <a:srgbClr val="647187"/>
                </a:solidFill>
                <a:latin typeface="Calibri" pitchFamily="34" charset="0"/>
                <a:ea typeface="Calibri" pitchFamily="34" charset="-122"/>
                <a:cs typeface="Calibri" pitchFamily="34" charset="-120"/>
              </a:rPr>
              <a:t>2</a:t>
            </a:r>
            <a:endParaRPr lang="en-US" sz="1200" dirty="0"/>
          </a:p>
        </p:txBody>
      </p:sp>
      <p:sp>
        <p:nvSpPr>
          <p:cNvPr id="57" name="Shape 55"/>
          <p:cNvSpPr/>
          <p:nvPr/>
        </p:nvSpPr>
        <p:spPr>
          <a:xfrm>
            <a:off x="9299448" y="3749040"/>
            <a:ext cx="365760" cy="365760"/>
          </a:xfrm>
          <a:prstGeom prst="ellipse">
            <a:avLst/>
          </a:prstGeom>
          <a:solidFill>
            <a:srgbClr val="3DDC97"/>
          </a:solidFill>
          <a:ln w="15875">
            <a:solidFill>
              <a:srgbClr val="3DDC97"/>
            </a:solidFill>
            <a:prstDash val="solid"/>
          </a:ln>
        </p:spPr>
      </p:sp>
      <p:sp>
        <p:nvSpPr>
          <p:cNvPr id="58" name="Text 56"/>
          <p:cNvSpPr txBox="1"/>
          <p:nvPr/>
        </p:nvSpPr>
        <p:spPr>
          <a:xfrm>
            <a:off x="9299448"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6</a:t>
            </a:r>
            <a:endParaRPr lang="en-US" sz="1200" dirty="0"/>
          </a:p>
        </p:txBody>
      </p:sp>
      <p:sp>
        <p:nvSpPr>
          <p:cNvPr id="59" name="Text 57"/>
          <p:cNvSpPr txBox="1"/>
          <p:nvPr/>
        </p:nvSpPr>
        <p:spPr>
          <a:xfrm>
            <a:off x="9299448"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0" name="Shape 58"/>
          <p:cNvSpPr/>
          <p:nvPr/>
        </p:nvSpPr>
        <p:spPr>
          <a:xfrm>
            <a:off x="9907524" y="3749040"/>
            <a:ext cx="365760" cy="365760"/>
          </a:xfrm>
          <a:prstGeom prst="ellipse">
            <a:avLst/>
          </a:prstGeom>
          <a:solidFill>
            <a:srgbClr val="3DDC97"/>
          </a:solidFill>
          <a:ln w="15875">
            <a:solidFill>
              <a:srgbClr val="3DDC97"/>
            </a:solidFill>
            <a:prstDash val="solid"/>
          </a:ln>
        </p:spPr>
      </p:sp>
      <p:sp>
        <p:nvSpPr>
          <p:cNvPr id="61" name="Text 59"/>
          <p:cNvSpPr txBox="1"/>
          <p:nvPr/>
        </p:nvSpPr>
        <p:spPr>
          <a:xfrm>
            <a:off x="9907524"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8</a:t>
            </a:r>
            <a:endParaRPr lang="en-US" sz="1200" dirty="0"/>
          </a:p>
        </p:txBody>
      </p:sp>
      <p:sp>
        <p:nvSpPr>
          <p:cNvPr id="62" name="Text 60"/>
          <p:cNvSpPr txBox="1"/>
          <p:nvPr/>
        </p:nvSpPr>
        <p:spPr>
          <a:xfrm>
            <a:off x="9907524"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3" name="Shape 61"/>
          <p:cNvSpPr/>
          <p:nvPr/>
        </p:nvSpPr>
        <p:spPr>
          <a:xfrm>
            <a:off x="10515600" y="3749040"/>
            <a:ext cx="365760" cy="365760"/>
          </a:xfrm>
          <a:prstGeom prst="ellipse">
            <a:avLst/>
          </a:prstGeom>
          <a:solidFill>
            <a:srgbClr val="3DDC97"/>
          </a:solidFill>
          <a:ln w="15875">
            <a:solidFill>
              <a:srgbClr val="3DDC97"/>
            </a:solidFill>
            <a:prstDash val="solid"/>
          </a:ln>
        </p:spPr>
      </p:sp>
      <p:sp>
        <p:nvSpPr>
          <p:cNvPr id="64" name="Text 62"/>
          <p:cNvSpPr txBox="1"/>
          <p:nvPr/>
        </p:nvSpPr>
        <p:spPr>
          <a:xfrm>
            <a:off x="10515600"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9</a:t>
            </a:r>
            <a:endParaRPr lang="en-US" sz="1200" dirty="0"/>
          </a:p>
        </p:txBody>
      </p:sp>
      <p:sp>
        <p:nvSpPr>
          <p:cNvPr id="65" name="Text 63"/>
          <p:cNvSpPr txBox="1"/>
          <p:nvPr/>
        </p:nvSpPr>
        <p:spPr>
          <a:xfrm>
            <a:off x="10515600"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1</a:t>
            </a:r>
            <a:endParaRPr lang="en-US" sz="1200" dirty="0"/>
          </a:p>
        </p:txBody>
      </p:sp>
      <p:sp>
        <p:nvSpPr>
          <p:cNvPr id="66" name="Shape 64"/>
          <p:cNvSpPr/>
          <p:nvPr/>
        </p:nvSpPr>
        <p:spPr>
          <a:xfrm>
            <a:off x="11123676" y="3749040"/>
            <a:ext cx="365760" cy="365760"/>
          </a:xfrm>
          <a:prstGeom prst="ellipse">
            <a:avLst/>
          </a:prstGeom>
          <a:solidFill>
            <a:srgbClr val="3DDC97"/>
          </a:solidFill>
          <a:ln w="15875">
            <a:solidFill>
              <a:srgbClr val="3DDC97"/>
            </a:solidFill>
            <a:prstDash val="solid"/>
          </a:ln>
        </p:spPr>
      </p:sp>
      <p:sp>
        <p:nvSpPr>
          <p:cNvPr id="67" name="Text 65"/>
          <p:cNvSpPr txBox="1"/>
          <p:nvPr/>
        </p:nvSpPr>
        <p:spPr>
          <a:xfrm>
            <a:off x="11123676"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7</a:t>
            </a:r>
            <a:endParaRPr lang="en-US" sz="1200" dirty="0"/>
          </a:p>
        </p:txBody>
      </p:sp>
      <p:sp>
        <p:nvSpPr>
          <p:cNvPr id="68" name="Text 66"/>
          <p:cNvSpPr txBox="1"/>
          <p:nvPr/>
        </p:nvSpPr>
        <p:spPr>
          <a:xfrm>
            <a:off x="11123676"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0</a:t>
            </a:r>
            <a:endParaRPr lang="en-US" sz="1200" dirty="0"/>
          </a:p>
        </p:txBody>
      </p:sp>
      <p:sp>
        <p:nvSpPr>
          <p:cNvPr id="69" name="Text 67"/>
          <p:cNvSpPr txBox="1"/>
          <p:nvPr/>
        </p:nvSpPr>
        <p:spPr>
          <a:xfrm>
            <a:off x="5559552" y="5230368"/>
            <a:ext cx="1463040" cy="219456"/>
          </a:xfrm>
          <a:prstGeom prst="rect">
            <a:avLst/>
          </a:prstGeom>
          <a:noFill/>
          <a:ln/>
        </p:spPr>
        <p:txBody>
          <a:bodyPr wrap="square" lIns="0" tIns="0" rIns="0" bIns="0" rtlCol="0" anchor="t"/>
          <a:lstStyle/>
          <a:p>
            <a:pPr indent="0" marL="0">
              <a:buNone/>
            </a:pPr>
            <a:r>
              <a:rPr lang="en-US" sz="1050" dirty="0">
                <a:solidFill>
                  <a:srgbClr val="647187"/>
                </a:solidFill>
                <a:latin typeface="Calibri" pitchFamily="34" charset="0"/>
                <a:ea typeface="Calibri" pitchFamily="34" charset="-122"/>
                <a:cs typeface="Calibri" pitchFamily="34" charset="-120"/>
              </a:rPr>
              <a:t>shkalla dalëse</a:t>
            </a:r>
            <a:endParaRPr lang="en-US" sz="1050" dirty="0"/>
          </a:p>
        </p:txBody>
      </p:sp>
      <p:sp>
        <p:nvSpPr>
          <p:cNvPr id="70" name="Text 68"/>
          <p:cNvSpPr txBox="1"/>
          <p:nvPr/>
        </p:nvSpPr>
        <p:spPr>
          <a:xfrm>
            <a:off x="6656832" y="5230368"/>
            <a:ext cx="2384298" cy="219456"/>
          </a:xfrm>
          <a:prstGeom prst="rect">
            <a:avLst/>
          </a:prstGeom>
          <a:noFill/>
          <a:ln/>
        </p:spPr>
        <p:txBody>
          <a:bodyPr wrap="square" lIns="0" tIns="0" rIns="0" bIns="0" rtlCol="0" anchor="t"/>
          <a:lstStyle/>
          <a:p>
            <a:pPr algn="r" indent="0" marL="0">
              <a:buNone/>
            </a:pPr>
            <a:r>
              <a:rPr lang="en-US" sz="1050" dirty="0">
                <a:solidFill>
                  <a:srgbClr val="647187"/>
                </a:solidFill>
                <a:latin typeface="Calibri" pitchFamily="34" charset="0"/>
                <a:ea typeface="Calibri" pitchFamily="34" charset="-122"/>
                <a:cs typeface="Calibri" pitchFamily="34" charset="-120"/>
              </a:rPr>
              <a:t>nuk vlerësohet, por kufizohet në 500</a:t>
            </a:r>
            <a:endParaRPr lang="en-US" sz="1050" dirty="0"/>
          </a:p>
        </p:txBody>
      </p:sp>
      <p:sp>
        <p:nvSpPr>
          <p:cNvPr id="71" name="Text 69"/>
          <p:cNvSpPr txBox="1"/>
          <p:nvPr/>
        </p:nvSpPr>
        <p:spPr>
          <a:xfrm>
            <a:off x="9288018" y="5230368"/>
            <a:ext cx="2286000" cy="237744"/>
          </a:xfrm>
          <a:prstGeom prst="rect">
            <a:avLst/>
          </a:prstGeom>
          <a:noFill/>
          <a:ln/>
        </p:spPr>
        <p:txBody>
          <a:bodyPr wrap="square" lIns="0" tIns="0" rIns="0" bIns="0" rtlCol="0" anchor="t"/>
          <a:lstStyle/>
          <a:p>
            <a:pPr indent="0" marL="0">
              <a:buNone/>
            </a:pPr>
            <a:r>
              <a:rPr lang="en-US" sz="1200" b="1" dirty="0">
                <a:solidFill>
                  <a:srgbClr val="3DDC97"/>
                </a:solidFill>
                <a:latin typeface="Calibri" pitchFamily="34" charset="0"/>
                <a:ea typeface="Calibri" pitchFamily="34" charset="-122"/>
                <a:cs typeface="Calibri" pitchFamily="34" charset="-120"/>
              </a:rPr>
              <a:t>gjerësia = 2</a:t>
            </a:r>
            <a:endParaRPr lang="en-US" sz="1200" dirty="0"/>
          </a:p>
        </p:txBody>
      </p:sp>
      <p:sp>
        <p:nvSpPr>
          <p:cNvPr id="72" name="Text 70"/>
          <p:cNvSpPr txBox="1"/>
          <p:nvPr/>
        </p:nvSpPr>
        <p:spPr>
          <a:xfrm>
            <a:off x="5577840" y="5623560"/>
            <a:ext cx="5973775" cy="64008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Shembulli dhjetë-kulmësh i vetë ESA-s, x = [0, 1, 2, 4, 5, 3, 6, 8, 9, 7, 6]: nëntë brinjë (sipër) dhe nëntë brinjë mbushëse (poshtë, të kuqe). Torso me katër kulme, gjerësi 2 — përgjigja e dhënë nga ESA, e riprodhuar.</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OBJEKTI</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Dy objektiva, një rezultat: sipërfaqja që e mbulon një shkallare</a:t>
            </a:r>
            <a:endParaRPr lang="en-US" sz="2700" dirty="0"/>
          </a:p>
        </p:txBody>
      </p:sp>
      <p:sp>
        <p:nvSpPr>
          <p:cNvPr id="4" name="Text 2"/>
          <p:cNvSpPr txBox="1"/>
          <p:nvPr/>
        </p:nvSpPr>
        <p:spPr>
          <a:xfrm>
            <a:off x="640080" y="1783080"/>
            <a:ext cx="4846320" cy="77724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Çdo vektor është një pikë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gjerësia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e torsos dhe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kulmet që hiqen. Të dyja minimizohen.</a:t>
            </a:r>
            <a:endParaRPr lang="en-US" sz="1600" dirty="0"/>
          </a:p>
        </p:txBody>
      </p:sp>
      <p:sp>
        <p:nvSpPr>
          <p:cNvPr id="5" name="Text 3"/>
          <p:cNvSpPr txBox="1"/>
          <p:nvPr/>
        </p:nvSpPr>
        <p:spPr>
          <a:xfrm>
            <a:off x="640080" y="2651760"/>
            <a:ext cx="4846320" cy="105156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Një dorëzim është një shkallare me së shumti 20 pika. Rezultati i saj është sipërfaqja që shkallarja dominon deri te këndi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hipervolumi i saj.</a:t>
            </a:r>
            <a:endParaRPr lang="en-US" sz="1600" dirty="0"/>
          </a:p>
        </p:txBody>
      </p:sp>
      <p:sp>
        <p:nvSpPr>
          <p:cNvPr id="6" name="Text 4"/>
          <p:cNvSpPr txBox="1"/>
          <p:nvPr/>
        </p:nvSpPr>
        <p:spPr>
          <a:xfrm>
            <a:off x="640080" y="3767328"/>
            <a:ext cx="4846320" cy="603504"/>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ESA e raporton këtë sipërfaqe me shenjë negative, prandaj renditjet e saj kanë numra negativë; kjo kumtesë citon vetë sipërfaqen.</a:t>
            </a:r>
            <a:endParaRPr lang="en-US" sz="1250" dirty="0"/>
          </a:p>
        </p:txBody>
      </p:sp>
      <p:sp>
        <p:nvSpPr>
          <p:cNvPr id="7" name="Shape 5"/>
          <p:cNvSpPr/>
          <p:nvPr/>
        </p:nvSpPr>
        <p:spPr>
          <a:xfrm>
            <a:off x="640080" y="4572000"/>
            <a:ext cx="4846320" cy="1463040"/>
          </a:xfrm>
          <a:prstGeom prst="rect">
            <a:avLst/>
          </a:prstGeom>
          <a:solidFill>
            <a:srgbClr val="131B28"/>
          </a:solidFill>
          <a:ln/>
        </p:spPr>
      </p:sp>
      <p:sp>
        <p:nvSpPr>
          <p:cNvPr id="8" name="Text 6"/>
          <p:cNvSpPr txBox="1"/>
          <p:nvPr/>
        </p:nvSpPr>
        <p:spPr>
          <a:xfrm>
            <a:off x="868680" y="4718304"/>
            <a:ext cx="3657600" cy="237744"/>
          </a:xfrm>
          <a:prstGeom prst="rect">
            <a:avLst/>
          </a:prstGeom>
          <a:noFill/>
          <a:ln/>
        </p:spPr>
        <p:txBody>
          <a:bodyPr wrap="square" lIns="0" tIns="0" rIns="0" bIns="0" rtlCol="0" anchor="t"/>
          <a:lstStyle/>
          <a:p>
            <a:pPr indent="0" marL="0">
              <a:buNone/>
            </a:pPr>
            <a:r>
              <a:rPr lang="en-US" sz="1050" b="1" spc="160" kern="0" dirty="0">
                <a:solidFill>
                  <a:srgbClr val="FF5A60"/>
                </a:solidFill>
                <a:latin typeface="Calibri" pitchFamily="34" charset="0"/>
                <a:ea typeface="Calibri" pitchFamily="34" charset="-122"/>
                <a:cs typeface="Calibri" pitchFamily="34" charset="-120"/>
              </a:rPr>
              <a:t>GREMINA</a:t>
            </a:r>
            <a:endParaRPr lang="en-US" sz="1050" dirty="0"/>
          </a:p>
        </p:txBody>
      </p:sp>
      <p:sp>
        <p:nvSpPr>
          <p:cNvPr id="9" name="Text 7"/>
          <p:cNvSpPr txBox="1"/>
          <p:nvPr/>
        </p:nvSpPr>
        <p:spPr>
          <a:xfrm>
            <a:off x="868680" y="5010912"/>
            <a:ext cx="4434840" cy="96012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Çdo hap eliminimi, përfshirë kokën që hidhet, duhet ta mbajë shkallën dalëse ≤ 500. Një shkelje e vetme dhe vektori vlerësohet me gjerësi 501, sado e mirë të jetë torsoja e tij.</a:t>
            </a:r>
            <a:endParaRPr lang="en-US" sz="1400" dirty="0"/>
          </a:p>
        </p:txBody>
      </p:sp>
      <p:sp>
        <p:nvSpPr>
          <p:cNvPr id="10" name="Shape 8"/>
          <p:cNvSpPr/>
          <p:nvPr/>
        </p:nvSpPr>
        <p:spPr>
          <a:xfrm>
            <a:off x="6640830" y="2011680"/>
            <a:ext cx="240030" cy="1110996"/>
          </a:xfrm>
          <a:prstGeom prst="rect">
            <a:avLst/>
          </a:prstGeom>
          <a:solidFill>
            <a:srgbClr val="3DDC97">
              <a:alpha val="22000"/>
            </a:srgbClr>
          </a:solidFill>
          <a:ln/>
        </p:spPr>
      </p:sp>
      <p:sp>
        <p:nvSpPr>
          <p:cNvPr id="11" name="Shape 9"/>
          <p:cNvSpPr/>
          <p:nvPr/>
        </p:nvSpPr>
        <p:spPr>
          <a:xfrm>
            <a:off x="6880860" y="2011680"/>
            <a:ext cx="336042" cy="1999793"/>
          </a:xfrm>
          <a:prstGeom prst="rect">
            <a:avLst/>
          </a:prstGeom>
          <a:solidFill>
            <a:srgbClr val="3DDC97">
              <a:alpha val="22000"/>
            </a:srgbClr>
          </a:solidFill>
          <a:ln/>
        </p:spPr>
      </p:sp>
      <p:sp>
        <p:nvSpPr>
          <p:cNvPr id="12" name="Shape 10"/>
          <p:cNvSpPr/>
          <p:nvPr/>
        </p:nvSpPr>
        <p:spPr>
          <a:xfrm>
            <a:off x="7216902" y="2011680"/>
            <a:ext cx="480060" cy="2666390"/>
          </a:xfrm>
          <a:prstGeom prst="rect">
            <a:avLst/>
          </a:prstGeom>
          <a:solidFill>
            <a:srgbClr val="3DDC97">
              <a:alpha val="22000"/>
            </a:srgbClr>
          </a:solidFill>
          <a:ln/>
        </p:spPr>
      </p:sp>
      <p:sp>
        <p:nvSpPr>
          <p:cNvPr id="13" name="Shape 11"/>
          <p:cNvSpPr/>
          <p:nvPr/>
        </p:nvSpPr>
        <p:spPr>
          <a:xfrm>
            <a:off x="7696962" y="2011680"/>
            <a:ext cx="672084" cy="3221888"/>
          </a:xfrm>
          <a:prstGeom prst="rect">
            <a:avLst/>
          </a:prstGeom>
          <a:solidFill>
            <a:srgbClr val="3DDC97">
              <a:alpha val="22000"/>
            </a:srgbClr>
          </a:solidFill>
          <a:ln/>
        </p:spPr>
      </p:sp>
      <p:sp>
        <p:nvSpPr>
          <p:cNvPr id="14" name="Shape 12"/>
          <p:cNvSpPr/>
          <p:nvPr/>
        </p:nvSpPr>
        <p:spPr>
          <a:xfrm>
            <a:off x="8369046" y="2011680"/>
            <a:ext cx="2832354" cy="3703320"/>
          </a:xfrm>
          <a:prstGeom prst="rect">
            <a:avLst/>
          </a:prstGeom>
          <a:solidFill>
            <a:srgbClr val="3DDC97">
              <a:alpha val="22000"/>
            </a:srgbClr>
          </a:solidFill>
          <a:ln/>
        </p:spPr>
      </p:sp>
      <p:sp>
        <p:nvSpPr>
          <p:cNvPr id="15" name="Shape 13"/>
          <p:cNvSpPr/>
          <p:nvPr/>
        </p:nvSpPr>
        <p:spPr>
          <a:xfrm>
            <a:off x="6400800" y="5715000"/>
            <a:ext cx="4937760" cy="0"/>
          </a:xfrm>
          <a:prstGeom prst="line">
            <a:avLst/>
          </a:prstGeom>
          <a:noFill/>
          <a:ln w="12700">
            <a:solidFill>
              <a:srgbClr val="9AA6B6"/>
            </a:solidFill>
            <a:prstDash val="solid"/>
            <a:tailEnd type="triangle"/>
          </a:ln>
        </p:spPr>
      </p:sp>
      <p:sp>
        <p:nvSpPr>
          <p:cNvPr id="16" name="Shape 14"/>
          <p:cNvSpPr/>
          <p:nvPr/>
        </p:nvSpPr>
        <p:spPr>
          <a:xfrm>
            <a:off x="6400800" y="1874520"/>
            <a:ext cx="0" cy="3840480"/>
          </a:xfrm>
          <a:prstGeom prst="line">
            <a:avLst/>
          </a:prstGeom>
          <a:noFill/>
          <a:ln w="12700">
            <a:solidFill>
              <a:srgbClr val="9AA6B6"/>
            </a:solidFill>
            <a:prstDash val="solid"/>
            <a:headEnd type="triangle"/>
          </a:ln>
        </p:spPr>
      </p:sp>
      <p:sp>
        <p:nvSpPr>
          <p:cNvPr id="17" name="Shape 15"/>
          <p:cNvSpPr/>
          <p:nvPr/>
        </p:nvSpPr>
        <p:spPr>
          <a:xfrm>
            <a:off x="6640830" y="2011680"/>
            <a:ext cx="0" cy="1110996"/>
          </a:xfrm>
          <a:prstGeom prst="line">
            <a:avLst/>
          </a:prstGeom>
          <a:noFill/>
          <a:ln w="22225">
            <a:solidFill>
              <a:srgbClr val="3DDC97"/>
            </a:solidFill>
            <a:prstDash val="solid"/>
          </a:ln>
        </p:spPr>
      </p:sp>
      <p:sp>
        <p:nvSpPr>
          <p:cNvPr id="18" name="Shape 16"/>
          <p:cNvSpPr/>
          <p:nvPr/>
        </p:nvSpPr>
        <p:spPr>
          <a:xfrm>
            <a:off x="6640830" y="3122676"/>
            <a:ext cx="240030" cy="0"/>
          </a:xfrm>
          <a:prstGeom prst="line">
            <a:avLst/>
          </a:prstGeom>
          <a:noFill/>
          <a:ln w="22225">
            <a:solidFill>
              <a:srgbClr val="3DDC97"/>
            </a:solidFill>
            <a:prstDash val="solid"/>
          </a:ln>
        </p:spPr>
      </p:sp>
      <p:sp>
        <p:nvSpPr>
          <p:cNvPr id="19" name="Shape 17"/>
          <p:cNvSpPr/>
          <p:nvPr/>
        </p:nvSpPr>
        <p:spPr>
          <a:xfrm>
            <a:off x="6880860" y="3122676"/>
            <a:ext cx="0" cy="888797"/>
          </a:xfrm>
          <a:prstGeom prst="line">
            <a:avLst/>
          </a:prstGeom>
          <a:noFill/>
          <a:ln w="22225">
            <a:solidFill>
              <a:srgbClr val="3DDC97"/>
            </a:solidFill>
            <a:prstDash val="solid"/>
          </a:ln>
        </p:spPr>
      </p:sp>
      <p:sp>
        <p:nvSpPr>
          <p:cNvPr id="20" name="Shape 18"/>
          <p:cNvSpPr/>
          <p:nvPr/>
        </p:nvSpPr>
        <p:spPr>
          <a:xfrm>
            <a:off x="6880860" y="4011473"/>
            <a:ext cx="336042" cy="0"/>
          </a:xfrm>
          <a:prstGeom prst="line">
            <a:avLst/>
          </a:prstGeom>
          <a:noFill/>
          <a:ln w="22225">
            <a:solidFill>
              <a:srgbClr val="3DDC97"/>
            </a:solidFill>
            <a:prstDash val="solid"/>
          </a:ln>
        </p:spPr>
      </p:sp>
      <p:sp>
        <p:nvSpPr>
          <p:cNvPr id="21" name="Shape 19"/>
          <p:cNvSpPr/>
          <p:nvPr/>
        </p:nvSpPr>
        <p:spPr>
          <a:xfrm>
            <a:off x="7216902" y="4011473"/>
            <a:ext cx="0" cy="666598"/>
          </a:xfrm>
          <a:prstGeom prst="line">
            <a:avLst/>
          </a:prstGeom>
          <a:noFill/>
          <a:ln w="22225">
            <a:solidFill>
              <a:srgbClr val="3DDC97"/>
            </a:solidFill>
            <a:prstDash val="solid"/>
          </a:ln>
        </p:spPr>
      </p:sp>
      <p:sp>
        <p:nvSpPr>
          <p:cNvPr id="22" name="Shape 20"/>
          <p:cNvSpPr/>
          <p:nvPr/>
        </p:nvSpPr>
        <p:spPr>
          <a:xfrm>
            <a:off x="7216902" y="4678070"/>
            <a:ext cx="480060" cy="0"/>
          </a:xfrm>
          <a:prstGeom prst="line">
            <a:avLst/>
          </a:prstGeom>
          <a:noFill/>
          <a:ln w="22225">
            <a:solidFill>
              <a:srgbClr val="3DDC97"/>
            </a:solidFill>
            <a:prstDash val="solid"/>
          </a:ln>
        </p:spPr>
      </p:sp>
      <p:sp>
        <p:nvSpPr>
          <p:cNvPr id="23" name="Shape 21"/>
          <p:cNvSpPr/>
          <p:nvPr/>
        </p:nvSpPr>
        <p:spPr>
          <a:xfrm>
            <a:off x="7696962" y="4678070"/>
            <a:ext cx="0" cy="555498"/>
          </a:xfrm>
          <a:prstGeom prst="line">
            <a:avLst/>
          </a:prstGeom>
          <a:noFill/>
          <a:ln w="22225">
            <a:solidFill>
              <a:srgbClr val="3DDC97"/>
            </a:solidFill>
            <a:prstDash val="solid"/>
          </a:ln>
        </p:spPr>
      </p:sp>
      <p:sp>
        <p:nvSpPr>
          <p:cNvPr id="24" name="Shape 22"/>
          <p:cNvSpPr/>
          <p:nvPr/>
        </p:nvSpPr>
        <p:spPr>
          <a:xfrm>
            <a:off x="7696962" y="5233568"/>
            <a:ext cx="672084" cy="0"/>
          </a:xfrm>
          <a:prstGeom prst="line">
            <a:avLst/>
          </a:prstGeom>
          <a:noFill/>
          <a:ln w="22225">
            <a:solidFill>
              <a:srgbClr val="3DDC97"/>
            </a:solidFill>
            <a:prstDash val="solid"/>
          </a:ln>
        </p:spPr>
      </p:sp>
      <p:sp>
        <p:nvSpPr>
          <p:cNvPr id="25" name="Shape 23"/>
          <p:cNvSpPr/>
          <p:nvPr/>
        </p:nvSpPr>
        <p:spPr>
          <a:xfrm>
            <a:off x="8369046" y="5233568"/>
            <a:ext cx="0" cy="481432"/>
          </a:xfrm>
          <a:prstGeom prst="line">
            <a:avLst/>
          </a:prstGeom>
          <a:noFill/>
          <a:ln w="22225">
            <a:solidFill>
              <a:srgbClr val="3DDC97"/>
            </a:solidFill>
            <a:prstDash val="solid"/>
          </a:ln>
        </p:spPr>
      </p:sp>
      <p:sp>
        <p:nvSpPr>
          <p:cNvPr id="26" name="Shape 24"/>
          <p:cNvSpPr/>
          <p:nvPr/>
        </p:nvSpPr>
        <p:spPr>
          <a:xfrm>
            <a:off x="8369046" y="5715000"/>
            <a:ext cx="2832354" cy="0"/>
          </a:xfrm>
          <a:prstGeom prst="line">
            <a:avLst/>
          </a:prstGeom>
          <a:noFill/>
          <a:ln w="22225">
            <a:solidFill>
              <a:srgbClr val="3DDC97"/>
            </a:solidFill>
            <a:prstDash val="solid"/>
          </a:ln>
        </p:spPr>
      </p:sp>
      <p:sp>
        <p:nvSpPr>
          <p:cNvPr id="27" name="Shape 25"/>
          <p:cNvSpPr/>
          <p:nvPr/>
        </p:nvSpPr>
        <p:spPr>
          <a:xfrm>
            <a:off x="6572250" y="3054096"/>
            <a:ext cx="137160" cy="137160"/>
          </a:xfrm>
          <a:prstGeom prst="ellipse">
            <a:avLst/>
          </a:prstGeom>
          <a:solidFill>
            <a:srgbClr val="3DDC97"/>
          </a:solidFill>
          <a:ln/>
        </p:spPr>
      </p:sp>
      <p:sp>
        <p:nvSpPr>
          <p:cNvPr id="28" name="Shape 26"/>
          <p:cNvSpPr/>
          <p:nvPr/>
        </p:nvSpPr>
        <p:spPr>
          <a:xfrm>
            <a:off x="6812280" y="3942893"/>
            <a:ext cx="137160" cy="137160"/>
          </a:xfrm>
          <a:prstGeom prst="ellipse">
            <a:avLst/>
          </a:prstGeom>
          <a:solidFill>
            <a:srgbClr val="3DDC97"/>
          </a:solidFill>
          <a:ln/>
        </p:spPr>
      </p:sp>
      <p:sp>
        <p:nvSpPr>
          <p:cNvPr id="29" name="Shape 27"/>
          <p:cNvSpPr/>
          <p:nvPr/>
        </p:nvSpPr>
        <p:spPr>
          <a:xfrm>
            <a:off x="7148322" y="4609490"/>
            <a:ext cx="137160" cy="137160"/>
          </a:xfrm>
          <a:prstGeom prst="ellipse">
            <a:avLst/>
          </a:prstGeom>
          <a:solidFill>
            <a:srgbClr val="3DDC97"/>
          </a:solidFill>
          <a:ln/>
        </p:spPr>
      </p:sp>
      <p:sp>
        <p:nvSpPr>
          <p:cNvPr id="30" name="Shape 28"/>
          <p:cNvSpPr/>
          <p:nvPr/>
        </p:nvSpPr>
        <p:spPr>
          <a:xfrm>
            <a:off x="7628382" y="5164988"/>
            <a:ext cx="137160" cy="137160"/>
          </a:xfrm>
          <a:prstGeom prst="ellipse">
            <a:avLst/>
          </a:prstGeom>
          <a:solidFill>
            <a:srgbClr val="3DDC97"/>
          </a:solidFill>
          <a:ln/>
        </p:spPr>
      </p:sp>
      <p:sp>
        <p:nvSpPr>
          <p:cNvPr id="31" name="Shape 29"/>
          <p:cNvSpPr/>
          <p:nvPr/>
        </p:nvSpPr>
        <p:spPr>
          <a:xfrm>
            <a:off x="8300466" y="5646420"/>
            <a:ext cx="137160" cy="137160"/>
          </a:xfrm>
          <a:prstGeom prst="ellipse">
            <a:avLst/>
          </a:prstGeom>
          <a:solidFill>
            <a:srgbClr val="3DDC97"/>
          </a:solidFill>
          <a:ln/>
        </p:spPr>
      </p:sp>
      <p:sp>
        <p:nvSpPr>
          <p:cNvPr id="32" name="Shape 30"/>
          <p:cNvSpPr/>
          <p:nvPr/>
        </p:nvSpPr>
        <p:spPr>
          <a:xfrm>
            <a:off x="11146536" y="1956816"/>
            <a:ext cx="109728" cy="109728"/>
          </a:xfrm>
          <a:prstGeom prst="ellipse">
            <a:avLst/>
          </a:prstGeom>
          <a:solidFill>
            <a:srgbClr val="E8ECF2"/>
          </a:solidFill>
          <a:ln/>
        </p:spPr>
      </p:sp>
      <p:sp>
        <p:nvSpPr>
          <p:cNvPr id="33" name="Text 31"/>
          <p:cNvSpPr txBox="1"/>
          <p:nvPr/>
        </p:nvSpPr>
        <p:spPr>
          <a:xfrm>
            <a:off x="10652760" y="1664208"/>
            <a:ext cx="822960" cy="237744"/>
          </a:xfrm>
          <a:prstGeom prst="rect">
            <a:avLst/>
          </a:prstGeom>
          <a:noFill/>
          <a:ln/>
        </p:spPr>
        <p:txBody>
          <a:bodyPr wrap="square" lIns="0" tIns="0" rIns="0" bIns="0" rtlCol="0" anchor="t"/>
          <a:lstStyle/>
          <a:p>
            <a:pPr algn="r" indent="0" marL="0">
              <a:buNone/>
            </a:pPr>
            <a:r>
              <a:rPr lang="en-US" sz="1200" dirty="0">
                <a:solidFill>
                  <a:srgbClr val="E8ECF2"/>
                </a:solidFill>
                <a:latin typeface="Calibri" pitchFamily="34" charset="0"/>
                <a:ea typeface="Calibri" pitchFamily="34" charset="-122"/>
                <a:cs typeface="Calibri" pitchFamily="34" charset="-120"/>
              </a:rPr>
              <a:t>(n, n)</a:t>
            </a:r>
            <a:endParaRPr lang="en-US" sz="1200" dirty="0"/>
          </a:p>
        </p:txBody>
      </p:sp>
      <p:sp>
        <p:nvSpPr>
          <p:cNvPr id="34" name="Text 32"/>
          <p:cNvSpPr txBox="1"/>
          <p:nvPr/>
        </p:nvSpPr>
        <p:spPr>
          <a:xfrm>
            <a:off x="8561070" y="3048610"/>
            <a:ext cx="2377440" cy="640080"/>
          </a:xfrm>
          <a:prstGeom prst="rect">
            <a:avLst/>
          </a:prstGeom>
          <a:noFill/>
          <a:ln/>
        </p:spPr>
        <p:txBody>
          <a:bodyPr wrap="square" lIns="0" tIns="0" rIns="0" bIns="0" rtlCol="0" anchor="t"/>
          <a:lstStyle/>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sipërfaqja e dominuar</a:t>
            </a:r>
            <a:endParaRPr lang="en-US" sz="1500" dirty="0"/>
          </a:p>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 rezultati</a:t>
            </a:r>
            <a:endParaRPr lang="en-US" sz="1500" dirty="0"/>
          </a:p>
        </p:txBody>
      </p:sp>
      <p:sp>
        <p:nvSpPr>
          <p:cNvPr id="35" name="Text 33"/>
          <p:cNvSpPr txBox="1"/>
          <p:nvPr/>
        </p:nvSpPr>
        <p:spPr>
          <a:xfrm>
            <a:off x="9006840" y="5788152"/>
            <a:ext cx="2377440" cy="237744"/>
          </a:xfrm>
          <a:prstGeom prst="rect">
            <a:avLst/>
          </a:prstGeom>
          <a:noFill/>
          <a:ln/>
        </p:spPr>
        <p:txBody>
          <a:bodyPr wrap="square" lIns="0" tIns="0" rIns="0" bIns="0" rtlCol="0" anchor="t"/>
          <a:lstStyle/>
          <a:p>
            <a:pPr algn="r" indent="0" marL="0">
              <a:buNone/>
            </a:pPr>
            <a:r>
              <a:rPr lang="en-US" sz="1200" dirty="0">
                <a:solidFill>
                  <a:srgbClr val="9AA6B6"/>
                </a:solidFill>
                <a:latin typeface="Calibri" pitchFamily="34" charset="0"/>
                <a:ea typeface="Calibri" pitchFamily="34" charset="-122"/>
                <a:cs typeface="Calibri" pitchFamily="34" charset="-120"/>
              </a:rPr>
              <a:t>gjerësia e torsos  w →</a:t>
            </a:r>
            <a:endParaRPr lang="en-US" sz="1200" dirty="0"/>
          </a:p>
        </p:txBody>
      </p:sp>
      <p:sp>
        <p:nvSpPr>
          <p:cNvPr id="36" name="Text 34"/>
          <p:cNvSpPr txBox="1"/>
          <p:nvPr/>
        </p:nvSpPr>
        <p:spPr>
          <a:xfrm>
            <a:off x="6510528" y="1719072"/>
            <a:ext cx="2743200" cy="237744"/>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kulmet që hiqen  t</a:t>
            </a:r>
            <a:endParaRPr lang="en-US" sz="1200" dirty="0"/>
          </a:p>
        </p:txBody>
      </p:sp>
      <p:sp>
        <p:nvSpPr>
          <p:cNvPr id="37" name="Text 35"/>
          <p:cNvSpPr txBox="1"/>
          <p:nvPr/>
        </p:nvSpPr>
        <p:spPr>
          <a:xfrm>
            <a:off x="6400800" y="5788152"/>
            <a:ext cx="1371600" cy="219456"/>
          </a:xfrm>
          <a:prstGeom prst="rect">
            <a:avLst/>
          </a:prstGeom>
          <a:noFill/>
          <a:ln/>
        </p:spPr>
        <p:txBody>
          <a:bodyPr wrap="square" lIns="0" tIns="0" rIns="0" bIns="0" rtlCol="0" anchor="t"/>
          <a:lstStyle/>
          <a:p>
            <a:pPr indent="0" marL="0">
              <a:buNone/>
            </a:pPr>
            <a:r>
              <a:rPr lang="en-US" sz="1000" i="1" dirty="0">
                <a:solidFill>
                  <a:srgbClr val="647187"/>
                </a:solidFill>
                <a:latin typeface="Calibri" pitchFamily="34" charset="0"/>
                <a:ea typeface="Calibri" pitchFamily="34" charset="-122"/>
                <a:cs typeface="Calibri" pitchFamily="34" charset="-120"/>
              </a:rPr>
              <a:t>ilustrim</a:t>
            </a:r>
            <a:endParaRPr lang="en-US" sz="10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SA E MIRË MUND TË JETË NJË PËRGJIGJE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Një tavan i vërtetueshëm për çdo rezultat</a:t>
            </a:r>
            <a:endParaRPr lang="en-US" sz="2700" dirty="0"/>
          </a:p>
        </p:txBody>
      </p:sp>
      <p:sp>
        <p:nvSpPr>
          <p:cNvPr id="4" name="Shape 2"/>
          <p:cNvSpPr/>
          <p:nvPr/>
        </p:nvSpPr>
        <p:spPr>
          <a:xfrm>
            <a:off x="640080" y="1783080"/>
            <a:ext cx="5166360" cy="2514600"/>
          </a:xfrm>
          <a:prstGeom prst="rect">
            <a:avLst/>
          </a:prstGeom>
          <a:solidFill>
            <a:srgbClr val="131B28"/>
          </a:solidFill>
          <a:ln/>
        </p:spPr>
      </p:sp>
      <p:sp>
        <p:nvSpPr>
          <p:cNvPr id="5" name="Text 3"/>
          <p:cNvSpPr txBox="1"/>
          <p:nvPr/>
        </p:nvSpPr>
        <p:spPr>
          <a:xfrm>
            <a:off x="868680" y="1920240"/>
            <a:ext cx="2743200"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LEMË</a:t>
            </a:r>
            <a:endParaRPr lang="en-US" sz="1050" dirty="0"/>
          </a:p>
        </p:txBody>
      </p:sp>
      <p:sp>
        <p:nvSpPr>
          <p:cNvPr id="6" name="Text 4"/>
          <p:cNvSpPr txBox="1"/>
          <p:nvPr/>
        </p:nvSpPr>
        <p:spPr>
          <a:xfrm>
            <a:off x="868680" y="2212848"/>
            <a:ext cx="4709160" cy="114300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Eliminoji së pari kulmet e një bashkësie çfarëdo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me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t</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elemente. Duke shtuar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në çdo qese të një dekompozimi peme të torsos fitohet një dekompozim peme i grafit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G</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pra</a:t>
            </a:r>
            <a:endParaRPr lang="en-US" sz="1450" dirty="0"/>
          </a:p>
        </p:txBody>
      </p:sp>
      <p:sp>
        <p:nvSpPr>
          <p:cNvPr id="7" name="Text 5"/>
          <p:cNvSpPr txBox="1"/>
          <p:nvPr/>
        </p:nvSpPr>
        <p:spPr>
          <a:xfrm>
            <a:off x="868680" y="3493008"/>
            <a:ext cx="4709160" cy="457200"/>
          </a:xfrm>
          <a:prstGeom prst="rect">
            <a:avLst/>
          </a:prstGeom>
          <a:noFill/>
          <a:ln/>
        </p:spPr>
        <p:txBody>
          <a:bodyPr wrap="square" lIns="0" tIns="0" rIns="0" bIns="0" rtlCol="0" anchor="t"/>
          <a:lstStyle/>
          <a:p>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tw(torso)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w</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endParaRPr lang="en-US" sz="1700" dirty="0"/>
          </a:p>
        </p:txBody>
      </p:sp>
      <p:sp>
        <p:nvSpPr>
          <p:cNvPr id="8" name="Text 6"/>
          <p:cNvSpPr txBox="1"/>
          <p:nvPr/>
        </p:nvSpPr>
        <p:spPr>
          <a:xfrm>
            <a:off x="640080" y="4526280"/>
            <a:ext cx="5166360" cy="118872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Një kufi i poshtëm i lirë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tw(</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G</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e kthen këtë në një mur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w</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t</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20 pikat më të mira kundër këtij muri, të gjetura me programim dinamik, kufizojnë çdo dorëzim të mundshëm.</a:t>
            </a:r>
            <a:endParaRPr lang="en-US" sz="14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376672" cy="914400"/>
        </p:xfrm>
        <a:graphic>
          <a:graphicData uri="http://schemas.openxmlformats.org/drawingml/2006/table">
            <a:tbl>
              <a:tblPr/>
              <a:tblGrid>
                <a:gridCol w="1298448"/>
                <a:gridCol w="640080"/>
                <a:gridCol w="566928"/>
                <a:gridCol w="1024128"/>
                <a:gridCol w="1069848"/>
                <a:gridCol w="777240"/>
              </a:tblGrid>
              <a:tr h="402336">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instanca</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tw ≥</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tavani</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më i miri</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hendeku</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small-graph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1,357</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1,841,434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1,829,919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3DDC97"/>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medium-graph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1,955,110</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1,745,122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F2C14E"/>
                          </a:solidFill>
                          <a:latin typeface="Calibri" pitchFamily="34" charset="0"/>
                          <a:ea typeface="Calibri" pitchFamily="34" charset="-122"/>
                          <a:cs typeface="Calibri" pitchFamily="34" charset="-120"/>
                        </a:rPr>
                        <a:t>10.74%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large-graph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2,426</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499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5,754,421</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5,493,062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4.54%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10" name="Text 7"/>
          <p:cNvSpPr txBox="1"/>
          <p:nvPr/>
        </p:nvSpPr>
        <p:spPr>
          <a:xfrm>
            <a:off x="6172200" y="3657600"/>
            <a:ext cx="914400" cy="45720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të rralla</a:t>
            </a:r>
            <a:endParaRPr lang="en-US" sz="1300" dirty="0"/>
          </a:p>
        </p:txBody>
      </p:sp>
      <p:sp>
        <p:nvSpPr>
          <p:cNvPr id="11" name="Text 8"/>
          <p:cNvSpPr txBox="1"/>
          <p:nvPr/>
        </p:nvSpPr>
        <p:spPr>
          <a:xfrm>
            <a:off x="7086600" y="3657600"/>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brenda 0.63% të tavanit: praktikisht të zgjidhura</a:t>
            </a:r>
            <a:endParaRPr lang="en-US" sz="1300" dirty="0"/>
          </a:p>
        </p:txBody>
      </p:sp>
      <p:sp>
        <p:nvSpPr>
          <p:cNvPr id="12" name="Text 9"/>
          <p:cNvSpPr txBox="1"/>
          <p:nvPr/>
        </p:nvSpPr>
        <p:spPr>
          <a:xfrm>
            <a:off x="6172200" y="4279392"/>
            <a:ext cx="914400" cy="457200"/>
          </a:xfrm>
          <a:prstGeom prst="rect">
            <a:avLst/>
          </a:prstGeom>
          <a:noFill/>
          <a:ln/>
        </p:spPr>
        <p:txBody>
          <a:bodyPr wrap="square" lIns="0" tIns="0" rIns="0" bIns="0" rtlCol="0" anchor="t"/>
          <a:lstStyle/>
          <a:p>
            <a:pPr indent="0" marL="0">
              <a:buNone/>
            </a:pPr>
            <a:r>
              <a:rPr lang="en-US" sz="1300" b="1" dirty="0">
                <a:solidFill>
                  <a:srgbClr val="F2C14E"/>
                </a:solidFill>
                <a:latin typeface="Calibri" pitchFamily="34" charset="0"/>
                <a:ea typeface="Calibri" pitchFamily="34" charset="-122"/>
                <a:cs typeface="Calibri" pitchFamily="34" charset="-120"/>
              </a:rPr>
              <a:t>mesatare</a:t>
            </a:r>
            <a:endParaRPr lang="en-US" sz="1300" dirty="0"/>
          </a:p>
        </p:txBody>
      </p:sp>
      <p:sp>
        <p:nvSpPr>
          <p:cNvPr id="13" name="Text 10"/>
          <p:cNvSpPr txBox="1"/>
          <p:nvPr/>
        </p:nvSpPr>
        <p:spPr>
          <a:xfrm>
            <a:off x="7086600" y="4279392"/>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10.74%, kryesisht kufi i lirshëm: tw ≥ 63 heq vetëm 2,091 nga n² = 1,957,201</a:t>
            </a:r>
            <a:endParaRPr lang="en-US" sz="1300" dirty="0"/>
          </a:p>
        </p:txBody>
      </p:sp>
      <p:sp>
        <p:nvSpPr>
          <p:cNvPr id="14" name="Text 11"/>
          <p:cNvSpPr txBox="1"/>
          <p:nvPr/>
        </p:nvSpPr>
        <p:spPr>
          <a:xfrm>
            <a:off x="6172200" y="4901184"/>
            <a:ext cx="914400" cy="457200"/>
          </a:xfrm>
          <a:prstGeom prst="rect">
            <a:avLst/>
          </a:prstGeom>
          <a:noFill/>
          <a:ln/>
        </p:spPr>
        <p:txBody>
          <a:bodyPr wrap="square" lIns="0" tIns="0" rIns="0" bIns="0" rtlCol="0" anchor="t"/>
          <a:lstStyle/>
          <a:p>
            <a:pPr indent="0" marL="0">
              <a:buNone/>
            </a:pPr>
            <a:r>
              <a:rPr lang="en-US" sz="1300" b="1" dirty="0">
                <a:solidFill>
                  <a:srgbClr val="FF5A60"/>
                </a:solidFill>
                <a:latin typeface="Calibri" pitchFamily="34" charset="0"/>
                <a:ea typeface="Calibri" pitchFamily="34" charset="-122"/>
                <a:cs typeface="Calibri" pitchFamily="34" charset="-120"/>
              </a:rPr>
              <a:t>të dendura</a:t>
            </a:r>
            <a:endParaRPr lang="en-US" sz="1300" dirty="0"/>
          </a:p>
        </p:txBody>
      </p:sp>
      <p:sp>
        <p:nvSpPr>
          <p:cNvPr id="15" name="Text 12"/>
          <p:cNvSpPr txBox="1"/>
          <p:nvPr/>
        </p:nvSpPr>
        <p:spPr>
          <a:xfrm>
            <a:off x="7086600" y="4901184"/>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një klikë me 500 kulme e ngulit tw në 499–500, pra 4.54% është hapësirë reale</a:t>
            </a:r>
            <a:endParaRPr lang="en-US" sz="1300" dirty="0"/>
          </a:p>
        </p:txBody>
      </p:sp>
      <p:sp>
        <p:nvSpPr>
          <p:cNvPr id="16" name="Text 13"/>
          <p:cNvSpPr txBox="1"/>
          <p:nvPr/>
        </p:nvSpPr>
        <p:spPr>
          <a:xfrm>
            <a:off x="6172200" y="5669280"/>
            <a:ext cx="5376672" cy="457200"/>
          </a:xfrm>
          <a:prstGeom prst="rect">
            <a:avLst/>
          </a:prstGeom>
          <a:noFill/>
          <a:ln/>
        </p:spPr>
        <p:txBody>
          <a:bodyPr wrap="square" lIns="0" tIns="0" rIns="0" bIns="0" rtlCol="0" anchor="t"/>
          <a:lstStyle/>
          <a:p>
            <a:pPr indent="0" marL="0">
              <a:buNone/>
            </a:pPr>
            <a:r>
              <a:rPr lang="en-US" sz="1050" i="1" dirty="0">
                <a:solidFill>
                  <a:srgbClr val="647187"/>
                </a:solidFill>
                <a:latin typeface="Calibri" pitchFamily="34" charset="0"/>
                <a:ea typeface="Calibri" pitchFamily="34" charset="-122"/>
                <a:cs typeface="Calibri" pitchFamily="34" charset="-120"/>
              </a:rPr>
              <a:t>Hipervolum. Më i miri = kreu i tabelës së ESA-s për çdo instancë zyrtare (lexuar më 13 tetor 2026).</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SA E MIRË MUND TË JETË NJË PËRGJIGJE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Dhjetë instanca, por vetëm tri struktura</a:t>
            </a:r>
            <a:endParaRPr lang="en-US" sz="2700" dirty="0"/>
          </a:p>
        </p:txBody>
      </p:sp>
      <p:sp>
        <p:nvSpPr>
          <p:cNvPr id="4" name="Shape 2"/>
          <p:cNvSpPr/>
          <p:nvPr/>
        </p:nvSpPr>
        <p:spPr>
          <a:xfrm>
            <a:off x="960120" y="2377440"/>
            <a:ext cx="0" cy="384048"/>
          </a:xfrm>
          <a:prstGeom prst="line">
            <a:avLst/>
          </a:prstGeom>
          <a:noFill/>
          <a:ln w="12700">
            <a:solidFill>
              <a:srgbClr val="647187"/>
            </a:solidFill>
            <a:prstDash val="solid"/>
          </a:ln>
        </p:spPr>
      </p:sp>
      <p:sp>
        <p:nvSpPr>
          <p:cNvPr id="5" name="Shape 3"/>
          <p:cNvSpPr/>
          <p:nvPr/>
        </p:nvSpPr>
        <p:spPr>
          <a:xfrm>
            <a:off x="1271016" y="2377440"/>
            <a:ext cx="310896" cy="0"/>
          </a:xfrm>
          <a:prstGeom prst="line">
            <a:avLst/>
          </a:prstGeom>
          <a:noFill/>
          <a:ln w="12700">
            <a:solidFill>
              <a:srgbClr val="647187"/>
            </a:solidFill>
            <a:prstDash val="solid"/>
          </a:ln>
        </p:spPr>
      </p:sp>
      <p:sp>
        <p:nvSpPr>
          <p:cNvPr id="6" name="Shape 4"/>
          <p:cNvSpPr/>
          <p:nvPr/>
        </p:nvSpPr>
        <p:spPr>
          <a:xfrm>
            <a:off x="1271016" y="2377440"/>
            <a:ext cx="0" cy="384048"/>
          </a:xfrm>
          <a:prstGeom prst="line">
            <a:avLst/>
          </a:prstGeom>
          <a:noFill/>
          <a:ln w="12700">
            <a:solidFill>
              <a:srgbClr val="647187"/>
            </a:solidFill>
            <a:prstDash val="solid"/>
          </a:ln>
        </p:spPr>
      </p:sp>
      <p:sp>
        <p:nvSpPr>
          <p:cNvPr id="7" name="Shape 5"/>
          <p:cNvSpPr/>
          <p:nvPr/>
        </p:nvSpPr>
        <p:spPr>
          <a:xfrm>
            <a:off x="1581912" y="2377440"/>
            <a:ext cx="310896" cy="0"/>
          </a:xfrm>
          <a:prstGeom prst="line">
            <a:avLst/>
          </a:prstGeom>
          <a:noFill/>
          <a:ln w="12700">
            <a:solidFill>
              <a:srgbClr val="647187"/>
            </a:solidFill>
            <a:prstDash val="solid"/>
          </a:ln>
        </p:spPr>
      </p:sp>
      <p:sp>
        <p:nvSpPr>
          <p:cNvPr id="8" name="Shape 6"/>
          <p:cNvSpPr/>
          <p:nvPr/>
        </p:nvSpPr>
        <p:spPr>
          <a:xfrm>
            <a:off x="1581912" y="2377440"/>
            <a:ext cx="0" cy="384048"/>
          </a:xfrm>
          <a:prstGeom prst="line">
            <a:avLst/>
          </a:prstGeom>
          <a:noFill/>
          <a:ln w="12700">
            <a:solidFill>
              <a:srgbClr val="647187"/>
            </a:solidFill>
            <a:prstDash val="solid"/>
          </a:ln>
        </p:spPr>
      </p:sp>
      <p:sp>
        <p:nvSpPr>
          <p:cNvPr id="9" name="Shape 7"/>
          <p:cNvSpPr/>
          <p:nvPr/>
        </p:nvSpPr>
        <p:spPr>
          <a:xfrm>
            <a:off x="1892808" y="2377440"/>
            <a:ext cx="310896" cy="0"/>
          </a:xfrm>
          <a:prstGeom prst="line">
            <a:avLst/>
          </a:prstGeom>
          <a:noFill/>
          <a:ln w="12700">
            <a:solidFill>
              <a:srgbClr val="647187"/>
            </a:solidFill>
            <a:prstDash val="solid"/>
          </a:ln>
        </p:spPr>
      </p:sp>
      <p:sp>
        <p:nvSpPr>
          <p:cNvPr id="10" name="Shape 8"/>
          <p:cNvSpPr/>
          <p:nvPr/>
        </p:nvSpPr>
        <p:spPr>
          <a:xfrm>
            <a:off x="1892808" y="2377440"/>
            <a:ext cx="0" cy="384048"/>
          </a:xfrm>
          <a:prstGeom prst="line">
            <a:avLst/>
          </a:prstGeom>
          <a:noFill/>
          <a:ln w="12700">
            <a:solidFill>
              <a:srgbClr val="647187"/>
            </a:solidFill>
            <a:prstDash val="solid"/>
          </a:ln>
        </p:spPr>
      </p:sp>
      <p:sp>
        <p:nvSpPr>
          <p:cNvPr id="11" name="Shape 9"/>
          <p:cNvSpPr/>
          <p:nvPr/>
        </p:nvSpPr>
        <p:spPr>
          <a:xfrm>
            <a:off x="2203704" y="2377440"/>
            <a:ext cx="310896" cy="0"/>
          </a:xfrm>
          <a:prstGeom prst="line">
            <a:avLst/>
          </a:prstGeom>
          <a:noFill/>
          <a:ln w="12700">
            <a:solidFill>
              <a:srgbClr val="647187"/>
            </a:solidFill>
            <a:prstDash val="solid"/>
          </a:ln>
        </p:spPr>
      </p:sp>
      <p:sp>
        <p:nvSpPr>
          <p:cNvPr id="12" name="Shape 10"/>
          <p:cNvSpPr/>
          <p:nvPr/>
        </p:nvSpPr>
        <p:spPr>
          <a:xfrm>
            <a:off x="2203704" y="2377440"/>
            <a:ext cx="0" cy="384048"/>
          </a:xfrm>
          <a:prstGeom prst="line">
            <a:avLst/>
          </a:prstGeom>
          <a:noFill/>
          <a:ln w="12700">
            <a:solidFill>
              <a:srgbClr val="647187"/>
            </a:solidFill>
            <a:prstDash val="solid"/>
          </a:ln>
        </p:spPr>
      </p:sp>
      <p:sp>
        <p:nvSpPr>
          <p:cNvPr id="13" name="Shape 11"/>
          <p:cNvSpPr/>
          <p:nvPr/>
        </p:nvSpPr>
        <p:spPr>
          <a:xfrm>
            <a:off x="2514600" y="2377440"/>
            <a:ext cx="310896" cy="0"/>
          </a:xfrm>
          <a:prstGeom prst="line">
            <a:avLst/>
          </a:prstGeom>
          <a:noFill/>
          <a:ln w="12700">
            <a:solidFill>
              <a:srgbClr val="647187"/>
            </a:solidFill>
            <a:prstDash val="solid"/>
          </a:ln>
        </p:spPr>
      </p:sp>
      <p:sp>
        <p:nvSpPr>
          <p:cNvPr id="14" name="Shape 12"/>
          <p:cNvSpPr/>
          <p:nvPr/>
        </p:nvSpPr>
        <p:spPr>
          <a:xfrm>
            <a:off x="2514600" y="2377440"/>
            <a:ext cx="0" cy="384048"/>
          </a:xfrm>
          <a:prstGeom prst="line">
            <a:avLst/>
          </a:prstGeom>
          <a:noFill/>
          <a:ln w="12700">
            <a:solidFill>
              <a:srgbClr val="647187"/>
            </a:solidFill>
            <a:prstDash val="solid"/>
          </a:ln>
        </p:spPr>
      </p:sp>
      <p:sp>
        <p:nvSpPr>
          <p:cNvPr id="15" name="Shape 13"/>
          <p:cNvSpPr/>
          <p:nvPr/>
        </p:nvSpPr>
        <p:spPr>
          <a:xfrm>
            <a:off x="2825496" y="2377440"/>
            <a:ext cx="310896" cy="0"/>
          </a:xfrm>
          <a:prstGeom prst="line">
            <a:avLst/>
          </a:prstGeom>
          <a:noFill/>
          <a:ln w="12700">
            <a:solidFill>
              <a:srgbClr val="647187"/>
            </a:solidFill>
            <a:prstDash val="solid"/>
          </a:ln>
        </p:spPr>
      </p:sp>
      <p:sp>
        <p:nvSpPr>
          <p:cNvPr id="16" name="Shape 14"/>
          <p:cNvSpPr/>
          <p:nvPr/>
        </p:nvSpPr>
        <p:spPr>
          <a:xfrm>
            <a:off x="2825496" y="2377440"/>
            <a:ext cx="0" cy="384048"/>
          </a:xfrm>
          <a:prstGeom prst="line">
            <a:avLst/>
          </a:prstGeom>
          <a:noFill/>
          <a:ln w="12700">
            <a:solidFill>
              <a:srgbClr val="647187"/>
            </a:solidFill>
            <a:prstDash val="solid"/>
          </a:ln>
        </p:spPr>
      </p:sp>
      <p:sp>
        <p:nvSpPr>
          <p:cNvPr id="17" name="Shape 15"/>
          <p:cNvSpPr/>
          <p:nvPr/>
        </p:nvSpPr>
        <p:spPr>
          <a:xfrm>
            <a:off x="3136392" y="2377440"/>
            <a:ext cx="310896" cy="0"/>
          </a:xfrm>
          <a:prstGeom prst="line">
            <a:avLst/>
          </a:prstGeom>
          <a:noFill/>
          <a:ln w="12700">
            <a:solidFill>
              <a:srgbClr val="647187"/>
            </a:solidFill>
            <a:prstDash val="solid"/>
          </a:ln>
        </p:spPr>
      </p:sp>
      <p:sp>
        <p:nvSpPr>
          <p:cNvPr id="18" name="Shape 16"/>
          <p:cNvSpPr/>
          <p:nvPr/>
        </p:nvSpPr>
        <p:spPr>
          <a:xfrm>
            <a:off x="3136392" y="2377440"/>
            <a:ext cx="0" cy="384048"/>
          </a:xfrm>
          <a:prstGeom prst="line">
            <a:avLst/>
          </a:prstGeom>
          <a:noFill/>
          <a:ln w="12700">
            <a:solidFill>
              <a:srgbClr val="647187"/>
            </a:solidFill>
            <a:prstDash val="solid"/>
          </a:ln>
        </p:spPr>
      </p:sp>
      <p:sp>
        <p:nvSpPr>
          <p:cNvPr id="19" name="Shape 17"/>
          <p:cNvSpPr/>
          <p:nvPr/>
        </p:nvSpPr>
        <p:spPr>
          <a:xfrm>
            <a:off x="960120" y="2761488"/>
            <a:ext cx="310896" cy="0"/>
          </a:xfrm>
          <a:prstGeom prst="line">
            <a:avLst/>
          </a:prstGeom>
          <a:noFill/>
          <a:ln w="12700">
            <a:solidFill>
              <a:srgbClr val="647187"/>
            </a:solidFill>
            <a:prstDash val="solid"/>
          </a:ln>
        </p:spPr>
      </p:sp>
      <p:sp>
        <p:nvSpPr>
          <p:cNvPr id="20" name="Shape 18"/>
          <p:cNvSpPr/>
          <p:nvPr/>
        </p:nvSpPr>
        <p:spPr>
          <a:xfrm>
            <a:off x="960120" y="2761488"/>
            <a:ext cx="0" cy="384048"/>
          </a:xfrm>
          <a:prstGeom prst="line">
            <a:avLst/>
          </a:prstGeom>
          <a:noFill/>
          <a:ln w="12700">
            <a:solidFill>
              <a:srgbClr val="647187"/>
            </a:solidFill>
            <a:prstDash val="solid"/>
          </a:ln>
        </p:spPr>
      </p:sp>
      <p:sp>
        <p:nvSpPr>
          <p:cNvPr id="21" name="Shape 19"/>
          <p:cNvSpPr/>
          <p:nvPr/>
        </p:nvSpPr>
        <p:spPr>
          <a:xfrm>
            <a:off x="1271016" y="2761488"/>
            <a:ext cx="310896" cy="0"/>
          </a:xfrm>
          <a:prstGeom prst="line">
            <a:avLst/>
          </a:prstGeom>
          <a:noFill/>
          <a:ln w="12700">
            <a:solidFill>
              <a:srgbClr val="647187"/>
            </a:solidFill>
            <a:prstDash val="solid"/>
          </a:ln>
        </p:spPr>
      </p:sp>
      <p:sp>
        <p:nvSpPr>
          <p:cNvPr id="22" name="Shape 20"/>
          <p:cNvSpPr/>
          <p:nvPr/>
        </p:nvSpPr>
        <p:spPr>
          <a:xfrm>
            <a:off x="1271016" y="2761488"/>
            <a:ext cx="0" cy="384048"/>
          </a:xfrm>
          <a:prstGeom prst="line">
            <a:avLst/>
          </a:prstGeom>
          <a:noFill/>
          <a:ln w="12700">
            <a:solidFill>
              <a:srgbClr val="647187"/>
            </a:solidFill>
            <a:prstDash val="solid"/>
          </a:ln>
        </p:spPr>
      </p:sp>
      <p:sp>
        <p:nvSpPr>
          <p:cNvPr id="23" name="Shape 21"/>
          <p:cNvSpPr/>
          <p:nvPr/>
        </p:nvSpPr>
        <p:spPr>
          <a:xfrm>
            <a:off x="1581912" y="2761488"/>
            <a:ext cx="310896" cy="0"/>
          </a:xfrm>
          <a:prstGeom prst="line">
            <a:avLst/>
          </a:prstGeom>
          <a:noFill/>
          <a:ln w="12700">
            <a:solidFill>
              <a:srgbClr val="647187"/>
            </a:solidFill>
            <a:prstDash val="solid"/>
          </a:ln>
        </p:spPr>
      </p:sp>
      <p:sp>
        <p:nvSpPr>
          <p:cNvPr id="24" name="Shape 22"/>
          <p:cNvSpPr/>
          <p:nvPr/>
        </p:nvSpPr>
        <p:spPr>
          <a:xfrm>
            <a:off x="1581912" y="2761488"/>
            <a:ext cx="0" cy="384048"/>
          </a:xfrm>
          <a:prstGeom prst="line">
            <a:avLst/>
          </a:prstGeom>
          <a:noFill/>
          <a:ln w="12700">
            <a:solidFill>
              <a:srgbClr val="647187"/>
            </a:solidFill>
            <a:prstDash val="solid"/>
          </a:ln>
        </p:spPr>
      </p:sp>
      <p:sp>
        <p:nvSpPr>
          <p:cNvPr id="25" name="Shape 23"/>
          <p:cNvSpPr/>
          <p:nvPr/>
        </p:nvSpPr>
        <p:spPr>
          <a:xfrm>
            <a:off x="1892808" y="2761488"/>
            <a:ext cx="310896" cy="0"/>
          </a:xfrm>
          <a:prstGeom prst="line">
            <a:avLst/>
          </a:prstGeom>
          <a:noFill/>
          <a:ln w="12700">
            <a:solidFill>
              <a:srgbClr val="647187"/>
            </a:solidFill>
            <a:prstDash val="solid"/>
          </a:ln>
        </p:spPr>
      </p:sp>
      <p:sp>
        <p:nvSpPr>
          <p:cNvPr id="26" name="Shape 24"/>
          <p:cNvSpPr/>
          <p:nvPr/>
        </p:nvSpPr>
        <p:spPr>
          <a:xfrm>
            <a:off x="1892808" y="2761488"/>
            <a:ext cx="0" cy="384048"/>
          </a:xfrm>
          <a:prstGeom prst="line">
            <a:avLst/>
          </a:prstGeom>
          <a:noFill/>
          <a:ln w="12700">
            <a:solidFill>
              <a:srgbClr val="647187"/>
            </a:solidFill>
            <a:prstDash val="solid"/>
          </a:ln>
        </p:spPr>
      </p:sp>
      <p:sp>
        <p:nvSpPr>
          <p:cNvPr id="27" name="Shape 25"/>
          <p:cNvSpPr/>
          <p:nvPr/>
        </p:nvSpPr>
        <p:spPr>
          <a:xfrm>
            <a:off x="2203704" y="2761488"/>
            <a:ext cx="310896" cy="0"/>
          </a:xfrm>
          <a:prstGeom prst="line">
            <a:avLst/>
          </a:prstGeom>
          <a:noFill/>
          <a:ln w="12700">
            <a:solidFill>
              <a:srgbClr val="647187"/>
            </a:solidFill>
            <a:prstDash val="solid"/>
          </a:ln>
        </p:spPr>
      </p:sp>
      <p:sp>
        <p:nvSpPr>
          <p:cNvPr id="28" name="Shape 26"/>
          <p:cNvSpPr/>
          <p:nvPr/>
        </p:nvSpPr>
        <p:spPr>
          <a:xfrm>
            <a:off x="2203704" y="2761488"/>
            <a:ext cx="0" cy="384048"/>
          </a:xfrm>
          <a:prstGeom prst="line">
            <a:avLst/>
          </a:prstGeom>
          <a:noFill/>
          <a:ln w="12700">
            <a:solidFill>
              <a:srgbClr val="647187"/>
            </a:solidFill>
            <a:prstDash val="solid"/>
          </a:ln>
        </p:spPr>
      </p:sp>
      <p:sp>
        <p:nvSpPr>
          <p:cNvPr id="29" name="Shape 27"/>
          <p:cNvSpPr/>
          <p:nvPr/>
        </p:nvSpPr>
        <p:spPr>
          <a:xfrm>
            <a:off x="2514600" y="2761488"/>
            <a:ext cx="310896" cy="0"/>
          </a:xfrm>
          <a:prstGeom prst="line">
            <a:avLst/>
          </a:prstGeom>
          <a:noFill/>
          <a:ln w="12700">
            <a:solidFill>
              <a:srgbClr val="647187"/>
            </a:solidFill>
            <a:prstDash val="solid"/>
          </a:ln>
        </p:spPr>
      </p:sp>
      <p:sp>
        <p:nvSpPr>
          <p:cNvPr id="30" name="Shape 28"/>
          <p:cNvSpPr/>
          <p:nvPr/>
        </p:nvSpPr>
        <p:spPr>
          <a:xfrm>
            <a:off x="2514600" y="2761488"/>
            <a:ext cx="0" cy="384048"/>
          </a:xfrm>
          <a:prstGeom prst="line">
            <a:avLst/>
          </a:prstGeom>
          <a:noFill/>
          <a:ln w="12700">
            <a:solidFill>
              <a:srgbClr val="647187"/>
            </a:solidFill>
            <a:prstDash val="solid"/>
          </a:ln>
        </p:spPr>
      </p:sp>
      <p:sp>
        <p:nvSpPr>
          <p:cNvPr id="31" name="Shape 29"/>
          <p:cNvSpPr/>
          <p:nvPr/>
        </p:nvSpPr>
        <p:spPr>
          <a:xfrm>
            <a:off x="2825496" y="2761488"/>
            <a:ext cx="310896" cy="0"/>
          </a:xfrm>
          <a:prstGeom prst="line">
            <a:avLst/>
          </a:prstGeom>
          <a:noFill/>
          <a:ln w="12700">
            <a:solidFill>
              <a:srgbClr val="647187"/>
            </a:solidFill>
            <a:prstDash val="solid"/>
          </a:ln>
        </p:spPr>
      </p:sp>
      <p:sp>
        <p:nvSpPr>
          <p:cNvPr id="32" name="Shape 30"/>
          <p:cNvSpPr/>
          <p:nvPr/>
        </p:nvSpPr>
        <p:spPr>
          <a:xfrm>
            <a:off x="3136392" y="2761488"/>
            <a:ext cx="310896" cy="0"/>
          </a:xfrm>
          <a:prstGeom prst="line">
            <a:avLst/>
          </a:prstGeom>
          <a:noFill/>
          <a:ln w="12700">
            <a:solidFill>
              <a:srgbClr val="647187"/>
            </a:solidFill>
            <a:prstDash val="solid"/>
          </a:ln>
        </p:spPr>
      </p:sp>
      <p:sp>
        <p:nvSpPr>
          <p:cNvPr id="33" name="Shape 31"/>
          <p:cNvSpPr/>
          <p:nvPr/>
        </p:nvSpPr>
        <p:spPr>
          <a:xfrm>
            <a:off x="3136392" y="2761488"/>
            <a:ext cx="0" cy="384048"/>
          </a:xfrm>
          <a:prstGeom prst="line">
            <a:avLst/>
          </a:prstGeom>
          <a:noFill/>
          <a:ln w="12700">
            <a:solidFill>
              <a:srgbClr val="647187"/>
            </a:solidFill>
            <a:prstDash val="solid"/>
          </a:ln>
        </p:spPr>
      </p:sp>
      <p:sp>
        <p:nvSpPr>
          <p:cNvPr id="34" name="Shape 32"/>
          <p:cNvSpPr/>
          <p:nvPr/>
        </p:nvSpPr>
        <p:spPr>
          <a:xfrm>
            <a:off x="3447288" y="2761488"/>
            <a:ext cx="0" cy="384048"/>
          </a:xfrm>
          <a:prstGeom prst="line">
            <a:avLst/>
          </a:prstGeom>
          <a:noFill/>
          <a:ln w="12700">
            <a:solidFill>
              <a:srgbClr val="647187"/>
            </a:solidFill>
            <a:prstDash val="solid"/>
          </a:ln>
        </p:spPr>
      </p:sp>
      <p:sp>
        <p:nvSpPr>
          <p:cNvPr id="35" name="Shape 33"/>
          <p:cNvSpPr/>
          <p:nvPr/>
        </p:nvSpPr>
        <p:spPr>
          <a:xfrm>
            <a:off x="960120" y="3145536"/>
            <a:ext cx="310896" cy="0"/>
          </a:xfrm>
          <a:prstGeom prst="line">
            <a:avLst/>
          </a:prstGeom>
          <a:noFill/>
          <a:ln w="12700">
            <a:solidFill>
              <a:srgbClr val="647187"/>
            </a:solidFill>
            <a:prstDash val="solid"/>
          </a:ln>
        </p:spPr>
      </p:sp>
      <p:sp>
        <p:nvSpPr>
          <p:cNvPr id="36" name="Shape 34"/>
          <p:cNvSpPr/>
          <p:nvPr/>
        </p:nvSpPr>
        <p:spPr>
          <a:xfrm>
            <a:off x="1271016" y="3145536"/>
            <a:ext cx="310896" cy="0"/>
          </a:xfrm>
          <a:prstGeom prst="line">
            <a:avLst/>
          </a:prstGeom>
          <a:noFill/>
          <a:ln w="12700">
            <a:solidFill>
              <a:srgbClr val="647187"/>
            </a:solidFill>
            <a:prstDash val="solid"/>
          </a:ln>
        </p:spPr>
      </p:sp>
      <p:sp>
        <p:nvSpPr>
          <p:cNvPr id="37" name="Shape 35"/>
          <p:cNvSpPr/>
          <p:nvPr/>
        </p:nvSpPr>
        <p:spPr>
          <a:xfrm>
            <a:off x="1581912" y="3145536"/>
            <a:ext cx="310896" cy="0"/>
          </a:xfrm>
          <a:prstGeom prst="line">
            <a:avLst/>
          </a:prstGeom>
          <a:noFill/>
          <a:ln w="12700">
            <a:solidFill>
              <a:srgbClr val="647187"/>
            </a:solidFill>
            <a:prstDash val="solid"/>
          </a:ln>
        </p:spPr>
      </p:sp>
      <p:sp>
        <p:nvSpPr>
          <p:cNvPr id="38" name="Shape 36"/>
          <p:cNvSpPr/>
          <p:nvPr/>
        </p:nvSpPr>
        <p:spPr>
          <a:xfrm>
            <a:off x="1892808" y="3145536"/>
            <a:ext cx="310896" cy="0"/>
          </a:xfrm>
          <a:prstGeom prst="line">
            <a:avLst/>
          </a:prstGeom>
          <a:noFill/>
          <a:ln w="12700">
            <a:solidFill>
              <a:srgbClr val="647187"/>
            </a:solidFill>
            <a:prstDash val="solid"/>
          </a:ln>
        </p:spPr>
      </p:sp>
      <p:sp>
        <p:nvSpPr>
          <p:cNvPr id="39" name="Shape 37"/>
          <p:cNvSpPr/>
          <p:nvPr/>
        </p:nvSpPr>
        <p:spPr>
          <a:xfrm>
            <a:off x="2203704" y="3145536"/>
            <a:ext cx="310896" cy="0"/>
          </a:xfrm>
          <a:prstGeom prst="line">
            <a:avLst/>
          </a:prstGeom>
          <a:noFill/>
          <a:ln w="12700">
            <a:solidFill>
              <a:srgbClr val="647187"/>
            </a:solidFill>
            <a:prstDash val="solid"/>
          </a:ln>
        </p:spPr>
      </p:sp>
      <p:sp>
        <p:nvSpPr>
          <p:cNvPr id="40" name="Shape 38"/>
          <p:cNvSpPr/>
          <p:nvPr/>
        </p:nvSpPr>
        <p:spPr>
          <a:xfrm>
            <a:off x="2514600" y="3145536"/>
            <a:ext cx="310896" cy="0"/>
          </a:xfrm>
          <a:prstGeom prst="line">
            <a:avLst/>
          </a:prstGeom>
          <a:noFill/>
          <a:ln w="12700">
            <a:solidFill>
              <a:srgbClr val="647187"/>
            </a:solidFill>
            <a:prstDash val="solid"/>
          </a:ln>
        </p:spPr>
      </p:sp>
      <p:sp>
        <p:nvSpPr>
          <p:cNvPr id="41" name="Shape 39"/>
          <p:cNvSpPr/>
          <p:nvPr/>
        </p:nvSpPr>
        <p:spPr>
          <a:xfrm>
            <a:off x="2825496" y="3145536"/>
            <a:ext cx="310896" cy="0"/>
          </a:xfrm>
          <a:prstGeom prst="line">
            <a:avLst/>
          </a:prstGeom>
          <a:noFill/>
          <a:ln w="12700">
            <a:solidFill>
              <a:srgbClr val="647187"/>
            </a:solidFill>
            <a:prstDash val="solid"/>
          </a:ln>
        </p:spPr>
      </p:sp>
      <p:sp>
        <p:nvSpPr>
          <p:cNvPr id="42" name="Shape 40"/>
          <p:cNvSpPr/>
          <p:nvPr/>
        </p:nvSpPr>
        <p:spPr>
          <a:xfrm>
            <a:off x="1271016" y="2084832"/>
            <a:ext cx="0" cy="292608"/>
          </a:xfrm>
          <a:prstGeom prst="line">
            <a:avLst/>
          </a:prstGeom>
          <a:noFill/>
          <a:ln w="12700">
            <a:solidFill>
              <a:srgbClr val="647187"/>
            </a:solidFill>
            <a:prstDash val="solid"/>
          </a:ln>
        </p:spPr>
      </p:sp>
      <p:sp>
        <p:nvSpPr>
          <p:cNvPr id="43" name="Shape 41"/>
          <p:cNvSpPr/>
          <p:nvPr/>
        </p:nvSpPr>
        <p:spPr>
          <a:xfrm>
            <a:off x="1229868" y="2043684"/>
            <a:ext cx="82296" cy="82296"/>
          </a:xfrm>
          <a:prstGeom prst="ellipse">
            <a:avLst/>
          </a:prstGeom>
          <a:solidFill>
            <a:srgbClr val="9AA6B6"/>
          </a:solidFill>
          <a:ln/>
        </p:spPr>
      </p:sp>
      <p:sp>
        <p:nvSpPr>
          <p:cNvPr id="44" name="Shape 42"/>
          <p:cNvSpPr/>
          <p:nvPr/>
        </p:nvSpPr>
        <p:spPr>
          <a:xfrm>
            <a:off x="2203704" y="2084832"/>
            <a:ext cx="0" cy="292608"/>
          </a:xfrm>
          <a:prstGeom prst="line">
            <a:avLst/>
          </a:prstGeom>
          <a:noFill/>
          <a:ln w="12700">
            <a:solidFill>
              <a:srgbClr val="647187"/>
            </a:solidFill>
            <a:prstDash val="solid"/>
          </a:ln>
        </p:spPr>
      </p:sp>
      <p:sp>
        <p:nvSpPr>
          <p:cNvPr id="45" name="Shape 43"/>
          <p:cNvSpPr/>
          <p:nvPr/>
        </p:nvSpPr>
        <p:spPr>
          <a:xfrm>
            <a:off x="2162556" y="2043684"/>
            <a:ext cx="82296" cy="82296"/>
          </a:xfrm>
          <a:prstGeom prst="ellipse">
            <a:avLst/>
          </a:prstGeom>
          <a:solidFill>
            <a:srgbClr val="9AA6B6"/>
          </a:solidFill>
          <a:ln/>
        </p:spPr>
      </p:sp>
      <p:sp>
        <p:nvSpPr>
          <p:cNvPr id="46" name="Shape 44"/>
          <p:cNvSpPr/>
          <p:nvPr/>
        </p:nvSpPr>
        <p:spPr>
          <a:xfrm>
            <a:off x="3136392" y="2084832"/>
            <a:ext cx="0" cy="292608"/>
          </a:xfrm>
          <a:prstGeom prst="line">
            <a:avLst/>
          </a:prstGeom>
          <a:noFill/>
          <a:ln w="12700">
            <a:solidFill>
              <a:srgbClr val="647187"/>
            </a:solidFill>
            <a:prstDash val="solid"/>
          </a:ln>
        </p:spPr>
      </p:sp>
      <p:sp>
        <p:nvSpPr>
          <p:cNvPr id="47" name="Shape 45"/>
          <p:cNvSpPr/>
          <p:nvPr/>
        </p:nvSpPr>
        <p:spPr>
          <a:xfrm>
            <a:off x="3095244" y="2043684"/>
            <a:ext cx="82296" cy="82296"/>
          </a:xfrm>
          <a:prstGeom prst="ellipse">
            <a:avLst/>
          </a:prstGeom>
          <a:solidFill>
            <a:srgbClr val="9AA6B6"/>
          </a:solidFill>
          <a:ln/>
        </p:spPr>
      </p:sp>
      <p:sp>
        <p:nvSpPr>
          <p:cNvPr id="48" name="Shape 46"/>
          <p:cNvSpPr/>
          <p:nvPr/>
        </p:nvSpPr>
        <p:spPr>
          <a:xfrm>
            <a:off x="1581912" y="3145536"/>
            <a:ext cx="0" cy="292608"/>
          </a:xfrm>
          <a:prstGeom prst="line">
            <a:avLst/>
          </a:prstGeom>
          <a:noFill/>
          <a:ln w="12700">
            <a:solidFill>
              <a:srgbClr val="647187"/>
            </a:solidFill>
            <a:prstDash val="solid"/>
          </a:ln>
        </p:spPr>
      </p:sp>
      <p:sp>
        <p:nvSpPr>
          <p:cNvPr id="49" name="Shape 47"/>
          <p:cNvSpPr/>
          <p:nvPr/>
        </p:nvSpPr>
        <p:spPr>
          <a:xfrm>
            <a:off x="1540764" y="3396996"/>
            <a:ext cx="82296" cy="82296"/>
          </a:xfrm>
          <a:prstGeom prst="ellipse">
            <a:avLst/>
          </a:prstGeom>
          <a:solidFill>
            <a:srgbClr val="9AA6B6"/>
          </a:solidFill>
          <a:ln/>
        </p:spPr>
      </p:sp>
      <p:sp>
        <p:nvSpPr>
          <p:cNvPr id="50" name="Shape 48"/>
          <p:cNvSpPr/>
          <p:nvPr/>
        </p:nvSpPr>
        <p:spPr>
          <a:xfrm>
            <a:off x="2514600" y="3145536"/>
            <a:ext cx="0" cy="292608"/>
          </a:xfrm>
          <a:prstGeom prst="line">
            <a:avLst/>
          </a:prstGeom>
          <a:noFill/>
          <a:ln w="12700">
            <a:solidFill>
              <a:srgbClr val="647187"/>
            </a:solidFill>
            <a:prstDash val="solid"/>
          </a:ln>
        </p:spPr>
      </p:sp>
      <p:sp>
        <p:nvSpPr>
          <p:cNvPr id="51" name="Shape 49"/>
          <p:cNvSpPr/>
          <p:nvPr/>
        </p:nvSpPr>
        <p:spPr>
          <a:xfrm>
            <a:off x="2473452" y="3396996"/>
            <a:ext cx="82296" cy="82296"/>
          </a:xfrm>
          <a:prstGeom prst="ellipse">
            <a:avLst/>
          </a:prstGeom>
          <a:solidFill>
            <a:srgbClr val="9AA6B6"/>
          </a:solidFill>
          <a:ln/>
        </p:spPr>
      </p:sp>
      <p:sp>
        <p:nvSpPr>
          <p:cNvPr id="52" name="Shape 50"/>
          <p:cNvSpPr/>
          <p:nvPr/>
        </p:nvSpPr>
        <p:spPr>
          <a:xfrm>
            <a:off x="3447288" y="3145536"/>
            <a:ext cx="0" cy="292608"/>
          </a:xfrm>
          <a:prstGeom prst="line">
            <a:avLst/>
          </a:prstGeom>
          <a:noFill/>
          <a:ln w="12700">
            <a:solidFill>
              <a:srgbClr val="647187"/>
            </a:solidFill>
            <a:prstDash val="solid"/>
          </a:ln>
        </p:spPr>
      </p:sp>
      <p:sp>
        <p:nvSpPr>
          <p:cNvPr id="53" name="Shape 51"/>
          <p:cNvSpPr/>
          <p:nvPr/>
        </p:nvSpPr>
        <p:spPr>
          <a:xfrm>
            <a:off x="3406140" y="3396996"/>
            <a:ext cx="82296" cy="82296"/>
          </a:xfrm>
          <a:prstGeom prst="ellipse">
            <a:avLst/>
          </a:prstGeom>
          <a:solidFill>
            <a:srgbClr val="9AA6B6"/>
          </a:solidFill>
          <a:ln/>
        </p:spPr>
      </p:sp>
      <p:sp>
        <p:nvSpPr>
          <p:cNvPr id="54" name="Shape 52"/>
          <p:cNvSpPr/>
          <p:nvPr/>
        </p:nvSpPr>
        <p:spPr>
          <a:xfrm>
            <a:off x="704088" y="2761488"/>
            <a:ext cx="256032" cy="0"/>
          </a:xfrm>
          <a:prstGeom prst="line">
            <a:avLst/>
          </a:prstGeom>
          <a:noFill/>
          <a:ln w="12700">
            <a:solidFill>
              <a:srgbClr val="647187"/>
            </a:solidFill>
            <a:prstDash val="solid"/>
          </a:ln>
        </p:spPr>
      </p:sp>
      <p:sp>
        <p:nvSpPr>
          <p:cNvPr id="55" name="Shape 53"/>
          <p:cNvSpPr/>
          <p:nvPr/>
        </p:nvSpPr>
        <p:spPr>
          <a:xfrm>
            <a:off x="662940" y="2720340"/>
            <a:ext cx="82296" cy="82296"/>
          </a:xfrm>
          <a:prstGeom prst="ellipse">
            <a:avLst/>
          </a:prstGeom>
          <a:solidFill>
            <a:srgbClr val="9AA6B6"/>
          </a:solidFill>
          <a:ln/>
        </p:spPr>
      </p:sp>
      <p:sp>
        <p:nvSpPr>
          <p:cNvPr id="56" name="Shape 54"/>
          <p:cNvSpPr/>
          <p:nvPr/>
        </p:nvSpPr>
        <p:spPr>
          <a:xfrm>
            <a:off x="3447288" y="2761488"/>
            <a:ext cx="256032" cy="0"/>
          </a:xfrm>
          <a:prstGeom prst="line">
            <a:avLst/>
          </a:prstGeom>
          <a:noFill/>
          <a:ln w="12700">
            <a:solidFill>
              <a:srgbClr val="647187"/>
            </a:solidFill>
            <a:prstDash val="solid"/>
          </a:ln>
        </p:spPr>
      </p:sp>
      <p:sp>
        <p:nvSpPr>
          <p:cNvPr id="57" name="Shape 55"/>
          <p:cNvSpPr/>
          <p:nvPr/>
        </p:nvSpPr>
        <p:spPr>
          <a:xfrm>
            <a:off x="3662172" y="2720340"/>
            <a:ext cx="82296" cy="82296"/>
          </a:xfrm>
          <a:prstGeom prst="ellipse">
            <a:avLst/>
          </a:prstGeom>
          <a:solidFill>
            <a:srgbClr val="9AA6B6"/>
          </a:solidFill>
          <a:ln/>
        </p:spPr>
      </p:sp>
      <p:sp>
        <p:nvSpPr>
          <p:cNvPr id="58" name="Shape 56"/>
          <p:cNvSpPr/>
          <p:nvPr/>
        </p:nvSpPr>
        <p:spPr>
          <a:xfrm>
            <a:off x="914400" y="2331720"/>
            <a:ext cx="91440" cy="91440"/>
          </a:xfrm>
          <a:prstGeom prst="ellipse">
            <a:avLst/>
          </a:prstGeom>
          <a:solidFill>
            <a:srgbClr val="E8ECF2"/>
          </a:solidFill>
          <a:ln/>
        </p:spPr>
      </p:sp>
      <p:sp>
        <p:nvSpPr>
          <p:cNvPr id="59" name="Shape 57"/>
          <p:cNvSpPr/>
          <p:nvPr/>
        </p:nvSpPr>
        <p:spPr>
          <a:xfrm>
            <a:off x="1225296" y="2331720"/>
            <a:ext cx="91440" cy="91440"/>
          </a:xfrm>
          <a:prstGeom prst="ellipse">
            <a:avLst/>
          </a:prstGeom>
          <a:solidFill>
            <a:srgbClr val="E8ECF2"/>
          </a:solidFill>
          <a:ln/>
        </p:spPr>
      </p:sp>
      <p:sp>
        <p:nvSpPr>
          <p:cNvPr id="60" name="Shape 58"/>
          <p:cNvSpPr/>
          <p:nvPr/>
        </p:nvSpPr>
        <p:spPr>
          <a:xfrm>
            <a:off x="1536192" y="2331720"/>
            <a:ext cx="91440" cy="91440"/>
          </a:xfrm>
          <a:prstGeom prst="ellipse">
            <a:avLst/>
          </a:prstGeom>
          <a:solidFill>
            <a:srgbClr val="E8ECF2"/>
          </a:solidFill>
          <a:ln/>
        </p:spPr>
      </p:sp>
      <p:sp>
        <p:nvSpPr>
          <p:cNvPr id="61" name="Shape 59"/>
          <p:cNvSpPr/>
          <p:nvPr/>
        </p:nvSpPr>
        <p:spPr>
          <a:xfrm>
            <a:off x="1847088" y="2331720"/>
            <a:ext cx="91440" cy="91440"/>
          </a:xfrm>
          <a:prstGeom prst="ellipse">
            <a:avLst/>
          </a:prstGeom>
          <a:solidFill>
            <a:srgbClr val="E8ECF2"/>
          </a:solidFill>
          <a:ln/>
        </p:spPr>
      </p:sp>
      <p:sp>
        <p:nvSpPr>
          <p:cNvPr id="62" name="Shape 60"/>
          <p:cNvSpPr/>
          <p:nvPr/>
        </p:nvSpPr>
        <p:spPr>
          <a:xfrm>
            <a:off x="2157984" y="2331720"/>
            <a:ext cx="91440" cy="91440"/>
          </a:xfrm>
          <a:prstGeom prst="ellipse">
            <a:avLst/>
          </a:prstGeom>
          <a:solidFill>
            <a:srgbClr val="E8ECF2"/>
          </a:solidFill>
          <a:ln/>
        </p:spPr>
      </p:sp>
      <p:sp>
        <p:nvSpPr>
          <p:cNvPr id="63" name="Shape 61"/>
          <p:cNvSpPr/>
          <p:nvPr/>
        </p:nvSpPr>
        <p:spPr>
          <a:xfrm>
            <a:off x="2468880" y="2331720"/>
            <a:ext cx="91440" cy="91440"/>
          </a:xfrm>
          <a:prstGeom prst="ellipse">
            <a:avLst/>
          </a:prstGeom>
          <a:solidFill>
            <a:srgbClr val="E8ECF2"/>
          </a:solidFill>
          <a:ln/>
        </p:spPr>
      </p:sp>
      <p:sp>
        <p:nvSpPr>
          <p:cNvPr id="64" name="Shape 62"/>
          <p:cNvSpPr/>
          <p:nvPr/>
        </p:nvSpPr>
        <p:spPr>
          <a:xfrm>
            <a:off x="2779776" y="2331720"/>
            <a:ext cx="91440" cy="91440"/>
          </a:xfrm>
          <a:prstGeom prst="ellipse">
            <a:avLst/>
          </a:prstGeom>
          <a:solidFill>
            <a:srgbClr val="E8ECF2"/>
          </a:solidFill>
          <a:ln/>
        </p:spPr>
      </p:sp>
      <p:sp>
        <p:nvSpPr>
          <p:cNvPr id="65" name="Shape 63"/>
          <p:cNvSpPr/>
          <p:nvPr/>
        </p:nvSpPr>
        <p:spPr>
          <a:xfrm>
            <a:off x="3090672" y="2331720"/>
            <a:ext cx="91440" cy="91440"/>
          </a:xfrm>
          <a:prstGeom prst="ellipse">
            <a:avLst/>
          </a:prstGeom>
          <a:solidFill>
            <a:srgbClr val="E8ECF2"/>
          </a:solidFill>
          <a:ln/>
        </p:spPr>
      </p:sp>
      <p:sp>
        <p:nvSpPr>
          <p:cNvPr id="66" name="Shape 64"/>
          <p:cNvSpPr/>
          <p:nvPr/>
        </p:nvSpPr>
        <p:spPr>
          <a:xfrm>
            <a:off x="3401568" y="2331720"/>
            <a:ext cx="91440" cy="91440"/>
          </a:xfrm>
          <a:prstGeom prst="ellipse">
            <a:avLst/>
          </a:prstGeom>
          <a:solidFill>
            <a:srgbClr val="E8ECF2"/>
          </a:solidFill>
          <a:ln/>
        </p:spPr>
      </p:sp>
      <p:sp>
        <p:nvSpPr>
          <p:cNvPr id="67" name="Shape 65"/>
          <p:cNvSpPr/>
          <p:nvPr/>
        </p:nvSpPr>
        <p:spPr>
          <a:xfrm>
            <a:off x="914400" y="2715768"/>
            <a:ext cx="91440" cy="91440"/>
          </a:xfrm>
          <a:prstGeom prst="ellipse">
            <a:avLst/>
          </a:prstGeom>
          <a:solidFill>
            <a:srgbClr val="E8ECF2"/>
          </a:solidFill>
          <a:ln/>
        </p:spPr>
      </p:sp>
      <p:sp>
        <p:nvSpPr>
          <p:cNvPr id="68" name="Shape 66"/>
          <p:cNvSpPr/>
          <p:nvPr/>
        </p:nvSpPr>
        <p:spPr>
          <a:xfrm>
            <a:off x="1225296" y="2715768"/>
            <a:ext cx="91440" cy="91440"/>
          </a:xfrm>
          <a:prstGeom prst="ellipse">
            <a:avLst/>
          </a:prstGeom>
          <a:solidFill>
            <a:srgbClr val="E8ECF2"/>
          </a:solidFill>
          <a:ln/>
        </p:spPr>
      </p:sp>
      <p:sp>
        <p:nvSpPr>
          <p:cNvPr id="69" name="Shape 67"/>
          <p:cNvSpPr/>
          <p:nvPr/>
        </p:nvSpPr>
        <p:spPr>
          <a:xfrm>
            <a:off x="1536192" y="2715768"/>
            <a:ext cx="91440" cy="91440"/>
          </a:xfrm>
          <a:prstGeom prst="ellipse">
            <a:avLst/>
          </a:prstGeom>
          <a:solidFill>
            <a:srgbClr val="E8ECF2"/>
          </a:solidFill>
          <a:ln/>
        </p:spPr>
      </p:sp>
      <p:sp>
        <p:nvSpPr>
          <p:cNvPr id="70" name="Shape 68"/>
          <p:cNvSpPr/>
          <p:nvPr/>
        </p:nvSpPr>
        <p:spPr>
          <a:xfrm>
            <a:off x="1847088" y="2715768"/>
            <a:ext cx="91440" cy="91440"/>
          </a:xfrm>
          <a:prstGeom prst="ellipse">
            <a:avLst/>
          </a:prstGeom>
          <a:solidFill>
            <a:srgbClr val="E8ECF2"/>
          </a:solidFill>
          <a:ln/>
        </p:spPr>
      </p:sp>
      <p:sp>
        <p:nvSpPr>
          <p:cNvPr id="71" name="Shape 69"/>
          <p:cNvSpPr/>
          <p:nvPr/>
        </p:nvSpPr>
        <p:spPr>
          <a:xfrm>
            <a:off x="2157984" y="2715768"/>
            <a:ext cx="91440" cy="91440"/>
          </a:xfrm>
          <a:prstGeom prst="ellipse">
            <a:avLst/>
          </a:prstGeom>
          <a:solidFill>
            <a:srgbClr val="E8ECF2"/>
          </a:solidFill>
          <a:ln/>
        </p:spPr>
      </p:sp>
      <p:sp>
        <p:nvSpPr>
          <p:cNvPr id="72" name="Shape 70"/>
          <p:cNvSpPr/>
          <p:nvPr/>
        </p:nvSpPr>
        <p:spPr>
          <a:xfrm>
            <a:off x="2468880" y="2715768"/>
            <a:ext cx="91440" cy="91440"/>
          </a:xfrm>
          <a:prstGeom prst="ellipse">
            <a:avLst/>
          </a:prstGeom>
          <a:solidFill>
            <a:srgbClr val="E8ECF2"/>
          </a:solidFill>
          <a:ln/>
        </p:spPr>
      </p:sp>
      <p:sp>
        <p:nvSpPr>
          <p:cNvPr id="73" name="Shape 71"/>
          <p:cNvSpPr/>
          <p:nvPr/>
        </p:nvSpPr>
        <p:spPr>
          <a:xfrm>
            <a:off x="2779776" y="2715768"/>
            <a:ext cx="91440" cy="91440"/>
          </a:xfrm>
          <a:prstGeom prst="ellipse">
            <a:avLst/>
          </a:prstGeom>
          <a:solidFill>
            <a:srgbClr val="E8ECF2"/>
          </a:solidFill>
          <a:ln/>
        </p:spPr>
      </p:sp>
      <p:sp>
        <p:nvSpPr>
          <p:cNvPr id="74" name="Shape 72"/>
          <p:cNvSpPr/>
          <p:nvPr/>
        </p:nvSpPr>
        <p:spPr>
          <a:xfrm>
            <a:off x="3090672" y="2715768"/>
            <a:ext cx="91440" cy="91440"/>
          </a:xfrm>
          <a:prstGeom prst="ellipse">
            <a:avLst/>
          </a:prstGeom>
          <a:solidFill>
            <a:srgbClr val="E8ECF2"/>
          </a:solidFill>
          <a:ln/>
        </p:spPr>
      </p:sp>
      <p:sp>
        <p:nvSpPr>
          <p:cNvPr id="75" name="Shape 73"/>
          <p:cNvSpPr/>
          <p:nvPr/>
        </p:nvSpPr>
        <p:spPr>
          <a:xfrm>
            <a:off x="3401568" y="2715768"/>
            <a:ext cx="91440" cy="91440"/>
          </a:xfrm>
          <a:prstGeom prst="ellipse">
            <a:avLst/>
          </a:prstGeom>
          <a:solidFill>
            <a:srgbClr val="E8ECF2"/>
          </a:solidFill>
          <a:ln/>
        </p:spPr>
      </p:sp>
      <p:sp>
        <p:nvSpPr>
          <p:cNvPr id="76" name="Shape 74"/>
          <p:cNvSpPr/>
          <p:nvPr/>
        </p:nvSpPr>
        <p:spPr>
          <a:xfrm>
            <a:off x="914400" y="3099816"/>
            <a:ext cx="91440" cy="91440"/>
          </a:xfrm>
          <a:prstGeom prst="ellipse">
            <a:avLst/>
          </a:prstGeom>
          <a:solidFill>
            <a:srgbClr val="E8ECF2"/>
          </a:solidFill>
          <a:ln/>
        </p:spPr>
      </p:sp>
      <p:sp>
        <p:nvSpPr>
          <p:cNvPr id="77" name="Shape 75"/>
          <p:cNvSpPr/>
          <p:nvPr/>
        </p:nvSpPr>
        <p:spPr>
          <a:xfrm>
            <a:off x="1225296" y="3099816"/>
            <a:ext cx="91440" cy="91440"/>
          </a:xfrm>
          <a:prstGeom prst="ellipse">
            <a:avLst/>
          </a:prstGeom>
          <a:solidFill>
            <a:srgbClr val="E8ECF2"/>
          </a:solidFill>
          <a:ln/>
        </p:spPr>
      </p:sp>
      <p:sp>
        <p:nvSpPr>
          <p:cNvPr id="78" name="Shape 76"/>
          <p:cNvSpPr/>
          <p:nvPr/>
        </p:nvSpPr>
        <p:spPr>
          <a:xfrm>
            <a:off x="1536192" y="3099816"/>
            <a:ext cx="91440" cy="91440"/>
          </a:xfrm>
          <a:prstGeom prst="ellipse">
            <a:avLst/>
          </a:prstGeom>
          <a:solidFill>
            <a:srgbClr val="E8ECF2"/>
          </a:solidFill>
          <a:ln/>
        </p:spPr>
      </p:sp>
      <p:sp>
        <p:nvSpPr>
          <p:cNvPr id="79" name="Shape 77"/>
          <p:cNvSpPr/>
          <p:nvPr/>
        </p:nvSpPr>
        <p:spPr>
          <a:xfrm>
            <a:off x="1847088" y="3099816"/>
            <a:ext cx="91440" cy="91440"/>
          </a:xfrm>
          <a:prstGeom prst="ellipse">
            <a:avLst/>
          </a:prstGeom>
          <a:solidFill>
            <a:srgbClr val="E8ECF2"/>
          </a:solidFill>
          <a:ln/>
        </p:spPr>
      </p:sp>
      <p:sp>
        <p:nvSpPr>
          <p:cNvPr id="80" name="Shape 78"/>
          <p:cNvSpPr/>
          <p:nvPr/>
        </p:nvSpPr>
        <p:spPr>
          <a:xfrm>
            <a:off x="2157984" y="3099816"/>
            <a:ext cx="91440" cy="91440"/>
          </a:xfrm>
          <a:prstGeom prst="ellipse">
            <a:avLst/>
          </a:prstGeom>
          <a:solidFill>
            <a:srgbClr val="E8ECF2"/>
          </a:solidFill>
          <a:ln/>
        </p:spPr>
      </p:sp>
      <p:sp>
        <p:nvSpPr>
          <p:cNvPr id="81" name="Shape 79"/>
          <p:cNvSpPr/>
          <p:nvPr/>
        </p:nvSpPr>
        <p:spPr>
          <a:xfrm>
            <a:off x="2468880" y="3099816"/>
            <a:ext cx="91440" cy="91440"/>
          </a:xfrm>
          <a:prstGeom prst="ellipse">
            <a:avLst/>
          </a:prstGeom>
          <a:solidFill>
            <a:srgbClr val="E8ECF2"/>
          </a:solidFill>
          <a:ln/>
        </p:spPr>
      </p:sp>
      <p:sp>
        <p:nvSpPr>
          <p:cNvPr id="82" name="Shape 80"/>
          <p:cNvSpPr/>
          <p:nvPr/>
        </p:nvSpPr>
        <p:spPr>
          <a:xfrm>
            <a:off x="2779776" y="3099816"/>
            <a:ext cx="91440" cy="91440"/>
          </a:xfrm>
          <a:prstGeom prst="ellipse">
            <a:avLst/>
          </a:prstGeom>
          <a:solidFill>
            <a:srgbClr val="E8ECF2"/>
          </a:solidFill>
          <a:ln/>
        </p:spPr>
      </p:sp>
      <p:sp>
        <p:nvSpPr>
          <p:cNvPr id="83" name="Shape 81"/>
          <p:cNvSpPr/>
          <p:nvPr/>
        </p:nvSpPr>
        <p:spPr>
          <a:xfrm>
            <a:off x="3090672" y="3099816"/>
            <a:ext cx="91440" cy="91440"/>
          </a:xfrm>
          <a:prstGeom prst="ellipse">
            <a:avLst/>
          </a:prstGeom>
          <a:solidFill>
            <a:srgbClr val="E8ECF2"/>
          </a:solidFill>
          <a:ln/>
        </p:spPr>
      </p:sp>
      <p:sp>
        <p:nvSpPr>
          <p:cNvPr id="84" name="Shape 82"/>
          <p:cNvSpPr/>
          <p:nvPr/>
        </p:nvSpPr>
        <p:spPr>
          <a:xfrm>
            <a:off x="3401568" y="3099816"/>
            <a:ext cx="91440" cy="91440"/>
          </a:xfrm>
          <a:prstGeom prst="ellipse">
            <a:avLst/>
          </a:prstGeom>
          <a:solidFill>
            <a:srgbClr val="E8ECF2"/>
          </a:solidFill>
          <a:ln/>
        </p:spPr>
      </p:sp>
      <p:sp>
        <p:nvSpPr>
          <p:cNvPr id="85" name="Shape 83"/>
          <p:cNvSpPr/>
          <p:nvPr/>
        </p:nvSpPr>
        <p:spPr>
          <a:xfrm>
            <a:off x="5462500" y="2289320"/>
            <a:ext cx="1190801" cy="0"/>
          </a:xfrm>
          <a:prstGeom prst="line">
            <a:avLst/>
          </a:prstGeom>
          <a:noFill/>
          <a:ln w="11430">
            <a:solidFill>
              <a:srgbClr val="647187"/>
            </a:solidFill>
            <a:prstDash val="solid"/>
          </a:ln>
        </p:spPr>
      </p:sp>
      <p:sp>
        <p:nvSpPr>
          <p:cNvPr id="86" name="Shape 84"/>
          <p:cNvSpPr/>
          <p:nvPr/>
        </p:nvSpPr>
        <p:spPr>
          <a:xfrm flipV="1">
            <a:off x="5922934" y="3054752"/>
            <a:ext cx="865333" cy="499600"/>
          </a:xfrm>
          <a:prstGeom prst="line">
            <a:avLst/>
          </a:prstGeom>
          <a:noFill/>
          <a:ln w="11430">
            <a:solidFill>
              <a:srgbClr val="647187"/>
            </a:solidFill>
            <a:prstDash val="solid"/>
          </a:ln>
        </p:spPr>
      </p:sp>
      <p:sp>
        <p:nvSpPr>
          <p:cNvPr id="87" name="Shape 85"/>
          <p:cNvSpPr/>
          <p:nvPr/>
        </p:nvSpPr>
        <p:spPr>
          <a:xfrm>
            <a:off x="5922934" y="2023488"/>
            <a:ext cx="269933" cy="1530864"/>
          </a:xfrm>
          <a:prstGeom prst="line">
            <a:avLst/>
          </a:prstGeom>
          <a:noFill/>
          <a:ln w="11430">
            <a:solidFill>
              <a:srgbClr val="647187"/>
            </a:solidFill>
            <a:prstDash val="solid"/>
          </a:ln>
        </p:spPr>
      </p:sp>
      <p:sp>
        <p:nvSpPr>
          <p:cNvPr id="88" name="Shape 86"/>
          <p:cNvSpPr/>
          <p:nvPr/>
        </p:nvSpPr>
        <p:spPr>
          <a:xfrm flipV="1">
            <a:off x="5922934" y="3462030"/>
            <a:ext cx="523586" cy="92322"/>
          </a:xfrm>
          <a:prstGeom prst="line">
            <a:avLst/>
          </a:prstGeom>
          <a:noFill/>
          <a:ln w="11430">
            <a:solidFill>
              <a:srgbClr val="647187"/>
            </a:solidFill>
            <a:prstDash val="solid"/>
          </a:ln>
        </p:spPr>
      </p:sp>
      <p:sp>
        <p:nvSpPr>
          <p:cNvPr id="89" name="Shape 87"/>
          <p:cNvSpPr/>
          <p:nvPr/>
        </p:nvSpPr>
        <p:spPr>
          <a:xfrm flipV="1">
            <a:off x="5669280" y="2023488"/>
            <a:ext cx="523586" cy="1438542"/>
          </a:xfrm>
          <a:prstGeom prst="line">
            <a:avLst/>
          </a:prstGeom>
          <a:noFill/>
          <a:ln w="11430">
            <a:solidFill>
              <a:srgbClr val="647187"/>
            </a:solidFill>
            <a:prstDash val="solid"/>
          </a:ln>
        </p:spPr>
      </p:sp>
      <p:sp>
        <p:nvSpPr>
          <p:cNvPr id="90" name="Shape 88"/>
          <p:cNvSpPr/>
          <p:nvPr/>
        </p:nvSpPr>
        <p:spPr>
          <a:xfrm flipV="1">
            <a:off x="5462500" y="2115810"/>
            <a:ext cx="984020" cy="173509"/>
          </a:xfrm>
          <a:prstGeom prst="line">
            <a:avLst/>
          </a:prstGeom>
          <a:noFill/>
          <a:ln w="11430">
            <a:solidFill>
              <a:srgbClr val="647187"/>
            </a:solidFill>
            <a:prstDash val="solid"/>
          </a:ln>
        </p:spPr>
      </p:sp>
      <p:sp>
        <p:nvSpPr>
          <p:cNvPr id="91" name="Shape 89"/>
          <p:cNvSpPr/>
          <p:nvPr/>
        </p:nvSpPr>
        <p:spPr>
          <a:xfrm flipV="1">
            <a:off x="5280660" y="2523088"/>
            <a:ext cx="1507607" cy="265832"/>
          </a:xfrm>
          <a:prstGeom prst="line">
            <a:avLst/>
          </a:prstGeom>
          <a:noFill/>
          <a:ln w="11430">
            <a:solidFill>
              <a:srgbClr val="647187"/>
            </a:solidFill>
            <a:prstDash val="solid"/>
          </a:ln>
        </p:spPr>
      </p:sp>
      <p:sp>
        <p:nvSpPr>
          <p:cNvPr id="92" name="Shape 90"/>
          <p:cNvSpPr/>
          <p:nvPr/>
        </p:nvSpPr>
        <p:spPr>
          <a:xfrm>
            <a:off x="5327533" y="3054752"/>
            <a:ext cx="595400" cy="499600"/>
          </a:xfrm>
          <a:prstGeom prst="line">
            <a:avLst/>
          </a:prstGeom>
          <a:noFill/>
          <a:ln w="11430">
            <a:solidFill>
              <a:srgbClr val="647187"/>
            </a:solidFill>
            <a:prstDash val="solid"/>
          </a:ln>
        </p:spPr>
      </p:sp>
      <p:sp>
        <p:nvSpPr>
          <p:cNvPr id="93" name="Shape 91"/>
          <p:cNvSpPr/>
          <p:nvPr/>
        </p:nvSpPr>
        <p:spPr>
          <a:xfrm>
            <a:off x="5327533" y="2523088"/>
            <a:ext cx="0" cy="531663"/>
          </a:xfrm>
          <a:prstGeom prst="line">
            <a:avLst/>
          </a:prstGeom>
          <a:noFill/>
          <a:ln w="11430">
            <a:solidFill>
              <a:srgbClr val="647187"/>
            </a:solidFill>
            <a:prstDash val="solid"/>
          </a:ln>
        </p:spPr>
      </p:sp>
      <p:sp>
        <p:nvSpPr>
          <p:cNvPr id="94" name="Shape 92"/>
          <p:cNvSpPr/>
          <p:nvPr/>
        </p:nvSpPr>
        <p:spPr>
          <a:xfrm>
            <a:off x="6192866" y="2023488"/>
            <a:ext cx="0" cy="1530864"/>
          </a:xfrm>
          <a:prstGeom prst="line">
            <a:avLst/>
          </a:prstGeom>
          <a:noFill/>
          <a:ln w="11430">
            <a:solidFill>
              <a:srgbClr val="647187"/>
            </a:solidFill>
            <a:prstDash val="solid"/>
          </a:ln>
        </p:spPr>
      </p:sp>
      <p:sp>
        <p:nvSpPr>
          <p:cNvPr id="95" name="Shape 93"/>
          <p:cNvSpPr/>
          <p:nvPr/>
        </p:nvSpPr>
        <p:spPr>
          <a:xfrm>
            <a:off x="6192866" y="2023488"/>
            <a:ext cx="460434" cy="1265032"/>
          </a:xfrm>
          <a:prstGeom prst="line">
            <a:avLst/>
          </a:prstGeom>
          <a:noFill/>
          <a:ln w="11430">
            <a:solidFill>
              <a:srgbClr val="647187"/>
            </a:solidFill>
            <a:prstDash val="solid"/>
          </a:ln>
        </p:spPr>
      </p:sp>
      <p:sp>
        <p:nvSpPr>
          <p:cNvPr id="96" name="Shape 94"/>
          <p:cNvSpPr/>
          <p:nvPr/>
        </p:nvSpPr>
        <p:spPr>
          <a:xfrm flipV="1">
            <a:off x="5922934" y="2788920"/>
            <a:ext cx="912206" cy="765432"/>
          </a:xfrm>
          <a:prstGeom prst="line">
            <a:avLst/>
          </a:prstGeom>
          <a:noFill/>
          <a:ln w="11430">
            <a:solidFill>
              <a:srgbClr val="647187"/>
            </a:solidFill>
            <a:prstDash val="solid"/>
          </a:ln>
        </p:spPr>
      </p:sp>
      <p:sp>
        <p:nvSpPr>
          <p:cNvPr id="97" name="Shape 95"/>
          <p:cNvSpPr/>
          <p:nvPr/>
        </p:nvSpPr>
        <p:spPr>
          <a:xfrm>
            <a:off x="5280660" y="2788920"/>
            <a:ext cx="181840" cy="499600"/>
          </a:xfrm>
          <a:prstGeom prst="line">
            <a:avLst/>
          </a:prstGeom>
          <a:noFill/>
          <a:ln w="11430">
            <a:solidFill>
              <a:srgbClr val="647187"/>
            </a:solidFill>
            <a:prstDash val="solid"/>
          </a:ln>
        </p:spPr>
      </p:sp>
      <p:sp>
        <p:nvSpPr>
          <p:cNvPr id="98" name="Shape 96"/>
          <p:cNvSpPr/>
          <p:nvPr/>
        </p:nvSpPr>
        <p:spPr>
          <a:xfrm flipV="1">
            <a:off x="5327533" y="2289320"/>
            <a:ext cx="134966" cy="233769"/>
          </a:xfrm>
          <a:prstGeom prst="line">
            <a:avLst/>
          </a:prstGeom>
          <a:noFill/>
          <a:ln w="11430">
            <a:solidFill>
              <a:srgbClr val="647187"/>
            </a:solidFill>
            <a:prstDash val="solid"/>
          </a:ln>
        </p:spPr>
      </p:sp>
      <p:sp>
        <p:nvSpPr>
          <p:cNvPr id="99" name="Shape 97"/>
          <p:cNvSpPr/>
          <p:nvPr/>
        </p:nvSpPr>
        <p:spPr>
          <a:xfrm flipV="1">
            <a:off x="5669280" y="2023488"/>
            <a:ext cx="253654" cy="1438542"/>
          </a:xfrm>
          <a:prstGeom prst="line">
            <a:avLst/>
          </a:prstGeom>
          <a:noFill/>
          <a:ln w="11430">
            <a:solidFill>
              <a:srgbClr val="647187"/>
            </a:solidFill>
            <a:prstDash val="solid"/>
          </a:ln>
        </p:spPr>
      </p:sp>
      <p:sp>
        <p:nvSpPr>
          <p:cNvPr id="100" name="Shape 98"/>
          <p:cNvSpPr/>
          <p:nvPr/>
        </p:nvSpPr>
        <p:spPr>
          <a:xfrm>
            <a:off x="6446520" y="2115810"/>
            <a:ext cx="388620" cy="673110"/>
          </a:xfrm>
          <a:prstGeom prst="line">
            <a:avLst/>
          </a:prstGeom>
          <a:noFill/>
          <a:ln w="11430">
            <a:solidFill>
              <a:srgbClr val="647187"/>
            </a:solidFill>
            <a:prstDash val="solid"/>
          </a:ln>
        </p:spPr>
      </p:sp>
      <p:sp>
        <p:nvSpPr>
          <p:cNvPr id="101" name="Shape 99"/>
          <p:cNvSpPr/>
          <p:nvPr/>
        </p:nvSpPr>
        <p:spPr>
          <a:xfrm flipV="1">
            <a:off x="5462500" y="3054752"/>
            <a:ext cx="1325767" cy="233769"/>
          </a:xfrm>
          <a:prstGeom prst="line">
            <a:avLst/>
          </a:prstGeom>
          <a:noFill/>
          <a:ln w="11430">
            <a:solidFill>
              <a:srgbClr val="647187"/>
            </a:solidFill>
            <a:prstDash val="solid"/>
          </a:ln>
        </p:spPr>
      </p:sp>
      <p:sp>
        <p:nvSpPr>
          <p:cNvPr id="102" name="Shape 100"/>
          <p:cNvSpPr/>
          <p:nvPr/>
        </p:nvSpPr>
        <p:spPr>
          <a:xfrm>
            <a:off x="6446520" y="2115810"/>
            <a:ext cx="341747" cy="938941"/>
          </a:xfrm>
          <a:prstGeom prst="line">
            <a:avLst/>
          </a:prstGeom>
          <a:noFill/>
          <a:ln w="11430">
            <a:solidFill>
              <a:srgbClr val="647187"/>
            </a:solidFill>
            <a:prstDash val="solid"/>
          </a:ln>
        </p:spPr>
      </p:sp>
      <p:sp>
        <p:nvSpPr>
          <p:cNvPr id="103" name="Shape 101"/>
          <p:cNvSpPr/>
          <p:nvPr/>
        </p:nvSpPr>
        <p:spPr>
          <a:xfrm flipV="1">
            <a:off x="5462500" y="2023488"/>
            <a:ext cx="730367" cy="265832"/>
          </a:xfrm>
          <a:prstGeom prst="line">
            <a:avLst/>
          </a:prstGeom>
          <a:noFill/>
          <a:ln w="11430">
            <a:solidFill>
              <a:srgbClr val="647187"/>
            </a:solidFill>
            <a:prstDash val="solid"/>
          </a:ln>
        </p:spPr>
      </p:sp>
      <p:sp>
        <p:nvSpPr>
          <p:cNvPr id="104" name="Shape 102"/>
          <p:cNvSpPr/>
          <p:nvPr/>
        </p:nvSpPr>
        <p:spPr>
          <a:xfrm flipV="1">
            <a:off x="5669280" y="2115810"/>
            <a:ext cx="777240" cy="1346219"/>
          </a:xfrm>
          <a:prstGeom prst="line">
            <a:avLst/>
          </a:prstGeom>
          <a:noFill/>
          <a:ln w="11430">
            <a:solidFill>
              <a:srgbClr val="647187"/>
            </a:solidFill>
            <a:prstDash val="solid"/>
          </a:ln>
        </p:spPr>
      </p:sp>
      <p:sp>
        <p:nvSpPr>
          <p:cNvPr id="105" name="Shape 103"/>
          <p:cNvSpPr/>
          <p:nvPr/>
        </p:nvSpPr>
        <p:spPr>
          <a:xfrm>
            <a:off x="5922934" y="2023488"/>
            <a:ext cx="269933" cy="0"/>
          </a:xfrm>
          <a:prstGeom prst="line">
            <a:avLst/>
          </a:prstGeom>
          <a:noFill/>
          <a:ln w="11430">
            <a:solidFill>
              <a:srgbClr val="647187"/>
            </a:solidFill>
            <a:prstDash val="solid"/>
          </a:ln>
        </p:spPr>
      </p:sp>
      <p:sp>
        <p:nvSpPr>
          <p:cNvPr id="106" name="Shape 104"/>
          <p:cNvSpPr/>
          <p:nvPr/>
        </p:nvSpPr>
        <p:spPr>
          <a:xfrm flipV="1">
            <a:off x="5327533" y="2115810"/>
            <a:ext cx="341747" cy="407278"/>
          </a:xfrm>
          <a:prstGeom prst="line">
            <a:avLst/>
          </a:prstGeom>
          <a:noFill/>
          <a:ln w="11430">
            <a:solidFill>
              <a:srgbClr val="647187"/>
            </a:solidFill>
            <a:prstDash val="solid"/>
          </a:ln>
        </p:spPr>
      </p:sp>
      <p:sp>
        <p:nvSpPr>
          <p:cNvPr id="107" name="Shape 105"/>
          <p:cNvSpPr/>
          <p:nvPr/>
        </p:nvSpPr>
        <p:spPr>
          <a:xfrm flipV="1">
            <a:off x="5922934" y="2115810"/>
            <a:ext cx="523586" cy="1438542"/>
          </a:xfrm>
          <a:prstGeom prst="line">
            <a:avLst/>
          </a:prstGeom>
          <a:noFill/>
          <a:ln w="11430">
            <a:solidFill>
              <a:srgbClr val="647187"/>
            </a:solidFill>
            <a:prstDash val="solid"/>
          </a:ln>
        </p:spPr>
      </p:sp>
      <p:sp>
        <p:nvSpPr>
          <p:cNvPr id="108" name="Shape 106"/>
          <p:cNvSpPr/>
          <p:nvPr/>
        </p:nvSpPr>
        <p:spPr>
          <a:xfrm>
            <a:off x="5922934" y="2023488"/>
            <a:ext cx="269933" cy="0"/>
          </a:xfrm>
          <a:prstGeom prst="line">
            <a:avLst/>
          </a:prstGeom>
          <a:noFill/>
          <a:ln w="11430">
            <a:solidFill>
              <a:srgbClr val="647187"/>
            </a:solidFill>
            <a:prstDash val="solid"/>
          </a:ln>
        </p:spPr>
      </p:sp>
      <p:sp>
        <p:nvSpPr>
          <p:cNvPr id="109" name="Shape 107"/>
          <p:cNvSpPr/>
          <p:nvPr/>
        </p:nvSpPr>
        <p:spPr>
          <a:xfrm flipV="1">
            <a:off x="5327533" y="2289320"/>
            <a:ext cx="134966" cy="765432"/>
          </a:xfrm>
          <a:prstGeom prst="line">
            <a:avLst/>
          </a:prstGeom>
          <a:noFill/>
          <a:ln w="11430">
            <a:solidFill>
              <a:srgbClr val="647187"/>
            </a:solidFill>
            <a:prstDash val="solid"/>
          </a:ln>
        </p:spPr>
      </p:sp>
      <p:sp>
        <p:nvSpPr>
          <p:cNvPr id="110" name="Shape 108"/>
          <p:cNvSpPr/>
          <p:nvPr/>
        </p:nvSpPr>
        <p:spPr>
          <a:xfrm>
            <a:off x="5922934" y="2023488"/>
            <a:ext cx="0" cy="1530864"/>
          </a:xfrm>
          <a:prstGeom prst="line">
            <a:avLst/>
          </a:prstGeom>
          <a:noFill/>
          <a:ln w="11430">
            <a:solidFill>
              <a:srgbClr val="647187"/>
            </a:solidFill>
            <a:prstDash val="solid"/>
          </a:ln>
        </p:spPr>
      </p:sp>
      <p:sp>
        <p:nvSpPr>
          <p:cNvPr id="111" name="Shape 109"/>
          <p:cNvSpPr/>
          <p:nvPr/>
        </p:nvSpPr>
        <p:spPr>
          <a:xfrm>
            <a:off x="5280660" y="2788920"/>
            <a:ext cx="1165860" cy="673110"/>
          </a:xfrm>
          <a:prstGeom prst="line">
            <a:avLst/>
          </a:prstGeom>
          <a:noFill/>
          <a:ln w="11430">
            <a:solidFill>
              <a:srgbClr val="647187"/>
            </a:solidFill>
            <a:prstDash val="solid"/>
          </a:ln>
        </p:spPr>
      </p:sp>
      <p:sp>
        <p:nvSpPr>
          <p:cNvPr id="112" name="Shape 110"/>
          <p:cNvSpPr/>
          <p:nvPr/>
        </p:nvSpPr>
        <p:spPr>
          <a:xfrm>
            <a:off x="5669280" y="3462030"/>
            <a:ext cx="777240" cy="0"/>
          </a:xfrm>
          <a:prstGeom prst="line">
            <a:avLst/>
          </a:prstGeom>
          <a:noFill/>
          <a:ln w="11430">
            <a:solidFill>
              <a:srgbClr val="647187"/>
            </a:solidFill>
            <a:prstDash val="solid"/>
          </a:ln>
        </p:spPr>
      </p:sp>
      <p:sp>
        <p:nvSpPr>
          <p:cNvPr id="113" name="Shape 111"/>
          <p:cNvSpPr/>
          <p:nvPr/>
        </p:nvSpPr>
        <p:spPr>
          <a:xfrm flipV="1">
            <a:off x="5280660" y="2115810"/>
            <a:ext cx="1165860" cy="673110"/>
          </a:xfrm>
          <a:prstGeom prst="line">
            <a:avLst/>
          </a:prstGeom>
          <a:noFill/>
          <a:ln w="11430">
            <a:solidFill>
              <a:srgbClr val="647187"/>
            </a:solidFill>
            <a:prstDash val="solid"/>
          </a:ln>
        </p:spPr>
      </p:sp>
      <p:sp>
        <p:nvSpPr>
          <p:cNvPr id="114" name="Shape 112"/>
          <p:cNvSpPr/>
          <p:nvPr/>
        </p:nvSpPr>
        <p:spPr>
          <a:xfrm>
            <a:off x="5462500" y="3288520"/>
            <a:ext cx="984020" cy="173509"/>
          </a:xfrm>
          <a:prstGeom prst="line">
            <a:avLst/>
          </a:prstGeom>
          <a:noFill/>
          <a:ln w="11430">
            <a:solidFill>
              <a:srgbClr val="647187"/>
            </a:solidFill>
            <a:prstDash val="solid"/>
          </a:ln>
        </p:spPr>
      </p:sp>
      <p:sp>
        <p:nvSpPr>
          <p:cNvPr id="115" name="Shape 113"/>
          <p:cNvSpPr/>
          <p:nvPr/>
        </p:nvSpPr>
        <p:spPr>
          <a:xfrm>
            <a:off x="6653300" y="2289320"/>
            <a:ext cx="181840" cy="499600"/>
          </a:xfrm>
          <a:prstGeom prst="line">
            <a:avLst/>
          </a:prstGeom>
          <a:noFill/>
          <a:ln w="11430">
            <a:solidFill>
              <a:srgbClr val="647187"/>
            </a:solidFill>
            <a:prstDash val="solid"/>
          </a:ln>
        </p:spPr>
      </p:sp>
      <p:sp>
        <p:nvSpPr>
          <p:cNvPr id="116" name="Shape 114"/>
          <p:cNvSpPr/>
          <p:nvPr/>
        </p:nvSpPr>
        <p:spPr>
          <a:xfrm>
            <a:off x="5669280" y="2115810"/>
            <a:ext cx="777240" cy="1346219"/>
          </a:xfrm>
          <a:prstGeom prst="line">
            <a:avLst/>
          </a:prstGeom>
          <a:noFill/>
          <a:ln w="11430">
            <a:solidFill>
              <a:srgbClr val="647187"/>
            </a:solidFill>
            <a:prstDash val="solid"/>
          </a:ln>
        </p:spPr>
      </p:sp>
      <p:sp>
        <p:nvSpPr>
          <p:cNvPr id="117" name="Shape 115"/>
          <p:cNvSpPr/>
          <p:nvPr/>
        </p:nvSpPr>
        <p:spPr>
          <a:xfrm flipV="1">
            <a:off x="5669280" y="2023488"/>
            <a:ext cx="523586" cy="1438542"/>
          </a:xfrm>
          <a:prstGeom prst="line">
            <a:avLst/>
          </a:prstGeom>
          <a:noFill/>
          <a:ln w="11430">
            <a:solidFill>
              <a:srgbClr val="647187"/>
            </a:solidFill>
            <a:prstDash val="solid"/>
          </a:ln>
        </p:spPr>
      </p:sp>
      <p:sp>
        <p:nvSpPr>
          <p:cNvPr id="118" name="Shape 116"/>
          <p:cNvSpPr/>
          <p:nvPr/>
        </p:nvSpPr>
        <p:spPr>
          <a:xfrm flipV="1">
            <a:off x="5669280" y="3054752"/>
            <a:ext cx="1118987" cy="407278"/>
          </a:xfrm>
          <a:prstGeom prst="line">
            <a:avLst/>
          </a:prstGeom>
          <a:noFill/>
          <a:ln w="11430">
            <a:solidFill>
              <a:srgbClr val="647187"/>
            </a:solidFill>
            <a:prstDash val="solid"/>
          </a:ln>
        </p:spPr>
      </p:sp>
      <p:sp>
        <p:nvSpPr>
          <p:cNvPr id="119" name="Shape 117"/>
          <p:cNvSpPr/>
          <p:nvPr/>
        </p:nvSpPr>
        <p:spPr>
          <a:xfrm flipV="1">
            <a:off x="5327533" y="2115810"/>
            <a:ext cx="1118987" cy="938941"/>
          </a:xfrm>
          <a:prstGeom prst="line">
            <a:avLst/>
          </a:prstGeom>
          <a:noFill/>
          <a:ln w="11430">
            <a:solidFill>
              <a:srgbClr val="647187"/>
            </a:solidFill>
            <a:prstDash val="solid"/>
          </a:ln>
        </p:spPr>
      </p:sp>
      <p:sp>
        <p:nvSpPr>
          <p:cNvPr id="120" name="Shape 118"/>
          <p:cNvSpPr/>
          <p:nvPr/>
        </p:nvSpPr>
        <p:spPr>
          <a:xfrm>
            <a:off x="5327533" y="2523088"/>
            <a:ext cx="1507607" cy="265832"/>
          </a:xfrm>
          <a:prstGeom prst="line">
            <a:avLst/>
          </a:prstGeom>
          <a:noFill/>
          <a:ln w="11430">
            <a:solidFill>
              <a:srgbClr val="647187"/>
            </a:solidFill>
            <a:prstDash val="solid"/>
          </a:ln>
        </p:spPr>
      </p:sp>
      <p:sp>
        <p:nvSpPr>
          <p:cNvPr id="121" name="Shape 119"/>
          <p:cNvSpPr/>
          <p:nvPr/>
        </p:nvSpPr>
        <p:spPr>
          <a:xfrm flipV="1">
            <a:off x="5922934" y="3054752"/>
            <a:ext cx="865333" cy="499600"/>
          </a:xfrm>
          <a:prstGeom prst="line">
            <a:avLst/>
          </a:prstGeom>
          <a:noFill/>
          <a:ln w="11430">
            <a:solidFill>
              <a:srgbClr val="647187"/>
            </a:solidFill>
            <a:prstDash val="solid"/>
          </a:ln>
        </p:spPr>
      </p:sp>
      <p:sp>
        <p:nvSpPr>
          <p:cNvPr id="122" name="Shape 120"/>
          <p:cNvSpPr/>
          <p:nvPr/>
        </p:nvSpPr>
        <p:spPr>
          <a:xfrm flipV="1">
            <a:off x="5327533" y="2523088"/>
            <a:ext cx="1460733" cy="531663"/>
          </a:xfrm>
          <a:prstGeom prst="line">
            <a:avLst/>
          </a:prstGeom>
          <a:noFill/>
          <a:ln w="11430">
            <a:solidFill>
              <a:srgbClr val="647187"/>
            </a:solidFill>
            <a:prstDash val="solid"/>
          </a:ln>
        </p:spPr>
      </p:sp>
      <p:sp>
        <p:nvSpPr>
          <p:cNvPr id="123" name="Shape 121"/>
          <p:cNvSpPr/>
          <p:nvPr/>
        </p:nvSpPr>
        <p:spPr>
          <a:xfrm>
            <a:off x="6789420" y="2743200"/>
            <a:ext cx="91440" cy="91440"/>
          </a:xfrm>
          <a:prstGeom prst="ellipse">
            <a:avLst/>
          </a:prstGeom>
          <a:solidFill>
            <a:srgbClr val="E8ECF2"/>
          </a:solidFill>
          <a:ln/>
        </p:spPr>
      </p:sp>
      <p:sp>
        <p:nvSpPr>
          <p:cNvPr id="124" name="Shape 122"/>
          <p:cNvSpPr/>
          <p:nvPr/>
        </p:nvSpPr>
        <p:spPr>
          <a:xfrm>
            <a:off x="6742547" y="3009032"/>
            <a:ext cx="91440" cy="91440"/>
          </a:xfrm>
          <a:prstGeom prst="ellipse">
            <a:avLst/>
          </a:prstGeom>
          <a:solidFill>
            <a:srgbClr val="E8ECF2"/>
          </a:solidFill>
          <a:ln/>
        </p:spPr>
      </p:sp>
      <p:sp>
        <p:nvSpPr>
          <p:cNvPr id="125" name="Shape 123"/>
          <p:cNvSpPr/>
          <p:nvPr/>
        </p:nvSpPr>
        <p:spPr>
          <a:xfrm>
            <a:off x="6607580" y="3242800"/>
            <a:ext cx="91440" cy="91440"/>
          </a:xfrm>
          <a:prstGeom prst="ellipse">
            <a:avLst/>
          </a:prstGeom>
          <a:solidFill>
            <a:srgbClr val="E8ECF2"/>
          </a:solidFill>
          <a:ln/>
        </p:spPr>
      </p:sp>
      <p:sp>
        <p:nvSpPr>
          <p:cNvPr id="126" name="Shape 124"/>
          <p:cNvSpPr/>
          <p:nvPr/>
        </p:nvSpPr>
        <p:spPr>
          <a:xfrm>
            <a:off x="6400800" y="3416310"/>
            <a:ext cx="91440" cy="91440"/>
          </a:xfrm>
          <a:prstGeom prst="ellipse">
            <a:avLst/>
          </a:prstGeom>
          <a:solidFill>
            <a:srgbClr val="E8ECF2"/>
          </a:solidFill>
          <a:ln/>
        </p:spPr>
      </p:sp>
      <p:sp>
        <p:nvSpPr>
          <p:cNvPr id="127" name="Shape 125"/>
          <p:cNvSpPr/>
          <p:nvPr/>
        </p:nvSpPr>
        <p:spPr>
          <a:xfrm>
            <a:off x="6147146" y="3508632"/>
            <a:ext cx="91440" cy="91440"/>
          </a:xfrm>
          <a:prstGeom prst="ellipse">
            <a:avLst/>
          </a:prstGeom>
          <a:solidFill>
            <a:srgbClr val="E8ECF2"/>
          </a:solidFill>
          <a:ln/>
        </p:spPr>
      </p:sp>
      <p:sp>
        <p:nvSpPr>
          <p:cNvPr id="128" name="Shape 126"/>
          <p:cNvSpPr/>
          <p:nvPr/>
        </p:nvSpPr>
        <p:spPr>
          <a:xfrm>
            <a:off x="5877214" y="3508632"/>
            <a:ext cx="91440" cy="91440"/>
          </a:xfrm>
          <a:prstGeom prst="ellipse">
            <a:avLst/>
          </a:prstGeom>
          <a:solidFill>
            <a:srgbClr val="E8ECF2"/>
          </a:solidFill>
          <a:ln/>
        </p:spPr>
      </p:sp>
      <p:sp>
        <p:nvSpPr>
          <p:cNvPr id="129" name="Shape 127"/>
          <p:cNvSpPr/>
          <p:nvPr/>
        </p:nvSpPr>
        <p:spPr>
          <a:xfrm>
            <a:off x="5623560" y="3416310"/>
            <a:ext cx="91440" cy="91440"/>
          </a:xfrm>
          <a:prstGeom prst="ellipse">
            <a:avLst/>
          </a:prstGeom>
          <a:solidFill>
            <a:srgbClr val="E8ECF2"/>
          </a:solidFill>
          <a:ln/>
        </p:spPr>
      </p:sp>
      <p:sp>
        <p:nvSpPr>
          <p:cNvPr id="130" name="Shape 128"/>
          <p:cNvSpPr/>
          <p:nvPr/>
        </p:nvSpPr>
        <p:spPr>
          <a:xfrm>
            <a:off x="5416780" y="3242800"/>
            <a:ext cx="91440" cy="91440"/>
          </a:xfrm>
          <a:prstGeom prst="ellipse">
            <a:avLst/>
          </a:prstGeom>
          <a:solidFill>
            <a:srgbClr val="E8ECF2"/>
          </a:solidFill>
          <a:ln/>
        </p:spPr>
      </p:sp>
      <p:sp>
        <p:nvSpPr>
          <p:cNvPr id="131" name="Shape 129"/>
          <p:cNvSpPr/>
          <p:nvPr/>
        </p:nvSpPr>
        <p:spPr>
          <a:xfrm>
            <a:off x="5281813" y="3009032"/>
            <a:ext cx="91440" cy="91440"/>
          </a:xfrm>
          <a:prstGeom prst="ellipse">
            <a:avLst/>
          </a:prstGeom>
          <a:solidFill>
            <a:srgbClr val="E8ECF2"/>
          </a:solidFill>
          <a:ln/>
        </p:spPr>
      </p:sp>
      <p:sp>
        <p:nvSpPr>
          <p:cNvPr id="132" name="Shape 130"/>
          <p:cNvSpPr/>
          <p:nvPr/>
        </p:nvSpPr>
        <p:spPr>
          <a:xfrm>
            <a:off x="5234940" y="2743200"/>
            <a:ext cx="91440" cy="91440"/>
          </a:xfrm>
          <a:prstGeom prst="ellipse">
            <a:avLst/>
          </a:prstGeom>
          <a:solidFill>
            <a:srgbClr val="E8ECF2"/>
          </a:solidFill>
          <a:ln/>
        </p:spPr>
      </p:sp>
      <p:sp>
        <p:nvSpPr>
          <p:cNvPr id="133" name="Shape 131"/>
          <p:cNvSpPr/>
          <p:nvPr/>
        </p:nvSpPr>
        <p:spPr>
          <a:xfrm>
            <a:off x="5281813" y="2477368"/>
            <a:ext cx="91440" cy="91440"/>
          </a:xfrm>
          <a:prstGeom prst="ellipse">
            <a:avLst/>
          </a:prstGeom>
          <a:solidFill>
            <a:srgbClr val="E8ECF2"/>
          </a:solidFill>
          <a:ln/>
        </p:spPr>
      </p:sp>
      <p:sp>
        <p:nvSpPr>
          <p:cNvPr id="134" name="Shape 132"/>
          <p:cNvSpPr/>
          <p:nvPr/>
        </p:nvSpPr>
        <p:spPr>
          <a:xfrm>
            <a:off x="5416780" y="2243600"/>
            <a:ext cx="91440" cy="91440"/>
          </a:xfrm>
          <a:prstGeom prst="ellipse">
            <a:avLst/>
          </a:prstGeom>
          <a:solidFill>
            <a:srgbClr val="E8ECF2"/>
          </a:solidFill>
          <a:ln/>
        </p:spPr>
      </p:sp>
      <p:sp>
        <p:nvSpPr>
          <p:cNvPr id="135" name="Shape 133"/>
          <p:cNvSpPr/>
          <p:nvPr/>
        </p:nvSpPr>
        <p:spPr>
          <a:xfrm>
            <a:off x="5623560" y="2070090"/>
            <a:ext cx="91440" cy="91440"/>
          </a:xfrm>
          <a:prstGeom prst="ellipse">
            <a:avLst/>
          </a:prstGeom>
          <a:solidFill>
            <a:srgbClr val="E8ECF2"/>
          </a:solidFill>
          <a:ln/>
        </p:spPr>
      </p:sp>
      <p:sp>
        <p:nvSpPr>
          <p:cNvPr id="136" name="Shape 134"/>
          <p:cNvSpPr/>
          <p:nvPr/>
        </p:nvSpPr>
        <p:spPr>
          <a:xfrm>
            <a:off x="5877214" y="1977768"/>
            <a:ext cx="91440" cy="91440"/>
          </a:xfrm>
          <a:prstGeom prst="ellipse">
            <a:avLst/>
          </a:prstGeom>
          <a:solidFill>
            <a:srgbClr val="E8ECF2"/>
          </a:solidFill>
          <a:ln/>
        </p:spPr>
      </p:sp>
      <p:sp>
        <p:nvSpPr>
          <p:cNvPr id="137" name="Shape 135"/>
          <p:cNvSpPr/>
          <p:nvPr/>
        </p:nvSpPr>
        <p:spPr>
          <a:xfrm>
            <a:off x="6147146" y="1977768"/>
            <a:ext cx="91440" cy="91440"/>
          </a:xfrm>
          <a:prstGeom prst="ellipse">
            <a:avLst/>
          </a:prstGeom>
          <a:solidFill>
            <a:srgbClr val="E8ECF2"/>
          </a:solidFill>
          <a:ln/>
        </p:spPr>
      </p:sp>
      <p:sp>
        <p:nvSpPr>
          <p:cNvPr id="138" name="Shape 136"/>
          <p:cNvSpPr/>
          <p:nvPr/>
        </p:nvSpPr>
        <p:spPr>
          <a:xfrm>
            <a:off x="6400800" y="2070090"/>
            <a:ext cx="91440" cy="91440"/>
          </a:xfrm>
          <a:prstGeom prst="ellipse">
            <a:avLst/>
          </a:prstGeom>
          <a:solidFill>
            <a:srgbClr val="E8ECF2"/>
          </a:solidFill>
          <a:ln/>
        </p:spPr>
      </p:sp>
      <p:sp>
        <p:nvSpPr>
          <p:cNvPr id="139" name="Shape 137"/>
          <p:cNvSpPr/>
          <p:nvPr/>
        </p:nvSpPr>
        <p:spPr>
          <a:xfrm>
            <a:off x="6607580" y="2243600"/>
            <a:ext cx="91440" cy="91440"/>
          </a:xfrm>
          <a:prstGeom prst="ellipse">
            <a:avLst/>
          </a:prstGeom>
          <a:solidFill>
            <a:srgbClr val="E8ECF2"/>
          </a:solidFill>
          <a:ln/>
        </p:spPr>
      </p:sp>
      <p:sp>
        <p:nvSpPr>
          <p:cNvPr id="140" name="Shape 138"/>
          <p:cNvSpPr/>
          <p:nvPr/>
        </p:nvSpPr>
        <p:spPr>
          <a:xfrm>
            <a:off x="6742547" y="2477368"/>
            <a:ext cx="91440" cy="91440"/>
          </a:xfrm>
          <a:prstGeom prst="ellipse">
            <a:avLst/>
          </a:prstGeom>
          <a:solidFill>
            <a:srgbClr val="E8ECF2"/>
          </a:solidFill>
          <a:ln/>
        </p:spPr>
      </p:sp>
      <p:sp>
        <p:nvSpPr>
          <p:cNvPr id="141" name="Shape 139"/>
          <p:cNvSpPr/>
          <p:nvPr/>
        </p:nvSpPr>
        <p:spPr>
          <a:xfrm>
            <a:off x="9761220" y="2130552"/>
            <a:ext cx="423191" cy="154029"/>
          </a:xfrm>
          <a:prstGeom prst="line">
            <a:avLst/>
          </a:prstGeom>
          <a:noFill/>
          <a:ln w="9525">
            <a:solidFill>
              <a:srgbClr val="9AA6B6">
                <a:alpha val="70000"/>
              </a:srgbClr>
            </a:solidFill>
            <a:prstDash val="solid"/>
          </a:ln>
        </p:spPr>
      </p:sp>
      <p:sp>
        <p:nvSpPr>
          <p:cNvPr id="142" name="Shape 140"/>
          <p:cNvSpPr/>
          <p:nvPr/>
        </p:nvSpPr>
        <p:spPr>
          <a:xfrm>
            <a:off x="9761220" y="2130552"/>
            <a:ext cx="648366" cy="544044"/>
          </a:xfrm>
          <a:prstGeom prst="line">
            <a:avLst/>
          </a:prstGeom>
          <a:noFill/>
          <a:ln w="9525">
            <a:solidFill>
              <a:srgbClr val="9AA6B6">
                <a:alpha val="70000"/>
              </a:srgbClr>
            </a:solidFill>
            <a:prstDash val="solid"/>
          </a:ln>
        </p:spPr>
      </p:sp>
      <p:sp>
        <p:nvSpPr>
          <p:cNvPr id="143" name="Shape 141"/>
          <p:cNvSpPr/>
          <p:nvPr/>
        </p:nvSpPr>
        <p:spPr>
          <a:xfrm>
            <a:off x="9761220" y="2130552"/>
            <a:ext cx="570163" cy="987552"/>
          </a:xfrm>
          <a:prstGeom prst="line">
            <a:avLst/>
          </a:prstGeom>
          <a:noFill/>
          <a:ln w="9525">
            <a:solidFill>
              <a:srgbClr val="9AA6B6">
                <a:alpha val="70000"/>
              </a:srgbClr>
            </a:solidFill>
            <a:prstDash val="solid"/>
          </a:ln>
        </p:spPr>
      </p:sp>
      <p:sp>
        <p:nvSpPr>
          <p:cNvPr id="144" name="Shape 142"/>
          <p:cNvSpPr/>
          <p:nvPr/>
        </p:nvSpPr>
        <p:spPr>
          <a:xfrm>
            <a:off x="9761220" y="2130552"/>
            <a:ext cx="225175" cy="1277032"/>
          </a:xfrm>
          <a:prstGeom prst="line">
            <a:avLst/>
          </a:prstGeom>
          <a:noFill/>
          <a:ln w="9525">
            <a:solidFill>
              <a:srgbClr val="9AA6B6">
                <a:alpha val="70000"/>
              </a:srgbClr>
            </a:solidFill>
            <a:prstDash val="solid"/>
          </a:ln>
        </p:spPr>
      </p:sp>
      <p:sp>
        <p:nvSpPr>
          <p:cNvPr id="145" name="Shape 143"/>
          <p:cNvSpPr/>
          <p:nvPr/>
        </p:nvSpPr>
        <p:spPr>
          <a:xfrm flipV="1">
            <a:off x="9536045" y="2130552"/>
            <a:ext cx="225175" cy="1277032"/>
          </a:xfrm>
          <a:prstGeom prst="line">
            <a:avLst/>
          </a:prstGeom>
          <a:noFill/>
          <a:ln w="9525">
            <a:solidFill>
              <a:srgbClr val="9AA6B6">
                <a:alpha val="70000"/>
              </a:srgbClr>
            </a:solidFill>
            <a:prstDash val="solid"/>
          </a:ln>
        </p:spPr>
      </p:sp>
      <p:sp>
        <p:nvSpPr>
          <p:cNvPr id="146" name="Shape 144"/>
          <p:cNvSpPr/>
          <p:nvPr/>
        </p:nvSpPr>
        <p:spPr>
          <a:xfrm flipV="1">
            <a:off x="9191057" y="2130552"/>
            <a:ext cx="570163" cy="987552"/>
          </a:xfrm>
          <a:prstGeom prst="line">
            <a:avLst/>
          </a:prstGeom>
          <a:noFill/>
          <a:ln w="9525">
            <a:solidFill>
              <a:srgbClr val="9AA6B6">
                <a:alpha val="70000"/>
              </a:srgbClr>
            </a:solidFill>
            <a:prstDash val="solid"/>
          </a:ln>
        </p:spPr>
      </p:sp>
      <p:sp>
        <p:nvSpPr>
          <p:cNvPr id="147" name="Shape 145"/>
          <p:cNvSpPr/>
          <p:nvPr/>
        </p:nvSpPr>
        <p:spPr>
          <a:xfrm flipV="1">
            <a:off x="9112854" y="2130552"/>
            <a:ext cx="648366" cy="544044"/>
          </a:xfrm>
          <a:prstGeom prst="line">
            <a:avLst/>
          </a:prstGeom>
          <a:noFill/>
          <a:ln w="9525">
            <a:solidFill>
              <a:srgbClr val="9AA6B6">
                <a:alpha val="70000"/>
              </a:srgbClr>
            </a:solidFill>
            <a:prstDash val="solid"/>
          </a:ln>
        </p:spPr>
      </p:sp>
      <p:sp>
        <p:nvSpPr>
          <p:cNvPr id="148" name="Shape 146"/>
          <p:cNvSpPr/>
          <p:nvPr/>
        </p:nvSpPr>
        <p:spPr>
          <a:xfrm flipV="1">
            <a:off x="9338029" y="2130552"/>
            <a:ext cx="423191" cy="154029"/>
          </a:xfrm>
          <a:prstGeom prst="line">
            <a:avLst/>
          </a:prstGeom>
          <a:noFill/>
          <a:ln w="9525">
            <a:solidFill>
              <a:srgbClr val="9AA6B6">
                <a:alpha val="70000"/>
              </a:srgbClr>
            </a:solidFill>
            <a:prstDash val="solid"/>
          </a:ln>
        </p:spPr>
      </p:sp>
      <p:sp>
        <p:nvSpPr>
          <p:cNvPr id="149" name="Shape 147"/>
          <p:cNvSpPr/>
          <p:nvPr/>
        </p:nvSpPr>
        <p:spPr>
          <a:xfrm>
            <a:off x="10184411" y="2284581"/>
            <a:ext cx="225175" cy="390015"/>
          </a:xfrm>
          <a:prstGeom prst="line">
            <a:avLst/>
          </a:prstGeom>
          <a:noFill/>
          <a:ln w="9525">
            <a:solidFill>
              <a:srgbClr val="9AA6B6">
                <a:alpha val="70000"/>
              </a:srgbClr>
            </a:solidFill>
            <a:prstDash val="solid"/>
          </a:ln>
        </p:spPr>
      </p:sp>
      <p:sp>
        <p:nvSpPr>
          <p:cNvPr id="150" name="Shape 148"/>
          <p:cNvSpPr/>
          <p:nvPr/>
        </p:nvSpPr>
        <p:spPr>
          <a:xfrm>
            <a:off x="10184411" y="2284581"/>
            <a:ext cx="146973" cy="833523"/>
          </a:xfrm>
          <a:prstGeom prst="line">
            <a:avLst/>
          </a:prstGeom>
          <a:noFill/>
          <a:ln w="9525">
            <a:solidFill>
              <a:srgbClr val="9AA6B6">
                <a:alpha val="70000"/>
              </a:srgbClr>
            </a:solidFill>
            <a:prstDash val="solid"/>
          </a:ln>
        </p:spPr>
      </p:sp>
      <p:sp>
        <p:nvSpPr>
          <p:cNvPr id="151" name="Shape 149"/>
          <p:cNvSpPr/>
          <p:nvPr/>
        </p:nvSpPr>
        <p:spPr>
          <a:xfrm flipV="1">
            <a:off x="9986395" y="2284581"/>
            <a:ext cx="198016" cy="1123003"/>
          </a:xfrm>
          <a:prstGeom prst="line">
            <a:avLst/>
          </a:prstGeom>
          <a:noFill/>
          <a:ln w="9525">
            <a:solidFill>
              <a:srgbClr val="9AA6B6">
                <a:alpha val="70000"/>
              </a:srgbClr>
            </a:solidFill>
            <a:prstDash val="solid"/>
          </a:ln>
        </p:spPr>
      </p:sp>
      <p:sp>
        <p:nvSpPr>
          <p:cNvPr id="152" name="Shape 150"/>
          <p:cNvSpPr/>
          <p:nvPr/>
        </p:nvSpPr>
        <p:spPr>
          <a:xfrm flipV="1">
            <a:off x="9536045" y="2284581"/>
            <a:ext cx="648366" cy="1123003"/>
          </a:xfrm>
          <a:prstGeom prst="line">
            <a:avLst/>
          </a:prstGeom>
          <a:noFill/>
          <a:ln w="9525">
            <a:solidFill>
              <a:srgbClr val="9AA6B6">
                <a:alpha val="70000"/>
              </a:srgbClr>
            </a:solidFill>
            <a:prstDash val="solid"/>
          </a:ln>
        </p:spPr>
      </p:sp>
      <p:sp>
        <p:nvSpPr>
          <p:cNvPr id="153" name="Shape 151"/>
          <p:cNvSpPr/>
          <p:nvPr/>
        </p:nvSpPr>
        <p:spPr>
          <a:xfrm flipV="1">
            <a:off x="9191057" y="2284581"/>
            <a:ext cx="993354" cy="833523"/>
          </a:xfrm>
          <a:prstGeom prst="line">
            <a:avLst/>
          </a:prstGeom>
          <a:noFill/>
          <a:ln w="9525">
            <a:solidFill>
              <a:srgbClr val="9AA6B6">
                <a:alpha val="70000"/>
              </a:srgbClr>
            </a:solidFill>
            <a:prstDash val="solid"/>
          </a:ln>
        </p:spPr>
      </p:sp>
      <p:sp>
        <p:nvSpPr>
          <p:cNvPr id="154" name="Shape 152"/>
          <p:cNvSpPr/>
          <p:nvPr/>
        </p:nvSpPr>
        <p:spPr>
          <a:xfrm flipV="1">
            <a:off x="9112854" y="2284581"/>
            <a:ext cx="1071557" cy="390015"/>
          </a:xfrm>
          <a:prstGeom prst="line">
            <a:avLst/>
          </a:prstGeom>
          <a:noFill/>
          <a:ln w="9525">
            <a:solidFill>
              <a:srgbClr val="9AA6B6">
                <a:alpha val="70000"/>
              </a:srgbClr>
            </a:solidFill>
            <a:prstDash val="solid"/>
          </a:ln>
        </p:spPr>
      </p:sp>
      <p:sp>
        <p:nvSpPr>
          <p:cNvPr id="155" name="Shape 153"/>
          <p:cNvSpPr/>
          <p:nvPr/>
        </p:nvSpPr>
        <p:spPr>
          <a:xfrm>
            <a:off x="9338029" y="2284581"/>
            <a:ext cx="846382" cy="0"/>
          </a:xfrm>
          <a:prstGeom prst="line">
            <a:avLst/>
          </a:prstGeom>
          <a:noFill/>
          <a:ln w="9525">
            <a:solidFill>
              <a:srgbClr val="9AA6B6">
                <a:alpha val="70000"/>
              </a:srgbClr>
            </a:solidFill>
            <a:prstDash val="solid"/>
          </a:ln>
        </p:spPr>
      </p:sp>
      <p:sp>
        <p:nvSpPr>
          <p:cNvPr id="156" name="Shape 154"/>
          <p:cNvSpPr/>
          <p:nvPr/>
        </p:nvSpPr>
        <p:spPr>
          <a:xfrm flipV="1">
            <a:off x="10331383" y="2674596"/>
            <a:ext cx="78202" cy="443508"/>
          </a:xfrm>
          <a:prstGeom prst="line">
            <a:avLst/>
          </a:prstGeom>
          <a:noFill/>
          <a:ln w="9525">
            <a:solidFill>
              <a:srgbClr val="9AA6B6">
                <a:alpha val="70000"/>
              </a:srgbClr>
            </a:solidFill>
            <a:prstDash val="solid"/>
          </a:ln>
        </p:spPr>
      </p:sp>
      <p:sp>
        <p:nvSpPr>
          <p:cNvPr id="157" name="Shape 155"/>
          <p:cNvSpPr/>
          <p:nvPr/>
        </p:nvSpPr>
        <p:spPr>
          <a:xfrm flipV="1">
            <a:off x="9986395" y="2674596"/>
            <a:ext cx="423191" cy="732988"/>
          </a:xfrm>
          <a:prstGeom prst="line">
            <a:avLst/>
          </a:prstGeom>
          <a:noFill/>
          <a:ln w="9525">
            <a:solidFill>
              <a:srgbClr val="9AA6B6">
                <a:alpha val="70000"/>
              </a:srgbClr>
            </a:solidFill>
            <a:prstDash val="solid"/>
          </a:ln>
        </p:spPr>
      </p:sp>
      <p:sp>
        <p:nvSpPr>
          <p:cNvPr id="158" name="Shape 156"/>
          <p:cNvSpPr/>
          <p:nvPr/>
        </p:nvSpPr>
        <p:spPr>
          <a:xfrm flipV="1">
            <a:off x="9536045" y="2674596"/>
            <a:ext cx="873541" cy="732988"/>
          </a:xfrm>
          <a:prstGeom prst="line">
            <a:avLst/>
          </a:prstGeom>
          <a:noFill/>
          <a:ln w="9525">
            <a:solidFill>
              <a:srgbClr val="9AA6B6">
                <a:alpha val="70000"/>
              </a:srgbClr>
            </a:solidFill>
            <a:prstDash val="solid"/>
          </a:ln>
        </p:spPr>
      </p:sp>
      <p:sp>
        <p:nvSpPr>
          <p:cNvPr id="159" name="Shape 157"/>
          <p:cNvSpPr/>
          <p:nvPr/>
        </p:nvSpPr>
        <p:spPr>
          <a:xfrm flipV="1">
            <a:off x="9191057" y="2674596"/>
            <a:ext cx="1218529" cy="443508"/>
          </a:xfrm>
          <a:prstGeom prst="line">
            <a:avLst/>
          </a:prstGeom>
          <a:noFill/>
          <a:ln w="9525">
            <a:solidFill>
              <a:srgbClr val="9AA6B6">
                <a:alpha val="70000"/>
              </a:srgbClr>
            </a:solidFill>
            <a:prstDash val="solid"/>
          </a:ln>
        </p:spPr>
      </p:sp>
      <p:sp>
        <p:nvSpPr>
          <p:cNvPr id="160" name="Shape 158"/>
          <p:cNvSpPr/>
          <p:nvPr/>
        </p:nvSpPr>
        <p:spPr>
          <a:xfrm>
            <a:off x="9112854" y="2674596"/>
            <a:ext cx="1296732" cy="0"/>
          </a:xfrm>
          <a:prstGeom prst="line">
            <a:avLst/>
          </a:prstGeom>
          <a:noFill/>
          <a:ln w="9525">
            <a:solidFill>
              <a:srgbClr val="9AA6B6">
                <a:alpha val="70000"/>
              </a:srgbClr>
            </a:solidFill>
            <a:prstDash val="solid"/>
          </a:ln>
        </p:spPr>
      </p:sp>
      <p:sp>
        <p:nvSpPr>
          <p:cNvPr id="161" name="Shape 159"/>
          <p:cNvSpPr/>
          <p:nvPr/>
        </p:nvSpPr>
        <p:spPr>
          <a:xfrm>
            <a:off x="9338029" y="2284581"/>
            <a:ext cx="1071557" cy="390015"/>
          </a:xfrm>
          <a:prstGeom prst="line">
            <a:avLst/>
          </a:prstGeom>
          <a:noFill/>
          <a:ln w="9525">
            <a:solidFill>
              <a:srgbClr val="9AA6B6">
                <a:alpha val="70000"/>
              </a:srgbClr>
            </a:solidFill>
            <a:prstDash val="solid"/>
          </a:ln>
        </p:spPr>
      </p:sp>
      <p:sp>
        <p:nvSpPr>
          <p:cNvPr id="162" name="Shape 160"/>
          <p:cNvSpPr/>
          <p:nvPr/>
        </p:nvSpPr>
        <p:spPr>
          <a:xfrm flipV="1">
            <a:off x="9986395" y="3118104"/>
            <a:ext cx="344988" cy="289480"/>
          </a:xfrm>
          <a:prstGeom prst="line">
            <a:avLst/>
          </a:prstGeom>
          <a:noFill/>
          <a:ln w="9525">
            <a:solidFill>
              <a:srgbClr val="9AA6B6">
                <a:alpha val="70000"/>
              </a:srgbClr>
            </a:solidFill>
            <a:prstDash val="solid"/>
          </a:ln>
        </p:spPr>
      </p:sp>
      <p:sp>
        <p:nvSpPr>
          <p:cNvPr id="163" name="Shape 161"/>
          <p:cNvSpPr/>
          <p:nvPr/>
        </p:nvSpPr>
        <p:spPr>
          <a:xfrm flipV="1">
            <a:off x="9536045" y="3118104"/>
            <a:ext cx="795339" cy="289480"/>
          </a:xfrm>
          <a:prstGeom prst="line">
            <a:avLst/>
          </a:prstGeom>
          <a:noFill/>
          <a:ln w="9525">
            <a:solidFill>
              <a:srgbClr val="9AA6B6">
                <a:alpha val="70000"/>
              </a:srgbClr>
            </a:solidFill>
            <a:prstDash val="solid"/>
          </a:ln>
        </p:spPr>
      </p:sp>
      <p:sp>
        <p:nvSpPr>
          <p:cNvPr id="164" name="Shape 162"/>
          <p:cNvSpPr/>
          <p:nvPr/>
        </p:nvSpPr>
        <p:spPr>
          <a:xfrm flipV="1">
            <a:off x="9191057" y="3118104"/>
            <a:ext cx="1140327" cy="0"/>
          </a:xfrm>
          <a:prstGeom prst="line">
            <a:avLst/>
          </a:prstGeom>
          <a:noFill/>
          <a:ln w="9525">
            <a:solidFill>
              <a:srgbClr val="9AA6B6">
                <a:alpha val="70000"/>
              </a:srgbClr>
            </a:solidFill>
            <a:prstDash val="solid"/>
          </a:ln>
        </p:spPr>
      </p:sp>
      <p:sp>
        <p:nvSpPr>
          <p:cNvPr id="165" name="Shape 163"/>
          <p:cNvSpPr/>
          <p:nvPr/>
        </p:nvSpPr>
        <p:spPr>
          <a:xfrm>
            <a:off x="9112854" y="2674596"/>
            <a:ext cx="1218529" cy="443508"/>
          </a:xfrm>
          <a:prstGeom prst="line">
            <a:avLst/>
          </a:prstGeom>
          <a:noFill/>
          <a:ln w="9525">
            <a:solidFill>
              <a:srgbClr val="9AA6B6">
                <a:alpha val="70000"/>
              </a:srgbClr>
            </a:solidFill>
            <a:prstDash val="solid"/>
          </a:ln>
        </p:spPr>
      </p:sp>
      <p:sp>
        <p:nvSpPr>
          <p:cNvPr id="166" name="Shape 164"/>
          <p:cNvSpPr/>
          <p:nvPr/>
        </p:nvSpPr>
        <p:spPr>
          <a:xfrm>
            <a:off x="9338029" y="2284581"/>
            <a:ext cx="993354" cy="833523"/>
          </a:xfrm>
          <a:prstGeom prst="line">
            <a:avLst/>
          </a:prstGeom>
          <a:noFill/>
          <a:ln w="9525">
            <a:solidFill>
              <a:srgbClr val="9AA6B6">
                <a:alpha val="70000"/>
              </a:srgbClr>
            </a:solidFill>
            <a:prstDash val="solid"/>
          </a:ln>
        </p:spPr>
      </p:sp>
      <p:sp>
        <p:nvSpPr>
          <p:cNvPr id="167" name="Shape 165"/>
          <p:cNvSpPr/>
          <p:nvPr/>
        </p:nvSpPr>
        <p:spPr>
          <a:xfrm>
            <a:off x="9536045" y="3407584"/>
            <a:ext cx="450350" cy="0"/>
          </a:xfrm>
          <a:prstGeom prst="line">
            <a:avLst/>
          </a:prstGeom>
          <a:noFill/>
          <a:ln w="9525">
            <a:solidFill>
              <a:srgbClr val="9AA6B6">
                <a:alpha val="70000"/>
              </a:srgbClr>
            </a:solidFill>
            <a:prstDash val="solid"/>
          </a:ln>
        </p:spPr>
      </p:sp>
      <p:sp>
        <p:nvSpPr>
          <p:cNvPr id="168" name="Shape 166"/>
          <p:cNvSpPr/>
          <p:nvPr/>
        </p:nvSpPr>
        <p:spPr>
          <a:xfrm>
            <a:off x="9191057" y="3118104"/>
            <a:ext cx="795339" cy="289480"/>
          </a:xfrm>
          <a:prstGeom prst="line">
            <a:avLst/>
          </a:prstGeom>
          <a:noFill/>
          <a:ln w="9525">
            <a:solidFill>
              <a:srgbClr val="9AA6B6">
                <a:alpha val="70000"/>
              </a:srgbClr>
            </a:solidFill>
            <a:prstDash val="solid"/>
          </a:ln>
        </p:spPr>
      </p:sp>
      <p:sp>
        <p:nvSpPr>
          <p:cNvPr id="169" name="Shape 167"/>
          <p:cNvSpPr/>
          <p:nvPr/>
        </p:nvSpPr>
        <p:spPr>
          <a:xfrm>
            <a:off x="9112854" y="2674596"/>
            <a:ext cx="873541" cy="732988"/>
          </a:xfrm>
          <a:prstGeom prst="line">
            <a:avLst/>
          </a:prstGeom>
          <a:noFill/>
          <a:ln w="9525">
            <a:solidFill>
              <a:srgbClr val="9AA6B6">
                <a:alpha val="70000"/>
              </a:srgbClr>
            </a:solidFill>
            <a:prstDash val="solid"/>
          </a:ln>
        </p:spPr>
      </p:sp>
      <p:sp>
        <p:nvSpPr>
          <p:cNvPr id="170" name="Shape 168"/>
          <p:cNvSpPr/>
          <p:nvPr/>
        </p:nvSpPr>
        <p:spPr>
          <a:xfrm>
            <a:off x="9338029" y="2284581"/>
            <a:ext cx="648366" cy="1123003"/>
          </a:xfrm>
          <a:prstGeom prst="line">
            <a:avLst/>
          </a:prstGeom>
          <a:noFill/>
          <a:ln w="9525">
            <a:solidFill>
              <a:srgbClr val="9AA6B6">
                <a:alpha val="70000"/>
              </a:srgbClr>
            </a:solidFill>
            <a:prstDash val="solid"/>
          </a:ln>
        </p:spPr>
      </p:sp>
      <p:sp>
        <p:nvSpPr>
          <p:cNvPr id="171" name="Shape 169"/>
          <p:cNvSpPr/>
          <p:nvPr/>
        </p:nvSpPr>
        <p:spPr>
          <a:xfrm>
            <a:off x="9191057" y="3118104"/>
            <a:ext cx="344988" cy="289480"/>
          </a:xfrm>
          <a:prstGeom prst="line">
            <a:avLst/>
          </a:prstGeom>
          <a:noFill/>
          <a:ln w="9525">
            <a:solidFill>
              <a:srgbClr val="9AA6B6">
                <a:alpha val="70000"/>
              </a:srgbClr>
            </a:solidFill>
            <a:prstDash val="solid"/>
          </a:ln>
        </p:spPr>
      </p:sp>
      <p:sp>
        <p:nvSpPr>
          <p:cNvPr id="172" name="Shape 170"/>
          <p:cNvSpPr/>
          <p:nvPr/>
        </p:nvSpPr>
        <p:spPr>
          <a:xfrm>
            <a:off x="9112854" y="2674596"/>
            <a:ext cx="423191" cy="732988"/>
          </a:xfrm>
          <a:prstGeom prst="line">
            <a:avLst/>
          </a:prstGeom>
          <a:noFill/>
          <a:ln w="9525">
            <a:solidFill>
              <a:srgbClr val="9AA6B6">
                <a:alpha val="70000"/>
              </a:srgbClr>
            </a:solidFill>
            <a:prstDash val="solid"/>
          </a:ln>
        </p:spPr>
      </p:sp>
      <p:sp>
        <p:nvSpPr>
          <p:cNvPr id="173" name="Shape 171"/>
          <p:cNvSpPr/>
          <p:nvPr/>
        </p:nvSpPr>
        <p:spPr>
          <a:xfrm>
            <a:off x="9338029" y="2284581"/>
            <a:ext cx="198016" cy="1123003"/>
          </a:xfrm>
          <a:prstGeom prst="line">
            <a:avLst/>
          </a:prstGeom>
          <a:noFill/>
          <a:ln w="9525">
            <a:solidFill>
              <a:srgbClr val="9AA6B6">
                <a:alpha val="70000"/>
              </a:srgbClr>
            </a:solidFill>
            <a:prstDash val="solid"/>
          </a:ln>
        </p:spPr>
      </p:sp>
      <p:sp>
        <p:nvSpPr>
          <p:cNvPr id="174" name="Shape 172"/>
          <p:cNvSpPr/>
          <p:nvPr/>
        </p:nvSpPr>
        <p:spPr>
          <a:xfrm>
            <a:off x="9112854" y="2674596"/>
            <a:ext cx="78202" cy="443508"/>
          </a:xfrm>
          <a:prstGeom prst="line">
            <a:avLst/>
          </a:prstGeom>
          <a:noFill/>
          <a:ln w="9525">
            <a:solidFill>
              <a:srgbClr val="9AA6B6">
                <a:alpha val="70000"/>
              </a:srgbClr>
            </a:solidFill>
            <a:prstDash val="solid"/>
          </a:ln>
        </p:spPr>
      </p:sp>
      <p:sp>
        <p:nvSpPr>
          <p:cNvPr id="175" name="Shape 173"/>
          <p:cNvSpPr/>
          <p:nvPr/>
        </p:nvSpPr>
        <p:spPr>
          <a:xfrm flipV="1">
            <a:off x="9191057" y="2284581"/>
            <a:ext cx="146973" cy="833523"/>
          </a:xfrm>
          <a:prstGeom prst="line">
            <a:avLst/>
          </a:prstGeom>
          <a:noFill/>
          <a:ln w="9525">
            <a:solidFill>
              <a:srgbClr val="9AA6B6">
                <a:alpha val="70000"/>
              </a:srgbClr>
            </a:solidFill>
            <a:prstDash val="solid"/>
          </a:ln>
        </p:spPr>
      </p:sp>
      <p:sp>
        <p:nvSpPr>
          <p:cNvPr id="176" name="Shape 174"/>
          <p:cNvSpPr/>
          <p:nvPr/>
        </p:nvSpPr>
        <p:spPr>
          <a:xfrm flipV="1">
            <a:off x="9112854" y="2284581"/>
            <a:ext cx="225175" cy="390015"/>
          </a:xfrm>
          <a:prstGeom prst="line">
            <a:avLst/>
          </a:prstGeom>
          <a:noFill/>
          <a:ln w="9525">
            <a:solidFill>
              <a:srgbClr val="9AA6B6">
                <a:alpha val="70000"/>
              </a:srgbClr>
            </a:solidFill>
            <a:prstDash val="solid"/>
          </a:ln>
        </p:spPr>
      </p:sp>
      <p:sp>
        <p:nvSpPr>
          <p:cNvPr id="177" name="Shape 175"/>
          <p:cNvSpPr/>
          <p:nvPr/>
        </p:nvSpPr>
        <p:spPr>
          <a:xfrm>
            <a:off x="9377172" y="1901952"/>
            <a:ext cx="384048" cy="228600"/>
          </a:xfrm>
          <a:prstGeom prst="line">
            <a:avLst/>
          </a:prstGeom>
          <a:noFill/>
          <a:ln w="11430">
            <a:solidFill>
              <a:srgbClr val="647187"/>
            </a:solidFill>
            <a:prstDash val="solid"/>
          </a:ln>
        </p:spPr>
      </p:sp>
      <p:sp>
        <p:nvSpPr>
          <p:cNvPr id="178" name="Shape 176"/>
          <p:cNvSpPr/>
          <p:nvPr/>
        </p:nvSpPr>
        <p:spPr>
          <a:xfrm>
            <a:off x="9336024" y="1860804"/>
            <a:ext cx="82296" cy="82296"/>
          </a:xfrm>
          <a:prstGeom prst="ellipse">
            <a:avLst/>
          </a:prstGeom>
          <a:solidFill>
            <a:srgbClr val="9AA6B6"/>
          </a:solidFill>
          <a:ln/>
        </p:spPr>
      </p:sp>
      <p:sp>
        <p:nvSpPr>
          <p:cNvPr id="179" name="Shape 177"/>
          <p:cNvSpPr/>
          <p:nvPr/>
        </p:nvSpPr>
        <p:spPr>
          <a:xfrm flipV="1">
            <a:off x="10409586" y="2583156"/>
            <a:ext cx="411480" cy="91440"/>
          </a:xfrm>
          <a:prstGeom prst="line">
            <a:avLst/>
          </a:prstGeom>
          <a:noFill/>
          <a:ln w="11430">
            <a:solidFill>
              <a:srgbClr val="647187"/>
            </a:solidFill>
            <a:prstDash val="solid"/>
          </a:ln>
        </p:spPr>
      </p:sp>
      <p:sp>
        <p:nvSpPr>
          <p:cNvPr id="180" name="Shape 178"/>
          <p:cNvSpPr/>
          <p:nvPr/>
        </p:nvSpPr>
        <p:spPr>
          <a:xfrm>
            <a:off x="10779918" y="2542008"/>
            <a:ext cx="82296" cy="82296"/>
          </a:xfrm>
          <a:prstGeom prst="ellipse">
            <a:avLst/>
          </a:prstGeom>
          <a:solidFill>
            <a:srgbClr val="9AA6B6"/>
          </a:solidFill>
          <a:ln/>
        </p:spPr>
      </p:sp>
      <p:sp>
        <p:nvSpPr>
          <p:cNvPr id="181" name="Shape 179"/>
          <p:cNvSpPr/>
          <p:nvPr/>
        </p:nvSpPr>
        <p:spPr>
          <a:xfrm>
            <a:off x="9986395" y="3407584"/>
            <a:ext cx="365760" cy="274320"/>
          </a:xfrm>
          <a:prstGeom prst="line">
            <a:avLst/>
          </a:prstGeom>
          <a:noFill/>
          <a:ln w="11430">
            <a:solidFill>
              <a:srgbClr val="647187"/>
            </a:solidFill>
            <a:prstDash val="solid"/>
          </a:ln>
        </p:spPr>
      </p:sp>
      <p:sp>
        <p:nvSpPr>
          <p:cNvPr id="182" name="Shape 180"/>
          <p:cNvSpPr/>
          <p:nvPr/>
        </p:nvSpPr>
        <p:spPr>
          <a:xfrm>
            <a:off x="10311007" y="3640756"/>
            <a:ext cx="82296" cy="82296"/>
          </a:xfrm>
          <a:prstGeom prst="ellipse">
            <a:avLst/>
          </a:prstGeom>
          <a:solidFill>
            <a:srgbClr val="9AA6B6"/>
          </a:solidFill>
          <a:ln/>
        </p:spPr>
      </p:sp>
      <p:sp>
        <p:nvSpPr>
          <p:cNvPr id="183" name="Shape 181"/>
          <p:cNvSpPr/>
          <p:nvPr/>
        </p:nvSpPr>
        <p:spPr>
          <a:xfrm flipV="1">
            <a:off x="8779577" y="3118104"/>
            <a:ext cx="411480" cy="228600"/>
          </a:xfrm>
          <a:prstGeom prst="line">
            <a:avLst/>
          </a:prstGeom>
          <a:noFill/>
          <a:ln w="11430">
            <a:solidFill>
              <a:srgbClr val="647187"/>
            </a:solidFill>
            <a:prstDash val="solid"/>
          </a:ln>
        </p:spPr>
      </p:sp>
      <p:sp>
        <p:nvSpPr>
          <p:cNvPr id="184" name="Shape 182"/>
          <p:cNvSpPr/>
          <p:nvPr/>
        </p:nvSpPr>
        <p:spPr>
          <a:xfrm>
            <a:off x="8738429" y="3305556"/>
            <a:ext cx="82296" cy="82296"/>
          </a:xfrm>
          <a:prstGeom prst="ellipse">
            <a:avLst/>
          </a:prstGeom>
          <a:solidFill>
            <a:srgbClr val="9AA6B6"/>
          </a:solidFill>
          <a:ln/>
        </p:spPr>
      </p:sp>
      <p:sp>
        <p:nvSpPr>
          <p:cNvPr id="185" name="Shape 183"/>
          <p:cNvSpPr/>
          <p:nvPr/>
        </p:nvSpPr>
        <p:spPr>
          <a:xfrm>
            <a:off x="8673942" y="2628876"/>
            <a:ext cx="438912" cy="45720"/>
          </a:xfrm>
          <a:prstGeom prst="line">
            <a:avLst/>
          </a:prstGeom>
          <a:noFill/>
          <a:ln w="11430">
            <a:solidFill>
              <a:srgbClr val="647187"/>
            </a:solidFill>
            <a:prstDash val="solid"/>
          </a:ln>
        </p:spPr>
      </p:sp>
      <p:sp>
        <p:nvSpPr>
          <p:cNvPr id="186" name="Shape 184"/>
          <p:cNvSpPr/>
          <p:nvPr/>
        </p:nvSpPr>
        <p:spPr>
          <a:xfrm>
            <a:off x="8632794" y="2587728"/>
            <a:ext cx="82296" cy="82296"/>
          </a:xfrm>
          <a:prstGeom prst="ellipse">
            <a:avLst/>
          </a:prstGeom>
          <a:solidFill>
            <a:srgbClr val="9AA6B6"/>
          </a:solidFill>
          <a:ln/>
        </p:spPr>
      </p:sp>
      <p:sp>
        <p:nvSpPr>
          <p:cNvPr id="187" name="Shape 185"/>
          <p:cNvSpPr/>
          <p:nvPr/>
        </p:nvSpPr>
        <p:spPr>
          <a:xfrm>
            <a:off x="9710928" y="2080260"/>
            <a:ext cx="100584" cy="100584"/>
          </a:xfrm>
          <a:prstGeom prst="ellipse">
            <a:avLst/>
          </a:prstGeom>
          <a:solidFill>
            <a:srgbClr val="E8ECF2"/>
          </a:solidFill>
          <a:ln/>
        </p:spPr>
      </p:sp>
      <p:sp>
        <p:nvSpPr>
          <p:cNvPr id="188" name="Shape 186"/>
          <p:cNvSpPr/>
          <p:nvPr/>
        </p:nvSpPr>
        <p:spPr>
          <a:xfrm>
            <a:off x="10134119" y="2234289"/>
            <a:ext cx="100584" cy="100584"/>
          </a:xfrm>
          <a:prstGeom prst="ellipse">
            <a:avLst/>
          </a:prstGeom>
          <a:solidFill>
            <a:srgbClr val="E8ECF2"/>
          </a:solidFill>
          <a:ln/>
        </p:spPr>
      </p:sp>
      <p:sp>
        <p:nvSpPr>
          <p:cNvPr id="189" name="Shape 187"/>
          <p:cNvSpPr/>
          <p:nvPr/>
        </p:nvSpPr>
        <p:spPr>
          <a:xfrm>
            <a:off x="10359294" y="2624304"/>
            <a:ext cx="100584" cy="100584"/>
          </a:xfrm>
          <a:prstGeom prst="ellipse">
            <a:avLst/>
          </a:prstGeom>
          <a:solidFill>
            <a:srgbClr val="E8ECF2"/>
          </a:solidFill>
          <a:ln/>
        </p:spPr>
      </p:sp>
      <p:sp>
        <p:nvSpPr>
          <p:cNvPr id="190" name="Shape 188"/>
          <p:cNvSpPr/>
          <p:nvPr/>
        </p:nvSpPr>
        <p:spPr>
          <a:xfrm>
            <a:off x="10281091" y="3067812"/>
            <a:ext cx="100584" cy="100584"/>
          </a:xfrm>
          <a:prstGeom prst="ellipse">
            <a:avLst/>
          </a:prstGeom>
          <a:solidFill>
            <a:srgbClr val="E8ECF2"/>
          </a:solidFill>
          <a:ln/>
        </p:spPr>
      </p:sp>
      <p:sp>
        <p:nvSpPr>
          <p:cNvPr id="191" name="Shape 189"/>
          <p:cNvSpPr/>
          <p:nvPr/>
        </p:nvSpPr>
        <p:spPr>
          <a:xfrm>
            <a:off x="9936103" y="3357292"/>
            <a:ext cx="100584" cy="100584"/>
          </a:xfrm>
          <a:prstGeom prst="ellipse">
            <a:avLst/>
          </a:prstGeom>
          <a:solidFill>
            <a:srgbClr val="E8ECF2"/>
          </a:solidFill>
          <a:ln/>
        </p:spPr>
      </p:sp>
      <p:sp>
        <p:nvSpPr>
          <p:cNvPr id="192" name="Shape 190"/>
          <p:cNvSpPr/>
          <p:nvPr/>
        </p:nvSpPr>
        <p:spPr>
          <a:xfrm>
            <a:off x="9485753" y="3357292"/>
            <a:ext cx="100584" cy="100584"/>
          </a:xfrm>
          <a:prstGeom prst="ellipse">
            <a:avLst/>
          </a:prstGeom>
          <a:solidFill>
            <a:srgbClr val="E8ECF2"/>
          </a:solidFill>
          <a:ln/>
        </p:spPr>
      </p:sp>
      <p:sp>
        <p:nvSpPr>
          <p:cNvPr id="193" name="Shape 191"/>
          <p:cNvSpPr/>
          <p:nvPr/>
        </p:nvSpPr>
        <p:spPr>
          <a:xfrm>
            <a:off x="9140765" y="3067812"/>
            <a:ext cx="100584" cy="100584"/>
          </a:xfrm>
          <a:prstGeom prst="ellipse">
            <a:avLst/>
          </a:prstGeom>
          <a:solidFill>
            <a:srgbClr val="E8ECF2"/>
          </a:solidFill>
          <a:ln/>
        </p:spPr>
      </p:sp>
      <p:sp>
        <p:nvSpPr>
          <p:cNvPr id="194" name="Shape 192"/>
          <p:cNvSpPr/>
          <p:nvPr/>
        </p:nvSpPr>
        <p:spPr>
          <a:xfrm>
            <a:off x="9062562" y="2624304"/>
            <a:ext cx="100584" cy="100584"/>
          </a:xfrm>
          <a:prstGeom prst="ellipse">
            <a:avLst/>
          </a:prstGeom>
          <a:solidFill>
            <a:srgbClr val="E8ECF2"/>
          </a:solidFill>
          <a:ln/>
        </p:spPr>
      </p:sp>
      <p:sp>
        <p:nvSpPr>
          <p:cNvPr id="195" name="Shape 193"/>
          <p:cNvSpPr/>
          <p:nvPr/>
        </p:nvSpPr>
        <p:spPr>
          <a:xfrm>
            <a:off x="9287737" y="2234289"/>
            <a:ext cx="100584" cy="100584"/>
          </a:xfrm>
          <a:prstGeom prst="ellipse">
            <a:avLst/>
          </a:prstGeom>
          <a:solidFill>
            <a:srgbClr val="E8ECF2"/>
          </a:solidFill>
          <a:ln/>
        </p:spPr>
      </p:sp>
      <p:sp>
        <p:nvSpPr>
          <p:cNvPr id="196" name="Text 194"/>
          <p:cNvSpPr txBox="1"/>
          <p:nvPr/>
        </p:nvSpPr>
        <p:spPr>
          <a:xfrm>
            <a:off x="64008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Të rralla</a:t>
            </a:r>
            <a:endParaRPr lang="en-US" sz="2000" dirty="0"/>
          </a:p>
        </p:txBody>
      </p:sp>
      <p:sp>
        <p:nvSpPr>
          <p:cNvPr id="197" name="Text 195"/>
          <p:cNvSpPr txBox="1"/>
          <p:nvPr/>
        </p:nvSpPr>
        <p:spPr>
          <a:xfrm>
            <a:off x="64008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1,357 · 2,280–2,282 brinjë · tw ≥ 5</a:t>
            </a:r>
            <a:endParaRPr lang="en-US" sz="1250" dirty="0"/>
          </a:p>
        </p:txBody>
      </p:sp>
      <p:sp>
        <p:nvSpPr>
          <p:cNvPr id="198" name="Text 196"/>
          <p:cNvSpPr txBox="1"/>
          <p:nvPr/>
        </p:nvSpPr>
        <p:spPr>
          <a:xfrm>
            <a:off x="64008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small-graph (ESA) dhe synth-1, 2, 3: rrjeta 10 × 115, me 100 brinjë të hequra dhe 207 kulme varëse</a:t>
            </a:r>
            <a:endParaRPr lang="en-US" sz="1300" dirty="0"/>
          </a:p>
        </p:txBody>
      </p:sp>
      <p:sp>
        <p:nvSpPr>
          <p:cNvPr id="199" name="Text 197"/>
          <p:cNvSpPr txBox="1"/>
          <p:nvPr/>
        </p:nvSpPr>
        <p:spPr>
          <a:xfrm>
            <a:off x="434340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Mesatare të rilidhura</a:t>
            </a:r>
            <a:endParaRPr lang="en-US" sz="2000" dirty="0"/>
          </a:p>
        </p:txBody>
      </p:sp>
      <p:sp>
        <p:nvSpPr>
          <p:cNvPr id="200" name="Text 198"/>
          <p:cNvSpPr txBox="1"/>
          <p:nvPr/>
        </p:nvSpPr>
        <p:spPr>
          <a:xfrm>
            <a:off x="434340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1,399 · 13,799 brinjë · tw ≥ 63–73</a:t>
            </a:r>
            <a:endParaRPr lang="en-US" sz="1250" dirty="0"/>
          </a:p>
        </p:txBody>
      </p:sp>
      <p:sp>
        <p:nvSpPr>
          <p:cNvPr id="201" name="Text 199"/>
          <p:cNvSpPr txBox="1"/>
          <p:nvPr/>
        </p:nvSpPr>
        <p:spPr>
          <a:xfrm>
            <a:off x="434340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medium-graph (ESA) dhe synth-4, 5: rilidhje të tij që ruajnë shkallët</a:t>
            </a:r>
            <a:endParaRPr lang="en-US" sz="1300" dirty="0"/>
          </a:p>
        </p:txBody>
      </p:sp>
      <p:sp>
        <p:nvSpPr>
          <p:cNvPr id="202" name="Text 200"/>
          <p:cNvSpPr txBox="1"/>
          <p:nvPr/>
        </p:nvSpPr>
        <p:spPr>
          <a:xfrm>
            <a:off x="804672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Të dendura me klika</a:t>
            </a:r>
            <a:endParaRPr lang="en-US" sz="2000" dirty="0"/>
          </a:p>
        </p:txBody>
      </p:sp>
      <p:sp>
        <p:nvSpPr>
          <p:cNvPr id="203" name="Text 201"/>
          <p:cNvSpPr txBox="1"/>
          <p:nvPr/>
        </p:nvSpPr>
        <p:spPr>
          <a:xfrm>
            <a:off x="804672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2,426 · 253,895 brinjë · tw 499–500</a:t>
            </a:r>
            <a:endParaRPr lang="en-US" sz="1250" dirty="0"/>
          </a:p>
        </p:txBody>
      </p:sp>
      <p:sp>
        <p:nvSpPr>
          <p:cNvPr id="204" name="Text 202"/>
          <p:cNvSpPr txBox="1"/>
          <p:nvPr/>
        </p:nvSpPr>
        <p:spPr>
          <a:xfrm>
            <a:off x="804672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large-graph (ESA) dhe synth-6, 7: rilidhje që ruajnë klikat me 500, 400 dhe 300 kulme</a:t>
            </a:r>
            <a:endParaRPr lang="en-US" sz="1300" dirty="0"/>
          </a:p>
        </p:txBody>
      </p:sp>
      <p:sp>
        <p:nvSpPr>
          <p:cNvPr id="205" name="Text 203"/>
          <p:cNvSpPr txBox="1"/>
          <p:nvPr/>
        </p:nvSpPr>
        <p:spPr>
          <a:xfrm>
            <a:off x="640080" y="5596128"/>
            <a:ext cx="10911535" cy="658368"/>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Brenda një familjeje n është i njëjtë, numri i brinjëve ndryshon së shumti me dy dhe ndryshon vetëm struktura, prandaj një radhitje e metodave që ndryshon mes familjeve flet për strukturën. Dhjetë rreshta janë tri mostra të pavarura, jo dhjetë.</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TABELA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Tabela emëron një fitues në çdo rresht</a:t>
            </a:r>
            <a:endParaRPr lang="en-US" sz="27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726680" cy="914400"/>
        </p:xfrm>
        <a:graphic>
          <a:graphicData uri="http://schemas.openxmlformats.org/drawingml/2006/table">
            <a:tbl>
              <a:tblPr/>
              <a:tblGrid>
                <a:gridCol w="1417320"/>
                <a:gridCol w="1261872"/>
                <a:gridCol w="1261872"/>
                <a:gridCol w="1261872"/>
                <a:gridCol w="1261872"/>
                <a:gridCol w="1261872"/>
              </a:tblGrid>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fcmaes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Team HRI</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Spacekangaroos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Hill Climbing</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min-degree ×8</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647187"/>
                          </a:solidFill>
                          <a:latin typeface="Calibri" pitchFamily="34" charset="0"/>
                          <a:ea typeface="Calibri" pitchFamily="34" charset="-122"/>
                          <a:cs typeface="Calibri" pitchFamily="34" charset="-120"/>
                        </a:rPr>
                        <a:t>ESA #4</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647187"/>
                          </a:solidFill>
                          <a:latin typeface="Calibri" pitchFamily="34" charset="0"/>
                          <a:ea typeface="Calibri" pitchFamily="34" charset="-122"/>
                          <a:cs typeface="Calibri" pitchFamily="34" charset="-120"/>
                        </a:rPr>
                        <a:t>ESA #2</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647187"/>
                          </a:solidFill>
                          <a:latin typeface="Calibri" pitchFamily="34" charset="0"/>
                          <a:ea typeface="Calibri" pitchFamily="34" charset="-122"/>
                          <a:cs typeface="Calibri" pitchFamily="34" charset="-120"/>
                        </a:rPr>
                        <a:t>ESA #1</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647187"/>
                          </a:solidFill>
                          <a:latin typeface="Calibri" pitchFamily="34" charset="0"/>
                          <a:ea typeface="Calibri" pitchFamily="34" charset="-122"/>
                          <a:cs typeface="Calibri" pitchFamily="34" charset="-120"/>
                        </a:rPr>
                        <a:t>ky studim</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647187"/>
                          </a:solidFill>
                          <a:latin typeface="Calibri" pitchFamily="34" charset="0"/>
                          <a:ea typeface="Calibri" pitchFamily="34" charset="-122"/>
                          <a:cs typeface="Calibri" pitchFamily="34" charset="-120"/>
                        </a:rPr>
                        <a:t>pa kërkim</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269748">
                <a:tc gridSpan="6">
                  <a:txBody>
                    <a:bodyPr/>
                    <a:lstStyle/>
                    <a:p>
                      <a:pPr indent="0" marL="0">
                        <a:buNone/>
                      </a:pPr>
                      <a:r>
                        <a:rPr lang="en-US" sz="950" b="1" spc="150" kern="0" dirty="0">
                          <a:solidFill>
                            <a:srgbClr val="647187"/>
                          </a:solidFill>
                          <a:latin typeface="Calibri" pitchFamily="34" charset="0"/>
                          <a:ea typeface="Calibri" pitchFamily="34" charset="-122"/>
                          <a:cs typeface="Calibri" pitchFamily="34" charset="-120"/>
                        </a:rPr>
                        <a:t>TË RRALLA</a:t>
                      </a:r>
                      <a:endParaRPr lang="en-US" sz="9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1,808.0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1,818.7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1,803.8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1,820.2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950" b="1" spc="150" kern="0" dirty="0">
                          <a:solidFill>
                            <a:srgbClr val="647187"/>
                          </a:solidFill>
                          <a:latin typeface="Calibri" pitchFamily="34" charset="0"/>
                          <a:ea typeface="Calibri" pitchFamily="34" charset="-122"/>
                          <a:cs typeface="Calibri" pitchFamily="34" charset="-120"/>
                        </a:rPr>
                        <a:t>MESATARE TË RILIDHURA</a:t>
                      </a:r>
                      <a:endParaRPr lang="en-US" sz="9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1,663.1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1,682.4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1,615.2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1,606.4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1,586.3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1,592.3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1,484.0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1,554.1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1,582.9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1,473.4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1,562.1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950" b="1" spc="150" kern="0" dirty="0">
                          <a:solidFill>
                            <a:srgbClr val="647187"/>
                          </a:solidFill>
                          <a:latin typeface="Calibri" pitchFamily="34" charset="0"/>
                          <a:ea typeface="Calibri" pitchFamily="34" charset="-122"/>
                          <a:cs typeface="Calibri" pitchFamily="34" charset="-120"/>
                        </a:rPr>
                        <a:t>TË DENDURA ME KLIKA</a:t>
                      </a:r>
                      <a:endParaRPr lang="en-US" sz="9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5,329.4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4,836.8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64718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5,167.2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4,797.9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64718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5,203.6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64718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870448"/>
            <a:ext cx="7726680" cy="411480"/>
          </a:xfrm>
          <a:prstGeom prst="rect">
            <a:avLst/>
          </a:prstGeom>
          <a:noFill/>
          <a:ln/>
        </p:spPr>
        <p:txBody>
          <a:bodyPr wrap="square" lIns="0" tIns="0" rIns="0" bIns="0" rtlCol="0" anchor="t"/>
          <a:lstStyle/>
          <a:p>
            <a:pPr indent="0" marL="0">
              <a:buNone/>
            </a:pPr>
            <a:r>
              <a:rPr lang="en-US" sz="1050" i="1" dirty="0">
                <a:solidFill>
                  <a:srgbClr val="647187"/>
                </a:solidFill>
                <a:latin typeface="Calibri" pitchFamily="34" charset="0"/>
                <a:ea typeface="Calibri" pitchFamily="34" charset="-122"/>
                <a:cs typeface="Calibri" pitchFamily="34" charset="-120"/>
              </a:rPr>
              <a:t>Hipervolum ×1,000, më i miri nga 3 seed-a, 1,200 s secili. Me të trasha: fituesi i rreshtit. — asnjë pikë e lejuar në asnjë seed.</a:t>
            </a:r>
            <a:endParaRPr lang="en-US" sz="1050" dirty="0"/>
          </a:p>
        </p:txBody>
      </p:sp>
      <p:sp>
        <p:nvSpPr>
          <p:cNvPr id="6" name="Text 3"/>
          <p:cNvSpPr txBox="1"/>
          <p:nvPr/>
        </p:nvSpPr>
        <p:spPr>
          <a:xfrm>
            <a:off x="8686800" y="1810512"/>
            <a:ext cx="2864815" cy="3108960"/>
          </a:xfrm>
          <a:prstGeom prst="rect">
            <a:avLst/>
          </a:prstGeom>
          <a:noFill/>
          <a:ln/>
        </p:spPr>
        <p:txBody>
          <a:bodyPr wrap="square" lIns="0" tIns="0" rIns="0" bIns="0" rtlCol="0" anchor="t"/>
          <a:lstStyle/>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Tri hyrje nga tabela e ESA-s, të riekzekutuara me një protokoll të vetëm: fcmaes dhe Team HRI të riimplementuara, Spacekangaroos me kodin e vet për GPU.</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1,200 s për ekzekutim, tre seed-a; një bërthamë CPU për secilin, Spacekangaroos në një GPU T4; çdo përgjigje e rivlerësuar nga i njëjti vlerësues.</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Hyrjet nga tabela fitojnë 8 nga 10 rreshta. Spacekangaroos nuk gjen asnjë pikë të lejuar në tri instancat e dendura.</a:t>
            </a:r>
            <a:endParaRPr lang="en-US" sz="1350" dirty="0"/>
          </a:p>
        </p:txBody>
      </p:sp>
      <p:sp>
        <p:nvSpPr>
          <p:cNvPr id="7" name="Text 4"/>
          <p:cNvSpPr txBox="1"/>
          <p:nvPr/>
        </p:nvSpPr>
        <p:spPr>
          <a:xfrm>
            <a:off x="8686800" y="5074920"/>
            <a:ext cx="2864815" cy="822960"/>
          </a:xfrm>
          <a:prstGeom prst="rect">
            <a:avLst/>
          </a:prstGeom>
          <a:noFill/>
          <a:ln/>
        </p:spPr>
        <p:txBody>
          <a:bodyPr wrap="square" lIns="0" tIns="0" rIns="0" bIns="0" rtlCol="0" anchor="t"/>
          <a:lstStyle/>
          <a:p>
            <a:pPr indent="0" marL="0">
              <a:buNone/>
            </a:pPr>
            <a:r>
              <a:rPr lang="en-US" sz="1700" i="1" dirty="0">
                <a:solidFill>
                  <a:srgbClr val="F2C14E"/>
                </a:solidFill>
                <a:latin typeface="Century Schoolbook" pitchFamily="34" charset="0"/>
                <a:ea typeface="Century Schoolbook" pitchFamily="34" charset="-122"/>
                <a:cs typeface="Century Schoolbook" pitchFamily="34" charset="-120"/>
              </a:rPr>
              <a:t>Cilët nga këta fitues do t'i mbijetonin një vështrimi të dytë?</a:t>
            </a:r>
            <a:endParaRPr lang="en-US" sz="1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TABELA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Pikat e nisjes e vendosin këtë tabelë, jo kërkimet</a:t>
            </a:r>
            <a:endParaRPr lang="en-US" sz="2700" dirty="0"/>
          </a:p>
        </p:txBody>
      </p:sp>
      <p:sp>
        <p:nvSpPr>
          <p:cNvPr id="4" name="Text 2"/>
          <p:cNvSpPr txBox="1"/>
          <p:nvPr/>
        </p:nvSpPr>
        <p:spPr>
          <a:xfrm>
            <a:off x="640080" y="1783080"/>
            <a:ext cx="54864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PIKA TË LEJUARA NË SHKALLAREN E NJË RENDITJEJE</a:t>
            </a:r>
            <a:endParaRPr lang="en-US" sz="1050" dirty="0"/>
          </a:p>
        </p:txBody>
      </p:sp>
      <p:sp>
        <p:nvSpPr>
          <p:cNvPr id="5" name="Text 3"/>
          <p:cNvSpPr txBox="1"/>
          <p:nvPr/>
        </p:nvSpPr>
        <p:spPr>
          <a:xfrm>
            <a:off x="640080" y="219456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small-graph</a:t>
            </a:r>
            <a:endParaRPr lang="en-US" sz="1150" dirty="0"/>
          </a:p>
        </p:txBody>
      </p:sp>
      <p:sp>
        <p:nvSpPr>
          <p:cNvPr id="6" name="Shape 4"/>
          <p:cNvSpPr/>
          <p:nvPr/>
        </p:nvSpPr>
        <p:spPr>
          <a:xfrm>
            <a:off x="2057400" y="2212848"/>
            <a:ext cx="834481" cy="100584"/>
          </a:xfrm>
          <a:prstGeom prst="rect">
            <a:avLst/>
          </a:prstGeom>
          <a:solidFill>
            <a:srgbClr val="FF5A60"/>
          </a:solidFill>
          <a:ln/>
        </p:spPr>
      </p:sp>
      <p:sp>
        <p:nvSpPr>
          <p:cNvPr id="7" name="Shape 5"/>
          <p:cNvSpPr/>
          <p:nvPr/>
        </p:nvSpPr>
        <p:spPr>
          <a:xfrm>
            <a:off x="2057400" y="2331720"/>
            <a:ext cx="156911" cy="100584"/>
          </a:xfrm>
          <a:prstGeom prst="rect">
            <a:avLst/>
          </a:prstGeom>
          <a:solidFill>
            <a:srgbClr val="3DDC97"/>
          </a:solidFill>
          <a:ln/>
        </p:spPr>
      </p:sp>
      <p:sp>
        <p:nvSpPr>
          <p:cNvPr id="8" name="Text 6"/>
          <p:cNvSpPr txBox="1"/>
          <p:nvPr/>
        </p:nvSpPr>
        <p:spPr>
          <a:xfrm>
            <a:off x="2946745" y="2148840"/>
            <a:ext cx="457200" cy="182880"/>
          </a:xfrm>
          <a:prstGeom prst="rect">
            <a:avLst/>
          </a:prstGeom>
          <a:noFill/>
          <a:ln/>
        </p:spPr>
        <p:txBody>
          <a:bodyPr wrap="square" lIns="0" tIns="0" rIns="0" bIns="0" rtlCol="0" anchor="t"/>
          <a:lstStyle/>
          <a:p>
            <a:pPr indent="0" marL="0">
              <a:buNone/>
            </a:pPr>
            <a:r>
              <a:rPr lang="en-US" sz="950" dirty="0">
                <a:solidFill>
                  <a:srgbClr val="FF5A60"/>
                </a:solidFill>
                <a:latin typeface="Calibri" pitchFamily="34" charset="0"/>
                <a:ea typeface="Calibri" pitchFamily="34" charset="-122"/>
                <a:cs typeface="Calibri" pitchFamily="34" charset="-120"/>
              </a:rPr>
              <a:t>117</a:t>
            </a:r>
            <a:endParaRPr lang="en-US" sz="950" dirty="0"/>
          </a:p>
        </p:txBody>
      </p:sp>
      <p:sp>
        <p:nvSpPr>
          <p:cNvPr id="9" name="Text 7"/>
          <p:cNvSpPr txBox="1"/>
          <p:nvPr/>
        </p:nvSpPr>
        <p:spPr>
          <a:xfrm>
            <a:off x="2269175" y="2286000"/>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22</a:t>
            </a:r>
            <a:endParaRPr lang="en-US" sz="950" dirty="0"/>
          </a:p>
        </p:txBody>
      </p:sp>
      <p:sp>
        <p:nvSpPr>
          <p:cNvPr id="10" name="Text 8"/>
          <p:cNvSpPr txBox="1"/>
          <p:nvPr/>
        </p:nvSpPr>
        <p:spPr>
          <a:xfrm>
            <a:off x="640080" y="251917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synth-1</a:t>
            </a:r>
            <a:endParaRPr lang="en-US" sz="1150" dirty="0"/>
          </a:p>
        </p:txBody>
      </p:sp>
      <p:sp>
        <p:nvSpPr>
          <p:cNvPr id="11" name="Shape 9"/>
          <p:cNvSpPr/>
          <p:nvPr/>
        </p:nvSpPr>
        <p:spPr>
          <a:xfrm>
            <a:off x="2057400" y="2537460"/>
            <a:ext cx="1783080" cy="100584"/>
          </a:xfrm>
          <a:prstGeom prst="rect">
            <a:avLst/>
          </a:prstGeom>
          <a:solidFill>
            <a:srgbClr val="FF5A60"/>
          </a:solidFill>
          <a:ln/>
        </p:spPr>
      </p:sp>
      <p:sp>
        <p:nvSpPr>
          <p:cNvPr id="12" name="Shape 10"/>
          <p:cNvSpPr/>
          <p:nvPr/>
        </p:nvSpPr>
        <p:spPr>
          <a:xfrm>
            <a:off x="2057400" y="2656332"/>
            <a:ext cx="128382" cy="100584"/>
          </a:xfrm>
          <a:prstGeom prst="rect">
            <a:avLst/>
          </a:prstGeom>
          <a:solidFill>
            <a:srgbClr val="3DDC97"/>
          </a:solidFill>
          <a:ln/>
        </p:spPr>
      </p:sp>
      <p:sp>
        <p:nvSpPr>
          <p:cNvPr id="13" name="Text 11"/>
          <p:cNvSpPr txBox="1"/>
          <p:nvPr/>
        </p:nvSpPr>
        <p:spPr>
          <a:xfrm>
            <a:off x="3895344" y="2473452"/>
            <a:ext cx="457200" cy="182880"/>
          </a:xfrm>
          <a:prstGeom prst="rect">
            <a:avLst/>
          </a:prstGeom>
          <a:noFill/>
          <a:ln/>
        </p:spPr>
        <p:txBody>
          <a:bodyPr wrap="square" lIns="0" tIns="0" rIns="0" bIns="0" rtlCol="0" anchor="t"/>
          <a:lstStyle/>
          <a:p>
            <a:pPr indent="0" marL="0">
              <a:buNone/>
            </a:pPr>
            <a:r>
              <a:rPr lang="en-US" sz="950" dirty="0">
                <a:solidFill>
                  <a:srgbClr val="FF5A60"/>
                </a:solidFill>
                <a:latin typeface="Calibri" pitchFamily="34" charset="0"/>
                <a:ea typeface="Calibri" pitchFamily="34" charset="-122"/>
                <a:cs typeface="Calibri" pitchFamily="34" charset="-120"/>
              </a:rPr>
              <a:t>250</a:t>
            </a:r>
            <a:endParaRPr lang="en-US" sz="950" dirty="0"/>
          </a:p>
        </p:txBody>
      </p:sp>
      <p:sp>
        <p:nvSpPr>
          <p:cNvPr id="14" name="Text 12"/>
          <p:cNvSpPr txBox="1"/>
          <p:nvPr/>
        </p:nvSpPr>
        <p:spPr>
          <a:xfrm>
            <a:off x="2240646" y="2610612"/>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18</a:t>
            </a:r>
            <a:endParaRPr lang="en-US" sz="950" dirty="0"/>
          </a:p>
        </p:txBody>
      </p:sp>
      <p:sp>
        <p:nvSpPr>
          <p:cNvPr id="15" name="Text 13"/>
          <p:cNvSpPr txBox="1"/>
          <p:nvPr/>
        </p:nvSpPr>
        <p:spPr>
          <a:xfrm>
            <a:off x="640080" y="284378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synth-2</a:t>
            </a:r>
            <a:endParaRPr lang="en-US" sz="1150" dirty="0"/>
          </a:p>
        </p:txBody>
      </p:sp>
      <p:sp>
        <p:nvSpPr>
          <p:cNvPr id="16" name="Shape 14"/>
          <p:cNvSpPr/>
          <p:nvPr/>
        </p:nvSpPr>
        <p:spPr>
          <a:xfrm>
            <a:off x="2057400" y="2862072"/>
            <a:ext cx="2118299" cy="100584"/>
          </a:xfrm>
          <a:prstGeom prst="rect">
            <a:avLst/>
          </a:prstGeom>
          <a:solidFill>
            <a:srgbClr val="FF5A60"/>
          </a:solidFill>
          <a:ln/>
        </p:spPr>
      </p:sp>
      <p:sp>
        <p:nvSpPr>
          <p:cNvPr id="17" name="Shape 15"/>
          <p:cNvSpPr/>
          <p:nvPr/>
        </p:nvSpPr>
        <p:spPr>
          <a:xfrm>
            <a:off x="2057400" y="2980944"/>
            <a:ext cx="135514" cy="100584"/>
          </a:xfrm>
          <a:prstGeom prst="rect">
            <a:avLst/>
          </a:prstGeom>
          <a:solidFill>
            <a:srgbClr val="3DDC97"/>
          </a:solidFill>
          <a:ln/>
        </p:spPr>
      </p:sp>
      <p:sp>
        <p:nvSpPr>
          <p:cNvPr id="18" name="Text 16"/>
          <p:cNvSpPr txBox="1"/>
          <p:nvPr/>
        </p:nvSpPr>
        <p:spPr>
          <a:xfrm>
            <a:off x="4230563" y="2798064"/>
            <a:ext cx="457200" cy="182880"/>
          </a:xfrm>
          <a:prstGeom prst="rect">
            <a:avLst/>
          </a:prstGeom>
          <a:noFill/>
          <a:ln/>
        </p:spPr>
        <p:txBody>
          <a:bodyPr wrap="square" lIns="0" tIns="0" rIns="0" bIns="0" rtlCol="0" anchor="t"/>
          <a:lstStyle/>
          <a:p>
            <a:pPr indent="0" marL="0">
              <a:buNone/>
            </a:pPr>
            <a:r>
              <a:rPr lang="en-US" sz="950" dirty="0">
                <a:solidFill>
                  <a:srgbClr val="FF5A60"/>
                </a:solidFill>
                <a:latin typeface="Calibri" pitchFamily="34" charset="0"/>
                <a:ea typeface="Calibri" pitchFamily="34" charset="-122"/>
                <a:cs typeface="Calibri" pitchFamily="34" charset="-120"/>
              </a:rPr>
              <a:t>297</a:t>
            </a:r>
            <a:endParaRPr lang="en-US" sz="950" dirty="0"/>
          </a:p>
        </p:txBody>
      </p:sp>
      <p:sp>
        <p:nvSpPr>
          <p:cNvPr id="19" name="Text 17"/>
          <p:cNvSpPr txBox="1"/>
          <p:nvPr/>
        </p:nvSpPr>
        <p:spPr>
          <a:xfrm>
            <a:off x="2247778" y="2935224"/>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19</a:t>
            </a:r>
            <a:endParaRPr lang="en-US" sz="950" dirty="0"/>
          </a:p>
        </p:txBody>
      </p:sp>
      <p:sp>
        <p:nvSpPr>
          <p:cNvPr id="20" name="Text 18"/>
          <p:cNvSpPr txBox="1"/>
          <p:nvPr/>
        </p:nvSpPr>
        <p:spPr>
          <a:xfrm>
            <a:off x="640080" y="316839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synth-3</a:t>
            </a:r>
            <a:endParaRPr lang="en-US" sz="1150" dirty="0"/>
          </a:p>
        </p:txBody>
      </p:sp>
      <p:sp>
        <p:nvSpPr>
          <p:cNvPr id="21" name="Shape 19"/>
          <p:cNvSpPr/>
          <p:nvPr/>
        </p:nvSpPr>
        <p:spPr>
          <a:xfrm>
            <a:off x="2057400" y="3186684"/>
            <a:ext cx="2104034" cy="100584"/>
          </a:xfrm>
          <a:prstGeom prst="rect">
            <a:avLst/>
          </a:prstGeom>
          <a:solidFill>
            <a:srgbClr val="FF5A60"/>
          </a:solidFill>
          <a:ln/>
        </p:spPr>
      </p:sp>
      <p:sp>
        <p:nvSpPr>
          <p:cNvPr id="22" name="Shape 20"/>
          <p:cNvSpPr/>
          <p:nvPr/>
        </p:nvSpPr>
        <p:spPr>
          <a:xfrm>
            <a:off x="2057400" y="3305556"/>
            <a:ext cx="135514" cy="100584"/>
          </a:xfrm>
          <a:prstGeom prst="rect">
            <a:avLst/>
          </a:prstGeom>
          <a:solidFill>
            <a:srgbClr val="3DDC97"/>
          </a:solidFill>
          <a:ln/>
        </p:spPr>
      </p:sp>
      <p:sp>
        <p:nvSpPr>
          <p:cNvPr id="23" name="Text 21"/>
          <p:cNvSpPr txBox="1"/>
          <p:nvPr/>
        </p:nvSpPr>
        <p:spPr>
          <a:xfrm>
            <a:off x="4216298" y="3122676"/>
            <a:ext cx="457200" cy="182880"/>
          </a:xfrm>
          <a:prstGeom prst="rect">
            <a:avLst/>
          </a:prstGeom>
          <a:noFill/>
          <a:ln/>
        </p:spPr>
        <p:txBody>
          <a:bodyPr wrap="square" lIns="0" tIns="0" rIns="0" bIns="0" rtlCol="0" anchor="t"/>
          <a:lstStyle/>
          <a:p>
            <a:pPr indent="0" marL="0">
              <a:buNone/>
            </a:pPr>
            <a:r>
              <a:rPr lang="en-US" sz="950" dirty="0">
                <a:solidFill>
                  <a:srgbClr val="FF5A60"/>
                </a:solidFill>
                <a:latin typeface="Calibri" pitchFamily="34" charset="0"/>
                <a:ea typeface="Calibri" pitchFamily="34" charset="-122"/>
                <a:cs typeface="Calibri" pitchFamily="34" charset="-120"/>
              </a:rPr>
              <a:t>295</a:t>
            </a:r>
            <a:endParaRPr lang="en-US" sz="950" dirty="0"/>
          </a:p>
        </p:txBody>
      </p:sp>
      <p:sp>
        <p:nvSpPr>
          <p:cNvPr id="24" name="Text 22"/>
          <p:cNvSpPr txBox="1"/>
          <p:nvPr/>
        </p:nvSpPr>
        <p:spPr>
          <a:xfrm>
            <a:off x="2247778" y="3259836"/>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19</a:t>
            </a:r>
            <a:endParaRPr lang="en-US" sz="950" dirty="0"/>
          </a:p>
        </p:txBody>
      </p:sp>
      <p:sp>
        <p:nvSpPr>
          <p:cNvPr id="25" name="Text 23"/>
          <p:cNvSpPr txBox="1"/>
          <p:nvPr/>
        </p:nvSpPr>
        <p:spPr>
          <a:xfrm>
            <a:off x="640080" y="349300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medium-graph</a:t>
            </a:r>
            <a:endParaRPr lang="en-US" sz="1150" dirty="0"/>
          </a:p>
        </p:txBody>
      </p:sp>
      <p:sp>
        <p:nvSpPr>
          <p:cNvPr id="26" name="Shape 24"/>
          <p:cNvSpPr/>
          <p:nvPr/>
        </p:nvSpPr>
        <p:spPr>
          <a:xfrm>
            <a:off x="2057400" y="3630168"/>
            <a:ext cx="2032711" cy="100584"/>
          </a:xfrm>
          <a:prstGeom prst="rect">
            <a:avLst/>
          </a:prstGeom>
          <a:solidFill>
            <a:srgbClr val="3DDC97"/>
          </a:solidFill>
          <a:ln/>
        </p:spPr>
      </p:sp>
      <p:sp>
        <p:nvSpPr>
          <p:cNvPr id="27" name="Text 25"/>
          <p:cNvSpPr txBox="1"/>
          <p:nvPr/>
        </p:nvSpPr>
        <p:spPr>
          <a:xfrm>
            <a:off x="2112264" y="3447288"/>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28" name="Text 26"/>
          <p:cNvSpPr txBox="1"/>
          <p:nvPr/>
        </p:nvSpPr>
        <p:spPr>
          <a:xfrm>
            <a:off x="4144975" y="3584448"/>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285</a:t>
            </a:r>
            <a:endParaRPr lang="en-US" sz="950" dirty="0"/>
          </a:p>
        </p:txBody>
      </p:sp>
      <p:sp>
        <p:nvSpPr>
          <p:cNvPr id="29" name="Text 27"/>
          <p:cNvSpPr txBox="1"/>
          <p:nvPr/>
        </p:nvSpPr>
        <p:spPr>
          <a:xfrm>
            <a:off x="640080" y="381762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synth-4</a:t>
            </a:r>
            <a:endParaRPr lang="en-US" sz="1150" dirty="0"/>
          </a:p>
        </p:txBody>
      </p:sp>
      <p:sp>
        <p:nvSpPr>
          <p:cNvPr id="30" name="Shape 28"/>
          <p:cNvSpPr/>
          <p:nvPr/>
        </p:nvSpPr>
        <p:spPr>
          <a:xfrm>
            <a:off x="2057400" y="3954780"/>
            <a:ext cx="2225284" cy="100584"/>
          </a:xfrm>
          <a:prstGeom prst="rect">
            <a:avLst/>
          </a:prstGeom>
          <a:solidFill>
            <a:srgbClr val="3DDC97"/>
          </a:solidFill>
          <a:ln/>
        </p:spPr>
      </p:sp>
      <p:sp>
        <p:nvSpPr>
          <p:cNvPr id="31" name="Text 29"/>
          <p:cNvSpPr txBox="1"/>
          <p:nvPr/>
        </p:nvSpPr>
        <p:spPr>
          <a:xfrm>
            <a:off x="2112264" y="3771900"/>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32" name="Text 30"/>
          <p:cNvSpPr txBox="1"/>
          <p:nvPr/>
        </p:nvSpPr>
        <p:spPr>
          <a:xfrm>
            <a:off x="4337548" y="3909060"/>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312</a:t>
            </a:r>
            <a:endParaRPr lang="en-US" sz="950" dirty="0"/>
          </a:p>
        </p:txBody>
      </p:sp>
      <p:sp>
        <p:nvSpPr>
          <p:cNvPr id="33" name="Text 31"/>
          <p:cNvSpPr txBox="1"/>
          <p:nvPr/>
        </p:nvSpPr>
        <p:spPr>
          <a:xfrm>
            <a:off x="640080" y="414223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synth-5</a:t>
            </a:r>
            <a:endParaRPr lang="en-US" sz="1150" dirty="0"/>
          </a:p>
        </p:txBody>
      </p:sp>
      <p:sp>
        <p:nvSpPr>
          <p:cNvPr id="34" name="Shape 32"/>
          <p:cNvSpPr/>
          <p:nvPr/>
        </p:nvSpPr>
        <p:spPr>
          <a:xfrm>
            <a:off x="2057400" y="4279392"/>
            <a:ext cx="2489180" cy="100584"/>
          </a:xfrm>
          <a:prstGeom prst="rect">
            <a:avLst/>
          </a:prstGeom>
          <a:solidFill>
            <a:srgbClr val="3DDC97"/>
          </a:solidFill>
          <a:ln/>
        </p:spPr>
      </p:sp>
      <p:sp>
        <p:nvSpPr>
          <p:cNvPr id="35" name="Text 33"/>
          <p:cNvSpPr txBox="1"/>
          <p:nvPr/>
        </p:nvSpPr>
        <p:spPr>
          <a:xfrm>
            <a:off x="2112264" y="4096512"/>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36" name="Text 34"/>
          <p:cNvSpPr txBox="1"/>
          <p:nvPr/>
        </p:nvSpPr>
        <p:spPr>
          <a:xfrm>
            <a:off x="4601444" y="4233672"/>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349</a:t>
            </a:r>
            <a:endParaRPr lang="en-US" sz="950" dirty="0"/>
          </a:p>
        </p:txBody>
      </p:sp>
      <p:sp>
        <p:nvSpPr>
          <p:cNvPr id="37" name="Text 35"/>
          <p:cNvSpPr txBox="1"/>
          <p:nvPr/>
        </p:nvSpPr>
        <p:spPr>
          <a:xfrm>
            <a:off x="640080" y="446684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large-graph</a:t>
            </a:r>
            <a:endParaRPr lang="en-US" sz="1150" dirty="0"/>
          </a:p>
        </p:txBody>
      </p:sp>
      <p:sp>
        <p:nvSpPr>
          <p:cNvPr id="38" name="Shape 36"/>
          <p:cNvSpPr/>
          <p:nvPr/>
        </p:nvSpPr>
        <p:spPr>
          <a:xfrm>
            <a:off x="2057400" y="4604004"/>
            <a:ext cx="3566160" cy="100584"/>
          </a:xfrm>
          <a:prstGeom prst="rect">
            <a:avLst/>
          </a:prstGeom>
          <a:solidFill>
            <a:srgbClr val="3DDC97"/>
          </a:solidFill>
          <a:ln/>
        </p:spPr>
      </p:sp>
      <p:sp>
        <p:nvSpPr>
          <p:cNvPr id="39" name="Text 37"/>
          <p:cNvSpPr txBox="1"/>
          <p:nvPr/>
        </p:nvSpPr>
        <p:spPr>
          <a:xfrm>
            <a:off x="2112264" y="4421124"/>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40" name="Text 38"/>
          <p:cNvSpPr txBox="1"/>
          <p:nvPr/>
        </p:nvSpPr>
        <p:spPr>
          <a:xfrm>
            <a:off x="5678424" y="4558284"/>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500</a:t>
            </a:r>
            <a:endParaRPr lang="en-US" sz="950" dirty="0"/>
          </a:p>
        </p:txBody>
      </p:sp>
      <p:sp>
        <p:nvSpPr>
          <p:cNvPr id="41" name="Text 39"/>
          <p:cNvSpPr txBox="1"/>
          <p:nvPr/>
        </p:nvSpPr>
        <p:spPr>
          <a:xfrm>
            <a:off x="640080" y="479145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synth-6</a:t>
            </a:r>
            <a:endParaRPr lang="en-US" sz="1150" dirty="0"/>
          </a:p>
        </p:txBody>
      </p:sp>
      <p:sp>
        <p:nvSpPr>
          <p:cNvPr id="42" name="Shape 40"/>
          <p:cNvSpPr/>
          <p:nvPr/>
        </p:nvSpPr>
        <p:spPr>
          <a:xfrm>
            <a:off x="2057400" y="4928616"/>
            <a:ext cx="3566160" cy="100584"/>
          </a:xfrm>
          <a:prstGeom prst="rect">
            <a:avLst/>
          </a:prstGeom>
          <a:solidFill>
            <a:srgbClr val="3DDC97"/>
          </a:solidFill>
          <a:ln/>
        </p:spPr>
      </p:sp>
      <p:sp>
        <p:nvSpPr>
          <p:cNvPr id="43" name="Text 41"/>
          <p:cNvSpPr txBox="1"/>
          <p:nvPr/>
        </p:nvSpPr>
        <p:spPr>
          <a:xfrm>
            <a:off x="2112264" y="4745736"/>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44" name="Text 42"/>
          <p:cNvSpPr txBox="1"/>
          <p:nvPr/>
        </p:nvSpPr>
        <p:spPr>
          <a:xfrm>
            <a:off x="5678424" y="4882896"/>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500</a:t>
            </a:r>
            <a:endParaRPr lang="en-US" sz="950" dirty="0"/>
          </a:p>
        </p:txBody>
      </p:sp>
      <p:sp>
        <p:nvSpPr>
          <p:cNvPr id="45" name="Text 43"/>
          <p:cNvSpPr txBox="1"/>
          <p:nvPr/>
        </p:nvSpPr>
        <p:spPr>
          <a:xfrm>
            <a:off x="640080" y="511606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synth-7</a:t>
            </a:r>
            <a:endParaRPr lang="en-US" sz="1150" dirty="0"/>
          </a:p>
        </p:txBody>
      </p:sp>
      <p:sp>
        <p:nvSpPr>
          <p:cNvPr id="46" name="Shape 44"/>
          <p:cNvSpPr/>
          <p:nvPr/>
        </p:nvSpPr>
        <p:spPr>
          <a:xfrm>
            <a:off x="2057400" y="5253228"/>
            <a:ext cx="3566160" cy="100584"/>
          </a:xfrm>
          <a:prstGeom prst="rect">
            <a:avLst/>
          </a:prstGeom>
          <a:solidFill>
            <a:srgbClr val="3DDC97"/>
          </a:solidFill>
          <a:ln/>
        </p:spPr>
      </p:sp>
      <p:sp>
        <p:nvSpPr>
          <p:cNvPr id="47" name="Text 45"/>
          <p:cNvSpPr txBox="1"/>
          <p:nvPr/>
        </p:nvSpPr>
        <p:spPr>
          <a:xfrm>
            <a:off x="2112264" y="5070348"/>
            <a:ext cx="457200" cy="182880"/>
          </a:xfrm>
          <a:prstGeom prst="rect">
            <a:avLst/>
          </a:prstGeom>
          <a:noFill/>
          <a:ln/>
        </p:spPr>
        <p:txBody>
          <a:bodyPr wrap="square" lIns="0" tIns="0" rIns="0" bIns="0" rtlCol="0" anchor="t"/>
          <a:lstStyle/>
          <a:p>
            <a:pPr indent="0" marL="0">
              <a:buNone/>
            </a:pPr>
            <a:r>
              <a:rPr lang="en-US" sz="950" b="1" dirty="0">
                <a:solidFill>
                  <a:srgbClr val="FF5A60"/>
                </a:solidFill>
                <a:latin typeface="Calibri" pitchFamily="34" charset="0"/>
                <a:ea typeface="Calibri" pitchFamily="34" charset="-122"/>
                <a:cs typeface="Calibri" pitchFamily="34" charset="-120"/>
              </a:rPr>
              <a:t>0</a:t>
            </a:r>
            <a:endParaRPr lang="en-US" sz="950" dirty="0"/>
          </a:p>
        </p:txBody>
      </p:sp>
      <p:sp>
        <p:nvSpPr>
          <p:cNvPr id="48" name="Text 46"/>
          <p:cNvSpPr txBox="1"/>
          <p:nvPr/>
        </p:nvSpPr>
        <p:spPr>
          <a:xfrm>
            <a:off x="5678424" y="5207508"/>
            <a:ext cx="457200" cy="182880"/>
          </a:xfrm>
          <a:prstGeom prst="rect">
            <a:avLst/>
          </a:prstGeom>
          <a:noFill/>
          <a:ln/>
        </p:spPr>
        <p:txBody>
          <a:bodyPr wrap="square" lIns="0" tIns="0" rIns="0" bIns="0" rtlCol="0" anchor="t"/>
          <a:lstStyle/>
          <a:p>
            <a:pPr indent="0" marL="0">
              <a:buNone/>
            </a:pPr>
            <a:r>
              <a:rPr lang="en-US" sz="950" dirty="0">
                <a:solidFill>
                  <a:srgbClr val="3DDC97"/>
                </a:solidFill>
                <a:latin typeface="Calibri" pitchFamily="34" charset="0"/>
                <a:ea typeface="Calibri" pitchFamily="34" charset="-122"/>
                <a:cs typeface="Calibri" pitchFamily="34" charset="-120"/>
              </a:rPr>
              <a:t>500</a:t>
            </a:r>
            <a:endParaRPr lang="en-US" sz="950" dirty="0"/>
          </a:p>
        </p:txBody>
      </p:sp>
      <p:sp>
        <p:nvSpPr>
          <p:cNvPr id="49" name="Shape 47"/>
          <p:cNvSpPr/>
          <p:nvPr/>
        </p:nvSpPr>
        <p:spPr>
          <a:xfrm>
            <a:off x="2057400" y="2130552"/>
            <a:ext cx="0" cy="3291840"/>
          </a:xfrm>
          <a:prstGeom prst="line">
            <a:avLst/>
          </a:prstGeom>
          <a:noFill/>
          <a:ln w="9525">
            <a:solidFill>
              <a:srgbClr val="2A3546"/>
            </a:solidFill>
            <a:prstDash val="solid"/>
          </a:ln>
        </p:spPr>
      </p:sp>
      <p:sp>
        <p:nvSpPr>
          <p:cNvPr id="50" name="Shape 48"/>
          <p:cNvSpPr/>
          <p:nvPr/>
        </p:nvSpPr>
        <p:spPr>
          <a:xfrm>
            <a:off x="2057400" y="5596128"/>
            <a:ext cx="164592" cy="100584"/>
          </a:xfrm>
          <a:prstGeom prst="rect">
            <a:avLst/>
          </a:prstGeom>
          <a:solidFill>
            <a:srgbClr val="FF5A60"/>
          </a:solidFill>
          <a:ln/>
        </p:spPr>
      </p:sp>
      <p:sp>
        <p:nvSpPr>
          <p:cNvPr id="51" name="Text 49"/>
          <p:cNvSpPr txBox="1"/>
          <p:nvPr/>
        </p:nvSpPr>
        <p:spPr>
          <a:xfrm>
            <a:off x="2286000" y="5532120"/>
            <a:ext cx="164592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renditje e rastësishme</a:t>
            </a:r>
            <a:endParaRPr lang="en-US" sz="1100" dirty="0"/>
          </a:p>
        </p:txBody>
      </p:sp>
      <p:sp>
        <p:nvSpPr>
          <p:cNvPr id="52" name="Shape 50"/>
          <p:cNvSpPr/>
          <p:nvPr/>
        </p:nvSpPr>
        <p:spPr>
          <a:xfrm>
            <a:off x="3794760" y="5596128"/>
            <a:ext cx="164592" cy="100584"/>
          </a:xfrm>
          <a:prstGeom prst="rect">
            <a:avLst/>
          </a:prstGeom>
          <a:solidFill>
            <a:srgbClr val="3DDC97"/>
          </a:solidFill>
          <a:ln/>
        </p:spPr>
      </p:sp>
      <p:sp>
        <p:nvSpPr>
          <p:cNvPr id="53" name="Text 51"/>
          <p:cNvSpPr txBox="1"/>
          <p:nvPr/>
        </p:nvSpPr>
        <p:spPr>
          <a:xfrm>
            <a:off x="4023360" y="5532120"/>
            <a:ext cx="219456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ndërtimi min-degree</a:t>
            </a:r>
            <a:endParaRPr lang="en-US" sz="1100" dirty="0"/>
          </a:p>
        </p:txBody>
      </p:sp>
      <p:sp>
        <p:nvSpPr>
          <p:cNvPr id="54" name="Text 52"/>
          <p:cNvSpPr txBox="1"/>
          <p:nvPr/>
        </p:nvSpPr>
        <p:spPr>
          <a:xfrm>
            <a:off x="6537960" y="1783080"/>
            <a:ext cx="5013655" cy="1417320"/>
          </a:xfrm>
          <a:prstGeom prst="rect">
            <a:avLst/>
          </a:prstGeom>
          <a:noFill/>
          <a:ln/>
        </p:spPr>
        <p:txBody>
          <a:bodyPr wrap="square" lIns="0" tIns="0" rIns="0" bIns="0" rtlCol="0" anchor="t"/>
          <a:lstStyle/>
          <a:p>
            <a:pPr indent="0" marL="0">
              <a:buNone/>
            </a:pPr>
            <a:r>
              <a:rPr lang="en-US" sz="1500" dirty="0">
                <a:solidFill>
                  <a:srgbClr val="E8ECF2"/>
                </a:solidFill>
                <a:latin typeface="Calibri" pitchFamily="34" charset="0"/>
                <a:ea typeface="Calibri" pitchFamily="34" charset="-122"/>
                <a:cs typeface="Calibri" pitchFamily="34" charset="-120"/>
              </a:rPr>
              <a:t>Në gjashtë instanca çdo renditje e rastësishme e thyen kufirin, dhe po ashtu çdo fqinj i saj: s'ka ku të qëndrosh, s'ka ku të ngjitesh. Nga një nisje e rastësishme në medium-graph, kërkimi i Team HRI bëri 193 iteracione në 25 s dhe nuk pranoi asnjë.</a:t>
            </a:r>
            <a:endParaRPr lang="en-US" sz="1500" dirty="0"/>
          </a:p>
        </p:txBody>
      </p:sp>
      <p:sp>
        <p:nvSpPr>
          <p:cNvPr id="55" name="Text 53"/>
          <p:cNvSpPr txBox="1"/>
          <p:nvPr/>
        </p:nvSpPr>
        <p:spPr>
          <a:xfrm>
            <a:off x="6537960" y="3401568"/>
            <a:ext cx="501365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ÇFARË I BËRI NJË KRAHASIMI  ·  synth-1, 8 s</a:t>
            </a:r>
            <a:endParaRPr lang="en-US" sz="1050" dirty="0"/>
          </a:p>
        </p:txBody>
      </p:sp>
      <p:sp>
        <p:nvSpPr>
          <p:cNvPr id="56" name="Text 54"/>
          <p:cNvSpPr txBox="1"/>
          <p:nvPr/>
        </p:nvSpPr>
        <p:spPr>
          <a:xfrm>
            <a:off x="6537960" y="3913632"/>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nisje të ndryshme</a:t>
            </a:r>
            <a:endParaRPr lang="en-US" sz="1250" dirty="0"/>
          </a:p>
        </p:txBody>
      </p:sp>
      <p:sp>
        <p:nvSpPr>
          <p:cNvPr id="57" name="Shape 55"/>
          <p:cNvSpPr/>
          <p:nvPr/>
        </p:nvSpPr>
        <p:spPr>
          <a:xfrm>
            <a:off x="8001000" y="4041648"/>
            <a:ext cx="3459175" cy="0"/>
          </a:xfrm>
          <a:prstGeom prst="line">
            <a:avLst/>
          </a:prstGeom>
          <a:noFill/>
          <a:ln w="9525">
            <a:solidFill>
              <a:srgbClr val="1C2533"/>
            </a:solidFill>
            <a:prstDash val="solid"/>
          </a:ln>
        </p:spPr>
      </p:sp>
      <p:sp>
        <p:nvSpPr>
          <p:cNvPr id="58" name="Shape 56"/>
          <p:cNvSpPr/>
          <p:nvPr/>
        </p:nvSpPr>
        <p:spPr>
          <a:xfrm>
            <a:off x="8455850" y="4041648"/>
            <a:ext cx="2885005" cy="0"/>
          </a:xfrm>
          <a:prstGeom prst="line">
            <a:avLst/>
          </a:prstGeom>
          <a:noFill/>
          <a:ln w="28575">
            <a:solidFill>
              <a:srgbClr val="F2C14E"/>
            </a:solidFill>
            <a:prstDash val="solid"/>
          </a:ln>
        </p:spPr>
      </p:sp>
      <p:sp>
        <p:nvSpPr>
          <p:cNvPr id="59" name="Shape 57"/>
          <p:cNvSpPr/>
          <p:nvPr/>
        </p:nvSpPr>
        <p:spPr>
          <a:xfrm>
            <a:off x="11263131" y="3963924"/>
            <a:ext cx="155448" cy="155448"/>
          </a:xfrm>
          <a:prstGeom prst="ellipse">
            <a:avLst/>
          </a:prstGeom>
          <a:solidFill>
            <a:srgbClr val="E8ECF2"/>
          </a:solidFill>
          <a:ln/>
        </p:spPr>
      </p:sp>
      <p:sp>
        <p:nvSpPr>
          <p:cNvPr id="60" name="Shape 58"/>
          <p:cNvSpPr/>
          <p:nvPr/>
        </p:nvSpPr>
        <p:spPr>
          <a:xfrm>
            <a:off x="8378126" y="3963924"/>
            <a:ext cx="155448" cy="155448"/>
          </a:xfrm>
          <a:prstGeom prst="ellipse">
            <a:avLst/>
          </a:prstGeom>
          <a:solidFill>
            <a:srgbClr val="0B0F17"/>
          </a:solidFill>
          <a:ln w="19050">
            <a:solidFill>
              <a:srgbClr val="E8ECF2"/>
            </a:solidFill>
            <a:prstDash val="solid"/>
          </a:ln>
        </p:spPr>
      </p:sp>
      <p:sp>
        <p:nvSpPr>
          <p:cNvPr id="61" name="Text 59"/>
          <p:cNvSpPr txBox="1"/>
          <p:nvPr/>
        </p:nvSpPr>
        <p:spPr>
          <a:xfrm>
            <a:off x="8684450" y="3712464"/>
            <a:ext cx="1737360" cy="219456"/>
          </a:xfrm>
          <a:prstGeom prst="rect">
            <a:avLst/>
          </a:prstGeom>
          <a:noFill/>
          <a:ln/>
        </p:spPr>
        <p:txBody>
          <a:bodyPr wrap="square" lIns="0" tIns="0" rIns="0" bIns="0" rtlCol="0" anchor="t"/>
          <a:lstStyle/>
          <a:p>
            <a:pPr algn="l" indent="0" marL="0">
              <a:buNone/>
            </a:pPr>
            <a:r>
              <a:rPr lang="en-US" sz="1150" b="1" dirty="0">
                <a:solidFill>
                  <a:srgbClr val="F2C14E"/>
                </a:solidFill>
                <a:latin typeface="Calibri" pitchFamily="34" charset="0"/>
                <a:ea typeface="Calibri" pitchFamily="34" charset="-122"/>
                <a:cs typeface="Calibri" pitchFamily="34" charset="-120"/>
              </a:rPr>
              <a:t>275,225 HV larg</a:t>
            </a:r>
            <a:endParaRPr lang="en-US" sz="1150" dirty="0"/>
          </a:p>
        </p:txBody>
      </p:sp>
      <p:sp>
        <p:nvSpPr>
          <p:cNvPr id="62" name="Text 60"/>
          <p:cNvSpPr txBox="1"/>
          <p:nvPr/>
        </p:nvSpPr>
        <p:spPr>
          <a:xfrm>
            <a:off x="6537960" y="4626864"/>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nisje e njëjtë</a:t>
            </a:r>
            <a:endParaRPr lang="en-US" sz="1250" dirty="0"/>
          </a:p>
        </p:txBody>
      </p:sp>
      <p:sp>
        <p:nvSpPr>
          <p:cNvPr id="63" name="Shape 61"/>
          <p:cNvSpPr/>
          <p:nvPr/>
        </p:nvSpPr>
        <p:spPr>
          <a:xfrm>
            <a:off x="8001000" y="4754880"/>
            <a:ext cx="3459175" cy="0"/>
          </a:xfrm>
          <a:prstGeom prst="line">
            <a:avLst/>
          </a:prstGeom>
          <a:noFill/>
          <a:ln w="9525">
            <a:solidFill>
              <a:srgbClr val="1C2533"/>
            </a:solidFill>
            <a:prstDash val="solid"/>
          </a:ln>
        </p:spPr>
      </p:sp>
      <p:sp>
        <p:nvSpPr>
          <p:cNvPr id="64" name="Shape 62"/>
          <p:cNvSpPr/>
          <p:nvPr/>
        </p:nvSpPr>
        <p:spPr>
          <a:xfrm>
            <a:off x="11341379" y="4754880"/>
            <a:ext cx="12935" cy="0"/>
          </a:xfrm>
          <a:prstGeom prst="line">
            <a:avLst/>
          </a:prstGeom>
          <a:noFill/>
          <a:ln w="28575">
            <a:solidFill>
              <a:srgbClr val="F2C14E"/>
            </a:solidFill>
            <a:prstDash val="solid"/>
          </a:ln>
        </p:spPr>
      </p:sp>
      <p:sp>
        <p:nvSpPr>
          <p:cNvPr id="65" name="Shape 63"/>
          <p:cNvSpPr/>
          <p:nvPr/>
        </p:nvSpPr>
        <p:spPr>
          <a:xfrm>
            <a:off x="11276590" y="4677156"/>
            <a:ext cx="155448" cy="155448"/>
          </a:xfrm>
          <a:prstGeom prst="ellipse">
            <a:avLst/>
          </a:prstGeom>
          <a:solidFill>
            <a:srgbClr val="E8ECF2"/>
          </a:solidFill>
          <a:ln/>
        </p:spPr>
      </p:sp>
      <p:sp>
        <p:nvSpPr>
          <p:cNvPr id="66" name="Shape 64"/>
          <p:cNvSpPr/>
          <p:nvPr/>
        </p:nvSpPr>
        <p:spPr>
          <a:xfrm>
            <a:off x="11213363" y="4626864"/>
            <a:ext cx="256032" cy="256032"/>
          </a:xfrm>
          <a:prstGeom prst="ellipse">
            <a:avLst/>
          </a:prstGeom>
          <a:ln w="19050">
            <a:solidFill>
              <a:srgbClr val="E8ECF2"/>
            </a:solidFill>
            <a:prstDash val="solid"/>
          </a:ln>
        </p:spPr>
      </p:sp>
      <p:sp>
        <p:nvSpPr>
          <p:cNvPr id="67" name="Text 65"/>
          <p:cNvSpPr txBox="1"/>
          <p:nvPr/>
        </p:nvSpPr>
        <p:spPr>
          <a:xfrm>
            <a:off x="9479794" y="4425696"/>
            <a:ext cx="1737360" cy="219456"/>
          </a:xfrm>
          <a:prstGeom prst="rect">
            <a:avLst/>
          </a:prstGeom>
          <a:noFill/>
          <a:ln/>
        </p:spPr>
        <p:txBody>
          <a:bodyPr wrap="square" lIns="0" tIns="0" rIns="0" bIns="0" rtlCol="0" anchor="t"/>
          <a:lstStyle/>
          <a:p>
            <a:pPr algn="r" indent="0" marL="0">
              <a:buNone/>
            </a:pPr>
            <a:r>
              <a:rPr lang="en-US" sz="1150" b="1" dirty="0">
                <a:solidFill>
                  <a:srgbClr val="F2C14E"/>
                </a:solidFill>
                <a:latin typeface="Calibri" pitchFamily="34" charset="0"/>
                <a:ea typeface="Calibri" pitchFamily="34" charset="-122"/>
                <a:cs typeface="Calibri" pitchFamily="34" charset="-120"/>
              </a:rPr>
              <a:t>1,234 HV larg</a:t>
            </a:r>
            <a:endParaRPr lang="en-US" sz="1150" dirty="0"/>
          </a:p>
        </p:txBody>
      </p:sp>
      <p:sp>
        <p:nvSpPr>
          <p:cNvPr id="68" name="Text 66"/>
          <p:cNvSpPr txBox="1"/>
          <p:nvPr/>
        </p:nvSpPr>
        <p:spPr>
          <a:xfrm>
            <a:off x="7635240" y="4937760"/>
            <a:ext cx="731520"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1.50M HV</a:t>
            </a:r>
            <a:endParaRPr lang="en-US" sz="950" dirty="0"/>
          </a:p>
        </p:txBody>
      </p:sp>
      <p:sp>
        <p:nvSpPr>
          <p:cNvPr id="69" name="Text 67"/>
          <p:cNvSpPr txBox="1"/>
          <p:nvPr/>
        </p:nvSpPr>
        <p:spPr>
          <a:xfrm>
            <a:off x="10728655" y="4937760"/>
            <a:ext cx="731520" cy="182880"/>
          </a:xfrm>
          <a:prstGeom prst="rect">
            <a:avLst/>
          </a:prstGeom>
          <a:noFill/>
          <a:ln/>
        </p:spPr>
        <p:txBody>
          <a:bodyPr wrap="square" lIns="0" tIns="0" rIns="0" bIns="0" rtlCol="0" anchor="t"/>
          <a:lstStyle/>
          <a:p>
            <a:pPr algn="r" indent="0" marL="0">
              <a:buNone/>
            </a:pPr>
            <a:r>
              <a:rPr lang="en-US" sz="950" dirty="0">
                <a:solidFill>
                  <a:srgbClr val="647187"/>
                </a:solidFill>
                <a:latin typeface="Calibri" pitchFamily="34" charset="0"/>
                <a:ea typeface="Calibri" pitchFamily="34" charset="-122"/>
                <a:cs typeface="Calibri" pitchFamily="34" charset="-120"/>
              </a:rPr>
              <a:t>1.83M HV</a:t>
            </a:r>
            <a:endParaRPr lang="en-US" sz="950" dirty="0"/>
          </a:p>
        </p:txBody>
      </p:sp>
      <p:sp>
        <p:nvSpPr>
          <p:cNvPr id="70" name="Shape 68"/>
          <p:cNvSpPr/>
          <p:nvPr/>
        </p:nvSpPr>
        <p:spPr>
          <a:xfrm>
            <a:off x="7987284" y="5262372"/>
            <a:ext cx="118872" cy="118872"/>
          </a:xfrm>
          <a:prstGeom prst="ellipse">
            <a:avLst/>
          </a:prstGeom>
          <a:solidFill>
            <a:srgbClr val="0B0F17"/>
          </a:solidFill>
          <a:ln w="19050">
            <a:solidFill>
              <a:srgbClr val="E8ECF2"/>
            </a:solidFill>
            <a:prstDash val="solid"/>
          </a:ln>
        </p:spPr>
      </p:sp>
      <p:sp>
        <p:nvSpPr>
          <p:cNvPr id="71" name="Text 69"/>
          <p:cNvSpPr txBox="1"/>
          <p:nvPr/>
        </p:nvSpPr>
        <p:spPr>
          <a:xfrm>
            <a:off x="8165592" y="5221224"/>
            <a:ext cx="118872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Team HRI</a:t>
            </a:r>
            <a:endParaRPr lang="en-US" sz="1100" dirty="0"/>
          </a:p>
        </p:txBody>
      </p:sp>
      <p:sp>
        <p:nvSpPr>
          <p:cNvPr id="72" name="Shape 70"/>
          <p:cNvSpPr/>
          <p:nvPr/>
        </p:nvSpPr>
        <p:spPr>
          <a:xfrm>
            <a:off x="9358884" y="5262372"/>
            <a:ext cx="118872" cy="118872"/>
          </a:xfrm>
          <a:prstGeom prst="ellipse">
            <a:avLst/>
          </a:prstGeom>
          <a:solidFill>
            <a:srgbClr val="E8ECF2"/>
          </a:solidFill>
          <a:ln/>
        </p:spPr>
      </p:sp>
      <p:sp>
        <p:nvSpPr>
          <p:cNvPr id="73" name="Text 71"/>
          <p:cNvSpPr txBox="1"/>
          <p:nvPr/>
        </p:nvSpPr>
        <p:spPr>
          <a:xfrm>
            <a:off x="9537192" y="5221224"/>
            <a:ext cx="137160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Hill Climbing</a:t>
            </a:r>
            <a:endParaRPr lang="en-US" sz="1100" dirty="0"/>
          </a:p>
        </p:txBody>
      </p:sp>
      <p:sp>
        <p:nvSpPr>
          <p:cNvPr id="74" name="Text 72"/>
          <p:cNvSpPr txBox="1"/>
          <p:nvPr/>
        </p:nvSpPr>
        <p:spPr>
          <a:xfrm>
            <a:off x="6537960" y="5596128"/>
            <a:ext cx="5013655" cy="685800"/>
          </a:xfrm>
          <a:prstGeom prst="rect">
            <a:avLst/>
          </a:prstGeom>
          <a:noFill/>
          <a:ln/>
        </p:spPr>
        <p:txBody>
          <a:bodyPr wrap="square" lIns="0" tIns="0" rIns="0" bIns="0" rtlCol="0" anchor="t"/>
          <a:lstStyle/>
          <a:p>
            <a:pPr indent="0" marL="0">
              <a:buNone/>
            </a:pPr>
            <a:r>
              <a:rPr lang="en-US" sz="1650" i="1" dirty="0">
                <a:solidFill>
                  <a:srgbClr val="E8ECF2"/>
                </a:solidFill>
                <a:latin typeface="Century Schoolbook" pitchFamily="34" charset="0"/>
                <a:ea typeface="Century Schoolbook" pitchFamily="34" charset="-122"/>
                <a:cs typeface="Century Schoolbook" pitchFamily="34" charset="-120"/>
              </a:rPr>
              <a:t>Thuajse i gjithë hendeku i dukshëm ishte heuristika e nisjes, jo kërkimi.</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MATJA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Pastaj e ekzekutova kontrollin dy herë</a:t>
            </a:r>
            <a:endParaRPr lang="en-US" sz="2700" dirty="0"/>
          </a:p>
        </p:txBody>
      </p:sp>
      <p:sp>
        <p:nvSpPr>
          <p:cNvPr id="4"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Hill Climbing ndalon sipas kohës reale, prandaj dy sesione të plota janë dy mostra të pavarura, jo një përsëritje.</a:t>
            </a:r>
            <a:endParaRPr lang="en-US" sz="1500" dirty="0"/>
          </a:p>
        </p:txBody>
      </p:sp>
      <p:sp>
        <p:nvSpPr>
          <p:cNvPr id="5" name="Text 3"/>
          <p:cNvSpPr txBox="1"/>
          <p:nvPr/>
        </p:nvSpPr>
        <p:spPr>
          <a:xfrm>
            <a:off x="640080" y="2286000"/>
            <a:ext cx="5394960"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Instancë për instancë: sesioni lëviz sa shpërndarja e seed-ave</a:t>
            </a:r>
            <a:endParaRPr lang="en-US" sz="1350" dirty="0"/>
          </a:p>
        </p:txBody>
      </p:sp>
      <p:sp>
        <p:nvSpPr>
          <p:cNvPr id="6" name="Shape 4"/>
          <p:cNvSpPr/>
          <p:nvPr/>
        </p:nvSpPr>
        <p:spPr>
          <a:xfrm>
            <a:off x="1874520" y="2670048"/>
            <a:ext cx="0" cy="2724912"/>
          </a:xfrm>
          <a:prstGeom prst="line">
            <a:avLst/>
          </a:prstGeom>
          <a:noFill/>
          <a:ln w="7620">
            <a:solidFill>
              <a:srgbClr val="1C2533"/>
            </a:solidFill>
            <a:prstDash val="solid"/>
          </a:ln>
        </p:spPr>
      </p:sp>
      <p:sp>
        <p:nvSpPr>
          <p:cNvPr id="7" name="Text 5"/>
          <p:cNvSpPr txBox="1"/>
          <p:nvPr/>
        </p:nvSpPr>
        <p:spPr>
          <a:xfrm>
            <a:off x="1600200" y="5431536"/>
            <a:ext cx="54864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a:t>
            </a:r>
            <a:endParaRPr lang="en-US" sz="1000" dirty="0"/>
          </a:p>
        </p:txBody>
      </p:sp>
      <p:sp>
        <p:nvSpPr>
          <p:cNvPr id="8" name="Shape 6"/>
          <p:cNvSpPr/>
          <p:nvPr/>
        </p:nvSpPr>
        <p:spPr>
          <a:xfrm>
            <a:off x="2788920" y="2670048"/>
            <a:ext cx="0" cy="2724912"/>
          </a:xfrm>
          <a:prstGeom prst="line">
            <a:avLst/>
          </a:prstGeom>
          <a:noFill/>
          <a:ln w="7620">
            <a:solidFill>
              <a:srgbClr val="1C2533"/>
            </a:solidFill>
            <a:prstDash val="solid"/>
          </a:ln>
        </p:spPr>
      </p:sp>
      <p:sp>
        <p:nvSpPr>
          <p:cNvPr id="9" name="Text 7"/>
          <p:cNvSpPr txBox="1"/>
          <p:nvPr/>
        </p:nvSpPr>
        <p:spPr>
          <a:xfrm>
            <a:off x="2514600" y="5431536"/>
            <a:ext cx="54864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10</a:t>
            </a:r>
            <a:endParaRPr lang="en-US" sz="1000" dirty="0"/>
          </a:p>
        </p:txBody>
      </p:sp>
      <p:sp>
        <p:nvSpPr>
          <p:cNvPr id="10" name="Shape 8"/>
          <p:cNvSpPr/>
          <p:nvPr/>
        </p:nvSpPr>
        <p:spPr>
          <a:xfrm>
            <a:off x="3703320" y="2670048"/>
            <a:ext cx="0" cy="2724912"/>
          </a:xfrm>
          <a:prstGeom prst="line">
            <a:avLst/>
          </a:prstGeom>
          <a:noFill/>
          <a:ln w="7620">
            <a:solidFill>
              <a:srgbClr val="1C2533"/>
            </a:solidFill>
            <a:prstDash val="solid"/>
          </a:ln>
        </p:spPr>
      </p:sp>
      <p:sp>
        <p:nvSpPr>
          <p:cNvPr id="11" name="Text 9"/>
          <p:cNvSpPr txBox="1"/>
          <p:nvPr/>
        </p:nvSpPr>
        <p:spPr>
          <a:xfrm>
            <a:off x="3429000" y="5431536"/>
            <a:ext cx="54864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100</a:t>
            </a:r>
            <a:endParaRPr lang="en-US" sz="1000" dirty="0"/>
          </a:p>
        </p:txBody>
      </p:sp>
      <p:sp>
        <p:nvSpPr>
          <p:cNvPr id="12" name="Shape 10"/>
          <p:cNvSpPr/>
          <p:nvPr/>
        </p:nvSpPr>
        <p:spPr>
          <a:xfrm>
            <a:off x="4617720" y="2670048"/>
            <a:ext cx="0" cy="2724912"/>
          </a:xfrm>
          <a:prstGeom prst="line">
            <a:avLst/>
          </a:prstGeom>
          <a:noFill/>
          <a:ln w="7620">
            <a:solidFill>
              <a:srgbClr val="1C2533"/>
            </a:solidFill>
            <a:prstDash val="solid"/>
          </a:ln>
        </p:spPr>
      </p:sp>
      <p:sp>
        <p:nvSpPr>
          <p:cNvPr id="13" name="Text 11"/>
          <p:cNvSpPr txBox="1"/>
          <p:nvPr/>
        </p:nvSpPr>
        <p:spPr>
          <a:xfrm>
            <a:off x="4343400" y="5431536"/>
            <a:ext cx="54864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1k</a:t>
            </a:r>
            <a:endParaRPr lang="en-US" sz="1000" dirty="0"/>
          </a:p>
        </p:txBody>
      </p:sp>
      <p:sp>
        <p:nvSpPr>
          <p:cNvPr id="14" name="Shape 12"/>
          <p:cNvSpPr/>
          <p:nvPr/>
        </p:nvSpPr>
        <p:spPr>
          <a:xfrm>
            <a:off x="5532120" y="2670048"/>
            <a:ext cx="0" cy="2724912"/>
          </a:xfrm>
          <a:prstGeom prst="line">
            <a:avLst/>
          </a:prstGeom>
          <a:noFill/>
          <a:ln w="7620">
            <a:solidFill>
              <a:srgbClr val="1C2533"/>
            </a:solidFill>
            <a:prstDash val="solid"/>
          </a:ln>
        </p:spPr>
      </p:sp>
      <p:sp>
        <p:nvSpPr>
          <p:cNvPr id="15" name="Text 13"/>
          <p:cNvSpPr txBox="1"/>
          <p:nvPr/>
        </p:nvSpPr>
        <p:spPr>
          <a:xfrm>
            <a:off x="5257800" y="5431536"/>
            <a:ext cx="54864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10k</a:t>
            </a:r>
            <a:endParaRPr lang="en-US" sz="1000" dirty="0"/>
          </a:p>
        </p:txBody>
      </p:sp>
      <p:sp>
        <p:nvSpPr>
          <p:cNvPr id="16" name="Text 14"/>
          <p:cNvSpPr txBox="1"/>
          <p:nvPr/>
        </p:nvSpPr>
        <p:spPr>
          <a:xfrm>
            <a:off x="640080" y="276606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small-graph</a:t>
            </a:r>
            <a:endParaRPr lang="en-US" sz="1100" dirty="0"/>
          </a:p>
        </p:txBody>
      </p:sp>
      <p:sp>
        <p:nvSpPr>
          <p:cNvPr id="17" name="Shape 15"/>
          <p:cNvSpPr/>
          <p:nvPr/>
        </p:nvSpPr>
        <p:spPr>
          <a:xfrm>
            <a:off x="1874520" y="2834640"/>
            <a:ext cx="2704436" cy="82296"/>
          </a:xfrm>
          <a:prstGeom prst="rect">
            <a:avLst/>
          </a:prstGeom>
          <a:solidFill>
            <a:srgbClr val="9AA6B6">
              <a:alpha val="45000"/>
            </a:srgbClr>
          </a:solidFill>
          <a:ln/>
        </p:spPr>
      </p:sp>
      <p:sp>
        <p:nvSpPr>
          <p:cNvPr id="18" name="Shape 16"/>
          <p:cNvSpPr/>
          <p:nvPr/>
        </p:nvSpPr>
        <p:spPr>
          <a:xfrm>
            <a:off x="4524092" y="2820924"/>
            <a:ext cx="109728" cy="109728"/>
          </a:xfrm>
          <a:prstGeom prst="ellipse">
            <a:avLst/>
          </a:prstGeom>
          <a:solidFill>
            <a:srgbClr val="4DA3FF"/>
          </a:solidFill>
          <a:ln/>
        </p:spPr>
      </p:sp>
      <p:sp>
        <p:nvSpPr>
          <p:cNvPr id="19" name="Text 17"/>
          <p:cNvSpPr txBox="1"/>
          <p:nvPr/>
        </p:nvSpPr>
        <p:spPr>
          <a:xfrm>
            <a:off x="640080" y="303123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synth-1</a:t>
            </a:r>
            <a:endParaRPr lang="en-US" sz="1100" dirty="0"/>
          </a:p>
        </p:txBody>
      </p:sp>
      <p:sp>
        <p:nvSpPr>
          <p:cNvPr id="20" name="Shape 18"/>
          <p:cNvSpPr/>
          <p:nvPr/>
        </p:nvSpPr>
        <p:spPr>
          <a:xfrm>
            <a:off x="1874520" y="3099816"/>
            <a:ext cx="3124936" cy="82296"/>
          </a:xfrm>
          <a:prstGeom prst="rect">
            <a:avLst/>
          </a:prstGeom>
          <a:solidFill>
            <a:srgbClr val="9AA6B6">
              <a:alpha val="45000"/>
            </a:srgbClr>
          </a:solidFill>
          <a:ln/>
        </p:spPr>
      </p:sp>
      <p:sp>
        <p:nvSpPr>
          <p:cNvPr id="21" name="Shape 19"/>
          <p:cNvSpPr/>
          <p:nvPr/>
        </p:nvSpPr>
        <p:spPr>
          <a:xfrm>
            <a:off x="4674310" y="3086100"/>
            <a:ext cx="109728" cy="109728"/>
          </a:xfrm>
          <a:prstGeom prst="ellipse">
            <a:avLst/>
          </a:prstGeom>
          <a:solidFill>
            <a:srgbClr val="4DA3FF"/>
          </a:solidFill>
          <a:ln/>
        </p:spPr>
      </p:sp>
      <p:sp>
        <p:nvSpPr>
          <p:cNvPr id="22" name="Text 20"/>
          <p:cNvSpPr txBox="1"/>
          <p:nvPr/>
        </p:nvSpPr>
        <p:spPr>
          <a:xfrm>
            <a:off x="640080" y="329641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synth-2</a:t>
            </a:r>
            <a:endParaRPr lang="en-US" sz="1100" dirty="0"/>
          </a:p>
        </p:txBody>
      </p:sp>
      <p:sp>
        <p:nvSpPr>
          <p:cNvPr id="23" name="Shape 21"/>
          <p:cNvSpPr/>
          <p:nvPr/>
        </p:nvSpPr>
        <p:spPr>
          <a:xfrm>
            <a:off x="1874520" y="3364992"/>
            <a:ext cx="2834348" cy="82296"/>
          </a:xfrm>
          <a:prstGeom prst="rect">
            <a:avLst/>
          </a:prstGeom>
          <a:solidFill>
            <a:srgbClr val="9AA6B6">
              <a:alpha val="45000"/>
            </a:srgbClr>
          </a:solidFill>
          <a:ln/>
        </p:spPr>
      </p:sp>
      <p:sp>
        <p:nvSpPr>
          <p:cNvPr id="24" name="Shape 22"/>
          <p:cNvSpPr/>
          <p:nvPr/>
        </p:nvSpPr>
        <p:spPr>
          <a:xfrm>
            <a:off x="3340082" y="3351276"/>
            <a:ext cx="109728" cy="109728"/>
          </a:xfrm>
          <a:prstGeom prst="ellipse">
            <a:avLst/>
          </a:prstGeom>
          <a:solidFill>
            <a:srgbClr val="4DA3FF"/>
          </a:solidFill>
          <a:ln/>
        </p:spPr>
      </p:sp>
      <p:sp>
        <p:nvSpPr>
          <p:cNvPr id="25" name="Text 23"/>
          <p:cNvSpPr txBox="1"/>
          <p:nvPr/>
        </p:nvSpPr>
        <p:spPr>
          <a:xfrm>
            <a:off x="640080" y="356158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synth-3</a:t>
            </a:r>
            <a:endParaRPr lang="en-US" sz="1100" dirty="0"/>
          </a:p>
        </p:txBody>
      </p:sp>
      <p:sp>
        <p:nvSpPr>
          <p:cNvPr id="26" name="Shape 24"/>
          <p:cNvSpPr/>
          <p:nvPr/>
        </p:nvSpPr>
        <p:spPr>
          <a:xfrm>
            <a:off x="1874520" y="3630168"/>
            <a:ext cx="1768905" cy="82296"/>
          </a:xfrm>
          <a:prstGeom prst="rect">
            <a:avLst/>
          </a:prstGeom>
          <a:solidFill>
            <a:srgbClr val="9AA6B6">
              <a:alpha val="45000"/>
            </a:srgbClr>
          </a:solidFill>
          <a:ln/>
        </p:spPr>
      </p:sp>
      <p:sp>
        <p:nvSpPr>
          <p:cNvPr id="27" name="Shape 25"/>
          <p:cNvSpPr/>
          <p:nvPr/>
        </p:nvSpPr>
        <p:spPr>
          <a:xfrm>
            <a:off x="3559841" y="3616452"/>
            <a:ext cx="109728" cy="109728"/>
          </a:xfrm>
          <a:prstGeom prst="ellipse">
            <a:avLst/>
          </a:prstGeom>
          <a:solidFill>
            <a:srgbClr val="4DA3FF"/>
          </a:solidFill>
          <a:ln/>
        </p:spPr>
      </p:sp>
      <p:sp>
        <p:nvSpPr>
          <p:cNvPr id="28" name="Text 26"/>
          <p:cNvSpPr txBox="1"/>
          <p:nvPr/>
        </p:nvSpPr>
        <p:spPr>
          <a:xfrm>
            <a:off x="640080" y="382676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medium-graph</a:t>
            </a:r>
            <a:endParaRPr lang="en-US" sz="1100" dirty="0"/>
          </a:p>
        </p:txBody>
      </p:sp>
      <p:sp>
        <p:nvSpPr>
          <p:cNvPr id="29" name="Shape 27"/>
          <p:cNvSpPr/>
          <p:nvPr/>
        </p:nvSpPr>
        <p:spPr>
          <a:xfrm>
            <a:off x="1874520" y="3895344"/>
            <a:ext cx="3500160" cy="82296"/>
          </a:xfrm>
          <a:prstGeom prst="rect">
            <a:avLst/>
          </a:prstGeom>
          <a:solidFill>
            <a:srgbClr val="9AA6B6">
              <a:alpha val="45000"/>
            </a:srgbClr>
          </a:solidFill>
          <a:ln/>
        </p:spPr>
      </p:sp>
      <p:sp>
        <p:nvSpPr>
          <p:cNvPr id="30" name="Shape 28"/>
          <p:cNvSpPr/>
          <p:nvPr/>
        </p:nvSpPr>
        <p:spPr>
          <a:xfrm>
            <a:off x="5238832" y="3881628"/>
            <a:ext cx="109728" cy="109728"/>
          </a:xfrm>
          <a:prstGeom prst="ellipse">
            <a:avLst/>
          </a:prstGeom>
          <a:solidFill>
            <a:srgbClr val="4DA3FF"/>
          </a:solidFill>
          <a:ln/>
        </p:spPr>
      </p:sp>
      <p:sp>
        <p:nvSpPr>
          <p:cNvPr id="31" name="Text 29"/>
          <p:cNvSpPr txBox="1"/>
          <p:nvPr/>
        </p:nvSpPr>
        <p:spPr>
          <a:xfrm>
            <a:off x="640080" y="409194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synth-4</a:t>
            </a:r>
            <a:endParaRPr lang="en-US" sz="1100" dirty="0"/>
          </a:p>
        </p:txBody>
      </p:sp>
      <p:sp>
        <p:nvSpPr>
          <p:cNvPr id="32" name="Shape 30"/>
          <p:cNvSpPr/>
          <p:nvPr/>
        </p:nvSpPr>
        <p:spPr>
          <a:xfrm>
            <a:off x="1874520" y="4160520"/>
            <a:ext cx="3768274" cy="82296"/>
          </a:xfrm>
          <a:prstGeom prst="rect">
            <a:avLst/>
          </a:prstGeom>
          <a:solidFill>
            <a:srgbClr val="9AA6B6">
              <a:alpha val="45000"/>
            </a:srgbClr>
          </a:solidFill>
          <a:ln/>
        </p:spPr>
      </p:sp>
      <p:sp>
        <p:nvSpPr>
          <p:cNvPr id="33" name="Shape 31"/>
          <p:cNvSpPr/>
          <p:nvPr/>
        </p:nvSpPr>
        <p:spPr>
          <a:xfrm>
            <a:off x="5382690" y="4146804"/>
            <a:ext cx="109728" cy="109728"/>
          </a:xfrm>
          <a:prstGeom prst="ellipse">
            <a:avLst/>
          </a:prstGeom>
          <a:solidFill>
            <a:srgbClr val="4DA3FF"/>
          </a:solidFill>
          <a:ln/>
        </p:spPr>
      </p:sp>
      <p:sp>
        <p:nvSpPr>
          <p:cNvPr id="34" name="Text 32"/>
          <p:cNvSpPr txBox="1"/>
          <p:nvPr/>
        </p:nvSpPr>
        <p:spPr>
          <a:xfrm>
            <a:off x="640080" y="435711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synth-5</a:t>
            </a:r>
            <a:endParaRPr lang="en-US" sz="1100" dirty="0"/>
          </a:p>
        </p:txBody>
      </p:sp>
      <p:sp>
        <p:nvSpPr>
          <p:cNvPr id="35" name="Shape 33"/>
          <p:cNvSpPr/>
          <p:nvPr/>
        </p:nvSpPr>
        <p:spPr>
          <a:xfrm>
            <a:off x="1874520" y="4425696"/>
            <a:ext cx="3677505" cy="82296"/>
          </a:xfrm>
          <a:prstGeom prst="rect">
            <a:avLst/>
          </a:prstGeom>
          <a:solidFill>
            <a:srgbClr val="9AA6B6">
              <a:alpha val="45000"/>
            </a:srgbClr>
          </a:solidFill>
          <a:ln/>
        </p:spPr>
      </p:sp>
      <p:sp>
        <p:nvSpPr>
          <p:cNvPr id="36" name="Shape 34"/>
          <p:cNvSpPr/>
          <p:nvPr/>
        </p:nvSpPr>
        <p:spPr>
          <a:xfrm>
            <a:off x="4956559" y="4411980"/>
            <a:ext cx="109728" cy="109728"/>
          </a:xfrm>
          <a:prstGeom prst="ellipse">
            <a:avLst/>
          </a:prstGeom>
          <a:solidFill>
            <a:srgbClr val="4DA3FF"/>
          </a:solidFill>
          <a:ln/>
        </p:spPr>
      </p:sp>
      <p:sp>
        <p:nvSpPr>
          <p:cNvPr id="37" name="Text 35"/>
          <p:cNvSpPr txBox="1"/>
          <p:nvPr/>
        </p:nvSpPr>
        <p:spPr>
          <a:xfrm>
            <a:off x="640080" y="462229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large-graph</a:t>
            </a:r>
            <a:endParaRPr lang="en-US" sz="1100" dirty="0"/>
          </a:p>
        </p:txBody>
      </p:sp>
      <p:sp>
        <p:nvSpPr>
          <p:cNvPr id="38" name="Shape 36"/>
          <p:cNvSpPr/>
          <p:nvPr/>
        </p:nvSpPr>
        <p:spPr>
          <a:xfrm>
            <a:off x="1874520" y="4690872"/>
            <a:ext cx="3551064" cy="82296"/>
          </a:xfrm>
          <a:prstGeom prst="rect">
            <a:avLst/>
          </a:prstGeom>
          <a:solidFill>
            <a:srgbClr val="9AA6B6">
              <a:alpha val="45000"/>
            </a:srgbClr>
          </a:solidFill>
          <a:ln/>
        </p:spPr>
      </p:sp>
      <p:sp>
        <p:nvSpPr>
          <p:cNvPr id="39" name="Shape 37"/>
          <p:cNvSpPr/>
          <p:nvPr/>
        </p:nvSpPr>
        <p:spPr>
          <a:xfrm>
            <a:off x="5266510" y="4677156"/>
            <a:ext cx="109728" cy="109728"/>
          </a:xfrm>
          <a:prstGeom prst="ellipse">
            <a:avLst/>
          </a:prstGeom>
          <a:solidFill>
            <a:srgbClr val="4DA3FF"/>
          </a:solidFill>
          <a:ln/>
        </p:spPr>
      </p:sp>
      <p:sp>
        <p:nvSpPr>
          <p:cNvPr id="40" name="Text 38"/>
          <p:cNvSpPr txBox="1"/>
          <p:nvPr/>
        </p:nvSpPr>
        <p:spPr>
          <a:xfrm>
            <a:off x="640080" y="488746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synth-6</a:t>
            </a:r>
            <a:endParaRPr lang="en-US" sz="1100" dirty="0"/>
          </a:p>
        </p:txBody>
      </p:sp>
      <p:sp>
        <p:nvSpPr>
          <p:cNvPr id="41" name="Shape 39"/>
          <p:cNvSpPr/>
          <p:nvPr/>
        </p:nvSpPr>
        <p:spPr>
          <a:xfrm>
            <a:off x="1874520" y="4956048"/>
            <a:ext cx="2285714" cy="82296"/>
          </a:xfrm>
          <a:prstGeom prst="rect">
            <a:avLst/>
          </a:prstGeom>
          <a:solidFill>
            <a:srgbClr val="9AA6B6">
              <a:alpha val="45000"/>
            </a:srgbClr>
          </a:solidFill>
          <a:ln/>
        </p:spPr>
      </p:sp>
      <p:sp>
        <p:nvSpPr>
          <p:cNvPr id="42" name="Shape 40"/>
          <p:cNvSpPr/>
          <p:nvPr/>
        </p:nvSpPr>
        <p:spPr>
          <a:xfrm>
            <a:off x="1819656" y="4942332"/>
            <a:ext cx="109728" cy="109728"/>
          </a:xfrm>
          <a:prstGeom prst="ellipse">
            <a:avLst/>
          </a:prstGeom>
          <a:solidFill>
            <a:srgbClr val="4DA3FF"/>
          </a:solidFill>
          <a:ln/>
        </p:spPr>
      </p:sp>
      <p:sp>
        <p:nvSpPr>
          <p:cNvPr id="43" name="Text 41"/>
          <p:cNvSpPr txBox="1"/>
          <p:nvPr/>
        </p:nvSpPr>
        <p:spPr>
          <a:xfrm>
            <a:off x="640080" y="515264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synth-7</a:t>
            </a:r>
            <a:endParaRPr lang="en-US" sz="1100" dirty="0"/>
          </a:p>
        </p:txBody>
      </p:sp>
      <p:sp>
        <p:nvSpPr>
          <p:cNvPr id="44" name="Shape 42"/>
          <p:cNvSpPr/>
          <p:nvPr/>
        </p:nvSpPr>
        <p:spPr>
          <a:xfrm>
            <a:off x="1874520" y="5221224"/>
            <a:ext cx="1942050" cy="82296"/>
          </a:xfrm>
          <a:prstGeom prst="rect">
            <a:avLst/>
          </a:prstGeom>
          <a:solidFill>
            <a:srgbClr val="9AA6B6">
              <a:alpha val="45000"/>
            </a:srgbClr>
          </a:solidFill>
          <a:ln/>
        </p:spPr>
      </p:sp>
      <p:sp>
        <p:nvSpPr>
          <p:cNvPr id="45" name="Shape 43"/>
          <p:cNvSpPr/>
          <p:nvPr/>
        </p:nvSpPr>
        <p:spPr>
          <a:xfrm>
            <a:off x="3097932" y="5207508"/>
            <a:ext cx="109728" cy="109728"/>
          </a:xfrm>
          <a:prstGeom prst="ellipse">
            <a:avLst/>
          </a:prstGeom>
          <a:solidFill>
            <a:srgbClr val="4DA3FF"/>
          </a:solidFill>
          <a:ln/>
        </p:spPr>
      </p:sp>
      <p:sp>
        <p:nvSpPr>
          <p:cNvPr id="46" name="Text 44"/>
          <p:cNvSpPr txBox="1"/>
          <p:nvPr/>
        </p:nvSpPr>
        <p:spPr>
          <a:xfrm>
            <a:off x="640080" y="5431536"/>
            <a:ext cx="105156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HV, shkallë log</a:t>
            </a:r>
            <a:endParaRPr lang="en-US" sz="1000" dirty="0"/>
          </a:p>
        </p:txBody>
      </p:sp>
      <p:sp>
        <p:nvSpPr>
          <p:cNvPr id="47" name="Shape 45"/>
          <p:cNvSpPr/>
          <p:nvPr/>
        </p:nvSpPr>
        <p:spPr>
          <a:xfrm>
            <a:off x="1874520" y="5742432"/>
            <a:ext cx="109728" cy="109728"/>
          </a:xfrm>
          <a:prstGeom prst="ellipse">
            <a:avLst/>
          </a:prstGeom>
          <a:solidFill>
            <a:srgbClr val="4DA3FF"/>
          </a:solidFill>
          <a:ln/>
        </p:spPr>
      </p:sp>
      <p:sp>
        <p:nvSpPr>
          <p:cNvPr id="48" name="Text 46"/>
          <p:cNvSpPr txBox="1"/>
          <p:nvPr/>
        </p:nvSpPr>
        <p:spPr>
          <a:xfrm>
            <a:off x="2039112" y="5696712"/>
            <a:ext cx="192024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ndryshimi mes sesioneve</a:t>
            </a:r>
            <a:endParaRPr lang="en-US" sz="1050" dirty="0"/>
          </a:p>
        </p:txBody>
      </p:sp>
      <p:sp>
        <p:nvSpPr>
          <p:cNvPr id="49" name="Shape 47"/>
          <p:cNvSpPr/>
          <p:nvPr/>
        </p:nvSpPr>
        <p:spPr>
          <a:xfrm>
            <a:off x="3886200" y="5760720"/>
            <a:ext cx="228600" cy="82296"/>
          </a:xfrm>
          <a:prstGeom prst="rect">
            <a:avLst/>
          </a:prstGeom>
          <a:solidFill>
            <a:srgbClr val="9AA6B6">
              <a:alpha val="45000"/>
            </a:srgbClr>
          </a:solidFill>
          <a:ln/>
        </p:spPr>
      </p:sp>
      <p:sp>
        <p:nvSpPr>
          <p:cNvPr id="50" name="Text 48"/>
          <p:cNvSpPr txBox="1"/>
          <p:nvPr/>
        </p:nvSpPr>
        <p:spPr>
          <a:xfrm>
            <a:off x="4160520" y="5696712"/>
            <a:ext cx="27432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shpërndarja e seed-ave brenda një sesioni</a:t>
            </a:r>
            <a:endParaRPr lang="en-US" sz="1050" dirty="0"/>
          </a:p>
        </p:txBody>
      </p:sp>
      <p:sp>
        <p:nvSpPr>
          <p:cNvPr id="51" name="Text 49"/>
          <p:cNvSpPr txBox="1"/>
          <p:nvPr/>
        </p:nvSpPr>
        <p:spPr>
          <a:xfrm>
            <a:off x="6583680" y="2286000"/>
            <a:ext cx="4967935"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Totali i dhjetë instancave: sesionet ndryshojnë</a:t>
            </a:r>
            <a:endParaRPr lang="en-US" sz="1350" dirty="0"/>
          </a:p>
        </p:txBody>
      </p:sp>
      <p:sp>
        <p:nvSpPr>
          <p:cNvPr id="52" name="Shape 50"/>
          <p:cNvSpPr/>
          <p:nvPr/>
        </p:nvSpPr>
        <p:spPr>
          <a:xfrm>
            <a:off x="6675120" y="2973771"/>
            <a:ext cx="247548" cy="2101149"/>
          </a:xfrm>
          <a:prstGeom prst="rect">
            <a:avLst/>
          </a:prstGeom>
          <a:solidFill>
            <a:srgbClr val="647187">
              <a:alpha val="75000"/>
            </a:srgbClr>
          </a:solidFill>
          <a:ln/>
        </p:spPr>
      </p:sp>
      <p:sp>
        <p:nvSpPr>
          <p:cNvPr id="53" name="Shape 51"/>
          <p:cNvSpPr/>
          <p:nvPr/>
        </p:nvSpPr>
        <p:spPr>
          <a:xfrm>
            <a:off x="6940956" y="2949400"/>
            <a:ext cx="247548" cy="2125520"/>
          </a:xfrm>
          <a:prstGeom prst="rect">
            <a:avLst/>
          </a:prstGeom>
          <a:solidFill>
            <a:srgbClr val="647187">
              <a:alpha val="75000"/>
            </a:srgbClr>
          </a:solidFill>
          <a:ln/>
        </p:spPr>
      </p:sp>
      <p:sp>
        <p:nvSpPr>
          <p:cNvPr id="54" name="Shape 52"/>
          <p:cNvSpPr/>
          <p:nvPr/>
        </p:nvSpPr>
        <p:spPr>
          <a:xfrm>
            <a:off x="7206793" y="2834640"/>
            <a:ext cx="247548" cy="2240280"/>
          </a:xfrm>
          <a:prstGeom prst="rect">
            <a:avLst/>
          </a:prstGeom>
          <a:solidFill>
            <a:srgbClr val="647187">
              <a:alpha val="75000"/>
            </a:srgbClr>
          </a:solidFill>
          <a:ln/>
        </p:spPr>
      </p:sp>
      <p:sp>
        <p:nvSpPr>
          <p:cNvPr id="55" name="Shape 53"/>
          <p:cNvSpPr/>
          <p:nvPr/>
        </p:nvSpPr>
        <p:spPr>
          <a:xfrm>
            <a:off x="7472629" y="2967951"/>
            <a:ext cx="247548" cy="2106969"/>
          </a:xfrm>
          <a:prstGeom prst="rect">
            <a:avLst/>
          </a:prstGeom>
          <a:solidFill>
            <a:srgbClr val="647187">
              <a:alpha val="75000"/>
            </a:srgbClr>
          </a:solidFill>
          <a:ln/>
        </p:spPr>
      </p:sp>
      <p:sp>
        <p:nvSpPr>
          <p:cNvPr id="56" name="Shape 54"/>
          <p:cNvSpPr/>
          <p:nvPr/>
        </p:nvSpPr>
        <p:spPr>
          <a:xfrm>
            <a:off x="7738466" y="3267128"/>
            <a:ext cx="247548" cy="1807792"/>
          </a:xfrm>
          <a:prstGeom prst="rect">
            <a:avLst/>
          </a:prstGeom>
          <a:solidFill>
            <a:srgbClr val="647187">
              <a:alpha val="75000"/>
            </a:srgbClr>
          </a:solidFill>
          <a:ln/>
        </p:spPr>
      </p:sp>
      <p:sp>
        <p:nvSpPr>
          <p:cNvPr id="57" name="Shape 55"/>
          <p:cNvSpPr/>
          <p:nvPr/>
        </p:nvSpPr>
        <p:spPr>
          <a:xfrm>
            <a:off x="8004302" y="3424082"/>
            <a:ext cx="247548" cy="1650838"/>
          </a:xfrm>
          <a:prstGeom prst="rect">
            <a:avLst/>
          </a:prstGeom>
          <a:solidFill>
            <a:srgbClr val="647187">
              <a:alpha val="75000"/>
            </a:srgbClr>
          </a:solidFill>
          <a:ln/>
        </p:spPr>
      </p:sp>
      <p:sp>
        <p:nvSpPr>
          <p:cNvPr id="58" name="Shape 56"/>
          <p:cNvSpPr/>
          <p:nvPr/>
        </p:nvSpPr>
        <p:spPr>
          <a:xfrm>
            <a:off x="8270138" y="3513926"/>
            <a:ext cx="247548" cy="1560994"/>
          </a:xfrm>
          <a:prstGeom prst="rect">
            <a:avLst/>
          </a:prstGeom>
          <a:solidFill>
            <a:srgbClr val="647187">
              <a:alpha val="75000"/>
            </a:srgbClr>
          </a:solidFill>
          <a:ln/>
        </p:spPr>
      </p:sp>
      <p:sp>
        <p:nvSpPr>
          <p:cNvPr id="59" name="Shape 57"/>
          <p:cNvSpPr/>
          <p:nvPr/>
        </p:nvSpPr>
        <p:spPr>
          <a:xfrm>
            <a:off x="8535975" y="3638507"/>
            <a:ext cx="247548" cy="1436413"/>
          </a:xfrm>
          <a:prstGeom prst="rect">
            <a:avLst/>
          </a:prstGeom>
          <a:solidFill>
            <a:srgbClr val="647187">
              <a:alpha val="75000"/>
            </a:srgbClr>
          </a:solidFill>
          <a:ln/>
        </p:spPr>
      </p:sp>
      <p:sp>
        <p:nvSpPr>
          <p:cNvPr id="60" name="Shape 58"/>
          <p:cNvSpPr/>
          <p:nvPr/>
        </p:nvSpPr>
        <p:spPr>
          <a:xfrm>
            <a:off x="8801811" y="4013160"/>
            <a:ext cx="247548" cy="1061760"/>
          </a:xfrm>
          <a:prstGeom prst="rect">
            <a:avLst/>
          </a:prstGeom>
          <a:solidFill>
            <a:srgbClr val="647187">
              <a:alpha val="75000"/>
            </a:srgbClr>
          </a:solidFill>
          <a:ln/>
        </p:spPr>
      </p:sp>
      <p:sp>
        <p:nvSpPr>
          <p:cNvPr id="61" name="Shape 59"/>
          <p:cNvSpPr/>
          <p:nvPr/>
        </p:nvSpPr>
        <p:spPr>
          <a:xfrm>
            <a:off x="9067648" y="4331252"/>
            <a:ext cx="247548" cy="743668"/>
          </a:xfrm>
          <a:prstGeom prst="rect">
            <a:avLst/>
          </a:prstGeom>
          <a:solidFill>
            <a:srgbClr val="647187">
              <a:alpha val="75000"/>
            </a:srgbClr>
          </a:solidFill>
          <a:ln/>
        </p:spPr>
      </p:sp>
      <p:sp>
        <p:nvSpPr>
          <p:cNvPr id="62" name="Shape 60"/>
          <p:cNvSpPr/>
          <p:nvPr/>
        </p:nvSpPr>
        <p:spPr>
          <a:xfrm>
            <a:off x="9333484" y="4469655"/>
            <a:ext cx="247548" cy="605265"/>
          </a:xfrm>
          <a:prstGeom prst="rect">
            <a:avLst/>
          </a:prstGeom>
          <a:solidFill>
            <a:srgbClr val="F2C14E">
              <a:alpha val="80000"/>
            </a:srgbClr>
          </a:solidFill>
          <a:ln/>
        </p:spPr>
      </p:sp>
      <p:sp>
        <p:nvSpPr>
          <p:cNvPr id="63" name="Shape 61"/>
          <p:cNvSpPr/>
          <p:nvPr/>
        </p:nvSpPr>
        <p:spPr>
          <a:xfrm>
            <a:off x="9599320" y="4652435"/>
            <a:ext cx="247548" cy="422485"/>
          </a:xfrm>
          <a:prstGeom prst="rect">
            <a:avLst/>
          </a:prstGeom>
          <a:solidFill>
            <a:srgbClr val="F2C14E">
              <a:alpha val="80000"/>
            </a:srgbClr>
          </a:solidFill>
          <a:ln/>
        </p:spPr>
      </p:sp>
      <p:sp>
        <p:nvSpPr>
          <p:cNvPr id="64" name="Shape 62"/>
          <p:cNvSpPr/>
          <p:nvPr/>
        </p:nvSpPr>
        <p:spPr>
          <a:xfrm>
            <a:off x="9865157" y="4862859"/>
            <a:ext cx="247548" cy="212061"/>
          </a:xfrm>
          <a:prstGeom prst="rect">
            <a:avLst/>
          </a:prstGeom>
          <a:solidFill>
            <a:srgbClr val="F2C14E">
              <a:alpha val="80000"/>
            </a:srgbClr>
          </a:solidFill>
          <a:ln/>
        </p:spPr>
      </p:sp>
      <p:sp>
        <p:nvSpPr>
          <p:cNvPr id="65" name="Shape 63"/>
          <p:cNvSpPr/>
          <p:nvPr/>
        </p:nvSpPr>
        <p:spPr>
          <a:xfrm>
            <a:off x="10130993" y="5001990"/>
            <a:ext cx="247548" cy="72930"/>
          </a:xfrm>
          <a:prstGeom prst="rect">
            <a:avLst/>
          </a:prstGeom>
          <a:solidFill>
            <a:srgbClr val="F2C14E">
              <a:alpha val="80000"/>
            </a:srgbClr>
          </a:solidFill>
          <a:ln/>
        </p:spPr>
      </p:sp>
      <p:sp>
        <p:nvSpPr>
          <p:cNvPr id="66" name="Shape 64"/>
          <p:cNvSpPr/>
          <p:nvPr/>
        </p:nvSpPr>
        <p:spPr>
          <a:xfrm>
            <a:off x="10396830" y="5047821"/>
            <a:ext cx="247548" cy="27099"/>
          </a:xfrm>
          <a:prstGeom prst="rect">
            <a:avLst/>
          </a:prstGeom>
          <a:solidFill>
            <a:srgbClr val="F2C14E">
              <a:alpha val="80000"/>
            </a:srgbClr>
          </a:solidFill>
          <a:ln/>
        </p:spPr>
      </p:sp>
      <p:sp>
        <p:nvSpPr>
          <p:cNvPr id="67" name="Shape 65"/>
          <p:cNvSpPr/>
          <p:nvPr/>
        </p:nvSpPr>
        <p:spPr>
          <a:xfrm>
            <a:off x="10662666" y="5065281"/>
            <a:ext cx="247548" cy="9639"/>
          </a:xfrm>
          <a:prstGeom prst="rect">
            <a:avLst/>
          </a:prstGeom>
          <a:solidFill>
            <a:srgbClr val="F2C14E">
              <a:alpha val="80000"/>
            </a:srgbClr>
          </a:solidFill>
          <a:ln/>
        </p:spPr>
      </p:sp>
      <p:sp>
        <p:nvSpPr>
          <p:cNvPr id="68" name="Shape 66"/>
          <p:cNvSpPr/>
          <p:nvPr/>
        </p:nvSpPr>
        <p:spPr>
          <a:xfrm>
            <a:off x="10928502" y="5072919"/>
            <a:ext cx="247548" cy="2001"/>
          </a:xfrm>
          <a:prstGeom prst="rect">
            <a:avLst/>
          </a:prstGeom>
          <a:solidFill>
            <a:srgbClr val="F2C14E">
              <a:alpha val="80000"/>
            </a:srgbClr>
          </a:solidFill>
          <a:ln/>
        </p:spPr>
      </p:sp>
      <p:sp>
        <p:nvSpPr>
          <p:cNvPr id="69" name="Shape 67"/>
          <p:cNvSpPr/>
          <p:nvPr/>
        </p:nvSpPr>
        <p:spPr>
          <a:xfrm>
            <a:off x="11194339" y="5074738"/>
            <a:ext cx="247548" cy="182"/>
          </a:xfrm>
          <a:prstGeom prst="rect">
            <a:avLst/>
          </a:prstGeom>
          <a:solidFill>
            <a:srgbClr val="F2C14E">
              <a:alpha val="80000"/>
            </a:srgbClr>
          </a:solidFill>
          <a:ln/>
        </p:spPr>
      </p:sp>
      <p:sp>
        <p:nvSpPr>
          <p:cNvPr id="70" name="Shape 68"/>
          <p:cNvSpPr/>
          <p:nvPr/>
        </p:nvSpPr>
        <p:spPr>
          <a:xfrm>
            <a:off x="6675120" y="5074920"/>
            <a:ext cx="4785055" cy="0"/>
          </a:xfrm>
          <a:prstGeom prst="line">
            <a:avLst/>
          </a:prstGeom>
          <a:noFill/>
          <a:ln w="9525">
            <a:solidFill>
              <a:srgbClr val="9AA6B6"/>
            </a:solidFill>
            <a:prstDash val="solid"/>
          </a:ln>
        </p:spPr>
      </p:sp>
      <p:sp>
        <p:nvSpPr>
          <p:cNvPr id="71" name="Text 69"/>
          <p:cNvSpPr txBox="1"/>
          <p:nvPr/>
        </p:nvSpPr>
        <p:spPr>
          <a:xfrm>
            <a:off x="6309360" y="5120640"/>
            <a:ext cx="73152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0</a:t>
            </a:r>
            <a:endParaRPr lang="en-US" sz="1000" dirty="0"/>
          </a:p>
        </p:txBody>
      </p:sp>
      <p:sp>
        <p:nvSpPr>
          <p:cNvPr id="72" name="Text 70"/>
          <p:cNvSpPr txBox="1"/>
          <p:nvPr/>
        </p:nvSpPr>
        <p:spPr>
          <a:xfrm>
            <a:off x="7638542" y="5120640"/>
            <a:ext cx="73152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10k HV</a:t>
            </a:r>
            <a:endParaRPr lang="en-US" sz="1000" dirty="0"/>
          </a:p>
        </p:txBody>
      </p:sp>
      <p:sp>
        <p:nvSpPr>
          <p:cNvPr id="73" name="Text 71"/>
          <p:cNvSpPr txBox="1"/>
          <p:nvPr/>
        </p:nvSpPr>
        <p:spPr>
          <a:xfrm>
            <a:off x="8967724" y="5120640"/>
            <a:ext cx="73152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20k HV</a:t>
            </a:r>
            <a:endParaRPr lang="en-US" sz="1000" dirty="0"/>
          </a:p>
        </p:txBody>
      </p:sp>
      <p:sp>
        <p:nvSpPr>
          <p:cNvPr id="74" name="Text 72"/>
          <p:cNvSpPr txBox="1"/>
          <p:nvPr/>
        </p:nvSpPr>
        <p:spPr>
          <a:xfrm>
            <a:off x="10296906" y="5120640"/>
            <a:ext cx="73152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30k HV</a:t>
            </a:r>
            <a:endParaRPr lang="en-US" sz="1000" dirty="0"/>
          </a:p>
        </p:txBody>
      </p:sp>
      <p:sp>
        <p:nvSpPr>
          <p:cNvPr id="75" name="Shape 73"/>
          <p:cNvSpPr/>
          <p:nvPr/>
        </p:nvSpPr>
        <p:spPr>
          <a:xfrm>
            <a:off x="9535387" y="2697480"/>
            <a:ext cx="0" cy="2377440"/>
          </a:xfrm>
          <a:prstGeom prst="line">
            <a:avLst/>
          </a:prstGeom>
          <a:noFill/>
          <a:ln w="22225">
            <a:solidFill>
              <a:srgbClr val="F2C14E"/>
            </a:solidFill>
            <a:prstDash val="solid"/>
          </a:ln>
        </p:spPr>
      </p:sp>
      <p:sp>
        <p:nvSpPr>
          <p:cNvPr id="76" name="Text 74"/>
          <p:cNvSpPr txBox="1"/>
          <p:nvPr/>
        </p:nvSpPr>
        <p:spPr>
          <a:xfrm>
            <a:off x="9608539" y="2679192"/>
            <a:ext cx="2011680" cy="237744"/>
          </a:xfrm>
          <a:prstGeom prst="rect">
            <a:avLst/>
          </a:prstGeom>
          <a:noFill/>
          <a:ln/>
        </p:spPr>
        <p:txBody>
          <a:bodyPr wrap="square" lIns="0" tIns="0" rIns="0" bIns="0" rtlCol="0" anchor="t"/>
          <a:lstStyle/>
          <a:p>
            <a:pPr indent="0" marL="0">
              <a:buNone/>
            </a:pPr>
            <a:r>
              <a:rPr lang="en-US" sz="1200" b="1" dirty="0">
                <a:solidFill>
                  <a:srgbClr val="F2C14E"/>
                </a:solidFill>
                <a:latin typeface="Calibri" pitchFamily="34" charset="0"/>
                <a:ea typeface="Calibri" pitchFamily="34" charset="-122"/>
                <a:cs typeface="Calibri" pitchFamily="34" charset="-120"/>
              </a:rPr>
              <a:t>e vëzhguar: 21,519 HV</a:t>
            </a:r>
            <a:endParaRPr lang="en-US" sz="1200" dirty="0"/>
          </a:p>
        </p:txBody>
      </p:sp>
      <p:sp>
        <p:nvSpPr>
          <p:cNvPr id="77" name="Text 75"/>
          <p:cNvSpPr txBox="1"/>
          <p:nvPr/>
        </p:nvSpPr>
        <p:spPr>
          <a:xfrm>
            <a:off x="9608539" y="2944368"/>
            <a:ext cx="1833348" cy="566928"/>
          </a:xfrm>
          <a:prstGeom prst="rect">
            <a:avLst/>
          </a:prstGeom>
          <a:noFill/>
          <a:ln/>
        </p:spPr>
        <p:txBody>
          <a:bodyPr wrap="square" lIns="0" tIns="0" rIns="0" bIns="0" rtlCol="0" anchor="t"/>
          <a:lstStyle/>
          <a:p>
            <a:pPr indent="0" marL="0">
              <a:buNone/>
            </a:pPr>
            <a:r>
              <a:rPr lang="en-US" sz="1100" dirty="0">
                <a:solidFill>
                  <a:srgbClr val="F2C14E"/>
                </a:solidFill>
                <a:latin typeface="Calibri" pitchFamily="34" charset="0"/>
                <a:ea typeface="Calibri" pitchFamily="34" charset="-122"/>
                <a:cs typeface="Calibri" pitchFamily="34" charset="-120"/>
              </a:rPr>
              <a:t>vetëm 4.6% e 100,000 rishpërndarjeve e lëvizin totalin kaq larg</a:t>
            </a:r>
            <a:endParaRPr lang="en-US" sz="1100" dirty="0"/>
          </a:p>
        </p:txBody>
      </p:sp>
      <p:sp>
        <p:nvSpPr>
          <p:cNvPr id="78" name="Text 76"/>
          <p:cNvSpPr txBox="1"/>
          <p:nvPr/>
        </p:nvSpPr>
        <p:spPr>
          <a:xfrm>
            <a:off x="6583680" y="5376672"/>
            <a:ext cx="4967935" cy="411480"/>
          </a:xfrm>
          <a:prstGeom prst="rect">
            <a:avLst/>
          </a:prstGeom>
          <a:noFill/>
          <a:ln/>
        </p:spPr>
        <p:txBody>
          <a:bodyPr wrap="square" lIns="0" tIns="0" rIns="0" bIns="0" rtlCol="0" anchor="t"/>
          <a:lstStyle/>
          <a:p>
            <a:pPr indent="0" marL="0">
              <a:buNone/>
            </a:pPr>
            <a:r>
              <a:rPr lang="en-US" sz="1050" i="1" dirty="0">
                <a:solidFill>
                  <a:srgbClr val="647187"/>
                </a:solidFill>
                <a:latin typeface="Calibri" pitchFamily="34" charset="0"/>
                <a:ea typeface="Calibri" pitchFamily="34" charset="-122"/>
                <a:cs typeface="Calibri" pitchFamily="34" charset="-120"/>
              </a:rPr>
              <a:t>|ndryshimi në totalin e dhjetë instancave| kur gjashtë seed-at e çdo instance rishpërndahen mes dy sesioneve</a:t>
            </a:r>
            <a:endParaRPr lang="en-US" sz="1050" dirty="0"/>
          </a:p>
        </p:txBody>
      </p:sp>
      <p:sp>
        <p:nvSpPr>
          <p:cNvPr id="79" name="Text 77"/>
          <p:cNvSpPr txBox="1"/>
          <p:nvPr/>
        </p:nvSpPr>
        <p:spPr>
          <a:xfrm>
            <a:off x="640080" y="5943600"/>
            <a:ext cx="10911535" cy="475488"/>
          </a:xfrm>
          <a:prstGeom prst="rect">
            <a:avLst/>
          </a:prstGeom>
          <a:noFill/>
          <a:ln/>
        </p:spPr>
        <p:txBody>
          <a:bodyPr wrap="square" lIns="0" tIns="0" rIns="0" bIns="0" rtlCol="0" anchor="t"/>
          <a:lstStyle/>
          <a:p>
            <a:pPr indent="0" marL="0">
              <a:buNone/>
            </a:pPr>
            <a:r>
              <a:rPr lang="en-US" sz="1350" i="1" dirty="0">
                <a:solidFill>
                  <a:srgbClr val="E8ECF2"/>
                </a:solidFill>
                <a:latin typeface="Century Schoolbook" pitchFamily="34" charset="0"/>
                <a:ea typeface="Century Schoolbook" pitchFamily="34" charset="-122"/>
                <a:cs typeface="Century Schoolbook" pitchFamily="34" charset="-120"/>
              </a:rPr>
              <a:t>Zhurma ndryshon sipas metodës dhe instancës: shpërndarjet e tre seed-ave shkojnë nga 9 deri në 281,976 HV. Asnjë prag i vetëm s'mund të gjykojë çdo rresht.</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MATJA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Gjysma e fituesve nuk i mbijeton një vështrimi te seed-at</a:t>
            </a:r>
            <a:endParaRPr lang="en-US" sz="2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903720" cy="914400"/>
        </p:xfrm>
        <a:graphic>
          <a:graphicData uri="http://schemas.openxmlformats.org/drawingml/2006/table">
            <a:tbl>
              <a:tblPr/>
              <a:tblGrid>
                <a:gridCol w="1463040"/>
                <a:gridCol w="1554480"/>
                <a:gridCol w="1554480"/>
                <a:gridCol w="1005840"/>
                <a:gridCol w="1325880"/>
              </a:tblGrid>
              <a:tr h="329184">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instanca</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më i miri nga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mediana e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hendeku</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vendimi</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Spacekangaroos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−9,960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−2,515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 *</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−61,095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+2,128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−31,077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+425,344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+233,811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+121,598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486400"/>
            <a:ext cx="6903720" cy="804672"/>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Hendeku = seed-i më i dobët i fituesit minus seed-i më i mirë i të dytit. I vendosur = hendek pozitiv dhe i njëjti fitues sipas medianës: çdo seed i fituesit mposht çdo seed të çdo rivali (test i saktë rangjesh, p = 0.05 me tre seed-a). * synth-3: 71 HV mbi pikën e vet të nisjes.</a:t>
            </a:r>
            <a:endParaRPr lang="en-US" sz="1050" dirty="0"/>
          </a:p>
        </p:txBody>
      </p:sp>
      <p:sp>
        <p:nvSpPr>
          <p:cNvPr id="6" name="Text 3"/>
          <p:cNvSpPr txBox="1"/>
          <p:nvPr/>
        </p:nvSpPr>
        <p:spPr>
          <a:xfrm>
            <a:off x="8001000" y="1810512"/>
            <a:ext cx="355061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SMALL-GRAPH, ÇDO SEED</a:t>
            </a:r>
            <a:endParaRPr lang="en-US" sz="1050" dirty="0"/>
          </a:p>
        </p:txBody>
      </p:sp>
      <p:sp>
        <p:nvSpPr>
          <p:cNvPr id="7" name="Text 4"/>
          <p:cNvSpPr txBox="1"/>
          <p:nvPr/>
        </p:nvSpPr>
        <p:spPr>
          <a:xfrm>
            <a:off x="8001000" y="22585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Spacekangaroos</a:t>
            </a:r>
            <a:endParaRPr lang="en-US" sz="1150" dirty="0"/>
          </a:p>
        </p:txBody>
      </p:sp>
      <p:sp>
        <p:nvSpPr>
          <p:cNvPr id="8" name="Shape 5"/>
          <p:cNvSpPr/>
          <p:nvPr/>
        </p:nvSpPr>
        <p:spPr>
          <a:xfrm>
            <a:off x="9326880" y="2377440"/>
            <a:ext cx="2179015" cy="0"/>
          </a:xfrm>
          <a:prstGeom prst="line">
            <a:avLst/>
          </a:prstGeom>
          <a:noFill/>
          <a:ln w="7620">
            <a:solidFill>
              <a:srgbClr val="1C2533"/>
            </a:solidFill>
            <a:prstDash val="solid"/>
          </a:ln>
        </p:spPr>
      </p:sp>
      <p:sp>
        <p:nvSpPr>
          <p:cNvPr id="9" name="Shape 6"/>
          <p:cNvSpPr/>
          <p:nvPr/>
        </p:nvSpPr>
        <p:spPr>
          <a:xfrm>
            <a:off x="9916256" y="2240280"/>
            <a:ext cx="0" cy="274320"/>
          </a:xfrm>
          <a:prstGeom prst="line">
            <a:avLst/>
          </a:prstGeom>
          <a:noFill/>
          <a:ln w="19050">
            <a:solidFill>
              <a:srgbClr val="F2C14E"/>
            </a:solidFill>
            <a:prstDash val="solid"/>
          </a:ln>
        </p:spPr>
      </p:sp>
      <p:sp>
        <p:nvSpPr>
          <p:cNvPr id="10" name="Shape 7"/>
          <p:cNvSpPr/>
          <p:nvPr/>
        </p:nvSpPr>
        <p:spPr>
          <a:xfrm>
            <a:off x="11303402" y="2318004"/>
            <a:ext cx="118872" cy="118872"/>
          </a:xfrm>
          <a:prstGeom prst="ellipse">
            <a:avLst/>
          </a:prstGeom>
          <a:solidFill>
            <a:srgbClr val="4DA3FF">
              <a:alpha val="90000"/>
            </a:srgbClr>
          </a:solidFill>
          <a:ln/>
        </p:spPr>
      </p:sp>
      <p:sp>
        <p:nvSpPr>
          <p:cNvPr id="11" name="Shape 8"/>
          <p:cNvSpPr/>
          <p:nvPr/>
        </p:nvSpPr>
        <p:spPr>
          <a:xfrm>
            <a:off x="9856820" y="2318004"/>
            <a:ext cx="118872" cy="118872"/>
          </a:xfrm>
          <a:prstGeom prst="ellipse">
            <a:avLst/>
          </a:prstGeom>
          <a:solidFill>
            <a:srgbClr val="E8ECF2">
              <a:alpha val="90000"/>
            </a:srgbClr>
          </a:solidFill>
          <a:ln/>
        </p:spPr>
      </p:sp>
      <p:sp>
        <p:nvSpPr>
          <p:cNvPr id="12" name="Shape 9"/>
          <p:cNvSpPr/>
          <p:nvPr/>
        </p:nvSpPr>
        <p:spPr>
          <a:xfrm>
            <a:off x="9733753" y="2318004"/>
            <a:ext cx="118872" cy="118872"/>
          </a:xfrm>
          <a:prstGeom prst="ellipse">
            <a:avLst/>
          </a:prstGeom>
          <a:solidFill>
            <a:srgbClr val="E8ECF2">
              <a:alpha val="90000"/>
            </a:srgbClr>
          </a:solidFill>
          <a:ln/>
        </p:spPr>
      </p:sp>
      <p:sp>
        <p:nvSpPr>
          <p:cNvPr id="13" name="Text 10"/>
          <p:cNvSpPr txBox="1"/>
          <p:nvPr/>
        </p:nvSpPr>
        <p:spPr>
          <a:xfrm>
            <a:off x="8001000" y="27157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Team HRI</a:t>
            </a:r>
            <a:endParaRPr lang="en-US" sz="1150" dirty="0"/>
          </a:p>
        </p:txBody>
      </p:sp>
      <p:sp>
        <p:nvSpPr>
          <p:cNvPr id="14" name="Shape 11"/>
          <p:cNvSpPr/>
          <p:nvPr/>
        </p:nvSpPr>
        <p:spPr>
          <a:xfrm>
            <a:off x="9326880" y="2834640"/>
            <a:ext cx="2179015" cy="0"/>
          </a:xfrm>
          <a:prstGeom prst="line">
            <a:avLst/>
          </a:prstGeom>
          <a:noFill/>
          <a:ln w="7620">
            <a:solidFill>
              <a:srgbClr val="1C2533"/>
            </a:solidFill>
            <a:prstDash val="solid"/>
          </a:ln>
        </p:spPr>
      </p:sp>
      <p:sp>
        <p:nvSpPr>
          <p:cNvPr id="15" name="Shape 12"/>
          <p:cNvSpPr/>
          <p:nvPr/>
        </p:nvSpPr>
        <p:spPr>
          <a:xfrm>
            <a:off x="10602457" y="2697480"/>
            <a:ext cx="0" cy="274320"/>
          </a:xfrm>
          <a:prstGeom prst="line">
            <a:avLst/>
          </a:prstGeom>
          <a:noFill/>
          <a:ln w="19050">
            <a:solidFill>
              <a:srgbClr val="F2C14E"/>
            </a:solidFill>
            <a:prstDash val="solid"/>
          </a:ln>
        </p:spPr>
      </p:sp>
      <p:sp>
        <p:nvSpPr>
          <p:cNvPr id="16" name="Shape 13"/>
          <p:cNvSpPr/>
          <p:nvPr/>
        </p:nvSpPr>
        <p:spPr>
          <a:xfrm>
            <a:off x="10677362" y="2775204"/>
            <a:ext cx="118872" cy="118872"/>
          </a:xfrm>
          <a:prstGeom prst="ellipse">
            <a:avLst/>
          </a:prstGeom>
          <a:solidFill>
            <a:srgbClr val="E8ECF2">
              <a:alpha val="90000"/>
            </a:srgbClr>
          </a:solidFill>
          <a:ln/>
        </p:spPr>
      </p:sp>
      <p:sp>
        <p:nvSpPr>
          <p:cNvPr id="17" name="Shape 14"/>
          <p:cNvSpPr/>
          <p:nvPr/>
        </p:nvSpPr>
        <p:spPr>
          <a:xfrm>
            <a:off x="10543021" y="2775204"/>
            <a:ext cx="118872" cy="118872"/>
          </a:xfrm>
          <a:prstGeom prst="ellipse">
            <a:avLst/>
          </a:prstGeom>
          <a:solidFill>
            <a:srgbClr val="E8ECF2">
              <a:alpha val="90000"/>
            </a:srgbClr>
          </a:solidFill>
          <a:ln/>
        </p:spPr>
      </p:sp>
      <p:sp>
        <p:nvSpPr>
          <p:cNvPr id="18" name="Shape 15"/>
          <p:cNvSpPr/>
          <p:nvPr/>
        </p:nvSpPr>
        <p:spPr>
          <a:xfrm>
            <a:off x="10492051" y="2775204"/>
            <a:ext cx="118872" cy="118872"/>
          </a:xfrm>
          <a:prstGeom prst="ellipse">
            <a:avLst/>
          </a:prstGeom>
          <a:solidFill>
            <a:srgbClr val="E8ECF2">
              <a:alpha val="90000"/>
            </a:srgbClr>
          </a:solidFill>
          <a:ln/>
        </p:spPr>
      </p:sp>
      <p:sp>
        <p:nvSpPr>
          <p:cNvPr id="19" name="Text 16"/>
          <p:cNvSpPr txBox="1"/>
          <p:nvPr/>
        </p:nvSpPr>
        <p:spPr>
          <a:xfrm>
            <a:off x="8001000" y="31729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20" name="Shape 17"/>
          <p:cNvSpPr/>
          <p:nvPr/>
        </p:nvSpPr>
        <p:spPr>
          <a:xfrm>
            <a:off x="9326880" y="3291840"/>
            <a:ext cx="2179015" cy="0"/>
          </a:xfrm>
          <a:prstGeom prst="line">
            <a:avLst/>
          </a:prstGeom>
          <a:noFill/>
          <a:ln w="7620">
            <a:solidFill>
              <a:srgbClr val="1C2533"/>
            </a:solidFill>
            <a:prstDash val="solid"/>
          </a:ln>
        </p:spPr>
      </p:sp>
      <p:sp>
        <p:nvSpPr>
          <p:cNvPr id="21" name="Shape 18"/>
          <p:cNvSpPr/>
          <p:nvPr/>
        </p:nvSpPr>
        <p:spPr>
          <a:xfrm>
            <a:off x="10136621" y="3154680"/>
            <a:ext cx="0" cy="274320"/>
          </a:xfrm>
          <a:prstGeom prst="line">
            <a:avLst/>
          </a:prstGeom>
          <a:noFill/>
          <a:ln w="19050">
            <a:solidFill>
              <a:srgbClr val="F2C14E"/>
            </a:solidFill>
            <a:prstDash val="solid"/>
          </a:ln>
        </p:spPr>
      </p:sp>
      <p:sp>
        <p:nvSpPr>
          <p:cNvPr id="22" name="Shape 19"/>
          <p:cNvSpPr/>
          <p:nvPr/>
        </p:nvSpPr>
        <p:spPr>
          <a:xfrm>
            <a:off x="10075574" y="3232404"/>
            <a:ext cx="118872" cy="118872"/>
          </a:xfrm>
          <a:prstGeom prst="ellipse">
            <a:avLst/>
          </a:prstGeom>
          <a:solidFill>
            <a:srgbClr val="E8ECF2">
              <a:alpha val="90000"/>
            </a:srgbClr>
          </a:solidFill>
          <a:ln/>
        </p:spPr>
      </p:sp>
      <p:sp>
        <p:nvSpPr>
          <p:cNvPr id="23" name="Shape 20"/>
          <p:cNvSpPr/>
          <p:nvPr/>
        </p:nvSpPr>
        <p:spPr>
          <a:xfrm>
            <a:off x="10161503" y="3232404"/>
            <a:ext cx="118872" cy="118872"/>
          </a:xfrm>
          <a:prstGeom prst="ellipse">
            <a:avLst/>
          </a:prstGeom>
          <a:solidFill>
            <a:srgbClr val="E8ECF2">
              <a:alpha val="90000"/>
            </a:srgbClr>
          </a:solidFill>
          <a:ln/>
        </p:spPr>
      </p:sp>
      <p:sp>
        <p:nvSpPr>
          <p:cNvPr id="24" name="Shape 21"/>
          <p:cNvSpPr/>
          <p:nvPr/>
        </p:nvSpPr>
        <p:spPr>
          <a:xfrm>
            <a:off x="10077185" y="3232404"/>
            <a:ext cx="118872" cy="118872"/>
          </a:xfrm>
          <a:prstGeom prst="ellipse">
            <a:avLst/>
          </a:prstGeom>
          <a:solidFill>
            <a:srgbClr val="E8ECF2">
              <a:alpha val="90000"/>
            </a:srgbClr>
          </a:solidFill>
          <a:ln/>
        </p:spPr>
      </p:sp>
      <p:sp>
        <p:nvSpPr>
          <p:cNvPr id="25" name="Text 22"/>
          <p:cNvSpPr txBox="1"/>
          <p:nvPr/>
        </p:nvSpPr>
        <p:spPr>
          <a:xfrm>
            <a:off x="8001000" y="36301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fcmaes</a:t>
            </a:r>
            <a:endParaRPr lang="en-US" sz="1150" dirty="0"/>
          </a:p>
        </p:txBody>
      </p:sp>
      <p:sp>
        <p:nvSpPr>
          <p:cNvPr id="26" name="Shape 23"/>
          <p:cNvSpPr/>
          <p:nvPr/>
        </p:nvSpPr>
        <p:spPr>
          <a:xfrm>
            <a:off x="9326880" y="3749040"/>
            <a:ext cx="2179015" cy="0"/>
          </a:xfrm>
          <a:prstGeom prst="line">
            <a:avLst/>
          </a:prstGeom>
          <a:noFill/>
          <a:ln w="7620">
            <a:solidFill>
              <a:srgbClr val="1C2533"/>
            </a:solidFill>
            <a:prstDash val="solid"/>
          </a:ln>
        </p:spPr>
      </p:sp>
      <p:sp>
        <p:nvSpPr>
          <p:cNvPr id="27" name="Shape 24"/>
          <p:cNvSpPr/>
          <p:nvPr/>
        </p:nvSpPr>
        <p:spPr>
          <a:xfrm>
            <a:off x="9489738" y="3611880"/>
            <a:ext cx="0" cy="274320"/>
          </a:xfrm>
          <a:prstGeom prst="line">
            <a:avLst/>
          </a:prstGeom>
          <a:noFill/>
          <a:ln w="19050">
            <a:solidFill>
              <a:srgbClr val="F2C14E"/>
            </a:solidFill>
            <a:prstDash val="solid"/>
          </a:ln>
        </p:spPr>
      </p:sp>
      <p:sp>
        <p:nvSpPr>
          <p:cNvPr id="28" name="Shape 25"/>
          <p:cNvSpPr/>
          <p:nvPr/>
        </p:nvSpPr>
        <p:spPr>
          <a:xfrm>
            <a:off x="9430302" y="3689604"/>
            <a:ext cx="118872" cy="118872"/>
          </a:xfrm>
          <a:prstGeom prst="ellipse">
            <a:avLst/>
          </a:prstGeom>
          <a:solidFill>
            <a:srgbClr val="E8ECF2">
              <a:alpha val="90000"/>
            </a:srgbClr>
          </a:solidFill>
          <a:ln/>
        </p:spPr>
      </p:sp>
      <p:sp>
        <p:nvSpPr>
          <p:cNvPr id="29" name="Shape 26"/>
          <p:cNvSpPr/>
          <p:nvPr/>
        </p:nvSpPr>
        <p:spPr>
          <a:xfrm>
            <a:off x="9460145" y="3689604"/>
            <a:ext cx="118872" cy="118872"/>
          </a:xfrm>
          <a:prstGeom prst="ellipse">
            <a:avLst/>
          </a:prstGeom>
          <a:solidFill>
            <a:srgbClr val="E8ECF2">
              <a:alpha val="90000"/>
            </a:srgbClr>
          </a:solidFill>
          <a:ln/>
        </p:spPr>
      </p:sp>
      <p:sp>
        <p:nvSpPr>
          <p:cNvPr id="30" name="Shape 27"/>
          <p:cNvSpPr/>
          <p:nvPr/>
        </p:nvSpPr>
        <p:spPr>
          <a:xfrm>
            <a:off x="9376205" y="3689604"/>
            <a:ext cx="118872" cy="118872"/>
          </a:xfrm>
          <a:prstGeom prst="ellipse">
            <a:avLst/>
          </a:prstGeom>
          <a:solidFill>
            <a:srgbClr val="E8ECF2">
              <a:alpha val="90000"/>
            </a:srgbClr>
          </a:solidFill>
          <a:ln/>
        </p:spPr>
      </p:sp>
      <p:sp>
        <p:nvSpPr>
          <p:cNvPr id="31" name="Shape 28"/>
          <p:cNvSpPr/>
          <p:nvPr/>
        </p:nvSpPr>
        <p:spPr>
          <a:xfrm>
            <a:off x="11253110" y="2267712"/>
            <a:ext cx="219456" cy="219456"/>
          </a:xfrm>
          <a:prstGeom prst="ellipse">
            <a:avLst/>
          </a:prstGeom>
          <a:ln w="15875">
            <a:solidFill>
              <a:srgbClr val="4DA3FF"/>
            </a:solidFill>
            <a:prstDash val="solid"/>
          </a:ln>
        </p:spPr>
      </p:sp>
      <p:sp>
        <p:nvSpPr>
          <p:cNvPr id="32" name="Text 29"/>
          <p:cNvSpPr txBox="1"/>
          <p:nvPr/>
        </p:nvSpPr>
        <p:spPr>
          <a:xfrm>
            <a:off x="10448438" y="1993392"/>
            <a:ext cx="868680" cy="201168"/>
          </a:xfrm>
          <a:prstGeom prst="rect">
            <a:avLst/>
          </a:prstGeom>
          <a:noFill/>
          <a:ln/>
        </p:spPr>
        <p:txBody>
          <a:bodyPr wrap="square" lIns="0" tIns="0" rIns="0" bIns="0" rtlCol="0" anchor="t"/>
          <a:lstStyle/>
          <a:p>
            <a:pPr algn="r" indent="0" marL="0">
              <a:buNone/>
            </a:pPr>
            <a:r>
              <a:rPr lang="en-US" sz="1000" b="1" dirty="0">
                <a:solidFill>
                  <a:srgbClr val="4DA3FF"/>
                </a:solidFill>
                <a:latin typeface="Calibri" pitchFamily="34" charset="0"/>
                <a:ea typeface="Calibri" pitchFamily="34" charset="-122"/>
                <a:cs typeface="Calibri" pitchFamily="34" charset="-120"/>
              </a:rPr>
              <a:t>më i miri nga 3</a:t>
            </a:r>
            <a:endParaRPr lang="en-US" sz="1000" dirty="0"/>
          </a:p>
        </p:txBody>
      </p:sp>
      <p:sp>
        <p:nvSpPr>
          <p:cNvPr id="33" name="Text 30"/>
          <p:cNvSpPr txBox="1"/>
          <p:nvPr/>
        </p:nvSpPr>
        <p:spPr>
          <a:xfrm>
            <a:off x="9385799" y="3858768"/>
            <a:ext cx="640080"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1,810</a:t>
            </a:r>
            <a:endParaRPr lang="en-US" sz="950" dirty="0"/>
          </a:p>
        </p:txBody>
      </p:sp>
      <p:sp>
        <p:nvSpPr>
          <p:cNvPr id="34" name="Text 31"/>
          <p:cNvSpPr txBox="1"/>
          <p:nvPr/>
        </p:nvSpPr>
        <p:spPr>
          <a:xfrm>
            <a:off x="9859498" y="3858768"/>
            <a:ext cx="640080"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1,815</a:t>
            </a:r>
            <a:endParaRPr lang="en-US" sz="950" dirty="0"/>
          </a:p>
        </p:txBody>
      </p:sp>
      <p:sp>
        <p:nvSpPr>
          <p:cNvPr id="35" name="Text 32"/>
          <p:cNvSpPr txBox="1"/>
          <p:nvPr/>
        </p:nvSpPr>
        <p:spPr>
          <a:xfrm>
            <a:off x="10333197" y="3858768"/>
            <a:ext cx="640080"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1,820</a:t>
            </a:r>
            <a:endParaRPr lang="en-US" sz="950" dirty="0"/>
          </a:p>
        </p:txBody>
      </p:sp>
      <p:sp>
        <p:nvSpPr>
          <p:cNvPr id="36" name="Text 33"/>
          <p:cNvSpPr txBox="1"/>
          <p:nvPr/>
        </p:nvSpPr>
        <p:spPr>
          <a:xfrm>
            <a:off x="10806896" y="3858768"/>
            <a:ext cx="640080"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1,825</a:t>
            </a:r>
            <a:endParaRPr lang="en-US" sz="950" dirty="0"/>
          </a:p>
        </p:txBody>
      </p:sp>
      <p:sp>
        <p:nvSpPr>
          <p:cNvPr id="37" name="Text 34"/>
          <p:cNvSpPr txBox="1"/>
          <p:nvPr/>
        </p:nvSpPr>
        <p:spPr>
          <a:xfrm>
            <a:off x="9326880" y="4041648"/>
            <a:ext cx="2179015" cy="182880"/>
          </a:xfrm>
          <a:prstGeom prst="rect">
            <a:avLst/>
          </a:prstGeom>
          <a:noFill/>
          <a:ln/>
        </p:spPr>
        <p:txBody>
          <a:bodyPr wrap="square" lIns="0" tIns="0" rIns="0" bIns="0" rtlCol="0" anchor="t"/>
          <a:lstStyle/>
          <a:p>
            <a:pPr algn="ctr" indent="0" marL="0">
              <a:buNone/>
            </a:pPr>
            <a:r>
              <a:rPr lang="en-US" sz="950" dirty="0">
                <a:solidFill>
                  <a:srgbClr val="647187"/>
                </a:solidFill>
                <a:latin typeface="Calibri" pitchFamily="34" charset="0"/>
                <a:ea typeface="Calibri" pitchFamily="34" charset="-122"/>
                <a:cs typeface="Calibri" pitchFamily="34" charset="-120"/>
              </a:rPr>
              <a:t>hipervolumi ×1,000</a:t>
            </a:r>
            <a:endParaRPr lang="en-US" sz="950" dirty="0"/>
          </a:p>
        </p:txBody>
      </p:sp>
      <p:sp>
        <p:nvSpPr>
          <p:cNvPr id="38" name="Shape 35"/>
          <p:cNvSpPr/>
          <p:nvPr/>
        </p:nvSpPr>
        <p:spPr>
          <a:xfrm>
            <a:off x="8019288" y="4343400"/>
            <a:ext cx="137160" cy="0"/>
          </a:xfrm>
          <a:prstGeom prst="line">
            <a:avLst/>
          </a:prstGeom>
          <a:noFill/>
          <a:ln w="19050">
            <a:solidFill>
              <a:srgbClr val="F2C14E"/>
            </a:solidFill>
            <a:prstDash val="solid"/>
          </a:ln>
        </p:spPr>
      </p:sp>
      <p:sp>
        <p:nvSpPr>
          <p:cNvPr id="39" name="Text 36"/>
          <p:cNvSpPr txBox="1"/>
          <p:nvPr/>
        </p:nvSpPr>
        <p:spPr>
          <a:xfrm>
            <a:off x="8202168" y="4242816"/>
            <a:ext cx="1280160" cy="201168"/>
          </a:xfrm>
          <a:prstGeom prst="rect">
            <a:avLst/>
          </a:prstGeom>
          <a:noFill/>
          <a:ln/>
        </p:spPr>
        <p:txBody>
          <a:bodyPr wrap="square" lIns="0" tIns="0" rIns="0" bIns="0" rtlCol="0" anchor="t"/>
          <a:lstStyle/>
          <a:p>
            <a:pPr indent="0" marL="0">
              <a:buNone/>
            </a:pPr>
            <a:r>
              <a:rPr lang="en-US" sz="1000" dirty="0">
                <a:solidFill>
                  <a:srgbClr val="F2C14E"/>
                </a:solidFill>
                <a:latin typeface="Calibri" pitchFamily="34" charset="0"/>
                <a:ea typeface="Calibri" pitchFamily="34" charset="-122"/>
                <a:cs typeface="Calibri" pitchFamily="34" charset="-120"/>
              </a:rPr>
              <a:t>medianat</a:t>
            </a:r>
            <a:endParaRPr lang="en-US" sz="1000" dirty="0"/>
          </a:p>
        </p:txBody>
      </p:sp>
      <p:sp>
        <p:nvSpPr>
          <p:cNvPr id="40" name="Text 37"/>
          <p:cNvSpPr txBox="1"/>
          <p:nvPr/>
        </p:nvSpPr>
        <p:spPr>
          <a:xfrm>
            <a:off x="8001000" y="4553712"/>
            <a:ext cx="3550615" cy="822960"/>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Më i miri nga tre e kurorëzon Spacekangaroos me një seed të vetëm; dy të tjerët mbeten pas të treve të Team HRI. Mediana e kurorëzon Team HRI.</a:t>
            </a:r>
            <a:endParaRPr lang="en-US" sz="1200" dirty="0"/>
          </a:p>
        </p:txBody>
      </p:sp>
      <p:sp>
        <p:nvSpPr>
          <p:cNvPr id="41" name="Text 38"/>
          <p:cNvSpPr txBox="1"/>
          <p:nvPr/>
        </p:nvSpPr>
        <p:spPr>
          <a:xfrm>
            <a:off x="8001000" y="5468112"/>
            <a:ext cx="3550615" cy="237744"/>
          </a:xfrm>
          <a:prstGeom prst="rect">
            <a:avLst/>
          </a:prstGeom>
          <a:noFill/>
          <a:ln/>
        </p:spPr>
        <p:txBody>
          <a:bodyPr wrap="square" lIns="0" tIns="0" rIns="0" bIns="0" rtlCol="0" anchor="t"/>
          <a:lstStyle/>
          <a:p>
            <a:pPr indent="0" marL="0">
              <a:buNone/>
            </a:pPr>
            <a:r>
              <a:rPr lang="en-US" sz="1050" b="1" spc="160" kern="0" dirty="0">
                <a:solidFill>
                  <a:srgbClr val="F2C14E"/>
                </a:solidFill>
                <a:latin typeface="Calibri" pitchFamily="34" charset="0"/>
                <a:ea typeface="Calibri" pitchFamily="34" charset="-122"/>
                <a:cs typeface="Calibri" pitchFamily="34" charset="-120"/>
              </a:rPr>
              <a:t>DRAFTI I PARË</a:t>
            </a:r>
            <a:endParaRPr lang="en-US" sz="1050" dirty="0"/>
          </a:p>
        </p:txBody>
      </p:sp>
      <p:sp>
        <p:nvSpPr>
          <p:cNvPr id="42" name="Text 39"/>
          <p:cNvSpPr txBox="1"/>
          <p:nvPr/>
        </p:nvSpPr>
        <p:spPr>
          <a:xfrm>
            <a:off x="8001000" y="5705856"/>
            <a:ext cx="3550615" cy="603504"/>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Një prag i vetëm, i huazuar nga zhurma e Hill Climbing, gjykoi çdo rresht dhe gaboi në katër: synth-3, synth-4, medium-graph dhe synth-5.</a:t>
            </a:r>
            <a:endParaRPr lang="en-US" sz="11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ÇFARË E BËN PUNËN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Përbërësit një nga një: vetëm ndërtimi ka rëndësi</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Një kërkim lokal ka tri pjesë: ku niset, çfarë provon, çfarë mban. Secili variant zëvendëson saktësisht njërën prej tyre, kundër të njëjtit kontroll Hill Climbing.</a:t>
            </a:r>
            <a:endParaRPr lang="en-US" sz="1500" dirty="0"/>
          </a:p>
        </p:txBody>
      </p:sp>
      <p:sp>
        <p:nvSpPr>
          <p:cNvPr id="5" name="Shape 3"/>
          <p:cNvSpPr/>
          <p:nvPr/>
        </p:nvSpPr>
        <p:spPr>
          <a:xfrm>
            <a:off x="3476369" y="2514600"/>
            <a:ext cx="536198" cy="2990088"/>
          </a:xfrm>
          <a:prstGeom prst="rect">
            <a:avLst/>
          </a:prstGeom>
          <a:solidFill>
            <a:srgbClr val="F2C14E">
              <a:alpha val="10000"/>
            </a:srgbClr>
          </a:solidFill>
          <a:ln/>
        </p:spPr>
      </p:sp>
      <p:sp>
        <p:nvSpPr>
          <p:cNvPr id="6" name="Shape 4"/>
          <p:cNvSpPr/>
          <p:nvPr/>
        </p:nvSpPr>
        <p:spPr>
          <a:xfrm>
            <a:off x="3476369" y="2514600"/>
            <a:ext cx="0" cy="2990088"/>
          </a:xfrm>
          <a:prstGeom prst="line">
            <a:avLst/>
          </a:prstGeom>
          <a:noFill/>
          <a:ln w="9525">
            <a:solidFill>
              <a:srgbClr val="F2C14E"/>
            </a:solidFill>
            <a:prstDash val="dash"/>
          </a:ln>
        </p:spPr>
      </p:sp>
      <p:sp>
        <p:nvSpPr>
          <p:cNvPr id="7" name="Shape 5"/>
          <p:cNvSpPr/>
          <p:nvPr/>
        </p:nvSpPr>
        <p:spPr>
          <a:xfrm>
            <a:off x="4012567" y="2514600"/>
            <a:ext cx="0" cy="2990088"/>
          </a:xfrm>
          <a:prstGeom prst="line">
            <a:avLst/>
          </a:prstGeom>
          <a:noFill/>
          <a:ln w="9525">
            <a:solidFill>
              <a:srgbClr val="F2C14E"/>
            </a:solidFill>
            <a:prstDash val="dash"/>
          </a:ln>
        </p:spPr>
      </p:sp>
      <p:sp>
        <p:nvSpPr>
          <p:cNvPr id="8" name="Text 6"/>
          <p:cNvSpPr txBox="1"/>
          <p:nvPr/>
        </p:nvSpPr>
        <p:spPr>
          <a:xfrm>
            <a:off x="3293489" y="2258568"/>
            <a:ext cx="292608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kontrolli i rimostruar: ±21,519 HV</a:t>
            </a:r>
            <a:endParaRPr lang="en-US" sz="1050" dirty="0"/>
          </a:p>
        </p:txBody>
      </p:sp>
      <p:sp>
        <p:nvSpPr>
          <p:cNvPr id="9" name="Shape 7"/>
          <p:cNvSpPr/>
          <p:nvPr/>
        </p:nvSpPr>
        <p:spPr>
          <a:xfrm>
            <a:off x="3744468" y="2514600"/>
            <a:ext cx="0" cy="2990088"/>
          </a:xfrm>
          <a:prstGeom prst="line">
            <a:avLst/>
          </a:prstGeom>
          <a:noFill/>
          <a:ln w="9525">
            <a:solidFill>
              <a:srgbClr val="9AA6B6"/>
            </a:solidFill>
            <a:prstDash val="solid"/>
          </a:ln>
        </p:spPr>
      </p:sp>
      <p:sp>
        <p:nvSpPr>
          <p:cNvPr id="10" name="Text 8"/>
          <p:cNvSpPr txBox="1"/>
          <p:nvPr/>
        </p:nvSpPr>
        <p:spPr>
          <a:xfrm>
            <a:off x="3424428" y="555040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0</a:t>
            </a:r>
            <a:endParaRPr lang="en-US" sz="1000" dirty="0"/>
          </a:p>
        </p:txBody>
      </p:sp>
      <p:sp>
        <p:nvSpPr>
          <p:cNvPr id="11" name="Text 9"/>
          <p:cNvSpPr txBox="1"/>
          <p:nvPr/>
        </p:nvSpPr>
        <p:spPr>
          <a:xfrm>
            <a:off x="4670298" y="555040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100k</a:t>
            </a:r>
            <a:endParaRPr lang="en-US" sz="1000" dirty="0"/>
          </a:p>
        </p:txBody>
      </p:sp>
      <p:sp>
        <p:nvSpPr>
          <p:cNvPr id="12" name="Text 10"/>
          <p:cNvSpPr txBox="1"/>
          <p:nvPr/>
        </p:nvSpPr>
        <p:spPr>
          <a:xfrm>
            <a:off x="5916168" y="555040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200k</a:t>
            </a:r>
            <a:endParaRPr lang="en-US" sz="1000" dirty="0"/>
          </a:p>
        </p:txBody>
      </p:sp>
      <p:sp>
        <p:nvSpPr>
          <p:cNvPr id="13" name="Text 11"/>
          <p:cNvSpPr txBox="1"/>
          <p:nvPr/>
        </p:nvSpPr>
        <p:spPr>
          <a:xfrm>
            <a:off x="7162038" y="555040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300k</a:t>
            </a:r>
            <a:endParaRPr lang="en-US" sz="1000" dirty="0"/>
          </a:p>
        </p:txBody>
      </p:sp>
      <p:sp>
        <p:nvSpPr>
          <p:cNvPr id="14" name="Text 12"/>
          <p:cNvSpPr txBox="1"/>
          <p:nvPr/>
        </p:nvSpPr>
        <p:spPr>
          <a:xfrm>
            <a:off x="640080" y="2651760"/>
            <a:ext cx="2468880" cy="201168"/>
          </a:xfrm>
          <a:prstGeom prst="rect">
            <a:avLst/>
          </a:prstGeom>
          <a:noFill/>
          <a:ln/>
        </p:spPr>
        <p:txBody>
          <a:bodyPr wrap="square" lIns="0" tIns="0" rIns="0" bIns="0" rtlCol="0" anchor="t"/>
          <a:lstStyle/>
          <a:p>
            <a:pPr indent="0" marL="0">
              <a:buNone/>
            </a:pPr>
            <a:r>
              <a:rPr lang="en-US" sz="950" b="1" spc="140" kern="0" dirty="0">
                <a:solidFill>
                  <a:srgbClr val="647187"/>
                </a:solidFill>
                <a:latin typeface="Calibri" pitchFamily="34" charset="0"/>
                <a:ea typeface="Calibri" pitchFamily="34" charset="-122"/>
                <a:cs typeface="Calibri" pitchFamily="34" charset="-120"/>
              </a:rPr>
              <a:t>GRUPI I LËVIZJEVE</a:t>
            </a:r>
            <a:endParaRPr lang="en-US" sz="950" dirty="0"/>
          </a:p>
        </p:txBody>
      </p:sp>
      <p:sp>
        <p:nvSpPr>
          <p:cNvPr id="15" name="Text 13"/>
          <p:cNvSpPr txBox="1"/>
          <p:nvPr/>
        </p:nvSpPr>
        <p:spPr>
          <a:xfrm>
            <a:off x="640080" y="2852928"/>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lëvizje sipas pikës së ngushtë</a:t>
            </a:r>
            <a:endParaRPr lang="en-US" sz="1350" dirty="0"/>
          </a:p>
        </p:txBody>
      </p:sp>
      <p:sp>
        <p:nvSpPr>
          <p:cNvPr id="16" name="Shape 14"/>
          <p:cNvSpPr/>
          <p:nvPr/>
        </p:nvSpPr>
        <p:spPr>
          <a:xfrm>
            <a:off x="3744468" y="2816352"/>
            <a:ext cx="119130" cy="219456"/>
          </a:xfrm>
          <a:prstGeom prst="rect">
            <a:avLst/>
          </a:prstGeom>
          <a:solidFill>
            <a:srgbClr val="9AA6B6">
              <a:alpha val="85000"/>
            </a:srgbClr>
          </a:solidFill>
          <a:ln/>
        </p:spPr>
      </p:sp>
      <p:sp>
        <p:nvSpPr>
          <p:cNvPr id="17" name="Shape 15"/>
          <p:cNvSpPr/>
          <p:nvPr/>
        </p:nvSpPr>
        <p:spPr>
          <a:xfrm>
            <a:off x="3517775" y="2848356"/>
            <a:ext cx="155448" cy="155448"/>
          </a:xfrm>
          <a:prstGeom prst="ellipse">
            <a:avLst/>
          </a:prstGeom>
          <a:ln w="19050">
            <a:solidFill>
              <a:srgbClr val="E8ECF2"/>
            </a:solidFill>
            <a:prstDash val="solid"/>
          </a:ln>
        </p:spPr>
      </p:sp>
      <p:sp>
        <p:nvSpPr>
          <p:cNvPr id="18" name="Text 16"/>
          <p:cNvSpPr txBox="1"/>
          <p:nvPr/>
        </p:nvSpPr>
        <p:spPr>
          <a:xfrm>
            <a:off x="4122295" y="2807208"/>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+9,562  ·  0.4×</a:t>
            </a:r>
            <a:endParaRPr lang="en-US" sz="1200" dirty="0"/>
          </a:p>
        </p:txBody>
      </p:sp>
      <p:sp>
        <p:nvSpPr>
          <p:cNvPr id="19" name="Text 17"/>
          <p:cNvSpPr txBox="1"/>
          <p:nvPr/>
        </p:nvSpPr>
        <p:spPr>
          <a:xfrm>
            <a:off x="640080" y="3364992"/>
            <a:ext cx="2468880" cy="201168"/>
          </a:xfrm>
          <a:prstGeom prst="rect">
            <a:avLst/>
          </a:prstGeom>
          <a:noFill/>
          <a:ln/>
        </p:spPr>
        <p:txBody>
          <a:bodyPr wrap="square" lIns="0" tIns="0" rIns="0" bIns="0" rtlCol="0" anchor="t"/>
          <a:lstStyle/>
          <a:p>
            <a:pPr indent="0" marL="0">
              <a:buNone/>
            </a:pPr>
            <a:r>
              <a:rPr lang="en-US" sz="950" b="1" spc="140" kern="0" dirty="0">
                <a:solidFill>
                  <a:srgbClr val="647187"/>
                </a:solidFill>
                <a:latin typeface="Calibri" pitchFamily="34" charset="0"/>
                <a:ea typeface="Calibri" pitchFamily="34" charset="-122"/>
                <a:cs typeface="Calibri" pitchFamily="34" charset="-120"/>
              </a:rPr>
              <a:t>PRANIMI</a:t>
            </a:r>
            <a:endParaRPr lang="en-US" sz="950" dirty="0"/>
          </a:p>
        </p:txBody>
      </p:sp>
      <p:sp>
        <p:nvSpPr>
          <p:cNvPr id="20" name="Text 18"/>
          <p:cNvSpPr txBox="1"/>
          <p:nvPr/>
        </p:nvSpPr>
        <p:spPr>
          <a:xfrm>
            <a:off x="640080" y="3566160"/>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shkallëzimi i shkundjeve VNS</a:t>
            </a:r>
            <a:endParaRPr lang="en-US" sz="1350" dirty="0"/>
          </a:p>
        </p:txBody>
      </p:sp>
      <p:sp>
        <p:nvSpPr>
          <p:cNvPr id="21" name="Shape 19"/>
          <p:cNvSpPr/>
          <p:nvPr/>
        </p:nvSpPr>
        <p:spPr>
          <a:xfrm>
            <a:off x="3744468" y="3529584"/>
            <a:ext cx="244477" cy="219456"/>
          </a:xfrm>
          <a:prstGeom prst="rect">
            <a:avLst/>
          </a:prstGeom>
          <a:solidFill>
            <a:srgbClr val="9AA6B6">
              <a:alpha val="85000"/>
            </a:srgbClr>
          </a:solidFill>
          <a:ln/>
        </p:spPr>
      </p:sp>
      <p:sp>
        <p:nvSpPr>
          <p:cNvPr id="22" name="Shape 20"/>
          <p:cNvSpPr/>
          <p:nvPr/>
        </p:nvSpPr>
        <p:spPr>
          <a:xfrm>
            <a:off x="3643122" y="3561588"/>
            <a:ext cx="155448" cy="155448"/>
          </a:xfrm>
          <a:prstGeom prst="ellipse">
            <a:avLst/>
          </a:prstGeom>
          <a:ln w="19050">
            <a:solidFill>
              <a:srgbClr val="E8ECF2"/>
            </a:solidFill>
            <a:prstDash val="solid"/>
          </a:ln>
        </p:spPr>
      </p:sp>
      <p:sp>
        <p:nvSpPr>
          <p:cNvPr id="23" name="Text 21"/>
          <p:cNvSpPr txBox="1"/>
          <p:nvPr/>
        </p:nvSpPr>
        <p:spPr>
          <a:xfrm>
            <a:off x="4122295" y="3520440"/>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+19,623  ·  0.9×</a:t>
            </a:r>
            <a:endParaRPr lang="en-US" sz="1200" dirty="0"/>
          </a:p>
        </p:txBody>
      </p:sp>
      <p:sp>
        <p:nvSpPr>
          <p:cNvPr id="24" name="Text 22"/>
          <p:cNvSpPr txBox="1"/>
          <p:nvPr/>
        </p:nvSpPr>
        <p:spPr>
          <a:xfrm>
            <a:off x="640080" y="4078224"/>
            <a:ext cx="2468880" cy="201168"/>
          </a:xfrm>
          <a:prstGeom prst="rect">
            <a:avLst/>
          </a:prstGeom>
          <a:noFill/>
          <a:ln/>
        </p:spPr>
        <p:txBody>
          <a:bodyPr wrap="square" lIns="0" tIns="0" rIns="0" bIns="0" rtlCol="0" anchor="t"/>
          <a:lstStyle/>
          <a:p>
            <a:pPr indent="0" marL="0">
              <a:buNone/>
            </a:pPr>
            <a:r>
              <a:rPr lang="en-US" sz="950" b="1" spc="140" kern="0" dirty="0">
                <a:solidFill>
                  <a:srgbClr val="647187"/>
                </a:solidFill>
                <a:latin typeface="Calibri" pitchFamily="34" charset="0"/>
                <a:ea typeface="Calibri" pitchFamily="34" charset="-122"/>
                <a:cs typeface="Calibri" pitchFamily="34" charset="-120"/>
              </a:rPr>
              <a:t>PRANIMI</a:t>
            </a:r>
            <a:endParaRPr lang="en-US" sz="950" dirty="0"/>
          </a:p>
        </p:txBody>
      </p:sp>
      <p:sp>
        <p:nvSpPr>
          <p:cNvPr id="25" name="Text 23"/>
          <p:cNvSpPr txBox="1"/>
          <p:nvPr/>
        </p:nvSpPr>
        <p:spPr>
          <a:xfrm>
            <a:off x="640080" y="4279392"/>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simulated annealing</a:t>
            </a:r>
            <a:endParaRPr lang="en-US" sz="1350" dirty="0"/>
          </a:p>
        </p:txBody>
      </p:sp>
      <p:sp>
        <p:nvSpPr>
          <p:cNvPr id="26" name="Shape 24"/>
          <p:cNvSpPr/>
          <p:nvPr/>
        </p:nvSpPr>
        <p:spPr>
          <a:xfrm>
            <a:off x="3744468" y="4242816"/>
            <a:ext cx="529096" cy="219456"/>
          </a:xfrm>
          <a:prstGeom prst="rect">
            <a:avLst/>
          </a:prstGeom>
          <a:solidFill>
            <a:srgbClr val="9AA6B6">
              <a:alpha val="85000"/>
            </a:srgbClr>
          </a:solidFill>
          <a:ln/>
        </p:spPr>
      </p:sp>
      <p:sp>
        <p:nvSpPr>
          <p:cNvPr id="27" name="Shape 25"/>
          <p:cNvSpPr/>
          <p:nvPr/>
        </p:nvSpPr>
        <p:spPr>
          <a:xfrm>
            <a:off x="3927741" y="4274820"/>
            <a:ext cx="155448" cy="155448"/>
          </a:xfrm>
          <a:prstGeom prst="ellipse">
            <a:avLst/>
          </a:prstGeom>
          <a:ln w="19050">
            <a:solidFill>
              <a:srgbClr val="E8ECF2"/>
            </a:solidFill>
            <a:prstDash val="solid"/>
          </a:ln>
        </p:spPr>
      </p:sp>
      <p:sp>
        <p:nvSpPr>
          <p:cNvPr id="28" name="Text 26"/>
          <p:cNvSpPr txBox="1"/>
          <p:nvPr/>
        </p:nvSpPr>
        <p:spPr>
          <a:xfrm>
            <a:off x="4383292" y="4233672"/>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+42,468  ·  2.0×</a:t>
            </a:r>
            <a:endParaRPr lang="en-US" sz="1200" dirty="0"/>
          </a:p>
        </p:txBody>
      </p:sp>
      <p:sp>
        <p:nvSpPr>
          <p:cNvPr id="29" name="Text 27"/>
          <p:cNvSpPr txBox="1"/>
          <p:nvPr/>
        </p:nvSpPr>
        <p:spPr>
          <a:xfrm>
            <a:off x="640080" y="4791456"/>
            <a:ext cx="2468880" cy="201168"/>
          </a:xfrm>
          <a:prstGeom prst="rect">
            <a:avLst/>
          </a:prstGeom>
          <a:noFill/>
          <a:ln/>
        </p:spPr>
        <p:txBody>
          <a:bodyPr wrap="square" lIns="0" tIns="0" rIns="0" bIns="0" rtlCol="0" anchor="t"/>
          <a:lstStyle/>
          <a:p>
            <a:pPr indent="0" marL="0">
              <a:buNone/>
            </a:pPr>
            <a:r>
              <a:rPr lang="en-US" sz="950" b="1" spc="140" kern="0" dirty="0">
                <a:solidFill>
                  <a:srgbClr val="647187"/>
                </a:solidFill>
                <a:latin typeface="Calibri" pitchFamily="34" charset="0"/>
                <a:ea typeface="Calibri" pitchFamily="34" charset="-122"/>
                <a:cs typeface="Calibri" pitchFamily="34" charset="-120"/>
              </a:rPr>
              <a:t>NDËRTIMI</a:t>
            </a:r>
            <a:endParaRPr lang="en-US" sz="950" dirty="0"/>
          </a:p>
        </p:txBody>
      </p:sp>
      <p:sp>
        <p:nvSpPr>
          <p:cNvPr id="30" name="Text 28"/>
          <p:cNvSpPr txBox="1"/>
          <p:nvPr/>
        </p:nvSpPr>
        <p:spPr>
          <a:xfrm>
            <a:off x="640080" y="4992624"/>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GRASP, i rastësishëm</a:t>
            </a:r>
            <a:endParaRPr lang="en-US" sz="1350" dirty="0"/>
          </a:p>
        </p:txBody>
      </p:sp>
      <p:sp>
        <p:nvSpPr>
          <p:cNvPr id="31" name="Shape 29"/>
          <p:cNvSpPr/>
          <p:nvPr/>
        </p:nvSpPr>
        <p:spPr>
          <a:xfrm>
            <a:off x="3744468" y="4956048"/>
            <a:ext cx="4251693" cy="219456"/>
          </a:xfrm>
          <a:prstGeom prst="rect">
            <a:avLst/>
          </a:prstGeom>
          <a:solidFill>
            <a:srgbClr val="3DDC97"/>
          </a:solidFill>
          <a:ln/>
        </p:spPr>
      </p:sp>
      <p:sp>
        <p:nvSpPr>
          <p:cNvPr id="32" name="Shape 30"/>
          <p:cNvSpPr/>
          <p:nvPr/>
        </p:nvSpPr>
        <p:spPr>
          <a:xfrm>
            <a:off x="7650339" y="4988052"/>
            <a:ext cx="155448" cy="155448"/>
          </a:xfrm>
          <a:prstGeom prst="ellipse">
            <a:avLst/>
          </a:prstGeom>
          <a:ln w="19050">
            <a:solidFill>
              <a:srgbClr val="0B0F17"/>
            </a:solidFill>
            <a:prstDash val="solid"/>
          </a:ln>
        </p:spPr>
      </p:sp>
      <p:sp>
        <p:nvSpPr>
          <p:cNvPr id="33" name="Text 31"/>
          <p:cNvSpPr txBox="1"/>
          <p:nvPr/>
        </p:nvSpPr>
        <p:spPr>
          <a:xfrm>
            <a:off x="5442063" y="4946904"/>
            <a:ext cx="2103120" cy="237744"/>
          </a:xfrm>
          <a:prstGeom prst="rect">
            <a:avLst/>
          </a:prstGeom>
          <a:noFill/>
          <a:ln/>
        </p:spPr>
        <p:txBody>
          <a:bodyPr wrap="square" lIns="0" tIns="0" rIns="0" bIns="0" rtlCol="0" anchor="t"/>
          <a:lstStyle/>
          <a:p>
            <a:pPr algn="r" indent="0" marL="0">
              <a:buNone/>
            </a:pPr>
            <a:r>
              <a:rPr lang="en-US" sz="1200" b="1" dirty="0">
                <a:solidFill>
                  <a:srgbClr val="0B0F17"/>
                </a:solidFill>
                <a:latin typeface="Calibri" pitchFamily="34" charset="0"/>
                <a:ea typeface="Calibri" pitchFamily="34" charset="-122"/>
                <a:cs typeface="Calibri" pitchFamily="34" charset="-120"/>
              </a:rPr>
              <a:t>+341,263  ·  15.9×</a:t>
            </a:r>
            <a:endParaRPr lang="en-US" sz="1200" dirty="0"/>
          </a:p>
        </p:txBody>
      </p:sp>
      <p:sp>
        <p:nvSpPr>
          <p:cNvPr id="34" name="Shape 32"/>
          <p:cNvSpPr/>
          <p:nvPr/>
        </p:nvSpPr>
        <p:spPr>
          <a:xfrm>
            <a:off x="3246120" y="5925312"/>
            <a:ext cx="274320" cy="118872"/>
          </a:xfrm>
          <a:prstGeom prst="rect">
            <a:avLst/>
          </a:prstGeom>
          <a:solidFill>
            <a:srgbClr val="9AA6B6"/>
          </a:solidFill>
          <a:ln/>
        </p:spPr>
      </p:sp>
      <p:sp>
        <p:nvSpPr>
          <p:cNvPr id="35" name="Text 33"/>
          <p:cNvSpPr txBox="1"/>
          <p:nvPr/>
        </p:nvSpPr>
        <p:spPr>
          <a:xfrm>
            <a:off x="3593592" y="5870448"/>
            <a:ext cx="173736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fitimi mbi kontrollin</a:t>
            </a:r>
            <a:endParaRPr lang="en-US" sz="1050" dirty="0"/>
          </a:p>
        </p:txBody>
      </p:sp>
      <p:sp>
        <p:nvSpPr>
          <p:cNvPr id="36" name="Shape 34"/>
          <p:cNvSpPr/>
          <p:nvPr/>
        </p:nvSpPr>
        <p:spPr>
          <a:xfrm>
            <a:off x="5330952" y="5916168"/>
            <a:ext cx="128016" cy="128016"/>
          </a:xfrm>
          <a:prstGeom prst="ellipse">
            <a:avLst/>
          </a:prstGeom>
          <a:ln w="15875">
            <a:solidFill>
              <a:srgbClr val="E8ECF2"/>
            </a:solidFill>
            <a:prstDash val="solid"/>
          </a:ln>
        </p:spPr>
      </p:sp>
      <p:sp>
        <p:nvSpPr>
          <p:cNvPr id="37" name="Text 35"/>
          <p:cNvSpPr txBox="1"/>
          <p:nvPr/>
        </p:nvSpPr>
        <p:spPr>
          <a:xfrm>
            <a:off x="5532120" y="5870448"/>
            <a:ext cx="2926080" cy="36576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i njëjti variant kundër sesionit tjetër të kontrollit</a:t>
            </a:r>
            <a:endParaRPr lang="en-US" sz="1050" dirty="0"/>
          </a:p>
        </p:txBody>
      </p:sp>
      <p:sp>
        <p:nvSpPr>
          <p:cNvPr id="38" name="Text 36"/>
          <p:cNvSpPr txBox="1"/>
          <p:nvPr/>
        </p:nvSpPr>
        <p:spPr>
          <a:xfrm>
            <a:off x="8823960" y="2514600"/>
            <a:ext cx="272765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KU JETON EFEKTI I NDËRTIMIT</a:t>
            </a:r>
            <a:endParaRPr lang="en-US" sz="1050" dirty="0"/>
          </a:p>
        </p:txBody>
      </p:sp>
      <p:sp>
        <p:nvSpPr>
          <p:cNvPr id="39" name="Text 37"/>
          <p:cNvSpPr txBox="1"/>
          <p:nvPr/>
        </p:nvSpPr>
        <p:spPr>
          <a:xfrm>
            <a:off x="8823960" y="2971800"/>
            <a:ext cx="2727655" cy="457200"/>
          </a:xfrm>
          <a:prstGeom prst="rect">
            <a:avLst/>
          </a:prstGeom>
          <a:noFill/>
          <a:ln/>
        </p:spPr>
        <p:txBody>
          <a:bodyPr wrap="square" lIns="0" tIns="0" rIns="0" bIns="0" rtlCol="0" anchor="t"/>
          <a:lstStyle/>
          <a:p>
            <a:pPr indent="0" marL="0">
              <a:buNone/>
            </a:pPr>
            <a:r>
              <a:rPr lang="en-US" sz="2500" dirty="0">
                <a:solidFill>
                  <a:srgbClr val="3DDC97"/>
                </a:solidFill>
                <a:latin typeface="Century Schoolbook" pitchFamily="34" charset="0"/>
                <a:ea typeface="Century Schoolbook" pitchFamily="34" charset="-122"/>
                <a:cs typeface="Century Schoolbook" pitchFamily="34" charset="-120"/>
              </a:rPr>
              <a:t>+343,623 HV</a:t>
            </a:r>
            <a:endParaRPr lang="en-US" sz="2500" dirty="0"/>
          </a:p>
        </p:txBody>
      </p:sp>
      <p:sp>
        <p:nvSpPr>
          <p:cNvPr id="40" name="Text 38"/>
          <p:cNvSpPr txBox="1"/>
          <p:nvPr/>
        </p:nvSpPr>
        <p:spPr>
          <a:xfrm>
            <a:off x="8823960" y="345643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në tri instancat e dendura</a:t>
            </a:r>
            <a:endParaRPr lang="en-US" sz="1250" dirty="0"/>
          </a:p>
        </p:txBody>
      </p:sp>
      <p:sp>
        <p:nvSpPr>
          <p:cNvPr id="41" name="Text 39"/>
          <p:cNvSpPr txBox="1"/>
          <p:nvPr/>
        </p:nvSpPr>
        <p:spPr>
          <a:xfrm>
            <a:off x="8823960" y="3931920"/>
            <a:ext cx="2727655" cy="457200"/>
          </a:xfrm>
          <a:prstGeom prst="rect">
            <a:avLst/>
          </a:prstGeom>
          <a:noFill/>
          <a:ln/>
        </p:spPr>
        <p:txBody>
          <a:bodyPr wrap="square" lIns="0" tIns="0" rIns="0" bIns="0" rtlCol="0" anchor="t"/>
          <a:lstStyle/>
          <a:p>
            <a:pPr indent="0" marL="0">
              <a:buNone/>
            </a:pPr>
            <a:r>
              <a:rPr lang="en-US" sz="2500" dirty="0">
                <a:solidFill>
                  <a:srgbClr val="FF5A60"/>
                </a:solidFill>
                <a:latin typeface="Century Schoolbook" pitchFamily="34" charset="0"/>
                <a:ea typeface="Century Schoolbook" pitchFamily="34" charset="-122"/>
                <a:cs typeface="Century Schoolbook" pitchFamily="34" charset="-120"/>
              </a:rPr>
              <a:t>−2,360 HV</a:t>
            </a:r>
            <a:endParaRPr lang="en-US" sz="2500" dirty="0"/>
          </a:p>
        </p:txBody>
      </p:sp>
      <p:sp>
        <p:nvSpPr>
          <p:cNvPr id="42" name="Text 40"/>
          <p:cNvSpPr txBox="1"/>
          <p:nvPr/>
        </p:nvSpPr>
        <p:spPr>
          <a:xfrm>
            <a:off x="8823960" y="441655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në shtatë të tjerat</a:t>
            </a:r>
            <a:endParaRPr lang="en-US" sz="1250" dirty="0"/>
          </a:p>
        </p:txBody>
      </p:sp>
      <p:sp>
        <p:nvSpPr>
          <p:cNvPr id="43" name="Text 41"/>
          <p:cNvSpPr txBox="1"/>
          <p:nvPr/>
        </p:nvSpPr>
        <p:spPr>
          <a:xfrm>
            <a:off x="8823960" y="4983480"/>
            <a:ext cx="2727655" cy="1097280"/>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Një total mbi dhjetë instanca i bërë në tri grafe të dendura është rezultat për grafet e dendura.</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ÇFARË E BËN PUNËN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Shtatëmbëdhjetë operatorë lëvizjeje, asgjë për t'u ngjitur</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Trembëdhjetë operatorë të rinj në pesë familje, secili veçmas kundër kontrollit me katër operatorë, plus të 17 së bashku për një buxhet.</a:t>
            </a:r>
            <a:endParaRPr lang="en-US" sz="1500" dirty="0"/>
          </a:p>
        </p:txBody>
      </p:sp>
      <p:sp>
        <p:nvSpPr>
          <p:cNvPr id="5" name="Shape 3"/>
          <p:cNvSpPr/>
          <p:nvPr/>
        </p:nvSpPr>
        <p:spPr>
          <a:xfrm>
            <a:off x="4101399" y="2487168"/>
            <a:ext cx="3269405" cy="3355848"/>
          </a:xfrm>
          <a:prstGeom prst="rect">
            <a:avLst/>
          </a:prstGeom>
          <a:solidFill>
            <a:srgbClr val="F2C14E">
              <a:alpha val="10000"/>
            </a:srgbClr>
          </a:solidFill>
          <a:ln/>
        </p:spPr>
      </p:sp>
      <p:sp>
        <p:nvSpPr>
          <p:cNvPr id="6" name="Shape 4"/>
          <p:cNvSpPr/>
          <p:nvPr/>
        </p:nvSpPr>
        <p:spPr>
          <a:xfrm>
            <a:off x="4101399" y="2487168"/>
            <a:ext cx="0" cy="3355848"/>
          </a:xfrm>
          <a:prstGeom prst="line">
            <a:avLst/>
          </a:prstGeom>
          <a:noFill/>
          <a:ln w="9525">
            <a:solidFill>
              <a:srgbClr val="F2C14E"/>
            </a:solidFill>
            <a:prstDash val="dash"/>
          </a:ln>
        </p:spPr>
      </p:sp>
      <p:sp>
        <p:nvSpPr>
          <p:cNvPr id="7" name="Shape 5"/>
          <p:cNvSpPr/>
          <p:nvPr/>
        </p:nvSpPr>
        <p:spPr>
          <a:xfrm>
            <a:off x="7370804" y="2487168"/>
            <a:ext cx="0" cy="3355848"/>
          </a:xfrm>
          <a:prstGeom prst="line">
            <a:avLst/>
          </a:prstGeom>
          <a:noFill/>
          <a:ln w="9525">
            <a:solidFill>
              <a:srgbClr val="F2C14E"/>
            </a:solidFill>
            <a:prstDash val="dash"/>
          </a:ln>
        </p:spPr>
      </p:sp>
      <p:sp>
        <p:nvSpPr>
          <p:cNvPr id="8" name="Text 6"/>
          <p:cNvSpPr txBox="1"/>
          <p:nvPr/>
        </p:nvSpPr>
        <p:spPr>
          <a:xfrm>
            <a:off x="4101399" y="2231136"/>
            <a:ext cx="274320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kontrolli i rimostruar  ±21,519 HV</a:t>
            </a:r>
            <a:endParaRPr lang="en-US" sz="1050" dirty="0"/>
          </a:p>
        </p:txBody>
      </p:sp>
      <p:sp>
        <p:nvSpPr>
          <p:cNvPr id="9" name="Shape 7"/>
          <p:cNvSpPr/>
          <p:nvPr/>
        </p:nvSpPr>
        <p:spPr>
          <a:xfrm>
            <a:off x="5736102" y="2487168"/>
            <a:ext cx="0" cy="3337560"/>
          </a:xfrm>
          <a:prstGeom prst="line">
            <a:avLst/>
          </a:prstGeom>
          <a:noFill/>
          <a:ln w="9525">
            <a:solidFill>
              <a:srgbClr val="9AA6B6"/>
            </a:solidFill>
            <a:prstDash val="solid"/>
          </a:ln>
        </p:spPr>
      </p:sp>
      <p:sp>
        <p:nvSpPr>
          <p:cNvPr id="10" name="Text 8"/>
          <p:cNvSpPr txBox="1"/>
          <p:nvPr/>
        </p:nvSpPr>
        <p:spPr>
          <a:xfrm>
            <a:off x="640080" y="257175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k_opt_aimed</a:t>
            </a:r>
            <a:endParaRPr lang="en-US" sz="1050" dirty="0"/>
          </a:p>
        </p:txBody>
      </p:sp>
      <p:sp>
        <p:nvSpPr>
          <p:cNvPr id="11" name="Shape 9"/>
          <p:cNvSpPr/>
          <p:nvPr/>
        </p:nvSpPr>
        <p:spPr>
          <a:xfrm>
            <a:off x="4965203" y="2676906"/>
            <a:ext cx="1634702" cy="0"/>
          </a:xfrm>
          <a:prstGeom prst="line">
            <a:avLst/>
          </a:prstGeom>
          <a:noFill/>
          <a:ln w="9525">
            <a:solidFill>
              <a:srgbClr val="647187"/>
            </a:solidFill>
            <a:prstDash val="solid"/>
          </a:ln>
        </p:spPr>
      </p:sp>
      <p:sp>
        <p:nvSpPr>
          <p:cNvPr id="12" name="Shape 10"/>
          <p:cNvSpPr/>
          <p:nvPr/>
        </p:nvSpPr>
        <p:spPr>
          <a:xfrm>
            <a:off x="4910339" y="2622042"/>
            <a:ext cx="109728" cy="109728"/>
          </a:xfrm>
          <a:prstGeom prst="ellipse">
            <a:avLst/>
          </a:prstGeom>
          <a:ln w="13970">
            <a:solidFill>
              <a:srgbClr val="E8ECF2"/>
            </a:solidFill>
            <a:prstDash val="solid"/>
          </a:ln>
        </p:spPr>
      </p:sp>
      <p:sp>
        <p:nvSpPr>
          <p:cNvPr id="13" name="Shape 11"/>
          <p:cNvSpPr/>
          <p:nvPr/>
        </p:nvSpPr>
        <p:spPr>
          <a:xfrm>
            <a:off x="6540470" y="2617470"/>
            <a:ext cx="118872" cy="118872"/>
          </a:xfrm>
          <a:prstGeom prst="ellipse">
            <a:avLst/>
          </a:prstGeom>
          <a:solidFill>
            <a:srgbClr val="4DA3FF"/>
          </a:solidFill>
          <a:ln/>
        </p:spPr>
      </p:sp>
      <p:sp>
        <p:nvSpPr>
          <p:cNvPr id="14" name="Text 12"/>
          <p:cNvSpPr txBox="1"/>
          <p:nvPr/>
        </p:nvSpPr>
        <p:spPr>
          <a:xfrm>
            <a:off x="640080" y="280492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a:t>
            </a:r>
            <a:endParaRPr lang="en-US" sz="1050" dirty="0"/>
          </a:p>
        </p:txBody>
      </p:sp>
      <p:sp>
        <p:nvSpPr>
          <p:cNvPr id="15" name="Shape 13"/>
          <p:cNvSpPr/>
          <p:nvPr/>
        </p:nvSpPr>
        <p:spPr>
          <a:xfrm>
            <a:off x="4394854" y="2910078"/>
            <a:ext cx="1634702" cy="0"/>
          </a:xfrm>
          <a:prstGeom prst="line">
            <a:avLst/>
          </a:prstGeom>
          <a:noFill/>
          <a:ln w="9525">
            <a:solidFill>
              <a:srgbClr val="647187"/>
            </a:solidFill>
            <a:prstDash val="solid"/>
          </a:ln>
        </p:spPr>
      </p:sp>
      <p:sp>
        <p:nvSpPr>
          <p:cNvPr id="16" name="Shape 14"/>
          <p:cNvSpPr/>
          <p:nvPr/>
        </p:nvSpPr>
        <p:spPr>
          <a:xfrm>
            <a:off x="4339990" y="2855214"/>
            <a:ext cx="109728" cy="109728"/>
          </a:xfrm>
          <a:prstGeom prst="ellipse">
            <a:avLst/>
          </a:prstGeom>
          <a:ln w="13970">
            <a:solidFill>
              <a:srgbClr val="E8ECF2"/>
            </a:solidFill>
            <a:prstDash val="solid"/>
          </a:ln>
        </p:spPr>
      </p:sp>
      <p:sp>
        <p:nvSpPr>
          <p:cNvPr id="17" name="Shape 15"/>
          <p:cNvSpPr/>
          <p:nvPr/>
        </p:nvSpPr>
        <p:spPr>
          <a:xfrm>
            <a:off x="5970120" y="2850642"/>
            <a:ext cx="118872" cy="118872"/>
          </a:xfrm>
          <a:prstGeom prst="ellipse">
            <a:avLst/>
          </a:prstGeom>
          <a:solidFill>
            <a:srgbClr val="4DA3FF"/>
          </a:solidFill>
          <a:ln/>
        </p:spPr>
      </p:sp>
      <p:sp>
        <p:nvSpPr>
          <p:cNvPr id="18" name="Text 16"/>
          <p:cNvSpPr txBox="1"/>
          <p:nvPr/>
        </p:nvSpPr>
        <p:spPr>
          <a:xfrm>
            <a:off x="640080" y="303809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corner_shuffle</a:t>
            </a:r>
            <a:endParaRPr lang="en-US" sz="1050" dirty="0"/>
          </a:p>
        </p:txBody>
      </p:sp>
      <p:sp>
        <p:nvSpPr>
          <p:cNvPr id="19" name="Shape 17"/>
          <p:cNvSpPr/>
          <p:nvPr/>
        </p:nvSpPr>
        <p:spPr>
          <a:xfrm>
            <a:off x="4374571" y="3143250"/>
            <a:ext cx="1634702" cy="0"/>
          </a:xfrm>
          <a:prstGeom prst="line">
            <a:avLst/>
          </a:prstGeom>
          <a:noFill/>
          <a:ln w="9525">
            <a:solidFill>
              <a:srgbClr val="647187"/>
            </a:solidFill>
            <a:prstDash val="solid"/>
          </a:ln>
        </p:spPr>
      </p:sp>
      <p:sp>
        <p:nvSpPr>
          <p:cNvPr id="20" name="Shape 18"/>
          <p:cNvSpPr/>
          <p:nvPr/>
        </p:nvSpPr>
        <p:spPr>
          <a:xfrm>
            <a:off x="4319707" y="3088386"/>
            <a:ext cx="109728" cy="109728"/>
          </a:xfrm>
          <a:prstGeom prst="ellipse">
            <a:avLst/>
          </a:prstGeom>
          <a:ln w="13970">
            <a:solidFill>
              <a:srgbClr val="E8ECF2"/>
            </a:solidFill>
            <a:prstDash val="solid"/>
          </a:ln>
        </p:spPr>
      </p:sp>
      <p:sp>
        <p:nvSpPr>
          <p:cNvPr id="21" name="Shape 19"/>
          <p:cNvSpPr/>
          <p:nvPr/>
        </p:nvSpPr>
        <p:spPr>
          <a:xfrm>
            <a:off x="5949838" y="3083814"/>
            <a:ext cx="118872" cy="118872"/>
          </a:xfrm>
          <a:prstGeom prst="ellipse">
            <a:avLst/>
          </a:prstGeom>
          <a:solidFill>
            <a:srgbClr val="4DA3FF"/>
          </a:solidFill>
          <a:ln/>
        </p:spPr>
      </p:sp>
      <p:sp>
        <p:nvSpPr>
          <p:cNvPr id="22" name="Text 20"/>
          <p:cNvSpPr txBox="1"/>
          <p:nvPr/>
        </p:nvSpPr>
        <p:spPr>
          <a:xfrm>
            <a:off x="640080" y="327126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a:t>
            </a:r>
            <a:endParaRPr lang="en-US" sz="1050" dirty="0"/>
          </a:p>
        </p:txBody>
      </p:sp>
      <p:sp>
        <p:nvSpPr>
          <p:cNvPr id="23" name="Shape 21"/>
          <p:cNvSpPr/>
          <p:nvPr/>
        </p:nvSpPr>
        <p:spPr>
          <a:xfrm>
            <a:off x="4332334" y="3376422"/>
            <a:ext cx="1634702" cy="0"/>
          </a:xfrm>
          <a:prstGeom prst="line">
            <a:avLst/>
          </a:prstGeom>
          <a:noFill/>
          <a:ln w="9525">
            <a:solidFill>
              <a:srgbClr val="647187"/>
            </a:solidFill>
            <a:prstDash val="solid"/>
          </a:ln>
        </p:spPr>
      </p:sp>
      <p:sp>
        <p:nvSpPr>
          <p:cNvPr id="24" name="Shape 22"/>
          <p:cNvSpPr/>
          <p:nvPr/>
        </p:nvSpPr>
        <p:spPr>
          <a:xfrm>
            <a:off x="4277470" y="3321558"/>
            <a:ext cx="109728" cy="109728"/>
          </a:xfrm>
          <a:prstGeom prst="ellipse">
            <a:avLst/>
          </a:prstGeom>
          <a:ln w="13970">
            <a:solidFill>
              <a:srgbClr val="E8ECF2"/>
            </a:solidFill>
            <a:prstDash val="solid"/>
          </a:ln>
        </p:spPr>
      </p:sp>
      <p:sp>
        <p:nvSpPr>
          <p:cNvPr id="25" name="Shape 23"/>
          <p:cNvSpPr/>
          <p:nvPr/>
        </p:nvSpPr>
        <p:spPr>
          <a:xfrm>
            <a:off x="5907601" y="3316986"/>
            <a:ext cx="118872" cy="118872"/>
          </a:xfrm>
          <a:prstGeom prst="ellipse">
            <a:avLst/>
          </a:prstGeom>
          <a:solidFill>
            <a:srgbClr val="4DA3FF"/>
          </a:solidFill>
          <a:ln/>
        </p:spPr>
      </p:sp>
      <p:sp>
        <p:nvSpPr>
          <p:cNvPr id="26" name="Text 24"/>
          <p:cNvSpPr txBox="1"/>
          <p:nvPr/>
        </p:nvSpPr>
        <p:spPr>
          <a:xfrm>
            <a:off x="640080" y="350443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min_fill_aimed</a:t>
            </a:r>
            <a:endParaRPr lang="en-US" sz="1050" dirty="0"/>
          </a:p>
        </p:txBody>
      </p:sp>
      <p:sp>
        <p:nvSpPr>
          <p:cNvPr id="27" name="Shape 25"/>
          <p:cNvSpPr/>
          <p:nvPr/>
        </p:nvSpPr>
        <p:spPr>
          <a:xfrm>
            <a:off x="4045413" y="3609594"/>
            <a:ext cx="1634702" cy="0"/>
          </a:xfrm>
          <a:prstGeom prst="line">
            <a:avLst/>
          </a:prstGeom>
          <a:noFill/>
          <a:ln w="9525">
            <a:solidFill>
              <a:srgbClr val="647187"/>
            </a:solidFill>
            <a:prstDash val="solid"/>
          </a:ln>
        </p:spPr>
      </p:sp>
      <p:sp>
        <p:nvSpPr>
          <p:cNvPr id="28" name="Shape 26"/>
          <p:cNvSpPr/>
          <p:nvPr/>
        </p:nvSpPr>
        <p:spPr>
          <a:xfrm>
            <a:off x="3990549" y="3554730"/>
            <a:ext cx="109728" cy="109728"/>
          </a:xfrm>
          <a:prstGeom prst="ellipse">
            <a:avLst/>
          </a:prstGeom>
          <a:ln w="13970">
            <a:solidFill>
              <a:srgbClr val="E8ECF2"/>
            </a:solidFill>
            <a:prstDash val="solid"/>
          </a:ln>
        </p:spPr>
      </p:sp>
      <p:sp>
        <p:nvSpPr>
          <p:cNvPr id="29" name="Shape 27"/>
          <p:cNvSpPr/>
          <p:nvPr/>
        </p:nvSpPr>
        <p:spPr>
          <a:xfrm>
            <a:off x="5620679" y="3550158"/>
            <a:ext cx="118872" cy="118872"/>
          </a:xfrm>
          <a:prstGeom prst="ellipse">
            <a:avLst/>
          </a:prstGeom>
          <a:solidFill>
            <a:srgbClr val="4DA3FF"/>
          </a:solidFill>
          <a:ln/>
        </p:spPr>
      </p:sp>
      <p:sp>
        <p:nvSpPr>
          <p:cNvPr id="30" name="Text 28"/>
          <p:cNvSpPr txBox="1"/>
          <p:nvPr/>
        </p:nvSpPr>
        <p:spPr>
          <a:xfrm>
            <a:off x="640080" y="3737610"/>
            <a:ext cx="2011680" cy="210312"/>
          </a:xfrm>
          <a:prstGeom prst="rect">
            <a:avLst/>
          </a:prstGeom>
          <a:noFill/>
          <a:ln/>
        </p:spPr>
        <p:txBody>
          <a:bodyPr wrap="square" lIns="0" tIns="0" rIns="0" bIns="0" rtlCol="0" anchor="t"/>
          <a:lstStyle/>
          <a:p>
            <a:pPr indent="0" marL="0">
              <a:buNone/>
            </a:pPr>
            <a:r>
              <a:rPr lang="en-US" sz="1050" i="1" dirty="0">
                <a:solidFill>
                  <a:srgbClr val="F2C14E"/>
                </a:solidFill>
                <a:latin typeface="Calibri" pitchFamily="34" charset="0"/>
                <a:ea typeface="Calibri" pitchFamily="34" charset="-122"/>
                <a:cs typeface="Calibri" pitchFamily="34" charset="-120"/>
              </a:rPr>
              <a:t>të 17, në konkurrencë</a:t>
            </a:r>
            <a:endParaRPr lang="en-US" sz="1050" dirty="0"/>
          </a:p>
        </p:txBody>
      </p:sp>
      <p:sp>
        <p:nvSpPr>
          <p:cNvPr id="31" name="Shape 29"/>
          <p:cNvSpPr/>
          <p:nvPr/>
        </p:nvSpPr>
        <p:spPr>
          <a:xfrm>
            <a:off x="4045337" y="3842766"/>
            <a:ext cx="1634702" cy="0"/>
          </a:xfrm>
          <a:prstGeom prst="line">
            <a:avLst/>
          </a:prstGeom>
          <a:noFill/>
          <a:ln w="9525">
            <a:solidFill>
              <a:srgbClr val="647187"/>
            </a:solidFill>
            <a:prstDash val="solid"/>
          </a:ln>
        </p:spPr>
      </p:sp>
      <p:sp>
        <p:nvSpPr>
          <p:cNvPr id="32" name="Shape 30"/>
          <p:cNvSpPr/>
          <p:nvPr/>
        </p:nvSpPr>
        <p:spPr>
          <a:xfrm>
            <a:off x="3990473" y="3787902"/>
            <a:ext cx="109728" cy="109728"/>
          </a:xfrm>
          <a:prstGeom prst="ellipse">
            <a:avLst/>
          </a:prstGeom>
          <a:ln w="13970">
            <a:solidFill>
              <a:srgbClr val="E8ECF2"/>
            </a:solidFill>
            <a:prstDash val="solid"/>
          </a:ln>
        </p:spPr>
      </p:sp>
      <p:sp>
        <p:nvSpPr>
          <p:cNvPr id="33" name="Shape 31"/>
          <p:cNvSpPr/>
          <p:nvPr/>
        </p:nvSpPr>
        <p:spPr>
          <a:xfrm>
            <a:off x="5620603" y="3783330"/>
            <a:ext cx="118872" cy="118872"/>
          </a:xfrm>
          <a:prstGeom prst="ellipse">
            <a:avLst/>
          </a:prstGeom>
          <a:solidFill>
            <a:srgbClr val="4DA3FF"/>
          </a:solidFill>
          <a:ln/>
        </p:spPr>
      </p:sp>
      <p:sp>
        <p:nvSpPr>
          <p:cNvPr id="34" name="Text 32"/>
          <p:cNvSpPr txBox="1"/>
          <p:nvPr/>
        </p:nvSpPr>
        <p:spPr>
          <a:xfrm>
            <a:off x="640080" y="397078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simplicial_pull</a:t>
            </a:r>
            <a:endParaRPr lang="en-US" sz="1050" dirty="0"/>
          </a:p>
        </p:txBody>
      </p:sp>
      <p:sp>
        <p:nvSpPr>
          <p:cNvPr id="35" name="Shape 33"/>
          <p:cNvSpPr/>
          <p:nvPr/>
        </p:nvSpPr>
        <p:spPr>
          <a:xfrm>
            <a:off x="4038879" y="4075938"/>
            <a:ext cx="1634702" cy="0"/>
          </a:xfrm>
          <a:prstGeom prst="line">
            <a:avLst/>
          </a:prstGeom>
          <a:noFill/>
          <a:ln w="9525">
            <a:solidFill>
              <a:srgbClr val="647187"/>
            </a:solidFill>
            <a:prstDash val="solid"/>
          </a:ln>
        </p:spPr>
      </p:sp>
      <p:sp>
        <p:nvSpPr>
          <p:cNvPr id="36" name="Shape 34"/>
          <p:cNvSpPr/>
          <p:nvPr/>
        </p:nvSpPr>
        <p:spPr>
          <a:xfrm>
            <a:off x="3984015" y="4021074"/>
            <a:ext cx="109728" cy="109728"/>
          </a:xfrm>
          <a:prstGeom prst="ellipse">
            <a:avLst/>
          </a:prstGeom>
          <a:ln w="13970">
            <a:solidFill>
              <a:srgbClr val="E8ECF2"/>
            </a:solidFill>
            <a:prstDash val="solid"/>
          </a:ln>
        </p:spPr>
      </p:sp>
      <p:sp>
        <p:nvSpPr>
          <p:cNvPr id="37" name="Shape 35"/>
          <p:cNvSpPr/>
          <p:nvPr/>
        </p:nvSpPr>
        <p:spPr>
          <a:xfrm>
            <a:off x="5614146" y="4016502"/>
            <a:ext cx="118872" cy="118872"/>
          </a:xfrm>
          <a:prstGeom prst="ellipse">
            <a:avLst/>
          </a:prstGeom>
          <a:solidFill>
            <a:srgbClr val="4DA3FF"/>
          </a:solidFill>
          <a:ln/>
        </p:spPr>
      </p:sp>
      <p:sp>
        <p:nvSpPr>
          <p:cNvPr id="38" name="Text 36"/>
          <p:cNvSpPr txBox="1"/>
          <p:nvPr/>
        </p:nvSpPr>
        <p:spPr>
          <a:xfrm>
            <a:off x="640080" y="420395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k_opt_rotate</a:t>
            </a:r>
            <a:endParaRPr lang="en-US" sz="1050" dirty="0"/>
          </a:p>
        </p:txBody>
      </p:sp>
      <p:sp>
        <p:nvSpPr>
          <p:cNvPr id="39" name="Shape 37"/>
          <p:cNvSpPr/>
          <p:nvPr/>
        </p:nvSpPr>
        <p:spPr>
          <a:xfrm>
            <a:off x="3995427" y="4309110"/>
            <a:ext cx="1634702" cy="0"/>
          </a:xfrm>
          <a:prstGeom prst="line">
            <a:avLst/>
          </a:prstGeom>
          <a:noFill/>
          <a:ln w="9525">
            <a:solidFill>
              <a:srgbClr val="647187"/>
            </a:solidFill>
            <a:prstDash val="solid"/>
          </a:ln>
        </p:spPr>
      </p:sp>
      <p:sp>
        <p:nvSpPr>
          <p:cNvPr id="40" name="Shape 38"/>
          <p:cNvSpPr/>
          <p:nvPr/>
        </p:nvSpPr>
        <p:spPr>
          <a:xfrm>
            <a:off x="3940563" y="4254246"/>
            <a:ext cx="109728" cy="109728"/>
          </a:xfrm>
          <a:prstGeom prst="ellipse">
            <a:avLst/>
          </a:prstGeom>
          <a:ln w="13970">
            <a:solidFill>
              <a:srgbClr val="E8ECF2"/>
            </a:solidFill>
            <a:prstDash val="solid"/>
          </a:ln>
        </p:spPr>
      </p:sp>
      <p:sp>
        <p:nvSpPr>
          <p:cNvPr id="41" name="Shape 39"/>
          <p:cNvSpPr/>
          <p:nvPr/>
        </p:nvSpPr>
        <p:spPr>
          <a:xfrm>
            <a:off x="5570694" y="4249674"/>
            <a:ext cx="118872" cy="118872"/>
          </a:xfrm>
          <a:prstGeom prst="ellipse">
            <a:avLst/>
          </a:prstGeom>
          <a:solidFill>
            <a:srgbClr val="4DA3FF"/>
          </a:solidFill>
          <a:ln/>
        </p:spPr>
      </p:sp>
      <p:sp>
        <p:nvSpPr>
          <p:cNvPr id="42" name="Text 40"/>
          <p:cNvSpPr txBox="1"/>
          <p:nvPr/>
        </p:nvSpPr>
        <p:spPr>
          <a:xfrm>
            <a:off x="640080" y="443712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three_opt_aimed</a:t>
            </a:r>
            <a:endParaRPr lang="en-US" sz="1050" dirty="0"/>
          </a:p>
        </p:txBody>
      </p:sp>
      <p:sp>
        <p:nvSpPr>
          <p:cNvPr id="43" name="Shape 41"/>
          <p:cNvSpPr/>
          <p:nvPr/>
        </p:nvSpPr>
        <p:spPr>
          <a:xfrm>
            <a:off x="3979854" y="4542282"/>
            <a:ext cx="1634702" cy="0"/>
          </a:xfrm>
          <a:prstGeom prst="line">
            <a:avLst/>
          </a:prstGeom>
          <a:noFill/>
          <a:ln w="9525">
            <a:solidFill>
              <a:srgbClr val="647187"/>
            </a:solidFill>
            <a:prstDash val="solid"/>
          </a:ln>
        </p:spPr>
      </p:sp>
      <p:sp>
        <p:nvSpPr>
          <p:cNvPr id="44" name="Shape 42"/>
          <p:cNvSpPr/>
          <p:nvPr/>
        </p:nvSpPr>
        <p:spPr>
          <a:xfrm>
            <a:off x="3924990" y="4487418"/>
            <a:ext cx="109728" cy="109728"/>
          </a:xfrm>
          <a:prstGeom prst="ellipse">
            <a:avLst/>
          </a:prstGeom>
          <a:ln w="13970">
            <a:solidFill>
              <a:srgbClr val="E8ECF2"/>
            </a:solidFill>
            <a:prstDash val="solid"/>
          </a:ln>
        </p:spPr>
      </p:sp>
      <p:sp>
        <p:nvSpPr>
          <p:cNvPr id="45" name="Shape 43"/>
          <p:cNvSpPr/>
          <p:nvPr/>
        </p:nvSpPr>
        <p:spPr>
          <a:xfrm>
            <a:off x="5555121" y="4482846"/>
            <a:ext cx="118872" cy="118872"/>
          </a:xfrm>
          <a:prstGeom prst="ellipse">
            <a:avLst/>
          </a:prstGeom>
          <a:solidFill>
            <a:srgbClr val="4DA3FF"/>
          </a:solidFill>
          <a:ln/>
        </p:spPr>
      </p:sp>
      <p:sp>
        <p:nvSpPr>
          <p:cNvPr id="46" name="Text 44"/>
          <p:cNvSpPr txBox="1"/>
          <p:nvPr/>
        </p:nvSpPr>
        <p:spPr>
          <a:xfrm>
            <a:off x="640080" y="467029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min_fill_window</a:t>
            </a:r>
            <a:endParaRPr lang="en-US" sz="1050" dirty="0"/>
          </a:p>
        </p:txBody>
      </p:sp>
      <p:sp>
        <p:nvSpPr>
          <p:cNvPr id="47" name="Shape 45"/>
          <p:cNvSpPr/>
          <p:nvPr/>
        </p:nvSpPr>
        <p:spPr>
          <a:xfrm>
            <a:off x="3883530" y="4775454"/>
            <a:ext cx="1634702" cy="0"/>
          </a:xfrm>
          <a:prstGeom prst="line">
            <a:avLst/>
          </a:prstGeom>
          <a:noFill/>
          <a:ln w="9525">
            <a:solidFill>
              <a:srgbClr val="647187"/>
            </a:solidFill>
            <a:prstDash val="solid"/>
          </a:ln>
        </p:spPr>
      </p:sp>
      <p:sp>
        <p:nvSpPr>
          <p:cNvPr id="48" name="Shape 46"/>
          <p:cNvSpPr/>
          <p:nvPr/>
        </p:nvSpPr>
        <p:spPr>
          <a:xfrm>
            <a:off x="3828666" y="4720590"/>
            <a:ext cx="109728" cy="109728"/>
          </a:xfrm>
          <a:prstGeom prst="ellipse">
            <a:avLst/>
          </a:prstGeom>
          <a:ln w="13970">
            <a:solidFill>
              <a:srgbClr val="E8ECF2"/>
            </a:solidFill>
            <a:prstDash val="solid"/>
          </a:ln>
        </p:spPr>
      </p:sp>
      <p:sp>
        <p:nvSpPr>
          <p:cNvPr id="49" name="Shape 47"/>
          <p:cNvSpPr/>
          <p:nvPr/>
        </p:nvSpPr>
        <p:spPr>
          <a:xfrm>
            <a:off x="5458796" y="4716018"/>
            <a:ext cx="118872" cy="118872"/>
          </a:xfrm>
          <a:prstGeom prst="ellipse">
            <a:avLst/>
          </a:prstGeom>
          <a:solidFill>
            <a:srgbClr val="4DA3FF"/>
          </a:solidFill>
          <a:ln/>
        </p:spPr>
      </p:sp>
      <p:sp>
        <p:nvSpPr>
          <p:cNvPr id="50" name="Text 48"/>
          <p:cNvSpPr txBox="1"/>
          <p:nvPr/>
        </p:nvSpPr>
        <p:spPr>
          <a:xfrm>
            <a:off x="640080" y="490347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degeneracy_window</a:t>
            </a:r>
            <a:endParaRPr lang="en-US" sz="1050" dirty="0"/>
          </a:p>
        </p:txBody>
      </p:sp>
      <p:sp>
        <p:nvSpPr>
          <p:cNvPr id="51" name="Shape 49"/>
          <p:cNvSpPr/>
          <p:nvPr/>
        </p:nvSpPr>
        <p:spPr>
          <a:xfrm>
            <a:off x="3697490" y="5008626"/>
            <a:ext cx="1634702" cy="0"/>
          </a:xfrm>
          <a:prstGeom prst="line">
            <a:avLst/>
          </a:prstGeom>
          <a:noFill/>
          <a:ln w="9525">
            <a:solidFill>
              <a:srgbClr val="647187"/>
            </a:solidFill>
            <a:prstDash val="solid"/>
          </a:ln>
        </p:spPr>
      </p:sp>
      <p:sp>
        <p:nvSpPr>
          <p:cNvPr id="52" name="Shape 50"/>
          <p:cNvSpPr/>
          <p:nvPr/>
        </p:nvSpPr>
        <p:spPr>
          <a:xfrm>
            <a:off x="3642626" y="4953762"/>
            <a:ext cx="109728" cy="109728"/>
          </a:xfrm>
          <a:prstGeom prst="ellipse">
            <a:avLst/>
          </a:prstGeom>
          <a:ln w="13970">
            <a:solidFill>
              <a:srgbClr val="E8ECF2"/>
            </a:solidFill>
            <a:prstDash val="solid"/>
          </a:ln>
        </p:spPr>
      </p:sp>
      <p:sp>
        <p:nvSpPr>
          <p:cNvPr id="53" name="Shape 51"/>
          <p:cNvSpPr/>
          <p:nvPr/>
        </p:nvSpPr>
        <p:spPr>
          <a:xfrm>
            <a:off x="5272757" y="4949190"/>
            <a:ext cx="118872" cy="118872"/>
          </a:xfrm>
          <a:prstGeom prst="ellipse">
            <a:avLst/>
          </a:prstGeom>
          <a:solidFill>
            <a:srgbClr val="4DA3FF"/>
          </a:solidFill>
          <a:ln/>
        </p:spPr>
      </p:sp>
      <p:sp>
        <p:nvSpPr>
          <p:cNvPr id="54" name="Text 52"/>
          <p:cNvSpPr txBox="1"/>
          <p:nvPr/>
        </p:nvSpPr>
        <p:spPr>
          <a:xfrm>
            <a:off x="640080" y="513664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degeneracy_aimed</a:t>
            </a:r>
            <a:endParaRPr lang="en-US" sz="1050" dirty="0"/>
          </a:p>
        </p:txBody>
      </p:sp>
      <p:sp>
        <p:nvSpPr>
          <p:cNvPr id="55" name="Shape 53"/>
          <p:cNvSpPr/>
          <p:nvPr/>
        </p:nvSpPr>
        <p:spPr>
          <a:xfrm>
            <a:off x="3606332" y="5241798"/>
            <a:ext cx="1634702" cy="0"/>
          </a:xfrm>
          <a:prstGeom prst="line">
            <a:avLst/>
          </a:prstGeom>
          <a:noFill/>
          <a:ln w="9525">
            <a:solidFill>
              <a:srgbClr val="647187"/>
            </a:solidFill>
            <a:prstDash val="solid"/>
          </a:ln>
        </p:spPr>
      </p:sp>
      <p:sp>
        <p:nvSpPr>
          <p:cNvPr id="56" name="Shape 54"/>
          <p:cNvSpPr/>
          <p:nvPr/>
        </p:nvSpPr>
        <p:spPr>
          <a:xfrm>
            <a:off x="3551468" y="5186934"/>
            <a:ext cx="109728" cy="109728"/>
          </a:xfrm>
          <a:prstGeom prst="ellipse">
            <a:avLst/>
          </a:prstGeom>
          <a:ln w="13970">
            <a:solidFill>
              <a:srgbClr val="E8ECF2"/>
            </a:solidFill>
            <a:prstDash val="solid"/>
          </a:ln>
        </p:spPr>
      </p:sp>
      <p:sp>
        <p:nvSpPr>
          <p:cNvPr id="57" name="Shape 55"/>
          <p:cNvSpPr/>
          <p:nvPr/>
        </p:nvSpPr>
        <p:spPr>
          <a:xfrm>
            <a:off x="5181598" y="5182362"/>
            <a:ext cx="118872" cy="118872"/>
          </a:xfrm>
          <a:prstGeom prst="ellipse">
            <a:avLst/>
          </a:prstGeom>
          <a:solidFill>
            <a:srgbClr val="4DA3FF"/>
          </a:solidFill>
          <a:ln/>
        </p:spPr>
      </p:sp>
      <p:sp>
        <p:nvSpPr>
          <p:cNvPr id="58" name="Text 56"/>
          <p:cNvSpPr txBox="1"/>
          <p:nvPr/>
        </p:nvSpPr>
        <p:spPr>
          <a:xfrm>
            <a:off x="640080" y="536981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or_opt_aimed</a:t>
            </a:r>
            <a:endParaRPr lang="en-US" sz="1050" dirty="0"/>
          </a:p>
        </p:txBody>
      </p:sp>
      <p:sp>
        <p:nvSpPr>
          <p:cNvPr id="59" name="Shape 57"/>
          <p:cNvSpPr/>
          <p:nvPr/>
        </p:nvSpPr>
        <p:spPr>
          <a:xfrm>
            <a:off x="3204778" y="5474970"/>
            <a:ext cx="1634702" cy="0"/>
          </a:xfrm>
          <a:prstGeom prst="line">
            <a:avLst/>
          </a:prstGeom>
          <a:noFill/>
          <a:ln w="9525">
            <a:solidFill>
              <a:srgbClr val="647187"/>
            </a:solidFill>
            <a:prstDash val="solid"/>
          </a:ln>
        </p:spPr>
      </p:sp>
      <p:sp>
        <p:nvSpPr>
          <p:cNvPr id="60" name="Shape 58"/>
          <p:cNvSpPr/>
          <p:nvPr/>
        </p:nvSpPr>
        <p:spPr>
          <a:xfrm>
            <a:off x="3149914" y="5420106"/>
            <a:ext cx="109728" cy="109728"/>
          </a:xfrm>
          <a:prstGeom prst="ellipse">
            <a:avLst/>
          </a:prstGeom>
          <a:ln w="13970">
            <a:solidFill>
              <a:srgbClr val="E8ECF2"/>
            </a:solidFill>
            <a:prstDash val="solid"/>
          </a:ln>
        </p:spPr>
      </p:sp>
      <p:sp>
        <p:nvSpPr>
          <p:cNvPr id="61" name="Shape 59"/>
          <p:cNvSpPr/>
          <p:nvPr/>
        </p:nvSpPr>
        <p:spPr>
          <a:xfrm>
            <a:off x="4780044" y="5415534"/>
            <a:ext cx="118872" cy="118872"/>
          </a:xfrm>
          <a:prstGeom prst="ellipse">
            <a:avLst/>
          </a:prstGeom>
          <a:solidFill>
            <a:srgbClr val="4DA3FF"/>
          </a:solidFill>
          <a:ln/>
        </p:spPr>
      </p:sp>
      <p:sp>
        <p:nvSpPr>
          <p:cNvPr id="62" name="Text 60"/>
          <p:cNvSpPr txBox="1"/>
          <p:nvPr/>
        </p:nvSpPr>
        <p:spPr>
          <a:xfrm>
            <a:off x="640080" y="560298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corner_earlier</a:t>
            </a:r>
            <a:endParaRPr lang="en-US" sz="1050" dirty="0"/>
          </a:p>
        </p:txBody>
      </p:sp>
      <p:sp>
        <p:nvSpPr>
          <p:cNvPr id="63" name="Shape 61"/>
          <p:cNvSpPr/>
          <p:nvPr/>
        </p:nvSpPr>
        <p:spPr>
          <a:xfrm>
            <a:off x="3018207" y="5708142"/>
            <a:ext cx="1634702" cy="0"/>
          </a:xfrm>
          <a:prstGeom prst="line">
            <a:avLst/>
          </a:prstGeom>
          <a:noFill/>
          <a:ln w="9525">
            <a:solidFill>
              <a:srgbClr val="647187"/>
            </a:solidFill>
            <a:prstDash val="solid"/>
          </a:ln>
        </p:spPr>
      </p:sp>
      <p:sp>
        <p:nvSpPr>
          <p:cNvPr id="64" name="Shape 62"/>
          <p:cNvSpPr/>
          <p:nvPr/>
        </p:nvSpPr>
        <p:spPr>
          <a:xfrm>
            <a:off x="2963343" y="5653278"/>
            <a:ext cx="109728" cy="109728"/>
          </a:xfrm>
          <a:prstGeom prst="ellipse">
            <a:avLst/>
          </a:prstGeom>
          <a:ln w="13970">
            <a:solidFill>
              <a:srgbClr val="E8ECF2"/>
            </a:solidFill>
            <a:prstDash val="solid"/>
          </a:ln>
        </p:spPr>
      </p:sp>
      <p:sp>
        <p:nvSpPr>
          <p:cNvPr id="65" name="Shape 63"/>
          <p:cNvSpPr/>
          <p:nvPr/>
        </p:nvSpPr>
        <p:spPr>
          <a:xfrm>
            <a:off x="4593473" y="5648706"/>
            <a:ext cx="118872" cy="118872"/>
          </a:xfrm>
          <a:prstGeom prst="ellipse">
            <a:avLst/>
          </a:prstGeom>
          <a:solidFill>
            <a:srgbClr val="4DA3FF"/>
          </a:solidFill>
          <a:ln/>
        </p:spPr>
      </p:sp>
      <p:sp>
        <p:nvSpPr>
          <p:cNvPr id="66" name="Text 64"/>
          <p:cNvSpPr txBox="1"/>
          <p:nvPr/>
        </p:nvSpPr>
        <p:spPr>
          <a:xfrm>
            <a:off x="2377440" y="587044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−40k</a:t>
            </a:r>
            <a:endParaRPr lang="en-US" sz="1000" dirty="0"/>
          </a:p>
        </p:txBody>
      </p:sp>
      <p:sp>
        <p:nvSpPr>
          <p:cNvPr id="67" name="Text 65"/>
          <p:cNvSpPr txBox="1"/>
          <p:nvPr/>
        </p:nvSpPr>
        <p:spPr>
          <a:xfrm>
            <a:off x="3896751" y="587044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−20k</a:t>
            </a:r>
            <a:endParaRPr lang="en-US" sz="1000" dirty="0"/>
          </a:p>
        </p:txBody>
      </p:sp>
      <p:sp>
        <p:nvSpPr>
          <p:cNvPr id="68" name="Text 66"/>
          <p:cNvSpPr txBox="1"/>
          <p:nvPr/>
        </p:nvSpPr>
        <p:spPr>
          <a:xfrm>
            <a:off x="5416062" y="587044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0</a:t>
            </a:r>
            <a:endParaRPr lang="en-US" sz="1000" dirty="0"/>
          </a:p>
        </p:txBody>
      </p:sp>
      <p:sp>
        <p:nvSpPr>
          <p:cNvPr id="69" name="Text 67"/>
          <p:cNvSpPr txBox="1"/>
          <p:nvPr/>
        </p:nvSpPr>
        <p:spPr>
          <a:xfrm>
            <a:off x="6935372" y="5870448"/>
            <a:ext cx="640080" cy="201168"/>
          </a:xfrm>
          <a:prstGeom prst="rect">
            <a:avLst/>
          </a:prstGeom>
          <a:noFill/>
          <a:ln/>
        </p:spPr>
        <p:txBody>
          <a:bodyPr wrap="square" lIns="0" tIns="0" rIns="0" bIns="0" rtlCol="0" anchor="t"/>
          <a:lstStyle/>
          <a:p>
            <a:pPr algn="ctr" indent="0" marL="0">
              <a:buNone/>
            </a:pPr>
            <a:r>
              <a:rPr lang="en-US" sz="1000" dirty="0">
                <a:solidFill>
                  <a:srgbClr val="647187"/>
                </a:solidFill>
                <a:latin typeface="Calibri" pitchFamily="34" charset="0"/>
                <a:ea typeface="Calibri" pitchFamily="34" charset="-122"/>
                <a:cs typeface="Calibri" pitchFamily="34" charset="-120"/>
              </a:rPr>
              <a:t>+20k</a:t>
            </a:r>
            <a:endParaRPr lang="en-US" sz="1000" dirty="0"/>
          </a:p>
        </p:txBody>
      </p:sp>
      <p:sp>
        <p:nvSpPr>
          <p:cNvPr id="70" name="Shape 68"/>
          <p:cNvSpPr/>
          <p:nvPr/>
        </p:nvSpPr>
        <p:spPr>
          <a:xfrm>
            <a:off x="2692908" y="6195060"/>
            <a:ext cx="118872" cy="118872"/>
          </a:xfrm>
          <a:prstGeom prst="ellipse">
            <a:avLst/>
          </a:prstGeom>
          <a:solidFill>
            <a:srgbClr val="4DA3FF"/>
          </a:solidFill>
          <a:ln/>
        </p:spPr>
      </p:sp>
      <p:sp>
        <p:nvSpPr>
          <p:cNvPr id="71" name="Text 69"/>
          <p:cNvSpPr txBox="1"/>
          <p:nvPr/>
        </p:nvSpPr>
        <p:spPr>
          <a:xfrm>
            <a:off x="2880360" y="6153912"/>
            <a:ext cx="201168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kundër sesionit 2 të kontrollit</a:t>
            </a:r>
            <a:endParaRPr lang="en-US" sz="1050" dirty="0"/>
          </a:p>
        </p:txBody>
      </p:sp>
      <p:sp>
        <p:nvSpPr>
          <p:cNvPr id="72" name="Shape 70"/>
          <p:cNvSpPr/>
          <p:nvPr/>
        </p:nvSpPr>
        <p:spPr>
          <a:xfrm>
            <a:off x="4969764" y="6195060"/>
            <a:ext cx="118872" cy="118872"/>
          </a:xfrm>
          <a:prstGeom prst="ellipse">
            <a:avLst/>
          </a:prstGeom>
          <a:ln w="13970">
            <a:solidFill>
              <a:srgbClr val="E8ECF2"/>
            </a:solidFill>
            <a:prstDash val="solid"/>
          </a:ln>
        </p:spPr>
      </p:sp>
      <p:sp>
        <p:nvSpPr>
          <p:cNvPr id="73" name="Text 71"/>
          <p:cNvSpPr txBox="1"/>
          <p:nvPr/>
        </p:nvSpPr>
        <p:spPr>
          <a:xfrm>
            <a:off x="5166360" y="6153912"/>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kundër sesionit 1</a:t>
            </a:r>
            <a:endParaRPr lang="en-US" sz="1050" dirty="0"/>
          </a:p>
        </p:txBody>
      </p:sp>
      <p:sp>
        <p:nvSpPr>
          <p:cNvPr id="74" name="Text 72"/>
          <p:cNvSpPr txBox="1"/>
          <p:nvPr/>
        </p:nvSpPr>
        <p:spPr>
          <a:xfrm>
            <a:off x="8229600" y="2514600"/>
            <a:ext cx="3322015" cy="914400"/>
          </a:xfrm>
          <a:prstGeom prst="rect">
            <a:avLst/>
          </a:prstGeom>
          <a:noFill/>
          <a:ln/>
        </p:spPr>
        <p:txBody>
          <a:bodyPr wrap="square" lIns="0" tIns="0" rIns="0" bIns="0" rtlCol="0" anchor="t"/>
          <a:lstStyle/>
          <a:p>
            <a:pPr indent="0" marL="0">
              <a:buNone/>
            </a:pPr>
            <a:r>
              <a:rPr lang="en-US" sz="5400" dirty="0">
                <a:solidFill>
                  <a:srgbClr val="4DA3FF"/>
                </a:solidFill>
                <a:latin typeface="Century Schoolbook" pitchFamily="34" charset="0"/>
                <a:ea typeface="Century Schoolbook" pitchFamily="34" charset="-122"/>
                <a:cs typeface="Century Schoolbook" pitchFamily="34" charset="-120"/>
              </a:rPr>
              <a:t>0.23%</a:t>
            </a:r>
            <a:endParaRPr lang="en-US" sz="5400" dirty="0"/>
          </a:p>
        </p:txBody>
      </p:sp>
      <p:sp>
        <p:nvSpPr>
          <p:cNvPr id="75" name="Text 73"/>
          <p:cNvSpPr txBox="1"/>
          <p:nvPr/>
        </p:nvSpPr>
        <p:spPr>
          <a:xfrm>
            <a:off x="8229600" y="3474720"/>
            <a:ext cx="3322015" cy="5029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shkalla më e lartë e pranimit e matur kudo (swap_any në synth-4)</a:t>
            </a:r>
            <a:endParaRPr lang="en-US" sz="1250" dirty="0"/>
          </a:p>
        </p:txBody>
      </p:sp>
      <p:sp>
        <p:nvSpPr>
          <p:cNvPr id="76" name="Text 74"/>
          <p:cNvSpPr txBox="1"/>
          <p:nvPr/>
        </p:nvSpPr>
        <p:spPr>
          <a:xfrm>
            <a:off x="8229600" y="4251960"/>
            <a:ext cx="3322015" cy="1920240"/>
          </a:xfrm>
          <a:prstGeom prst="rect">
            <a:avLst/>
          </a:prstGeom>
          <a:noFill/>
          <a:ln/>
        </p:spPr>
        <p:txBody>
          <a:bodyPr wrap="square" lIns="0" tIns="0" rIns="0" bIns="0" rtlCol="0" anchor="t"/>
          <a:lstStyle/>
          <a:p>
            <a:pPr indent="0" marL="0">
              <a:buNone/>
            </a:pPr>
            <a:r>
              <a:rPr lang="en-US" sz="1450" dirty="0">
                <a:solidFill>
                  <a:srgbClr val="E8ECF2"/>
                </a:solidFill>
                <a:latin typeface="Calibri" pitchFamily="34" charset="0"/>
                <a:ea typeface="Calibri" pitchFamily="34" charset="-122"/>
                <a:cs typeface="Calibri" pitchFamily="34" charset="-120"/>
              </a:rPr>
              <a:t>Asnjë nga katërmbëdhjetë variantet nuk e kalon rimostrimin e vetë kontrollit, dhe seed pas seed-i, kundër të dy sesioneve të kontrollit, asnjë nuk fiton qoftë edhe një instancë. Rreth një renditjeje min-degree peizazhi është i rrafshët.</a:t>
            </a:r>
            <a:endParaRPr lang="en-US" sz="14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 · MË SHUMË KOHË?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Dhjetëfishi i buxhetit blen një të dhjetën e hendekut</a:t>
            </a:r>
            <a:endParaRPr lang="en-US" sz="2700" dirty="0"/>
          </a:p>
        </p:txBody>
      </p:sp>
      <p:sp>
        <p:nvSpPr>
          <p:cNvPr id="4" name="Shape 2"/>
          <p:cNvSpPr/>
          <p:nvPr/>
        </p:nvSpPr>
        <p:spPr>
          <a:xfrm>
            <a:off x="1645920" y="5162469"/>
            <a:ext cx="5394960" cy="0"/>
          </a:xfrm>
          <a:prstGeom prst="line">
            <a:avLst/>
          </a:prstGeom>
          <a:noFill/>
          <a:ln w="7620">
            <a:solidFill>
              <a:srgbClr val="1C2533"/>
            </a:solidFill>
            <a:prstDash val="solid"/>
          </a:ln>
        </p:spPr>
      </p:sp>
      <p:sp>
        <p:nvSpPr>
          <p:cNvPr id="5" name="Text 3"/>
          <p:cNvSpPr txBox="1"/>
          <p:nvPr/>
        </p:nvSpPr>
        <p:spPr>
          <a:xfrm>
            <a:off x="685800" y="5061885"/>
            <a:ext cx="86868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26.4M</a:t>
            </a:r>
            <a:endParaRPr lang="en-US" sz="1000" dirty="0"/>
          </a:p>
        </p:txBody>
      </p:sp>
      <p:sp>
        <p:nvSpPr>
          <p:cNvPr id="6" name="Shape 4"/>
          <p:cNvSpPr/>
          <p:nvPr/>
        </p:nvSpPr>
        <p:spPr>
          <a:xfrm>
            <a:off x="1645920" y="4423167"/>
            <a:ext cx="5394960" cy="0"/>
          </a:xfrm>
          <a:prstGeom prst="line">
            <a:avLst/>
          </a:prstGeom>
          <a:noFill/>
          <a:ln w="7620">
            <a:solidFill>
              <a:srgbClr val="1C2533"/>
            </a:solidFill>
            <a:prstDash val="solid"/>
          </a:ln>
        </p:spPr>
      </p:sp>
      <p:sp>
        <p:nvSpPr>
          <p:cNvPr id="7" name="Text 5"/>
          <p:cNvSpPr txBox="1"/>
          <p:nvPr/>
        </p:nvSpPr>
        <p:spPr>
          <a:xfrm>
            <a:off x="685800" y="4322583"/>
            <a:ext cx="86868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26.5M</a:t>
            </a:r>
            <a:endParaRPr lang="en-US" sz="1000" dirty="0"/>
          </a:p>
        </p:txBody>
      </p:sp>
      <p:sp>
        <p:nvSpPr>
          <p:cNvPr id="8" name="Shape 6"/>
          <p:cNvSpPr/>
          <p:nvPr/>
        </p:nvSpPr>
        <p:spPr>
          <a:xfrm>
            <a:off x="1645920" y="3683865"/>
            <a:ext cx="5394960" cy="0"/>
          </a:xfrm>
          <a:prstGeom prst="line">
            <a:avLst/>
          </a:prstGeom>
          <a:noFill/>
          <a:ln w="7620">
            <a:solidFill>
              <a:srgbClr val="1C2533"/>
            </a:solidFill>
            <a:prstDash val="solid"/>
          </a:ln>
        </p:spPr>
      </p:sp>
      <p:sp>
        <p:nvSpPr>
          <p:cNvPr id="9" name="Text 7"/>
          <p:cNvSpPr txBox="1"/>
          <p:nvPr/>
        </p:nvSpPr>
        <p:spPr>
          <a:xfrm>
            <a:off x="685800" y="3583281"/>
            <a:ext cx="86868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26.6M</a:t>
            </a:r>
            <a:endParaRPr lang="en-US" sz="1000" dirty="0"/>
          </a:p>
        </p:txBody>
      </p:sp>
      <p:sp>
        <p:nvSpPr>
          <p:cNvPr id="10" name="Shape 8"/>
          <p:cNvSpPr/>
          <p:nvPr/>
        </p:nvSpPr>
        <p:spPr>
          <a:xfrm>
            <a:off x="1645920" y="2944563"/>
            <a:ext cx="5394960" cy="0"/>
          </a:xfrm>
          <a:prstGeom prst="line">
            <a:avLst/>
          </a:prstGeom>
          <a:noFill/>
          <a:ln w="7620">
            <a:solidFill>
              <a:srgbClr val="1C2533"/>
            </a:solidFill>
            <a:prstDash val="solid"/>
          </a:ln>
        </p:spPr>
      </p:sp>
      <p:sp>
        <p:nvSpPr>
          <p:cNvPr id="11" name="Text 9"/>
          <p:cNvSpPr txBox="1"/>
          <p:nvPr/>
        </p:nvSpPr>
        <p:spPr>
          <a:xfrm>
            <a:off x="685800" y="2843979"/>
            <a:ext cx="86868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26.7M</a:t>
            </a:r>
            <a:endParaRPr lang="en-US" sz="1000" dirty="0"/>
          </a:p>
        </p:txBody>
      </p:sp>
      <p:sp>
        <p:nvSpPr>
          <p:cNvPr id="12" name="Shape 10"/>
          <p:cNvSpPr/>
          <p:nvPr/>
        </p:nvSpPr>
        <p:spPr>
          <a:xfrm>
            <a:off x="1645920" y="2205260"/>
            <a:ext cx="5394960" cy="0"/>
          </a:xfrm>
          <a:prstGeom prst="line">
            <a:avLst/>
          </a:prstGeom>
          <a:noFill/>
          <a:ln w="7620">
            <a:solidFill>
              <a:srgbClr val="1C2533"/>
            </a:solidFill>
            <a:prstDash val="solid"/>
          </a:ln>
        </p:spPr>
      </p:sp>
      <p:sp>
        <p:nvSpPr>
          <p:cNvPr id="13" name="Text 11"/>
          <p:cNvSpPr txBox="1"/>
          <p:nvPr/>
        </p:nvSpPr>
        <p:spPr>
          <a:xfrm>
            <a:off x="685800" y="2104676"/>
            <a:ext cx="868680" cy="201168"/>
          </a:xfrm>
          <a:prstGeom prst="rect">
            <a:avLst/>
          </a:prstGeom>
          <a:noFill/>
          <a:ln/>
        </p:spPr>
        <p:txBody>
          <a:bodyPr wrap="square" lIns="0" tIns="0" rIns="0" bIns="0" rtlCol="0" anchor="t"/>
          <a:lstStyle/>
          <a:p>
            <a:pPr algn="r" indent="0" marL="0">
              <a:buNone/>
            </a:pPr>
            <a:r>
              <a:rPr lang="en-US" sz="1000" dirty="0">
                <a:solidFill>
                  <a:srgbClr val="647187"/>
                </a:solidFill>
                <a:latin typeface="Calibri" pitchFamily="34" charset="0"/>
                <a:ea typeface="Calibri" pitchFamily="34" charset="-122"/>
                <a:cs typeface="Calibri" pitchFamily="34" charset="-120"/>
              </a:rPr>
              <a:t>26.8M</a:t>
            </a:r>
            <a:endParaRPr lang="en-US" sz="1000" dirty="0"/>
          </a:p>
        </p:txBody>
      </p:sp>
      <p:sp>
        <p:nvSpPr>
          <p:cNvPr id="14" name="Text 12"/>
          <p:cNvSpPr txBox="1"/>
          <p:nvPr/>
        </p:nvSpPr>
        <p:spPr>
          <a:xfrm>
            <a:off x="685800" y="1673352"/>
            <a:ext cx="2743200" cy="219456"/>
          </a:xfrm>
          <a:prstGeom prst="rect">
            <a:avLst/>
          </a:prstGeom>
          <a:noFill/>
          <a:ln/>
        </p:spPr>
        <p:txBody>
          <a:bodyPr wrap="square" lIns="0" tIns="0" rIns="0" bIns="0" rtlCol="0" anchor="t"/>
          <a:lstStyle/>
          <a:p>
            <a:pPr indent="0" marL="0">
              <a:buNone/>
            </a:pPr>
            <a:r>
              <a:rPr lang="en-US" sz="1050" dirty="0">
                <a:solidFill>
                  <a:srgbClr val="647187"/>
                </a:solidFill>
                <a:latin typeface="Calibri" pitchFamily="34" charset="0"/>
                <a:ea typeface="Calibri" pitchFamily="34" charset="-122"/>
                <a:cs typeface="Calibri" pitchFamily="34" charset="-120"/>
              </a:rPr>
              <a:t>hipervolumi i dhjetë instancave</a:t>
            </a:r>
            <a:endParaRPr lang="en-US" sz="1050" dirty="0"/>
          </a:p>
        </p:txBody>
      </p:sp>
      <p:sp>
        <p:nvSpPr>
          <p:cNvPr id="15" name="Text 13"/>
          <p:cNvSpPr txBox="1"/>
          <p:nvPr/>
        </p:nvSpPr>
        <p:spPr>
          <a:xfrm>
            <a:off x="132588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 s</a:t>
            </a:r>
            <a:endParaRPr lang="en-US" sz="1050" dirty="0"/>
          </a:p>
        </p:txBody>
      </p:sp>
      <p:sp>
        <p:nvSpPr>
          <p:cNvPr id="16" name="Text 14"/>
          <p:cNvSpPr txBox="1"/>
          <p:nvPr/>
        </p:nvSpPr>
        <p:spPr>
          <a:xfrm>
            <a:off x="3769046"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3,600 s</a:t>
            </a:r>
            <a:endParaRPr lang="en-US" sz="1050" dirty="0"/>
          </a:p>
        </p:txBody>
      </p:sp>
      <p:sp>
        <p:nvSpPr>
          <p:cNvPr id="17" name="Text 15"/>
          <p:cNvSpPr txBox="1"/>
          <p:nvPr/>
        </p:nvSpPr>
        <p:spPr>
          <a:xfrm>
            <a:off x="644652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12,000 s</a:t>
            </a:r>
            <a:endParaRPr lang="en-US" sz="1050" dirty="0"/>
          </a:p>
        </p:txBody>
      </p:sp>
      <p:sp>
        <p:nvSpPr>
          <p:cNvPr id="18" name="Shape 16"/>
          <p:cNvSpPr/>
          <p:nvPr/>
        </p:nvSpPr>
        <p:spPr>
          <a:xfrm>
            <a:off x="1783080" y="2340553"/>
            <a:ext cx="2443166" cy="145058"/>
          </a:xfrm>
          <a:prstGeom prst="line">
            <a:avLst/>
          </a:prstGeom>
          <a:noFill/>
          <a:ln w="28575">
            <a:solidFill>
              <a:srgbClr val="3DDC97"/>
            </a:solidFill>
            <a:prstDash val="solid"/>
          </a:ln>
        </p:spPr>
      </p:sp>
      <p:sp>
        <p:nvSpPr>
          <p:cNvPr id="19" name="Shape 17"/>
          <p:cNvSpPr/>
          <p:nvPr/>
        </p:nvSpPr>
        <p:spPr>
          <a:xfrm>
            <a:off x="4226246" y="2485611"/>
            <a:ext cx="2677474" cy="516868"/>
          </a:xfrm>
          <a:prstGeom prst="line">
            <a:avLst/>
          </a:prstGeom>
          <a:noFill/>
          <a:ln w="28575">
            <a:solidFill>
              <a:srgbClr val="3DDC97"/>
            </a:solidFill>
            <a:prstDash val="solid"/>
          </a:ln>
        </p:spPr>
      </p:sp>
      <p:sp>
        <p:nvSpPr>
          <p:cNvPr id="20" name="Shape 18"/>
          <p:cNvSpPr/>
          <p:nvPr/>
        </p:nvSpPr>
        <p:spPr>
          <a:xfrm>
            <a:off x="1728216" y="2285689"/>
            <a:ext cx="109728" cy="109728"/>
          </a:xfrm>
          <a:prstGeom prst="ellipse">
            <a:avLst/>
          </a:prstGeom>
          <a:solidFill>
            <a:srgbClr val="3DDC97"/>
          </a:solidFill>
          <a:ln/>
        </p:spPr>
      </p:sp>
      <p:sp>
        <p:nvSpPr>
          <p:cNvPr id="21" name="Shape 19"/>
          <p:cNvSpPr/>
          <p:nvPr/>
        </p:nvSpPr>
        <p:spPr>
          <a:xfrm>
            <a:off x="4171382" y="2430747"/>
            <a:ext cx="109728" cy="109728"/>
          </a:xfrm>
          <a:prstGeom prst="ellipse">
            <a:avLst/>
          </a:prstGeom>
          <a:solidFill>
            <a:srgbClr val="3DDC97"/>
          </a:solidFill>
          <a:ln/>
        </p:spPr>
      </p:sp>
      <p:sp>
        <p:nvSpPr>
          <p:cNvPr id="22" name="Shape 20"/>
          <p:cNvSpPr/>
          <p:nvPr/>
        </p:nvSpPr>
        <p:spPr>
          <a:xfrm>
            <a:off x="6848856" y="2947615"/>
            <a:ext cx="109728" cy="109728"/>
          </a:xfrm>
          <a:prstGeom prst="ellipse">
            <a:avLst/>
          </a:prstGeom>
          <a:solidFill>
            <a:srgbClr val="3DDC97"/>
          </a:solidFill>
          <a:ln/>
        </p:spPr>
      </p:sp>
      <p:sp>
        <p:nvSpPr>
          <p:cNvPr id="23" name="Shape 21"/>
          <p:cNvSpPr/>
          <p:nvPr/>
        </p:nvSpPr>
        <p:spPr>
          <a:xfrm flipV="1">
            <a:off x="1783080" y="5127751"/>
            <a:ext cx="2443166" cy="112226"/>
          </a:xfrm>
          <a:prstGeom prst="line">
            <a:avLst/>
          </a:prstGeom>
          <a:noFill/>
          <a:ln w="25400">
            <a:solidFill>
              <a:srgbClr val="E8ECF2"/>
            </a:solidFill>
            <a:prstDash val="solid"/>
          </a:ln>
        </p:spPr>
      </p:sp>
      <p:sp>
        <p:nvSpPr>
          <p:cNvPr id="24" name="Shape 22"/>
          <p:cNvSpPr/>
          <p:nvPr/>
        </p:nvSpPr>
        <p:spPr>
          <a:xfrm flipV="1">
            <a:off x="4226246" y="4995690"/>
            <a:ext cx="2677474" cy="132062"/>
          </a:xfrm>
          <a:prstGeom prst="line">
            <a:avLst/>
          </a:prstGeom>
          <a:noFill/>
          <a:ln w="25400">
            <a:solidFill>
              <a:srgbClr val="E8ECF2"/>
            </a:solidFill>
            <a:prstDash val="solid"/>
          </a:ln>
        </p:spPr>
      </p:sp>
      <p:sp>
        <p:nvSpPr>
          <p:cNvPr id="25" name="Shape 23"/>
          <p:cNvSpPr/>
          <p:nvPr/>
        </p:nvSpPr>
        <p:spPr>
          <a:xfrm>
            <a:off x="1728216" y="5185113"/>
            <a:ext cx="109728" cy="109728"/>
          </a:xfrm>
          <a:prstGeom prst="ellipse">
            <a:avLst/>
          </a:prstGeom>
          <a:solidFill>
            <a:srgbClr val="E8ECF2"/>
          </a:solidFill>
          <a:ln/>
        </p:spPr>
      </p:sp>
      <p:sp>
        <p:nvSpPr>
          <p:cNvPr id="26" name="Shape 24"/>
          <p:cNvSpPr/>
          <p:nvPr/>
        </p:nvSpPr>
        <p:spPr>
          <a:xfrm>
            <a:off x="4171382" y="5072887"/>
            <a:ext cx="109728" cy="109728"/>
          </a:xfrm>
          <a:prstGeom prst="ellipse">
            <a:avLst/>
          </a:prstGeom>
          <a:solidFill>
            <a:srgbClr val="E8ECF2"/>
          </a:solidFill>
          <a:ln/>
        </p:spPr>
      </p:sp>
      <p:sp>
        <p:nvSpPr>
          <p:cNvPr id="27" name="Shape 25"/>
          <p:cNvSpPr/>
          <p:nvPr/>
        </p:nvSpPr>
        <p:spPr>
          <a:xfrm>
            <a:off x="6848856" y="4940826"/>
            <a:ext cx="109728" cy="109728"/>
          </a:xfrm>
          <a:prstGeom prst="ellipse">
            <a:avLst/>
          </a:prstGeom>
          <a:solidFill>
            <a:srgbClr val="E8ECF2"/>
          </a:solidFill>
          <a:ln/>
        </p:spPr>
      </p:sp>
      <p:sp>
        <p:nvSpPr>
          <p:cNvPr id="28" name="Shape 26"/>
          <p:cNvSpPr/>
          <p:nvPr/>
        </p:nvSpPr>
        <p:spPr>
          <a:xfrm flipV="1">
            <a:off x="1783080" y="5209954"/>
            <a:ext cx="2443166" cy="16102"/>
          </a:xfrm>
          <a:prstGeom prst="line">
            <a:avLst/>
          </a:prstGeom>
          <a:noFill/>
          <a:ln w="15875">
            <a:solidFill>
              <a:srgbClr val="9AA6B6"/>
            </a:solidFill>
            <a:prstDash val="solid"/>
          </a:ln>
        </p:spPr>
      </p:sp>
      <p:sp>
        <p:nvSpPr>
          <p:cNvPr id="29" name="Shape 27"/>
          <p:cNvSpPr/>
          <p:nvPr/>
        </p:nvSpPr>
        <p:spPr>
          <a:xfrm flipV="1">
            <a:off x="4226246" y="5184966"/>
            <a:ext cx="2677474" cy="24988"/>
          </a:xfrm>
          <a:prstGeom prst="line">
            <a:avLst/>
          </a:prstGeom>
          <a:noFill/>
          <a:ln w="15875">
            <a:solidFill>
              <a:srgbClr val="9AA6B6"/>
            </a:solidFill>
            <a:prstDash val="solid"/>
          </a:ln>
        </p:spPr>
      </p:sp>
      <p:sp>
        <p:nvSpPr>
          <p:cNvPr id="30" name="Shape 28"/>
          <p:cNvSpPr/>
          <p:nvPr/>
        </p:nvSpPr>
        <p:spPr>
          <a:xfrm>
            <a:off x="1728216" y="5171192"/>
            <a:ext cx="109728" cy="109728"/>
          </a:xfrm>
          <a:prstGeom prst="ellipse">
            <a:avLst/>
          </a:prstGeom>
          <a:solidFill>
            <a:srgbClr val="9AA6B6"/>
          </a:solidFill>
          <a:ln/>
        </p:spPr>
      </p:sp>
      <p:sp>
        <p:nvSpPr>
          <p:cNvPr id="31" name="Shape 29"/>
          <p:cNvSpPr/>
          <p:nvPr/>
        </p:nvSpPr>
        <p:spPr>
          <a:xfrm>
            <a:off x="4171382" y="5155090"/>
            <a:ext cx="109728" cy="109728"/>
          </a:xfrm>
          <a:prstGeom prst="ellipse">
            <a:avLst/>
          </a:prstGeom>
          <a:solidFill>
            <a:srgbClr val="9AA6B6"/>
          </a:solidFill>
          <a:ln/>
        </p:spPr>
      </p:sp>
      <p:sp>
        <p:nvSpPr>
          <p:cNvPr id="32" name="Shape 30"/>
          <p:cNvSpPr/>
          <p:nvPr/>
        </p:nvSpPr>
        <p:spPr>
          <a:xfrm>
            <a:off x="6848856" y="5130102"/>
            <a:ext cx="109728" cy="109728"/>
          </a:xfrm>
          <a:prstGeom prst="ellipse">
            <a:avLst/>
          </a:prstGeom>
          <a:solidFill>
            <a:srgbClr val="9AA6B6"/>
          </a:solidFill>
          <a:ln/>
        </p:spPr>
      </p:sp>
      <p:sp>
        <p:nvSpPr>
          <p:cNvPr id="33" name="Shape 31"/>
          <p:cNvSpPr/>
          <p:nvPr/>
        </p:nvSpPr>
        <p:spPr>
          <a:xfrm>
            <a:off x="1783080" y="5216778"/>
            <a:ext cx="2443166" cy="27776"/>
          </a:xfrm>
          <a:prstGeom prst="line">
            <a:avLst/>
          </a:prstGeom>
          <a:noFill/>
          <a:ln w="15875">
            <a:solidFill>
              <a:srgbClr val="647187"/>
            </a:solidFill>
            <a:prstDash val="solid"/>
          </a:ln>
        </p:spPr>
      </p:sp>
      <p:sp>
        <p:nvSpPr>
          <p:cNvPr id="34" name="Shape 32"/>
          <p:cNvSpPr/>
          <p:nvPr/>
        </p:nvSpPr>
        <p:spPr>
          <a:xfrm flipV="1">
            <a:off x="4226246" y="5150137"/>
            <a:ext cx="2677474" cy="94416"/>
          </a:xfrm>
          <a:prstGeom prst="line">
            <a:avLst/>
          </a:prstGeom>
          <a:noFill/>
          <a:ln w="15875">
            <a:solidFill>
              <a:srgbClr val="647187"/>
            </a:solidFill>
            <a:prstDash val="solid"/>
          </a:ln>
        </p:spPr>
      </p:sp>
      <p:sp>
        <p:nvSpPr>
          <p:cNvPr id="35" name="Shape 33"/>
          <p:cNvSpPr/>
          <p:nvPr/>
        </p:nvSpPr>
        <p:spPr>
          <a:xfrm>
            <a:off x="1728216" y="5161914"/>
            <a:ext cx="109728" cy="109728"/>
          </a:xfrm>
          <a:prstGeom prst="ellipse">
            <a:avLst/>
          </a:prstGeom>
          <a:solidFill>
            <a:srgbClr val="647187"/>
          </a:solidFill>
          <a:ln/>
        </p:spPr>
      </p:sp>
      <p:sp>
        <p:nvSpPr>
          <p:cNvPr id="36" name="Shape 34"/>
          <p:cNvSpPr/>
          <p:nvPr/>
        </p:nvSpPr>
        <p:spPr>
          <a:xfrm>
            <a:off x="4171382" y="5189690"/>
            <a:ext cx="109728" cy="109728"/>
          </a:xfrm>
          <a:prstGeom prst="ellipse">
            <a:avLst/>
          </a:prstGeom>
          <a:solidFill>
            <a:srgbClr val="647187"/>
          </a:solidFill>
          <a:ln/>
        </p:spPr>
      </p:sp>
      <p:sp>
        <p:nvSpPr>
          <p:cNvPr id="37" name="Shape 35"/>
          <p:cNvSpPr/>
          <p:nvPr/>
        </p:nvSpPr>
        <p:spPr>
          <a:xfrm>
            <a:off x="6848856" y="5095273"/>
            <a:ext cx="109728" cy="109728"/>
          </a:xfrm>
          <a:prstGeom prst="ellipse">
            <a:avLst/>
          </a:prstGeom>
          <a:solidFill>
            <a:srgbClr val="647187"/>
          </a:solidFill>
          <a:ln/>
        </p:spPr>
      </p:sp>
      <p:sp>
        <p:nvSpPr>
          <p:cNvPr id="38" name="Text 36"/>
          <p:cNvSpPr txBox="1"/>
          <p:nvPr/>
        </p:nvSpPr>
        <p:spPr>
          <a:xfrm>
            <a:off x="7040880" y="2883607"/>
            <a:ext cx="2011680" cy="237744"/>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ndërtimi (GRASP)</a:t>
            </a:r>
            <a:endParaRPr lang="en-US" sz="1150" dirty="0"/>
          </a:p>
        </p:txBody>
      </p:sp>
      <p:sp>
        <p:nvSpPr>
          <p:cNvPr id="39" name="Text 37"/>
          <p:cNvSpPr txBox="1"/>
          <p:nvPr/>
        </p:nvSpPr>
        <p:spPr>
          <a:xfrm>
            <a:off x="7040880" y="4721370"/>
            <a:ext cx="1828800" cy="219456"/>
          </a:xfrm>
          <a:prstGeom prst="rect">
            <a:avLst/>
          </a:prstGeom>
          <a:noFill/>
          <a:ln/>
        </p:spPr>
        <p:txBody>
          <a:bodyPr wrap="square" lIns="0" tIns="0" rIns="0" bIns="0" rtlCol="0" anchor="t"/>
          <a:lstStyle/>
          <a:p>
            <a:pPr indent="0" marL="0">
              <a:buNone/>
            </a:pPr>
            <a:r>
              <a:rPr lang="en-US" sz="1150" b="1"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40" name="Text 38"/>
          <p:cNvSpPr txBox="1"/>
          <p:nvPr/>
        </p:nvSpPr>
        <p:spPr>
          <a:xfrm>
            <a:off x="7040880" y="5184966"/>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të 17 operatorët</a:t>
            </a:r>
            <a:endParaRPr lang="en-US" sz="1050" dirty="0"/>
          </a:p>
        </p:txBody>
      </p:sp>
      <p:sp>
        <p:nvSpPr>
          <p:cNvPr id="41" name="Text 39"/>
          <p:cNvSpPr txBox="1"/>
          <p:nvPr/>
        </p:nvSpPr>
        <p:spPr>
          <a:xfrm>
            <a:off x="7040880" y="5386134"/>
            <a:ext cx="1828800" cy="219456"/>
          </a:xfrm>
          <a:prstGeom prst="rect">
            <a:avLst/>
          </a:prstGeom>
          <a:noFill/>
          <a:ln/>
        </p:spPr>
        <p:txBody>
          <a:bodyPr wrap="square" lIns="0" tIns="0" rIns="0" bIns="0" rtlCol="0" anchor="t"/>
          <a:lstStyle/>
          <a:p>
            <a:pPr indent="0" marL="0">
              <a:buNone/>
            </a:pPr>
            <a:r>
              <a:rPr lang="en-US" sz="1050" dirty="0">
                <a:solidFill>
                  <a:srgbClr val="647187"/>
                </a:solidFill>
                <a:latin typeface="Calibri" pitchFamily="34" charset="0"/>
                <a:ea typeface="Calibri" pitchFamily="34" charset="-122"/>
                <a:cs typeface="Calibri" pitchFamily="34" charset="-120"/>
              </a:rPr>
              <a:t>grupi i pikës së ngushtë</a:t>
            </a:r>
            <a:endParaRPr lang="en-US" sz="1050" dirty="0"/>
          </a:p>
        </p:txBody>
      </p:sp>
      <p:sp>
        <p:nvSpPr>
          <p:cNvPr id="42" name="Shape 40"/>
          <p:cNvSpPr/>
          <p:nvPr/>
        </p:nvSpPr>
        <p:spPr>
          <a:xfrm>
            <a:off x="6583680" y="3057343"/>
            <a:ext cx="0" cy="1883482"/>
          </a:xfrm>
          <a:prstGeom prst="line">
            <a:avLst/>
          </a:prstGeom>
          <a:noFill/>
          <a:ln w="15875">
            <a:solidFill>
              <a:srgbClr val="F2C14E"/>
            </a:solidFill>
            <a:prstDash val="solid"/>
            <a:headEnd type="triangle"/>
            <a:tailEnd type="triangle"/>
          </a:ln>
        </p:spPr>
      </p:sp>
      <p:sp>
        <p:nvSpPr>
          <p:cNvPr id="43" name="Text 41"/>
          <p:cNvSpPr txBox="1"/>
          <p:nvPr/>
        </p:nvSpPr>
        <p:spPr>
          <a:xfrm>
            <a:off x="4434840" y="3770485"/>
            <a:ext cx="2057400" cy="457200"/>
          </a:xfrm>
          <a:prstGeom prst="rect">
            <a:avLst/>
          </a:prstGeom>
          <a:noFill/>
          <a:ln/>
        </p:spPr>
        <p:txBody>
          <a:bodyPr wrap="square" lIns="0" tIns="0" rIns="0" bIns="0" rtlCol="0" anchor="t"/>
          <a:lstStyle/>
          <a:p>
            <a:pPr algn="r" indent="0" marL="0">
              <a:buNone/>
            </a:pPr>
            <a:r>
              <a:rPr lang="en-US" sz="1200" b="1" dirty="0">
                <a:solidFill>
                  <a:srgbClr val="F2C14E"/>
                </a:solidFill>
                <a:latin typeface="Calibri" pitchFamily="34" charset="0"/>
                <a:ea typeface="Calibri" pitchFamily="34" charset="-122"/>
                <a:cs typeface="Calibri" pitchFamily="34" charset="-120"/>
              </a:rPr>
              <a:t>epërsia ≥ 269,607 HV</a:t>
            </a:r>
            <a:endParaRPr lang="en-US" sz="1200" dirty="0"/>
          </a:p>
          <a:p>
            <a:pPr algn="r" indent="0" marL="0">
              <a:buNone/>
            </a:pPr>
            <a:r>
              <a:rPr lang="en-US" sz="1200" b="1" dirty="0">
                <a:solidFill>
                  <a:srgbClr val="F2C14E"/>
                </a:solidFill>
                <a:latin typeface="Calibri" pitchFamily="34" charset="0"/>
                <a:ea typeface="Calibri" pitchFamily="34" charset="-122"/>
                <a:cs typeface="Calibri" pitchFamily="34" charset="-120"/>
              </a:rPr>
              <a:t>në çdo buxhet</a:t>
            </a:r>
            <a:endParaRPr lang="en-US" sz="1200" dirty="0"/>
          </a:p>
        </p:txBody>
      </p:sp>
      <p:sp>
        <p:nvSpPr>
          <p:cNvPr id="44" name="Text 42"/>
          <p:cNvSpPr txBox="1"/>
          <p:nvPr/>
        </p:nvSpPr>
        <p:spPr>
          <a:xfrm>
            <a:off x="1828800" y="4416357"/>
            <a:ext cx="3017520" cy="45720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+33,043 HV mbi 10×</a:t>
            </a:r>
            <a:endParaRPr lang="en-US" sz="1150" dirty="0"/>
          </a:p>
          <a:p>
            <a:pPr indent="0" marL="0">
              <a:buNone/>
            </a:pPr>
            <a:r>
              <a:rPr lang="en-US" sz="1150" dirty="0">
                <a:solidFill>
                  <a:srgbClr val="E8ECF2"/>
                </a:solidFill>
                <a:latin typeface="Calibri" pitchFamily="34" charset="0"/>
                <a:ea typeface="Calibri" pitchFamily="34" charset="-122"/>
                <a:cs typeface="Calibri" pitchFamily="34" charset="-120"/>
              </a:rPr>
              <a:t>≈ 1.5× rimostrimi i kontrollit</a:t>
            </a:r>
            <a:endParaRPr lang="en-US" sz="1150" dirty="0"/>
          </a:p>
        </p:txBody>
      </p:sp>
      <p:sp>
        <p:nvSpPr>
          <p:cNvPr id="45" name="Text 43"/>
          <p:cNvSpPr txBox="1"/>
          <p:nvPr/>
        </p:nvSpPr>
        <p:spPr>
          <a:xfrm>
            <a:off x="1874520" y="1956505"/>
            <a:ext cx="3291840" cy="237744"/>
          </a:xfrm>
          <a:prstGeom prst="rect">
            <a:avLst/>
          </a:prstGeom>
          <a:noFill/>
          <a:ln/>
        </p:spPr>
        <p:txBody>
          <a:bodyPr wrap="square" lIns="0" tIns="0" rIns="0" bIns="0" rtlCol="0" anchor="t"/>
          <a:lstStyle/>
          <a:p>
            <a:pPr indent="0" marL="0">
              <a:buNone/>
            </a:pPr>
            <a:r>
              <a:rPr lang="en-US" sz="1100" i="1" dirty="0">
                <a:solidFill>
                  <a:srgbClr val="3DDC97"/>
                </a:solidFill>
                <a:latin typeface="Calibri" pitchFamily="34" charset="0"/>
                <a:ea typeface="Calibri" pitchFamily="34" charset="-122"/>
                <a:cs typeface="Calibri" pitchFamily="34" charset="-120"/>
              </a:rPr>
              <a:t>mostër e re ndërtimesh në çdo buxhet</a:t>
            </a:r>
            <a:endParaRPr lang="en-US" sz="1100" dirty="0"/>
          </a:p>
        </p:txBody>
      </p:sp>
      <p:sp>
        <p:nvSpPr>
          <p:cNvPr id="46" name="Text 44"/>
          <p:cNvSpPr txBox="1"/>
          <p:nvPr/>
        </p:nvSpPr>
        <p:spPr>
          <a:xfrm>
            <a:off x="9144000" y="2057400"/>
            <a:ext cx="240761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NJË NDËRTIM PA KËRKIM</a:t>
            </a:r>
            <a:endParaRPr lang="en-US" sz="1050" dirty="0"/>
          </a:p>
        </p:txBody>
      </p:sp>
      <p:sp>
        <p:nvSpPr>
          <p:cNvPr id="47" name="Text 45"/>
          <p:cNvSpPr txBox="1"/>
          <p:nvPr/>
        </p:nvSpPr>
        <p:spPr>
          <a:xfrm>
            <a:off x="9144000" y="2487168"/>
            <a:ext cx="2407615" cy="10058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Tetë renditje lakmitare min-degree, nën një minutë për instancë, do të renditeshin kështu në tabelat e ESA-s:</a:t>
            </a:r>
            <a:endParaRPr lang="en-US" sz="1300" dirty="0"/>
          </a:p>
        </p:txBody>
      </p:sp>
      <p:sp>
        <p:nvSpPr>
          <p:cNvPr id="48" name="Text 46"/>
          <p:cNvSpPr txBox="1"/>
          <p:nvPr/>
        </p:nvSpPr>
        <p:spPr>
          <a:xfrm>
            <a:off x="9144000" y="361188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a:t>
            </a:r>
            <a:endParaRPr lang="en-US" sz="3000" dirty="0"/>
          </a:p>
        </p:txBody>
      </p:sp>
      <p:sp>
        <p:nvSpPr>
          <p:cNvPr id="49" name="Text 47"/>
          <p:cNvSpPr txBox="1"/>
          <p:nvPr/>
        </p:nvSpPr>
        <p:spPr>
          <a:xfrm>
            <a:off x="10149840" y="365760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vend nga 15</a:t>
            </a:r>
            <a:endParaRPr lang="en-US" sz="1250" dirty="0"/>
          </a:p>
        </p:txBody>
      </p:sp>
      <p:sp>
        <p:nvSpPr>
          <p:cNvPr id="50" name="Text 48"/>
          <p:cNvSpPr txBox="1"/>
          <p:nvPr/>
        </p:nvSpPr>
        <p:spPr>
          <a:xfrm>
            <a:off x="10149840" y="390448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small-graph</a:t>
            </a:r>
            <a:endParaRPr lang="en-US" sz="1100" dirty="0"/>
          </a:p>
        </p:txBody>
      </p:sp>
      <p:sp>
        <p:nvSpPr>
          <p:cNvPr id="51" name="Text 49"/>
          <p:cNvSpPr txBox="1"/>
          <p:nvPr/>
        </p:nvSpPr>
        <p:spPr>
          <a:xfrm>
            <a:off x="9144000" y="438912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a:t>
            </a:r>
            <a:endParaRPr lang="en-US" sz="3000" dirty="0"/>
          </a:p>
        </p:txBody>
      </p:sp>
      <p:sp>
        <p:nvSpPr>
          <p:cNvPr id="52" name="Text 50"/>
          <p:cNvSpPr txBox="1"/>
          <p:nvPr/>
        </p:nvSpPr>
        <p:spPr>
          <a:xfrm>
            <a:off x="10149840" y="443484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vend nga 11</a:t>
            </a:r>
            <a:endParaRPr lang="en-US" sz="1250" dirty="0"/>
          </a:p>
        </p:txBody>
      </p:sp>
      <p:sp>
        <p:nvSpPr>
          <p:cNvPr id="53" name="Text 51"/>
          <p:cNvSpPr txBox="1"/>
          <p:nvPr/>
        </p:nvSpPr>
        <p:spPr>
          <a:xfrm>
            <a:off x="10149840" y="468172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medium-graph</a:t>
            </a:r>
            <a:endParaRPr lang="en-US" sz="1100" dirty="0"/>
          </a:p>
        </p:txBody>
      </p:sp>
      <p:sp>
        <p:nvSpPr>
          <p:cNvPr id="54" name="Text 52"/>
          <p:cNvSpPr txBox="1"/>
          <p:nvPr/>
        </p:nvSpPr>
        <p:spPr>
          <a:xfrm>
            <a:off x="9144000" y="516636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7.</a:t>
            </a:r>
            <a:endParaRPr lang="en-US" sz="3000" dirty="0"/>
          </a:p>
        </p:txBody>
      </p:sp>
      <p:sp>
        <p:nvSpPr>
          <p:cNvPr id="55" name="Text 53"/>
          <p:cNvSpPr txBox="1"/>
          <p:nvPr/>
        </p:nvSpPr>
        <p:spPr>
          <a:xfrm>
            <a:off x="10149840" y="521208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vend nga 11, i ndarë</a:t>
            </a:r>
            <a:endParaRPr lang="en-US" sz="1250" dirty="0"/>
          </a:p>
        </p:txBody>
      </p:sp>
      <p:sp>
        <p:nvSpPr>
          <p:cNvPr id="56" name="Text 54"/>
          <p:cNvSpPr txBox="1"/>
          <p:nvPr/>
        </p:nvSpPr>
        <p:spPr>
          <a:xfrm>
            <a:off x="10149840" y="545896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large-graph</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VII · ÇFARË T'I KËRKOJMË NJË TABELE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Çfarë do t'i kërkoja çdo tabele krahasuese</a:t>
            </a:r>
            <a:endParaRPr lang="en-US" sz="2700" dirty="0"/>
          </a:p>
        </p:txBody>
      </p:sp>
      <p:sp>
        <p:nvSpPr>
          <p:cNvPr id="4" name="Text 2"/>
          <p:cNvSpPr txBox="1"/>
          <p:nvPr/>
        </p:nvSpPr>
        <p:spPr>
          <a:xfrm>
            <a:off x="640080" y="1773936"/>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1</a:t>
            </a:r>
            <a:endParaRPr lang="en-US" sz="3400" dirty="0"/>
          </a:p>
        </p:txBody>
      </p:sp>
      <p:sp>
        <p:nvSpPr>
          <p:cNvPr id="5" name="Text 3"/>
          <p:cNvSpPr txBox="1"/>
          <p:nvPr/>
        </p:nvSpPr>
        <p:spPr>
          <a:xfrm>
            <a:off x="1325880" y="1828800"/>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Ekzekutoje kontrollin dy herë dhe publikoje diferencën.</a:t>
            </a:r>
            <a:endParaRPr lang="en-US" sz="2000" dirty="0"/>
          </a:p>
        </p:txBody>
      </p:sp>
      <p:sp>
        <p:nvSpPr>
          <p:cNvPr id="6" name="Text 4"/>
          <p:cNvSpPr txBox="1"/>
          <p:nvPr/>
        </p:nvSpPr>
        <p:spPr>
          <a:xfrm>
            <a:off x="1325880" y="2249424"/>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Dy sesione, jo dy seed-a. Totali ynë i dhjetë instancave lëvizi 21,519 HV.</a:t>
            </a:r>
            <a:endParaRPr lang="en-US" sz="1400" dirty="0"/>
          </a:p>
        </p:txBody>
      </p:sp>
      <p:sp>
        <p:nvSpPr>
          <p:cNvPr id="7" name="Text 5"/>
          <p:cNvSpPr txBox="1"/>
          <p:nvPr/>
        </p:nvSpPr>
        <p:spPr>
          <a:xfrm>
            <a:off x="640080" y="2889504"/>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2</a:t>
            </a:r>
            <a:endParaRPr lang="en-US" sz="3400" dirty="0"/>
          </a:p>
        </p:txBody>
      </p:sp>
      <p:sp>
        <p:nvSpPr>
          <p:cNvPr id="8" name="Text 6"/>
          <p:cNvSpPr txBox="1"/>
          <p:nvPr/>
        </p:nvSpPr>
        <p:spPr>
          <a:xfrm>
            <a:off x="1325880" y="2944368"/>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Gjyko çdo rresht sipas seed-ave të vet.</a:t>
            </a:r>
            <a:endParaRPr lang="en-US" sz="2000" dirty="0"/>
          </a:p>
        </p:txBody>
      </p:sp>
      <p:sp>
        <p:nvSpPr>
          <p:cNvPr id="9" name="Text 7"/>
          <p:cNvSpPr txBox="1"/>
          <p:nvPr/>
        </p:nvSpPr>
        <p:spPr>
          <a:xfrm>
            <a:off x="1325880" y="3364992"/>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Raporto medianën pranë më të mirit, dhe shëno cilët rreshta janë të vendosur. Një prag i huazuar gaboi këtu në katër nga dhjetë.</a:t>
            </a:r>
            <a:endParaRPr lang="en-US" sz="1400" dirty="0"/>
          </a:p>
        </p:txBody>
      </p:sp>
      <p:sp>
        <p:nvSpPr>
          <p:cNvPr id="10" name="Text 8"/>
          <p:cNvSpPr txBox="1"/>
          <p:nvPr/>
        </p:nvSpPr>
        <p:spPr>
          <a:xfrm>
            <a:off x="640080" y="4005072"/>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3</a:t>
            </a:r>
            <a:endParaRPr lang="en-US" sz="3400" dirty="0"/>
          </a:p>
        </p:txBody>
      </p:sp>
      <p:sp>
        <p:nvSpPr>
          <p:cNvPr id="11" name="Text 9"/>
          <p:cNvSpPr txBox="1"/>
          <p:nvPr/>
        </p:nvSpPr>
        <p:spPr>
          <a:xfrm>
            <a:off x="1325880" y="4059936"/>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Thuaj për çfarë flet efekti.</a:t>
            </a:r>
            <a:endParaRPr lang="en-US" sz="2000" dirty="0"/>
          </a:p>
        </p:txBody>
      </p:sp>
      <p:sp>
        <p:nvSpPr>
          <p:cNvPr id="12" name="Text 10"/>
          <p:cNvSpPr txBox="1"/>
          <p:nvPr/>
        </p:nvSpPr>
        <p:spPr>
          <a:xfrm>
            <a:off x="1325880" y="4480560"/>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Një total mbi dhjetë instanca i bërë në tri grafe të dendura është rezultat për grafet e dendura.</a:t>
            </a:r>
            <a:endParaRPr lang="en-US" sz="1400" dirty="0"/>
          </a:p>
        </p:txBody>
      </p:sp>
      <p:sp>
        <p:nvSpPr>
          <p:cNvPr id="13" name="Shape 11"/>
          <p:cNvSpPr/>
          <p:nvPr/>
        </p:nvSpPr>
        <p:spPr>
          <a:xfrm>
            <a:off x="640080" y="5257800"/>
            <a:ext cx="10911535" cy="960120"/>
          </a:xfrm>
          <a:prstGeom prst="rect">
            <a:avLst/>
          </a:prstGeom>
          <a:solidFill>
            <a:srgbClr val="131B28"/>
          </a:solidFill>
          <a:ln/>
        </p:spPr>
      </p:sp>
      <p:sp>
        <p:nvSpPr>
          <p:cNvPr id="14" name="Text 12"/>
          <p:cNvSpPr txBox="1"/>
          <p:nvPr/>
        </p:nvSpPr>
        <p:spPr>
          <a:xfrm>
            <a:off x="914400" y="5394960"/>
            <a:ext cx="10362895" cy="731520"/>
          </a:xfrm>
          <a:prstGeom prst="rect">
            <a:avLst/>
          </a:prstGeom>
          <a:noFill/>
          <a:ln/>
        </p:spPr>
        <p:txBody>
          <a:bodyPr wrap="square" lIns="0" tIns="0" rIns="0" bIns="0" rtlCol="0" anchor="ctr"/>
          <a:lstStyle/>
          <a:p>
            <a:pPr indent="0" marL="0">
              <a:buNone/>
            </a:pPr>
            <a:r>
              <a:rPr lang="en-US" sz="1650" i="1" dirty="0">
                <a:solidFill>
                  <a:srgbClr val="FFFFFF"/>
                </a:solidFill>
                <a:latin typeface="Century Schoolbook" pitchFamily="34" charset="0"/>
                <a:ea typeface="Century Schoolbook" pitchFamily="34" charset="-122"/>
                <a:cs typeface="Century Schoolbook" pitchFamily="34" charset="-120"/>
              </a:rPr>
              <a:t>Në këto dhjetë instanca, në këtë buxhet, ndërtimi dominon dhe përbërësit e kërkimit jo. Gjysma e tabelës është e pavendosur. Të dyja janë gjetje.</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1143000"/>
            <a:ext cx="5943600" cy="777240"/>
          </a:xfrm>
          <a:prstGeom prst="rect">
            <a:avLst/>
          </a:prstGeom>
          <a:noFill/>
          <a:ln/>
        </p:spPr>
        <p:txBody>
          <a:bodyPr wrap="square" lIns="0" tIns="0" rIns="0" bIns="0" rtlCol="0" anchor="t"/>
          <a:lstStyle/>
          <a:p>
            <a:pPr indent="0" marL="0">
              <a:buNone/>
            </a:pPr>
            <a:r>
              <a:rPr lang="en-US" sz="4400" dirty="0">
                <a:solidFill>
                  <a:srgbClr val="FFFFFF"/>
                </a:solidFill>
                <a:latin typeface="Century Schoolbook" pitchFamily="34" charset="0"/>
                <a:ea typeface="Century Schoolbook" pitchFamily="34" charset="-122"/>
                <a:cs typeface="Century Schoolbook" pitchFamily="34" charset="-120"/>
              </a:rPr>
              <a:t>Faleminderit</a:t>
            </a:r>
            <a:endParaRPr lang="en-US" sz="4400" dirty="0"/>
          </a:p>
        </p:txBody>
      </p:sp>
      <p:sp>
        <p:nvSpPr>
          <p:cNvPr id="3" name="Text 1"/>
          <p:cNvSpPr txBox="1"/>
          <p:nvPr/>
        </p:nvSpPr>
        <p:spPr>
          <a:xfrm>
            <a:off x="640080" y="1901952"/>
            <a:ext cx="5943600" cy="548640"/>
          </a:xfrm>
          <a:prstGeom prst="rect">
            <a:avLst/>
          </a:prstGeom>
          <a:noFill/>
          <a:ln/>
        </p:spPr>
        <p:txBody>
          <a:bodyPr wrap="square" lIns="0" tIns="0" rIns="0" bIns="0" rtlCol="0" anchor="t"/>
          <a:lstStyle/>
          <a:p>
            <a:pPr indent="0" marL="0">
              <a:buNone/>
            </a:pPr>
            <a:r>
              <a:rPr lang="en-US" sz="2800" dirty="0">
                <a:solidFill>
                  <a:srgbClr val="3DDC97"/>
                </a:solidFill>
                <a:latin typeface="Century Schoolbook" pitchFamily="34" charset="0"/>
                <a:ea typeface="Century Schoolbook" pitchFamily="34" charset="-122"/>
                <a:cs typeface="Century Schoolbook" pitchFamily="34" charset="-120"/>
              </a:rPr>
              <a:t>Pyetje</a:t>
            </a:r>
            <a:endParaRPr lang="en-US" sz="2800" dirty="0"/>
          </a:p>
        </p:txBody>
      </p:sp>
      <p:sp>
        <p:nvSpPr>
          <p:cNvPr id="4" name="Text 2"/>
          <p:cNvSpPr txBox="1"/>
          <p:nvPr/>
        </p:nvSpPr>
        <p:spPr>
          <a:xfrm>
            <a:off x="640080" y="2743200"/>
            <a:ext cx="59436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SHIFRA PËR DISKUTIMIN</a:t>
            </a:r>
            <a:endParaRPr lang="en-US" sz="1050" dirty="0"/>
          </a:p>
        </p:txBody>
      </p:sp>
      <p:sp>
        <p:nvSpPr>
          <p:cNvPr id="5" name="Text 3"/>
          <p:cNvSpPr txBox="1"/>
          <p:nvPr/>
        </p:nvSpPr>
        <p:spPr>
          <a:xfrm>
            <a:off x="64008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5 nga 10</a:t>
            </a:r>
            <a:endParaRPr lang="en-US" sz="1900" dirty="0"/>
          </a:p>
        </p:txBody>
      </p:sp>
      <p:sp>
        <p:nvSpPr>
          <p:cNvPr id="6" name="Text 4"/>
          <p:cNvSpPr txBox="1"/>
          <p:nvPr/>
        </p:nvSpPr>
        <p:spPr>
          <a:xfrm>
            <a:off x="64008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rreshta që seed-at i vendosin</a:t>
            </a:r>
            <a:endParaRPr lang="en-US" sz="1050" dirty="0"/>
          </a:p>
        </p:txBody>
      </p:sp>
      <p:sp>
        <p:nvSpPr>
          <p:cNvPr id="7" name="Text 5"/>
          <p:cNvSpPr txBox="1"/>
          <p:nvPr/>
        </p:nvSpPr>
        <p:spPr>
          <a:xfrm>
            <a:off x="370332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15.9×</a:t>
            </a:r>
            <a:endParaRPr lang="en-US" sz="1900" dirty="0"/>
          </a:p>
        </p:txBody>
      </p:sp>
      <p:sp>
        <p:nvSpPr>
          <p:cNvPr id="8" name="Text 6"/>
          <p:cNvSpPr txBox="1"/>
          <p:nvPr/>
        </p:nvSpPr>
        <p:spPr>
          <a:xfrm>
            <a:off x="370332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ndërtimi kundër rimostrimit të kontrollit; variantet e kërkimit 0.4–2.0×</a:t>
            </a:r>
            <a:endParaRPr lang="en-US" sz="1050" dirty="0"/>
          </a:p>
        </p:txBody>
      </p:sp>
      <p:sp>
        <p:nvSpPr>
          <p:cNvPr id="9" name="Text 7"/>
          <p:cNvSpPr txBox="1"/>
          <p:nvPr/>
        </p:nvSpPr>
        <p:spPr>
          <a:xfrm>
            <a:off x="64008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21,519 HV</a:t>
            </a:r>
            <a:endParaRPr lang="en-US" sz="1900" dirty="0"/>
          </a:p>
        </p:txBody>
      </p:sp>
      <p:sp>
        <p:nvSpPr>
          <p:cNvPr id="10" name="Text 8"/>
          <p:cNvSpPr txBox="1"/>
          <p:nvPr/>
        </p:nvSpPr>
        <p:spPr>
          <a:xfrm>
            <a:off x="64008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zhvendosja mes sesioneve e totalit të dhjetë instancave (p ≈ 0.05)</a:t>
            </a:r>
            <a:endParaRPr lang="en-US" sz="1050" dirty="0"/>
          </a:p>
        </p:txBody>
      </p:sp>
      <p:sp>
        <p:nvSpPr>
          <p:cNvPr id="11" name="Text 9"/>
          <p:cNvSpPr txBox="1"/>
          <p:nvPr/>
        </p:nvSpPr>
        <p:spPr>
          <a:xfrm>
            <a:off x="370332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0.23%</a:t>
            </a:r>
            <a:endParaRPr lang="en-US" sz="1900" dirty="0"/>
          </a:p>
        </p:txBody>
      </p:sp>
      <p:sp>
        <p:nvSpPr>
          <p:cNvPr id="12" name="Text 10"/>
          <p:cNvSpPr txBox="1"/>
          <p:nvPr/>
        </p:nvSpPr>
        <p:spPr>
          <a:xfrm>
            <a:off x="370332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shkalla më e lartë e pranimit e matur kudo</a:t>
            </a:r>
            <a:endParaRPr lang="en-US" sz="1050" dirty="0"/>
          </a:p>
        </p:txBody>
      </p:sp>
      <p:sp>
        <p:nvSpPr>
          <p:cNvPr id="13" name="Text 11"/>
          <p:cNvSpPr txBox="1"/>
          <p:nvPr/>
        </p:nvSpPr>
        <p:spPr>
          <a:xfrm>
            <a:off x="64008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+33,043 HV</a:t>
            </a:r>
            <a:endParaRPr lang="en-US" sz="1900" dirty="0"/>
          </a:p>
        </p:txBody>
      </p:sp>
      <p:sp>
        <p:nvSpPr>
          <p:cNvPr id="14" name="Text 12"/>
          <p:cNvSpPr txBox="1"/>
          <p:nvPr/>
        </p:nvSpPr>
        <p:spPr>
          <a:xfrm>
            <a:off x="64008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çfarë i blen kërkimit dhjetëfishi i buxhetit, kundër një epërsie ≥ 269,607</a:t>
            </a:r>
            <a:endParaRPr lang="en-US" sz="1050" dirty="0"/>
          </a:p>
        </p:txBody>
      </p:sp>
      <p:sp>
        <p:nvSpPr>
          <p:cNvPr id="15" name="Text 13"/>
          <p:cNvSpPr txBox="1"/>
          <p:nvPr/>
        </p:nvSpPr>
        <p:spPr>
          <a:xfrm>
            <a:off x="370332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0.63%</a:t>
            </a:r>
            <a:endParaRPr lang="en-US" sz="1900" dirty="0"/>
          </a:p>
        </p:txBody>
      </p:sp>
      <p:sp>
        <p:nvSpPr>
          <p:cNvPr id="16" name="Text 14"/>
          <p:cNvSpPr txBox="1"/>
          <p:nvPr/>
        </p:nvSpPr>
        <p:spPr>
          <a:xfrm>
            <a:off x="370332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rezultati më i mirë i njohur në small-graph, nën një tavan të vërtetueshëm</a:t>
            </a:r>
            <a:endParaRPr lang="en-US" sz="1050" dirty="0"/>
          </a:p>
        </p:txBody>
      </p:sp>
      <p:sp>
        <p:nvSpPr>
          <p:cNvPr id="17" name="Text 15"/>
          <p:cNvSpPr txBox="1"/>
          <p:nvPr/>
        </p:nvSpPr>
        <p:spPr>
          <a:xfrm>
            <a:off x="640080" y="5833872"/>
            <a:ext cx="6858000" cy="27432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Adrian Ymeri · adrian.ymeri@uni-pr.edu · Universiteti i Prishtinës</a:t>
            </a:r>
            <a:endParaRPr lang="en-US" sz="1300" dirty="0"/>
          </a:p>
        </p:txBody>
      </p:sp>
      <p:sp>
        <p:nvSpPr>
          <p:cNvPr id="18" name="Text 16"/>
          <p:cNvSpPr txBox="1"/>
          <p:nvPr/>
        </p:nvSpPr>
        <p:spPr>
          <a:xfrm>
            <a:off x="640080" y="6163056"/>
            <a:ext cx="6858000" cy="237744"/>
          </a:xfrm>
          <a:prstGeom prst="rect">
            <a:avLst/>
          </a:prstGeom>
          <a:noFill/>
          <a:ln/>
        </p:spPr>
        <p:txBody>
          <a:bodyPr wrap="square" lIns="0" tIns="0" rIns="0" bIns="0" rtlCol="0" anchor="t"/>
          <a:lstStyle/>
          <a:p>
            <a:pPr indent="0" marL="0">
              <a:buNone/>
            </a:pPr>
            <a:r>
              <a:rPr lang="en-US" sz="1050" dirty="0">
                <a:solidFill>
                  <a:srgbClr val="647187"/>
                </a:solidFill>
                <a:latin typeface="Calibri" pitchFamily="34" charset="0"/>
                <a:ea typeface="Calibri" pitchFamily="34" charset="-122"/>
                <a:cs typeface="Calibri" pitchFamily="34" charset="-120"/>
              </a:rPr>
              <a:t>Kodi, CSV-të e papërpunuara dhe çdo figurë në këtë kumtesë rigjenerohen nga harness-i i studimit.</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Katër mënyra si e gënjeva veten dhe si u kap secila</a:t>
            </a:r>
            <a:endParaRPr lang="en-US" sz="2700" dirty="0"/>
          </a:p>
        </p:txBody>
      </p:sp>
      <p:sp>
        <p:nvSpPr>
          <p:cNvPr id="4" name="Text 2"/>
          <p:cNvSpPr txBox="1"/>
          <p:nvPr/>
        </p:nvSpPr>
        <p:spPr>
          <a:xfrm>
            <a:off x="640080" y="1810512"/>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1</a:t>
            </a:r>
            <a:endParaRPr lang="en-US" sz="2200" dirty="0"/>
          </a:p>
        </p:txBody>
      </p:sp>
      <p:sp>
        <p:nvSpPr>
          <p:cNvPr id="5" name="Text 3"/>
          <p:cNvSpPr txBox="1"/>
          <p:nvPr/>
        </p:nvSpPr>
        <p:spPr>
          <a:xfrm>
            <a:off x="1097280" y="1837944"/>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sondë që e zbuloi përgjigjen</a:t>
            </a:r>
            <a:endParaRPr lang="en-US" sz="1400" dirty="0"/>
          </a:p>
        </p:txBody>
      </p:sp>
      <p:sp>
        <p:nvSpPr>
          <p:cNvPr id="6" name="Text 4"/>
          <p:cNvSpPr txBox="1"/>
          <p:nvPr/>
        </p:nvSpPr>
        <p:spPr>
          <a:xfrm>
            <a:off x="3794760" y="1810512"/>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hill_climbing.py i zgjidhte gjerësitë e synuara me një sondë min-degree pavarësisht nisjes së kërkuar, prandaj --start random merrte fshehtas një zgjidhje min-degree: 1,607,522 HV në medium-graph për një ekzekutim pa asnjë lëvizje të pranuar.</a:t>
            </a:r>
            <a:endParaRPr lang="en-US" sz="1150" dirty="0"/>
          </a:p>
        </p:txBody>
      </p:sp>
      <p:sp>
        <p:nvSpPr>
          <p:cNvPr id="7" name="Text 5"/>
          <p:cNvSpPr txBox="1"/>
          <p:nvPr/>
        </p:nvSpPr>
        <p:spPr>
          <a:xfrm>
            <a:off x="8641080" y="1810512"/>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duke pyetur pse një ekzekutim pa asnjë lëvizje të pranuar kishte rezultat fare.</a:t>
            </a:r>
            <a:endParaRPr lang="en-US" sz="1150" dirty="0"/>
          </a:p>
        </p:txBody>
      </p:sp>
      <p:sp>
        <p:nvSpPr>
          <p:cNvPr id="8" name="Shape 6"/>
          <p:cNvSpPr/>
          <p:nvPr/>
        </p:nvSpPr>
        <p:spPr>
          <a:xfrm>
            <a:off x="640080" y="2651760"/>
            <a:ext cx="10911535" cy="0"/>
          </a:xfrm>
          <a:prstGeom prst="line">
            <a:avLst/>
          </a:prstGeom>
          <a:noFill/>
          <a:ln w="6350">
            <a:solidFill>
              <a:srgbClr val="2A3546"/>
            </a:solidFill>
            <a:prstDash val="solid"/>
          </a:ln>
        </p:spPr>
      </p:sp>
      <p:sp>
        <p:nvSpPr>
          <p:cNvPr id="9" name="Text 7"/>
          <p:cNvSpPr txBox="1"/>
          <p:nvPr/>
        </p:nvSpPr>
        <p:spPr>
          <a:xfrm>
            <a:off x="640080" y="2743200"/>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2</a:t>
            </a:r>
            <a:endParaRPr lang="en-US" sz="2200" dirty="0"/>
          </a:p>
        </p:txBody>
      </p:sp>
      <p:sp>
        <p:nvSpPr>
          <p:cNvPr id="10" name="Text 8"/>
          <p:cNvSpPr txBox="1"/>
          <p:nvPr/>
        </p:nvSpPr>
        <p:spPr>
          <a:xfrm>
            <a:off x="1097280" y="2770632"/>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verifikim që ishte vetë i gabuar</a:t>
            </a:r>
            <a:endParaRPr lang="en-US" sz="1400" dirty="0"/>
          </a:p>
        </p:txBody>
      </p:sp>
      <p:sp>
        <p:nvSpPr>
          <p:cNvPr id="11" name="Text 9"/>
          <p:cNvSpPr txBox="1"/>
          <p:nvPr/>
        </p:nvSpPr>
        <p:spPr>
          <a:xfrm>
            <a:off x="3794760" y="2743200"/>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Riekzekutimi i një ekzekutimi për ta konfirmuar nuk përputhej në 29 nga 30 rreshta. Ngjitja ndalon sipas kohës së kaluar, prandaj një ekzekutim mund të rimostrohet, por nuk mund të riprodhohet kurrë.</a:t>
            </a:r>
            <a:endParaRPr lang="en-US" sz="1150" dirty="0"/>
          </a:p>
        </p:txBody>
      </p:sp>
      <p:sp>
        <p:nvSpPr>
          <p:cNvPr id="12" name="Text 10"/>
          <p:cNvSpPr txBox="1"/>
          <p:nvPr/>
        </p:nvSpPr>
        <p:spPr>
          <a:xfrm>
            <a:off x="8641080" y="2743200"/>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Verifikimi ishte i gabuar, jo harness-i, dhe aksidenti prodhoi dy kontrolle të pavarura.</a:t>
            </a:r>
            <a:endParaRPr lang="en-US" sz="1150" dirty="0"/>
          </a:p>
        </p:txBody>
      </p:sp>
      <p:sp>
        <p:nvSpPr>
          <p:cNvPr id="13" name="Shape 11"/>
          <p:cNvSpPr/>
          <p:nvPr/>
        </p:nvSpPr>
        <p:spPr>
          <a:xfrm>
            <a:off x="640080" y="3584448"/>
            <a:ext cx="10911535" cy="0"/>
          </a:xfrm>
          <a:prstGeom prst="line">
            <a:avLst/>
          </a:prstGeom>
          <a:noFill/>
          <a:ln w="6350">
            <a:solidFill>
              <a:srgbClr val="2A3546"/>
            </a:solidFill>
            <a:prstDash val="solid"/>
          </a:ln>
        </p:spPr>
      </p:sp>
      <p:sp>
        <p:nvSpPr>
          <p:cNvPr id="14" name="Text 12"/>
          <p:cNvSpPr txBox="1"/>
          <p:nvPr/>
        </p:nvSpPr>
        <p:spPr>
          <a:xfrm>
            <a:off x="640080" y="3675888"/>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3</a:t>
            </a:r>
            <a:endParaRPr lang="en-US" sz="2200" dirty="0"/>
          </a:p>
        </p:txBody>
      </p:sp>
      <p:sp>
        <p:nvSpPr>
          <p:cNvPr id="15" name="Text 13"/>
          <p:cNvSpPr txBox="1"/>
          <p:nvPr/>
        </p:nvSpPr>
        <p:spPr>
          <a:xfrm>
            <a:off x="1097280" y="3703320"/>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tejmbushje 32-bitëshe në kernelin e dikujt tjetër</a:t>
            </a:r>
            <a:endParaRPr lang="en-US" sz="1400" dirty="0"/>
          </a:p>
        </p:txBody>
      </p:sp>
      <p:sp>
        <p:nvSpPr>
          <p:cNvPr id="16" name="Text 14"/>
          <p:cNvSpPr txBox="1"/>
          <p:nvPr/>
        </p:nvSpPr>
        <p:spPr>
          <a:xfrm>
            <a:off x="3794760" y="3675888"/>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Vlerësuesi CUDA i përfshirë indeksonte një varg B×N×N me një zhvendosje int, që mbështillet pas 2³¹ në n = 2,426, fija 365 nga 1,024.</a:t>
            </a:r>
            <a:endParaRPr lang="en-US" sz="1150" dirty="0"/>
          </a:p>
        </p:txBody>
      </p:sp>
      <p:sp>
        <p:nvSpPr>
          <p:cNvPr id="17" name="Text 15"/>
          <p:cNvSpPr txBox="1"/>
          <p:nvPr/>
        </p:nvSpPr>
        <p:spPr>
          <a:xfrm>
            <a:off x="8641080" y="3675888"/>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sepse ekzekutimet mbaronin në dhjetë sekonda në vend të njëzet minutave; një ndryshim tipi e rregulloi.</a:t>
            </a:r>
            <a:endParaRPr lang="en-US" sz="1150" dirty="0"/>
          </a:p>
        </p:txBody>
      </p:sp>
      <p:sp>
        <p:nvSpPr>
          <p:cNvPr id="18" name="Shape 16"/>
          <p:cNvSpPr/>
          <p:nvPr/>
        </p:nvSpPr>
        <p:spPr>
          <a:xfrm>
            <a:off x="640080" y="4517136"/>
            <a:ext cx="10911535" cy="0"/>
          </a:xfrm>
          <a:prstGeom prst="line">
            <a:avLst/>
          </a:prstGeom>
          <a:noFill/>
          <a:ln w="6350">
            <a:solidFill>
              <a:srgbClr val="2A3546"/>
            </a:solidFill>
            <a:prstDash val="solid"/>
          </a:ln>
        </p:spPr>
      </p:sp>
      <p:sp>
        <p:nvSpPr>
          <p:cNvPr id="19" name="Text 17"/>
          <p:cNvSpPr txBox="1"/>
          <p:nvPr/>
        </p:nvSpPr>
        <p:spPr>
          <a:xfrm>
            <a:off x="640080" y="4608576"/>
            <a:ext cx="411480" cy="457200"/>
          </a:xfrm>
          <a:prstGeom prst="rect">
            <a:avLst/>
          </a:prstGeom>
          <a:noFill/>
          <a:ln/>
        </p:spPr>
        <p:txBody>
          <a:bodyPr wrap="square" lIns="0" tIns="0" rIns="0" bIns="0" rtlCol="0" anchor="t"/>
          <a:lstStyle/>
          <a:p>
            <a:pPr indent="0" marL="0">
              <a:buNone/>
            </a:pPr>
            <a:r>
              <a:rPr lang="en-US" sz="2200" dirty="0">
                <a:solidFill>
                  <a:srgbClr val="F2C14E"/>
                </a:solidFill>
                <a:latin typeface="Century Schoolbook" pitchFamily="34" charset="0"/>
                <a:ea typeface="Century Schoolbook" pitchFamily="34" charset="-122"/>
                <a:cs typeface="Century Schoolbook" pitchFamily="34" charset="-120"/>
              </a:rPr>
              <a:t>4</a:t>
            </a:r>
            <a:endParaRPr lang="en-US" sz="2200" dirty="0"/>
          </a:p>
        </p:txBody>
      </p:sp>
      <p:sp>
        <p:nvSpPr>
          <p:cNvPr id="20" name="Text 18"/>
          <p:cNvSpPr txBox="1"/>
          <p:nvPr/>
        </p:nvSpPr>
        <p:spPr>
          <a:xfrm>
            <a:off x="1097280" y="4636008"/>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prag i huazuar nga një metodë</a:t>
            </a:r>
            <a:endParaRPr lang="en-US" sz="1400" dirty="0"/>
          </a:p>
        </p:txBody>
      </p:sp>
      <p:sp>
        <p:nvSpPr>
          <p:cNvPr id="21" name="Text 19"/>
          <p:cNvSpPr txBox="1"/>
          <p:nvPr/>
        </p:nvSpPr>
        <p:spPr>
          <a:xfrm>
            <a:off x="3794760" y="4608576"/>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Një prag prej 7,881 HV, i marrë nga instanca më e keqe e Hill Climbing, gjykoi rreshtat e çdo metode, ndërsa seed-at e vetë Team HRI në medium-graph shpërndahen 80,376 HV.</a:t>
            </a:r>
            <a:endParaRPr lang="en-US" sz="1150" dirty="0"/>
          </a:p>
        </p:txBody>
      </p:sp>
      <p:sp>
        <p:nvSpPr>
          <p:cNvPr id="22" name="Text 20"/>
          <p:cNvSpPr txBox="1"/>
          <p:nvPr/>
        </p:nvSpPr>
        <p:spPr>
          <a:xfrm>
            <a:off x="8641080" y="4608576"/>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duke lexuar seed-at në vend të më të mirit nga tre: ndryshuan katër nga dhjetë vendime.</a:t>
            </a:r>
            <a:endParaRPr lang="en-US" sz="1150" dirty="0"/>
          </a:p>
        </p:txBody>
      </p:sp>
      <p:sp>
        <p:nvSpPr>
          <p:cNvPr id="23" name="Text 21"/>
          <p:cNvSpPr txBox="1"/>
          <p:nvPr/>
        </p:nvSpPr>
        <p:spPr>
          <a:xfrm>
            <a:off x="640080" y="5650992"/>
            <a:ext cx="10911535" cy="502920"/>
          </a:xfrm>
          <a:prstGeom prst="rect">
            <a:avLst/>
          </a:prstGeom>
          <a:noFill/>
          <a:ln/>
        </p:spPr>
        <p:txBody>
          <a:bodyPr wrap="square" lIns="0" tIns="0" rIns="0" bIns="0" rtlCol="0" anchor="t"/>
          <a:lstStyle/>
          <a:p>
            <a:pPr indent="0" marL="0">
              <a:buNone/>
            </a:pPr>
            <a:r>
              <a:rPr lang="en-US" sz="1550" i="1" dirty="0">
                <a:solidFill>
                  <a:srgbClr val="E8ECF2"/>
                </a:solidFill>
                <a:latin typeface="Century Schoolbook" pitchFamily="34" charset="0"/>
                <a:ea typeface="Century Schoolbook" pitchFamily="34" charset="-122"/>
                <a:cs typeface="Century Schoolbook" pitchFamily="34" charset="-120"/>
              </a:rPr>
              <a:t>Asnjë nuk u kap nga një grup testesh. Secili u kap nga një numër që kishte formën e gabuar për historinë e vet.</a:t>
            </a:r>
            <a:endParaRPr lang="en-US" sz="15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Protokolli dhe çfarë nuk kontrollon</a:t>
            </a:r>
            <a:endParaRPr lang="en-US" sz="2700" dirty="0"/>
          </a:p>
        </p:txBody>
      </p:sp>
      <p:sp>
        <p:nvSpPr>
          <p:cNvPr id="4" name="Text 2"/>
          <p:cNvSpPr txBox="1"/>
          <p:nvPr/>
        </p:nvSpPr>
        <p:spPr>
          <a:xfrm>
            <a:off x="640080" y="1810512"/>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Buxheti</a:t>
            </a:r>
            <a:endParaRPr lang="en-US" sz="1400" dirty="0"/>
          </a:p>
        </p:txBody>
      </p:sp>
      <p:sp>
        <p:nvSpPr>
          <p:cNvPr id="5" name="Text 3"/>
          <p:cNvSpPr txBox="1"/>
          <p:nvPr/>
        </p:nvSpPr>
        <p:spPr>
          <a:xfrm>
            <a:off x="2834640" y="181051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1,200 s kohë reale për ekzekutim, tre seed-a, dhjetë instanca. Katër ekzekutime ranë jashtë 1,150–1,400 s pas ngecjeve të makinës; asnjë prej tyre nuk e jep vlerën më të mirë nga tre.</a:t>
            </a:r>
            <a:endParaRPr lang="en-US" sz="1300" dirty="0"/>
          </a:p>
        </p:txBody>
      </p:sp>
      <p:sp>
        <p:nvSpPr>
          <p:cNvPr id="6" name="Shape 4"/>
          <p:cNvSpPr/>
          <p:nvPr/>
        </p:nvSpPr>
        <p:spPr>
          <a:xfrm>
            <a:off x="640080" y="2432304"/>
            <a:ext cx="10911535" cy="0"/>
          </a:xfrm>
          <a:prstGeom prst="line">
            <a:avLst/>
          </a:prstGeom>
          <a:noFill/>
          <a:ln w="6350">
            <a:solidFill>
              <a:srgbClr val="2A3546"/>
            </a:solidFill>
            <a:prstDash val="solid"/>
          </a:ln>
        </p:spPr>
      </p:sp>
      <p:sp>
        <p:nvSpPr>
          <p:cNvPr id="7" name="Text 5"/>
          <p:cNvSpPr txBox="1"/>
          <p:nvPr/>
        </p:nvSpPr>
        <p:spPr>
          <a:xfrm>
            <a:off x="640080" y="2523744"/>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Hardueri</a:t>
            </a:r>
            <a:endParaRPr lang="en-US" sz="1400" dirty="0"/>
          </a:p>
        </p:txBody>
      </p:sp>
      <p:sp>
        <p:nvSpPr>
          <p:cNvPr id="8" name="Text 6"/>
          <p:cNvSpPr txBox="1"/>
          <p:nvPr/>
        </p:nvSpPr>
        <p:spPr>
          <a:xfrm>
            <a:off x="2834640" y="2523744"/>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Team HRI dhe Hill Climbing në një bërthamë CPU të fiksuar secili. Spacekangaroos me kodin e vet CUDA në një Kaggle T4, batch 1,024 (512 në n = 2,426).</a:t>
            </a:r>
            <a:endParaRPr lang="en-US" sz="1300" dirty="0"/>
          </a:p>
        </p:txBody>
      </p:sp>
      <p:sp>
        <p:nvSpPr>
          <p:cNvPr id="9" name="Shape 7"/>
          <p:cNvSpPr/>
          <p:nvPr/>
        </p:nvSpPr>
        <p:spPr>
          <a:xfrm>
            <a:off x="640080" y="3145536"/>
            <a:ext cx="10911535" cy="0"/>
          </a:xfrm>
          <a:prstGeom prst="line">
            <a:avLst/>
          </a:prstGeom>
          <a:noFill/>
          <a:ln w="6350">
            <a:solidFill>
              <a:srgbClr val="2A3546"/>
            </a:solidFill>
            <a:prstDash val="solid"/>
          </a:ln>
        </p:spPr>
      </p:sp>
      <p:sp>
        <p:nvSpPr>
          <p:cNvPr id="10" name="Text 8"/>
          <p:cNvSpPr txBox="1"/>
          <p:nvPr/>
        </p:nvSpPr>
        <p:spPr>
          <a:xfrm>
            <a:off x="640080" y="3236976"/>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Implementimet</a:t>
            </a:r>
            <a:endParaRPr lang="en-US" sz="1400" dirty="0"/>
          </a:p>
        </p:txBody>
      </p:sp>
      <p:sp>
        <p:nvSpPr>
          <p:cNvPr id="11" name="Text 9"/>
          <p:cNvSpPr txBox="1"/>
          <p:nvPr/>
        </p:nvSpPr>
        <p:spPr>
          <a:xfrm>
            <a:off x="2834640" y="3236976"/>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i porturar nga qasja fast-cma-es; Team HRI i riimplementuar nga punimi, sepse kodi nuk u publikua; Spacekangaroos i ekzekutuar siç u publikua, plus një rregullim i tejmbushjes 32-bitëshe.</a:t>
            </a:r>
            <a:endParaRPr lang="en-US" sz="1300" dirty="0"/>
          </a:p>
        </p:txBody>
      </p:sp>
      <p:sp>
        <p:nvSpPr>
          <p:cNvPr id="12" name="Shape 10"/>
          <p:cNvSpPr/>
          <p:nvPr/>
        </p:nvSpPr>
        <p:spPr>
          <a:xfrm>
            <a:off x="640080" y="3858768"/>
            <a:ext cx="10911535" cy="0"/>
          </a:xfrm>
          <a:prstGeom prst="line">
            <a:avLst/>
          </a:prstGeom>
          <a:noFill/>
          <a:ln w="6350">
            <a:solidFill>
              <a:srgbClr val="2A3546"/>
            </a:solidFill>
            <a:prstDash val="solid"/>
          </a:ln>
        </p:spPr>
      </p:sp>
      <p:sp>
        <p:nvSpPr>
          <p:cNvPr id="13" name="Text 11"/>
          <p:cNvSpPr txBox="1"/>
          <p:nvPr/>
        </p:nvSpPr>
        <p:spPr>
          <a:xfrm>
            <a:off x="640080" y="3950208"/>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Nisjet</a:t>
            </a:r>
            <a:endParaRPr lang="en-US" sz="1400" dirty="0"/>
          </a:p>
        </p:txBody>
      </p:sp>
      <p:sp>
        <p:nvSpPr>
          <p:cNvPr id="14" name="Text 12"/>
          <p:cNvSpPr txBox="1"/>
          <p:nvPr/>
        </p:nvSpPr>
        <p:spPr>
          <a:xfrm>
            <a:off x="2834640" y="3950208"/>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Të dy zgjidhësit në hapësirën e permutacioneve nisen nga i njëjti ndërtim min-degree, i llogaritur nga e para në çdo ekzekutim.</a:t>
            </a:r>
            <a:endParaRPr lang="en-US" sz="1300" dirty="0"/>
          </a:p>
        </p:txBody>
      </p:sp>
      <p:sp>
        <p:nvSpPr>
          <p:cNvPr id="15" name="Shape 13"/>
          <p:cNvSpPr/>
          <p:nvPr/>
        </p:nvSpPr>
        <p:spPr>
          <a:xfrm>
            <a:off x="640080" y="4572000"/>
            <a:ext cx="10911535" cy="0"/>
          </a:xfrm>
          <a:prstGeom prst="line">
            <a:avLst/>
          </a:prstGeom>
          <a:noFill/>
          <a:ln w="6350">
            <a:solidFill>
              <a:srgbClr val="2A3546"/>
            </a:solidFill>
            <a:prstDash val="solid"/>
          </a:ln>
        </p:spPr>
      </p:sp>
      <p:sp>
        <p:nvSpPr>
          <p:cNvPr id="16" name="Text 14"/>
          <p:cNvSpPr txBox="1"/>
          <p:nvPr/>
        </p:nvSpPr>
        <p:spPr>
          <a:xfrm>
            <a:off x="640080" y="4663440"/>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Vlerësimi</a:t>
            </a:r>
            <a:endParaRPr lang="en-US" sz="1400" dirty="0"/>
          </a:p>
        </p:txBody>
      </p:sp>
      <p:sp>
        <p:nvSpPr>
          <p:cNvPr id="17" name="Text 15"/>
          <p:cNvSpPr txBox="1"/>
          <p:nvPr/>
        </p:nvSpPr>
        <p:spPr>
          <a:xfrm>
            <a:off x="2834640" y="4663440"/>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Çdo përgjigje rivlerësohet nga një vlerësues që llogarit atë që llogarit kodi i publikuar i ESA-s; i yni e hedh një dorëzim që ka një vektor mbi kufi, të cilin ESA do ta vlerësonte me gjerësi 501.</a:t>
            </a:r>
            <a:endParaRPr lang="en-US" sz="1300" dirty="0"/>
          </a:p>
        </p:txBody>
      </p:sp>
      <p:sp>
        <p:nvSpPr>
          <p:cNvPr id="18" name="Shape 16"/>
          <p:cNvSpPr/>
          <p:nvPr/>
        </p:nvSpPr>
        <p:spPr>
          <a:xfrm>
            <a:off x="640080" y="5285232"/>
            <a:ext cx="10911535" cy="0"/>
          </a:xfrm>
          <a:prstGeom prst="line">
            <a:avLst/>
          </a:prstGeom>
          <a:noFill/>
          <a:ln w="6350">
            <a:solidFill>
              <a:srgbClr val="2A3546"/>
            </a:solidFill>
            <a:prstDash val="solid"/>
          </a:ln>
        </p:spPr>
      </p:sp>
      <p:sp>
        <p:nvSpPr>
          <p:cNvPr id="19" name="Text 17"/>
          <p:cNvSpPr txBox="1"/>
          <p:nvPr/>
        </p:nvSpPr>
        <p:spPr>
          <a:xfrm>
            <a:off x="640080" y="5376672"/>
            <a:ext cx="2011680" cy="548640"/>
          </a:xfrm>
          <a:prstGeom prst="rect">
            <a:avLst/>
          </a:prstGeom>
          <a:noFill/>
          <a:ln/>
        </p:spPr>
        <p:txBody>
          <a:bodyPr wrap="square" lIns="0" tIns="0" rIns="0" bIns="0" rtlCol="0" anchor="t"/>
          <a:lstStyle/>
          <a:p>
            <a:pPr indent="0" marL="0">
              <a:buNone/>
            </a:pPr>
            <a:r>
              <a:rPr lang="en-US" sz="1400" b="1" dirty="0">
                <a:solidFill>
                  <a:srgbClr val="F2C14E"/>
                </a:solidFill>
                <a:latin typeface="Calibri" pitchFamily="34" charset="0"/>
                <a:ea typeface="Calibri" pitchFamily="34" charset="-122"/>
                <a:cs typeface="Calibri" pitchFamily="34" charset="-120"/>
              </a:rPr>
              <a:t>E pakontrolluar</a:t>
            </a:r>
            <a:endParaRPr lang="en-US" sz="1400" dirty="0"/>
          </a:p>
        </p:txBody>
      </p:sp>
      <p:sp>
        <p:nvSpPr>
          <p:cNvPr id="20" name="Text 18"/>
          <p:cNvSpPr txBox="1"/>
          <p:nvPr/>
        </p:nvSpPr>
        <p:spPr>
          <a:xfrm>
            <a:off x="2834640" y="537667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Më i miri nga tre favorizon metodat e zhurmshme, prandaj vendimet sipas seed-ave. Tre seed-a për qelizë. Familja e dendur përbëhet nga tri variante të një grafi.</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Çdo seed pas tabelës</a:t>
            </a:r>
            <a:endParaRPr lang="en-US" sz="2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325880"/>
                <a:gridCol w="722376"/>
                <a:gridCol w="722376"/>
                <a:gridCol w="722376"/>
                <a:gridCol w="722376"/>
                <a:gridCol w="722376"/>
                <a:gridCol w="722376"/>
                <a:gridCol w="722376"/>
                <a:gridCol w="722376"/>
                <a:gridCol w="722376"/>
                <a:gridCol w="722376"/>
                <a:gridCol w="722376"/>
                <a:gridCol w="722376"/>
                <a:gridCol w="914400"/>
              </a:tblGrid>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fcmaes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Team HRI</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Spacekangaroos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Hill Climbing</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min-degree ×8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950" dirty="0">
                          <a:solidFill>
                            <a:srgbClr val="64718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small-graph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1,808.0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1,803.8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1,802.8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medium-graph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1,659.2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1,663.1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1,658.2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1,674.3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1,682.4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1,547.0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1,615.2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1,612.5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1,606.4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1,588.4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1,470.1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1,484.0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1,482.6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1,550.8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1,578.8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1,582.9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1,473.4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large-graph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5,329.4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5,290.1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4,829.5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4,836.8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4,834.2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4,800.4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5,167.2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5,056.0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5,031.7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4,797.9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4,930.1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4,921.6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5,203.6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647187"/>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050" i="1" dirty="0">
                <a:solidFill>
                  <a:srgbClr val="647187"/>
                </a:solidFill>
                <a:latin typeface="Calibri" pitchFamily="34" charset="0"/>
                <a:ea typeface="Calibri" pitchFamily="34" charset="-122"/>
                <a:cs typeface="Calibri" pitchFamily="34" charset="-120"/>
              </a:rPr>
              <a:t>Hipervolum ×1,000, çdo ekzekutim. Me të trasha: vlera më e mirë nga 3 që shfaqet në tabelë. — asnjë pikë e lejuar. Burimi: harness/benchmark-*.csv.</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Në instancat e rralla problemi është njëpërmasor</a:t>
            </a:r>
            <a:endParaRPr lang="en-US" sz="2700" dirty="0"/>
          </a:p>
        </p:txBody>
      </p:sp>
      <p:sp>
        <p:nvSpPr>
          <p:cNvPr id="4" name="Text 2"/>
          <p:cNvSpPr txBox="1"/>
          <p:nvPr/>
        </p:nvSpPr>
        <p:spPr>
          <a:xfrm>
            <a:off x="640080" y="18105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Një pikë në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mbulon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w</a:t>
            </a:r>
            <a:pPr indent="0" marL="0">
              <a:buNone/>
            </a:pPr>
            <a:r>
              <a:rPr lang="en-US" sz="1400" dirty="0">
                <a:solidFill>
                  <a:srgbClr val="E8ECF2"/>
                </a:solidFill>
                <a:latin typeface="Calibri" pitchFamily="34" charset="0"/>
                <a:ea typeface="Calibri" pitchFamily="34" charset="-122"/>
                <a:cs typeface="Calibri" pitchFamily="34" charset="-120"/>
              </a:rPr>
              <a:t>)·</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nga katrori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Në small-graph pika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e ndërtimit, me gjerësi 20, mbart 99.99% të rezultatit të tij; në medium-graph, me gjerësi 277, mbart 97.7%.</a:t>
            </a:r>
            <a:endParaRPr lang="en-US" sz="1400" dirty="0"/>
          </a:p>
        </p:txBody>
      </p:sp>
      <p:sp>
        <p:nvSpPr>
          <p:cNvPr id="5" name="Text 3"/>
          <p:cNvSpPr txBox="1"/>
          <p:nvPr/>
        </p:nvSpPr>
        <p:spPr>
          <a:xfrm>
            <a:off x="640080" y="31821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Në large-graph asnjë pikë e vetme nuk mund të kalojë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− 499)·</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79.4% të katrorit, ndërsa më i miri i njohur arrin 93.3%: vetëm në familjen e dendur shkallarja e meriton vendin e vet.</a:t>
            </a:r>
            <a:endParaRPr lang="en-US" sz="1400" dirty="0"/>
          </a:p>
        </p:txBody>
      </p:sp>
      <p:sp>
        <p:nvSpPr>
          <p:cNvPr id="6" name="Text 4"/>
          <p:cNvSpPr txBox="1"/>
          <p:nvPr/>
        </p:nvSpPr>
        <p:spPr>
          <a:xfrm>
            <a:off x="640080" y="4553712"/>
            <a:ext cx="5852160" cy="128016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Dhe problemi është i vështirë dy herë: zgjidh cilat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kulme të hiqen (rreth 10⁴⁰³ nënbashkësi për </a:t>
            </a:r>
            <a:pPr indent="0" marL="0">
              <a:buNone/>
            </a:pPr>
            <a:r>
              <a:rPr lang="en-US" sz="1400" i="1" dirty="0">
                <a:solidFill>
                  <a:srgbClr val="9AA6B6"/>
                </a:solidFill>
                <a:latin typeface="Calibri" pitchFamily="34" charset="0"/>
                <a:ea typeface="Calibri" pitchFamily="34" charset="-122"/>
                <a:cs typeface="Calibri" pitchFamily="34" charset="-120"/>
              </a:rPr>
              <a:t>n</a:t>
            </a:r>
            <a:pPr indent="0" marL="0">
              <a:buNone/>
            </a:pPr>
            <a:r>
              <a:rPr lang="en-US" sz="1400" dirty="0">
                <a:solidFill>
                  <a:srgbClr val="9AA6B6"/>
                </a:solidFill>
                <a:latin typeface="Calibri" pitchFamily="34" charset="0"/>
                <a:ea typeface="Calibri" pitchFamily="34" charset="-122"/>
                <a:cs typeface="Calibri" pitchFamily="34" charset="-120"/>
              </a:rPr>
              <a:t> = 1,357,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 600), pastaj minimizo gjerësinë e asaj që mbetet, që është vetë gjerësia e pemës, NP-e vështirë (Arnborg, Corneil dhe Proskurowski, 1987).</a:t>
            </a:r>
            <a:endParaRPr lang="en-US" sz="1400" dirty="0"/>
          </a:p>
        </p:txBody>
      </p:sp>
      <p:sp>
        <p:nvSpPr>
          <p:cNvPr id="7" name="Shape 5"/>
          <p:cNvSpPr/>
          <p:nvPr/>
        </p:nvSpPr>
        <p:spPr>
          <a:xfrm>
            <a:off x="6949440" y="2148840"/>
            <a:ext cx="2194560" cy="2194560"/>
          </a:xfrm>
          <a:prstGeom prst="rect">
            <a:avLst/>
          </a:prstGeom>
          <a:ln w="12700">
            <a:solidFill>
              <a:srgbClr val="9AA6B6"/>
            </a:solidFill>
            <a:prstDash val="solid"/>
          </a:ln>
        </p:spPr>
      </p:sp>
      <p:sp>
        <p:nvSpPr>
          <p:cNvPr id="8" name="Shape 6"/>
          <p:cNvSpPr/>
          <p:nvPr/>
        </p:nvSpPr>
        <p:spPr>
          <a:xfrm>
            <a:off x="6981784" y="2148840"/>
            <a:ext cx="2162216" cy="2194560"/>
          </a:xfrm>
          <a:prstGeom prst="rect">
            <a:avLst/>
          </a:prstGeom>
          <a:solidFill>
            <a:srgbClr val="3DDC97">
              <a:alpha val="30000"/>
            </a:srgbClr>
          </a:solidFill>
          <a:ln/>
        </p:spPr>
      </p:sp>
      <p:sp>
        <p:nvSpPr>
          <p:cNvPr id="9" name="Text 7"/>
          <p:cNvSpPr txBox="1"/>
          <p:nvPr/>
        </p:nvSpPr>
        <p:spPr>
          <a:xfrm>
            <a:off x="694944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small-graph</a:t>
            </a:r>
            <a:endParaRPr lang="en-US" sz="1300" dirty="0"/>
          </a:p>
        </p:txBody>
      </p:sp>
      <p:sp>
        <p:nvSpPr>
          <p:cNvPr id="10" name="Text 8"/>
          <p:cNvSpPr txBox="1"/>
          <p:nvPr/>
        </p:nvSpPr>
        <p:spPr>
          <a:xfrm>
            <a:off x="694944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98.5%</a:t>
            </a:r>
            <a:endParaRPr lang="en-US" sz="2400" dirty="0"/>
          </a:p>
        </p:txBody>
      </p:sp>
      <p:sp>
        <p:nvSpPr>
          <p:cNvPr id="11" name="Text 9"/>
          <p:cNvSpPr txBox="1"/>
          <p:nvPr/>
        </p:nvSpPr>
        <p:spPr>
          <a:xfrm>
            <a:off x="685800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20 nga n = 1,357 · 99.99% e rezultatit</a:t>
            </a:r>
            <a:endParaRPr lang="en-US" sz="1050" dirty="0"/>
          </a:p>
        </p:txBody>
      </p:sp>
      <p:sp>
        <p:nvSpPr>
          <p:cNvPr id="12" name="Shape 10"/>
          <p:cNvSpPr/>
          <p:nvPr/>
        </p:nvSpPr>
        <p:spPr>
          <a:xfrm>
            <a:off x="9372600" y="2148840"/>
            <a:ext cx="2194560" cy="2194560"/>
          </a:xfrm>
          <a:prstGeom prst="rect">
            <a:avLst/>
          </a:prstGeom>
          <a:ln w="12700">
            <a:solidFill>
              <a:srgbClr val="9AA6B6"/>
            </a:solidFill>
            <a:prstDash val="solid"/>
          </a:ln>
        </p:spPr>
      </p:sp>
      <p:sp>
        <p:nvSpPr>
          <p:cNvPr id="13" name="Shape 11"/>
          <p:cNvSpPr/>
          <p:nvPr/>
        </p:nvSpPr>
        <p:spPr>
          <a:xfrm>
            <a:off x="9823995" y="2148840"/>
            <a:ext cx="1743165" cy="2194560"/>
          </a:xfrm>
          <a:prstGeom prst="rect">
            <a:avLst/>
          </a:prstGeom>
          <a:solidFill>
            <a:srgbClr val="3DDC97">
              <a:alpha val="30000"/>
            </a:srgbClr>
          </a:solidFill>
          <a:ln/>
        </p:spPr>
      </p:sp>
      <p:sp>
        <p:nvSpPr>
          <p:cNvPr id="14" name="Text 12"/>
          <p:cNvSpPr txBox="1"/>
          <p:nvPr/>
        </p:nvSpPr>
        <p:spPr>
          <a:xfrm>
            <a:off x="937260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large-graph</a:t>
            </a:r>
            <a:endParaRPr lang="en-US" sz="1300" dirty="0"/>
          </a:p>
        </p:txBody>
      </p:sp>
      <p:sp>
        <p:nvSpPr>
          <p:cNvPr id="15" name="Text 13"/>
          <p:cNvSpPr txBox="1"/>
          <p:nvPr/>
        </p:nvSpPr>
        <p:spPr>
          <a:xfrm>
            <a:off x="937260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79.4%</a:t>
            </a:r>
            <a:endParaRPr lang="en-US" sz="2400" dirty="0"/>
          </a:p>
        </p:txBody>
      </p:sp>
      <p:sp>
        <p:nvSpPr>
          <p:cNvPr id="16" name="Text 14"/>
          <p:cNvSpPr txBox="1"/>
          <p:nvPr/>
        </p:nvSpPr>
        <p:spPr>
          <a:xfrm>
            <a:off x="928116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499 nga n = 2,426 · më i miri 93.3%</a:t>
            </a:r>
            <a:endParaRPr lang="en-US" sz="1050" dirty="0"/>
          </a:p>
        </p:txBody>
      </p:sp>
      <p:sp>
        <p:nvSpPr>
          <p:cNvPr id="17" name="Shape 15"/>
          <p:cNvSpPr/>
          <p:nvPr/>
        </p:nvSpPr>
        <p:spPr>
          <a:xfrm>
            <a:off x="6949440" y="5257800"/>
            <a:ext cx="228600" cy="128016"/>
          </a:xfrm>
          <a:prstGeom prst="rect">
            <a:avLst/>
          </a:prstGeom>
          <a:solidFill>
            <a:srgbClr val="3DDC97">
              <a:alpha val="30000"/>
            </a:srgbClr>
          </a:solidFill>
          <a:ln/>
        </p:spPr>
      </p:sp>
      <p:sp>
        <p:nvSpPr>
          <p:cNvPr id="18" name="Text 16"/>
          <p:cNvSpPr txBox="1"/>
          <p:nvPr/>
        </p:nvSpPr>
        <p:spPr>
          <a:xfrm>
            <a:off x="7251192" y="5202936"/>
            <a:ext cx="2194560" cy="2286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një pikë në t = 0</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Dy gjetje për problemin, jo për kërkimin</a:t>
            </a:r>
            <a:endParaRPr lang="en-US" sz="2700" dirty="0"/>
          </a:p>
        </p:txBody>
      </p:sp>
      <p:sp>
        <p:nvSpPr>
          <p:cNvPr id="4" name="Text 2"/>
          <p:cNvSpPr txBox="1"/>
          <p:nvPr/>
        </p:nvSpPr>
        <p:spPr>
          <a:xfrm>
            <a:off x="640080" y="1810512"/>
            <a:ext cx="5212080"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k-opt i thjeshtë nuk transferohet</a:t>
            </a:r>
            <a:endParaRPr lang="en-US" sz="1800" dirty="0"/>
          </a:p>
        </p:txBody>
      </p:sp>
      <p:sp>
        <p:nvSpPr>
          <p:cNvPr id="5" name="Text 3"/>
          <p:cNvSpPr txBox="1"/>
          <p:nvPr/>
        </p:nvSpPr>
        <p:spPr>
          <a:xfrm>
            <a:off x="640080" y="2240280"/>
            <a:ext cx="5212080" cy="182880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Në problemin e shitësit udhëtues 2-opt është i lirë sepse shkëmbimi i dy brinjëve e përditëson objektivin në kohë konstante. Këtu eliminimi i një kulmi i bashkon fqinjët e tij të mbijetuar në një klikë, prandaj një ndryshim kaskadon: një lëvizje mbi një shtrirje prej L pozicionesh kushton O(L), sado pak brinjë të shkëmbejë.</a:t>
            </a:r>
            <a:endParaRPr lang="en-US" sz="1300" dirty="0"/>
          </a:p>
        </p:txBody>
      </p:sp>
      <p:sp>
        <p:nvSpPr>
          <p:cNvPr id="6" name="Text 4"/>
          <p:cNvSpPr txBox="1"/>
          <p:nvPr/>
        </p:nvSpPr>
        <p:spPr>
          <a:xfrm>
            <a:off x="6400800" y="1810512"/>
            <a:ext cx="5150815"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Një vlerësues delta, nga një fakt strukturor</a:t>
            </a:r>
            <a:endParaRPr lang="en-US" sz="1800" dirty="0"/>
          </a:p>
        </p:txBody>
      </p:sp>
      <p:sp>
        <p:nvSpPr>
          <p:cNvPr id="7" name="Text 5"/>
          <p:cNvSpPr txBox="1"/>
          <p:nvPr/>
        </p:nvSpPr>
        <p:spPr>
          <a:xfrm>
            <a:off x="6400800" y="2240280"/>
            <a:ext cx="5150815" cy="128016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Torsoja mbi një bashkësi nuk varet nga rendi brenda bashkësisë, prandaj shkalla në një pozicion varet vetëm nga kulmi aty dhe nga bashkësia poshtë tij. Një lëvizje brenda një dritareje nuk mund të ndryshojë asgjë jashtë saj.</a:t>
            </a:r>
            <a:endParaRPr lang="en-US" sz="1300" dirty="0"/>
          </a:p>
        </p:txBody>
      </p:sp>
      <p:sp>
        <p:nvSpPr>
          <p:cNvPr id="8" name="Text 6"/>
          <p:cNvSpPr txBox="1"/>
          <p:nvPr/>
        </p:nvSpPr>
        <p:spPr>
          <a:xfrm>
            <a:off x="640080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e saktë</a:t>
            </a:r>
            <a:endParaRPr lang="en-US" sz="2600" dirty="0"/>
          </a:p>
        </p:txBody>
      </p:sp>
      <p:sp>
        <p:nvSpPr>
          <p:cNvPr id="9" name="Text 7"/>
          <p:cNvSpPr txBox="1"/>
          <p:nvPr/>
        </p:nvSpPr>
        <p:spPr>
          <a:xfrm>
            <a:off x="640080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shkallë identike në 612 vlerësime dhe 150 permutacione zinxhir</a:t>
            </a:r>
            <a:endParaRPr lang="en-US" sz="1150" dirty="0"/>
          </a:p>
        </p:txBody>
      </p:sp>
      <p:sp>
        <p:nvSpPr>
          <p:cNvPr id="10" name="Text 8"/>
          <p:cNvSpPr txBox="1"/>
          <p:nvPr/>
        </p:nvSpPr>
        <p:spPr>
          <a:xfrm>
            <a:off x="900684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1.4–7.8×</a:t>
            </a:r>
            <a:endParaRPr lang="en-US" sz="2600" dirty="0"/>
          </a:p>
        </p:txBody>
      </p:sp>
      <p:sp>
        <p:nvSpPr>
          <p:cNvPr id="11" name="Text 9"/>
          <p:cNvSpPr txBox="1"/>
          <p:nvPr/>
        </p:nvSpPr>
        <p:spPr>
          <a:xfrm>
            <a:off x="900684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më shumë kandidatë në të njëjtën kohë në small-graph, sa më e gjatë të jetë lëvizja</a:t>
            </a:r>
            <a:endParaRPr lang="en-US" sz="1150" dirty="0"/>
          </a:p>
        </p:txBody>
      </p:sp>
      <p:sp>
        <p:nvSpPr>
          <p:cNvPr id="12" name="Shape 10"/>
          <p:cNvSpPr/>
          <p:nvPr/>
        </p:nvSpPr>
        <p:spPr>
          <a:xfrm>
            <a:off x="640080" y="5074920"/>
            <a:ext cx="10911535" cy="1051560"/>
          </a:xfrm>
          <a:prstGeom prst="rect">
            <a:avLst/>
          </a:prstGeom>
          <a:solidFill>
            <a:srgbClr val="131B28"/>
          </a:solidFill>
          <a:ln/>
        </p:spPr>
      </p:sp>
      <p:sp>
        <p:nvSpPr>
          <p:cNvPr id="13" name="Text 11"/>
          <p:cNvSpPr txBox="1"/>
          <p:nvPr/>
        </p:nvSpPr>
        <p:spPr>
          <a:xfrm>
            <a:off x="914400" y="5193792"/>
            <a:ext cx="10362895" cy="868680"/>
          </a:xfrm>
          <a:prstGeom prst="rect">
            <a:avLst/>
          </a:prstGeom>
          <a:noFill/>
          <a:ln/>
        </p:spPr>
        <p:txBody>
          <a:bodyPr wrap="square" lIns="0" tIns="0" rIns="0" bIns="0" rtlCol="0" anchor="ctr"/>
          <a:lstStyle/>
          <a:p>
            <a:pPr indent="0" marL="0">
              <a:buNone/>
            </a:pPr>
            <a:r>
              <a:rPr lang="en-US" sz="1300" dirty="0">
                <a:solidFill>
                  <a:srgbClr val="E8ECF2"/>
                </a:solidFill>
                <a:latin typeface="Calibri" pitchFamily="34" charset="0"/>
                <a:ea typeface="Calibri" pitchFamily="34" charset="-122"/>
                <a:cs typeface="Calibri" pitchFamily="34" charset="-120"/>
              </a:rPr>
              <a:t>Pse lëvizjet e pranuara thuajse nuk kanë rëndësi: çdo kandidat i vlerësuar dhuron tërë shkallaren e vet në një front të përbashkët. Në synth-7 katër operatorët origjinalë nuk pranuan asgjë fare, dhe rezultatet e tyre prapë ndryshojnë me 1,841 HV.</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Krahasimi i buxheteve, i plotë</a:t>
            </a:r>
            <a:endParaRPr lang="en-US" sz="2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810512"/>
          <a:ext cx="10911535" cy="914400"/>
        </p:xfrm>
        <a:graphic>
          <a:graphicData uri="http://schemas.openxmlformats.org/drawingml/2006/table">
            <a:tbl>
              <a:tblPr/>
              <a:tblGrid>
                <a:gridCol w="2743200"/>
                <a:gridCol w="1600200"/>
                <a:gridCol w="1600200"/>
                <a:gridCol w="1600200"/>
                <a:gridCol w="1691640"/>
                <a:gridCol w="1676095"/>
              </a:tblGrid>
              <a:tr h="384048">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varianti</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3,600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fitimi mbi 10×</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pjesa e epërsisë</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84048">
                <a:tc>
                  <a:txBody>
                    <a:bodyPr/>
                    <a:lstStyle/>
                    <a:p>
                      <a:pPr indent="0" marL="0">
                        <a:buNone/>
                      </a:pPr>
                      <a:r>
                        <a:rPr lang="en-US" sz="1300" dirty="0">
                          <a:solidFill>
                            <a:srgbClr val="3DDC97"/>
                          </a:solidFill>
                          <a:latin typeface="Calibri" pitchFamily="34" charset="0"/>
                          <a:ea typeface="Calibri" pitchFamily="34" charset="-122"/>
                          <a:cs typeface="Calibri" pitchFamily="34" charset="-120"/>
                        </a:rPr>
                        <a:t>ndërtimi (GRASP)</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26,781,700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26,762,079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26,692,166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−89,534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Hill Climbing</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26,389,516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26,404,696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26,422,559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+33,043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të 17 operatorët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26,391,399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26,393,577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26,396,957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+5,558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grupi i pikës së ngushtë</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26,392,654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26,388,897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26,401,668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+9,014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3931920"/>
            <a:ext cx="10911535" cy="457200"/>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Katër variante × tre buxhete × dhjetë instanca × tre seed-a në një makinë me 64 bërthama, së shumti 60 punë njëkohësisht. Hipervolumi i dhjetë instancave, më i miri nga 3.</a:t>
            </a:r>
            <a:endParaRPr lang="en-US" sz="1300" dirty="0"/>
          </a:p>
        </p:txBody>
      </p:sp>
      <p:sp>
        <p:nvSpPr>
          <p:cNvPr id="6" name="Text 3"/>
          <p:cNvSpPr txBox="1"/>
          <p:nvPr/>
        </p:nvSpPr>
        <p:spPr>
          <a:xfrm>
            <a:off x="640080" y="4526280"/>
            <a:ext cx="10911535" cy="1188720"/>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Varianti i ndërtimit merr një mostër tjetër ndërtimesh në çdo buxhet, prandaj totali i tij lëviz me 89,534 HV, dhe me një mostër për buxhet kjo lëvizje nuk mund të lexohet si prirje. Një lexim i mëhershëm e numëroi këtë lëvizje si kërkim që mbyll hendekun („31% e mbyllur”, një kryqëzim „rreth tridhjetë herë buxheti, rreth dhjetë orë”) dhe tërhiqet: 89,534 nga 122,577 HV që i quante mbyllje ishin mostra e ndërtimit.</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900">
                <a:solidFill>
                  <a:srgbClr val="647187"/>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pOC3 Deep Space">
  <a:themeElements>
    <a:clrScheme name="SpOC3 Deep Space">
      <a:dk1>
        <a:srgbClr val="E8ECF2"/>
      </a:dk1>
      <a:lt1>
        <a:srgbClr val="0B0F17"/>
      </a:lt1>
      <a:dk2>
        <a:srgbClr val="9AA6B6"/>
      </a:dk2>
      <a:lt2>
        <a:srgbClr val="131B28"/>
      </a:lt2>
      <a:accent1>
        <a:srgbClr val="4DA3FF"/>
      </a:accent1>
      <a:accent2>
        <a:srgbClr val="3DDC97"/>
      </a:accent2>
      <a:accent3>
        <a:srgbClr val="FF5A60"/>
      </a:accent3>
      <a:accent4>
        <a:srgbClr val="F2C14E"/>
      </a:accent4>
      <a:accent5>
        <a:srgbClr val="8B7CF6"/>
      </a:accent5>
      <a:accent6>
        <a:srgbClr val="647187"/>
      </a:accent6>
      <a:hlink>
        <a:srgbClr val="4DA3FF"/>
      </a:hlink>
      <a:folHlink>
        <a:srgbClr val="8B7CF6"/>
      </a:folHlink>
    </a:clrScheme>
    <a:fontScheme name="SpOC3 Deep Space">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Prishtina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Çfarë vërteton dhe çfarë nuk vërteton një tabelë
krahasuese</dc:title>
  <dc:subject>AlbShkenca 2026</dc:subject>
  <dc:creator>Adrian Ymeri</dc:creator>
  <cp:lastModifiedBy>Adrian Ymeri</cp:lastModifiedBy>
  <cp:revision>1</cp:revision>
  <dcterms:created xsi:type="dcterms:W3CDTF">2026-10-13T20:59:55Z</dcterms:created>
  <dcterms:modified xsi:type="dcterms:W3CDTF">2026-10-13T20:59:55Z</dcterms:modified>
</cp:coreProperties>
</file>