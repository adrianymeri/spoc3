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umtesa" id="{03099f3f-f50a-e15a-71c6-609f0b47a1d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Shtojcë" id="{15daa50f-efcb-12d5-310a-ef33fbc67432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Mbyllja" id="{a1c8365c-3acd-fe75-adb0-fdf3a07eaae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10 sekonda. Faleminderit. Jam Adrian Ymeri, nga Departamenti i Inxhinierisë Kompjuterike në Universitetin e Prishtinës. Kjo kumtesë është një krahasim i kontrolluar i një metode Hill-Climbing me metodat kryesuese të sfidës SpOC-3 të ESA-s për dekompozimin e torsit.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25 sekonda. Qëllimi, majtas, në një fjali: t’i krahasojmë metodat nën një protokoll të vetëm dhe të gjejmë se çfarë e përcakton vërtet rezultatin. Poshtë tij janë katër kontributet e studimit. Kumtesa ndjek strukturën klasike djathtas, dhe numri i seksionit shfaqet mbi titullin e çdo slajdi.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55 sekonda. SpOC-3 është gara e tretë e optimizimit hapësinor e Advanced Concepts Team të ESA-s, e zhvilluar bashkë me GECCO 2024. Problemi i saj me grafe vjen nga një tregim për planifikimin e ndërtimit të një megastrukture: plani është një graf me blloqe ndërtimi dhe ndërveprimet e tyre, dhe duhet ndarë në pjesë të menaxhueshme. Heqim një pjesë të grafit dhe ruajmë një bërthamë, torsin; çdo gjë që heqim lë brinjë mes kulmeve që i lidhte. Torsi duhet të jetë sa më i madh dhe sa më i rrallë, dhe këto dy qëllime janë në konflikt. Djathtas: tre grafe zyrtare, deri në njëzet zgjidhje për çdo graf, vlerësim me hipervolum dhe renditje publike me katërmbëdhjetë, dhjetë dhe dhjetë pjesëmarrës.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35 sekonda. Katër pyetje e strukturojnë studimin. E para: si krahasohet Hill-Climbing ynë me tri metodat kryesuese kur të gjitha ekzekutohen nën të njëjtin protokoll? E dyta: cilat nga dallimet janë të qëndrueshme ndër fara të rastësisë? E treta: cila pjesë e kërkimit lokal e përcakton vërtet rezultatin? E katërta: a e ndryshon pamjen më shumë kohë, dhe sa larg janë të gjithë nga rezultati më i mirë i mundshëm? Secila pyetje merr përgjigje në një slajd rezultatesh, të shënuar djathtas.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75 sekonda. Ky është shembulli i vetë ESA-s me dhjetë kulme. Lexojeni renditjen nga e majta në të djathtë. Kulmi 0 eliminohet i pari; fqinjët e tij të mëvonshëm, 1 dhe 2, nuk janë fqinjë mes vete, prandaj lidhen: kjo është brinja e parë plotësuese, me të kuqe. Gjithsej shfaqen nëntë brinjë plotësuese. Presim pas gjashtë kulmeve të para, t = 6, dhe katër kulmet e fundit formojnë torsin. Numri nën çdo kulm numëron fqinjët e tij të mëvonshëm në çastin e eliminimit; brenda torsit më i madhi është 2, pra gjerësia është 2. Gjashtë kulmet para prerjes nuk hyjnë në gjerësi, por prapë duhet të qëndrojnë brenda kufirit 500. Vlerësuesi ynë e riprodhon përgjigjen e dhënë nga ESA për këtë shembull.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55 sekonda. Formalisht, një zgjidhje është një renditje π dhe një prag t. Eliminimi sipas renditjes π krijon brinjët plotësuese; n − t kulmet e fundit formojnë torsin Γ(π, t); gjerësia e tij është numri më i madh i fqinjëve të mëvonshëm të një kulmi të torsit. Minimizohen edhe gjerësia, edhe t. Një rregull i fortë: çdo hap eliminimi, përfshirë ata para prerjes, mund të ketë së shumti 500 fqinjë të mëvonshëm; përndryshe ESA e vlerëson pikën me gjerësi 501. Një dorëzim ka deri në njëzet pika, dhe rezultati i tij është sipërfaqja që ato dominojnë deri te pika referuese (n, n): hipervolumi. ESA e tregon me shenjë minus; unë citoj sipërfaqen pozitive, në HV.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35 sekonda. Përveç tre grafeve zyrtare, u gjeneruan shtatë grafe sintetike që përputhen me to. Ato formojnë tri familje: rrjeta të rralla me kulme varëse, grafe mesatare të rilidhura dhe grafe të dendura të ngulitura nga klika të mëdha. Brenda një familjeje madhësia është e njëjtë dhe ndryshon vetëm struktura. Pra, dhjetë instancat janë në fakt tri struktura të pavarura, prandaj rezultatet lexohen sipas familjes.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55 sekonda. Pesë metoda. Spacekangaroos, e para në renditjen e ESA-s, evoluon një rregull që u jep vlerë kulmeve dhe pastaj i rendit; ekzekutuam kodin GPU të vetë autorëve, me një rregullim tejmbushjeje. Team HRI, e dyta, përdor kërkim me fqinjësi të mëdha; kodi nuk u publikua, prandaj u riimplementua nga punimi i ekipit. fcmaes, e katërta, ekzekuton CMA-ES mbi peshat e veçorive; u përshtat nga qasja fast-cma-es. Pastaj Hill-Climbing ynë, dhe një metodë bazë pa asnjë kërkim: tetë ndërtime min-degree. Min-degree do të thotë: elimino gjithmonë kulmin me sa më pak fqinjë aktualë.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45 sekonda. Metoda jonë është qëllimisht e thjeshtë. Niset nga një renditje min-degree dhe e ndan kohën mes tetë gjerësive të synuara. Për çdo gjerësi të synuar provon lëvizje të rastësishme, një nga katër operatorët, dhe e mban një lëvizje vetëm nëse e ul rreptësisht t në atë gjerësi. Çdo renditje që vlerëson, e pranuar apo jo, i shton pikat e veta një arkivi të përbashkët, dhe në fund njëzet pikat më të mira zgjidhen saktë me programim dinamik. Djathtas: një vlerësues delta i saktë, që rivlerëson vetëm pjesën e renditjes që ndryshon lëvizja, jep mesatarisht 1.81 herë më shumë kandidatë në sekondë. Ai nuk u përdor në ekzekutimet e krahasimit të raportuara këtu.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55 sekonda. Çdo metodë pati 1,200 sekonda për ekzekutim dhe tri fara, në dhjetë instanca. Çdo metodë CPU u fiksua në një bërthamë; Spacekangaroos u ekzekutua në një GPU T4, siç u publikua. Çdo përgjigje u rivlerësua nga një vlerësues i vetëm, që jep rezultate identike me kodin e publikuar të vlerësimit të ESA-s. Pika e nisjes kërkon një koment. Në një krahasim të mëhershëm, Team HRI nisej nga një renditje e rastësishme, siç e përcakton punimi i tij, dhe metoda jonë nga min-degree; dallimi dukej rreth 275 mijë HV. Me të njëjtën nisje, ai është 1,234 HV. Prandaj dy kërkimet mbi renditje nisen gjithmonë nga i njëjti ndërtim min-degree.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60 sekonda. Ky është krahasimi kryesor: më e mira nga tri farat për çdo metodë dhe instancë, në mijëra HV. Metodat nga renditja e ESA-s fitojnë tetë nga dhjetë rreshta; Hill-Climbing fiton synth-1 dhe synth-3. fcmaes prin qartë në familjen e dendur. Spacekangaroos fiton small-graph, por brenda buxhetit nuk gjen asnjë zgjidhje të lejuar në grafet e dendura. Dhe vetëm ndërtimi min-degree, në kolonën e fundit, është brenda një përqindëshi nga më i miri në grafet e rralla. Një tabelë emëron gjithmonë një fitues në çdo rresht; pyetja është nëse këta fitues janë të besueshëm.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75 sekonda. Këtu i lexojmë të tria farat në vend të vetëm më të mirës. Një rresht quhet i vendosur kur çdo farë e fituesit mposht çdo farë të çdo rivali dhe mediana pajtohet; me tri fara ky është një test i saktë rangjesh me p = 0.05. Pesë rreshta kalojnë: synth-3, synth-4 dhe tre rreshtat e dendur. Pesë nuk kalojnë. Djathtas, small-graph: Spacekangaroos fiton sipas më të mirit nga tri me një farë të vetme me fat; dy farat e tjera të tij janë nën të tria farat e Team HRI, dhe mediana emëron Team HRI. Më i miri nga tri favorizon metodat më të zhurmshme, prandaj duhet raportuar gjithmonë bashkë me farat.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60 sekonda. Tani përbërësit. Çdo variant ndryshon saktësisht një pjesë të Hill-Climbing tonë: lëvizjet, rregullin e pranimit ose ndërtimin fillestar. Brezi i hijezuar tregon sa lëviz vetë kontrolli kur thjesht ekzekutohet edhe një herë: 21,519 HV në totalin e dhjetë instancave. Grupi i ri i lëvizjeve dhe VNS mbeten brenda brezit dhe e ndërrojnë shenjën kundrejt ekzekutimit tjetër të kontrollit. Kalitja e simuluar arrin rreth dyfishin e brezit kundrejt njërit ekzekutim dhe rreth një herë kundrejt tjetrit. Vetëm ndërtimi i rastësishëm, GRASP, e kalon qartë brezin, gati gjashtëmbëdhjetë herë, dhe i gjithë ky fitim vjen nga tri instancat e dendura.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30 sekonda; nëse mungon koha, ky slajd mund të kapërcehet. Trembëdhjetë operatorë të rinj, nga k-opt te lëvizjet që njohin strukturën, secili vetëm, dhe të shtatëmbëdhjetë së bashku. Asnjë nuk e përmirëson kontrollin më shumë se brezi, dhe asnjë nuk fiton qoftë një instancë kundër të dy ekzekutimeve të kontrollit. Arsyeja: lëvizjet thuajse kurrë nuk pranohen. Shkalla më e lartë e pranimit kudo është 0.23 për qind. Gjerësia është maksimum që e mban një kulm i vetëm, prandaj shumica e lëvizjeve nuk ndryshojnë asgjë.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60 sekonda. A ndihmon më shumë kohë? Dhjetëfishi i buxhetit i jep Hill-Climbing 33,043 HV, rreth një të dhjetën e epërsisë së ndërtimit, e cila mbetet mbi 269,607 HV në çdo buxhet. Djathtas: sa e mirë mund të jetë një përgjigje? Eliminimi i t kulmeve mund ta ulë gjerësinë e pemës së shumti me t, dhe kjo jep një kufi të sipërm për çdo rezultat. Rezultati më i mirë i njohur në small-graph është brenda 0.63 për qind prej tij, pra ajo instancë është praktikisht e zgjidhur. Në medium-graph kufiri është i lirshëm. Në large-graph një klikë me 500 kulme e ngulit gjerësinë e pemës në 499 ose 500, prandaj hendeku prej 4.54 për qind është hapësirë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45 sekonda. Çfarë do të thonë rezultatet? Ndërtimi e bën pjesën më të madhe të punës: vetëm min-degree arrin së paku 99.3 për qind të rezultatit më të mirë në grafet e rralla dhe rreth 90 për qind në ato të dendura, dhe do të zinte vendet nga i shtati deri te i nënti në të tria renditjet e ESA-s. Ndryshimet në kërkim mbeten brenda zhurmës së rimatjes së kontrollit, dhe gjysma e fituesve të tabelës nuk mbështeten nga çdo farë. Kufizimet janë djathtas: tri fara, një buxhet kryesor, një strukturë e dendur dhe riimplementime.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Rreth 45 sekonda. Përgjigjet e katër pyetjeve: nën një protokoll të vetëm metodat nga renditja e ESA-s fitojnë tetë nga dhjetë rreshta; vetëm pesë fitues janë të qëndrueshëm ndër fara; ndërtimi fillestar, jo kërkimi, e përcakton rezultatin; dhe dhjetë herë më shumë kohë rikthen vetëm një të dhjetën e hendekut. Për këdo që bën një krahasim të tillë, tre rekomandime, dhe tre drejtime për punën e ardhshme. Faleminderit.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Shtojcë. Çdo numër në slajdin e qëndrueshmërisë mund të lexohet nga kjo tabelë.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Shtojcë, për pyetje rreth brezit në slajdin e përbërësve. Sipas instancës, ndryshimi mes dy ekzekutimeve nuk është më i madh se shpërndarja e farave brenda një ekzekutimi; synth-4 lëvizi 7,881 HV, por farat e veta shpërndahen 13,214 HV. Në totalin e dhjetë instancave, vetëm 4.6 për qind e rishpërndarjeve e lëvizin totalin aq sa u vëzhgua, pra dy ekzekutimet ndryshojnë në shumë, dhe 21,519 HV është niveli i zhurmës për totalet e dhjetë instancave.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Shtojcë, për pyetje rreth drejtësisë së krahasimit. Nëse pyesin si e dimë që vlerësimi është i ESA-s: harness/esa_crosscheck.py ekzekuton skedarin e publikuar të vlerësimit të ESA-s pranë tonit; çdo kontroll është identik, dhe tre grafet e garës janë identikë, bajt për bajt, me ata të ESA-s.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Shtojcë. Argumenti zë një rresht: fute bashkësinë e eliminuar në çdo qese. Një hendek është shuma e dy të panjohurave: sa larg optimumit është përgjigjja më e mirë, plus sa larg tij është kufiri. Kur hendeku është i vogël, të dyja janë të vogla. Në large-graph një klikë me 500 kulme e detyron gjerësinë e pemës të jetë së paku 499, dhe përgjigjet e lejuara brenda kufirit e detyrojnë të jetë së shumti 500: gjerësia e pemës e njohur brenda njëshit në një graf me 2,426 kulme.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Shtojcë, për pyetje rreth pikës së nisjes. Gjashtë zerot janë i gjithë argumenti: në gjashtë instanca një renditje e rastësishme nuk është nisje e dobët, por mosnisje.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Shtojcë. Dy paragrafët e parë janë derivim, jo matje.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Shtojcë, për pyetje rreth operatorëve të kërkimit. Burimet: harness/delta_check.log për saktësinë, harness/speed.log për përshpejtimin (matja e autorit: 1.70× të rrallat, 1.88× të mesmet, 1.89× të dendurat; një rimatje e pavarur në një makinë tjetër dha 1.76×).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Shtojcë. Epërsia matet kundër mesatares së ndërtimit mbi tre buxhetet.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Shtojcë. Të katër gabimet ishin në kodin e studimit ose në kod të përfshirë prej tij, dhe asnjë nuk u kap nga një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Lëreni këtë slajd gjatë pyetjeve; këto gjashtë shifra janë ato për të cilat ka më shumë gjasa të pyesin. Slajdet e shtojcës janë të fshehura dhe ndodhen menjëherë para këtij slajdi. Për të hapur njërin gjatë pyetjeve, shkruani numrin e tij dhe shtypni Enter: 18 çdo farë, 19 kontrolli i ekzekutuar dy herë, 20 detajet e protokollit, 21 kufiri i sipërm në detaje, 22 pse dështon një nisje e rastësishme, 23 instancat e rralla janë njëpërmasore, 24 k-opt dhe vlerësuesi delta, 25 krahasimi i plotë i buxheteve, 26 katër gabime të gjetura gjatë studimit.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Optimizimi me dy objektiva i strukturave të grafeve · AlbShkenca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ty of Prisht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37360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ALBSHKENCA 2026 · 4–5 DHJETOR · PRISHTINË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066544"/>
            <a:ext cx="740664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Optimizimi me dy objektiva</a:t>
            </a:r>
            <a:endParaRPr lang="en-US" sz="3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 strukturave të grafeve përmes</a:t>
            </a:r>
            <a:endParaRPr lang="en-US" sz="3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dekompozimit dhe rikombinimit</a:t>
            </a:r>
            <a:endParaRPr lang="en-US" sz="3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të njëkohshëm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059936"/>
            <a:ext cx="7406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3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Krahasim i kontrolluar i Hill-Climbing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3C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metodat kryesuese të ESA SpOC-3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831080"/>
            <a:ext cx="822960" cy="0"/>
          </a:xfrm>
          <a:prstGeom prst="line">
            <a:avLst/>
          </a:prstGeom>
          <a:noFill/>
          <a:ln w="15875">
            <a:solidFill>
              <a:srgbClr val="3DDC9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498652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Ass. Adrian Ymeri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370576"/>
            <a:ext cx="71323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Departamenti i Inxhinierisë Kompjuterike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Fakulteti i Inxhinierisë Elektrike dhe Kompjuterike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Universiteti i Prishtinës „Hasan Prishtina”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72784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SpOC-3 Torso Decompositions · 10 instanca · 5 metoda · 3 fara × 1,200 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PASQYRË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Qëllimi i studimit dhe përmbajtja e prezantimit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QËLLIMI I STUDIMIT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470916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Të krahasohet një kërkim Hill-Climbing me tri metodat kryesuese të ESA SpOC-3 nën një protokoll të vetëm të kontrolluar, dhe të gjendet çfarë e përcakton rezultatin.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627120"/>
            <a:ext cx="4709160" cy="258470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627120"/>
            <a:ext cx="54864" cy="258470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78256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KONTRIBUTET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075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02608"/>
            <a:ext cx="388620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metoda nga renditja e ESA-s dhe Hill-Climbing, të riekzekutuara nën një protokoll të kontrolluar.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584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11624"/>
            <a:ext cx="388620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test në nivel fare se cilat dallime në tabelën e rezultateve janë të besueshme.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120640"/>
            <a:ext cx="388620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Ablacione me një faktor në një kohë: ndërtimi, rregulli i pranimit dhe 17 operatorë lëvizjeje.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602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5629656"/>
            <a:ext cx="3886200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kufi i sipërm i vërtetueshëm për rezultatin e çdo instance.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24728" y="1984248"/>
            <a:ext cx="0" cy="3648456"/>
          </a:xfrm>
          <a:prstGeom prst="line">
            <a:avLst/>
          </a:prstGeom>
          <a:noFill/>
          <a:ln w="12700">
            <a:solidFill>
              <a:srgbClr val="2A35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56148" y="1915668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44184" y="18013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Hyrje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2103120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sfida SpOC-3 e ESA-s dhe katër pyetje kërkimore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56148" y="2523744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44184" y="24094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2436876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Përkufizimi i problemit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711196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dekompozimi i torsit, së pari me shembull, pastaj formalisht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56148" y="3131820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44184" y="301752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044952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Instancat e testimit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3319272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dhjetë grafe në tri familje strukturore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56148" y="3739896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44184" y="362559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3653028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3927348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metoda nga renditja e ESA-s, Hill-Climbing dhe një ndërtim bazë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56148" y="4347972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044184" y="423367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4261104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Protokolli eksperimental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4535424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njëjta kohë, e njëjta pikënisje, një vlerësues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756148" y="4956048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44184" y="484174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6446520" y="48691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446520" y="5143500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krahasimi, qëndrueshmëria, përbërësit, operatorët, koha dhe optimaliteti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756148" y="5564124"/>
            <a:ext cx="137160" cy="137160"/>
          </a:xfrm>
          <a:prstGeom prst="ellipse">
            <a:avLst/>
          </a:prstGeom>
          <a:solidFill>
            <a:srgbClr val="0B0F17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044184" y="5449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6446520" y="5477256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Diskutimi dhe përfundimet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5751576"/>
            <a:ext cx="5105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çfarë mbështesin provat, kufizimet dhe puna e ardhshme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HYRJE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Sfida SpOC-3 e ESA-s dhe problemi i torsit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5943600" cy="4255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4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SpOC-3 është edicioni i tretë i Space Optimisation Competition, gara e optimizimit hapësinor e Advanced Concepts Team të ESA-s, e zhvilluar bashkë me GECCO 2024.</a:t>
            </a:r>
            <a:endParaRPr lang="en-US" sz="1600" dirty="0"/>
          </a:p>
          <a:p>
            <a:pPr marL="190500" indent="-190500">
              <a:lnSpc>
                <a:spcPct val="100000"/>
              </a:lnSpc>
              <a:spcAft>
                <a:spcPts val="14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 i saj me grafe planifikon ndërtimin e një megastrukture: blloqet e ndërtimit janë kulme, ndërveprimet mes tyre janë brinjë.</a:t>
            </a:r>
            <a:endParaRPr lang="en-US" sz="1600" dirty="0"/>
          </a:p>
          <a:p>
            <a:pPr marL="190500" indent="-190500">
              <a:lnSpc>
                <a:spcPct val="100000"/>
              </a:lnSpc>
              <a:spcAft>
                <a:spcPts val="14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zgjidhje heq një pjesë të grafit dhe ruan një bërthamë, torsin; çdo pjesë e hequr lë brinjë mes kulmeve që i lidhte.</a:t>
            </a:r>
            <a:endParaRPr lang="en-US" sz="1600" dirty="0"/>
          </a:p>
          <a:p>
            <a:pPr marL="190500" indent="-190500">
              <a:lnSpc>
                <a:spcPct val="100000"/>
              </a:lnSpc>
              <a:spcAft>
                <a:spcPts val="14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Torsi duhet të jetë sa më i madh dhe sa më i rrallë: dy objektiva në konflikt.</a:t>
            </a:r>
            <a:endParaRPr lang="en-US" sz="1600" dirty="0"/>
          </a:p>
          <a:p>
            <a:pPr marL="190500" indent="-190500">
              <a:lnSpc>
                <a:spcPct val="100000"/>
              </a:lnSpc>
              <a:buClr>
                <a:srgbClr val="3DDC97"/>
              </a:buClr>
              <a:buFont typeface="Arial"/>
              <a:buChar char="•"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Renditjet e eliminimit qëndrojnë edhe në themel të gjerësisë së pemës (treewidth), të faktorizimit Cholesky të matricave të rralla dhe të eliminimit të variablave në inferencën probabilitare.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86600" y="1810512"/>
            <a:ext cx="4465015" cy="3950208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6" name="Shape 4"/>
          <p:cNvSpPr/>
          <p:nvPr/>
        </p:nvSpPr>
        <p:spPr>
          <a:xfrm>
            <a:off x="7086600" y="1810512"/>
            <a:ext cx="54864" cy="3950208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60920" y="1993392"/>
            <a:ext cx="4007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SFIDA NË NJË VËSHTRIM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60920" y="24140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Organizatori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241401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ESA, Advanced Concepts Team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60920" y="2880360"/>
            <a:ext cx="391637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60920" y="2962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Edicioni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96265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SpOC-3, bashkë me GECCO 2024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60920" y="3429000"/>
            <a:ext cx="391637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35112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Instancat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51129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grafe zyrtare, 1,357 deri në 2,426 kulme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3977640"/>
            <a:ext cx="391637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405993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Dorëzimi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405993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 në 20 zgjidhje për çdo graf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60920" y="4526280"/>
            <a:ext cx="391637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60920" y="460857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Vlerësimi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460857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hipervolumi i zgjidhjeve (më i madh është më mirë)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60920" y="5074920"/>
            <a:ext cx="391637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60920" y="5157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Renditjet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778240" y="5157216"/>
            <a:ext cx="25447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 10 dhe 10 pjesëmarrës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5888736"/>
            <a:ext cx="4465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Bannach et al., “The Space Optimization Competition: Third Edition”, GECCO ’24 Companion, 2024.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HYRJE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Pyetjet kërkimore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013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PK1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847088"/>
            <a:ext cx="8229600" cy="54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Si krahasohet Hill-Climbing me tri metodat kryesuese të ESA SpOC-3 nën një protokoll të vetëm të kontrolluar?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418893"/>
            <a:ext cx="822960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gjitha metodat kanë të njëjtën kohë dhe të njëjtin vlerësues; dy kërkimet mbi renditje ndajnë edhe pikënisjen.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134295" y="19110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REZULTATET 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986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PK2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2944368"/>
            <a:ext cx="8229600" cy="54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Cilat dallime mes metodave janë të qëndrueshme ndër fara të ndryshme të rastësisë?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516173"/>
            <a:ext cx="8229600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Shqyrtohet çdo farë e çdo metode, jo vetëm më e mira nga tri.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134295" y="300837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REZULTATET II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9959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PK3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041648"/>
            <a:ext cx="8229600" cy="54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Cili përbërës i kërkimit lokal e përcakton rezultatin: ndërtimi, rregulli i pranimit apo lëvizjet?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613453"/>
            <a:ext cx="822960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Zëvendësohet një përbërës në një kohë kundrejt të njëjtit kontroll Hill-Climbing, përfshirë 13 operatorë të rinj lëvizjeje.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134295" y="41056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REZULTATET III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983480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0932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PK4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5138928"/>
            <a:ext cx="8229600" cy="54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e ndryshon pamjen më shumë kohë, dhe sa larg janë rezultatet nga rezultati më i mirë i mundshëm?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5710733"/>
            <a:ext cx="8229600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Ekzekutime me 3× dhe 10× buxhetin kohor, dhe një kufi i sipërm i vërtetueshëm për rezultatin e çdo instance.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134295" y="52029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REZULTATET IV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PËRKUFIZIMI I PROBLEMIT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Problemi përmes një shembulli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709160" cy="370332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92024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 PAS HAPI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5856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2286000"/>
            <a:ext cx="38404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Rendit.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Vendosi kulmet në një varg: këtu 0, 1, 2, 4, 5, 3, 6, 8, 9, 7.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8102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2837688"/>
            <a:ext cx="3840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Elimino.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Hiqi me këtë radhë; çdo kulm i hequr i lidh mes vete fqinjët e tij të mëvonshëm (brinjët plotësuese, me të kuqe).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5600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3587496"/>
            <a:ext cx="38404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Prit.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Ndalo pas </a:t>
            </a:r>
            <a:r>
              <a:rPr lang="en-US" sz="13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= 6 kulmeve të para; </a:t>
            </a:r>
            <a:r>
              <a:rPr lang="en-US" sz="13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− </a:t>
            </a:r>
            <a:r>
              <a:rPr lang="en-US" sz="13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= 4 kulmet e mbetura formojnë torsin.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41117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39184"/>
            <a:ext cx="38404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Mat.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Gjerësia është numri më i madh i fqinjëve të mëvonshëm të një kulmi të torsit: këtu 2.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6634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4690872"/>
            <a:ext cx="3840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Balanco.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Një </a:t>
            </a:r>
            <a:r>
              <a:rPr lang="en-US" sz="13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më i vogël jep tors më të madh, por zakonisht gjerësi më të madhe; prandaj përgjigjja është një bashkësi kompromisesh.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17152" y="1874520"/>
            <a:ext cx="2380183" cy="3611880"/>
          </a:xfrm>
          <a:prstGeom prst="rect">
            <a:avLst/>
          </a:prstGeom>
          <a:solidFill>
            <a:srgbClr val="3DDC97">
              <a:alpha val="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17152" y="1874520"/>
            <a:ext cx="0" cy="3611880"/>
          </a:xfrm>
          <a:prstGeom prst="line">
            <a:avLst/>
          </a:prstGeom>
          <a:noFill/>
          <a:ln w="12700">
            <a:solidFill>
              <a:srgbClr val="7D8AA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69280" y="192024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eliminohen së pari: t = 6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19202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torsi: n − t = 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212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renditja e eliminimit →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97880" y="3456432"/>
            <a:ext cx="603504" cy="475488"/>
          </a:xfrm>
          <a:custGeom>
            <a:avLst/>
            <a:gdLst/>
            <a:ahLst/>
            <a:cxnLst/>
            <a:rect l="l" t="t" r="r" b="b"/>
            <a:pathLst>
              <a:path w="603504" h="475488">
                <a:moveTo>
                  <a:pt x="0" y="475488"/>
                </a:moveTo>
                <a:cubicBezTo>
                  <a:pt x="12070" y="0"/>
                  <a:pt x="591434" y="0"/>
                  <a:pt x="603504" y="475488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97880" y="3224784"/>
            <a:ext cx="1207008" cy="707136"/>
          </a:xfrm>
          <a:custGeom>
            <a:avLst/>
            <a:gdLst/>
            <a:ahLst/>
            <a:cxnLst/>
            <a:rect l="l" t="t" r="r" b="b"/>
            <a:pathLst>
              <a:path w="1207008" h="707136">
                <a:moveTo>
                  <a:pt x="0" y="707136"/>
                </a:moveTo>
                <a:cubicBezTo>
                  <a:pt x="24140" y="0"/>
                  <a:pt x="1182868" y="0"/>
                  <a:pt x="1207008" y="707136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01384" y="2529840"/>
            <a:ext cx="3017520" cy="1402080"/>
          </a:xfrm>
          <a:custGeom>
            <a:avLst/>
            <a:gdLst/>
            <a:ahLst/>
            <a:cxnLst/>
            <a:rect l="l" t="t" r="r" b="b"/>
            <a:pathLst>
              <a:path w="3017520" h="1402080">
                <a:moveTo>
                  <a:pt x="0" y="1402080"/>
                </a:moveTo>
                <a:cubicBezTo>
                  <a:pt x="60350" y="0"/>
                  <a:pt x="2957170" y="0"/>
                  <a:pt x="3017520" y="1402080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04888" y="2529840"/>
            <a:ext cx="3017520" cy="1402080"/>
          </a:xfrm>
          <a:custGeom>
            <a:avLst/>
            <a:gdLst/>
            <a:ahLst/>
            <a:cxnLst/>
            <a:rect l="l" t="t" r="r" b="b"/>
            <a:pathLst>
              <a:path w="3017520" h="1402080">
                <a:moveTo>
                  <a:pt x="0" y="1402080"/>
                </a:moveTo>
                <a:cubicBezTo>
                  <a:pt x="60350" y="0"/>
                  <a:pt x="2957170" y="0"/>
                  <a:pt x="3017520" y="1402080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15400" y="3224784"/>
            <a:ext cx="1207008" cy="707136"/>
          </a:xfrm>
          <a:custGeom>
            <a:avLst/>
            <a:gdLst/>
            <a:ahLst/>
            <a:cxnLst/>
            <a:rect l="l" t="t" r="r" b="b"/>
            <a:pathLst>
              <a:path w="1207008" h="707136">
                <a:moveTo>
                  <a:pt x="0" y="707136"/>
                </a:moveTo>
                <a:cubicBezTo>
                  <a:pt x="24140" y="0"/>
                  <a:pt x="1182868" y="0"/>
                  <a:pt x="1207008" y="707136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15400" y="2993136"/>
            <a:ext cx="1810512" cy="938784"/>
          </a:xfrm>
          <a:custGeom>
            <a:avLst/>
            <a:gdLst/>
            <a:ahLst/>
            <a:cxnLst/>
            <a:rect l="l" t="t" r="r" b="b"/>
            <a:pathLst>
              <a:path w="1810512" h="938784">
                <a:moveTo>
                  <a:pt x="0" y="938784"/>
                </a:moveTo>
                <a:cubicBezTo>
                  <a:pt x="36210" y="0"/>
                  <a:pt x="1774302" y="0"/>
                  <a:pt x="1810512" y="938784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08392" y="3456432"/>
            <a:ext cx="603504" cy="475488"/>
          </a:xfrm>
          <a:custGeom>
            <a:avLst/>
            <a:gdLst/>
            <a:ahLst/>
            <a:cxnLst/>
            <a:rect l="l" t="t" r="r" b="b"/>
            <a:pathLst>
              <a:path w="603504" h="475488">
                <a:moveTo>
                  <a:pt x="0" y="475488"/>
                </a:moveTo>
                <a:cubicBezTo>
                  <a:pt x="12070" y="0"/>
                  <a:pt x="591434" y="0"/>
                  <a:pt x="603504" y="475488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08392" y="2993136"/>
            <a:ext cx="1810512" cy="938784"/>
          </a:xfrm>
          <a:custGeom>
            <a:avLst/>
            <a:gdLst/>
            <a:ahLst/>
            <a:cxnLst/>
            <a:rect l="l" t="t" r="r" b="b"/>
            <a:pathLst>
              <a:path w="1810512" h="938784">
                <a:moveTo>
                  <a:pt x="0" y="938784"/>
                </a:moveTo>
                <a:cubicBezTo>
                  <a:pt x="36210" y="0"/>
                  <a:pt x="1774302" y="0"/>
                  <a:pt x="1810512" y="938784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08392" y="2298192"/>
            <a:ext cx="3621024" cy="1633728"/>
          </a:xfrm>
          <a:custGeom>
            <a:avLst/>
            <a:gdLst/>
            <a:ahLst/>
            <a:cxnLst/>
            <a:rect l="l" t="t" r="r" b="b"/>
            <a:pathLst>
              <a:path w="3621024" h="1633728">
                <a:moveTo>
                  <a:pt x="0" y="1633728"/>
                </a:moveTo>
                <a:cubicBezTo>
                  <a:pt x="72420" y="0"/>
                  <a:pt x="3548604" y="0"/>
                  <a:pt x="3621024" y="1633728"/>
                </a:cubicBezTo>
              </a:path>
            </a:pathLst>
          </a:custGeom>
          <a:ln w="15875">
            <a:solidFill>
              <a:srgbClr val="9AA6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01384" y="3931920"/>
            <a:ext cx="603504" cy="377952"/>
          </a:xfrm>
          <a:custGeom>
            <a:avLst/>
            <a:gdLst/>
            <a:ahLst/>
            <a:cxnLst/>
            <a:rect l="l" t="t" r="r" b="b"/>
            <a:pathLst>
              <a:path w="603504" h="377952">
                <a:moveTo>
                  <a:pt x="0" y="0"/>
                </a:moveTo>
                <a:cubicBezTo>
                  <a:pt x="12070" y="377952"/>
                  <a:pt x="591434" y="377952"/>
                  <a:pt x="603504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7104888" y="3931920"/>
            <a:ext cx="2414016" cy="926592"/>
          </a:xfrm>
          <a:custGeom>
            <a:avLst/>
            <a:gdLst/>
            <a:ahLst/>
            <a:cxnLst/>
            <a:rect l="l" t="t" r="r" b="b"/>
            <a:pathLst>
              <a:path w="2414016" h="926592">
                <a:moveTo>
                  <a:pt x="0" y="0"/>
                </a:moveTo>
                <a:cubicBezTo>
                  <a:pt x="48280" y="926592"/>
                  <a:pt x="2365736" y="926592"/>
                  <a:pt x="2414016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9518904" y="3931920"/>
            <a:ext cx="603504" cy="377952"/>
          </a:xfrm>
          <a:custGeom>
            <a:avLst/>
            <a:gdLst/>
            <a:ahLst/>
            <a:cxnLst/>
            <a:rect l="l" t="t" r="r" b="b"/>
            <a:pathLst>
              <a:path w="603504" h="377952">
                <a:moveTo>
                  <a:pt x="0" y="0"/>
                </a:moveTo>
                <a:cubicBezTo>
                  <a:pt x="12070" y="377952"/>
                  <a:pt x="591434" y="377952"/>
                  <a:pt x="603504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311896" y="3931920"/>
            <a:ext cx="1207008" cy="560832"/>
          </a:xfrm>
          <a:custGeom>
            <a:avLst/>
            <a:gdLst/>
            <a:ahLst/>
            <a:cxnLst/>
            <a:rect l="l" t="t" r="r" b="b"/>
            <a:pathLst>
              <a:path w="1207008" h="560832">
                <a:moveTo>
                  <a:pt x="0" y="0"/>
                </a:moveTo>
                <a:cubicBezTo>
                  <a:pt x="24140" y="560832"/>
                  <a:pt x="1182868" y="560832"/>
                  <a:pt x="1207008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311896" y="3931920"/>
            <a:ext cx="3017520" cy="1109472"/>
          </a:xfrm>
          <a:custGeom>
            <a:avLst/>
            <a:gdLst/>
            <a:ahLst/>
            <a:cxnLst/>
            <a:rect l="l" t="t" r="r" b="b"/>
            <a:pathLst>
              <a:path w="3017520" h="1109472">
                <a:moveTo>
                  <a:pt x="0" y="0"/>
                </a:moveTo>
                <a:cubicBezTo>
                  <a:pt x="60350" y="1109472"/>
                  <a:pt x="2957170" y="1109472"/>
                  <a:pt x="3017520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9518904" y="3931920"/>
            <a:ext cx="1810512" cy="743712"/>
          </a:xfrm>
          <a:custGeom>
            <a:avLst/>
            <a:gdLst/>
            <a:ahLst/>
            <a:cxnLst/>
            <a:rect l="l" t="t" r="r" b="b"/>
            <a:pathLst>
              <a:path w="1810512" h="743712">
                <a:moveTo>
                  <a:pt x="0" y="0"/>
                </a:moveTo>
                <a:cubicBezTo>
                  <a:pt x="36210" y="743712"/>
                  <a:pt x="1774302" y="743712"/>
                  <a:pt x="1810512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22408" y="3931920"/>
            <a:ext cx="603504" cy="377952"/>
          </a:xfrm>
          <a:custGeom>
            <a:avLst/>
            <a:gdLst/>
            <a:ahLst/>
            <a:cxnLst/>
            <a:rect l="l" t="t" r="r" b="b"/>
            <a:pathLst>
              <a:path w="603504" h="377952">
                <a:moveTo>
                  <a:pt x="0" y="0"/>
                </a:moveTo>
                <a:cubicBezTo>
                  <a:pt x="12070" y="377952"/>
                  <a:pt x="591434" y="377952"/>
                  <a:pt x="603504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22408" y="3931920"/>
            <a:ext cx="1207008" cy="560832"/>
          </a:xfrm>
          <a:custGeom>
            <a:avLst/>
            <a:gdLst/>
            <a:ahLst/>
            <a:cxnLst/>
            <a:rect l="l" t="t" r="r" b="b"/>
            <a:pathLst>
              <a:path w="1207008" h="560832">
                <a:moveTo>
                  <a:pt x="0" y="0"/>
                </a:moveTo>
                <a:cubicBezTo>
                  <a:pt x="24140" y="560832"/>
                  <a:pt x="1182868" y="560832"/>
                  <a:pt x="1207008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725912" y="3931920"/>
            <a:ext cx="603504" cy="377952"/>
          </a:xfrm>
          <a:custGeom>
            <a:avLst/>
            <a:gdLst/>
            <a:ahLst/>
            <a:cxnLst/>
            <a:rect l="l" t="t" r="r" b="b"/>
            <a:pathLst>
              <a:path w="603504" h="377952">
                <a:moveTo>
                  <a:pt x="0" y="0"/>
                </a:moveTo>
                <a:cubicBezTo>
                  <a:pt x="12070" y="377952"/>
                  <a:pt x="591434" y="377952"/>
                  <a:pt x="603504" y="0"/>
                </a:cubicBezTo>
              </a:path>
            </a:pathLst>
          </a:custGeom>
          <a:ln w="19050">
            <a:solidFill>
              <a:srgbClr val="FF5A60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5715000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715000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715000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18504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18504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318504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922008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922008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22008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525512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525512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525512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129016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29016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129016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732520" y="3749040"/>
            <a:ext cx="365760" cy="365760"/>
          </a:xfrm>
          <a:prstGeom prst="ellipse">
            <a:avLst/>
          </a:prstGeom>
          <a:solidFill>
            <a:srgbClr val="0B0F17"/>
          </a:solidFill>
          <a:ln w="15875">
            <a:solidFill>
              <a:srgbClr val="9AA6B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32520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732520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336024" y="3749040"/>
            <a:ext cx="365760" cy="365760"/>
          </a:xfrm>
          <a:prstGeom prst="ellipse">
            <a:avLst/>
          </a:prstGeom>
          <a:solidFill>
            <a:srgbClr val="3DDC97"/>
          </a:solidFill>
          <a:ln w="15875">
            <a:solidFill>
              <a:srgbClr val="3DDC97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336024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336024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939528" y="3749040"/>
            <a:ext cx="365760" cy="365760"/>
          </a:xfrm>
          <a:prstGeom prst="ellipse">
            <a:avLst/>
          </a:prstGeom>
          <a:solidFill>
            <a:srgbClr val="3DDC97"/>
          </a:solidFill>
          <a:ln w="15875">
            <a:solidFill>
              <a:srgbClr val="3DDC9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939528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9939528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0543032" y="3749040"/>
            <a:ext cx="365760" cy="365760"/>
          </a:xfrm>
          <a:prstGeom prst="ellipse">
            <a:avLst/>
          </a:prstGeom>
          <a:solidFill>
            <a:srgbClr val="3DDC97"/>
          </a:solidFill>
          <a:ln w="15875">
            <a:solidFill>
              <a:srgbClr val="3DDC97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543032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543032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1146536" y="3749040"/>
            <a:ext cx="365760" cy="365760"/>
          </a:xfrm>
          <a:prstGeom prst="ellipse">
            <a:avLst/>
          </a:prstGeom>
          <a:solidFill>
            <a:srgbClr val="3DDC97"/>
          </a:solidFill>
          <a:ln w="15875">
            <a:solidFill>
              <a:srgbClr val="3DDC97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1146536" y="3813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1146536" y="49560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5623560" y="52303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fqinjë të mëvonshëm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7269480" y="5230368"/>
            <a:ext cx="1837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jashtë gjerësisë, kufi 500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9326880" y="52303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gjerësia = 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669280" y="5623560"/>
            <a:ext cx="5882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Shembulli i vetë ESA-s, x = [0, 1, 2, 4, 5, 3, 6, 8, 9, 7, 6]: nëntë brinjë (sipër) dhe nëntë brinjë plotësuese (poshtë, me të kuqe). Vlerësuesi ynë riprodhon përgjigjen e dhënë nga ESA: tors me katër kulme dhe gjerësi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PËRKUFIZIMI I PROBLEMIT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Përkufizimi formal dhe vlerësimi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PËRKUFIZIMI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84832"/>
          <a:ext cx="56692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389120"/>
              </a:tblGrid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Hyrja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Një graf i lidhur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(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 me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|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 kulme.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Zgjidhja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Një vektor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[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baseline="-400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…,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baseline="-400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]: një renditje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dhe një prag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Eliminimi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Sipas renditjes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çdo kulm i lidh çift për çift fqinjët e tij të mëvonshëm (brinjë plotësuese).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):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kulmet e fundit, me të gjitha brinjët mes tyre.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Gjerësia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): numri më i madh i fqinjëve të mëvonshëm të një kulmi të torsit.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Objektivat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Minimizohen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dhe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një tors i ngushtë dhe sa më i madh.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Kufizimi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Çdo hap eliminimi ka së shumti 500 fqinjë të mëvonshëm; përndryshe ESA vlerëson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501.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93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Vlerësimi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Hipervolumi i pikave (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), deri në 20, ndaj pikës referuese (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250" i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59436" marB="5943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9372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i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Në mënyrë të njëvlershme (Bannach et al., 2024): dy kulme të torsit janë fqinjë kur </a:t>
                      </a:r>
                      <a:r>
                        <a:rPr lang="en-US" sz="1100" i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r>
                        <a:rPr lang="en-US" sz="1100" i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ka një shteg mes tyre me të gjitha kulmet e brendshme të eliminuara.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132588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20890" y="2148840"/>
            <a:ext cx="4126230" cy="2926080"/>
          </a:xfrm>
          <a:custGeom>
            <a:avLst/>
            <a:gdLst/>
            <a:ahLst/>
            <a:cxnLst/>
            <a:rect l="l" t="t" r="r" b="b"/>
            <a:pathLst>
              <a:path w="4126230" h="2926080">
                <a:moveTo>
                  <a:pt x="0" y="0"/>
                </a:moveTo>
                <a:lnTo>
                  <a:pt x="4126230" y="0"/>
                </a:lnTo>
                <a:lnTo>
                  <a:pt x="4126230" y="2926080"/>
                </a:lnTo>
                <a:lnTo>
                  <a:pt x="1563624" y="2926080"/>
                </a:lnTo>
                <a:lnTo>
                  <a:pt x="1563624" y="2545690"/>
                </a:lnTo>
                <a:lnTo>
                  <a:pt x="955548" y="2545690"/>
                </a:lnTo>
                <a:lnTo>
                  <a:pt x="955548" y="2106778"/>
                </a:lnTo>
                <a:lnTo>
                  <a:pt x="521208" y="2106778"/>
                </a:lnTo>
                <a:lnTo>
                  <a:pt x="521208" y="1580083"/>
                </a:lnTo>
                <a:lnTo>
                  <a:pt x="217170" y="1580083"/>
                </a:lnTo>
                <a:lnTo>
                  <a:pt x="217170" y="877824"/>
                </a:lnTo>
                <a:lnTo>
                  <a:pt x="0" y="877824"/>
                </a:lnTo>
                <a:close/>
              </a:path>
            </a:pathLst>
          </a:custGeom>
          <a:solidFill>
            <a:srgbClr val="3DDC97">
              <a:alpha val="2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5074920"/>
            <a:ext cx="4480560" cy="0"/>
          </a:xfrm>
          <a:prstGeom prst="line">
            <a:avLst/>
          </a:prstGeom>
          <a:noFill/>
          <a:ln w="12700">
            <a:solidFill>
              <a:srgbClr val="9AA6B6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6903720" y="2011680"/>
            <a:ext cx="0" cy="3063240"/>
          </a:xfrm>
          <a:prstGeom prst="line">
            <a:avLst/>
          </a:prstGeom>
          <a:noFill/>
          <a:ln w="12700">
            <a:solidFill>
              <a:srgbClr val="9AA6B6"/>
            </a:solidFill>
            <a:prstDash val="solid"/>
            <a:headEnd type="triangle"/>
          </a:ln>
        </p:spPr>
      </p:sp>
      <p:sp>
        <p:nvSpPr>
          <p:cNvPr id="9" name="Shape 6"/>
          <p:cNvSpPr/>
          <p:nvPr/>
        </p:nvSpPr>
        <p:spPr>
          <a:xfrm>
            <a:off x="7120890" y="2148840"/>
            <a:ext cx="0" cy="877824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20890" y="3026664"/>
            <a:ext cx="217170" cy="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38060" y="3026664"/>
            <a:ext cx="0" cy="702259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38060" y="3728923"/>
            <a:ext cx="304038" cy="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42098" y="3728923"/>
            <a:ext cx="0" cy="526694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42098" y="4255618"/>
            <a:ext cx="434340" cy="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438" y="4255618"/>
            <a:ext cx="0" cy="438912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76438" y="4694530"/>
            <a:ext cx="608076" cy="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4514" y="4694530"/>
            <a:ext cx="0" cy="38039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84514" y="5074920"/>
            <a:ext cx="2562606" cy="0"/>
          </a:xfrm>
          <a:prstGeom prst="line">
            <a:avLst/>
          </a:prstGeom>
          <a:noFill/>
          <a:ln w="22225">
            <a:solidFill>
              <a:srgbClr val="3DDC9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052310" y="2958084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69480" y="3660343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1" name="Shape 18"/>
          <p:cNvSpPr/>
          <p:nvPr/>
        </p:nvSpPr>
        <p:spPr>
          <a:xfrm>
            <a:off x="7573518" y="4187038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7858" y="4625950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3" name="Shape 20"/>
          <p:cNvSpPr/>
          <p:nvPr/>
        </p:nvSpPr>
        <p:spPr>
          <a:xfrm>
            <a:off x="8615934" y="5006340"/>
            <a:ext cx="137160" cy="137160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4" name="Shape 21"/>
          <p:cNvSpPr/>
          <p:nvPr/>
        </p:nvSpPr>
        <p:spPr>
          <a:xfrm>
            <a:off x="11192256" y="2093976"/>
            <a:ext cx="109728" cy="10972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0698480" y="18013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(n, n)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858250" y="296814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sipërfaqja e dominuar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= rezultati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869680" y="51480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gjerësia e torsit  w 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13448" y="1837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kulmet e eliminuara  t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90372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ilustrim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720840" y="5504688"/>
            <a:ext cx="4830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Çdo zgjidhje është një pikë (</a:t>
            </a: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Rezultati është sipërfaqja që pikat dominojnë deri te (</a:t>
            </a: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ESA e paraqet me shenjë minus; kjo kumtesë raporton sipërfaqen pozitive, në HV.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INSTANCAT E TESTIMIT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Instancat e testimit: tri familje strukturore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grafet zyrtare të ESA-s dhe shtatë grafe sintetike të gjeneruara për t’u përputhur me to (n: kulme; tw: gjerësia e pemës).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71016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71016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912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2808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92808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03704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03704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25496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36392" y="265176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36392" y="265176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71016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71016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912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912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92808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92808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03704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03704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4600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14600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25496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36392" y="301752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36392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47288" y="3017520"/>
            <a:ext cx="0" cy="36576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71016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81912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92808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03704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14600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25496" y="3383280"/>
            <a:ext cx="310896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271016" y="237744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29868" y="233629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45" name="Shape 43"/>
          <p:cNvSpPr/>
          <p:nvPr/>
        </p:nvSpPr>
        <p:spPr>
          <a:xfrm>
            <a:off x="2203704" y="237744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62556" y="233629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47" name="Shape 45"/>
          <p:cNvSpPr/>
          <p:nvPr/>
        </p:nvSpPr>
        <p:spPr>
          <a:xfrm>
            <a:off x="3136392" y="237744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95244" y="233629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49" name="Shape 47"/>
          <p:cNvSpPr/>
          <p:nvPr/>
        </p:nvSpPr>
        <p:spPr>
          <a:xfrm>
            <a:off x="1581912" y="338328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40764" y="361645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51" name="Shape 49"/>
          <p:cNvSpPr/>
          <p:nvPr/>
        </p:nvSpPr>
        <p:spPr>
          <a:xfrm>
            <a:off x="2514600" y="338328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73452" y="361645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53" name="Shape 51"/>
          <p:cNvSpPr/>
          <p:nvPr/>
        </p:nvSpPr>
        <p:spPr>
          <a:xfrm>
            <a:off x="3447288" y="3383280"/>
            <a:ext cx="0" cy="27432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06140" y="361645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55" name="Shape 53"/>
          <p:cNvSpPr/>
          <p:nvPr/>
        </p:nvSpPr>
        <p:spPr>
          <a:xfrm>
            <a:off x="704088" y="3017520"/>
            <a:ext cx="256032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2940" y="297637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57" name="Shape 55"/>
          <p:cNvSpPr/>
          <p:nvPr/>
        </p:nvSpPr>
        <p:spPr>
          <a:xfrm>
            <a:off x="3447288" y="3017520"/>
            <a:ext cx="256032" cy="0"/>
          </a:xfrm>
          <a:prstGeom prst="line">
            <a:avLst/>
          </a:prstGeom>
          <a:noFill/>
          <a:ln w="12700">
            <a:solidFill>
              <a:srgbClr val="7D8AA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62172" y="297637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59" name="Shape 57"/>
          <p:cNvSpPr/>
          <p:nvPr/>
        </p:nvSpPr>
        <p:spPr>
          <a:xfrm>
            <a:off x="914400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225296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1" name="Shape 59"/>
          <p:cNvSpPr/>
          <p:nvPr/>
        </p:nvSpPr>
        <p:spPr>
          <a:xfrm>
            <a:off x="1536192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2" name="Shape 60"/>
          <p:cNvSpPr/>
          <p:nvPr/>
        </p:nvSpPr>
        <p:spPr>
          <a:xfrm>
            <a:off x="1847088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3" name="Shape 61"/>
          <p:cNvSpPr/>
          <p:nvPr/>
        </p:nvSpPr>
        <p:spPr>
          <a:xfrm>
            <a:off x="2157984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4" name="Shape 62"/>
          <p:cNvSpPr/>
          <p:nvPr/>
        </p:nvSpPr>
        <p:spPr>
          <a:xfrm>
            <a:off x="2468880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5" name="Shape 63"/>
          <p:cNvSpPr/>
          <p:nvPr/>
        </p:nvSpPr>
        <p:spPr>
          <a:xfrm>
            <a:off x="2779776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6" name="Shape 64"/>
          <p:cNvSpPr/>
          <p:nvPr/>
        </p:nvSpPr>
        <p:spPr>
          <a:xfrm>
            <a:off x="3090672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7" name="Shape 65"/>
          <p:cNvSpPr/>
          <p:nvPr/>
        </p:nvSpPr>
        <p:spPr>
          <a:xfrm>
            <a:off x="3401568" y="26060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914400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69" name="Shape 67"/>
          <p:cNvSpPr/>
          <p:nvPr/>
        </p:nvSpPr>
        <p:spPr>
          <a:xfrm>
            <a:off x="1225296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0" name="Shape 68"/>
          <p:cNvSpPr/>
          <p:nvPr/>
        </p:nvSpPr>
        <p:spPr>
          <a:xfrm>
            <a:off x="1536192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1" name="Shape 69"/>
          <p:cNvSpPr/>
          <p:nvPr/>
        </p:nvSpPr>
        <p:spPr>
          <a:xfrm>
            <a:off x="1847088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2157984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3" name="Shape 71"/>
          <p:cNvSpPr/>
          <p:nvPr/>
        </p:nvSpPr>
        <p:spPr>
          <a:xfrm>
            <a:off x="2468880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4" name="Shape 72"/>
          <p:cNvSpPr/>
          <p:nvPr/>
        </p:nvSpPr>
        <p:spPr>
          <a:xfrm>
            <a:off x="2779776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5" name="Shape 73"/>
          <p:cNvSpPr/>
          <p:nvPr/>
        </p:nvSpPr>
        <p:spPr>
          <a:xfrm>
            <a:off x="3090672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6" name="Shape 74"/>
          <p:cNvSpPr/>
          <p:nvPr/>
        </p:nvSpPr>
        <p:spPr>
          <a:xfrm>
            <a:off x="3401568" y="297180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400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8" name="Shape 76"/>
          <p:cNvSpPr/>
          <p:nvPr/>
        </p:nvSpPr>
        <p:spPr>
          <a:xfrm>
            <a:off x="1225296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79" name="Shape 77"/>
          <p:cNvSpPr/>
          <p:nvPr/>
        </p:nvSpPr>
        <p:spPr>
          <a:xfrm>
            <a:off x="1536192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1847088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1" name="Shape 79"/>
          <p:cNvSpPr/>
          <p:nvPr/>
        </p:nvSpPr>
        <p:spPr>
          <a:xfrm>
            <a:off x="2157984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2" name="Shape 80"/>
          <p:cNvSpPr/>
          <p:nvPr/>
        </p:nvSpPr>
        <p:spPr>
          <a:xfrm>
            <a:off x="2468880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3" name="Shape 81"/>
          <p:cNvSpPr/>
          <p:nvPr/>
        </p:nvSpPr>
        <p:spPr>
          <a:xfrm>
            <a:off x="2779776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4" name="Shape 82"/>
          <p:cNvSpPr/>
          <p:nvPr/>
        </p:nvSpPr>
        <p:spPr>
          <a:xfrm>
            <a:off x="3090672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5" name="Shape 83"/>
          <p:cNvSpPr/>
          <p:nvPr/>
        </p:nvSpPr>
        <p:spPr>
          <a:xfrm>
            <a:off x="3401568" y="333756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86" name="Shape 84"/>
          <p:cNvSpPr/>
          <p:nvPr/>
        </p:nvSpPr>
        <p:spPr>
          <a:xfrm flipV="1">
            <a:off x="5497523" y="2542736"/>
            <a:ext cx="1120754" cy="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5930873" y="3263143"/>
            <a:ext cx="814431" cy="47021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30873" y="2292541"/>
            <a:ext cx="254054" cy="1440813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5930873" y="3646463"/>
            <a:ext cx="492787" cy="8689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5692140" y="2292541"/>
            <a:ext cx="492787" cy="1353921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5497523" y="2379433"/>
            <a:ext cx="926137" cy="163303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5326380" y="2762753"/>
            <a:ext cx="1418924" cy="25019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370496" y="3263143"/>
            <a:ext cx="560377" cy="47021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370496" y="2762753"/>
            <a:ext cx="0" cy="500389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184927" y="2292541"/>
            <a:ext cx="0" cy="1440813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84927" y="2292541"/>
            <a:ext cx="433350" cy="1190619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5930873" y="3012948"/>
            <a:ext cx="858547" cy="720407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326380" y="3012948"/>
            <a:ext cx="171143" cy="47021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5370496" y="2542736"/>
            <a:ext cx="127027" cy="220017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5692140" y="2292541"/>
            <a:ext cx="238733" cy="1353921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423660" y="2379433"/>
            <a:ext cx="365760" cy="63351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5497523" y="3263143"/>
            <a:ext cx="1247781" cy="220017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423660" y="2379433"/>
            <a:ext cx="321644" cy="883709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V="1">
            <a:off x="5497523" y="2292541"/>
            <a:ext cx="687404" cy="25019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V="1">
            <a:off x="5692140" y="2379433"/>
            <a:ext cx="731520" cy="126703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930873" y="2292541"/>
            <a:ext cx="254054" cy="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V="1">
            <a:off x="5370496" y="2379433"/>
            <a:ext cx="321644" cy="38332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5930873" y="2379433"/>
            <a:ext cx="492787" cy="1353921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930873" y="2292541"/>
            <a:ext cx="254054" cy="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5370496" y="2542736"/>
            <a:ext cx="127027" cy="720407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30873" y="2292541"/>
            <a:ext cx="0" cy="1440813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26380" y="3012948"/>
            <a:ext cx="1097280" cy="63351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 flipV="1">
            <a:off x="5692140" y="3646463"/>
            <a:ext cx="731520" cy="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V="1">
            <a:off x="5326380" y="2379433"/>
            <a:ext cx="1097280" cy="63351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497523" y="3483160"/>
            <a:ext cx="926137" cy="163303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618277" y="2542736"/>
            <a:ext cx="171143" cy="47021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692140" y="2379433"/>
            <a:ext cx="731520" cy="126703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5692140" y="2292541"/>
            <a:ext cx="492787" cy="1353921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V="1">
            <a:off x="5692140" y="3263143"/>
            <a:ext cx="1053164" cy="38332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5370496" y="2379433"/>
            <a:ext cx="1053164" cy="883709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370496" y="2762753"/>
            <a:ext cx="1418924" cy="250195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5930873" y="3263143"/>
            <a:ext cx="814431" cy="470212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5370496" y="2762753"/>
            <a:ext cx="1374808" cy="500389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743700" y="2967228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99584" y="321742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72557" y="34374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77940" y="360074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139207" y="3687635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885153" y="3687635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646420" y="360074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451803" y="3437440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324776" y="321742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280660" y="2967228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324776" y="271703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451803" y="2497016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646420" y="233371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885153" y="2246821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39207" y="2246821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377940" y="233371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572557" y="2497016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699584" y="2717033"/>
            <a:ext cx="91440" cy="91440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761220" y="2409444"/>
            <a:ext cx="387925" cy="14119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761220" y="2409444"/>
            <a:ext cx="594335" cy="498707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761220" y="2409444"/>
            <a:ext cx="522650" cy="9052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761220" y="2409444"/>
            <a:ext cx="206411" cy="1170612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9554809" y="2409444"/>
            <a:ext cx="206411" cy="1170612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9238570" y="2409444"/>
            <a:ext cx="522650" cy="9052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9166885" y="2409444"/>
            <a:ext cx="594335" cy="498707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9373295" y="2409444"/>
            <a:ext cx="387925" cy="14119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149145" y="2550637"/>
            <a:ext cx="206411" cy="357514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49145" y="2550637"/>
            <a:ext cx="134725" cy="76406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9967631" y="2550637"/>
            <a:ext cx="181514" cy="102941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9554809" y="2550637"/>
            <a:ext cx="594335" cy="102941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9238570" y="2550637"/>
            <a:ext cx="910575" cy="76406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9166885" y="2550637"/>
            <a:ext cx="982260" cy="357514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9373295" y="2550637"/>
            <a:ext cx="775850" cy="0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10283870" y="2908151"/>
            <a:ext cx="71686" cy="40654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9967631" y="2908151"/>
            <a:ext cx="387925" cy="67190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9554809" y="2908151"/>
            <a:ext cx="800746" cy="67190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9238570" y="2908151"/>
            <a:ext cx="1116985" cy="40654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9166885" y="2908151"/>
            <a:ext cx="1188671" cy="0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373295" y="2550637"/>
            <a:ext cx="982260" cy="357514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flipV="1">
            <a:off x="9967631" y="3314700"/>
            <a:ext cx="316239" cy="2653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 flipV="1">
            <a:off x="9554809" y="3314700"/>
            <a:ext cx="729060" cy="2653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38570" y="3314700"/>
            <a:ext cx="1045300" cy="0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166885" y="2908151"/>
            <a:ext cx="1116985" cy="40654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373295" y="2550637"/>
            <a:ext cx="910575" cy="76406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54809" y="3580056"/>
            <a:ext cx="412821" cy="0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38570" y="3314700"/>
            <a:ext cx="729060" cy="2653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166885" y="2908151"/>
            <a:ext cx="800746" cy="67190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373295" y="2550637"/>
            <a:ext cx="594335" cy="102941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238570" y="3314700"/>
            <a:ext cx="316239" cy="26535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166885" y="2908151"/>
            <a:ext cx="387925" cy="671906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373295" y="2550637"/>
            <a:ext cx="181514" cy="102941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166885" y="2908151"/>
            <a:ext cx="71686" cy="406549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9238570" y="2550637"/>
            <a:ext cx="134725" cy="764063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9166885" y="2550637"/>
            <a:ext cx="206411" cy="357514"/>
          </a:xfrm>
          <a:prstGeom prst="line">
            <a:avLst/>
          </a:prstGeom>
          <a:noFill/>
          <a:ln w="9525">
            <a:solidFill>
              <a:srgbClr val="9AA6B6">
                <a:alpha val="7000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377172" y="2226564"/>
            <a:ext cx="384048" cy="18288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9336024" y="2185416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180" name="Shape 178"/>
          <p:cNvSpPr/>
          <p:nvPr/>
        </p:nvSpPr>
        <p:spPr>
          <a:xfrm flipV="1">
            <a:off x="10355555" y="2816711"/>
            <a:ext cx="384048" cy="9144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0698455" y="2775563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967631" y="3580056"/>
            <a:ext cx="347472" cy="201168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0273955" y="3740076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184" name="Shape 182"/>
          <p:cNvSpPr/>
          <p:nvPr/>
        </p:nvSpPr>
        <p:spPr>
          <a:xfrm flipV="1">
            <a:off x="8854522" y="3314700"/>
            <a:ext cx="384048" cy="18288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813374" y="3456432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8755405" y="2862431"/>
            <a:ext cx="411480" cy="45720"/>
          </a:xfrm>
          <a:prstGeom prst="line">
            <a:avLst/>
          </a:prstGeom>
          <a:noFill/>
          <a:ln w="11430">
            <a:solidFill>
              <a:srgbClr val="7D8AA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8714257" y="2821283"/>
            <a:ext cx="82296" cy="82296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188" name="Shape 186"/>
          <p:cNvSpPr/>
          <p:nvPr/>
        </p:nvSpPr>
        <p:spPr>
          <a:xfrm>
            <a:off x="9710928" y="2359152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89" name="Shape 187"/>
          <p:cNvSpPr/>
          <p:nvPr/>
        </p:nvSpPr>
        <p:spPr>
          <a:xfrm>
            <a:off x="10098853" y="2500345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0" name="Shape 188"/>
          <p:cNvSpPr/>
          <p:nvPr/>
        </p:nvSpPr>
        <p:spPr>
          <a:xfrm>
            <a:off x="10305263" y="2857859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0233578" y="3264408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917339" y="3529764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3" name="Shape 191"/>
          <p:cNvSpPr/>
          <p:nvPr/>
        </p:nvSpPr>
        <p:spPr>
          <a:xfrm>
            <a:off x="9504517" y="3529764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188278" y="3264408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93" y="2857859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323003" y="2500345"/>
            <a:ext cx="100584" cy="100584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40080" y="395020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Të rralla</a:t>
            </a:r>
            <a:endParaRPr lang="en-US" sz="2000" dirty="0"/>
          </a:p>
        </p:txBody>
      </p:sp>
      <p:sp>
        <p:nvSpPr>
          <p:cNvPr id="198" name="Text 196"/>
          <p:cNvSpPr txBox="1"/>
          <p:nvPr/>
        </p:nvSpPr>
        <p:spPr>
          <a:xfrm>
            <a:off x="640080" y="43525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1,357 · 2,280–2,282 brinjë · tw ≥ 5</a:t>
            </a:r>
            <a:endParaRPr lang="en-US" sz="1250" dirty="0"/>
          </a:p>
        </p:txBody>
      </p:sp>
      <p:sp>
        <p:nvSpPr>
          <p:cNvPr id="199" name="Text 197"/>
          <p:cNvSpPr txBox="1"/>
          <p:nvPr/>
        </p:nvSpPr>
        <p:spPr>
          <a:xfrm>
            <a:off x="640080" y="468172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small-graph (ESA): një rrjetë me 207 kulme varëse. synth-1, 2, 3 e imitojnë: rrjeta 10 × 115, 100 brinjë të hequra, 207 kulme varëse.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4343400" y="395020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Mesatare, të rilidhura</a:t>
            </a:r>
            <a:endParaRPr lang="en-US" sz="2000" dirty="0"/>
          </a:p>
        </p:txBody>
      </p:sp>
      <p:sp>
        <p:nvSpPr>
          <p:cNvPr id="201" name="Text 199"/>
          <p:cNvSpPr txBox="1"/>
          <p:nvPr/>
        </p:nvSpPr>
        <p:spPr>
          <a:xfrm>
            <a:off x="4343400" y="43525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1,399 · 13,799 brinjë · tw ≥ 63–73</a:t>
            </a:r>
            <a:endParaRPr lang="en-US" sz="1250" dirty="0"/>
          </a:p>
        </p:txBody>
      </p:sp>
      <p:sp>
        <p:nvSpPr>
          <p:cNvPr id="202" name="Text 200"/>
          <p:cNvSpPr txBox="1"/>
          <p:nvPr/>
        </p:nvSpPr>
        <p:spPr>
          <a:xfrm>
            <a:off x="4343400" y="468172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medium-graph (ESA). synth-4 dhe synth-5 i rilidhin brinjët e tij duke ruajtur shkallën e çdo kulmi.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8046720" y="395020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Të dendura, me klika</a:t>
            </a:r>
            <a:endParaRPr lang="en-US" sz="2000" dirty="0"/>
          </a:p>
        </p:txBody>
      </p:sp>
      <p:sp>
        <p:nvSpPr>
          <p:cNvPr id="204" name="Text 202"/>
          <p:cNvSpPr txBox="1"/>
          <p:nvPr/>
        </p:nvSpPr>
        <p:spPr>
          <a:xfrm>
            <a:off x="8046720" y="43525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2,426 · 253,895 brinjë · tw 499–500</a:t>
            </a:r>
            <a:endParaRPr lang="en-US" sz="1250" dirty="0"/>
          </a:p>
        </p:txBody>
      </p:sp>
      <p:sp>
        <p:nvSpPr>
          <p:cNvPr id="205" name="Text 203"/>
          <p:cNvSpPr txBox="1"/>
          <p:nvPr/>
        </p:nvSpPr>
        <p:spPr>
          <a:xfrm>
            <a:off x="8046720" y="4681728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large-graph (ESA), me klika me 500, 400 dhe 300 kulme. synth-6 dhe synth-7 e rilidhin duke i ruajtur klikat.</a:t>
            </a:r>
            <a:endParaRPr lang="en-US" sz="1300" dirty="0"/>
          </a:p>
        </p:txBody>
      </p:sp>
      <p:sp>
        <p:nvSpPr>
          <p:cNvPr id="206" name="Text 204"/>
          <p:cNvSpPr txBox="1"/>
          <p:nvPr/>
        </p:nvSpPr>
        <p:spPr>
          <a:xfrm>
            <a:off x="640080" y="565099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Brenda një familjeje madhësia është e njëjtë dhe ndryshon vetëm struktura. Prandaj dhjetë instancat janë tri struktura të pavarura, dhe rezultatet lexohen sipas familjes.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METODAT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Metodat e krahasuara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14400"/>
                <a:gridCol w="4069080"/>
                <a:gridCol w="3017520"/>
                <a:gridCol w="13103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Ideja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Implementimi në këtë studim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Hardueri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Spacekangaroos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Neuroevolucion i një rregulli që vlerëson kulmet; renditja fitohet duke i renditur kulmet sipas vlerave të tyre.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Kodi GPU i publikuar nga autorët, me një tejmbushje 32-bitëshe të rregulluar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 NVIDIA T4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Kërkim me fqinjësi të mëdha: hiq një kulm dhe fqinjët e tij, pastaj rifute secilin te mediana e fqinjëve të vet.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Riimplementuar nga punimi i ekipit; kodi nuk u publikua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bërthamë CPU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CMA-ES mbi peshat e veçorive të kulmeve; renditja fitohet duke i renditur kulmet sipas vlerës së peshuar.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Përshtatur nga qasja fast-cma-es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bërthamë CPU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 studim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Kërkim lokal mbi renditjet, nga një nisje min-degree (slajdi pasues).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 studim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bërthamë CPU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min-degree ×8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bazë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 kërkim: tetë ndërtime lakmitare min-degree, të bashkuara në një front.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 studim; pikënisja e Hill-Climbing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bërthamë CPU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4864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#: vendi në renditjen e përgjithshme të problemit të torsit në SpOC-3. Min-degree: elimino gjithmonë një kulm me sa më pak fqinjë aktualë, heuristikë klasike lakmitare. Çdo metodë ekzekutohet në harduerin për të cilin është projektuar.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METODAT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Metoda Hill-Climbing e këtij studimi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1962851" cy="202082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10512"/>
            <a:ext cx="1962851" cy="4572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1450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Nisja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523744"/>
            <a:ext cx="16885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renditje e re min-degree; barazimet zgjidhen rastësisht.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39507" y="2820924"/>
            <a:ext cx="201168" cy="0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7251" y="1810512"/>
            <a:ext cx="1962851" cy="202082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11" name="Shape 9"/>
          <p:cNvSpPr/>
          <p:nvPr/>
        </p:nvSpPr>
        <p:spPr>
          <a:xfrm>
            <a:off x="2877251" y="1810512"/>
            <a:ext cx="1962851" cy="4572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041843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316163" y="1993392"/>
            <a:ext cx="1450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Gjerësia e synuar </a:t>
            </a:r>
            <a:r>
              <a:rPr lang="en-US" sz="1250" b="1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41843" y="2523744"/>
            <a:ext cx="16885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Tetë synime të shpërndara në gjerësitë që arrin min-degree; kohë e barabartë për secilin.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76678" y="2820924"/>
            <a:ext cx="201168" cy="0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14422" y="1810512"/>
            <a:ext cx="1962851" cy="202082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17" name="Shape 15"/>
          <p:cNvSpPr/>
          <p:nvPr/>
        </p:nvSpPr>
        <p:spPr>
          <a:xfrm>
            <a:off x="5114422" y="1810512"/>
            <a:ext cx="1962851" cy="4572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014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553334" y="1993392"/>
            <a:ext cx="1450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Lëvizja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279014" y="2523744"/>
            <a:ext cx="16885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nga katër operatorët, rastësisht: këmbe dy kulme të njëpasnjëshme, këmbe dy kulme çfarëdo, zhvendos një kulm, përmbys një segment 2–10.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13849" y="2820924"/>
            <a:ext cx="201168" cy="0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593" y="1810512"/>
            <a:ext cx="1962851" cy="202082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23" name="Shape 21"/>
          <p:cNvSpPr/>
          <p:nvPr/>
        </p:nvSpPr>
        <p:spPr>
          <a:xfrm>
            <a:off x="7351593" y="1810512"/>
            <a:ext cx="1962851" cy="4572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16185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C14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790505" y="1993392"/>
            <a:ext cx="1450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Pranimi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516185" y="2523744"/>
            <a:ext cx="16885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Lëvizja mbahet vetëm nëse e ul rreptësisht </a:t>
            </a:r>
            <a:r>
              <a:rPr lang="en-US" sz="11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numrin e kulmeve të eliminuara për të arritur gjerësinë </a:t>
            </a:r>
            <a:r>
              <a:rPr lang="en-US" sz="11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351020" y="2820924"/>
            <a:ext cx="201168" cy="0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88764" y="1810512"/>
            <a:ext cx="1962851" cy="2020824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29" name="Shape 27"/>
          <p:cNvSpPr/>
          <p:nvPr/>
        </p:nvSpPr>
        <p:spPr>
          <a:xfrm>
            <a:off x="9588764" y="1810512"/>
            <a:ext cx="1962851" cy="45720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753356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027676" y="1993392"/>
            <a:ext cx="1450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Arkivi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753356" y="2523744"/>
            <a:ext cx="16885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Çdo renditje e vlerësuar shton pikat e veta në një front të përbashkët; 20 më të mirat zgjidhen saktë me programim dinamik.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333019" y="3831336"/>
            <a:ext cx="0" cy="237744"/>
          </a:xfrm>
          <a:prstGeom prst="line">
            <a:avLst/>
          </a:prstGeom>
          <a:noFill/>
          <a:ln w="15875">
            <a:solidFill>
              <a:srgbClr val="F2C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95848" y="4069080"/>
            <a:ext cx="2237171" cy="0"/>
          </a:xfrm>
          <a:prstGeom prst="line">
            <a:avLst/>
          </a:prstGeom>
          <a:noFill/>
          <a:ln w="15875">
            <a:solidFill>
              <a:srgbClr val="F2C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95848" y="3840480"/>
            <a:ext cx="0" cy="228600"/>
          </a:xfrm>
          <a:prstGeom prst="line">
            <a:avLst/>
          </a:prstGeom>
          <a:noFill/>
          <a:ln w="15875">
            <a:solidFill>
              <a:srgbClr val="F2C14E"/>
            </a:solidFill>
            <a:prstDash val="solid"/>
            <a:head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364328" y="4114800"/>
            <a:ext cx="37002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përsërit derisa të mbarojë koha për </a:t>
            </a:r>
            <a:r>
              <a:rPr lang="en-US" sz="1100" i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4608576"/>
            <a:ext cx="6309360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9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Çdo ngjitje optimizon një objektiv: për një gjerësi të synuar </a:t>
            </a:r>
            <a:r>
              <a:rPr lang="en-US" sz="13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minimizon </a:t>
            </a:r>
            <a:r>
              <a:rPr lang="en-US" sz="13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  <a:p>
            <a:pPr marL="190500" indent="-190500">
              <a:lnSpc>
                <a:spcPct val="100000"/>
              </a:lnSpc>
              <a:spcAft>
                <a:spcPts val="9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renditje jep një shkallare të tërë pikash, një për çdo prag, prandaj edhe lëvizjet e refuzuara e pasurojnë arkivin.</a:t>
            </a:r>
            <a:endParaRPr lang="en-US" sz="1350" dirty="0"/>
          </a:p>
          <a:p>
            <a:pPr marL="190500" indent="-190500">
              <a:lnSpc>
                <a:spcPct val="100000"/>
              </a:lnSpc>
              <a:buClr>
                <a:srgbClr val="3DDC97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Dizajni është qëllimisht i thjeshtë, që të shërbejë si kontroll për çdo ablacion te Rezultatet III.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269480" y="4535424"/>
            <a:ext cx="4282135" cy="1627632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39" name="Shape 37"/>
          <p:cNvSpPr/>
          <p:nvPr/>
        </p:nvSpPr>
        <p:spPr>
          <a:xfrm>
            <a:off x="7269480" y="4535424"/>
            <a:ext cx="54864" cy="1627632"/>
          </a:xfrm>
          <a:prstGeom prst="rect">
            <a:avLst/>
          </a:prstGeom>
          <a:solidFill>
            <a:srgbClr val="4DA3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525512" y="4663440"/>
            <a:ext cx="3916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VLERËSUES DELTA I SAKTË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525512" y="499262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4DA3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1.81×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8897112" y="4974336"/>
            <a:ext cx="2499055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shumë kandidatë në sekondë (mesatare gjeometrike, dhjetë instanca), duke rivlerësuar vetëm dritaren që ndryshon lëvizja. Rezultate identike në 600 nga 600 kontrolle; nuk u përdor në ekzekutimet e krahasimit.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PROTOKOLLI EKSPERIMENTAL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Protokolli eksperimental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5897880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4325112"/>
              </a:tblGrid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Ekzekutimet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 s kohë reale për ekzekutim, tri fara për çdo metodë dhe instancë, dhjetë instanca.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Hardueri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Çdo metodë CPU e fiksuar në një bërthamë; Spacekangaroos në një GPU NVIDIA T4.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Nisja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 dhe Hill-Climbing nisen nga i njëjti ndërtim min-degree, i llogaritur brenda çdo ekzekutimi.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Vlerësimi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Çdo rezultat rivlerësohet nga një vlerësues i vetëm, që përputhet me kodin e publikuar të vlerësimit të ESA-s në të gjitha kontrollet.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Raportimi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Më e mira nga tri farat në tabelën e rezultateve; të gjitha farat në testin e qëndrueshmërisë.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Një kufi i sipërm i vërtetueshëm për rezultatin e çdo instance.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00584" marB="10058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086600" y="1810512"/>
            <a:ext cx="4465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 NISJA DUHET TË JETË E NJËJTË · synth-1, 8 s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086600" y="2121408"/>
            <a:ext cx="4465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krahasim i mëhershëm e nisi Team HRI nga një renditje e rastësishme, siç e përcakton punimi i tij, dhe Hill-Climbing nga min-degree.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86600" y="327355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nisje të ndryshme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0" y="3401568"/>
            <a:ext cx="2773375" cy="0"/>
          </a:xfrm>
          <a:prstGeom prst="line">
            <a:avLst/>
          </a:prstGeom>
          <a:noFill/>
          <a:ln w="9525">
            <a:solidFill>
              <a:srgbClr val="1C25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051474" y="3401568"/>
            <a:ext cx="2313037" cy="0"/>
          </a:xfrm>
          <a:prstGeom prst="line">
            <a:avLst/>
          </a:prstGeom>
          <a:noFill/>
          <a:ln w="28575">
            <a:solidFill>
              <a:srgbClr val="F2C14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286787" y="3323844"/>
            <a:ext cx="155448" cy="15544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1" name="Shape 8"/>
          <p:cNvSpPr/>
          <p:nvPr/>
        </p:nvSpPr>
        <p:spPr>
          <a:xfrm>
            <a:off x="8973750" y="3323844"/>
            <a:ext cx="155448" cy="155448"/>
          </a:xfrm>
          <a:prstGeom prst="ellipse">
            <a:avLst/>
          </a:prstGeom>
          <a:solidFill>
            <a:srgbClr val="0B0F17"/>
          </a:solidFill>
          <a:ln w="19050">
            <a:solidFill>
              <a:srgbClr val="E8EC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280074" y="3063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275,225 HV diferencë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39867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nisje e njëjtë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86800" y="4114800"/>
            <a:ext cx="2773375" cy="0"/>
          </a:xfrm>
          <a:prstGeom prst="line">
            <a:avLst/>
          </a:prstGeom>
          <a:noFill/>
          <a:ln w="9525">
            <a:solidFill>
              <a:srgbClr val="1C25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364931" y="4114800"/>
            <a:ext cx="10371" cy="0"/>
          </a:xfrm>
          <a:prstGeom prst="line">
            <a:avLst/>
          </a:prstGeom>
          <a:noFill/>
          <a:ln w="28575">
            <a:solidFill>
              <a:srgbClr val="F2C1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297578" y="4037076"/>
            <a:ext cx="155448" cy="15544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17" name="Shape 14"/>
          <p:cNvSpPr/>
          <p:nvPr/>
        </p:nvSpPr>
        <p:spPr>
          <a:xfrm>
            <a:off x="11236915" y="3986784"/>
            <a:ext cx="256032" cy="256032"/>
          </a:xfrm>
          <a:prstGeom prst="ellipse">
            <a:avLst/>
          </a:prstGeom>
          <a:ln w="19050">
            <a:solidFill>
              <a:srgbClr val="E8EC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09342" y="3776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 HV diferencë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3159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1.50M HV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43159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1.83M HV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673084" y="4704588"/>
            <a:ext cx="118872" cy="118872"/>
          </a:xfrm>
          <a:prstGeom prst="ellipse">
            <a:avLst/>
          </a:prstGeom>
          <a:solidFill>
            <a:srgbClr val="0B0F17"/>
          </a:solidFill>
          <a:ln w="19050">
            <a:solidFill>
              <a:srgbClr val="E8EC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851392" y="46634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HRI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953244" y="4704588"/>
            <a:ext cx="118872" cy="118872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131552" y="46634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Hill-Climbing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5120640"/>
            <a:ext cx="4465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Thuajse i gjithë dallimi i dukshëm erdhi nga pika e nisjes, jo nga kërkimi.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REZULTATET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Rezultatet I: krahasimi i pesë metodave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7266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61872"/>
                <a:gridCol w="1261872"/>
                <a:gridCol w="1261872"/>
                <a:gridCol w="1261872"/>
                <a:gridCol w="1261872"/>
              </a:tblGrid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Spacekangaroos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min-degree ×8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 studim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 kërkim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 gridSpan="6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TË RRALLA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1,803.8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 gridSpan="6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MESATARE, TË RILIDHURA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1,566.5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1,592.3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1,564.0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1,473.4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1,558.5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 gridSpan="6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TË DENDURA, ME KLIKA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5,329.4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5,167.2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4,797.9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4DA3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5,203.6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A3FF">
                        <a:alpha val="14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70448"/>
            <a:ext cx="7726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Hipervolumi ×1,000 (më i madh është më mirë), më i miri nga 3 fara, 1,200 s secila. Me të trasha: më i miri në rresht. —: asnjë pikë e lejuar në asnjë farë.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810512"/>
            <a:ext cx="28648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Metodat nga renditja e ESA-s fitojnë 8 nga 10 instancat; Hill-Climbing fiton synth-1 dhe synth-3.</a:t>
            </a:r>
            <a:endParaRPr lang="en-US" sz="1300" dirty="0"/>
          </a:p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fcmaes prin në të tria instancat e dendura, me 369,276 deri në 492,606 HV.</a:t>
            </a:r>
            <a:endParaRPr lang="en-US" sz="1300" dirty="0"/>
          </a:p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Spacekangaroos fiton small-graph, por brenda 1,200 s nuk gjen asnjë pikë të lejuar në instancat e dendura.</a:t>
            </a:r>
            <a:endParaRPr lang="en-US" sz="1300" dirty="0"/>
          </a:p>
          <a:p>
            <a:pPr marL="190500" indent="-190500">
              <a:lnSpc>
                <a:spcPct val="100000"/>
              </a:lnSpc>
              <a:buClr>
                <a:srgbClr val="3DDC97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Vetëm ndërtimi, min-degree ×8, arrin së paku 99.3% të rezultatit më të mirë në çdo instancë të rrallë.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5559552"/>
            <a:ext cx="2864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2C14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janë të besueshëm këta fitues? Slajdi tjetër i lexon të gjitha farat.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REZULTATET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Rezultatet II: qëndrueshmëria e fituesve ndër fara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03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554480"/>
                <a:gridCol w="1554480"/>
                <a:gridCol w="1005840"/>
                <a:gridCol w="13258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më i miri nga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nga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Spacekangaroos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−9,960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pavendosur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pavendosur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−2,515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pavendosur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vendosur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−61,095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pavendosur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+2,128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−31,077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pavendosur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large-graph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+425,344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+233,811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+121,598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vendosur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486400"/>
            <a:ext cx="6903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Hendeku i farave: fara më e dobët e fituesit minus fara më e mirë e çdo rivali. I vendosur: hendek pozitiv dhe i njëjti fitues sipas medianës, d.m.th. çdo farë e fituesit mposht çdo farë të çdo rivali (test i saktë rangjesh, p = 0.05 me tri fara). * synth-3: Hill-Climbing e kalon ndërtimin e vet fillestar vetëm me 24–71 HV.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1810512"/>
            <a:ext cx="3550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SMALL-GRAPH: ÇDO FARË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2258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Spacekangaroos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9326880" y="2377440"/>
            <a:ext cx="2179015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16256" y="2240280"/>
            <a:ext cx="0" cy="274320"/>
          </a:xfrm>
          <a:prstGeom prst="line">
            <a:avLst/>
          </a:prstGeom>
          <a:noFill/>
          <a:ln w="19050">
            <a:solidFill>
              <a:srgbClr val="F2C14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303402" y="2318004"/>
            <a:ext cx="118872" cy="118872"/>
          </a:xfrm>
          <a:prstGeom prst="ellipse">
            <a:avLst/>
          </a:prstGeom>
          <a:solidFill>
            <a:srgbClr val="4DA3FF">
              <a:alpha val="9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9856820" y="23180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9733753" y="23180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27157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HRI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326880" y="2834640"/>
            <a:ext cx="2179015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02457" y="2697480"/>
            <a:ext cx="0" cy="274320"/>
          </a:xfrm>
          <a:prstGeom prst="line">
            <a:avLst/>
          </a:prstGeom>
          <a:noFill/>
          <a:ln w="19050">
            <a:solidFill>
              <a:srgbClr val="F2C1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77362" y="27752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10543021" y="27752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10492051" y="27752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01000" y="31729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Hill-Climbing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326880" y="3291840"/>
            <a:ext cx="2179015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136621" y="3154680"/>
            <a:ext cx="0" cy="274320"/>
          </a:xfrm>
          <a:prstGeom prst="line">
            <a:avLst/>
          </a:prstGeom>
          <a:noFill/>
          <a:ln w="19050">
            <a:solidFill>
              <a:srgbClr val="F2C14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75574" y="32324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0161503" y="32324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0077185" y="32324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01000" y="36301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fcmaes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326880" y="3749040"/>
            <a:ext cx="2179015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89738" y="3611880"/>
            <a:ext cx="0" cy="274320"/>
          </a:xfrm>
          <a:prstGeom prst="line">
            <a:avLst/>
          </a:prstGeom>
          <a:noFill/>
          <a:ln w="19050">
            <a:solidFill>
              <a:srgbClr val="F2C14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30302" y="36896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9460145" y="36896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9376205" y="3689604"/>
            <a:ext cx="118872" cy="118872"/>
          </a:xfrm>
          <a:prstGeom prst="ellipse">
            <a:avLst/>
          </a:prstGeom>
          <a:solidFill>
            <a:srgbClr val="E8ECF2">
              <a:alpha val="90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11253110" y="2267712"/>
            <a:ext cx="219456" cy="219456"/>
          </a:xfrm>
          <a:prstGeom prst="ellipse">
            <a:avLst/>
          </a:prstGeom>
          <a:ln w="15875">
            <a:solidFill>
              <a:srgbClr val="4DA3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65558" y="199339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i miri nga 3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9385799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1,810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9859498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1,815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10333197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1,820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0806896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1,825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9326880" y="4041648"/>
            <a:ext cx="2179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hipervolumi ×1,000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8019288" y="4343400"/>
            <a:ext cx="137160" cy="0"/>
          </a:xfrm>
          <a:prstGeom prst="line">
            <a:avLst/>
          </a:prstGeom>
          <a:noFill/>
          <a:ln w="19050">
            <a:solidFill>
              <a:srgbClr val="F2C14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02168" y="42428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medianat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001000" y="4553712"/>
            <a:ext cx="35506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i miri nga tri e kurorëzon Spacekangaroos me një farë të vetme; dy farat e tjera të tij janë nën të tria farat e Team HRI. Mediana e kurorëzon Team HRI.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001000" y="5468112"/>
            <a:ext cx="3550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LEXOHET TABELA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001000" y="5715000"/>
            <a:ext cx="35506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vendosura: synth-3, synth-4 dhe tri instancat e dendura. Në pesë të tjerat, farat e fituesit dhe të një rivali mbivendosen.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REZULTATET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Rezultatet III: cili përbërës i kërkimit ka rëndësi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Çdo variant ndryshon saktësisht një përbërës të kontrollit Hill-Climbing: grupin e lëvizjeve, rregullin e pranimit ose ndërtimin fillestar. Shiritat tregojnë ndryshimin e hipervolumit të mbledhur mbi dhjetë instancat.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6369" y="2542032"/>
            <a:ext cx="536198" cy="2916936"/>
          </a:xfrm>
          <a:prstGeom prst="rect">
            <a:avLst/>
          </a:prstGeom>
          <a:solidFill>
            <a:srgbClr val="F2C14E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76369" y="2542032"/>
            <a:ext cx="0" cy="2916936"/>
          </a:xfrm>
          <a:prstGeom prst="line">
            <a:avLst/>
          </a:prstGeom>
          <a:noFill/>
          <a:ln w="9525">
            <a:solidFill>
              <a:srgbClr val="F2C14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012567" y="2542032"/>
            <a:ext cx="0" cy="2916936"/>
          </a:xfrm>
          <a:prstGeom prst="line">
            <a:avLst/>
          </a:prstGeom>
          <a:noFill/>
          <a:ln w="9525">
            <a:solidFill>
              <a:srgbClr val="F2C14E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3293489" y="230428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kontrolli i ekzekutuar dy herë: ±21,519 HV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44468" y="2542032"/>
            <a:ext cx="0" cy="2916936"/>
          </a:xfrm>
          <a:prstGeom prst="line">
            <a:avLst/>
          </a:prstGeom>
          <a:noFill/>
          <a:ln w="9525">
            <a:solidFill>
              <a:srgbClr val="9AA6B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4428" y="55046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70298" y="55046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16168" y="55046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62038" y="55046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6791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GRUPI I LËVIZJEVE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8803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lëvizje sipas pikës së ngushtë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744468" y="2843784"/>
            <a:ext cx="119130" cy="219456"/>
          </a:xfrm>
          <a:prstGeom prst="rect">
            <a:avLst/>
          </a:prstGeom>
          <a:solidFill>
            <a:srgbClr val="9AA6B6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517775" y="2875788"/>
            <a:ext cx="155448" cy="155448"/>
          </a:xfrm>
          <a:prstGeom prst="ellipse">
            <a:avLst/>
          </a:prstGeom>
          <a:ln w="19050">
            <a:solidFill>
              <a:srgbClr val="E8EC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22295" y="28346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+9,562  ·  0.4×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37413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RREGULLI I PRANIMIT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753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shkallëzimi i shkundjeve VNS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744468" y="3538728"/>
            <a:ext cx="244477" cy="219456"/>
          </a:xfrm>
          <a:prstGeom prst="rect">
            <a:avLst/>
          </a:prstGeom>
          <a:solidFill>
            <a:srgbClr val="9AA6B6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643122" y="3570732"/>
            <a:ext cx="155448" cy="155448"/>
          </a:xfrm>
          <a:prstGeom prst="ellipse">
            <a:avLst/>
          </a:prstGeom>
          <a:ln w="19050">
            <a:solidFill>
              <a:srgbClr val="E8EC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22295" y="352958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+19,623  ·  0.9×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06908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RREGULLI I PRANIMIT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2702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kalitja e simuluar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744468" y="4233672"/>
            <a:ext cx="529096" cy="219456"/>
          </a:xfrm>
          <a:prstGeom prst="rect">
            <a:avLst/>
          </a:prstGeom>
          <a:solidFill>
            <a:srgbClr val="9AA6B6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27741" y="4265676"/>
            <a:ext cx="155448" cy="155448"/>
          </a:xfrm>
          <a:prstGeom prst="ellipse">
            <a:avLst/>
          </a:prstGeom>
          <a:ln w="19050">
            <a:solidFill>
              <a:srgbClr val="E8EC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383292" y="42245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+42,468  ·  2.0×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7640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NDËRTIMI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965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GRASP, lakmitar i rastësishëm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3744468" y="4928616"/>
            <a:ext cx="4251693" cy="219456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32" name="Shape 30"/>
          <p:cNvSpPr/>
          <p:nvPr/>
        </p:nvSpPr>
        <p:spPr>
          <a:xfrm>
            <a:off x="7650339" y="4960620"/>
            <a:ext cx="155448" cy="155448"/>
          </a:xfrm>
          <a:prstGeom prst="ellipse">
            <a:avLst/>
          </a:prstGeom>
          <a:ln w="19050">
            <a:solidFill>
              <a:srgbClr val="0B0F1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2063" y="491947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0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+341,263  ·  15.9×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46120" y="5852160"/>
            <a:ext cx="274320" cy="118872"/>
          </a:xfrm>
          <a:prstGeom prst="rect">
            <a:avLst/>
          </a:prstGeom>
          <a:solidFill>
            <a:srgbClr val="9AA6B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93592" y="579729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ndryshimi ndaj kontrollit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742432" y="5843016"/>
            <a:ext cx="128016" cy="128016"/>
          </a:xfrm>
          <a:prstGeom prst="ellipse">
            <a:avLst/>
          </a:prstGeom>
          <a:ln w="15875">
            <a:solidFill>
              <a:srgbClr val="E8EC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943600" y="5797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ndaj ekzekutimit tjetër të kontrollit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246120" y="60716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0.4× = ndryshimi ÷ 21,519 HV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823960" y="2514600"/>
            <a:ext cx="2727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NGA VJEN EFEKTI I NDËRTIMIT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823960" y="2971800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+343,623 HV</a:t>
            </a:r>
            <a:endParaRPr lang="en-US" sz="2500" dirty="0"/>
          </a:p>
        </p:txBody>
      </p:sp>
      <p:sp>
        <p:nvSpPr>
          <p:cNvPr id="41" name="Text 39"/>
          <p:cNvSpPr txBox="1"/>
          <p:nvPr/>
        </p:nvSpPr>
        <p:spPr>
          <a:xfrm>
            <a:off x="8823960" y="345643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tri instancat e dendura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823960" y="3931920"/>
            <a:ext cx="2727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FF5A6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−2,360 HV</a:t>
            </a:r>
            <a:endParaRPr lang="en-US" sz="2500" dirty="0"/>
          </a:p>
        </p:txBody>
      </p:sp>
      <p:sp>
        <p:nvSpPr>
          <p:cNvPr id="43" name="Text 41"/>
          <p:cNvSpPr txBox="1"/>
          <p:nvPr/>
        </p:nvSpPr>
        <p:spPr>
          <a:xfrm>
            <a:off x="8823960" y="44165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shtatë të tjerat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823960" y="4983480"/>
            <a:ext cx="2727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Efekti i ndërtimit është rezultat për grafet e dendura: në grafet e rralla dhe mesatare ai zhduket.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REZULTATET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Rezultatet III (vazhdim): 17 operatorë lëvizjeje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Trembëdhjetë operatorë të rinj lëvizjeje në pesë familje u përdorën secili vetëm, në vend të katër operatorëve të kontrollit, dhe të shtatëmbëdhjetë u ekzekutuan edhe së bashku.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01399" y="2532888"/>
            <a:ext cx="3269405" cy="3291840"/>
          </a:xfrm>
          <a:prstGeom prst="rect">
            <a:avLst/>
          </a:prstGeom>
          <a:solidFill>
            <a:srgbClr val="F2C14E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101399" y="2532888"/>
            <a:ext cx="0" cy="3291840"/>
          </a:xfrm>
          <a:prstGeom prst="line">
            <a:avLst/>
          </a:prstGeom>
          <a:noFill/>
          <a:ln w="9525">
            <a:solidFill>
              <a:srgbClr val="F2C14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370804" y="2532888"/>
            <a:ext cx="0" cy="3291840"/>
          </a:xfrm>
          <a:prstGeom prst="line">
            <a:avLst/>
          </a:prstGeom>
          <a:noFill/>
          <a:ln w="9525">
            <a:solidFill>
              <a:srgbClr val="F2C14E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101399" y="227685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kontrolli dy herë  ±21,519 HV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36102" y="2532888"/>
            <a:ext cx="0" cy="3273552"/>
          </a:xfrm>
          <a:prstGeom prst="line">
            <a:avLst/>
          </a:prstGeom>
          <a:noFill/>
          <a:ln w="9525">
            <a:solidFill>
              <a:srgbClr val="9AA6B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151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k_opt_aimed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65203" y="27203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39" y="26654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40470" y="26609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437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three_opt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94854" y="29489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9990" y="28940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70120" y="28895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723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corner_shuffle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4571" y="31775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19707" y="31226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838" y="31181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3009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or_opt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32334" y="34061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77470" y="33512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07601" y="33467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5295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min_fill_aimed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45413" y="36347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90549" y="35798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0679" y="35753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0080" y="37581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17 së bashku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045337" y="38633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90473" y="38084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20603" y="38039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080" y="39867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simplicial_pull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038879" y="40919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84015" y="40370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14146" y="40325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" y="42153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k_opt_rotate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995427" y="43205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40563" y="42656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70694" y="42611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44439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three_opt_aimed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979854" y="45491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24990" y="44942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55121" y="44897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46725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min_fill_window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883530" y="47777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28666" y="47228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58796" y="47183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9011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degeneracy_window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97490" y="50063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42626" y="49514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272757" y="49469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" y="51297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degeneracy_aimed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606332" y="52349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551468" y="51800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81598" y="51755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40080" y="53583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or_opt_aimed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3204778" y="54635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149914" y="54086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80044" y="54041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0080" y="558698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corner_earlier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018207" y="5692140"/>
            <a:ext cx="1634702" cy="0"/>
          </a:xfrm>
          <a:prstGeom prst="line">
            <a:avLst/>
          </a:prstGeom>
          <a:noFill/>
          <a:ln w="9525">
            <a:solidFill>
              <a:srgbClr val="7D8AA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963343" y="5637276"/>
            <a:ext cx="109728" cy="109728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93473" y="563270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2377440" y="5852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−40k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896751" y="5852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−20k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5416062" y="5852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6935372" y="585216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+20k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692908" y="6158484"/>
            <a:ext cx="118872" cy="118872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2880360" y="61173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ndaj ekzekutimit 2 të kontrollit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244084" y="6158484"/>
            <a:ext cx="118872" cy="118872"/>
          </a:xfrm>
          <a:prstGeom prst="ellipse">
            <a:avLst/>
          </a:prstGeom>
          <a:ln w="13970">
            <a:solidFill>
              <a:srgbClr val="E8ECF2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40680" y="61173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ndaj ekzekutimit 1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8229600" y="2514600"/>
            <a:ext cx="3322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4DA3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0.23%</a:t>
            </a:r>
            <a:endParaRPr lang="en-US" sz="5400" dirty="0"/>
          </a:p>
        </p:txBody>
      </p:sp>
      <p:sp>
        <p:nvSpPr>
          <p:cNvPr id="75" name="Text 73"/>
          <p:cNvSpPr txBox="1"/>
          <p:nvPr/>
        </p:nvSpPr>
        <p:spPr>
          <a:xfrm>
            <a:off x="8229600" y="3474720"/>
            <a:ext cx="3322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shkalla më e lartë e pranimit e çdo operatori (swap_any në synth-4)</a:t>
            </a:r>
            <a:endParaRPr lang="en-US" sz="1250" dirty="0"/>
          </a:p>
        </p:txBody>
      </p:sp>
      <p:sp>
        <p:nvSpPr>
          <p:cNvPr id="76" name="Text 74"/>
          <p:cNvSpPr txBox="1"/>
          <p:nvPr/>
        </p:nvSpPr>
        <p:spPr>
          <a:xfrm>
            <a:off x="8229600" y="4206240"/>
            <a:ext cx="3322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Asnjë operator nuk e përmirëson kontrollin më shumë se rimatja e vetë kontrollit, dhe farë pas fare asnjë nuk fiton qoftë edhe një instancë kundër të dy ekzekutimeve të kontrollit. Gjerësia është maksimum që e mban një kulm i vetëm, prandaj shumica e lëvizjeve nuk ndryshojnë asgjë: rreth një renditjeje min-degree peizazhi është i rrafshët.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REZULTATET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Rezultatet IV: buxhete më të gjata dhe kufiri i sipërm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645920" y="4931923"/>
            <a:ext cx="3703320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831339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45920" y="4280170"/>
            <a:ext cx="3703320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417958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3628417"/>
            <a:ext cx="3703320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527833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5920" y="2976664"/>
            <a:ext cx="3703320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7608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26.7M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45920" y="2324911"/>
            <a:ext cx="3703320" cy="0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224327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26.8M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79222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hipervolumi i dhjetë instancave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5330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 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961929" y="5330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3,600 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5330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 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783080" y="2444181"/>
            <a:ext cx="1636049" cy="127880"/>
          </a:xfrm>
          <a:prstGeom prst="line">
            <a:avLst/>
          </a:prstGeom>
          <a:noFill/>
          <a:ln w="28575">
            <a:solidFill>
              <a:srgbClr val="3DDC9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19129" y="2572062"/>
            <a:ext cx="1792951" cy="455660"/>
          </a:xfrm>
          <a:prstGeom prst="line">
            <a:avLst/>
          </a:prstGeom>
          <a:noFill/>
          <a:ln w="28575">
            <a:solidFill>
              <a:srgbClr val="3DDC9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28216" y="2389317"/>
            <a:ext cx="109728" cy="109728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1" name="Shape 19"/>
          <p:cNvSpPr/>
          <p:nvPr/>
        </p:nvSpPr>
        <p:spPr>
          <a:xfrm>
            <a:off x="3364265" y="2517198"/>
            <a:ext cx="109728" cy="109728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2" name="Shape 20"/>
          <p:cNvSpPr/>
          <p:nvPr/>
        </p:nvSpPr>
        <p:spPr>
          <a:xfrm>
            <a:off x="5157216" y="2972858"/>
            <a:ext cx="109728" cy="109728"/>
          </a:xfrm>
          <a:prstGeom prst="ellipse">
            <a:avLst/>
          </a:prstGeom>
          <a:solidFill>
            <a:srgbClr val="3DDC97"/>
          </a:solidFill>
          <a:ln/>
        </p:spPr>
      </p:sp>
      <p:sp>
        <p:nvSpPr>
          <p:cNvPr id="23" name="Shape 21"/>
          <p:cNvSpPr/>
          <p:nvPr/>
        </p:nvSpPr>
        <p:spPr>
          <a:xfrm flipV="1">
            <a:off x="1783080" y="4901317"/>
            <a:ext cx="1636049" cy="98936"/>
          </a:xfrm>
          <a:prstGeom prst="line">
            <a:avLst/>
          </a:prstGeom>
          <a:noFill/>
          <a:ln w="25400">
            <a:solidFill>
              <a:srgbClr val="E8EC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3419129" y="4784894"/>
            <a:ext cx="1792951" cy="116423"/>
          </a:xfrm>
          <a:prstGeom prst="line">
            <a:avLst/>
          </a:prstGeom>
          <a:noFill/>
          <a:ln w="25400">
            <a:solidFill>
              <a:srgbClr val="E8EC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28216" y="4945389"/>
            <a:ext cx="109728" cy="10972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64265" y="4846453"/>
            <a:ext cx="109728" cy="10972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5157216" y="4730030"/>
            <a:ext cx="109728" cy="109728"/>
          </a:xfrm>
          <a:prstGeom prst="ellipse">
            <a:avLst/>
          </a:prstGeom>
          <a:solidFill>
            <a:srgbClr val="E8ECF2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1783080" y="4973786"/>
            <a:ext cx="1636049" cy="14195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3419129" y="4951756"/>
            <a:ext cx="1792951" cy="22029"/>
          </a:xfrm>
          <a:prstGeom prst="line">
            <a:avLst/>
          </a:prstGeom>
          <a:noFill/>
          <a:ln w="15875">
            <a:solidFill>
              <a:srgbClr val="9AA6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28216" y="4933117"/>
            <a:ext cx="109728" cy="109728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31" name="Shape 29"/>
          <p:cNvSpPr/>
          <p:nvPr/>
        </p:nvSpPr>
        <p:spPr>
          <a:xfrm>
            <a:off x="3364265" y="4918922"/>
            <a:ext cx="109728" cy="109728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32" name="Shape 30"/>
          <p:cNvSpPr/>
          <p:nvPr/>
        </p:nvSpPr>
        <p:spPr>
          <a:xfrm>
            <a:off x="5157216" y="4896892"/>
            <a:ext cx="109728" cy="109728"/>
          </a:xfrm>
          <a:prstGeom prst="ellipse">
            <a:avLst/>
          </a:prstGeom>
          <a:solidFill>
            <a:srgbClr val="9AA6B6"/>
          </a:solidFill>
          <a:ln/>
        </p:spPr>
      </p:sp>
      <p:sp>
        <p:nvSpPr>
          <p:cNvPr id="33" name="Shape 31"/>
          <p:cNvSpPr/>
          <p:nvPr/>
        </p:nvSpPr>
        <p:spPr>
          <a:xfrm>
            <a:off x="1783080" y="4979801"/>
            <a:ext cx="1636049" cy="24486"/>
          </a:xfrm>
          <a:prstGeom prst="line">
            <a:avLst/>
          </a:prstGeom>
          <a:noFill/>
          <a:ln w="15875">
            <a:solidFill>
              <a:srgbClr val="7D8AA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419129" y="4921052"/>
            <a:ext cx="1792951" cy="83235"/>
          </a:xfrm>
          <a:prstGeom prst="line">
            <a:avLst/>
          </a:prstGeom>
          <a:noFill/>
          <a:ln w="15875">
            <a:solidFill>
              <a:srgbClr val="7D8AA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728216" y="4924937"/>
            <a:ext cx="109728" cy="109728"/>
          </a:xfrm>
          <a:prstGeom prst="ellipse">
            <a:avLst/>
          </a:prstGeom>
          <a:solidFill>
            <a:srgbClr val="7D8AA0"/>
          </a:solidFill>
          <a:ln/>
        </p:spPr>
      </p:sp>
      <p:sp>
        <p:nvSpPr>
          <p:cNvPr id="36" name="Shape 34"/>
          <p:cNvSpPr/>
          <p:nvPr/>
        </p:nvSpPr>
        <p:spPr>
          <a:xfrm>
            <a:off x="3364265" y="4949424"/>
            <a:ext cx="109728" cy="109728"/>
          </a:xfrm>
          <a:prstGeom prst="ellipse">
            <a:avLst/>
          </a:prstGeom>
          <a:solidFill>
            <a:srgbClr val="7D8AA0"/>
          </a:solidFill>
          <a:ln/>
        </p:spPr>
      </p:sp>
      <p:sp>
        <p:nvSpPr>
          <p:cNvPr id="37" name="Shape 35"/>
          <p:cNvSpPr/>
          <p:nvPr/>
        </p:nvSpPr>
        <p:spPr>
          <a:xfrm>
            <a:off x="5157216" y="4866188"/>
            <a:ext cx="109728" cy="109728"/>
          </a:xfrm>
          <a:prstGeom prst="ellipse">
            <a:avLst/>
          </a:prstGeom>
          <a:solidFill>
            <a:srgbClr val="7D8AA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376672" y="290885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ndërtimi (GRASP)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376672" y="449228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Hill-Climbing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376672" y="49517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lëvizjet sipas pikës së ngushtë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376672" y="51437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17 operatorët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919472" y="3082586"/>
            <a:ext cx="0" cy="1647444"/>
          </a:xfrm>
          <a:prstGeom prst="line">
            <a:avLst/>
          </a:prstGeom>
          <a:noFill/>
          <a:ln w="15875">
            <a:solidFill>
              <a:srgbClr val="F2C14E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816352" y="36777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epërsia ≥ 269,607 HV</a:t>
            </a:r>
            <a:endParaRPr lang="en-US" sz="1150" dirty="0"/>
          </a:p>
          <a:p>
            <a:pPr algn="r" indent="0" marL="0">
              <a:buNone/>
            </a:pPr>
            <a:r>
              <a:rPr lang="en-US" sz="115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çdo buxhet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1828800" y="424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+33,043 HV me 10×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1.5× rimatja e kontrollit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874520" y="2060133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ndërtime të reja në çdo buxhet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5669280"/>
            <a:ext cx="65836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Dhjetëfishi i buxhetit i shton Hill-Climbing 33,043 HV: rreth një të dhjetën e epërsisë së ndërtimit.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498080" y="1783080"/>
            <a:ext cx="9144" cy="4526280"/>
          </a:xfrm>
          <a:prstGeom prst="rect">
            <a:avLst/>
          </a:prstGeom>
          <a:solidFill>
            <a:srgbClr val="2A354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726680" y="1810512"/>
            <a:ext cx="38249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KUFIRI I SIPËRM I VËRTETUESHËM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7726680" y="2103120"/>
            <a:ext cx="3824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Eliminimi i 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kulmeve të para e ul gjerësinë e pemës së shumti me 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prandaj çdo pikë plotëson 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 tw(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− 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Një kufi i poshtëm për tw(</a:t>
            </a:r>
            <a:r>
              <a:rPr lang="en-US" sz="12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e kufizon atëherë rezultatin e çdo dorëzimi.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3017520"/>
          <a:ext cx="3824935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932688"/>
                <a:gridCol w="978408"/>
                <a:gridCol w="70683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kufiri i sipërm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më i miri i njohur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hendeku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1,841,434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1,829,919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1,955,110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1,745,122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2C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5,754,421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5,493,062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1" name="Text 48"/>
          <p:cNvSpPr txBox="1"/>
          <p:nvPr/>
        </p:nvSpPr>
        <p:spPr>
          <a:xfrm>
            <a:off x="7726680" y="46451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rralla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686800" y="4645152"/>
            <a:ext cx="2864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brenda 0.63%: praktikisht të zgjidhura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7726680" y="4937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mesatare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686800" y="4937760"/>
            <a:ext cx="2864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kufi i lirshëm: dihet vetëm tw ≥ 63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7726680" y="5230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dendura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686800" y="5230368"/>
            <a:ext cx="2864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hapësirë reale: tw është 499–500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7726680" y="589788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Hipervolum. Më i miri i njohur: kreu i renditjes së ESA-s, lexuar më 13 tetor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DISKUTIMI DHE PËRFUNDIMET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Diskutimi dhe kufizimet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DISKUTIMI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5806440" cy="2737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3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Ndërtimi e bën pjesën më të madhe të punës: vetëm min-degree ×8 arrin 99.3–100% të rezultatit më të mirë në instancat e rralla, 95.5–97.6% në ato mesatare dhe 89.9–92.8% në ato të dendura.</a:t>
            </a:r>
            <a:endParaRPr lang="en-US" sz="1400" dirty="0"/>
          </a:p>
          <a:p>
            <a:pPr marL="190500" indent="-190500">
              <a:lnSpc>
                <a:spcPct val="100000"/>
              </a:lnSpc>
              <a:spcAft>
                <a:spcPts val="13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asnjë kërkim, do të zinte vendin e 9-të nga 15, të 9-tin nga 11 dhe të 7-tin nga 11 (i ndarë) në tri renditjet e ESA-s.</a:t>
            </a:r>
            <a:endParaRPr lang="en-US" sz="1400" dirty="0"/>
          </a:p>
          <a:p>
            <a:pPr marL="190500" indent="-190500">
              <a:lnSpc>
                <a:spcPct val="100000"/>
              </a:lnSpc>
              <a:spcAft>
                <a:spcPts val="13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Ndryshimi i lëvizjeve ose i rregullit të pranimit e zhvendos totalin së shumti sa dyfishi i rimatjes së kontrollit; i vetmi efekt i madh, një ndërtim i rastësishëm (15.9×), vjen nga familja e dendur.</a:t>
            </a:r>
            <a:endParaRPr lang="en-US" sz="1400" dirty="0"/>
          </a:p>
          <a:p>
            <a:pPr marL="190500" indent="-190500">
              <a:lnSpc>
                <a:spcPct val="100000"/>
              </a:lnSpc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tabelë me më të mirin nga 3 emëron një fitues në çdo rresht, por vetëm gjysma e këtyre fituesve mbështetet nga çdo farë.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766560" y="1783080"/>
            <a:ext cx="4785055" cy="299466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0" y="1783080"/>
            <a:ext cx="54864" cy="299466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40880" y="1920240"/>
            <a:ext cx="4327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KUFIZIMET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286000"/>
            <a:ext cx="4236415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F2C14E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fara për çdo metodë dhe instancë: minimumi për një test të saktë rangjesh me p = 0.05.</a:t>
            </a:r>
            <a:endParaRPr lang="en-US" sz="1350" dirty="0"/>
          </a:p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F2C14E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buxhet kryesor prej 1,200 s; buxhetet më të gjata u provuan vetëm për variantet e Hill-Climbing.</a:t>
            </a:r>
            <a:endParaRPr lang="en-US" sz="1350" dirty="0"/>
          </a:p>
          <a:p>
            <a:pPr marL="190500" indent="-190500">
              <a:lnSpc>
                <a:spcPct val="100000"/>
              </a:lnSpc>
              <a:spcAft>
                <a:spcPts val="1200"/>
              </a:spcAft>
              <a:buClr>
                <a:srgbClr val="F2C14E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Familja e dendur përbëhet nga tre variante të një grafi.</a:t>
            </a:r>
            <a:endParaRPr lang="en-US" sz="1350" dirty="0"/>
          </a:p>
          <a:p>
            <a:pPr marL="190500" indent="-190500">
              <a:lnSpc>
                <a:spcPct val="100000"/>
              </a:lnSpc>
              <a:buClr>
                <a:srgbClr val="F2C14E"/>
              </a:buClr>
              <a:buFont typeface="Arial"/>
              <a:buChar char="•"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HRI dhe fcmaes janë riimplementime, ndërsa Spacekangaroos ekzekutohet në harduer tjetër (GPU).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5440680"/>
            <a:ext cx="10911535" cy="566928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5440680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Në këto instanca, ajo që ndërtohet ka më shumë rëndësi se mënyra si kërkohet.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DISKUTIMI DHE PËRFUNDIMET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Përfundimet dhe puna e ardhshme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PËRGJIGJET E PYETJEVE KËRKIMORE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3093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532120"/>
              </a:tblGrid>
              <a:tr h="469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DDC97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PK1</a:t>
                      </a:r>
                      <a:endParaRPr lang="en-US" sz="170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Nën një protokoll të vetëm, metodat nga renditja e ESA-s fitojnë 8 nga 10 instanca dhe Hill-Climbing fiton 2; fcmaes prin qartë në grafet e dendura.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DDC97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PK2</a:t>
                      </a:r>
                      <a:endParaRPr lang="en-US" sz="170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Vetëm 5 nga 10 fituesit qëndrojnë për çdo farë; tabelat me më të mirin nga 3 e mbivlerësojnë sigurinë.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DDC97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PK3</a:t>
                      </a:r>
                      <a:endParaRPr lang="en-US" sz="170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Ndërtimi fillestar e përcakton rezultatin (15.9× rimatja e kontrollit); rregulli i pranimit dhe operatorët e lëvizjes e ndryshojnë së shumti 2.0×.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9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DDC97"/>
                          </a:solidFill>
                          <a:latin typeface="Century Schoolbook" pitchFamily="34" charset="0"/>
                          <a:ea typeface="Century Schoolbook" pitchFamily="34" charset="-122"/>
                          <a:cs typeface="Century Schoolbook" pitchFamily="34" charset="-120"/>
                        </a:rPr>
                        <a:t>PK4</a:t>
                      </a:r>
                      <a:endParaRPr lang="en-US" sz="1700" dirty="0">
                        <a:latin typeface="Century Schoolbook" charset="0"/>
                        <a:ea typeface="Century Schoolbook" charset="0"/>
                        <a:cs typeface="Century Schoolbook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Dhjetëfishi i buxhetit rikthen rreth një të dhjetën e epërsisë së ndërtimit; rezultatet më të mira të njohura janë brenda 0.63% (të rralla) dhe 4.54% (të dendura) të kufirit të sipërm.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45720" marT="128016" marB="12801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69480" y="1783080"/>
            <a:ext cx="4282135" cy="190500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7" name="Shape 4"/>
          <p:cNvSpPr/>
          <p:nvPr/>
        </p:nvSpPr>
        <p:spPr>
          <a:xfrm>
            <a:off x="7269480" y="1783080"/>
            <a:ext cx="54864" cy="1905000"/>
          </a:xfrm>
          <a:prstGeom prst="rect">
            <a:avLst/>
          </a:prstGeom>
          <a:solidFill>
            <a:srgbClr val="4DA3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543800" y="1920240"/>
            <a:ext cx="38249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REKOMANDIME PËR STUDIMET KRAHASUESE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240280"/>
            <a:ext cx="3733495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000"/>
              </a:spcAft>
              <a:buClr>
                <a:srgbClr val="4DA3FF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Ekzekutoni kontrollin dy herë dhe raportoni diferencën.</a:t>
            </a:r>
            <a:endParaRPr lang="en-US" sz="1300" dirty="0"/>
          </a:p>
          <a:p>
            <a:pPr marL="190500" indent="-190500">
              <a:lnSpc>
                <a:spcPct val="100000"/>
              </a:lnSpc>
              <a:spcAft>
                <a:spcPts val="1000"/>
              </a:spcAft>
              <a:buClr>
                <a:srgbClr val="4DA3FF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Gjykoni çdo rresht sipas të gjitha farave të tij, jo sipas më të mirës.</a:t>
            </a:r>
            <a:endParaRPr lang="en-US" sz="1300" dirty="0"/>
          </a:p>
          <a:p>
            <a:pPr marL="190500" indent="-190500">
              <a:lnSpc>
                <a:spcPct val="100000"/>
              </a:lnSpc>
              <a:buClr>
                <a:srgbClr val="4DA3FF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Tregoni nga cilat instanca vjen një efekt.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269480" y="3889248"/>
            <a:ext cx="4282135" cy="210312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11" name="Shape 8"/>
          <p:cNvSpPr/>
          <p:nvPr/>
        </p:nvSpPr>
        <p:spPr>
          <a:xfrm>
            <a:off x="7269480" y="3889248"/>
            <a:ext cx="54864" cy="2103120"/>
          </a:xfrm>
          <a:prstGeom prst="rect">
            <a:avLst/>
          </a:prstGeom>
          <a:solidFill>
            <a:srgbClr val="F2C14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543800" y="4026408"/>
            <a:ext cx="38249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 E ARDHSHME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543800" y="4346448"/>
            <a:ext cx="3733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000"/>
              </a:spcAft>
              <a:buClr>
                <a:srgbClr val="F2C14E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Ndërtime të projektuara për grafe të dendura me klika.</a:t>
            </a:r>
            <a:endParaRPr lang="en-US" sz="1300" dirty="0"/>
          </a:p>
          <a:p>
            <a:pPr marL="190500" indent="-190500">
              <a:lnSpc>
                <a:spcPct val="100000"/>
              </a:lnSpc>
              <a:spcAft>
                <a:spcPts val="1000"/>
              </a:spcAft>
              <a:buClr>
                <a:srgbClr val="F2C14E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Kufij të poshtëm më të ngushtë për gjerësinë e pemës në familjen mesatare.</a:t>
            </a:r>
            <a:endParaRPr lang="en-US" sz="1300" dirty="0"/>
          </a:p>
          <a:p>
            <a:pPr marL="190500" indent="-190500">
              <a:lnSpc>
                <a:spcPct val="100000"/>
              </a:lnSpc>
              <a:buClr>
                <a:srgbClr val="F2C14E"/>
              </a:buClr>
              <a:buFont typeface="Arial"/>
              <a:buChar char="•"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shumë fara dhe disa buxhete për metodat nga renditja e ESA-s.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Çdo farë pas tabelës së rezultateve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722376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HRI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Spacekangaroos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min-degree ×8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1,807.7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1,807.1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1,827.5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1,810.9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1,803.8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1,803.6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1,803.2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1,804.4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1,817.6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1,816.5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1,814.9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1,815.9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1,659.2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1,566.5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1,544.8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1,547.0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1,615.2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1,608.5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1,585.5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1,470.1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1,550.8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1,581.8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1,582.9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1,558.5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5,329.4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5,290.1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4,829.5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4,836.8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4,796.8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4,804.4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5,167.2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5,056.0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5,031.7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4,796.2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4,797.9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synth-7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4,930.1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4,921.6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5,203.6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4,794.4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D8A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4,795.3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4,793.7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6235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Hipervolumi ×1,000, çdo ekzekutim. Me të trasha: vlera më e mirë nga 3 që shfaqet në tabelën e rezultateve. —: asnjë pikë e lejuar. Burimi: harness/benchmark-*.csv.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Dy ekzekutime të plota të kontrollit Hill-Climbing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Hill-Climbing ndalon sipas kohës reale, prandaj dy ekzekutime të plota janë dy mostra të pavarura të së njëjtës metodë, jo përsëritje.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Sipas instancës: brenda shpërndarjes së farave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874520" y="2596896"/>
            <a:ext cx="0" cy="2679192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0020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2596896"/>
            <a:ext cx="0" cy="2679192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3320" y="2596896"/>
            <a:ext cx="0" cy="2679192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2596896"/>
            <a:ext cx="0" cy="2679192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32120" y="2596896"/>
            <a:ext cx="0" cy="2679192"/>
          </a:xfrm>
          <a:prstGeom prst="line">
            <a:avLst/>
          </a:prstGeom>
          <a:noFill/>
          <a:ln w="7620">
            <a:solidFill>
              <a:srgbClr val="1C25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5780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69062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small-graph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74520" y="2759202"/>
            <a:ext cx="2704436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524092" y="2745486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95122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019806"/>
            <a:ext cx="3124936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74310" y="3006090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21183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74520" y="3280410"/>
            <a:ext cx="2834348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340082" y="3266694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47243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541014"/>
            <a:ext cx="1768905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559841" y="3527298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73303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medium-graph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801618"/>
            <a:ext cx="3500160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238832" y="3787902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9364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synth-4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62222"/>
            <a:ext cx="3768274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382690" y="4048506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080" y="425424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322826"/>
            <a:ext cx="3677505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956559" y="4309110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451485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large-graph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583430"/>
            <a:ext cx="3551064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66510" y="4569714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477545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844034"/>
            <a:ext cx="2285714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819656" y="4830318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03605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synth-7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5104638"/>
            <a:ext cx="1942050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097932" y="5090922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531266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HV, shkallë log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874520" y="5623560"/>
            <a:ext cx="109728" cy="1097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39112" y="557784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ndryshimi mes ekzekutimeve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931920" y="5641848"/>
            <a:ext cx="228600" cy="82296"/>
          </a:xfrm>
          <a:prstGeom prst="rect">
            <a:avLst/>
          </a:prstGeom>
          <a:solidFill>
            <a:srgbClr val="9AA6B6">
              <a:alpha val="4500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206240" y="55778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shpërndarja më e madhe e farave nga dy ekzekutimet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583680" y="228600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Totali i dhjetë instancave: ekzekutimet ndryshojnë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6675120" y="2973771"/>
            <a:ext cx="247548" cy="2101149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940956" y="2949400"/>
            <a:ext cx="247548" cy="2125520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206793" y="2834640"/>
            <a:ext cx="247548" cy="2240280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472629" y="2967951"/>
            <a:ext cx="247548" cy="2106969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738466" y="3267128"/>
            <a:ext cx="247548" cy="1807792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04302" y="3424082"/>
            <a:ext cx="247548" cy="1650838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270138" y="3513926"/>
            <a:ext cx="247548" cy="1560994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535975" y="3638507"/>
            <a:ext cx="247548" cy="1436413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01811" y="4013160"/>
            <a:ext cx="247548" cy="1061760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067648" y="4331252"/>
            <a:ext cx="247548" cy="743668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333484" y="4469655"/>
            <a:ext cx="201903" cy="605265"/>
          </a:xfrm>
          <a:prstGeom prst="rect">
            <a:avLst/>
          </a:prstGeom>
          <a:solidFill>
            <a:srgbClr val="7D8AA0">
              <a:alpha val="7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535387" y="4469655"/>
            <a:ext cx="45646" cy="605265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99320" y="4652435"/>
            <a:ext cx="247548" cy="422485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865157" y="4862859"/>
            <a:ext cx="247548" cy="212061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130993" y="5001990"/>
            <a:ext cx="247548" cy="72930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396830" y="5047821"/>
            <a:ext cx="247548" cy="27099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662666" y="5065281"/>
            <a:ext cx="247548" cy="9639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10928502" y="5072919"/>
            <a:ext cx="247548" cy="2001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1194339" y="5074738"/>
            <a:ext cx="247548" cy="182"/>
          </a:xfrm>
          <a:prstGeom prst="rect">
            <a:avLst/>
          </a:prstGeom>
          <a:solidFill>
            <a:srgbClr val="F2C14E">
              <a:alpha val="8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6675120" y="5074920"/>
            <a:ext cx="4785055" cy="0"/>
          </a:xfrm>
          <a:prstGeom prst="line">
            <a:avLst/>
          </a:prstGeom>
          <a:noFill/>
          <a:ln w="9525">
            <a:solidFill>
              <a:srgbClr val="9AA6B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30936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7638542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HV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8967724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 HV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10296906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30k HV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9535387" y="2697480"/>
            <a:ext cx="0" cy="2377440"/>
          </a:xfrm>
          <a:prstGeom prst="line">
            <a:avLst/>
          </a:prstGeom>
          <a:noFill/>
          <a:ln w="22225">
            <a:solidFill>
              <a:srgbClr val="F2C14E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608539" y="2679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vëzhguar: 21,519 HV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608539" y="2944368"/>
            <a:ext cx="18333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vetëm 4.6% e 100,000 rishpërndarjeve e lëvizin totalin kaq larg</a:t>
            </a:r>
            <a:endParaRPr lang="en-US" sz="11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0" y="5376672"/>
            <a:ext cx="4967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|ndryshimi në totalin e dhjetë instancave| kur gjashtë farat e çdo instance rishpërndahen mes dy ekzekutimeve</a:t>
            </a:r>
            <a:endParaRPr lang="en-US" sz="1050" dirty="0"/>
          </a:p>
        </p:txBody>
      </p:sp>
      <p:sp>
        <p:nvSpPr>
          <p:cNvPr id="80" name="Text 78"/>
          <p:cNvSpPr txBox="1"/>
          <p:nvPr/>
        </p:nvSpPr>
        <p:spPr>
          <a:xfrm>
            <a:off x="640080" y="5925312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Zhurma varet nga metoda dhe instanca: shpërndarjet e tri farave shkojnë nga 9 HV deri në 281,976 HV, prandaj asnjë prag i vetëm s’mund të gjykojë çdo rresht.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Detajet e protokollit dhe çfarë nuk kontrollon ai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Buxheti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810512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 s kohë reale për ekzekutim, tri fara, dhjetë instanca. Katër ekzekutime ranë jashtë 1,150–1,400 s pas ngecjeve të makinës; asnjë prej tyre nuk jep vlerën më të mirë nga 3.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432304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523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Hardueri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523744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fcmaes, Team HRI dhe Hill-Climbing në një bërthamë CPU të fiksuar secili. Spacekangaroos me kodin e vet CUDA në një Kaggle T4, batch 1,024 (512 për n = 2,426).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45536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Implementimet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236976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fcmaes i përshtatur nga qasja fast-cma-es; Team HRI i riimplementuar nga punimi, sepse kodi nuk u publikua; Spacekangaroos i ekzekutuar siç u publikua, plus rregullimi i një tejmbushjeje 32-bitëshe.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58768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9502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Nisjet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3950208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dy kërkimet mbi renditje nisen nga i njëjti ndërtim min-degree, i llogaritur nga e para në çdo ekzekutim.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663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Vlerësimi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4663440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Çdo përgjigje rivlerësohet me esa_eval.py. Kodi i vlerësimit i ESA-s, i ekzekutuar pranë tij, përputhet në të dhjetë instancat: 220 renditje, 2,000 hipervolume, kolona min-degree ×8. ESA e vlerëson me gjerësi 501 një vektor mbi kufi; harness-i ynë e hedh dorëzimin.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85232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3766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pakontrolluara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5376672"/>
            <a:ext cx="8716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i miri nga 3 favorizon metodat e zhurmshme, prandaj gjykohet sipas farave. Tri fara për qelizë. Familja e dendur përbëhet nga tre variante të një grafi.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Kufiri i sipërm në detaje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66360" cy="251460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LEMË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Eliminoji së pari kulmet e një bashkësie çfarëdo </a:t>
            </a:r>
            <a:r>
              <a:rPr lang="en-US" sz="145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</a:t>
            </a:r>
            <a:r>
              <a:rPr lang="en-US" sz="145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me </a:t>
            </a:r>
            <a:r>
              <a:rPr lang="en-US" sz="145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</a:t>
            </a:r>
            <a:r>
              <a:rPr lang="en-US" sz="145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elemente. Duke shtuar </a:t>
            </a:r>
            <a:r>
              <a:rPr lang="en-US" sz="145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</a:t>
            </a:r>
            <a:r>
              <a:rPr lang="en-US" sz="145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në çdo qese të një dekompozimi peme të torsit fitohet një dekompozim peme i grafit </a:t>
            </a:r>
            <a:r>
              <a:rPr lang="en-US" sz="145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</a:t>
            </a:r>
            <a:r>
              <a:rPr lang="en-US" sz="145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, pra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930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tw(</a:t>
            </a: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</a:t>
            </a:r>
            <a:r>
              <a:rPr lang="en-US" sz="17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) ≤ tw(tors) + </a:t>
            </a: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</a:t>
            </a:r>
            <a:r>
              <a:rPr lang="en-US" sz="17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 ⟹   </a:t>
            </a: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</a:t>
            </a:r>
            <a:r>
              <a:rPr lang="en-US" sz="17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≥ tw(</a:t>
            </a: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</a:t>
            </a:r>
            <a:r>
              <a:rPr lang="en-US" sz="17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) − </a:t>
            </a:r>
            <a:r>
              <a:rPr lang="en-US" sz="17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526280"/>
            <a:ext cx="5166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kufi i poshtëm i shpejtë </a:t>
            </a:r>
            <a:r>
              <a:rPr lang="en-US" sz="14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 tw(</a:t>
            </a:r>
            <a:r>
              <a:rPr lang="en-US" sz="14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e kthen këtë në një mur </a:t>
            </a:r>
            <a:r>
              <a:rPr lang="en-US" sz="14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 </a:t>
            </a:r>
            <a:r>
              <a:rPr lang="en-US" sz="14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</a:t>
            </a:r>
            <a:r>
              <a:rPr lang="en-US" sz="145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20 pikat më të mira kundër këtij muri, të gjetura me programim dinamik, kufizojnë çdo dorëzim të mundshëm.</a:t>
            </a:r>
            <a:endParaRPr lang="en-US" sz="14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640080"/>
                <a:gridCol w="566928"/>
                <a:gridCol w="1024128"/>
                <a:gridCol w="1069848"/>
                <a:gridCol w="7772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 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kufiri i sipërm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më i miri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hendeku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small-graph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1,841,434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1,829,919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medium-graph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1,955,110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1,745,122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2C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2A35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large-graph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5,754,421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5,493,062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17220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rralla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576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brenda 0.63% të kufirit: praktikisht të zgjidhura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42793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mesatare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279392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10.74%, kryesisht kufi i lirshëm: tw ≥ 63 heq vetëm 2,091 nga n² = 1,957,201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90118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të dendura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901184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klikë me 500 kulme e ngulit tw në 499–500, pra 4.54% është hapësirë reale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5669280"/>
            <a:ext cx="5376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Hipervolum. Më i miri i njohur = kreu i renditjes së ESA-s për çdo instancë zyrtare (lexuar më 13 tetor 2026).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Pse dështon një nisje e rastësishme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PIKA TË LEJUARA NË SHKALLAREN E NJË RENDITJEJE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small-graph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057400" y="2212848"/>
            <a:ext cx="834481" cy="100584"/>
          </a:xfrm>
          <a:prstGeom prst="rect">
            <a:avLst/>
          </a:prstGeom>
          <a:solidFill>
            <a:srgbClr val="FF5A60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2331720"/>
            <a:ext cx="156911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46745" y="21488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269175" y="22860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191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synth-1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57400" y="2537460"/>
            <a:ext cx="1783080" cy="100584"/>
          </a:xfrm>
          <a:prstGeom prst="rect">
            <a:avLst/>
          </a:prstGeom>
          <a:solidFill>
            <a:srgbClr val="FF5A60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2656332"/>
            <a:ext cx="128382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95344" y="24734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40646" y="26106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8437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57400" y="2862072"/>
            <a:ext cx="2118299" cy="100584"/>
          </a:xfrm>
          <a:prstGeom prst="rect">
            <a:avLst/>
          </a:prstGeom>
          <a:solidFill>
            <a:srgbClr val="FF5A60"/>
          </a:solidFill>
          <a:ln/>
        </p:spPr>
      </p:sp>
      <p:sp>
        <p:nvSpPr>
          <p:cNvPr id="17" name="Shape 15"/>
          <p:cNvSpPr/>
          <p:nvPr/>
        </p:nvSpPr>
        <p:spPr>
          <a:xfrm>
            <a:off x="2057400" y="2980944"/>
            <a:ext cx="135514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30563" y="279806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47778" y="29352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1683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57400" y="3186684"/>
            <a:ext cx="2104034" cy="100584"/>
          </a:xfrm>
          <a:prstGeom prst="rect">
            <a:avLst/>
          </a:prstGeom>
          <a:solidFill>
            <a:srgbClr val="FF5A60"/>
          </a:solidFill>
          <a:ln/>
        </p:spPr>
      </p:sp>
      <p:sp>
        <p:nvSpPr>
          <p:cNvPr id="22" name="Shape 20"/>
          <p:cNvSpPr/>
          <p:nvPr/>
        </p:nvSpPr>
        <p:spPr>
          <a:xfrm>
            <a:off x="2057400" y="3305556"/>
            <a:ext cx="135514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16298" y="31226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47778" y="32598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93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medium-graph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57400" y="3630168"/>
            <a:ext cx="2032711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112264" y="34472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144975" y="35844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38176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057400" y="3954780"/>
            <a:ext cx="2225284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112264" y="37719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337548" y="39090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4142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synth-5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057400" y="4279392"/>
            <a:ext cx="2489180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112264" y="4096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601444" y="4233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44668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large-graph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057400" y="4604004"/>
            <a:ext cx="3566160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112264" y="442112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678424" y="45582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47914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synth-6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057400" y="4928616"/>
            <a:ext cx="3566160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112264" y="4745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678424" y="48828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51160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synth-7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057400" y="5253228"/>
            <a:ext cx="3566160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112264" y="50703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5678424" y="52075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057400" y="2130552"/>
            <a:ext cx="0" cy="3291840"/>
          </a:xfrm>
          <a:prstGeom prst="line">
            <a:avLst/>
          </a:prstGeom>
          <a:noFill/>
          <a:ln w="9525">
            <a:solidFill>
              <a:srgbClr val="2A354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057400" y="5596128"/>
            <a:ext cx="164592" cy="100584"/>
          </a:xfrm>
          <a:prstGeom prst="rect">
            <a:avLst/>
          </a:prstGeom>
          <a:solidFill>
            <a:srgbClr val="FF5A6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286000" y="55321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renditje e rastësishme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886200" y="5596128"/>
            <a:ext cx="164592" cy="100584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114800" y="5532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ndërtimi min-degree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6537960" y="1828800"/>
            <a:ext cx="5013655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0000"/>
              </a:lnSpc>
              <a:spcAft>
                <a:spcPts val="17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gjashtë instanca një renditje e rastësishme nuk jep asnjë pikë të lejuar: diku gjatë eliminimit një kulm e kalon kufirin 500, dhe po kështu çdo renditje fqinje.</a:t>
            </a:r>
            <a:endParaRPr lang="en-US" sz="1400" dirty="0"/>
          </a:p>
          <a:p>
            <a:pPr marL="190500" indent="-190500">
              <a:lnSpc>
                <a:spcPct val="100000"/>
              </a:lnSpc>
              <a:spcAft>
                <a:spcPts val="1700"/>
              </a:spcAft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kërkim i nisur aty s’ka çfarë të krahasojë: nga një nisje e rastësishme në medium-graph, Team HRI bëri 193 iteracione në 25 s dhe nuk pranoi asnjë.</a:t>
            </a:r>
            <a:endParaRPr lang="en-US" sz="1400" dirty="0"/>
          </a:p>
          <a:p>
            <a:pPr marL="190500" indent="-190500">
              <a:lnSpc>
                <a:spcPct val="100000"/>
              </a:lnSpc>
              <a:buClr>
                <a:srgbClr val="3DDC97"/>
              </a:buClr>
              <a:buFont typeface="Arial"/>
              <a:buChar char="•"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fcmaes dhe Spacekangaroos nuk shohin kurrë një renditje të rastësishme: kandidati i tyre i parë është tashmë i renditur sipas një vlere që mbështetet te shkalla e kulmeve.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Në instancat e rralla problemi është njëpërmasor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pikë në 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0 mbulon (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)·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nga katrori 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Në small-graph pika 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0 e ndërtimit, me gjerësi 20, mbart 99.99% të rezultatit të tij; në medium-graph, me gjerësi 277, mbart 97.7%.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8211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large-graph asnjë pikë e vetme nuk mund të kalojë (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− 499)·</a:t>
            </a:r>
            <a:r>
              <a:rPr lang="en-US" sz="1400" i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79.4% të katrorit, ndërsa më i miri i njohur arrin 93.3%: vetëm në familjen e dendur shkallarja e meriton vendin e vet.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55371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Dhe problemi është i vështirë dy herë: zgjidh cilat </a:t>
            </a:r>
            <a:r>
              <a:rPr lang="en-US" sz="140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kulme të hiqen (rreth 10⁴⁰³ nënbashkësi për </a:t>
            </a:r>
            <a:r>
              <a:rPr lang="en-US" sz="140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1,357, </a:t>
            </a:r>
            <a:r>
              <a:rPr lang="en-US" sz="140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600), pastaj minimizo gjerësinë e asaj që mbetet, që është vetë gjerësia e pemës, NP-e vështirë (Arnborg, Corneil dhe Proskurowski, 1987).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2148840"/>
            <a:ext cx="2194560" cy="2194560"/>
          </a:xfrm>
          <a:prstGeom prst="rect">
            <a:avLst/>
          </a:prstGeom>
          <a:ln w="12700">
            <a:solidFill>
              <a:srgbClr val="9AA6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81784" y="2148840"/>
            <a:ext cx="2162216" cy="2194560"/>
          </a:xfrm>
          <a:prstGeom prst="rect">
            <a:avLst/>
          </a:prstGeom>
          <a:solidFill>
            <a:srgbClr val="3DDC97">
              <a:alpha val="3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4453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small-graph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98.5%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47274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20 nga n = 1,357 · 99.99% e rezultatit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72600" y="2148840"/>
            <a:ext cx="2194560" cy="2194560"/>
          </a:xfrm>
          <a:prstGeom prst="rect">
            <a:avLst/>
          </a:prstGeom>
          <a:ln w="12700">
            <a:solidFill>
              <a:srgbClr val="9AA6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23995" y="2148840"/>
            <a:ext cx="1743165" cy="2194560"/>
          </a:xfrm>
          <a:prstGeom prst="rect">
            <a:avLst/>
          </a:prstGeom>
          <a:solidFill>
            <a:srgbClr val="3DDC97">
              <a:alpha val="3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372600" y="4453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large-graph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726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79.4%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281160" y="47274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≥ 499 nga n = 2,426 · më i miri i njohur 93.3%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49440" y="5257800"/>
            <a:ext cx="228600" cy="128016"/>
          </a:xfrm>
          <a:prstGeom prst="rect">
            <a:avLst/>
          </a:prstGeom>
          <a:solidFill>
            <a:srgbClr val="3DDC97">
              <a:alpha val="30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51192" y="52029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pikë në t = 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k-opt dhe vlerësuesi delta i saktë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k-opt i thjeshtë nuk transferohet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Në problemin e tregtarit shëtitës (TSP) 2-opt është i lirë sepse shkëmbimi i dy brinjëve e përditëson objektivin në kohë konstante. Këtu eliminimi i një kulmi i bashkon fqinjët e tij të mbetur në një klikë, prandaj një ndryshim shkakton efekt zinxhir: një lëvizje mbi një shtrirje prej L pozicionesh kushton O(L), sado pak brinjë të shkëmbejë.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81051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Një vlerësues delta, nga një fakt strukturor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2240280"/>
            <a:ext cx="5150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Torsi mbi një bashkësi nuk varet nga rendi brenda bashkësisë, prandaj shkalla në një pozicion varet vetëm nga kulmi aty dhe nga bashkësia e kulmeve para tij. Një lëvizje brenda një dritareje nuk mund të ndryshojë asgjë jashtë saj.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DA3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 saktë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41605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shkallë identike në 600 kandidatë të zinxhirëzuar nga të 17 operatorët, në të dhjetë instancat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DA3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1.81×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41605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më shumë kandidatë në të njëjtën kohë reale, mesatare gjeometrike mbi dhjetë instanca (nga 1.7× te të rrallat deri në 1.9× te të dendurat)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5074920"/>
            <a:ext cx="10911535" cy="1051560"/>
          </a:xfrm>
          <a:prstGeom prst="rect">
            <a:avLst/>
          </a:prstGeom>
          <a:solidFill>
            <a:srgbClr val="131B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5193792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 lëvizjet e pranuara thuajse nuk kanë rëndësi: çdo kandidat i vlerësuar dhuron tërë shkallaren e vet në një front të përbashkët. Në synth-7 katër operatorët origjinalë nuk pranuan asgjë fare, dhe rezultatet e tyre prapë ndryshojnë me 1,841 HV.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Krahasimi i plotë i buxheteve</a:t>
            </a:r>
            <a:endParaRPr lang="en-US" sz="27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00200"/>
                <a:gridCol w="1600200"/>
                <a:gridCol w="1600200"/>
                <a:gridCol w="1691640"/>
                <a:gridCol w="1676095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 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 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 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fitimi me 10×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6B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pjesa e epërsisë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ndërtimi (GRASP)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26,781,700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26,762,079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26,692,166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5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−89,534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Hill-Climbing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26,389,516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26,404,696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26,422,559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+33,043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të 17 operatorët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26,391,399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26,393,577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26,396,957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+5,558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lëvizjet sipas pikës së ngushtë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26,392,654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26,388,897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26,401,668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+9,014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E8EC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9AA6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Katër variante × tre buxhete × dhjetë instanca × tri fara, të gjitha në një makinë, që buxheti të jetë i vetmi ndryshim. Hipervolumi i dhjetë instancave, më i miri nga 3.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52628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Varianti i ndërtimit merr një mostër tjetër ndërtimesh në çdo buxhet, prandaj totali i tij lëviz me 89,534 HV, dhe me një mostër për buxhet kjo lëvizje nuk mund të lexohet si prirje. Një lexim i mëhershëm e numëroi këtë lëvizje si kërkim që mbyll hendekun („31% e mbyllur”, një kryqëzim „rreth tridhjetë herë buxheti, rreth dhjetë orë”) dhe tërhiqet: 89,534 nga 122,577 HV që i quante mbyllje ishin mostra e ndërtimit.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40080" y="402336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8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SHTOJCË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40080" y="676656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Katër gabime të gjetura gjatë studimit dhe si u zbulua secili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1051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3794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sondë që e zbuloi përgjigjen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8105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hill_climbing.py i zgjidhte gjerësitë e synuara me një sondë min-degree pavarësisht nisjes së kërkuar, prandaj --start random merrte fshehtas një zgjidhje min-degree: 1,607,522 HV në medium-graph për një ekzekutim pa asnjë lëvizje të pranuar.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641080" y="1810512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zbulua duke pyetur pse një ekzekutim pa asnjë lëvizje të pranuar kishte rezultat fare.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4320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77063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verifikim që ishte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vetë i gabuar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743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Riekzekutimi për konfirmim dha mospërputhje në 29 nga 30 rreshta. Ngjitja ndalon sipas kohës së kaluar, prandaj një ekzekutim mund të rimatet, por nuk mund të riprodhohet kurrë.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2743200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Verifikimi ishte i gabuar, jo harness-i, dhe aksidenti prodhoi dy kontrolle të pavarura.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584448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758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0332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tejmbushje 32-bitëshe në kod të përfshirë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36758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Vlerësuesi CUDA i përfshirë indeksonte një varg B×N×N me një zhvendosje int, që mbështillet pas 2³¹ në n = 2,426, fija 365 nga 1,024.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641080" y="3675888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zbulua sepse çdo ekzekutim me n = 2,426 dështonte herët me qasje të paligjshme në memorie; një ndryshim tipi e rregulloi.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517136"/>
            <a:ext cx="10911535" cy="0"/>
          </a:xfrm>
          <a:prstGeom prst="line">
            <a:avLst/>
          </a:prstGeom>
          <a:noFill/>
          <a:ln w="6350">
            <a:solidFill>
              <a:srgbClr val="2A35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6085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2C14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63600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prag i huazuar nga një metodë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6085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Një prag prej 7,881 HV, i marrë nga instanca më e keqe e Hill-Climbing, gjykoi rreshtat e çdo metode, ndërsa farat e vetë Team HRI në medium-graph shpërndahen 80,376 HV.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641080" y="4608576"/>
            <a:ext cx="2910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zbulua duke lexuar farat në vend të më të mirës nga 3: ndryshuan katër nga dhjetë vendime.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650992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E8ECF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Asnjë nuk u zbulua nga një grup testesh. Secili u zbulua nga një numër që nuk përputhej me historinë e vet.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AA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ty of Prisht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713232" cy="7132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1430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Faleminderit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0195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3DDC9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Pyetje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43200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SHIFRA PËR DISKUTIMIN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 nga 10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43814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fitues të mbështetur nga çdo farë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3703320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15.9×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3703320" y="343814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efekti i ndërtimit, në njësi të rimatjes së kontrollit; përbërësit e kërkimit 0.4–2.0×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21,519 HV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42793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diferenca mes dy ekzekutimeve të plota të të njëjtit kontroll (totali i dhjetë instancave)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3931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0.23%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42793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shkalla më e lartë e pranimit e çdo operatori lëvizjeje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773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+33,043 HV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120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fitimi nga dhjetëfishi i buxhetit, kundër një epërsie prej së paku 269,607 HV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703320" y="4773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0.63%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703320" y="5120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A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hendeku mes rezultatit më të mirë të njohur në small-graph dhe kufirit të tij të sipërm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3387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Ass. Adrian Ymeri · adrian.ymeri@uni-pr.edu · Universiteti i Prishtinës „Hasan Prishtina”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16305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D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Kodi, rezultatet e papërpunuara dhe çdo figurë e kësaj kumtese rigjenerohen nga harness-i i studimit.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OC3 Deep Space">
  <a:themeElements>
    <a:clrScheme name="SpOC3 Deep Space">
      <a:dk1>
        <a:srgbClr val="E8ECF2"/>
      </a:dk1>
      <a:lt1>
        <a:srgbClr val="0B0F17"/>
      </a:lt1>
      <a:dk2>
        <a:srgbClr val="9AA6B6"/>
      </a:dk2>
      <a:lt2>
        <a:srgbClr val="131B28"/>
      </a:lt2>
      <a:accent1>
        <a:srgbClr val="4DA3FF"/>
      </a:accent1>
      <a:accent2>
        <a:srgbClr val="3DDC97"/>
      </a:accent2>
      <a:accent3>
        <a:srgbClr val="FF5A60"/>
      </a:accent3>
      <a:accent4>
        <a:srgbClr val="F2C14E"/>
      </a:accent4>
      <a:accent5>
        <a:srgbClr val="8B7CF6"/>
      </a:accent5>
      <a:accent6>
        <a:srgbClr val="7D8AA0"/>
      </a:accent6>
      <a:hlink>
        <a:srgbClr val="4DA3FF"/>
      </a:hlink>
      <a:folHlink>
        <a:srgbClr val="8B7CF6"/>
      </a:folHlink>
    </a:clrScheme>
    <a:fontScheme name="SpOC3 Deep Spa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University of Prishtina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Optimizimi me dy objektiva i strukturave të grafeve përmes dekompozimit dhe rikombinimit të njëkohshëm: Krahasim i kontrolluar i Hill-Climbing me metodat kryesuese të ESA SpOC-3</dc:title>
  <dc:subject>AlbShkenca 2026</dc:subject>
  <dc:creator>Adrian Ymeri</dc:creator>
  <cp:lastModifiedBy>Adrian Ymeri</cp:lastModifiedBy>
  <cp:revision>1</cp:revision>
  <dcterms:created xsi:type="dcterms:W3CDTF">2026-10-14T20:33:45Z</dcterms:created>
  <dcterms:modified xsi:type="dcterms:W3CDTF">2026-10-14T20:33:45Z</dcterms:modified>
</cp:coreProperties>
</file>